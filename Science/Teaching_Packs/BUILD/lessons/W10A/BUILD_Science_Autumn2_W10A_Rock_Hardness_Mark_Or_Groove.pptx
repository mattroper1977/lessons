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db2b952e0640b5" /><Relationship Type="http://schemas.openxmlformats.org/officeDocument/2006/relationships/extended-properties" Target="/docProps/app.xml" Id="R180c98f8c1e94236" /><Relationship Type="http://schemas.openxmlformats.org/officeDocument/2006/relationships/officeDocument" Target="/ppt/presentation.xml" Id="Rf3fcd6d4582c47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9da139fad24f68"/>
  </p:sldMasterIdLst>
  <p:notesMasterIdLst>
    <p:notesMasterId xmlns:r="http://schemas.openxmlformats.org/officeDocument/2006/relationships" r:id="Rb2c75d193933479a"/>
  </p:notesMasterIdLst>
  <p:sldIdLst>
    <p:sldId xmlns:r="http://schemas.openxmlformats.org/officeDocument/2006/relationships" id="256" r:id="R36662086c079483b"/>
    <p:sldId xmlns:r="http://schemas.openxmlformats.org/officeDocument/2006/relationships" id="257" r:id="R4bee350c32784140"/>
    <p:sldId xmlns:r="http://schemas.openxmlformats.org/officeDocument/2006/relationships" id="258" r:id="R0b7aa5deb7fd4355"/>
    <p:sldId xmlns:r="http://schemas.openxmlformats.org/officeDocument/2006/relationships" id="259" r:id="Rd52b5e72269c4cad"/>
    <p:sldId xmlns:r="http://schemas.openxmlformats.org/officeDocument/2006/relationships" id="260" r:id="R6f880c1b32e644d5"/>
    <p:sldId xmlns:r="http://schemas.openxmlformats.org/officeDocument/2006/relationships" id="261" r:id="R8762fc016a254761"/>
    <p:sldId xmlns:r="http://schemas.openxmlformats.org/officeDocument/2006/relationships" id="262" r:id="R3dd5abe7f797433b"/>
    <p:sldId xmlns:r="http://schemas.openxmlformats.org/officeDocument/2006/relationships" id="263" r:id="Rcfb4b5d7f4b340a3"/>
    <p:sldId xmlns:r="http://schemas.openxmlformats.org/officeDocument/2006/relationships" id="264" r:id="R3a4b9c3174004dcd"/>
    <p:sldId xmlns:r="http://schemas.openxmlformats.org/officeDocument/2006/relationships" id="265" r:id="Rb7c53563f48648a6"/>
    <p:sldId xmlns:r="http://schemas.openxmlformats.org/officeDocument/2006/relationships" id="266" r:id="Re93de5a158e040a5"/>
    <p:sldId xmlns:r="http://schemas.openxmlformats.org/officeDocument/2006/relationships" id="267" r:id="R09ec448349ac49b6"/>
    <p:sldId xmlns:r="http://schemas.openxmlformats.org/officeDocument/2006/relationships" id="268" r:id="Rb3a34e3386334f2f"/>
    <p:sldId xmlns:r="http://schemas.openxmlformats.org/officeDocument/2006/relationships" id="269" r:id="Re159eebf9b604505"/>
    <p:sldId xmlns:r="http://schemas.openxmlformats.org/officeDocument/2006/relationships" id="270" r:id="R6c94498881df4d71"/>
    <p:sldId xmlns:r="http://schemas.openxmlformats.org/officeDocument/2006/relationships" id="271" r:id="R849ec6cf39c2479c"/>
    <p:sldId xmlns:r="http://schemas.openxmlformats.org/officeDocument/2006/relationships" id="272" r:id="Rdfeb778a2c5e44c6"/>
    <p:sldId xmlns:r="http://schemas.openxmlformats.org/officeDocument/2006/relationships" id="273" r:id="R7e8cd5d7a6f944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b8b0b2d57488e" /><Relationship Type="http://schemas.openxmlformats.org/officeDocument/2006/relationships/slideMaster" Target="/ppt/slideMasters/slideMaster1.xml" Id="Re99da139fad24f68" /><Relationship Type="http://schemas.openxmlformats.org/officeDocument/2006/relationships/notesMaster" Target="/ppt/notesMasters/notesMaster1.xml" Id="Rb2c75d193933479a" /><Relationship Type="http://schemas.openxmlformats.org/officeDocument/2006/relationships/presProps" Target="/ppt/presProps.xml" Id="Rba0cfdb6d6a347c7" /><Relationship Type="http://schemas.openxmlformats.org/officeDocument/2006/relationships/tableStyles" Target="/ppt/tableStyles.xml" Id="R40777d8a2fd64640" /><Relationship Type="http://schemas.openxmlformats.org/officeDocument/2006/relationships/slide" Target="/ppt/slides/slide1.xml" Id="R36662086c079483b" /><Relationship Type="http://schemas.openxmlformats.org/officeDocument/2006/relationships/slide" Target="/ppt/slides/slide2.xml" Id="R4bee350c32784140" /><Relationship Type="http://schemas.openxmlformats.org/officeDocument/2006/relationships/slide" Target="/ppt/slides/slide3.xml" Id="R0b7aa5deb7fd4355" /><Relationship Type="http://schemas.openxmlformats.org/officeDocument/2006/relationships/slide" Target="/ppt/slides/slide4.xml" Id="Rd52b5e72269c4cad" /><Relationship Type="http://schemas.openxmlformats.org/officeDocument/2006/relationships/slide" Target="/ppt/slides/slide5.xml" Id="R6f880c1b32e644d5" /><Relationship Type="http://schemas.openxmlformats.org/officeDocument/2006/relationships/slide" Target="/ppt/slides/slide6.xml" Id="R8762fc016a254761" /><Relationship Type="http://schemas.openxmlformats.org/officeDocument/2006/relationships/slide" Target="/ppt/slides/slide7.xml" Id="R3dd5abe7f797433b" /><Relationship Type="http://schemas.openxmlformats.org/officeDocument/2006/relationships/slide" Target="/ppt/slides/slide8.xml" Id="Rcfb4b5d7f4b340a3" /><Relationship Type="http://schemas.openxmlformats.org/officeDocument/2006/relationships/slide" Target="/ppt/slides/slide9.xml" Id="R3a4b9c3174004dcd" /><Relationship Type="http://schemas.openxmlformats.org/officeDocument/2006/relationships/slide" Target="/ppt/slides/slide10.xml" Id="Rb7c53563f48648a6" /><Relationship Type="http://schemas.openxmlformats.org/officeDocument/2006/relationships/slide" Target="/ppt/slides/slide11.xml" Id="Re93de5a158e040a5" /><Relationship Type="http://schemas.openxmlformats.org/officeDocument/2006/relationships/slide" Target="/ppt/slides/slide12.xml" Id="R09ec448349ac49b6" /><Relationship Type="http://schemas.openxmlformats.org/officeDocument/2006/relationships/slide" Target="/ppt/slides/slide13.xml" Id="Rb3a34e3386334f2f" /><Relationship Type="http://schemas.openxmlformats.org/officeDocument/2006/relationships/slide" Target="/ppt/slides/slide14.xml" Id="Re159eebf9b604505" /><Relationship Type="http://schemas.openxmlformats.org/officeDocument/2006/relationships/slide" Target="/ppt/slides/slide15.xml" Id="R6c94498881df4d71" /><Relationship Type="http://schemas.openxmlformats.org/officeDocument/2006/relationships/slide" Target="/ppt/slides/slide16.xml" Id="R849ec6cf39c2479c" /><Relationship Type="http://schemas.openxmlformats.org/officeDocument/2006/relationships/slide" Target="/ppt/slides/slide17.xml" Id="Rdfeb778a2c5e44c6" /><Relationship Type="http://schemas.openxmlformats.org/officeDocument/2006/relationships/slide" Target="/ppt/slides/slide18.xml" Id="R7e8cd5d7a6f944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2ff1272cff4c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77500cd4c435d" /><Relationship Type="http://schemas.openxmlformats.org/officeDocument/2006/relationships/notesMaster" Target="/ppt/notesMasters/notesMaster1.xml" Id="Rf0c70fa51dd243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234854427b42e3" /><Relationship Type="http://schemas.openxmlformats.org/officeDocument/2006/relationships/notesMaster" Target="/ppt/notesMasters/notesMaster1.xml" Id="R441cc518479c47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aff0751286495a" /><Relationship Type="http://schemas.openxmlformats.org/officeDocument/2006/relationships/notesMaster" Target="/ppt/notesMasters/notesMaster1.xml" Id="Rbbc4911c29fa45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83645d6c3b4c75" /><Relationship Type="http://schemas.openxmlformats.org/officeDocument/2006/relationships/notesMaster" Target="/ppt/notesMasters/notesMaster1.xml" Id="Ra3bb8616e82746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189a9a0674b28" /><Relationship Type="http://schemas.openxmlformats.org/officeDocument/2006/relationships/notesMaster" Target="/ppt/notesMasters/notesMaster1.xml" Id="R120d5449bea449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710e7637e4011" /><Relationship Type="http://schemas.openxmlformats.org/officeDocument/2006/relationships/notesMaster" Target="/ppt/notesMasters/notesMaster1.xml" Id="R16a513d12a4847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d88c9928504cc7" /><Relationship Type="http://schemas.openxmlformats.org/officeDocument/2006/relationships/notesMaster" Target="/ppt/notesMasters/notesMaster1.xml" Id="R89bbde971af940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26cb036fba4d7b" /><Relationship Type="http://schemas.openxmlformats.org/officeDocument/2006/relationships/notesMaster" Target="/ppt/notesMasters/notesMaster1.xml" Id="R656e28ddfb2a48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70cac373c44e7b" /><Relationship Type="http://schemas.openxmlformats.org/officeDocument/2006/relationships/notesMaster" Target="/ppt/notesMasters/notesMaster1.xml" Id="Ra31d77a8a5274e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dec7160ac04d25" /><Relationship Type="http://schemas.openxmlformats.org/officeDocument/2006/relationships/notesMaster" Target="/ppt/notesMasters/notesMaster1.xml" Id="R17277cd3511b43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7a41a78b2ad4f51" /><Relationship Type="http://schemas.openxmlformats.org/officeDocument/2006/relationships/notesMaster" Target="/ppt/notesMasters/notesMaster1.xml" Id="R0eeb83623c8a41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0154143b2046ce" /><Relationship Type="http://schemas.openxmlformats.org/officeDocument/2006/relationships/notesMaster" Target="/ppt/notesMasters/notesMaster1.xml" Id="R7566a51c81c643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ddecab1abc40dc" /><Relationship Type="http://schemas.openxmlformats.org/officeDocument/2006/relationships/notesMaster" Target="/ppt/notesMasters/notesMaster1.xml" Id="Re0fb7268b7454b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8b5060bf7d46f0" /><Relationship Type="http://schemas.openxmlformats.org/officeDocument/2006/relationships/notesMaster" Target="/ppt/notesMasters/notesMaster1.xml" Id="R7e28d643b25c452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d7c756c8ed140d9" /><Relationship Type="http://schemas.openxmlformats.org/officeDocument/2006/relationships/notesMaster" Target="/ppt/notesMasters/notesMaster1.xml" Id="R33f7fb56a22b4a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7f8eb8c0d842f1" /><Relationship Type="http://schemas.openxmlformats.org/officeDocument/2006/relationships/notesMaster" Target="/ppt/notesMasters/notesMaster1.xml" Id="Ra2a922973b004f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5bfcd146fa4e83" /><Relationship Type="http://schemas.openxmlformats.org/officeDocument/2006/relationships/notesMaster" Target="/ppt/notesMasters/notesMaster1.xml" Id="R5cec97dd56714e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24a5051580d4526" /><Relationship Type="http://schemas.openxmlformats.org/officeDocument/2006/relationships/notesMaster" Target="/ppt/notesMasters/notesMaster1.xml" Id="R077cb048468842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10A · Explore</a:t>
            </a:r>
          </a:p>
          <a:p xmlns:a="http://schemas.openxmlformats.org/drawingml/2006/main">
            <a:r>
              <a:t>Learning objective: I can explain relative hardness and identify a fair, safe scratch method for comparing rock samples.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say that hardness means resistance to scratching.</a:t>
            </a:r>
          </a:p>
          <a:p xmlns:a="http://schemas.openxmlformats.org/drawingml/2006/main">
            <a:r>
              <a:t>I can distinguish a loose tool streak from a groove that remains after wiping.</a:t>
            </a:r>
          </a:p>
          <a:p xmlns:a="http://schemas.openxmlformats.org/drawingml/2006/main">
            <a:r>
              <a:t>I can change the sample while keeping the tool, passes and guide as consistent as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10A · Explore</a:t>
            </a:r>
          </a:p>
          <a:p xmlns:a="http://schemas.openxmlformats.org/drawingml/2006/main">
            <a:r>
              <a:t>Learning objective: I can explain relative hardness and identify a fair, safe scratch method for comparing rock samples.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say that hardness means resistance to scratching.</a:t>
            </a:r>
          </a:p>
          <a:p xmlns:a="http://schemas.openxmlformats.org/drawingml/2006/main">
            <a:r>
              <a:t>I can distinguish a loose tool streak from a groove that remains after wiping.</a:t>
            </a:r>
          </a:p>
          <a:p xmlns:a="http://schemas.openxmlformats.org/drawingml/2006/main">
            <a:r>
              <a:t>I can change the sample while keeping the tool, passes and guide as consistent as practical.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W9B: a useful comparison kept one criterion unchanged for every specimen.</a:t>
            </a:r>
          </a:p>
          <a:p xmlns:a="http://schemas.openxmlformats.org/drawingml/2006/main">
            <a:r>
              <a:t>W9A: visible properties helped us group rocks but did not reveal every tested property.</a:t>
            </a:r>
          </a:p>
          <a:p xmlns:a="http://schemas.openxmlformats.org/drawingml/2006/main">
            <a:r>
              <a:t>W8A: a fair comparison matched the number, unit and basis.</a:t>
            </a:r>
          </a:p>
          <a:p xmlns:a="http://schemas.openxmlformats.org/drawingml/2006/main">
            <a:r>
              <a:t>Lead-in: a scratch test needs a stated method before its marks become evidence.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why the W9 sorting question stayed unchanged.</a:t>
            </a:r>
          </a:p>
          <a:p xmlns:a="http://schemas.openxmlformats.org/drawingml/2006/main">
            <a:r>
              <a:t>Name one visible rock property and one property that needs a test.</a:t>
            </a:r>
          </a:p>
          <a:p xmlns:a="http://schemas.openxmlformats.org/drawingml/2006/main">
            <a:r>
              <a:t>State why matching units makes a comparison fair.</a:t>
            </a:r>
          </a:p>
          <a:p xmlns:a="http://schemas.openxmlformats.org/drawingml/2006/main">
            <a:r>
              <a:t>Lead-in: what must be checked before a pale line is called a scratch?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PASS 1 · a pale line appears</a:t>
            </a:r>
          </a:p>
          <a:p xmlns:a="http://schemas.openxmlformats.org/drawingml/2006/main">
            <a:r>
              <a:t>Do not decide yet. A pale line can be tool dust sitting on top.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WIPE · remove the loose dust</a:t>
            </a:r>
          </a:p>
          <a:p xmlns:a="http://schemas.openxmlformats.org/drawingml/2006/main">
            <a:r>
              <a:t>Wipe, then look again. Only a mark that survives the wipe counts.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OBSERVE · groove, or gone?</a:t>
            </a:r>
          </a:p>
          <a:p xmlns:a="http://schemas.openxmlformats.org/drawingml/2006/main">
            <a:r>
              <a:t>A groove that stays = the rock was scratched = softer than the tool. Line gone = harder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Wipe the line and inspect whether an indentation remains.</a:t>
            </a:r>
          </a:p>
          <a:p xmlns:a="http://schemas.openxmlformats.org/drawingml/2006/main">
            <a:r>
              <a:t>Weigh the rock and call the heaviest one hardest.</a:t>
            </a:r>
          </a:p>
          <a:p xmlns:a="http://schemas.openxmlformats.org/drawingml/2006/main">
            <a:r>
              <a:t>Press harder until every rock shows a deep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PASS 1 · a pale line appears</a:t>
            </a:r>
          </a:p>
          <a:p xmlns:a="http://schemas.openxmlformats.org/drawingml/2006/main">
            <a:r>
              <a:t>Do not decide yet. A pale line can be tool dust sitting on top.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WIPE · remove the loose dust</a:t>
            </a:r>
          </a:p>
          <a:p xmlns:a="http://schemas.openxmlformats.org/drawingml/2006/main">
            <a:r>
              <a:t>Wipe, then look again. Only a mark that survives the wipe counts.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OBSERVE · groove, or gone?</a:t>
            </a:r>
          </a:p>
          <a:p xmlns:a="http://schemas.openxmlformats.org/drawingml/2006/main">
            <a:r>
              <a:t>A groove that stays = the rock was scratched = softer than the tool. Line gone = harder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Wipe the line and inspect whether an indentation remains.</a:t>
            </a:r>
          </a:p>
          <a:p xmlns:a="http://schemas.openxmlformats.org/drawingml/2006/main">
            <a:r>
              <a:t>Weigh the rock and call the heaviest one hardest.</a:t>
            </a:r>
          </a:p>
          <a:p xmlns:a="http://schemas.openxmlformats.org/drawingml/2006/main">
            <a:r>
              <a:t>Press harder until every rock shows a deep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PASS 1 · a pale line appears</a:t>
            </a:r>
          </a:p>
          <a:p xmlns:a="http://schemas.openxmlformats.org/drawingml/2006/main">
            <a:r>
              <a:t>Do not decide yet. A pale line can be tool dust sitting on top.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WIPE · remove the loose dust</a:t>
            </a:r>
          </a:p>
          <a:p xmlns:a="http://schemas.openxmlformats.org/drawingml/2006/main">
            <a:r>
              <a:t>Wipe, then look again. Only a mark that survives the wipe counts.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OBSERVE · groove, or gone?</a:t>
            </a:r>
          </a:p>
          <a:p xmlns:a="http://schemas.openxmlformats.org/drawingml/2006/main">
            <a:r>
              <a:t>A groove that stays = the rock was scratched = softer than the tool. Line gone = harder 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Wipe the line and inspect whether an indentation remains.</a:t>
            </a:r>
          </a:p>
          <a:p xmlns:a="http://schemas.openxmlformats.org/drawingml/2006/main">
            <a:r>
              <a:t>Weigh the rock and call the heaviest one hardest.</a:t>
            </a:r>
          </a:p>
          <a:p xmlns:a="http://schemas.openxmlformats.org/drawingml/2006/main">
            <a:r>
              <a:t>Press harder until every rock shows a deep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HARDNESS resistance to a scratch how well a material resists being scratched under a stated method</a:t>
            </a:r>
          </a:p>
          <a:p xmlns:a="http://schemas.openxmlformats.org/drawingml/2006/main">
            <a:r>
              <a:t>GROOVE a line cut into the surface an indentation that remains in the sample after loose material is wiped away</a:t>
            </a:r>
          </a:p>
          <a:p xmlns:a="http://schemas.openxmlformats.org/drawingml/2006/main">
            <a:r>
              <a:t>CONTROL what we keep the same a relevant condition held as consistent as practical so samples can be compared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mark–wipe–groove sequence makes the deciding observation visible and keeps loose tool streaks separate from damage to the sample.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a teacher-pretested dry sample in a stable tray. Use only the secured blunt scratch jig or a teacher demonstration.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Use the same tool, guide length, number of passes and safe force proxy. Never press harder to make an expected result appear.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Wipe the line with the prepared method, then inspect from the same viewing position for a remaining groove.</a:t>
            </a:r>
          </a:p>
          <a:p xmlns:a="http://schemas.openxmlformats.org/drawingml/2006/main">
            <a:r>
              <a:t>Scratch tester · mark, wipe, look</a:t>
            </a:r>
          </a:p>
          <a:p xmlns:a="http://schemas.openxmlformats.org/drawingml/2006/main">
            <a:r>
              <a:t>Same tool, same guide, same number of passes. Only the rock changes. Press the steps in order.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1 · PASS the tool</a:t>
            </a:r>
          </a:p>
          <a:p xmlns:a="http://schemas.openxmlformats.org/drawingml/2006/main">
            <a:r>
              <a:t>2 · WIPE</a:t>
            </a:r>
          </a:p>
          <a:p xmlns:a="http://schemas.openxmlformats.org/drawingml/2006/main">
            <a:r>
              <a:t>3 · LOOK</a:t>
            </a:r>
          </a:p>
          <a:p xmlns:a="http://schemas.openxmlformats.org/drawingml/2006/main">
            <a:r>
              <a:t>Pick a code, then press 1, 2, 3.</a:t>
            </a:r>
          </a:p>
          <a:p xmlns:a="http://schemas.openxmlformats.org/drawingml/2006/main">
            <a:r>
              <a:t>Hardness = resistance to scratching. It is NOT weight and NOT "hard to break". Loose dust is not a scratch.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HARDNESS resistance to a scratch how well a material resists being scratched under a stated method</a:t>
            </a:r>
          </a:p>
          <a:p xmlns:a="http://schemas.openxmlformats.org/drawingml/2006/main">
            <a:r>
              <a:t>GROOVE a line cut into the surface an indentation that remains in the sample after loose material is wiped away</a:t>
            </a:r>
          </a:p>
          <a:p xmlns:a="http://schemas.openxmlformats.org/drawingml/2006/main">
            <a:r>
              <a:t>CONTROL what we keep the same a relevant condition held as consistent as practical so samples can be compared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mark–wipe–groove sequence makes the deciding observation visible and keeps loose tool streaks separate from damage to the sample.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a teacher-pretested dry sample in a stable tray. Use only the secured blunt scratch jig or a teacher demonstration.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Use the same tool, guide length, number of passes and safe force proxy. Never press harder to make an expected result appear.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Wipe the line with the prepared method, then inspect from the same viewing position for a remaining groove.</a:t>
            </a:r>
          </a:p>
          <a:p xmlns:a="http://schemas.openxmlformats.org/drawingml/2006/main">
            <a:r>
              <a:t>Scratch tester · mark, wipe, look</a:t>
            </a:r>
          </a:p>
          <a:p xmlns:a="http://schemas.openxmlformats.org/drawingml/2006/main">
            <a:r>
              <a:t>Same tool, same guide, same number of passes. Only the rock changes. Press the steps in order.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1 · PASS the tool</a:t>
            </a:r>
          </a:p>
          <a:p xmlns:a="http://schemas.openxmlformats.org/drawingml/2006/main">
            <a:r>
              <a:t>2 · WIPE</a:t>
            </a:r>
          </a:p>
          <a:p xmlns:a="http://schemas.openxmlformats.org/drawingml/2006/main">
            <a:r>
              <a:t>3 · LOOK</a:t>
            </a:r>
          </a:p>
          <a:p xmlns:a="http://schemas.openxmlformats.org/drawingml/2006/main">
            <a:r>
              <a:t>Pick a code, then press 1, 2, 3.</a:t>
            </a:r>
          </a:p>
          <a:p xmlns:a="http://schemas.openxmlformats.org/drawingml/2006/main">
            <a:r>
              <a:t>Hardness = resistance to scratching. It is NOT weight and NOT "hard to break". Loose dust is not a scratch.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HARDNESS resistance to a scratch how well a material resists being scratched under a stated method</a:t>
            </a:r>
          </a:p>
          <a:p xmlns:a="http://schemas.openxmlformats.org/drawingml/2006/main">
            <a:r>
              <a:t>GROOVE a line cut into the surface an indentation that remains in the sample after loose material is wiped away</a:t>
            </a:r>
          </a:p>
          <a:p xmlns:a="http://schemas.openxmlformats.org/drawingml/2006/main">
            <a:r>
              <a:t>CONTROL what we keep the same a relevant condition held as consistent as practical so samples can be compared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mark–wipe–groove sequence makes the deciding observation visible and keeps loose tool streaks separate from damage to the sample.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a teacher-pretested dry sample in a stable tray. Use only the secured blunt scratch jig or a teacher demonstration.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Use the same tool, guide length, number of passes and safe force proxy. Never press harder to make an expected result appear.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Wipe the line with the prepared method, then inspect from the same viewing position for a remaining groove.</a:t>
            </a:r>
          </a:p>
          <a:p xmlns:a="http://schemas.openxmlformats.org/drawingml/2006/main">
            <a:r>
              <a:t>Scratch tester · mark, wipe, look</a:t>
            </a:r>
          </a:p>
          <a:p xmlns:a="http://schemas.openxmlformats.org/drawingml/2006/main">
            <a:r>
              <a:t>Same tool, same guide, same number of passes. Only the rock changes. Press the steps in order.</a:t>
            </a:r>
          </a:p>
          <a:p xmlns:a="http://schemas.openxmlformats.org/drawingml/2006/main">
            <a:r>
              <a:t>Code A</a:t>
            </a:r>
          </a:p>
          <a:p xmlns:a="http://schemas.openxmlformats.org/drawingml/2006/main">
            <a:r>
              <a:t>Code C</a:t>
            </a:r>
          </a:p>
          <a:p xmlns:a="http://schemas.openxmlformats.org/drawingml/2006/main">
            <a:r>
              <a:t>Code D</a:t>
            </a:r>
          </a:p>
          <a:p xmlns:a="http://schemas.openxmlformats.org/drawingml/2006/main">
            <a:r>
              <a:t>Code F</a:t>
            </a:r>
          </a:p>
          <a:p xmlns:a="http://schemas.openxmlformats.org/drawingml/2006/main">
            <a:r>
              <a:t>1 · PASS the tool</a:t>
            </a:r>
          </a:p>
          <a:p xmlns:a="http://schemas.openxmlformats.org/drawingml/2006/main">
            <a:r>
              <a:t>2 · WIPE</a:t>
            </a:r>
          </a:p>
          <a:p xmlns:a="http://schemas.openxmlformats.org/drawingml/2006/main">
            <a:r>
              <a:t>3 · LOOK</a:t>
            </a:r>
          </a:p>
          <a:p xmlns:a="http://schemas.openxmlformats.org/drawingml/2006/main">
            <a:r>
              <a:t>Pick a code, then press 1, 2, 3.</a:t>
            </a:r>
          </a:p>
          <a:p xmlns:a="http://schemas.openxmlformats.org/drawingml/2006/main">
            <a:r>
              <a:t>Hardness = resistance to scratching. It is NOT weight and NOT "hard to break". Loose dust is not a scratch.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No groove remained; this sample resisted the stated scratch method.</a:t>
            </a:r>
          </a:p>
          <a:p xmlns:a="http://schemas.openxmlformats.org/drawingml/2006/main">
            <a:r>
              <a:t>A deep groove formed, so the rock is soft.</a:t>
            </a:r>
          </a:p>
          <a:p xmlns:a="http://schemas.openxmlformats.org/drawingml/2006/main">
            <a:r>
              <a:t>The rock is unbreakable in every situation.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outcomes with cautious words: deep groove, shallow groove, faint groove or no groove under this method.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clearer remaining groove means lower resistance to this particular scratch method; it does not measure every kind of strength.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a sample flakes, crumbles or makes dust, stop. Preserve the observation and use the representative digital or image route rather than forcing a repeat.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mark–wipe–groove sequence makes the deciding observation visible and keeps loose tool streaks separate from damage to the sample.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Compare outcomes with cautious words: deep groove, shallow groove, faint groove or no groove under this method.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A clearer remaining groove means lower resistance to this particular scratch method; it does not measure every kind of strength.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If a sample flakes, crumbles or makes dust, stop. Preserve the observation and use the representative digital or image route rather than forcing a repeat.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mark–wipe–groove sequence makes the deciding observation visible and keeps loose tool streaks separate from damage to the sample.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method or observation under the role it performs in a valid hardness comparison.</a:t>
            </a:r>
          </a:p>
          <a:p xmlns:a="http://schemas.openxmlformats.org/drawingml/2006/main">
            <a:r>
              <a:t>Lock the stated method. Commit a prediction. Make or reveal the safe tool pass. Wipe and inspect. Record the bounded result.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Deep indentation remains After wiping, a clear groove remains in the dry surface.</a:t>
            </a:r>
          </a:p>
          <a:p xmlns:a="http://schemas.openxmlformats.org/drawingml/2006/main">
            <a:r>
              <a:t>Shallow indentation remains The loose streak is gone, but a shallow groove can still be seen and felt by the teacher's inspection method.</a:t>
            </a:r>
          </a:p>
          <a:p xmlns:a="http://schemas.openxmlformats.org/drawingml/2006/main">
            <a:r>
              <a:t>Line wipes away No indentation remains after the loose tool streak is removed.</a:t>
            </a:r>
          </a:p>
          <a:p xmlns:a="http://schemas.openxmlformats.org/drawingml/2006/main">
            <a:r>
              <a:t>Same tool, guide and passes Only the coded rock sample changes.</a:t>
            </a:r>
          </a:p>
          <a:p xmlns:a="http://schemas.openxmlformats.org/drawingml/2006/main">
            <a:r>
              <a:t>The sample feels heavy No scratch observation is made.</a:t>
            </a:r>
          </a:p>
          <a:p xmlns:a="http://schemas.openxmlformats.org/drawingml/2006/main">
            <a:r>
              <a:t>The edge flakes or dust appears The sample becomes unstable during the attempted method.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VALID GROOVE EVIDENCE</a:t>
            </a:r>
          </a:p>
          <a:p xmlns:a="http://schemas.openxmlformats.org/drawingml/2006/main">
            <a:r>
              <a:t>VALID NO-GROOVE EVIDENCE</a:t>
            </a:r>
          </a:p>
          <a:p xmlns:a="http://schemas.openxmlformats.org/drawingml/2006/main">
            <a:r>
              <a:t>KEEP THIS THE SAME</a:t>
            </a:r>
          </a:p>
          <a:p xmlns:a="http://schemas.openxmlformats.org/drawingml/2006/main">
            <a:r>
              <a:t>DOES NOT MEASURE HARDNESS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Hardness glitch: the heaviest rock is the hardest and cannot break.</a:t>
            </a:r>
          </a:p>
          <a:p xmlns:a="http://schemas.openxmlformats.org/drawingml/2006/main">
            <a:r>
              <a:t>Keep it: weight, hardness and strength are the same.</a:t>
            </a:r>
          </a:p>
          <a:p xmlns:a="http://schemas.openxmlformats.org/drawingml/2006/main">
            <a:r>
              <a:t>Repair it: hardness is resistance to scratching under the stated method.</a:t>
            </a:r>
          </a:p>
          <a:p xmlns:a="http://schemas.openxmlformats.org/drawingml/2006/main">
            <a:r>
              <a:t>Repair it: break the rocks to see which is hardest.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method or observation under the role it performs in a valid hardness comparison.</a:t>
            </a:r>
          </a:p>
          <a:p xmlns:a="http://schemas.openxmlformats.org/drawingml/2006/main">
            <a:r>
              <a:t>Lock the stated method. Commit a prediction. Make or reveal the safe tool pass. Wipe and inspect. Record the bounded result.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Deep indentation remains After wiping, a clear groove remains in the dry surface.</a:t>
            </a:r>
          </a:p>
          <a:p xmlns:a="http://schemas.openxmlformats.org/drawingml/2006/main">
            <a:r>
              <a:t>Shallow indentation remains The loose streak is gone, but a shallow groove can still be seen and felt by the teacher's inspection method.</a:t>
            </a:r>
          </a:p>
          <a:p xmlns:a="http://schemas.openxmlformats.org/drawingml/2006/main">
            <a:r>
              <a:t>Line wipes away No indentation remains after the loose tool streak is removed.</a:t>
            </a:r>
          </a:p>
          <a:p xmlns:a="http://schemas.openxmlformats.org/drawingml/2006/main">
            <a:r>
              <a:t>Same tool, guide and passes Only the coded rock sample changes.</a:t>
            </a:r>
          </a:p>
          <a:p xmlns:a="http://schemas.openxmlformats.org/drawingml/2006/main">
            <a:r>
              <a:t>The sample feels heavy No scratch observation is made.</a:t>
            </a:r>
          </a:p>
          <a:p xmlns:a="http://schemas.openxmlformats.org/drawingml/2006/main">
            <a:r>
              <a:t>The edge flakes or dust appears The sample becomes unstable during the attempted method.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VALID GROOVE EVIDENCE</a:t>
            </a:r>
          </a:p>
          <a:p xmlns:a="http://schemas.openxmlformats.org/drawingml/2006/main">
            <a:r>
              <a:t>VALID NO-GROOVE EVIDENCE</a:t>
            </a:r>
          </a:p>
          <a:p xmlns:a="http://schemas.openxmlformats.org/drawingml/2006/main">
            <a:r>
              <a:t>KEEP THIS THE SAME</a:t>
            </a:r>
          </a:p>
          <a:p xmlns:a="http://schemas.openxmlformats.org/drawingml/2006/main">
            <a:r>
              <a:t>DOES NOT MEASURE HARDNESS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Hardness glitch: the heaviest rock is the hardest and cannot break.</a:t>
            </a:r>
          </a:p>
          <a:p xmlns:a="http://schemas.openxmlformats.org/drawingml/2006/main">
            <a:r>
              <a:t>Keep it: weight, hardness and strength are the same.</a:t>
            </a:r>
          </a:p>
          <a:p xmlns:a="http://schemas.openxmlformats.org/drawingml/2006/main">
            <a:r>
              <a:t>Repair it: hardness is resistance to scratching under the stated method.</a:t>
            </a:r>
          </a:p>
          <a:p xmlns:a="http://schemas.openxmlformats.org/drawingml/2006/main">
            <a:r>
              <a:t>Repair it: break the rocks to see which is hardest.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 each method or observation under the role it performs in a valid hardness comparison.</a:t>
            </a:r>
          </a:p>
          <a:p xmlns:a="http://schemas.openxmlformats.org/drawingml/2006/main">
            <a:r>
              <a:t>Lock the stated method. Commit a prediction. Make or reveal the safe tool pass. Wipe and inspect. Record the bounded result.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Deep indentation remains After wiping, a clear groove remains in the dry surface.</a:t>
            </a:r>
          </a:p>
          <a:p xmlns:a="http://schemas.openxmlformats.org/drawingml/2006/main">
            <a:r>
              <a:t>Shallow indentation remains The loose streak is gone, but a shallow groove can still be seen and felt by the teacher's inspection method.</a:t>
            </a:r>
          </a:p>
          <a:p xmlns:a="http://schemas.openxmlformats.org/drawingml/2006/main">
            <a:r>
              <a:t>Line wipes away No indentation remains after the loose tool streak is removed.</a:t>
            </a:r>
          </a:p>
          <a:p xmlns:a="http://schemas.openxmlformats.org/drawingml/2006/main">
            <a:r>
              <a:t>Same tool, guide and passes Only the coded rock sample changes.</a:t>
            </a:r>
          </a:p>
          <a:p xmlns:a="http://schemas.openxmlformats.org/drawingml/2006/main">
            <a:r>
              <a:t>The sample feels heavy No scratch observation is made.</a:t>
            </a:r>
          </a:p>
          <a:p xmlns:a="http://schemas.openxmlformats.org/drawingml/2006/main">
            <a:r>
              <a:t>The edge flakes or dust appears The sample becomes unstable during the attempted method.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VALID GROOVE EVIDENCE</a:t>
            </a:r>
          </a:p>
          <a:p xmlns:a="http://schemas.openxmlformats.org/drawingml/2006/main">
            <a:r>
              <a:t>VALID NO-GROOVE EVIDENCE</a:t>
            </a:r>
          </a:p>
          <a:p xmlns:a="http://schemas.openxmlformats.org/drawingml/2006/main">
            <a:r>
              <a:t>KEEP THIS THE SAME</a:t>
            </a:r>
          </a:p>
          <a:p xmlns:a="http://schemas.openxmlformats.org/drawingml/2006/main">
            <a:r>
              <a:t>DOES NOT MEASURE HARDNESS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Hardness glitch: the heaviest rock is the hardest and cannot break.</a:t>
            </a:r>
          </a:p>
          <a:p xmlns:a="http://schemas.openxmlformats.org/drawingml/2006/main">
            <a:r>
              <a:t>Keep it: weight, hardness and strength are the same.</a:t>
            </a:r>
          </a:p>
          <a:p xmlns:a="http://schemas.openxmlformats.org/drawingml/2006/main">
            <a:r>
              <a:t>Repair it: hardness is resistance to scratching under the stated method.</a:t>
            </a:r>
          </a:p>
          <a:p xmlns:a="http://schemas.openxmlformats.org/drawingml/2006/main">
            <a:r>
              <a:t>Repair it: break the rocks to see which is hardest.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Two teacher-pretested coded dry rock samples; stable trays; secured blunt scratch jig or teacher demonstration; fixed guide; wipes; hand lens; result card; eye protection where required by local assessment.</a:t>
            </a:r>
          </a:p>
          <a:p xmlns:a="http://schemas.openxmlformats.org/drawingml/2006/main">
            <a:r>
              <a:t>Same outcome: I can explain relative hardness and identify a fair, safe scratch method for comparing rock samples.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evidence gate and supplied representative mark/wipe/groove observations. Label them as model data, not results from the class samples.</a:t>
            </a:r>
          </a:p>
          <a:p xmlns:a="http://schemas.openxmlformats.org/drawingml/2006/main">
            <a:r>
              <a:t>Same evidence: A Rock Hardness Method Card with prediction, changed sample, controls, after-wipe observation and a relative conclusion within the stated method.</a:t>
            </a:r>
          </a:p>
          <a:p xmlns:a="http://schemas.openxmlformats.org/drawingml/2006/main">
            <a:r>
              <a:t>Equipment / setup Two teacher-pretested coded dry rock samples; stable trays; secured blunt scratch jig or teacher demonstration; fixed guide; wipes; hand lens; result card; eye protection where required by local assessment.</a:t>
            </a:r>
          </a:p>
          <a:p xmlns:a="http://schemas.openxmlformats.org/drawingml/2006/main">
            <a:r>
              <a:t>Safety / sensory Follow the school's current rock-testing risk assessment. No unknown, sharp, dusty or crumbling samples; no hammering, breaking, tasting, smelling or dust blowing. An adult controls the secured tool. Stop immediately on flaking or dust and wash hands.</a:t>
            </a:r>
          </a:p>
          <a:p xmlns:a="http://schemas.openxmlformats.org/drawingml/2006/main">
            <a:r>
              <a:t>Offline parity Use the in-page evidence gate and supplied representative mark/wipe/groove observations. Label them as model data, not results from the class samples.</a:t>
            </a:r>
          </a:p>
          <a:p xmlns:a="http://schemas.openxmlformats.org/drawingml/2006/main">
            <a:r>
              <a:t>No-equipment/access route: Direct the adult tester, use macro before/after cards or interpret the fixed data. Handling the rock or tool is never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two coded samples with the same stated method and justify which resisted a groove more.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We changed __. We kept __. Sample __ showed __, so under this method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Two teacher-pretested coded dry rock samples; stable trays; secured blunt scratch jig or teacher demonstration; fixed guide; wipes; hand lens; result card; eye protection where required by local assessment.</a:t>
            </a:r>
          </a:p>
          <a:p xmlns:a="http://schemas.openxmlformats.org/drawingml/2006/main">
            <a:r>
              <a:t>Same outcome: I can explain relative hardness and identify a fair, safe scratch method for comparing rock samples.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evidence gate and supplied representative mark/wipe/groove observations. Label them as model data, not results from the class samples.</a:t>
            </a:r>
          </a:p>
          <a:p xmlns:a="http://schemas.openxmlformats.org/drawingml/2006/main">
            <a:r>
              <a:t>Same evidence: A Rock Hardness Method Card with prediction, changed sample, controls, after-wipe observation and a relative conclusion within the stated method.</a:t>
            </a:r>
          </a:p>
          <a:p xmlns:a="http://schemas.openxmlformats.org/drawingml/2006/main">
            <a:r>
              <a:t>Equipment / setup Two teacher-pretested coded dry rock samples; stable trays; secured blunt scratch jig or teacher demonstration; fixed guide; wipes; hand lens; result card; eye protection where required by local assessment.</a:t>
            </a:r>
          </a:p>
          <a:p xmlns:a="http://schemas.openxmlformats.org/drawingml/2006/main">
            <a:r>
              <a:t>Safety / sensory Follow the school's current rock-testing risk assessment. No unknown, sharp, dusty or crumbling samples; no hammering, breaking, tasting, smelling or dust blowing. An adult controls the secured tool. Stop immediately on flaking or dust and wash hands.</a:t>
            </a:r>
          </a:p>
          <a:p xmlns:a="http://schemas.openxmlformats.org/drawingml/2006/main">
            <a:r>
              <a:t>Offline parity Use the in-page evidence gate and supplied representative mark/wipe/groove observations. Label them as model data, not results from the class samples.</a:t>
            </a:r>
          </a:p>
          <a:p xmlns:a="http://schemas.openxmlformats.org/drawingml/2006/main">
            <a:r>
              <a:t>No-equipment/access route: Direct the adult tester, use macro before/after cards or interpret the fixed data. Handling the rock or tool is never required.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Compare two coded samples with the same stated method and justify which resisted a groove more.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We changed __. We kept __. Sample __ showed __, so under this method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SCI_B_W10A_Rock_Hardness_Explore.html.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This is a relative classroom comparison with one tool and method. It does not give a Mohs number, prove construction strength or represent every specimen of a named rock.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Explain how the method distinguishes a tool streak from a groove and name two controls.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SCI_B_W10A_Rock_Hardness_Explore.html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615eed9d540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d77e03c34436b" /><Relationship Type="http://schemas.openxmlformats.org/officeDocument/2006/relationships/slideLayout" Target="/ppt/slideLayouts/slideLayout1.xml" Id="Ra4efeec743684f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efeec743684f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3c42674df4a9e" /><Relationship Type="http://schemas.openxmlformats.org/officeDocument/2006/relationships/hyperlink" Target="SCI_B_W10A_Rock_Hardness_Explore.html" TargetMode="External" Id="R606ffaa1e66743ec" /><Relationship Type="http://schemas.openxmlformats.org/officeDocument/2006/relationships/notesSlide" Target="/ppt/notesSlides/notesSlide1.xml" Id="R60f1e828c57a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a067dc0c94053" /><Relationship Type="http://schemas.openxmlformats.org/officeDocument/2006/relationships/notesSlide" Target="/ppt/notesSlides/notesSlide2.xml" Id="R2619ff6dde294b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48ec68c1d454e" /><Relationship Type="http://schemas.openxmlformats.org/officeDocument/2006/relationships/notesSlide" Target="/ppt/notesSlides/notesSlide3.xml" Id="R454ffb3455504a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8b7660ac0444d" /><Relationship Type="http://schemas.openxmlformats.org/officeDocument/2006/relationships/notesSlide" Target="/ppt/notesSlides/notesSlide4.xml" Id="R616a767b8aca4c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7e15d1207840eb" /><Relationship Type="http://schemas.openxmlformats.org/officeDocument/2006/relationships/notesSlide" Target="/ppt/notesSlides/notesSlide5.xml" Id="R91c2d632ae674f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20c85f74745da" /><Relationship Type="http://schemas.openxmlformats.org/officeDocument/2006/relationships/image" Target="/ppt/media/image.png" Id="R7f8309bee0f94d15" /><Relationship Type="http://schemas.openxmlformats.org/officeDocument/2006/relationships/image" Target="/ppt/media/image2.png" Id="R425c3cefb78c4e0e" /><Relationship Type="http://schemas.openxmlformats.org/officeDocument/2006/relationships/image" Target="/ppt/media/image3.png" Id="Rdf8fca930dda410d" /><Relationship Type="http://schemas.openxmlformats.org/officeDocument/2006/relationships/notesSlide" Target="/ppt/notesSlides/notesSlide6.xml" Id="R43de0d101c8445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3ab015fc74c42" /><Relationship Type="http://schemas.openxmlformats.org/officeDocument/2006/relationships/notesSlide" Target="/ppt/notesSlides/notesSlide7.xml" Id="Ra91c0059074346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743b69ef64d6d" /><Relationship Type="http://schemas.openxmlformats.org/officeDocument/2006/relationships/notesSlide" Target="/ppt/notesSlides/notesSlide8.xml" Id="Rfb4e89c9a0cc40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6474c082f4076" /><Relationship Type="http://schemas.openxmlformats.org/officeDocument/2006/relationships/image" Target="/ppt/media/image4.png" Id="R0f5b8ca47e6a484f" /><Relationship Type="http://schemas.openxmlformats.org/officeDocument/2006/relationships/notesSlide" Target="/ppt/notesSlides/notesSlide9.xml" Id="Rbfe5f3c0a0834d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3288bde504f81" /><Relationship Type="http://schemas.openxmlformats.org/officeDocument/2006/relationships/notesSlide" Target="/ppt/notesSlides/notesSlide10.xml" Id="R43fafd0744e14f8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540ea0a6c24c21" /><Relationship Type="http://schemas.openxmlformats.org/officeDocument/2006/relationships/notesSlide" Target="/ppt/notesSlides/notesSlide11.xml" Id="R291329dde41d4d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0e1fef8c27471a" /><Relationship Type="http://schemas.openxmlformats.org/officeDocument/2006/relationships/notesSlide" Target="/ppt/notesSlides/notesSlide12.xml" Id="R3f7cfc4eb0104d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ef17e5e3b4626" /><Relationship Type="http://schemas.openxmlformats.org/officeDocument/2006/relationships/notesSlide" Target="/ppt/notesSlides/notesSlide13.xml" Id="Re49640a77b734d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2d699b00b4e6b" /><Relationship Type="http://schemas.openxmlformats.org/officeDocument/2006/relationships/notesSlide" Target="/ppt/notesSlides/notesSlide14.xml" Id="R9a26d5a8ed2e49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8ea4e4368244a7" /><Relationship Type="http://schemas.openxmlformats.org/officeDocument/2006/relationships/notesSlide" Target="/ppt/notesSlides/notesSlide15.xml" Id="Rbb2c0cdf959a42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6009d19a24d5e" /><Relationship Type="http://schemas.openxmlformats.org/officeDocument/2006/relationships/notesSlide" Target="/ppt/notesSlides/notesSlide16.xml" Id="R08bcfc10acb547e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4a2aac837412b" /><Relationship Type="http://schemas.openxmlformats.org/officeDocument/2006/relationships/notesSlide" Target="/ppt/notesSlides/notesSlide17.xml" Id="R390a8db573254bb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a4280838e44117" /><Relationship Type="http://schemas.openxmlformats.org/officeDocument/2006/relationships/notesSlide" Target="/ppt/notesSlides/notesSlide18.xml" Id="R6a49fdef169c49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5B5980A7-FFBF-4330-BAE3-ED06C0A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913912-4CBA-4F9A-83FC-B71E509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EEECA03-B613-460C-A532-F934F29F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1C1F9C5-FC84-4D34-B796-AC47E1DC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Rock Hardness: Mark or Groove?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E107336-F446-44F8-A5BD-0F10E14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8E37CB36-F54D-49F4-9B4E-941145F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explain relative hardness and identify a fair, safe scratch method for comparing rock samples.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C3945610-2F9F-4857-BCE0-A31D7CB8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5FDE3083-DEB4-461C-BBCE-5D6DB6BB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EF83251F-8C1C-44C4-995C-887DFEEA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do not decide yet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9401F27D-58FA-46AA-89B3-EDD28208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BF14988C-3FD7-409E-ABCC-E48B23F1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WIPE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2208B344-B033-4F8B-B35E-06C5BAEE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check safely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F9E69CF1-54C5-4B50-B36F-6B0E195C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FBCC08BD-C089-4CB7-A26D-64A21CA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GROOVE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4AA1E8AD-33C8-47B1-8F6E-BDD47EDC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relative hardness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BB38EB67-0C9B-41E9-A581-867CADAD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606ffaa1e66743ec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82A4E971-B7B3-4FD0-94BA-198EB0B3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544E26D7-8731-4A88-A94A-BB20AA00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4445256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98228E82-49A6-43A1-8FDC-706A9484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CEC87F0-53E9-4C8C-B29C-A3F078AD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12F7822-2467-4922-8B26-FF835D58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DBA8351-B8EB-456A-80B4-E70FD5DD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DA7E38C-ECEF-4DD9-A82A-A42EB0C1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C8F7AA2-CC36-4952-8F19-08D86D3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say that hardness means resistance to scratching.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7AD3F08-674A-45C1-BFAC-FA52FA99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distinguish a loose tool streak from a groove that remains after wiping.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C378ABF-3673-4DCD-8FEB-38FE8E2A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change the sample while keeping the tool, passes and guide as consistent as practical.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29AF151-8BD8-453B-B002-4A025379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09B44B4C-F52C-4BCD-9470-67AB2B56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669232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34561EC-F820-4C8E-B050-A5E0302C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ECAD13-B0BA-4DCD-B3A3-AABE8D4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E09F7E6-B25D-42B0-B427-1302B875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3B5806-3181-420E-90FF-06A09BA1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BCC3B0E-24D1-4B06-8EF8-0D950B2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F715ADE-0D03-4F3B-A728-99D9B8B2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why the W9 sorting question stayed unchanged.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6A22B99-3740-4F26-99F7-CC132E3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one visible rock property and one property that needs a test.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0EDEDFE-5135-4E84-8F5E-9C347929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why matching units makes a comparison fair.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9B8E7E7-0904-4BD7-8937-06CEFC97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must be checked before a pale line is called a scratch?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3AAC0679-1CD8-4E05-B594-0430D15D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5E43BB75-D150-42B4-9444-AF94E498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8489729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6F41F3-C6A4-47FD-9BE2-2BEC9404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8CA8079-BC5E-4843-A07F-49D8C50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BD2481A-C7F5-4B29-AA7C-6C37F466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8A0FD5-3677-41F3-B83D-5D7C2FBB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pale line appears after a secured blunt tool passes over a rock. What should happen before we call it a scratch groove?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B08BEDF9-50C9-4191-B95F-C2B30CF0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2586C38-A8FC-4CDA-A570-BF71620A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7D47218-5774-41C0-94F2-22841E5A9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Wipe the line and inspect whether an indentation remains.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83CD794-B9E1-4C38-82B8-2D170168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Weigh the rock and call the heaviest one hardest.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564FE40-0A99-4ED8-8F01-A249CB97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Choose harder until every rock shows a deep line.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15365FCB-D73F-4D76-8E7A-6318E557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A195D93-3688-4561-9A7E-BA7E51C5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5858221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6CEDDD6-2872-4118-AEBD-38336EB9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4ACEF3B-CEAD-40A7-9A2B-354F353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8EE475C-BFFB-45A7-9FA7-AF8A8540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C995D54-CF70-4EB4-80DE-A0EE87DF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4512513-8555-4D1F-8FF7-37CB3B58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BAC04BF-F6A5-4814-A270-201D8E91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PASS 1 · a pale line appears on the dry surface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CD993BA-6B8C-4A41-9841-08EB8F65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WIPE · loose tool material is removed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99CC25E-2052-4489-850C-55FEDE81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OBSERVE · an indentation remains, or the line disappears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E92E4E0-702F-4F42-9188-2DC1D9BB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D2D2779F-FD59-434C-8D1A-2150B2A6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359133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7A2D53B4-5895-4E3E-98DE-9385A519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346458B-FF9C-466D-A498-66B7DA3B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8E8A3F1-9F23-4429-A985-F4B699C4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CB5E9B6-CAF9-426A-8749-C9A44C38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D3D9DFD-0FD0-4424-8609-031071A4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309bee0f94d15"/>
          <a:stretch xmlns:a="http://schemas.openxmlformats.org/drawingml/2006/main"/>
        </p:blipFill>
        <p:spPr>
          <a:xfrm xmlns:a="http://schemas.openxmlformats.org/drawingml/2006/main">
            <a:off x="8001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84852E95-2339-4C91-B54B-9DFD1AB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 rock with a pale line after one tool pass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c3cefb78c4e0e"/>
          <a:stretch xmlns:a="http://schemas.openxmlformats.org/drawingml/2006/main"/>
        </p:blipFill>
        <p:spPr>
          <a:xfrm xmlns:a="http://schemas.openxmlformats.org/drawingml/2006/main">
            <a:off x="44069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70C26198-FA8C-45EE-B0AD-80D442CC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same rock wiped clean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fca930dda410d"/>
          <a:stretch xmlns:a="http://schemas.openxmlformats.org/drawingml/2006/main"/>
        </p:blipFill>
        <p:spPr>
          <a:xfrm xmlns:a="http://schemas.openxmlformats.org/drawingml/2006/main">
            <a:off x="8013700" y="2836863"/>
            <a:ext cx="3378200" cy="1689100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F3C55672-27A9-4581-96E5-A4B34886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Two rocks after wiping: one keeps a groove, one does not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103B4ED-63DB-4D04-8033-5745A48D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344BE362-806F-490E-836F-612BAA6F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6170603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7A2C1A-3AC4-4F15-8562-67C2F0F5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AF337DC-41B7-4314-A41D-2C6BB2624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89274BA-69AF-4322-86BE-C1E94D7C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43FC66-9C88-42E9-8E97-6BD62A63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038C818-9ED8-4234-B133-C24512C3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056944B-E285-4CFC-8E81-98F0EF1D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hardness — resistance to a scratch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B194FF3-AE05-4A5C-8AF5-0FD0981D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groove — a line cut into the surface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3DD3DFD-0DA7-44A3-BBD6-769EB10F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control — what we keep the same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BEBC027-6B96-406C-9C30-923C520E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7A9DECC0-2EAB-4346-898A-58B5EF28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5776135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D0B449F-F68C-41B5-BC65-35BCB1B1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F14F0AB-188C-452D-9064-EF071AA9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5894DB6-0CF8-4F7D-83E6-AFC3736B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460F3E-A408-45B4-88CE-44C9066A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9B12EAB-D522-45B1-AEE5-52648453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AB8C5CE-A664-444E-9C7E-CFA456A4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a teacher-pretested dry sample in a stable tray. Use only the secured blunt scratch jig or a teacher demonstration.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BD79C87-BC1D-40CD-887F-64C15BCC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the same tool, guide length, number of passes and safe force proxy. Never choose harder to make an expected result appear.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95C4B35-7BBB-4CBB-A309-C10DD23F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Wipe the line with the prepared method, then inspect from the same viewing position for a remaining groove.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EDD5034-9CD1-452D-B60C-15929E25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FB260BC8-FE9F-4B34-839D-F91525AA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387949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75A4DD-1F9B-4556-8899-6C221B22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9E6A63B-0F2A-465C-894E-80D784E6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A3C7704-97DC-4C91-89BC-3CA22E7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1BBD2C-8FC9-4F66-B3C2-CDB86D9A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10E440-6AD1-49A1-8DF7-8E9DC89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b8ca47e6a484f"/>
          <a:stretch xmlns:a="http://schemas.openxmlformats.org/drawingml/2006/main"/>
        </p:blipFill>
        <p:spPr>
          <a:xfrm xmlns:a="http://schemas.openxmlformats.org/drawingml/2006/main">
            <a:off x="3095625" y="2181225"/>
            <a:ext cx="6000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31DFA492-B0CD-4EFC-AD72-CE089B4F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Scratch test on the chosen rock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774E652-505F-4395-AD65-6FCBA5CA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94DE5D1F-B1E7-4610-8AC5-3A2179C7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6178813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056E56-396B-4FC8-9F33-ABFC703A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0024371-09D8-4859-81BC-5EE5B76E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B73E669-0446-438F-877A-BFC20FAF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3B01B9-40C5-417D-AEEA-EF0BEA5DD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pale line wipes away and no indentation remains. Which record is accurate?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BF175E6-D19C-4A25-86DC-E26F20707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506181-BC36-40F6-B1B7-0FE4B64D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No groove remained; this sample resisted the stated scratch method.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02B2396-4D0B-48AA-A3A6-66A5AD6B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A deep groove formed, so the rock is soft.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73A0594-AD6C-4BA8-A495-6CD08C27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rock is unbreakable in every situation.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EBF5C6AE-43AF-4D50-BE66-B78AC802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65FEC7A4-151E-4D7E-AA44-45F63090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010D124-3FB2-484D-B819-671E073F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835257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0AB49164-67AC-4D9D-A8CD-C3BEB494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D353D11-9E93-4496-B850-5AA45986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0871137-6760-4C08-8CBD-164D782F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D3543B2-C1C9-4306-9C62-FBD4F0BE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DDF1D4-E4FF-41CD-BCCF-DA6E0543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2599B91-1186-4F0B-A861-0393A0C2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Compare outcomes with cautious words: deep groove, shallow groove, faint groove or no groove under this method.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777E73D4-CE50-41B2-98DF-7F58FC68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 clearer remaining groove means lower resistance to this particular scratch method; it does not measure every kind of strength.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EE0BFE4-2E7B-4950-9A13-2988942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If a sample flakes, crumbles or makes dust, stop. Preserve the observation and use the representative digital or image route rather than forcing a repeat.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3237C97-4179-454A-B007-7A98B261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28FC80A-2FED-4765-B697-DD1B019F3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379958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9F065691-DAD5-499C-BBEF-4366027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67E131C-A7F6-476D-A3FE-9DBBA482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80E43F8-A7FD-4CE8-B91E-5CE4B51B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3CA0956-B837-480F-8689-B9CCAC7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F580F43-1DBD-4445-ADA0-8E452444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B079C39-DF01-4BF5-B95E-8F43DC1C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Hardness glitch: the heaviest rock is the hardest and cannot break.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D5E0D3A-C292-4048-A657-33FC029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weight, hardness and strength are the same.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DE6EF33-3FFD-4EC9-A62A-D39CA10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hardness is resistance to scratching under the stated method.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38FC673-B111-4E37-A4A8-E1709391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break the rocks to see which is hardest.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2FB3C7E-79EF-48D0-B1B5-D9C16C0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4A516619-AFD4-4540-AF69-12D5B30A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20806478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BF0CC678-D2CA-4DB6-A07F-DD130E45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FCF545D-C374-4275-9BBD-AEA39945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D8D800A-8E54-421D-ABE2-BA4EE005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DB8A32D-F9BD-4707-BA55-8142DACE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Mark, Wipe or Groove Evidence Gate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66A74F-9B71-4D4E-B301-676D783E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2A2827D-41BB-40AA-B895-ED4E1D4F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Place each method or observation under the role it performs in a valid hardness comparison.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6610E64-0E11-4386-99DF-E46C2137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Lock the stated method.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FBA2726-CF72-4A52-9F4C-61D42119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Commit a prediction.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F71B1A34-72A0-456C-8437-ED6062A5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Make or reveal the safe tool pass.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B4256D91-C9B4-435A-A967-60FD5C51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Wipe and inspect.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D2E4FE28-0D4E-4DB5-AF90-B8554AC1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the bounded result.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91AC0386-74EE-4951-A30C-D5E64D75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EC1A7C46-B5C0-44F6-9847-9180C0C6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530464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D35A34F6-5F7A-402E-8636-1F8B2296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E8AD289-8976-467D-A343-0723E74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E850B1-0098-4D00-8D45-DF8B45DA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C6A853-BC1D-4814-BF86-602DAD14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Mark, Wipe or Groove Evidence Gate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AAA17F2-5744-4D1E-A71D-5A488A92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FEDDAD6-B141-42CB-898C-DA65D44B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7DBE145-2013-454C-BAD8-52AB62A2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5F253BF7-E7E6-4FE2-8FC7-54BAA4AD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7209604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E41D2483-28D9-43D8-97DC-7792E88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23FDC9B-F394-4729-BB9B-FEF830A9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4A17D9B-2E55-4441-AED4-FFBC8E6B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C9913A-5609-47DD-9B21-C01EE23B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5DAD0E7-315B-4A2C-9164-9796735F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43FDF35-4E8C-4F74-B8C8-457271F0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 GROOVE EVIDENCE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D84EA0F-4458-4CA3-92C2-2C10B06E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VALID NO-GROOVE EVIDENCE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C2657D5-696E-4EA7-8137-32E0891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KEEP THIS THE SAME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E7AB180-8465-4C2B-8D49-EF947F8D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DOES NOT MEASURE HARDNESS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9FCAE4C-A239-4229-A574-26CA937D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STOP / USE PARITY ROUTE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BAEA1F5E-E81E-4720-808D-78668A75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Name what changed, three controls and the observation that decides groove or no groove.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8BFA1E77-4EFC-4687-B5B6-6A78B10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7EEEBE0-0D36-4770-B2C1-C386003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24041906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06D1BCE-E26D-4777-B4AD-032B7DB1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C554491-B724-441B-BA59-CFE9AAD2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EFD2166-0804-409D-89F0-F024E850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F63C8-4E62-4F4F-80F0-BC9068D2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161096B-AD3B-4E28-BF0A-72581473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5103395-808C-4E95-9C08-45F2FD24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Plan and direct a safe two-sample relative hardness comparison, then record the method, groove observation and bounded conclusion.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9B373A-D4BA-4AF3-A984-EA9463BB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A Rock Hardness Method Card with prediction, changed sample, controls, after-wipe observation and a relative conclusion within the stated method.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1C447259-5F91-4194-AC91-A1D7E445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1601355B-D587-4D8F-AA27-69A75410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7424805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AC35B1C-CC6F-4060-B060-D8F87C29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C07B0F7-A7C6-407C-A2C4-76DEA3C5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A02873A-11EB-4047-BBC9-3A82EC0D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1722E6C-5C59-453F-9117-B886A495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9045100-4DFA-475B-939F-3FD5DB6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95A72D-7984-4FDA-B941-2E6DB373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Choose groove/no-groove after-wipe cards for two samples and direct the adult through the same method.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D060112-52C1-4381-BBFF-95CB0E30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Compare two coded samples with the same stated method and justify which resisted a groove more.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FA0F2F3-EEEB-4D38-8F58-C5AF050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Evaluate the controls, distinguish hardness from strength and propose one safe repeat or method improvement.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51E3BE60-057C-4D08-A997-F3C8CC81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4A3BD34-8888-4968-AAB9-BE19700E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892152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7DB2842-290D-44BA-8FB1-9269FA77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B0A8D14-A4F2-408B-847A-C85B3AEC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D0BD771-4DAD-4979-BFD6-E3CB78B1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7A341FE-1A24-48AC-9766-D68EB216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99AB75-BA92-4F90-A217-44BE90CC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9A98BE5-358C-46FB-9DB0-DBA10F09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Explain how the method distinguishes a tool streak from a groove and name two controls.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1340503-503E-49AD-843B-197A94A6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703E4619-3B6E-4D7D-B74B-D7228187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CDDC528-2173-4BEC-883C-696E8F89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799969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2026-09-08T08:54:08.3900000Z</dcterms:created>
  <dcterms:modified xsi:type="dcterms:W3CDTF">2026-09-08T08:54:08.3900000Z</dcterms:modified>
</coreProperties>
</file>