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fac5c8cb054af2" /><Relationship Type="http://schemas.openxmlformats.org/officeDocument/2006/relationships/extended-properties" Target="/docProps/app.xml" Id="R528174be9db54017" /><Relationship Type="http://schemas.openxmlformats.org/officeDocument/2006/relationships/officeDocument" Target="/ppt/presentation.xml" Id="R6068d73925be4e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86e6160d3543aa"/>
  </p:sldMasterIdLst>
  <p:notesMasterIdLst>
    <p:notesMasterId xmlns:r="http://schemas.openxmlformats.org/officeDocument/2006/relationships" r:id="R6e9a8045880b4942"/>
  </p:notesMasterIdLst>
  <p:sldIdLst>
    <p:sldId xmlns:r="http://schemas.openxmlformats.org/officeDocument/2006/relationships" id="256" r:id="R8eb7c18795ef4b90"/>
    <p:sldId xmlns:r="http://schemas.openxmlformats.org/officeDocument/2006/relationships" id="257" r:id="R73bd18aaf2434c8c"/>
    <p:sldId xmlns:r="http://schemas.openxmlformats.org/officeDocument/2006/relationships" id="258" r:id="R2ecad17e63b64634"/>
    <p:sldId xmlns:r="http://schemas.openxmlformats.org/officeDocument/2006/relationships" id="259" r:id="R60d226639c2f4623"/>
    <p:sldId xmlns:r="http://schemas.openxmlformats.org/officeDocument/2006/relationships" id="260" r:id="Rd9208c19e569403a"/>
    <p:sldId xmlns:r="http://schemas.openxmlformats.org/officeDocument/2006/relationships" id="261" r:id="R64004ff92a764e4b"/>
    <p:sldId xmlns:r="http://schemas.openxmlformats.org/officeDocument/2006/relationships" id="262" r:id="R2fbb73df2b0d44df"/>
    <p:sldId xmlns:r="http://schemas.openxmlformats.org/officeDocument/2006/relationships" id="263" r:id="Ra0578765c9ff4efc"/>
    <p:sldId xmlns:r="http://schemas.openxmlformats.org/officeDocument/2006/relationships" id="264" r:id="R080dd670f610498a"/>
    <p:sldId xmlns:r="http://schemas.openxmlformats.org/officeDocument/2006/relationships" id="265" r:id="R9366ecea1bcf4f63"/>
    <p:sldId xmlns:r="http://schemas.openxmlformats.org/officeDocument/2006/relationships" id="266" r:id="R93cd17382ff24250"/>
    <p:sldId xmlns:r="http://schemas.openxmlformats.org/officeDocument/2006/relationships" id="267" r:id="Rc92a02e885b94816"/>
    <p:sldId xmlns:r="http://schemas.openxmlformats.org/officeDocument/2006/relationships" id="268" r:id="R52dd878384834bfd"/>
    <p:sldId xmlns:r="http://schemas.openxmlformats.org/officeDocument/2006/relationships" id="269" r:id="R1ae4743b1ab44ab0"/>
    <p:sldId xmlns:r="http://schemas.openxmlformats.org/officeDocument/2006/relationships" id="270" r:id="Re506478f36864050"/>
    <p:sldId xmlns:r="http://schemas.openxmlformats.org/officeDocument/2006/relationships" id="271" r:id="R15b17058d4054b1c"/>
    <p:sldId xmlns:r="http://schemas.openxmlformats.org/officeDocument/2006/relationships" id="272" r:id="R4b7918897ec046a8"/>
    <p:sldId xmlns:r="http://schemas.openxmlformats.org/officeDocument/2006/relationships" id="273" r:id="R6f7c3d47f82d44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7c3fe1d95c40b3" /><Relationship Type="http://schemas.openxmlformats.org/officeDocument/2006/relationships/slideMaster" Target="/ppt/slideMasters/slideMaster1.xml" Id="R6086e6160d3543aa" /><Relationship Type="http://schemas.openxmlformats.org/officeDocument/2006/relationships/notesMaster" Target="/ppt/notesMasters/notesMaster1.xml" Id="R6e9a8045880b4942" /><Relationship Type="http://schemas.openxmlformats.org/officeDocument/2006/relationships/presProps" Target="/ppt/presProps.xml" Id="R883937e7c0a24b8b" /><Relationship Type="http://schemas.openxmlformats.org/officeDocument/2006/relationships/tableStyles" Target="/ppt/tableStyles.xml" Id="R29990f6444a84a13" /><Relationship Type="http://schemas.openxmlformats.org/officeDocument/2006/relationships/slide" Target="/ppt/slides/slide1.xml" Id="R8eb7c18795ef4b90" /><Relationship Type="http://schemas.openxmlformats.org/officeDocument/2006/relationships/slide" Target="/ppt/slides/slide2.xml" Id="R73bd18aaf2434c8c" /><Relationship Type="http://schemas.openxmlformats.org/officeDocument/2006/relationships/slide" Target="/ppt/slides/slide3.xml" Id="R2ecad17e63b64634" /><Relationship Type="http://schemas.openxmlformats.org/officeDocument/2006/relationships/slide" Target="/ppt/slides/slide4.xml" Id="R60d226639c2f4623" /><Relationship Type="http://schemas.openxmlformats.org/officeDocument/2006/relationships/slide" Target="/ppt/slides/slide5.xml" Id="Rd9208c19e569403a" /><Relationship Type="http://schemas.openxmlformats.org/officeDocument/2006/relationships/slide" Target="/ppt/slides/slide6.xml" Id="R64004ff92a764e4b" /><Relationship Type="http://schemas.openxmlformats.org/officeDocument/2006/relationships/slide" Target="/ppt/slides/slide7.xml" Id="R2fbb73df2b0d44df" /><Relationship Type="http://schemas.openxmlformats.org/officeDocument/2006/relationships/slide" Target="/ppt/slides/slide8.xml" Id="Ra0578765c9ff4efc" /><Relationship Type="http://schemas.openxmlformats.org/officeDocument/2006/relationships/slide" Target="/ppt/slides/slide9.xml" Id="R080dd670f610498a" /><Relationship Type="http://schemas.openxmlformats.org/officeDocument/2006/relationships/slide" Target="/ppt/slides/slide10.xml" Id="R9366ecea1bcf4f63" /><Relationship Type="http://schemas.openxmlformats.org/officeDocument/2006/relationships/slide" Target="/ppt/slides/slide11.xml" Id="R93cd17382ff24250" /><Relationship Type="http://schemas.openxmlformats.org/officeDocument/2006/relationships/slide" Target="/ppt/slides/slide12.xml" Id="Rc92a02e885b94816" /><Relationship Type="http://schemas.openxmlformats.org/officeDocument/2006/relationships/slide" Target="/ppt/slides/slide13.xml" Id="R52dd878384834bfd" /><Relationship Type="http://schemas.openxmlformats.org/officeDocument/2006/relationships/slide" Target="/ppt/slides/slide14.xml" Id="R1ae4743b1ab44ab0" /><Relationship Type="http://schemas.openxmlformats.org/officeDocument/2006/relationships/slide" Target="/ppt/slides/slide15.xml" Id="Re506478f36864050" /><Relationship Type="http://schemas.openxmlformats.org/officeDocument/2006/relationships/slide" Target="/ppt/slides/slide16.xml" Id="R15b17058d4054b1c" /><Relationship Type="http://schemas.openxmlformats.org/officeDocument/2006/relationships/slide" Target="/ppt/slides/slide17.xml" Id="R4b7918897ec046a8" /><Relationship Type="http://schemas.openxmlformats.org/officeDocument/2006/relationships/slide" Target="/ppt/slides/slide18.xml" Id="R6f7c3d47f82d44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55fe501474c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095597399d4808" /><Relationship Type="http://schemas.openxmlformats.org/officeDocument/2006/relationships/notesMaster" Target="/ppt/notesMasters/notesMaster1.xml" Id="Rb45f6e9564b44e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f8ffbd6bd0432d" /><Relationship Type="http://schemas.openxmlformats.org/officeDocument/2006/relationships/notesMaster" Target="/ppt/notesMasters/notesMaster1.xml" Id="R2e88290ec40e40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66ef4e69f04020" /><Relationship Type="http://schemas.openxmlformats.org/officeDocument/2006/relationships/notesMaster" Target="/ppt/notesMasters/notesMaster1.xml" Id="R0df33912120441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645e2c857a4b64" /><Relationship Type="http://schemas.openxmlformats.org/officeDocument/2006/relationships/notesMaster" Target="/ppt/notesMasters/notesMaster1.xml" Id="Rad993070b3b442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1737b6e984408b" /><Relationship Type="http://schemas.openxmlformats.org/officeDocument/2006/relationships/notesMaster" Target="/ppt/notesMasters/notesMaster1.xml" Id="R651bd3834c1f47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b7cbd46c884846" /><Relationship Type="http://schemas.openxmlformats.org/officeDocument/2006/relationships/notesMaster" Target="/ppt/notesMasters/notesMaster1.xml" Id="R4428bfe68bdc47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f3a3d3db4740f0" /><Relationship Type="http://schemas.openxmlformats.org/officeDocument/2006/relationships/notesMaster" Target="/ppt/notesMasters/notesMaster1.xml" Id="R9566c2ee08ca41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c02160e2a0445e" /><Relationship Type="http://schemas.openxmlformats.org/officeDocument/2006/relationships/notesMaster" Target="/ppt/notesMasters/notesMaster1.xml" Id="R9742f033995e40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dc2e67c74e48e0" /><Relationship Type="http://schemas.openxmlformats.org/officeDocument/2006/relationships/notesMaster" Target="/ppt/notesMasters/notesMaster1.xml" Id="Rc85c67a28e4e42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826600412a410d" /><Relationship Type="http://schemas.openxmlformats.org/officeDocument/2006/relationships/notesMaster" Target="/ppt/notesMasters/notesMaster1.xml" Id="R49f319d187db4c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853fe615f54561" /><Relationship Type="http://schemas.openxmlformats.org/officeDocument/2006/relationships/notesMaster" Target="/ppt/notesMasters/notesMaster1.xml" Id="Rd35a965061e044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0472e9539d4cc3" /><Relationship Type="http://schemas.openxmlformats.org/officeDocument/2006/relationships/notesMaster" Target="/ppt/notesMasters/notesMaster1.xml" Id="Rb8695606f0e646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9cb16fa4a04e7a" /><Relationship Type="http://schemas.openxmlformats.org/officeDocument/2006/relationships/notesMaster" Target="/ppt/notesMasters/notesMaster1.xml" Id="R702e559be92443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92595caa9f4bb3" /><Relationship Type="http://schemas.openxmlformats.org/officeDocument/2006/relationships/notesMaster" Target="/ppt/notesMasters/notesMaster1.xml" Id="R2d958141069948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76c0a61dba48b7" /><Relationship Type="http://schemas.openxmlformats.org/officeDocument/2006/relationships/notesMaster" Target="/ppt/notesMasters/notesMaster1.xml" Id="R5671cad016e247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cf2c68154c4c3f" /><Relationship Type="http://schemas.openxmlformats.org/officeDocument/2006/relationships/notesMaster" Target="/ppt/notesMasters/notesMaster1.xml" Id="R7a820e5b51d94f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97bc30c741497c" /><Relationship Type="http://schemas.openxmlformats.org/officeDocument/2006/relationships/notesMaster" Target="/ppt/notesMasters/notesMaster1.xml" Id="Raddfb8427c4140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b0af3ca0f548c0" /><Relationship Type="http://schemas.openxmlformats.org/officeDocument/2006/relationships/notesMaster" Target="/ppt/notesMasters/notesMaster1.xml" Id="R67dc2e0d683c42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9A · Explore</a:t>
            </a:r>
          </a:p>
          <a:p xmlns:a="http://schemas.openxmlformats.org/drawingml/2006/main">
            <a:r>
              <a:t>Learning objective: I can compare rock specimens using observed properties and create a group using a stated rule.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observe at least two properties.</a:t>
            </a:r>
          </a:p>
          <a:p xmlns:a="http://schemas.openxmlformats.org/drawingml/2006/main">
            <a:r>
              <a:t>I can compare two coded specimens.</a:t>
            </a:r>
          </a:p>
          <a:p xmlns:a="http://schemas.openxmlformats.org/drawingml/2006/main">
            <a:r>
              <a:t>I can state and apply one grouping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9A · Explore</a:t>
            </a:r>
          </a:p>
          <a:p xmlns:a="http://schemas.openxmlformats.org/drawingml/2006/main">
            <a:r>
              <a:t>Learning objective: I can compare rock specimens using observed properties and create a group using a stated rule.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observe at least two properties.</a:t>
            </a:r>
          </a:p>
          <a:p xmlns:a="http://schemas.openxmlformats.org/drawingml/2006/main">
            <a:r>
              <a:t>I can compare two coded specimens.</a:t>
            </a:r>
          </a:p>
          <a:p xmlns:a="http://schemas.openxmlformats.org/drawingml/2006/main">
            <a:r>
              <a:t>I can state and apply one grouping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W8B: models and evidence showed what we know about skeletons, muscles and nutrition.</a:t>
            </a:r>
          </a:p>
          <a:p xmlns:a="http://schemas.openxmlformats.org/drawingml/2006/main">
            <a:r>
              <a:t>W8A: the same label basis made a fair sugar comparison.</a:t>
            </a:r>
          </a:p>
          <a:p xmlns:a="http://schemas.openxmlformats.org/drawingml/2006/main">
            <a:r>
              <a:t>W6–W7: clear rules helped us group foods and trace food sources.</a:t>
            </a:r>
          </a:p>
          <a:p xmlns:a="http://schemas.openxmlformats.org/drawingml/2006/main">
            <a:r>
              <a:t>Lead-in: a rock name is a claim; first collect visible evidence.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Name the label basis kept the same in W8A.</a:t>
            </a:r>
          </a:p>
          <a:p xmlns:a="http://schemas.openxmlformats.org/drawingml/2006/main">
            <a:r>
              <a:t>Define property as something we can observe or test.</a:t>
            </a:r>
          </a:p>
          <a:p xmlns:a="http://schemas.openxmlformats.org/drawingml/2006/main">
            <a:r>
              <a:t>Explain why a sorting rule must be stated.</a:t>
            </a:r>
          </a:p>
          <a:p xmlns:a="http://schemas.openxmlformats.org/drawingml/2006/main">
            <a:r>
              <a:t>Lead-in: give one observation without naming the rock.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CODE A · look closely</a:t>
            </a:r>
          </a:p>
          <a:p xmlns:a="http://schemas.openxmlformats.org/drawingml/2006/main">
            <a:r>
              <a:t>Speckled. Lots of little crystals fitted together.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CODE C · look closely</a:t>
            </a:r>
          </a:p>
          <a:p xmlns:a="http://schemas.openxmlformats.org/drawingml/2006/main">
            <a:r>
              <a:t>Rough and sandy. Tiny grains . Faint bands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QUESTION · both grey-ish. Same group?</a:t>
            </a:r>
          </a:p>
          <a:p xmlns:a="http://schemas.openxmlformats.org/drawingml/2006/main">
            <a:r>
              <a:t>Colour is not enough. Which feature you can SEE will be the rule?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Yes. One shared colour is all we need for every purpose.</a:t>
            </a:r>
          </a:p>
          <a:p xmlns:a="http://schemas.openxmlformats.org/drawingml/2006/main">
            <a:r>
              <a:t>Not yet. Observe the same extra features on both rocks, then state a grouping rule.</a:t>
            </a:r>
          </a:p>
          <a:p xmlns:a="http://schemas.openxmlformats.org/drawingml/2006/main">
            <a:r>
              <a:t>Guess both names first and make the evidence fit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CODE A · look closely</a:t>
            </a:r>
          </a:p>
          <a:p xmlns:a="http://schemas.openxmlformats.org/drawingml/2006/main">
            <a:r>
              <a:t>Speckled. Lots of little crystals fitted together.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CODE C · look closely</a:t>
            </a:r>
          </a:p>
          <a:p xmlns:a="http://schemas.openxmlformats.org/drawingml/2006/main">
            <a:r>
              <a:t>Rough and sandy. Tiny grains . Faint bands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QUESTION · both grey-ish. Same group?</a:t>
            </a:r>
          </a:p>
          <a:p xmlns:a="http://schemas.openxmlformats.org/drawingml/2006/main">
            <a:r>
              <a:t>Colour is not enough. Which feature you can SEE will be the rule?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Yes. One shared colour is all we need for every purpose.</a:t>
            </a:r>
          </a:p>
          <a:p xmlns:a="http://schemas.openxmlformats.org/drawingml/2006/main">
            <a:r>
              <a:t>Not yet. Observe the same extra features on both rocks, then state a grouping rule.</a:t>
            </a:r>
          </a:p>
          <a:p xmlns:a="http://schemas.openxmlformats.org/drawingml/2006/main">
            <a:r>
              <a:t>Guess both names first and make the evidence fit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CODE A · look closely</a:t>
            </a:r>
          </a:p>
          <a:p xmlns:a="http://schemas.openxmlformats.org/drawingml/2006/main">
            <a:r>
              <a:t>Speckled. Lots of little crystals fitted together.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CODE C · look closely</a:t>
            </a:r>
          </a:p>
          <a:p xmlns:a="http://schemas.openxmlformats.org/drawingml/2006/main">
            <a:r>
              <a:t>Rough and sandy. Tiny grains . Faint bands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QUESTION · both grey-ish. Same group?</a:t>
            </a:r>
          </a:p>
          <a:p xmlns:a="http://schemas.openxmlformats.org/drawingml/2006/main">
            <a:r>
              <a:t>Colour is not enough. Which feature you can SEE will be the rule?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Yes. One shared colour is all we need for every purpose.</a:t>
            </a:r>
          </a:p>
          <a:p xmlns:a="http://schemas.openxmlformats.org/drawingml/2006/main">
            <a:r>
              <a:t>Not yet. Observe the same extra features on both rocks, then state a grouping rule.</a:t>
            </a:r>
          </a:p>
          <a:p xmlns:a="http://schemas.openxmlformats.org/drawingml/2006/main">
            <a:r>
              <a:t>Guess both names first and make the evidence fit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PROPERTY a feature we can notice or test a characteristic used to describe and compare a material</a:t>
            </a:r>
          </a:p>
          <a:p xmlns:a="http://schemas.openxmlformats.org/drawingml/2006/main">
            <a:r>
              <a:t>OBSERVE look closely and record use senses or suitable tools to collect information without guessing beyond it</a:t>
            </a:r>
          </a:p>
          <a:p xmlns:a="http://schemas.openxmlformats.org/drawingml/2006/main">
            <a:r>
              <a:t>CLASSIFY put into groups with a rule organise specimens by shared evidence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Coded macro views slow down naming and make the observation-to-rule sequence visible.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Keep the code and hide the name. Place one specimen on a white tray and observe it from more than one angle.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Select two or three useful features: grains, crystals, bands, sheet-like planes, holes, colour or surface appearance.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Record only what is visible. ‘It is granite’ is a name claim; ‘several crystals are visible’ is an observation.</a:t>
            </a:r>
          </a:p>
          <a:p xmlns:a="http://schemas.openxmlformats.org/drawingml/2006/main">
            <a:r>
              <a:t>Rock lens · look before you label</a:t>
            </a:r>
          </a:p>
          <a:p xmlns:a="http://schemas.openxmlformats.org/drawingml/2006/main">
            <a:r>
              <a:t>1 · Press a code. 2 · Press What do I notice? for one feature at a time. Names stay hidden.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B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E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Code T</a:t>
            </a:r>
          </a:p>
          <a:p xmlns:a="http://schemas.openxmlformats.org/drawingml/2006/main">
            <a:r>
              <a:t>What do I notice?</a:t>
            </a:r>
          </a:p>
          <a:p xmlns:a="http://schemas.openxmlformats.org/drawingml/2006/main">
            <a:r>
              <a:t>Which feature is the rule?</a:t>
            </a:r>
          </a:p>
          <a:p xmlns:a="http://schemas.openxmlformats.org/drawingml/2006/main">
            <a:r>
              <a:t>Code A chosen. Look first. Then press What do I notice?</a:t>
            </a:r>
          </a:p>
          <a:p xmlns:a="http://schemas.openxmlformats.org/drawingml/2006/main">
            <a:r>
              <a:t>crystals</a:t>
            </a:r>
          </a:p>
          <a:p xmlns:a="http://schemas.openxmlformats.org/drawingml/2006/main">
            <a:r>
              <a:t>grains</a:t>
            </a:r>
          </a:p>
          <a:p xmlns:a="http://schemas.openxmlformats.org/drawingml/2006/main">
            <a:r>
              <a:t>bands</a:t>
            </a:r>
          </a:p>
          <a:p xmlns:a="http://schemas.openxmlformats.org/drawingml/2006/main">
            <a:r>
              <a:t>flat sheets</a:t>
            </a:r>
          </a:p>
          <a:p xmlns:a="http://schemas.openxmlformats.org/drawingml/2006/main">
            <a:r>
              <a:t>holes</a:t>
            </a:r>
          </a:p>
          <a:p xmlns:a="http://schemas.openxmlformats.org/drawingml/2006/main">
            <a:r>
              <a:t>nothing big</a:t>
            </a:r>
          </a:p>
          <a:p xmlns:a="http://schemas.openxmlformats.org/drawingml/2006/main">
            <a:r>
              <a:t>Saying a name (granite, slate) is a guess. Saying what you can see is an observation. Only observations go on the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PROPERTY a feature we can notice or test a characteristic used to describe and compare a material</a:t>
            </a:r>
          </a:p>
          <a:p xmlns:a="http://schemas.openxmlformats.org/drawingml/2006/main">
            <a:r>
              <a:t>OBSERVE look closely and record use senses or suitable tools to collect information without guessing beyond it</a:t>
            </a:r>
          </a:p>
          <a:p xmlns:a="http://schemas.openxmlformats.org/drawingml/2006/main">
            <a:r>
              <a:t>CLASSIFY put into groups with a rule organise specimens by shared evidence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Coded macro views slow down naming and make the observation-to-rule sequence visible.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Keep the code and hide the name. Place one specimen on a white tray and observe it from more than one angle.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Select two or three useful features: grains, crystals, bands, sheet-like planes, holes, colour or surface appearance.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Record only what is visible. ‘It is granite’ is a name claim; ‘several crystals are visible’ is an observation.</a:t>
            </a:r>
          </a:p>
          <a:p xmlns:a="http://schemas.openxmlformats.org/drawingml/2006/main">
            <a:r>
              <a:t>Rock lens · look before you label</a:t>
            </a:r>
          </a:p>
          <a:p xmlns:a="http://schemas.openxmlformats.org/drawingml/2006/main">
            <a:r>
              <a:t>1 · Press a code. 2 · Press What do I notice? for one feature at a time. Names stay hidden.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B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E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Code T</a:t>
            </a:r>
          </a:p>
          <a:p xmlns:a="http://schemas.openxmlformats.org/drawingml/2006/main">
            <a:r>
              <a:t>What do I notice?</a:t>
            </a:r>
          </a:p>
          <a:p xmlns:a="http://schemas.openxmlformats.org/drawingml/2006/main">
            <a:r>
              <a:t>Which feature is the rule?</a:t>
            </a:r>
          </a:p>
          <a:p xmlns:a="http://schemas.openxmlformats.org/drawingml/2006/main">
            <a:r>
              <a:t>Code A chosen. Look first. Then press What do I notice?</a:t>
            </a:r>
          </a:p>
          <a:p xmlns:a="http://schemas.openxmlformats.org/drawingml/2006/main">
            <a:r>
              <a:t>crystals</a:t>
            </a:r>
          </a:p>
          <a:p xmlns:a="http://schemas.openxmlformats.org/drawingml/2006/main">
            <a:r>
              <a:t>grains</a:t>
            </a:r>
          </a:p>
          <a:p xmlns:a="http://schemas.openxmlformats.org/drawingml/2006/main">
            <a:r>
              <a:t>bands</a:t>
            </a:r>
          </a:p>
          <a:p xmlns:a="http://schemas.openxmlformats.org/drawingml/2006/main">
            <a:r>
              <a:t>flat sheets</a:t>
            </a:r>
          </a:p>
          <a:p xmlns:a="http://schemas.openxmlformats.org/drawingml/2006/main">
            <a:r>
              <a:t>holes</a:t>
            </a:r>
          </a:p>
          <a:p xmlns:a="http://schemas.openxmlformats.org/drawingml/2006/main">
            <a:r>
              <a:t>nothing big</a:t>
            </a:r>
          </a:p>
          <a:p xmlns:a="http://schemas.openxmlformats.org/drawingml/2006/main">
            <a:r>
              <a:t>Saying a name (granite, slate) is a guess. Saying what you can see is an observation. Only observations go on the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PROPERTY a feature we can notice or test a characteristic used to describe and compare a material</a:t>
            </a:r>
          </a:p>
          <a:p xmlns:a="http://schemas.openxmlformats.org/drawingml/2006/main">
            <a:r>
              <a:t>OBSERVE look closely and record use senses or suitable tools to collect information without guessing beyond it</a:t>
            </a:r>
          </a:p>
          <a:p xmlns:a="http://schemas.openxmlformats.org/drawingml/2006/main">
            <a:r>
              <a:t>CLASSIFY put into groups with a rule organise specimens by shared evidence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Coded macro views slow down naming and make the observation-to-rule sequence visible.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Keep the code and hide the name. Place one specimen on a white tray and observe it from more than one angle.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Select two or three useful features: grains, crystals, bands, sheet-like planes, holes, colour or surface appearance.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Record only what is visible. ‘It is granite’ is a name claim; ‘several crystals are visible’ is an observation.</a:t>
            </a:r>
          </a:p>
          <a:p xmlns:a="http://schemas.openxmlformats.org/drawingml/2006/main">
            <a:r>
              <a:t>Rock lens · look before you label</a:t>
            </a:r>
          </a:p>
          <a:p xmlns:a="http://schemas.openxmlformats.org/drawingml/2006/main">
            <a:r>
              <a:t>1 · Press a code. 2 · Press What do I notice? for one feature at a time. Names stay hidden.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B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E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Code T</a:t>
            </a:r>
          </a:p>
          <a:p xmlns:a="http://schemas.openxmlformats.org/drawingml/2006/main">
            <a:r>
              <a:t>What do I notice?</a:t>
            </a:r>
          </a:p>
          <a:p xmlns:a="http://schemas.openxmlformats.org/drawingml/2006/main">
            <a:r>
              <a:t>Which feature is the rule?</a:t>
            </a:r>
          </a:p>
          <a:p xmlns:a="http://schemas.openxmlformats.org/drawingml/2006/main">
            <a:r>
              <a:t>Code A chosen. Look first. Then press What do I notice?</a:t>
            </a:r>
          </a:p>
          <a:p xmlns:a="http://schemas.openxmlformats.org/drawingml/2006/main">
            <a:r>
              <a:t>crystals</a:t>
            </a:r>
          </a:p>
          <a:p xmlns:a="http://schemas.openxmlformats.org/drawingml/2006/main">
            <a:r>
              <a:t>grains</a:t>
            </a:r>
          </a:p>
          <a:p xmlns:a="http://schemas.openxmlformats.org/drawingml/2006/main">
            <a:r>
              <a:t>bands</a:t>
            </a:r>
          </a:p>
          <a:p xmlns:a="http://schemas.openxmlformats.org/drawingml/2006/main">
            <a:r>
              <a:t>flat sheets</a:t>
            </a:r>
          </a:p>
          <a:p xmlns:a="http://schemas.openxmlformats.org/drawingml/2006/main">
            <a:r>
              <a:t>holes</a:t>
            </a:r>
          </a:p>
          <a:p xmlns:a="http://schemas.openxmlformats.org/drawingml/2006/main">
            <a:r>
              <a:t>nothing big</a:t>
            </a:r>
          </a:p>
          <a:p xmlns:a="http://schemas.openxmlformats.org/drawingml/2006/main">
            <a:r>
              <a:t>Saying a name (granite, slate) is a guess. Saying what you can see is an observation. Only observations go on the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Several large crystals are visible in the speckled surface.</a:t>
            </a:r>
          </a:p>
          <a:p xmlns:a="http://schemas.openxmlformats.org/drawingml/2006/main">
            <a:r>
              <a:t>It must be granite because that is my first guess.</a:t>
            </a:r>
          </a:p>
          <a:p xmlns:a="http://schemas.openxmlformats.org/drawingml/2006/main">
            <a:r>
              <a:t>It will make the best roof because it looks strong.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Inspect a second coded specimen using the same feature words. State one similarity and one difference.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Choose one rule, such as ‘visible bands or flat sheet-like planes’, and say the rule before grouping.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Apply the same meaning to every specimen. Another clear rule may create a different valid grouping.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Coded macro views slow down naming and make the observation-to-rule sequence visible.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Inspect a second coded specimen using the same feature words. State one similarity and one difference.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Choose one rule, such as ‘visible bands or flat sheet-like planes’, and say the rule before grouping.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Apply the same meaning to every specimen. Another clear rule may create a different valid grouping.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Coded macro views slow down naming and make the observation-to-rule sequence visible.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coded observation under its strongest named visible feature. The name is not the target.</a:t>
            </a:r>
          </a:p>
          <a:p xmlns:a="http://schemas.openxmlformats.org/drawingml/2006/main">
            <a:r>
              <a:t>Choose a coded observation. Read only the visible evidence. Commit to the strongest feature group. Repair any mismatch. Use one feature as a grouping rule.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Code A Speckled surface with several visible interlocking crystals.</a:t>
            </a:r>
          </a:p>
          <a:p xmlns:a="http://schemas.openxmlformats.org/drawingml/2006/main">
            <a:r>
              <a:t>Code B Dark, fine-looking surface with no large visible grains, bands or holes.</a:t>
            </a:r>
          </a:p>
          <a:p xmlns:a="http://schemas.openxmlformats.org/drawingml/2006/main">
            <a:r>
              <a:t>Code C Rough tan surface with many visible sand-sized grains and faint bands.</a:t>
            </a:r>
          </a:p>
          <a:p xmlns:a="http://schemas.openxmlformats.org/drawingml/2006/main">
            <a:r>
              <a:t>Code D Pale, mostly fine-looking surface with no large crystals, bands or holes in this view.</a:t>
            </a:r>
          </a:p>
          <a:p xmlns:a="http://schemas.openxmlformats.org/drawingml/2006/main">
            <a:r>
              <a:t>Code E Blue-grey fine-looking specimen with clear flat, sheet-like planes.</a:t>
            </a:r>
          </a:p>
          <a:p xmlns:a="http://schemas.openxmlformats.org/drawingml/2006/main">
            <a:r>
              <a:t>Code F Pale rough-looking surface with many clearly visible large holes.</a:t>
            </a:r>
          </a:p>
          <a:p xmlns:a="http://schemas.openxmlformats.org/drawingml/2006/main">
            <a:r>
              <a:t>Mystery image T Brown-grey surface with visible bands, no large crystals and no large holes.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VISIBLE CRYSTALS</a:t>
            </a:r>
          </a:p>
          <a:p xmlns:a="http://schemas.openxmlformats.org/drawingml/2006/main">
            <a:r>
              <a:t>VISIBLE GRAINS</a:t>
            </a:r>
          </a:p>
          <a:p xmlns:a="http://schemas.openxmlformats.org/drawingml/2006/main">
            <a:r>
              <a:t>BANDS / FLAT PLANES</a:t>
            </a:r>
          </a:p>
          <a:p xmlns:a="http://schemas.openxmlformats.org/drawingml/2006/main">
            <a:r>
              <a:t>LARGE HOLES</a:t>
            </a:r>
          </a:p>
          <a:p xmlns:a="http://schemas.openxmlformats.org/drawingml/2006/main">
            <a:r>
              <a:t>FINE · NO LARGE FEATURE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Rock glitch: if two rocks have the same colour, they must be the same type.</a:t>
            </a:r>
          </a:p>
          <a:p xmlns:a="http://schemas.openxmlformats.org/drawingml/2006/main">
            <a:r>
              <a:t>Keep it: colour always proves identity.</a:t>
            </a:r>
          </a:p>
          <a:p xmlns:a="http://schemas.openxmlformats.org/drawingml/2006/main">
            <a:r>
              <a:t>Repair it: compare several observed properties and keep identity claims cautious.</a:t>
            </a:r>
          </a:p>
          <a:p xmlns:a="http://schemas.openxmlformats.org/drawingml/2006/main">
            <a:r>
              <a:t>Repair it: group them by which colour the class likes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coded observation under its strongest named visible feature. The name is not the target.</a:t>
            </a:r>
          </a:p>
          <a:p xmlns:a="http://schemas.openxmlformats.org/drawingml/2006/main">
            <a:r>
              <a:t>Choose a coded observation. Read only the visible evidence. Commit to the strongest feature group. Repair any mismatch. Use one feature as a grouping rule.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Code A Speckled surface with several visible interlocking crystals.</a:t>
            </a:r>
          </a:p>
          <a:p xmlns:a="http://schemas.openxmlformats.org/drawingml/2006/main">
            <a:r>
              <a:t>Code B Dark, fine-looking surface with no large visible grains, bands or holes.</a:t>
            </a:r>
          </a:p>
          <a:p xmlns:a="http://schemas.openxmlformats.org/drawingml/2006/main">
            <a:r>
              <a:t>Code C Rough tan surface with many visible sand-sized grains and faint bands.</a:t>
            </a:r>
          </a:p>
          <a:p xmlns:a="http://schemas.openxmlformats.org/drawingml/2006/main">
            <a:r>
              <a:t>Code D Pale, mostly fine-looking surface with no large crystals, bands or holes in this view.</a:t>
            </a:r>
          </a:p>
          <a:p xmlns:a="http://schemas.openxmlformats.org/drawingml/2006/main">
            <a:r>
              <a:t>Code E Blue-grey fine-looking specimen with clear flat, sheet-like planes.</a:t>
            </a:r>
          </a:p>
          <a:p xmlns:a="http://schemas.openxmlformats.org/drawingml/2006/main">
            <a:r>
              <a:t>Code F Pale rough-looking surface with many clearly visible large holes.</a:t>
            </a:r>
          </a:p>
          <a:p xmlns:a="http://schemas.openxmlformats.org/drawingml/2006/main">
            <a:r>
              <a:t>Mystery image T Brown-grey surface with visible bands, no large crystals and no large holes.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VISIBLE CRYSTALS</a:t>
            </a:r>
          </a:p>
          <a:p xmlns:a="http://schemas.openxmlformats.org/drawingml/2006/main">
            <a:r>
              <a:t>VISIBLE GRAINS</a:t>
            </a:r>
          </a:p>
          <a:p xmlns:a="http://schemas.openxmlformats.org/drawingml/2006/main">
            <a:r>
              <a:t>BANDS / FLAT PLANES</a:t>
            </a:r>
          </a:p>
          <a:p xmlns:a="http://schemas.openxmlformats.org/drawingml/2006/main">
            <a:r>
              <a:t>LARGE HOLES</a:t>
            </a:r>
          </a:p>
          <a:p xmlns:a="http://schemas.openxmlformats.org/drawingml/2006/main">
            <a:r>
              <a:t>FINE · NO LARGE FEATURE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Rock glitch: if two rocks have the same colour, they must be the same type.</a:t>
            </a:r>
          </a:p>
          <a:p xmlns:a="http://schemas.openxmlformats.org/drawingml/2006/main">
            <a:r>
              <a:t>Keep it: colour always proves identity.</a:t>
            </a:r>
          </a:p>
          <a:p xmlns:a="http://schemas.openxmlformats.org/drawingml/2006/main">
            <a:r>
              <a:t>Repair it: compare several observed properties and keep identity claims cautious.</a:t>
            </a:r>
          </a:p>
          <a:p xmlns:a="http://schemas.openxmlformats.org/drawingml/2006/main">
            <a:r>
              <a:t>Repair it: group them by which colour the class likes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coded observation under its strongest named visible feature. The name is not the target.</a:t>
            </a:r>
          </a:p>
          <a:p xmlns:a="http://schemas.openxmlformats.org/drawingml/2006/main">
            <a:r>
              <a:t>Choose a coded observation. Read only the visible evidence. Commit to the strongest feature group. Repair any mismatch. Use one feature as a grouping rule.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Code A Speckled surface with several visible interlocking crystals.</a:t>
            </a:r>
          </a:p>
          <a:p xmlns:a="http://schemas.openxmlformats.org/drawingml/2006/main">
            <a:r>
              <a:t>Code B Dark, fine-looking surface with no large visible grains, bands or holes.</a:t>
            </a:r>
          </a:p>
          <a:p xmlns:a="http://schemas.openxmlformats.org/drawingml/2006/main">
            <a:r>
              <a:t>Code C Rough tan surface with many visible sand-sized grains and faint bands.</a:t>
            </a:r>
          </a:p>
          <a:p xmlns:a="http://schemas.openxmlformats.org/drawingml/2006/main">
            <a:r>
              <a:t>Code D Pale, mostly fine-looking surface with no large crystals, bands or holes in this view.</a:t>
            </a:r>
          </a:p>
          <a:p xmlns:a="http://schemas.openxmlformats.org/drawingml/2006/main">
            <a:r>
              <a:t>Code E Blue-grey fine-looking specimen with clear flat, sheet-like planes.</a:t>
            </a:r>
          </a:p>
          <a:p xmlns:a="http://schemas.openxmlformats.org/drawingml/2006/main">
            <a:r>
              <a:t>Code F Pale rough-looking surface with many clearly visible large holes.</a:t>
            </a:r>
          </a:p>
          <a:p xmlns:a="http://schemas.openxmlformats.org/drawingml/2006/main">
            <a:r>
              <a:t>Mystery image T Brown-grey surface with visible bands, no large crystals and no large holes.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VISIBLE CRYSTALS</a:t>
            </a:r>
          </a:p>
          <a:p xmlns:a="http://schemas.openxmlformats.org/drawingml/2006/main">
            <a:r>
              <a:t>VISIBLE GRAINS</a:t>
            </a:r>
          </a:p>
          <a:p xmlns:a="http://schemas.openxmlformats.org/drawingml/2006/main">
            <a:r>
              <a:t>BANDS / FLAT PLANES</a:t>
            </a:r>
          </a:p>
          <a:p xmlns:a="http://schemas.openxmlformats.org/drawingml/2006/main">
            <a:r>
              <a:t>LARGE HOLES</a:t>
            </a:r>
          </a:p>
          <a:p xmlns:a="http://schemas.openxmlformats.org/drawingml/2006/main">
            <a:r>
              <a:t>FINE · NO LARGE FEATURE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Rock glitch: if two rocks have the same colour, they must be the same type.</a:t>
            </a:r>
          </a:p>
          <a:p xmlns:a="http://schemas.openxmlformats.org/drawingml/2006/main">
            <a:r>
              <a:t>Keep it: colour always proves identity.</a:t>
            </a:r>
          </a:p>
          <a:p xmlns:a="http://schemas.openxmlformats.org/drawingml/2006/main">
            <a:r>
              <a:t>Repair it: compare several observed properties and keep identity claims cautious.</a:t>
            </a:r>
          </a:p>
          <a:p xmlns:a="http://schemas.openxmlformats.org/drawingml/2006/main">
            <a:r>
              <a:t>Repair it: group them by which colour the class likes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Six teacher-pre-screened coded educational rock specimens or macro cards; white trays; hand lenses; feature tags; two hoops or sorting mats; Rock Comparison Ticket.</a:t>
            </a:r>
          </a:p>
          <a:p xmlns:a="http://schemas.openxmlformats.org/drawingml/2006/main">
            <a:r>
              <a:t>Same outcome: I can compare rock specimens using observed properties and create a group using a stated rule.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coded-feature lab and record two specimen codes, two observations and one grouping rule.</a:t>
            </a:r>
          </a:p>
          <a:p xmlns:a="http://schemas.openxmlformats.org/drawingml/2006/main">
            <a:r>
              <a:t>Same evidence: A Rock Comparison Ticket with two codes, two observed properties, one similarity, one difference and one explicit grouping rule.</a:t>
            </a:r>
          </a:p>
          <a:p xmlns:a="http://schemas.openxmlformats.org/drawingml/2006/main">
            <a:r>
              <a:t>Equipment / setup Six teacher-pre-screened coded educational rock specimens or macro cards; white trays; hand lenses; feature tags; two hoops or sorting mats; Rock Comparison Ticket.</a:t>
            </a:r>
          </a:p>
          <a:p xmlns:a="http://schemas.openxmlformats.org/drawingml/2006/main">
            <a:r>
              <a:t>Safety / sensory Use only pre-inspected educational samples. Keep them on trays and below shoulder height. No throwing, tasting, smelling, grinding, scratching or deliberate breaking. Wash hands after handling.</a:t>
            </a:r>
          </a:p>
          <a:p xmlns:a="http://schemas.openxmlformats.org/drawingml/2006/main">
            <a:r>
              <a:t>Offline parity Use the in-page coded-feature lab and record two specimen codes, two observations and one grouping rule.</a:t>
            </a:r>
          </a:p>
          <a:p xmlns:a="http://schemas.openxmlformats.org/drawingml/2006/main">
            <a:r>
              <a:t>No-equipment/access route: Use macro image cards, point while an adult moves a specimen, or direct the whole inspection. Touching rock is not required.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Observe four to six coded specimens, compare a pair and create two groups using one stated property rule.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Record the rule before moving specimens. Use only evidence that another person can check.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Six teacher-pre-screened coded educational rock specimens or macro cards; white trays; hand lenses; feature tags; two hoops or sorting mats; Rock Comparison Ticket.</a:t>
            </a:r>
          </a:p>
          <a:p xmlns:a="http://schemas.openxmlformats.org/drawingml/2006/main">
            <a:r>
              <a:t>Same outcome: I can compare rock specimens using observed properties and create a group using a stated rule.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coded-feature lab and record two specimen codes, two observations and one grouping rule.</a:t>
            </a:r>
          </a:p>
          <a:p xmlns:a="http://schemas.openxmlformats.org/drawingml/2006/main">
            <a:r>
              <a:t>Same evidence: A Rock Comparison Ticket with two codes, two observed properties, one similarity, one difference and one explicit grouping rule.</a:t>
            </a:r>
          </a:p>
          <a:p xmlns:a="http://schemas.openxmlformats.org/drawingml/2006/main">
            <a:r>
              <a:t>Equipment / setup Six teacher-pre-screened coded educational rock specimens or macro cards; white trays; hand lenses; feature tags; two hoops or sorting mats; Rock Comparison Ticket.</a:t>
            </a:r>
          </a:p>
          <a:p xmlns:a="http://schemas.openxmlformats.org/drawingml/2006/main">
            <a:r>
              <a:t>Safety / sensory Use only pre-inspected educational samples. Keep them on trays and below shoulder height. No throwing, tasting, smelling, grinding, scratching or deliberate breaking. Wash hands after handling.</a:t>
            </a:r>
          </a:p>
          <a:p xmlns:a="http://schemas.openxmlformats.org/drawingml/2006/main">
            <a:r>
              <a:t>Offline parity Use the in-page coded-feature lab and record two specimen codes, two observations and one grouping rule.</a:t>
            </a:r>
          </a:p>
          <a:p xmlns:a="http://schemas.openxmlformats.org/drawingml/2006/main">
            <a:r>
              <a:t>No-equipment/access route: Use macro image cards, point while an adult moves a specimen, or direct the whole inspection. Touching rock is not required.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Observe four to six coded specimens, compare a pair and create two groups using one stated property rule.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Record the rule before moving specimens. Use only evidence that another person can check.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SCI_B_W9A_Rock_Evidence_Explore-1.html.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move; written closure is optional when Voice and Audience are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Appearance alone cannot prove an unknown rock's identity or hidden properties. Lighting, scale, weathering and natural variation can change how a specimen looks.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Compare two coded specimens and defend one group using observed properties.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Optional exact record of what I said or showed:</a:t>
            </a:r>
          </a:p>
          <a:p xmlns:a="http://schemas.openxmlformats.org/drawingml/2006/main">
            <a:r>
              <a:t>One next teaching move after the adult listened: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SCI_B_W9A_Rock_Evidence_Explore-1.html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29404e32f4c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2da5960e834118" /><Relationship Type="http://schemas.openxmlformats.org/officeDocument/2006/relationships/slideLayout" Target="/ppt/slideLayouts/slideLayout1.xml" Id="R64ce314236434c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ce314236434c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3b622fa7f49dd" /><Relationship Type="http://schemas.openxmlformats.org/officeDocument/2006/relationships/hyperlink" Target="SCI_B_W9A_Rock_Evidence_Explore-1.html" TargetMode="External" Id="R423441f2451847ef" /><Relationship Type="http://schemas.openxmlformats.org/officeDocument/2006/relationships/notesSlide" Target="/ppt/notesSlides/notesSlide1.xml" Id="R95818f12792043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41a84488545f0" /><Relationship Type="http://schemas.openxmlformats.org/officeDocument/2006/relationships/notesSlide" Target="/ppt/notesSlides/notesSlide2.xml" Id="Rf24a1c9604f745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17d45342f4e4f" /><Relationship Type="http://schemas.openxmlformats.org/officeDocument/2006/relationships/notesSlide" Target="/ppt/notesSlides/notesSlide3.xml" Id="R1c9c76b1d4ee47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cc6be425046ff" /><Relationship Type="http://schemas.openxmlformats.org/officeDocument/2006/relationships/notesSlide" Target="/ppt/notesSlides/notesSlide4.xml" Id="Rfd29f7a3252043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7270d0e104e02" /><Relationship Type="http://schemas.openxmlformats.org/officeDocument/2006/relationships/notesSlide" Target="/ppt/notesSlides/notesSlide5.xml" Id="R09b38723702445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98bb140da4840" /><Relationship Type="http://schemas.openxmlformats.org/officeDocument/2006/relationships/image" Target="/ppt/media/image.png" Id="R390fda7df6aa4bdd" /><Relationship Type="http://schemas.openxmlformats.org/officeDocument/2006/relationships/image" Target="/ppt/media/image2.png" Id="R3468d93a7b254ffc" /><Relationship Type="http://schemas.openxmlformats.org/officeDocument/2006/relationships/image" Target="/ppt/media/image3.png" Id="R7df515fedd254092" /><Relationship Type="http://schemas.openxmlformats.org/officeDocument/2006/relationships/notesSlide" Target="/ppt/notesSlides/notesSlide6.xml" Id="R831cc333990b4c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7e7a8c9714ec9" /><Relationship Type="http://schemas.openxmlformats.org/officeDocument/2006/relationships/notesSlide" Target="/ppt/notesSlides/notesSlide7.xml" Id="R88e3adc7efb143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b6537eae84408" /><Relationship Type="http://schemas.openxmlformats.org/officeDocument/2006/relationships/notesSlide" Target="/ppt/notesSlides/notesSlide8.xml" Id="R32af3162e0f445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84331a1c240c8" /><Relationship Type="http://schemas.openxmlformats.org/officeDocument/2006/relationships/image" Target="/ppt/media/image4.png" Id="R77b8d148f91d4965" /><Relationship Type="http://schemas.openxmlformats.org/officeDocument/2006/relationships/notesSlide" Target="/ppt/notesSlides/notesSlide9.xml" Id="Rd5b91e00397047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80a4630cb497c" /><Relationship Type="http://schemas.openxmlformats.org/officeDocument/2006/relationships/notesSlide" Target="/ppt/notesSlides/notesSlide10.xml" Id="R03168672dc1c4b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77b1936ea4d4e" /><Relationship Type="http://schemas.openxmlformats.org/officeDocument/2006/relationships/notesSlide" Target="/ppt/notesSlides/notesSlide11.xml" Id="Ra62a9e9b2dcf46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a886eff2a4008" /><Relationship Type="http://schemas.openxmlformats.org/officeDocument/2006/relationships/notesSlide" Target="/ppt/notesSlides/notesSlide12.xml" Id="R95e4c501c47942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355d716eb4c6f" /><Relationship Type="http://schemas.openxmlformats.org/officeDocument/2006/relationships/notesSlide" Target="/ppt/notesSlides/notesSlide13.xml" Id="R6c093585764745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c92b3dd184d7a" /><Relationship Type="http://schemas.openxmlformats.org/officeDocument/2006/relationships/notesSlide" Target="/ppt/notesSlides/notesSlide14.xml" Id="R9c203f82d85a47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6a9ad20e540f7" /><Relationship Type="http://schemas.openxmlformats.org/officeDocument/2006/relationships/notesSlide" Target="/ppt/notesSlides/notesSlide15.xml" Id="R663f50456d6545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d0e32083844d1" /><Relationship Type="http://schemas.openxmlformats.org/officeDocument/2006/relationships/notesSlide" Target="/ppt/notesSlides/notesSlide16.xml" Id="R79313e7d93484d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1fcf5f21c4f84" /><Relationship Type="http://schemas.openxmlformats.org/officeDocument/2006/relationships/notesSlide" Target="/ppt/notesSlides/notesSlide17.xml" Id="R995adf4547834b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fcbfd47b1426a" /><Relationship Type="http://schemas.openxmlformats.org/officeDocument/2006/relationships/notesSlide" Target="/ppt/notesSlides/notesSlide18.xml" Id="Rfedc9d9eec6d46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3F1C0EDD-E200-4049-A40D-13A2D47E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31F8B58-E939-4CFE-AF81-2EB447D2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C201DCB-8223-4BC6-A664-18754951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DA6D86-743F-41E5-AB13-91F2A5E0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Rock Evidence Lab: Look Before You Label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3CE0342-C241-4B6E-A8C3-C87C5909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ECA7C602-485E-4790-B57A-7034294F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compare rock specimens using observed properties and create a group using a stated rule.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412D06AD-A110-4302-85DA-87FB1097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18104CE0-5B7C-4EE6-818E-65AD448B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63B0A679-3A3E-4817-A772-7C1787BC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names stay hidden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F5779C6E-188E-47B9-BE2C-0EA8EFA3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C0C24D67-D62B-442C-BFF2-F11B36CA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64335884-6B4B-4700-8986-3CC467D2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same features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71403760-35A0-4DD0-BA70-20455F9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9FF9CB5B-58E1-4B3F-8096-E43390AA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GROUP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F4A1B5B4-A03E-405F-92E9-555C628D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1BFE6EBE-12EC-401A-B74B-A57270EC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  <a:hlinkClick xmlns:r="http://schemas.openxmlformats.org/officeDocument/2006/relationships" r:id="R423441f2451847ef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F1915DAA-8A7A-428A-A61D-3BFE0C24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E8E062AA-0A7B-494C-A667-FA985B2F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77030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980A65D-221E-4D4E-B90E-73A19BEE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80F87E1-F8A1-4A97-A567-77657617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4C3D263-21E7-487C-95FF-7B2C5FA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91866E-AC00-40C5-B06D-215496F5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D764C4B-C546-4E78-A579-A88D37B7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2CDB910-B9BC-4D9F-8F5D-EE812D2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observe at least two properties.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2DBAF1F-5083-4619-AD54-5F71439A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compare two coded specimens.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977F4FB-FD20-486A-9311-4DC5A787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state and apply one grouping rule.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DEA2605-0572-48E8-A9FB-699C2864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5397EB3-3FE7-4F30-AAF5-26696994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423458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12A0309-3F85-440F-83B2-6DB7E832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A554914-F02A-47D9-A2F9-55688C0C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E33772F-0603-4E4C-AA28-66A78DAE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248870-6807-45CF-98CA-0E601096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5D37D8F-4E1D-455B-9197-124F8D41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EC69104-B083-4606-ACAE-C2418555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the label basis kept the same in W8A.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4EC72C5-C804-487E-847B-EC3A8199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Define property as something we can observe or test.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31F4326-2491-4451-A14B-DCC37963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a sorting rule must be stated.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A969B2B-6064-4BD6-8D2E-1ABFFFDE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give one observation without naming the rock.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371340B-20C1-439C-B304-6FE42C08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F567193-8074-4623-86F6-DBB45AC0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774899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AB5DBB3-9326-44C0-A051-14B970BB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2C7BE66-240F-4A73-B659-85D0787C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6B3C054-E3F7-466A-B331-230E7307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F4E219-4A4C-4A4C-9D4D-D4557C31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Two rocks are both grey. Is that enough evidence to place them in the same useful group?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4E700AD-2F41-49A5-9CC2-1B351972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131FB26-F261-4B77-B5EC-944189F0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C7BA406-CAAD-4301-981F-2336E2A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Yes. One shared colour is all we need for every purpose.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52EC0B1-0F9D-46F8-9614-2847FC0A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Not yet. Observe the same extra features on both rocks, then state a grouping rule.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A4D6761-742E-4DB9-9B3E-E3BFB0A8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Guess both names first and make the evidence fit later.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61A1284-C7EE-4A38-A9C7-FB7EE3EA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8950F35-6B77-4177-AB0A-BB31F788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221333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9AD6448-124B-48BE-AD78-69061000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616E291-2B54-4319-A342-22E3199D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3C936B9-AB9D-46BE-8A00-BE80EF95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DEEB1D-465C-41BE-8E74-BA730268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9EE0191-21B6-4D01-9135-AC69053B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9916920-6BF5-46DB-94F9-7CE0181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CODE A · speckled surface with visible interlocking crystals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9F1C924-CA63-4C04-A91F-704BC6C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CODE C · rough surface with sand-sized grains and faint bands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ED18B27-07B6-486E-B712-7371FC31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QUESTION · which observed feature will become the grouping rule?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47B00E9-06BA-46F1-B2BE-9DE8748E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DF94657-E3D9-48AA-A144-1433680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836735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119766A6-6A16-4993-A5B4-E25ECCE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48FE97B-C20C-4842-B986-D23C9144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3E1A6AF-F655-45B7-B119-1EF19E20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635AA0-712A-4119-BEC3-DBDAE683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D2D18A2-34C2-4A01-98ED-90CECBA3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fda7df6aa4bdd"/>
          <a:stretch xmlns:a="http://schemas.openxmlformats.org/drawingml/2006/main"/>
        </p:blipFill>
        <p:spPr>
          <a:xfrm xmlns:a="http://schemas.openxmlformats.org/drawingml/2006/main">
            <a:off x="8001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1F244546-D66C-4733-83B0-BBBFBEA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Coded rock A: speckled with crystals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8d93a7b254ffc"/>
          <a:stretch xmlns:a="http://schemas.openxmlformats.org/drawingml/2006/main"/>
        </p:blipFill>
        <p:spPr>
          <a:xfrm xmlns:a="http://schemas.openxmlformats.org/drawingml/2006/main">
            <a:off x="44069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2042D4F9-D2CC-43FA-BA1F-88B46217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Coded rock C: sandy grains with faint bands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515fedd254092"/>
          <a:stretch xmlns:a="http://schemas.openxmlformats.org/drawingml/2006/main"/>
        </p:blipFill>
        <p:spPr>
          <a:xfrm xmlns:a="http://schemas.openxmlformats.org/drawingml/2006/main">
            <a:off x="80137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332A0155-C660-4669-BEE2-87C072CB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Rock A beside rock C with a question mark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AEA094D2-62CD-46A7-9D86-29951E72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D9EEEFC8-41BC-441D-B49D-90109584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1798348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A58F3FF8-CDEC-45A8-AAFA-1D9F4036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4DE31B0-2FD9-44DF-B640-DE2DA841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51CFF1C-BB46-4258-8FC2-1B512990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B55C1A-EC33-4864-B13A-F5F52028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6152F8E-ED34-4A84-B12D-FB149835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443F14F-BF25-4E4A-B7A8-62B4B9D5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property — a feature we can notice or test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E422642-0B63-4A5A-8DF2-72865A57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observe — look closely and record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6B6B9C8-7952-4C73-953F-4A8782F2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classify — put into groups with a rule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0E7964F-41BF-40D6-A43C-F22A2152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B2E5D53-8D82-4FCB-8D16-C3DDF42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734644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CE3A56C3-E0A1-4FCD-87EC-3B3E3B06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04D08F1-B6F6-4B79-9D83-3CAAA699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383FE51-0AC3-4C0E-B5CA-EC5740BA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26A557-67F4-41AD-91B3-F77600F9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3F63F9C-61FE-4EFC-A81E-542CE23F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B654650-3CA3-469F-85F1-6CEDE78F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the code and hide the name. Place one specimen on a white tray and observe it from more than one angle.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85AF792-AE32-45EC-9B48-8D940110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Select two or three useful features: grains, crystals, bands, sheet-like planes, holes, colour or surface appearance.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DB67EDE-5EB8-4585-B406-D9F68A98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 only what is visible. ‘It is granite’ is a name claim; ‘several crystals are visible’ is an observation.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CBD7431-A6FA-40B6-BE71-AC8694C3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BFD9F9F-91DE-4E51-B83F-E8CD59B0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2145077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6C772399-D88D-438E-AE31-DE8C9696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81E0210-82C3-4C9D-9EB3-F55F88A9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B1E3A31-544C-4ADA-B2CC-3A14E263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03AEC1-956A-4F94-93E8-3400D4FA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B30A570-8E9D-4E3A-A224-6F97C27F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8d148f91d4965"/>
          <a:stretch xmlns:a="http://schemas.openxmlformats.org/drawingml/2006/main"/>
        </p:blipFill>
        <p:spPr>
          <a:xfrm xmlns:a="http://schemas.openxmlformats.org/drawingml/2006/main">
            <a:off x="3095625" y="2181225"/>
            <a:ext cx="6000750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C3783199-ECB0-4DDC-8501-76FC2332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Magnified view of the chosen coded rock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8E9D84C2-EB87-4763-B3F5-D2FCED7C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C25C02E-BD0D-4CF7-95CE-A3926A9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392468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89790E11-ACEB-4BF9-BD79-31742134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B4D9466-CC37-4A8D-83A0-C3D0C946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2CD2C18-0AD2-426E-8A7A-3A88EB5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5B5616-F58B-4FB9-B385-9E598A6B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line is an observation that can be checked on the supplied specimen?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0DF193D-C65C-4E8C-ACF0-444CA966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27CC015-1847-4ACE-B2B2-0E6AA63D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Several large crystals are visible in the speckled surface.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C6878E8-2246-408F-B280-AA272180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It must be granite because that is my first guess.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7E48820-81ED-4F7F-AA9B-C2D8E506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It will make the best roof because it looks strong.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AE91652-DBFA-4859-9A34-2388D723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A3F1274-E860-45EF-8553-8E65CEE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E014478-126B-4BC3-A99C-EEEB1AA6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6545507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A6D1641-A793-4BBF-9FCC-F303F22F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37C5251-70C3-4897-AEE1-4AC17BA7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9E8A2FC-B2A1-4015-8782-093DDF57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2EB828-6449-456E-981E-51AE0196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C91547C-70E9-4DC1-B07D-B79760E8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1C52888-C4B0-45AF-927C-4FF390B2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Inspect a second coded specimen using the same feature words. State one similarity and one difference.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DA50347-E8F2-45ED-A1A7-CF4E32FA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one rule, such as ‘visible bands or flat sheet-like planes’, and say the rule before grouping.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A61BA43-32A2-464B-8576-B2996C6A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Apply the same meaning to every specimen. Another clear rule may create a different valid grouping.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F334D6F-9B15-4E93-829D-37692063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2D70CCD-59CD-4D5B-8152-28141CE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1347995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56AC0DD-A3E1-4E6F-BCF0-6A1A3B0B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06090DF-AD7F-43C8-B4DB-03CF9E13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43B8E60-79FD-46F3-9487-0C95EB73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F46089-59A5-4F08-ACC0-B5C18360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BD4D48E-C334-4304-B165-37E85B34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9793E60-EC63-4A92-8569-41E6DEF4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Rock glitch: if two rocks have the same colour, they must be the same type.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CEE27FB-A6C4-429C-B9B8-07B408E2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colour always proves identity.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8004CD8-3E24-41D8-B9D5-2718BB59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compare several observed properties and keep identity claims cautious.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33609E0-4412-42AE-8946-9F7CD3C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group them by which colour the class likes most.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A797859-9E47-4D91-9E9A-CA49FA2C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AF2AB72-5DD1-4DA9-84BD-44C29F3B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7179408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290EE651-FE59-4AFF-A5E5-BB082FC4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756DD13-DCC3-4872-A168-92663F96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BC6089E-7C52-4F30-84F2-D931EB69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C97F9D-6433-4470-951F-5D22BA03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Coded Rock Feature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BF95A40-EFB4-444E-928B-881B02BB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D22D69D-FECA-44D1-A665-0EF55F21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Place each coded observation under its strongest named visible feature. The name is not the target.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AFDE349-0FE2-44EB-8661-3DD67F69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a coded observation.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584EC30-CC4C-4C8B-B8FD-7D520749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only the visible evidence.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BF40705-3F46-428C-8E39-7E67A3A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to the strongest feature group.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E280BA9-D58D-454E-BC50-9CB6DEA7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 any mismatch.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26818FD4-4347-4AA6-AFF2-8B9FCF39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one feature as a grouping rule.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CA34BE8B-C046-48CA-B5BE-0A6FCD18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B9561200-0306-45AF-BAB0-C4B05006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7941200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56B3E574-9967-4788-B631-D4F5D179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5238611-89D9-43EA-AB5F-FB04A46A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798345B-C62B-4D1C-B1F1-CB0D31D8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78D8A5-16B9-4A5A-96E1-330D8022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Coded Rock Feature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BEED4A3-5AF4-4D3F-9996-BD912E94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DE74F38-374C-421B-B370-3D082DE9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5F151F81-8E43-4C47-9E4E-A6F978C9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B2AB83A2-4ECB-4C07-A1F9-C92AC43D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1244724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DAE0EDA2-081A-4AC5-A823-0638755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9BBC28E-838B-4E18-9191-9FB77F73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417649F-D9EC-463A-B057-7BDE203E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9AA508-E184-4BB8-A6B1-59EBDDAC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B4CF760-E1C1-49B3-932E-E06E907B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947A30A-3C9D-4601-B9D7-41295A23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VISIBLE CRYSTALS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C92F43D-ECF6-40B0-9464-ED85B79B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VISIBLE GRAINS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D14E24E-97A8-4F86-8EEC-9699FD1A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BANDS / FLAT PLANES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4FF74EB-0642-4440-B510-C3F61FF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LARGE HOLES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3FC7324E-1CB6-43F7-AEA7-23C7A375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FINE · NO LARGE FEATURE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62440F96-0FAD-4788-A292-9CEF2E67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one visible feature as a rule. Which codes belong in the yes group, and which evidence supports each placement?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218F8038-EB4E-404A-A3BA-3D714E79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D375177E-E8BE-48A7-AD27-17382FF1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3925222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F2CED29E-FAB6-4C65-BFFD-62D0F8CE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95B7674-C538-4FB7-B289-F5704B06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6589BE1-BE4A-436C-A138-553312FA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26371B-8A04-4AD6-8247-029025E5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4298142-2A0E-4C47-8423-3B3E32F1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95D0C48-DC1C-4BA4-8876-618A01DD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Inspect or direct the inspection of coded rock specimens, compare two using the same features and create two groups with a stated rule.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2939FF1-1195-4110-B62D-DA667B14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Rock Comparison Ticket with two codes, two observed properties, one similarity, one difference and one explicit grouping rule.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14D8ABE-8EEE-47D3-B9E8-98D8A73F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0EF6DC48-063F-48AB-AFCC-306AB9C1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1223117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AD84FC6-079C-4DF3-8B81-8724906A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C46F04D-698E-4E67-9467-03B05C04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7298A89-CDE2-470D-A83D-FBE0BC44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8D1E7B-5069-4ABF-8599-D9F48B35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16DDDB8-3297-4183-9C4E-60053C2E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7B17548-7F96-4F62-8BCD-ABE488C9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Compare two coded macro cards with a four-word feature bank, then place them using one shown rule.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1292E26-B66A-4610-91CD-5328ECDD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Observe four to six coded specimens, compare a pair and create two groups using one stated property rule.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58B5695-34FB-4B24-8B46-B0060BCA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Create two different valid groupings, explain why both work and state why neither proves every specimen's identity.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28EFE73-63AE-43FF-8CF6-2EEC0131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7FC1AED8-A2CD-449F-B14D-D807C356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4441092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A5C53565-9393-4ED3-98F0-DCADC24A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31C2E38-3450-41F6-88D7-171C3D17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AB8915A-7AD7-4205-967E-00D863B7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59041F-34BC-46D6-A95B-05072C4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F5FCFB8-8B05-403F-96DB-CA448646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6B7805B-C075-4E83-9C98-9DC43A23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Compare two coded specimens and defend one group using observed properties.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6738267-4E6B-407E-955F-489BC8FB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BA2C7D9-9ACF-4AE6-9BDD-4BBA7499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55BAA8D-4C89-4F10-AC38-2820300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292710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2026-09-08T08:54:25.5890000Z</dcterms:created>
  <dcterms:modified xsi:type="dcterms:W3CDTF">2026-09-08T08:54:25.5890000Z</dcterms:modified>
</coreProperties>
</file>