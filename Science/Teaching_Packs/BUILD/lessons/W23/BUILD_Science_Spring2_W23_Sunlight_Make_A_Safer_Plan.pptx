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7ccc72b71416a" /><Relationship Type="http://schemas.openxmlformats.org/officeDocument/2006/relationships/extended-properties" Target="/docProps/app.xml" Id="R5d9b9a26e63d4372" /><Relationship Type="http://schemas.openxmlformats.org/officeDocument/2006/relationships/officeDocument" Target="/ppt/presentation.xml" Id="R85ff0e84821842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8cc760662a4a32"/>
  </p:sldMasterIdLst>
  <p:notesMasterIdLst>
    <p:notesMasterId xmlns:r="http://schemas.openxmlformats.org/officeDocument/2006/relationships" r:id="R7e2c8d57572646cd"/>
  </p:notesMasterIdLst>
  <p:sldIdLst>
    <p:sldId xmlns:r="http://schemas.openxmlformats.org/officeDocument/2006/relationships" id="256" r:id="Rc44400593d294049"/>
    <p:sldId xmlns:r="http://schemas.openxmlformats.org/officeDocument/2006/relationships" id="257" r:id="R9a5fbec46d614b16"/>
    <p:sldId xmlns:r="http://schemas.openxmlformats.org/officeDocument/2006/relationships" id="258" r:id="R76eb8d639ae1443e"/>
    <p:sldId xmlns:r="http://schemas.openxmlformats.org/officeDocument/2006/relationships" id="259" r:id="R33f6fff0b8554dd8"/>
    <p:sldId xmlns:r="http://schemas.openxmlformats.org/officeDocument/2006/relationships" id="260" r:id="Rdff40e34206b48a6"/>
    <p:sldId xmlns:r="http://schemas.openxmlformats.org/officeDocument/2006/relationships" id="261" r:id="R8e35b9e073824178"/>
    <p:sldId xmlns:r="http://schemas.openxmlformats.org/officeDocument/2006/relationships" id="262" r:id="R9c5ce2b3df7849f5"/>
    <p:sldId xmlns:r="http://schemas.openxmlformats.org/officeDocument/2006/relationships" id="263" r:id="R33aa406869814009"/>
    <p:sldId xmlns:r="http://schemas.openxmlformats.org/officeDocument/2006/relationships" id="264" r:id="Rc775d8274eaf40e5"/>
    <p:sldId xmlns:r="http://schemas.openxmlformats.org/officeDocument/2006/relationships" id="265" r:id="R94e817f23be5415a"/>
    <p:sldId xmlns:r="http://schemas.openxmlformats.org/officeDocument/2006/relationships" id="266" r:id="R514d228230ea4c7f"/>
    <p:sldId xmlns:r="http://schemas.openxmlformats.org/officeDocument/2006/relationships" id="267" r:id="Ra50d4f8fc8a64b33"/>
    <p:sldId xmlns:r="http://schemas.openxmlformats.org/officeDocument/2006/relationships" id="268" r:id="Rd4f58863fc80401c"/>
    <p:sldId xmlns:r="http://schemas.openxmlformats.org/officeDocument/2006/relationships" id="269" r:id="Rb46d2ee4a3e64d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424e35add14aef" /><Relationship Type="http://schemas.openxmlformats.org/officeDocument/2006/relationships/slideMaster" Target="/ppt/slideMasters/slideMaster1.xml" Id="R5d8cc760662a4a32" /><Relationship Type="http://schemas.openxmlformats.org/officeDocument/2006/relationships/notesMaster" Target="/ppt/notesMasters/notesMaster1.xml" Id="R7e2c8d57572646cd" /><Relationship Type="http://schemas.openxmlformats.org/officeDocument/2006/relationships/presProps" Target="/ppt/presProps.xml" Id="R69601c798f4e4870" /><Relationship Type="http://schemas.openxmlformats.org/officeDocument/2006/relationships/tableStyles" Target="/ppt/tableStyles.xml" Id="R7fb0032aacc84eb5" /><Relationship Type="http://schemas.openxmlformats.org/officeDocument/2006/relationships/slide" Target="/ppt/slides/slide1.xml" Id="Rc44400593d294049" /><Relationship Type="http://schemas.openxmlformats.org/officeDocument/2006/relationships/slide" Target="/ppt/slides/slide2.xml" Id="R9a5fbec46d614b16" /><Relationship Type="http://schemas.openxmlformats.org/officeDocument/2006/relationships/slide" Target="/ppt/slides/slide3.xml" Id="R76eb8d639ae1443e" /><Relationship Type="http://schemas.openxmlformats.org/officeDocument/2006/relationships/slide" Target="/ppt/slides/slide4.xml" Id="R33f6fff0b8554dd8" /><Relationship Type="http://schemas.openxmlformats.org/officeDocument/2006/relationships/slide" Target="/ppt/slides/slide5.xml" Id="Rdff40e34206b48a6" /><Relationship Type="http://schemas.openxmlformats.org/officeDocument/2006/relationships/slide" Target="/ppt/slides/slide6.xml" Id="R8e35b9e073824178" /><Relationship Type="http://schemas.openxmlformats.org/officeDocument/2006/relationships/slide" Target="/ppt/slides/slide7.xml" Id="R9c5ce2b3df7849f5" /><Relationship Type="http://schemas.openxmlformats.org/officeDocument/2006/relationships/slide" Target="/ppt/slides/slide8.xml" Id="R33aa406869814009" /><Relationship Type="http://schemas.openxmlformats.org/officeDocument/2006/relationships/slide" Target="/ppt/slides/slide9.xml" Id="Rc775d8274eaf40e5" /><Relationship Type="http://schemas.openxmlformats.org/officeDocument/2006/relationships/slide" Target="/ppt/slides/slide10.xml" Id="R94e817f23be5415a" /><Relationship Type="http://schemas.openxmlformats.org/officeDocument/2006/relationships/slide" Target="/ppt/slides/slide11.xml" Id="R514d228230ea4c7f" /><Relationship Type="http://schemas.openxmlformats.org/officeDocument/2006/relationships/slide" Target="/ppt/slides/slide12.xml" Id="Ra50d4f8fc8a64b33" /><Relationship Type="http://schemas.openxmlformats.org/officeDocument/2006/relationships/slide" Target="/ppt/slides/slide13.xml" Id="Rd4f58863fc80401c" /><Relationship Type="http://schemas.openxmlformats.org/officeDocument/2006/relationships/slide" Target="/ppt/slides/slide14.xml" Id="Rb46d2ee4a3e64d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a0ed74ba1d45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c7d0b86cb149d3" /><Relationship Type="http://schemas.openxmlformats.org/officeDocument/2006/relationships/notesMaster" Target="/ppt/notesMasters/notesMaster1.xml" Id="R9b1dc16ec95047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08ae17664e445f" /><Relationship Type="http://schemas.openxmlformats.org/officeDocument/2006/relationships/notesMaster" Target="/ppt/notesMasters/notesMaster1.xml" Id="R632b125376aa4e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3068100fd4efd" /><Relationship Type="http://schemas.openxmlformats.org/officeDocument/2006/relationships/notesMaster" Target="/ppt/notesMasters/notesMaster1.xml" Id="Rb4040dae3df849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77264db4d341d3" /><Relationship Type="http://schemas.openxmlformats.org/officeDocument/2006/relationships/notesMaster" Target="/ppt/notesMasters/notesMaster1.xml" Id="Re06bf01e7e4e4c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4b972179074ede" /><Relationship Type="http://schemas.openxmlformats.org/officeDocument/2006/relationships/notesMaster" Target="/ppt/notesMasters/notesMaster1.xml" Id="R6037fbbfd2b545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a1deda0a3841b4" /><Relationship Type="http://schemas.openxmlformats.org/officeDocument/2006/relationships/notesMaster" Target="/ppt/notesMasters/notesMaster1.xml" Id="Rd9bd931ece8545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de8640daa64a2f" /><Relationship Type="http://schemas.openxmlformats.org/officeDocument/2006/relationships/notesMaster" Target="/ppt/notesMasters/notesMaster1.xml" Id="Rd007b7cf771848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29c3875c7d4765" /><Relationship Type="http://schemas.openxmlformats.org/officeDocument/2006/relationships/notesMaster" Target="/ppt/notesMasters/notesMaster1.xml" Id="Ra2cdaa51f1ce44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17352bc55149e1" /><Relationship Type="http://schemas.openxmlformats.org/officeDocument/2006/relationships/notesMaster" Target="/ppt/notesMasters/notesMaster1.xml" Id="R59334ab637684e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78181176c44cad" /><Relationship Type="http://schemas.openxmlformats.org/officeDocument/2006/relationships/notesMaster" Target="/ppt/notesMasters/notesMaster1.xml" Id="Ra04da01bfb804b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b1551feecb449a" /><Relationship Type="http://schemas.openxmlformats.org/officeDocument/2006/relationships/notesMaster" Target="/ppt/notesMasters/notesMaster1.xml" Id="Rcc9b24828a5945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4547dcf2664bc4" /><Relationship Type="http://schemas.openxmlformats.org/officeDocument/2006/relationships/notesMaster" Target="/ppt/notesMasters/notesMaster1.xml" Id="R5b580734665b4e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ef36ef74bb4220" /><Relationship Type="http://schemas.openxmlformats.org/officeDocument/2006/relationships/notesMaster" Target="/ppt/notesMasters/notesMaster1.xml" Id="Rcac62d13cac447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1575ec5a6c47ec" /><Relationship Type="http://schemas.openxmlformats.org/officeDocument/2006/relationships/notesMaster" Target="/ppt/notesMasters/notesMaster1.xml" Id="Re5e30e09a7d64d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State clearly that this is an indoor planning activity. The lesson is about sensible choices, not testing limits of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Answers yes, yes, no. Correct the third immediately; no pupil should demonstrate or rehearse unsafe Sun viewing.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cannot judge UV by how bright or hot I feel. This diagram separates two kinds of radiation; the boxes do not show their amounts. I choose protection before exposure.” Do not imply UV is the only mechanism of harm from direct Sun viewing.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The diagram separates visible light and invisible ultraviolet in sunlight. The bands are categories, not proportions or a complete spectrum.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“A dark-looking lens changes visible light. I need reliable information about UV filtering and suitable fit. In real life an adult checks the product through a reputable supplier or optician.” Ordinary sunglasses never make staring at the Sun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Incoming UV is strongly reduced by a suitable UV-filtering lens. Some visible light passes through. The schematic is not a measured transmission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“Facing away is not a complete protection plan. Light can arrive from another direction. I still use suitable sunglasses, a hat and shade.” This is a path model, not a measured dose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schematic ray from the Sun reflects from water towards a person. This illustrates why reflected sunlight also matters for protection, without an instruction to look into the Sun or reflection.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Pairs receive kit cards A–D. A has only a dark tint claim; B is a constructed verified suitable UV-filtering option. Select B and add C/D. Do not teach pupils to trust any unverified sticker in the real world.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Choose B with a hat and shade. A’s darkness alone is not enough.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pair to reject the message and provide a replacement. Give a quiet written route. Then introduce scenario E by water and F with only dark unverified glasses: neither licenses direct viewing or guessing protection.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Never look directly at the Sun. Suitable sunglasses reduce ordinary exposure; they do not make Sun viewing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pupils choose A, distinguish visible tint from UV filtering. If B, restate the direct-viewing prohibition before moving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Very dark lenses prove good UV protection.</a:t>
            </a:r>
          </a:p>
          <a:p xmlns:a="http://schemas.openxmlformats.org/drawingml/2006/main">
            <a:r>
              <a:t>Tint alone does not confirm UV filtering; reliable product information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Sunglasses let us stare at the Sun safely.</a:t>
            </a:r>
          </a:p>
          <a:p xmlns:a="http://schemas.openxmlformats.org/drawingml/2006/main">
            <a:r>
              <a:t>Ordinary sunglasses do not make direct Sun viewing 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Use suitable UV protection, a hat and shade; never look directly at the Sun.</a:t>
            </a:r>
          </a:p>
          <a:p xmlns:a="http://schemas.openxmlformats.org/drawingml/2006/main">
            <a:r>
              <a:t>Correct. This combines sensible protection and preserves the essential no-looking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route only, selected with the pupil. The shared evidence page supports every route. The independent task is a decision brief, not a real exposure trial. An adult can scribe the pupil’s reasons. Use the supplied verified fictional product information; never judge a real pupil’s glasses by colour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the 12-minute independent stage. The independent task is a decision brief, not a real exposure trial. An adult can scribe the pupil’s reasons. Use the supplied verified fictional product information; never judge a real pupil’s glasses by colour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ten minutes of independent response after the two-minute setup. The independent task is a decision brief, not a real exposure trial. An adult can scribe the pupil’s reasons. Use the supplied verified fictional product information; never judge a real pupil’s glasses by colour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the independent stage. Ask the pupil to point to the clue supporting their answer; accept a spoken correction or changed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a private or paired option. Adopt one scientifically sound pupil revision in the class explanation and name the change. No public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Never look directly at the Sun, even when wearing ordinary sunglasses.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answers. Secure core requires the main idea and a relevant reason. Revisit the relevant worked diagram next lesson if the explanation reverses cause and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See the teacher answer guide for the three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NHS: sunscreen and sun safety</a:t>
            </a:r>
          </a:p>
          <a:p xmlns:a="http://schemas.openxmlformats.org/drawingml/2006/main">
            <a:r>
              <a:t>https://www.nhs.uk/live-well/seasonal-health/sunscreen-and-sun-safety/</a:t>
            </a:r>
          </a:p>
          <a:p xmlns:a="http://schemas.openxmlformats.org/drawingml/2006/main">
            <a:r>
              <a:t>Checked 8 September 2026. Eye protection, suitable sunglasses, hats, shade and never looking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RNIB: protect your eyes from the sun</a:t>
            </a:r>
          </a:p>
          <a:p xmlns:a="http://schemas.openxmlformats.org/drawingml/2006/main">
            <a:r>
              <a:t>https://www.rnib.org.uk/your-eyes/how-to-keep-your-eyes-healthy/protect-your-eyes-from-the-sun/</a:t>
            </a:r>
          </a:p>
          <a:p xmlns:a="http://schemas.openxmlformats.org/drawingml/2006/main">
            <a:r>
              <a:t>Checked 8 September 2026. UV-filtering sunglasses and combined protection; children should never look directly at the Sun.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 Office: how UV can affect your eyes</a:t>
            </a:r>
          </a:p>
          <a:p xmlns:a="http://schemas.openxmlformats.org/drawingml/2006/main">
            <a:r>
              <a:t>https://weather.metoffice.gov.uk/warnings-and-advice/seasonal-advice/health-wellbeing/uv/how-uv-can-affect-your-eyes</a:t>
            </a:r>
          </a:p>
          <a:p xmlns:a="http://schemas.openxmlformats.org/drawingml/2006/main">
            <a:r>
              <a:t>Checked 8 September 2026. Suitable UV-protective sunglasses and shade; distinguishes invisible UV exposure from visible brightness.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aacf683e346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d6a49797a94de0" /><Relationship Type="http://schemas.openxmlformats.org/officeDocument/2006/relationships/slideLayout" Target="/ppt/slideLayouts/slideLayout1.xml" Id="Rdc6f6671f65d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6f6671f65d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51586a1704f88" /><Relationship Type="http://schemas.openxmlformats.org/officeDocument/2006/relationships/notesSlide" Target="/ppt/notesSlides/notesSlide1.xml" Id="R2c9ec2014cb14d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15de8d7484468" /><Relationship Type="http://schemas.openxmlformats.org/officeDocument/2006/relationships/notesSlide" Target="/ppt/notesSlides/notesSlide2.xml" Id="Rb094aeb8a96844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4458337db44c0" /><Relationship Type="http://schemas.openxmlformats.org/officeDocument/2006/relationships/notesSlide" Target="/ppt/notesSlides/notesSlide3.xml" Id="Rf5c99ee4a64741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816be58bd4fb3" /><Relationship Type="http://schemas.openxmlformats.org/officeDocument/2006/relationships/notesSlide" Target="/ppt/notesSlides/notesSlide4.xml" Id="R947f58df1eb74c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c96f5799b42e1" /><Relationship Type="http://schemas.openxmlformats.org/officeDocument/2006/relationships/notesSlide" Target="/ppt/notesSlides/notesSlide5.xml" Id="R445ae9337dbc45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892e1a9b64e4a" /><Relationship Type="http://schemas.openxmlformats.org/officeDocument/2006/relationships/notesSlide" Target="/ppt/notesSlides/notesSlide6.xml" Id="R5195a8e9819647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a7c7b31bb4163" /><Relationship Type="http://schemas.openxmlformats.org/officeDocument/2006/relationships/notesSlide" Target="/ppt/notesSlides/notesSlide7.xml" Id="R3a63027801834e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ae09258394881" /><Relationship Type="http://schemas.openxmlformats.org/officeDocument/2006/relationships/notesSlide" Target="/ppt/notesSlides/notesSlide8.xml" Id="Rc227380e81314d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e3f8970ed4b2d" /><Relationship Type="http://schemas.openxmlformats.org/officeDocument/2006/relationships/notesSlide" Target="/ppt/notesSlides/notesSlide9.xml" Id="Rf3f950da022d4a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abd93d7344474" /><Relationship Type="http://schemas.openxmlformats.org/officeDocument/2006/relationships/notesSlide" Target="/ppt/notesSlides/notesSlide10.xml" Id="R866209a1919f48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0143d8d1345be" /><Relationship Type="http://schemas.openxmlformats.org/officeDocument/2006/relationships/notesSlide" Target="/ppt/notesSlides/notesSlide11.xml" Id="R2a0a8c350a1646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da6cf74df41a7" /><Relationship Type="http://schemas.openxmlformats.org/officeDocument/2006/relationships/notesSlide" Target="/ppt/notesSlides/notesSlide12.xml" Id="Rfeeede8c954d48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06bd249cb473e" /><Relationship Type="http://schemas.openxmlformats.org/officeDocument/2006/relationships/notesSlide" Target="/ppt/notesSlides/notesSlide13.xml" Id="Rfe841938f3c24c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36f7e9c3446f4" /><Relationship Type="http://schemas.openxmlformats.org/officeDocument/2006/relationships/notesSlide" Target="/ppt/notesSlides/notesSlide14.xml" Id="R05fd0a324ef648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AC17B850-634E-40F3-8322-9A3ADDA6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5C9D9BD-1E54-4CE0-B13A-02186E55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E637C8D-EB52-4C26-A3EF-56FCC762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F6F5BA6-52FD-4B9A-8DAB-8DC6F4DD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840D84F7-0002-4D62-8E80-F797C317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7294219E-422C-419F-A8FE-CE74C0D8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Plan an outdoor break">
            <a:extLst xmlns:a="http://schemas.openxmlformats.org/drawingml/2006/main">
              <a:ext uri="{FF2B5EF4-FFF2-40B4-BE49-F238E27FC236}">
                <a16:creationId xmlns:a16="http://schemas.microsoft.com/office/drawing/2014/main" id="{660FFFBE-D12E-4817-A083-653F64D7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Plan an outdoor break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D1A94DF-705F-45D2-A11C-9913042B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D8D8D685-B267-4079-AD23-89217EA8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31D737EC-E3AA-4F29-8279-34CC1295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CF95FDA3-4C06-4EF9-857C-B323F680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5237D9E-5866-4C05-A650-B79DCCCD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208F5C36-B17B-4309-91A0-8CEAC4C4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why sunlight can harm eyes and choose sensible ways to r">
            <a:extLst xmlns:a="http://schemas.openxmlformats.org/drawingml/2006/main">
              <a:ext uri="{FF2B5EF4-FFF2-40B4-BE49-F238E27FC236}">
                <a16:creationId xmlns:a16="http://schemas.microsoft.com/office/drawing/2014/main" id="{919F8FD3-273E-4CE5-B52A-240111FF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why sunlight can harm eyes and choose sensible ways to reduce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exposure.</a:t>
            </a:r>
          </a:p>
        </p:txBody>
      </p:sp>
      <p:sp>
        <p:nvSpPr>
          <p:cNvPr id="15" name="You are choosing protection.">
            <a:extLst xmlns:a="http://schemas.openxmlformats.org/drawingml/2006/main">
              <a:ext uri="{FF2B5EF4-FFF2-40B4-BE49-F238E27FC236}">
                <a16:creationId xmlns:a16="http://schemas.microsoft.com/office/drawing/2014/main" id="{5D1A9338-DB8C-4593-8CF7-065504C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 are choosing protection.</a:t>
            </a:r>
          </a:p>
        </p:txBody>
      </p:sp>
      <p:sp>
        <p:nvSpPr>
          <p:cNvPr id="16" name="Use evidence, not lens colour.">
            <a:extLst xmlns:a="http://schemas.openxmlformats.org/drawingml/2006/main">
              <a:ext uri="{FF2B5EF4-FFF2-40B4-BE49-F238E27FC236}">
                <a16:creationId xmlns:a16="http://schemas.microsoft.com/office/drawing/2014/main" id="{67BB3F07-D498-4534-B3E7-9067F589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66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evidence, not lens colour.</a:t>
            </a:r>
          </a:p>
        </p:txBody>
      </p:sp>
      <p:sp>
        <p:nvSpPr>
          <p:cNvPr id="17" name="No one looks at the Sun.">
            <a:extLst xmlns:a="http://schemas.openxmlformats.org/drawingml/2006/main">
              <a:ext uri="{FF2B5EF4-FFF2-40B4-BE49-F238E27FC236}">
                <a16:creationId xmlns:a16="http://schemas.microsoft.com/office/drawing/2014/main" id="{E1D57A58-0971-4A27-A679-C3586C0E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10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one looks at the Sun.</a:t>
            </a:r>
          </a:p>
        </p:txBody>
      </p:sp>
    </p:spTree>
    <p:extLst>
      <p:ext uri="{BB962C8B-B14F-4D97-AF65-F5344CB8AC3E}">
        <p14:creationId xmlns:p14="http://schemas.microsoft.com/office/powerpoint/2010/main" val="226242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1628A19-F8BB-4E1B-AF30-E787DC07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34C5DE6-D1A2-4D0F-BDCA-3C2B0928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75C1BEB-E0DE-4BF2-9B42-CB1035F1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BAA6457D-989B-41FF-A5F4-6E81DB04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93B1ECE2-3BA2-4C83-9C37-11AA3C98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E3704685-830B-4FA9-AA6D-6F254810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hree light clues">
            <a:extLst xmlns:a="http://schemas.openxmlformats.org/drawingml/2006/main">
              <a:ext uri="{FF2B5EF4-FFF2-40B4-BE49-F238E27FC236}">
                <a16:creationId xmlns:a16="http://schemas.microsoft.com/office/drawing/2014/main" id="{3DD6BE04-185F-44EB-8FB3-8B1D845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light clues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623B067-2587-4D5A-99C6-9B1790CA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EB3C0DC1-D6EE-42B7-9EFC-46D709B7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7851A6F9-AC3E-4A3A-AC45-00048FBE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Does the Sun give out light?">
            <a:extLst xmlns:a="http://schemas.openxmlformats.org/drawingml/2006/main">
              <a:ext uri="{FF2B5EF4-FFF2-40B4-BE49-F238E27FC236}">
                <a16:creationId xmlns:a16="http://schemas.microsoft.com/office/drawing/2014/main" id="{0C0C6B38-FF8C-49E7-9B3C-21C02AA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Does the Sun give out light?</a:t>
            </a:r>
          </a:p>
        </p:txBody>
      </p:sp>
      <p:sp>
        <p:nvSpPr>
          <p:cNvPr id="12" name="2. Can water reflect sunlight?">
            <a:extLst xmlns:a="http://schemas.openxmlformats.org/drawingml/2006/main">
              <a:ext uri="{FF2B5EF4-FFF2-40B4-BE49-F238E27FC236}">
                <a16:creationId xmlns:a16="http://schemas.microsoft.com/office/drawing/2014/main" id="{446AAA68-ACD9-41E6-B9D6-22BC4664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Can water reflect sunlight?</a:t>
            </a:r>
          </a:p>
        </p:txBody>
      </p:sp>
      <p:sp>
        <p:nvSpPr>
          <p:cNvPr id="13" name="3. Is staring at the Sun a safe test?">
            <a:extLst xmlns:a="http://schemas.openxmlformats.org/drawingml/2006/main">
              <a:ext uri="{FF2B5EF4-FFF2-40B4-BE49-F238E27FC236}">
                <a16:creationId xmlns:a16="http://schemas.microsoft.com/office/drawing/2014/main" id="{AB5FED77-62BF-4707-AD8D-12134B62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Is staring at the Sun a safe test?</a:t>
            </a:r>
          </a:p>
        </p:txBody>
      </p:sp>
    </p:spTree>
    <p:extLst>
      <p:ext uri="{BB962C8B-B14F-4D97-AF65-F5344CB8AC3E}">
        <p14:creationId xmlns:p14="http://schemas.microsoft.com/office/powerpoint/2010/main" val="488788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75D2AB9D-0E07-4640-BF73-FD513DAB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6712212-6D4D-4775-BE1A-1184AEC2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AF6B32A-8379-4A93-8CCB-059C79F8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B2D54E73-CE68-4D04-92B3-9ACB9E43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8550572-7931-4D8D-8324-1F771DB5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C9FAAFAE-026B-4FAB-9D59-BD7EA4A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Some sunlight is invisible">
            <a:extLst xmlns:a="http://schemas.openxmlformats.org/drawingml/2006/main">
              <a:ext uri="{FF2B5EF4-FFF2-40B4-BE49-F238E27FC236}">
                <a16:creationId xmlns:a16="http://schemas.microsoft.com/office/drawing/2014/main" id="{46D7698E-06AF-4DA7-8835-57A22C8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Some sunlight is invisible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6943FED-FA7B-4667-82D1-C5D2E49A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A10FF46D-0A0D-49B1-BFE0-548F68B3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7F827A77-609A-4426-A7BD-78AF3274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34ADB33-A658-4B46-BB88-A730E79D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3042557"/>
            <a:ext cx="1045369" cy="10453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9AA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abel: Sun">
            <a:extLst xmlns:a="http://schemas.openxmlformats.org/drawingml/2006/main">
              <a:ext uri="{FF2B5EF4-FFF2-40B4-BE49-F238E27FC236}">
                <a16:creationId xmlns:a16="http://schemas.microsoft.com/office/drawing/2014/main" id="{19AC9FAB-D24F-4E7B-91D2-38642BEE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4237264"/>
            <a:ext cx="1344046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Sun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E6EED28-C92A-40BB-90A8-A3ED7B1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18590" y="2914979"/>
            <a:ext cx="1604734" cy="4635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DE04668-54A9-4403-B7EC-CEE7264E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33195">
            <a:off x="5396163" y="2855457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524818E-1AD1-40E5-9C0F-76E1451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8590" y="3751915"/>
            <a:ext cx="1608412" cy="7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A021FFF-84BD-4FBF-8C30-C5485656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37749">
            <a:off x="5398614" y="442511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E432ADA-5042-4936-B76B-EF5F136D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319" y="2370534"/>
            <a:ext cx="3658791" cy="93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8" name="Diagram label: Visible light&#10;Our eyes detect it.">
            <a:extLst xmlns:a="http://schemas.openxmlformats.org/drawingml/2006/main">
              <a:ext uri="{FF2B5EF4-FFF2-40B4-BE49-F238E27FC236}">
                <a16:creationId xmlns:a16="http://schemas.microsoft.com/office/drawing/2014/main" id="{1DA2D9EC-CC3D-4A5F-99F6-7E8F633D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992" y="2519873"/>
            <a:ext cx="3285445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Visible light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Our eyes detect it.</a:t>
            </a:r>
          </a:p>
        </p:txBody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01F2814-CAE2-4A36-9B2F-FD6D05A1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319" y="3938588"/>
            <a:ext cx="3658791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6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20" name="Diagram label: Ultraviolet (UV)&#10;We cannot see it.">
            <a:extLst xmlns:a="http://schemas.openxmlformats.org/drawingml/2006/main">
              <a:ext uri="{FF2B5EF4-FFF2-40B4-BE49-F238E27FC236}">
                <a16:creationId xmlns:a16="http://schemas.microsoft.com/office/drawing/2014/main" id="{B552AA0C-6654-49AA-9C5C-1C700FBC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992" y="4087926"/>
            <a:ext cx="3322779" cy="7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Ultraviolet (UV)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We cannot see it.</a:t>
            </a:r>
          </a:p>
        </p:txBody>
      </p:sp>
      <p:sp>
        <p:nvSpPr>
          <p:cNvPr id="21" name="Diagram label: Schematic categories: not amounts or a full spectrum.">
            <a:extLst xmlns:a="http://schemas.openxmlformats.org/drawingml/2006/main">
              <a:ext uri="{FF2B5EF4-FFF2-40B4-BE49-F238E27FC236}">
                <a16:creationId xmlns:a16="http://schemas.microsoft.com/office/drawing/2014/main" id="{A66DF981-FF71-438A-974F-93FBF821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431971"/>
            <a:ext cx="6720228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Schematic categories: not amounts or a full spectrum.</a:t>
            </a:r>
          </a:p>
        </p:txBody>
      </p:sp>
      <p:sp>
        <p:nvSpPr>
          <p:cNvPr id="22" name="Visible light lets us see.  UV is invisible to our eyes.  Sunlig">
            <a:extLst xmlns:a="http://schemas.openxmlformats.org/drawingml/2006/main">
              <a:ext uri="{FF2B5EF4-FFF2-40B4-BE49-F238E27FC236}">
                <a16:creationId xmlns:a16="http://schemas.microsoft.com/office/drawing/2014/main" id="{62777B0B-6B43-4DA2-8F32-866DA7C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Visible light lets us see. UV is invisible to our eyes. Sunlight can damage eyes.</a:t>
            </a:r>
          </a:p>
        </p:txBody>
      </p:sp>
    </p:spTree>
    <p:extLst>
      <p:ext uri="{BB962C8B-B14F-4D97-AF65-F5344CB8AC3E}">
        <p14:creationId xmlns:p14="http://schemas.microsoft.com/office/powerpoint/2010/main" val="470617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04BDC8E7-8828-4E50-9984-B95C3147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B1AF644-FD44-4D8A-A215-518DDB83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B752886-4E26-4A00-8B74-2749C06B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89CC8F0C-1C04-49EB-A710-ED684140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A1E9F099-BBBD-4F32-95B2-9268C5A8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E8D6CA68-01AE-40A2-BC76-1301D4EE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I read the protection evidence">
            <a:extLst xmlns:a="http://schemas.openxmlformats.org/drawingml/2006/main">
              <a:ext uri="{FF2B5EF4-FFF2-40B4-BE49-F238E27FC236}">
                <a16:creationId xmlns:a16="http://schemas.microsoft.com/office/drawing/2014/main" id="{34644F7A-542B-476F-AC38-8D07E56F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read the protection evidence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23F8752-8C9E-4EF4-9B25-106B972A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9B324EDE-3B33-458A-8C0C-6571685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4 / 14">
            <a:extLst xmlns:a="http://schemas.openxmlformats.org/drawingml/2006/main">
              <a:ext uri="{FF2B5EF4-FFF2-40B4-BE49-F238E27FC236}">
                <a16:creationId xmlns:a16="http://schemas.microsoft.com/office/drawing/2014/main" id="{7DBA9769-D6CF-4088-B643-FCA09B23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1" name="Diagram label: Incoming radiation">
            <a:extLst xmlns:a="http://schemas.openxmlformats.org/drawingml/2006/main">
              <a:ext uri="{FF2B5EF4-FFF2-40B4-BE49-F238E27FC236}">
                <a16:creationId xmlns:a16="http://schemas.microsoft.com/office/drawing/2014/main" id="{B4BEB659-A0E0-4C42-A57D-D68559E0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295865"/>
            <a:ext cx="2912099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Incoming radiation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0CFAA9E-207A-4E6E-934B-CBAC50A8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658" y="2445204"/>
            <a:ext cx="746692" cy="2613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1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3" name="Diagram label: UV-filtering lens">
            <a:extLst xmlns:a="http://schemas.openxmlformats.org/drawingml/2006/main">
              <a:ext uri="{FF2B5EF4-FFF2-40B4-BE49-F238E27FC236}">
                <a16:creationId xmlns:a16="http://schemas.microsoft.com/office/drawing/2014/main" id="{6E0856B0-9F8F-43CD-A045-09292DC2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973" y="5133295"/>
            <a:ext cx="2464083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UV-filtering lens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38DB997-2381-4EB5-82F0-BD765ED4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73221" y="3266565"/>
            <a:ext cx="2945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7A5C9E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4C53021-0798-430B-AB9B-2731B495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92786" y="321429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6" name="Diagram label: UV">
            <a:extLst xmlns:a="http://schemas.openxmlformats.org/drawingml/2006/main">
              <a:ext uri="{FF2B5EF4-FFF2-40B4-BE49-F238E27FC236}">
                <a16:creationId xmlns:a16="http://schemas.microsoft.com/office/drawing/2014/main" id="{21F1EB78-A55D-4051-9C44-30E9448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2818550"/>
            <a:ext cx="1493384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UV</a:t>
            </a:r>
          </a:p>
        </p:txBody>
      </p:sp>
      <p:sp>
        <p:nvSpPr>
          <p:cNvPr id="17" name="Diagram label: UV strongly&#10;reduced">
            <a:extLst xmlns:a="http://schemas.openxmlformats.org/drawingml/2006/main">
              <a:ext uri="{FF2B5EF4-FFF2-40B4-BE49-F238E27FC236}">
                <a16:creationId xmlns:a16="http://schemas.microsoft.com/office/drawing/2014/main" id="{7074EF38-4DF6-4EDA-B878-2D43FAB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692" y="3005223"/>
            <a:ext cx="2314745" cy="634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UV strongly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reduced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CAE296D-DF07-4D65-8765-187BD90A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73221" y="4311933"/>
            <a:ext cx="2945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62A5E7AD-B087-46E3-BCBC-043FF5C7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92786" y="425966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92D9C3D-9A6F-42DB-9EE7-F8B9818C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18684" y="4311933"/>
            <a:ext cx="23856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17788DB-D102-4AEA-8454-183A40E4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978231" y="425966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2" name="Diagram label: Visible light">
            <a:extLst xmlns:a="http://schemas.openxmlformats.org/drawingml/2006/main">
              <a:ext uri="{FF2B5EF4-FFF2-40B4-BE49-F238E27FC236}">
                <a16:creationId xmlns:a16="http://schemas.microsoft.com/office/drawing/2014/main" id="{984AABCD-21B3-47C8-94AC-6026AA8E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610610"/>
            <a:ext cx="2240076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Visible light</a:t>
            </a:r>
          </a:p>
        </p:txBody>
      </p:sp>
      <p:sp>
        <p:nvSpPr>
          <p:cNvPr id="23" name="Diagram label: Some passes">
            <a:extLst xmlns:a="http://schemas.openxmlformats.org/drawingml/2006/main">
              <a:ext uri="{FF2B5EF4-FFF2-40B4-BE49-F238E27FC236}">
                <a16:creationId xmlns:a16="http://schemas.microsoft.com/office/drawing/2014/main" id="{7735FCA5-871C-4185-B74B-4786099C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4647945"/>
            <a:ext cx="2240076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Some passes</a:t>
            </a:r>
          </a:p>
        </p:txBody>
      </p:sp>
      <p:sp>
        <p:nvSpPr>
          <p:cNvPr id="24" name="Diagram label: Lens darkness alone cannot confirm UV protection.">
            <a:extLst xmlns:a="http://schemas.openxmlformats.org/drawingml/2006/main">
              <a:ext uri="{FF2B5EF4-FFF2-40B4-BE49-F238E27FC236}">
                <a16:creationId xmlns:a16="http://schemas.microsoft.com/office/drawing/2014/main" id="{19E124E3-E557-461F-8C48-2035AEAE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693314"/>
            <a:ext cx="6869566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Lens darkness alone cannot confirm UV protection.</a:t>
            </a:r>
          </a:p>
        </p:txBody>
      </p:sp>
      <p:sp>
        <p:nvSpPr>
          <p:cNvPr id="25" name="Lens darkness is not enough.  I check reliable UV information.  ">
            <a:extLst xmlns:a="http://schemas.openxmlformats.org/drawingml/2006/main">
              <a:ext uri="{FF2B5EF4-FFF2-40B4-BE49-F238E27FC236}">
                <a16:creationId xmlns:a16="http://schemas.microsoft.com/office/drawing/2014/main" id="{13130A47-126F-4A32-AD88-D8A451D0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Lens darkness is not enough. I check reliable UV information. I also plan shade and a hat.</a:t>
            </a:r>
          </a:p>
        </p:txBody>
      </p:sp>
    </p:spTree>
    <p:extLst>
      <p:ext uri="{BB962C8B-B14F-4D97-AF65-F5344CB8AC3E}">
        <p14:creationId xmlns:p14="http://schemas.microsoft.com/office/powerpoint/2010/main" val="1604635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72072B5D-5E9E-48FF-A7BD-8D33048A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E9C721D-98C9-4658-BBCC-9BF01088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7F4DB8A-DC09-4F02-A1B1-C061212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B9BB0474-94F7-4914-989E-F0E0F252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8E627E0F-B8C0-4DCE-A6B2-AC6BB6DD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Reflection matters as well">
            <a:extLst xmlns:a="http://schemas.openxmlformats.org/drawingml/2006/main">
              <a:ext uri="{FF2B5EF4-FFF2-40B4-BE49-F238E27FC236}">
                <a16:creationId xmlns:a16="http://schemas.microsoft.com/office/drawing/2014/main" id="{5F6E1DAB-BEFA-4AFE-B658-B4B1154D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Reflection matters as well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259C6AA1-3AF6-4BF3-9CB4-9E7C2D01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04C024AE-FA2A-4EB8-B138-55E3C976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1081C4F1-5134-451B-8B93-F219138C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B87528B-4F29-4304-B8C8-1652F5A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2258531"/>
            <a:ext cx="746692" cy="7466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9AA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1" name="Diagram label: Sun">
            <a:extLst xmlns:a="http://schemas.openxmlformats.org/drawingml/2006/main">
              <a:ext uri="{FF2B5EF4-FFF2-40B4-BE49-F238E27FC236}">
                <a16:creationId xmlns:a16="http://schemas.microsoft.com/office/drawing/2014/main" id="{6170BAFD-A432-40C7-B35B-5B9F95F4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3154561"/>
            <a:ext cx="1120038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Sun</a:t>
            </a:r>
          </a:p>
        </p:txBody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71B029A-31FE-49DE-8BDF-8E021CC5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19913" y="3005223"/>
            <a:ext cx="1992723" cy="16304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D035E8F8-9EF8-4C58-9F17-0F8F712A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57364">
            <a:off x="5480594" y="459991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1470526-E54C-4274-A72E-9F718A79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947" y="4722614"/>
            <a:ext cx="2688091" cy="336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1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5" name="Diagram label: Water surface">
            <a:extLst xmlns:a="http://schemas.openxmlformats.org/drawingml/2006/main">
              <a:ext uri="{FF2B5EF4-FFF2-40B4-BE49-F238E27FC236}">
                <a16:creationId xmlns:a16="http://schemas.microsoft.com/office/drawing/2014/main" id="{03DC785E-34B1-4602-9C16-5E3CF225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624" y="5170629"/>
            <a:ext cx="2389414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surface</a:t>
            </a:r>
          </a:p>
        </p:txBody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1C04358-6540-47D4-B026-0CDF2054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3316" y="2979914"/>
            <a:ext cx="2104493" cy="17053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4DE35F9-20D0-49D1-8080-FE5378FA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58836">
            <a:off x="7645845" y="291119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875AE6B-9293-4CB4-9182-893C43E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395" y="2743880"/>
            <a:ext cx="522684" cy="15680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6B043D1-F87B-4C24-85EF-05912870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92" y="2295865"/>
            <a:ext cx="709357" cy="634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20" name="Diagram label: Reflected sunlight&#10;also reaches us.">
            <a:extLst xmlns:a="http://schemas.openxmlformats.org/drawingml/2006/main">
              <a:ext uri="{FF2B5EF4-FFF2-40B4-BE49-F238E27FC236}">
                <a16:creationId xmlns:a16="http://schemas.microsoft.com/office/drawing/2014/main" id="{29B793E9-BA4E-4029-B3E3-9FFB51F7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392" y="4610610"/>
            <a:ext cx="1680057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Reflected sunlight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also reaches us.</a:t>
            </a:r>
          </a:p>
        </p:txBody>
      </p:sp>
      <p:sp>
        <p:nvSpPr>
          <p:cNvPr id="21" name="Diagram label: Never look at the Sun or stare into its bright reflection.">
            <a:extLst xmlns:a="http://schemas.openxmlformats.org/drawingml/2006/main">
              <a:ext uri="{FF2B5EF4-FFF2-40B4-BE49-F238E27FC236}">
                <a16:creationId xmlns:a16="http://schemas.microsoft.com/office/drawing/2014/main" id="{58FA88D0-AC95-4FE8-8578-42AEB779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655979"/>
            <a:ext cx="683223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Never look at the Sun or stare into its bright reflection.</a:t>
            </a:r>
          </a:p>
        </p:txBody>
      </p:sp>
      <p:sp>
        <p:nvSpPr>
          <p:cNvPr id="22" name="Sunlight can reflect from surfaces.  Combine ways to reduce expo">
            <a:extLst xmlns:a="http://schemas.openxmlformats.org/drawingml/2006/main">
              <a:ext uri="{FF2B5EF4-FFF2-40B4-BE49-F238E27FC236}">
                <a16:creationId xmlns:a16="http://schemas.microsoft.com/office/drawing/2014/main" id="{78D3E1C2-FE6C-4300-93F2-A221A2EE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Sunlight can reflect from surfaces. Combine ways to reduce exposure.</a:t>
            </a:r>
          </a:p>
        </p:txBody>
      </p:sp>
    </p:spTree>
    <p:extLst>
      <p:ext uri="{BB962C8B-B14F-4D97-AF65-F5344CB8AC3E}">
        <p14:creationId xmlns:p14="http://schemas.microsoft.com/office/powerpoint/2010/main" val="1807332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E774DD46-C99B-4CA8-AC11-64747992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42F7EFA-E152-4211-AD37-7CEC8D4E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E9D0222-B270-4A54-A0E8-02D62AD4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C7985DC3-1D4D-49E7-AE64-0B123BB4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6EF51B95-D1EE-4C5C-AEEC-12FDE284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1244FF26-F773-42C0-844C-48957ACC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hoose the strongest kit">
            <a:extLst xmlns:a="http://schemas.openxmlformats.org/drawingml/2006/main">
              <a:ext uri="{FF2B5EF4-FFF2-40B4-BE49-F238E27FC236}">
                <a16:creationId xmlns:a16="http://schemas.microsoft.com/office/drawing/2014/main" id="{32E01CBE-9BE4-4C14-A44B-E4E4A97B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strongest kit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C4EEEBB-F6BE-4934-BA5C-28D3FFE7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93269C02-46F6-41C9-A7CB-5AD8AB7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F1FC2759-A4B0-4DB9-80B4-007059B5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Compare glasses A and B. Which has useful UV evidence? What else">
            <a:extLst xmlns:a="http://schemas.openxmlformats.org/drawingml/2006/main">
              <a:ext uri="{FF2B5EF4-FFF2-40B4-BE49-F238E27FC236}">
                <a16:creationId xmlns:a16="http://schemas.microsoft.com/office/drawing/2014/main" id="{1129EA86-2300-4C72-8A72-85104E0D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glasses A and B. Which has useful UV evidence? What else will you add?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72118"/>
                <a:gridCol w="7853082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Kit card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Stated evidence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Dark lenses; UV protection not confirmed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Reliable check confirms suitable UV protection and fit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Wide-brimmed hat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Shaded area available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teaching evidence">
            <a:extLst xmlns:a="http://schemas.openxmlformats.org/drawingml/2006/main">
              <a:ext uri="{FF2B5EF4-FFF2-40B4-BE49-F238E27FC236}">
                <a16:creationId xmlns:a16="http://schemas.microsoft.com/office/drawing/2014/main" id="{5B306DE3-B36C-456B-A8E6-452E01B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63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teaching evidence</a:t>
            </a:r>
          </a:p>
        </p:txBody>
      </p:sp>
      <p:sp>
        <p:nvSpPr>
          <p:cNvPr id="14" name="W1. Which plan is supported by the evidence?">
            <a:extLst xmlns:a="http://schemas.openxmlformats.org/drawingml/2006/main">
              <a:ext uri="{FF2B5EF4-FFF2-40B4-BE49-F238E27FC236}">
                <a16:creationId xmlns:a16="http://schemas.microsoft.com/office/drawing/2014/main" id="{A6B9037F-8AFA-4DDB-8F10-55D3BA6E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8756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W1. Which plan is supported by the evidence?</a:t>
            </a:r>
          </a:p>
        </p:txBody>
      </p:sp>
    </p:spTree>
    <p:extLst>
      <p:ext uri="{BB962C8B-B14F-4D97-AF65-F5344CB8AC3E}">
        <p14:creationId xmlns:p14="http://schemas.microsoft.com/office/powerpoint/2010/main" val="1211828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7877B9B1-ECE8-4C3D-B9AD-310F1874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C4DDC02-9867-41D1-B252-CF603945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CEEF8B7-5C95-4C36-AB12-353A34E0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A32AC1D-E115-4AC6-A075-6F06D8C2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CC538653-B913-44F4-A736-61AFE4C3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792D3721-C96F-4052-A034-6DC23FFB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Repair the risky message">
            <a:extLst xmlns:a="http://schemas.openxmlformats.org/drawingml/2006/main">
              <a:ext uri="{FF2B5EF4-FFF2-40B4-BE49-F238E27FC236}">
                <a16:creationId xmlns:a16="http://schemas.microsoft.com/office/drawing/2014/main" id="{27619078-5B4D-457C-96DB-C59C0BA4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risky message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283B852-56CD-461B-B303-41EE1F8D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D04D9393-E166-41C6-B747-3C4A6498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6A9D699D-A751-4588-B15F-67323BD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Message: “Wear sunglasses, then watch the Sun.”">
            <a:extLst xmlns:a="http://schemas.openxmlformats.org/drawingml/2006/main">
              <a:ext uri="{FF2B5EF4-FFF2-40B4-BE49-F238E27FC236}">
                <a16:creationId xmlns:a16="http://schemas.microsoft.com/office/drawing/2014/main" id="{C17484B8-DABA-441F-8FEC-0119FEB6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Message: “Wear sunglasses, then watch the Sun.”</a:t>
            </a:r>
          </a:p>
        </p:txBody>
      </p:sp>
      <p:sp>
        <p:nvSpPr>
          <p:cNvPr id="12" name="Stop. Rewrite the message.">
            <a:extLst xmlns:a="http://schemas.openxmlformats.org/drawingml/2006/main">
              <a:ext uri="{FF2B5EF4-FFF2-40B4-BE49-F238E27FC236}">
                <a16:creationId xmlns:a16="http://schemas.microsoft.com/office/drawing/2014/main" id="{A58F3CFD-7C42-4B91-B5B1-E517237A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Stop. Rewrite the message.</a:t>
            </a:r>
          </a:p>
        </p:txBody>
      </p:sp>
      <p:sp>
        <p:nvSpPr>
          <p:cNvPr id="13" name="Keep protection and the no-looking rule.">
            <a:extLst xmlns:a="http://schemas.openxmlformats.org/drawingml/2006/main">
              <a:ext uri="{FF2B5EF4-FFF2-40B4-BE49-F238E27FC236}">
                <a16:creationId xmlns:a16="http://schemas.microsoft.com/office/drawing/2014/main" id="{8BBA7096-403E-41FF-AA59-0C9EB56A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protection and the no-looking rule.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0F7C4FE-8E55-4CA4-B88C-AB5079BF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10B33D32-E465-4549-BF85-72BF1341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6" name="W2. What must our message always say?">
            <a:extLst xmlns:a="http://schemas.openxmlformats.org/drawingml/2006/main">
              <a:ext uri="{FF2B5EF4-FFF2-40B4-BE49-F238E27FC236}">
                <a16:creationId xmlns:a16="http://schemas.microsoft.com/office/drawing/2014/main" id="{64BDEB3B-FB66-4A0A-A005-919376F8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W2. What must our message always say?</a:t>
            </a:r>
          </a:p>
        </p:txBody>
      </p:sp>
    </p:spTree>
    <p:extLst>
      <p:ext uri="{BB962C8B-B14F-4D97-AF65-F5344CB8AC3E}">
        <p14:creationId xmlns:p14="http://schemas.microsoft.com/office/powerpoint/2010/main" val="1888422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8F83D9AC-6C0C-48C9-A692-EF439E05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CA64592-0025-4BB9-B8A7-829B166F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79DC5F2-47D5-41D0-8D1A-78B380A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436246C-10E4-4AA9-A00A-F9C3A6E4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E3E86B15-05B0-4B7D-ABF7-9E7BA1C0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76E64AFA-D25F-459C-8007-B03147B9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is the safest science claim?">
            <a:extLst xmlns:a="http://schemas.openxmlformats.org/drawingml/2006/main">
              <a:ext uri="{FF2B5EF4-FFF2-40B4-BE49-F238E27FC236}">
                <a16:creationId xmlns:a16="http://schemas.microsoft.com/office/drawing/2014/main" id="{34F1CBA6-1ABD-49EE-A365-978B6DB5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is the safest science claim?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720C396-F660-44CF-8169-93C462C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C30237B3-EFA6-4C02-A356-DCA84A2D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D9C25336-1145-4A22-A070-4188C0FC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Choose the accurate account.">
            <a:extLst xmlns:a="http://schemas.openxmlformats.org/drawingml/2006/main">
              <a:ext uri="{FF2B5EF4-FFF2-40B4-BE49-F238E27FC236}">
                <a16:creationId xmlns:a16="http://schemas.microsoft.com/office/drawing/2014/main" id="{4D0E38AA-E79E-4089-915E-0A7D0AD9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accurate account.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0C6D31F3-DB2C-48A6-9260-DB28E88D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7AF993C-8327-49A1-A9CA-CD155A27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B8AEA847-5424-42B2-8E06-8E24C2C5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Very dark lenses prove good UV protection.">
            <a:extLst xmlns:a="http://schemas.openxmlformats.org/drawingml/2006/main">
              <a:ext uri="{FF2B5EF4-FFF2-40B4-BE49-F238E27FC236}">
                <a16:creationId xmlns:a16="http://schemas.microsoft.com/office/drawing/2014/main" id="{F9A02F2A-FED2-438A-B042-63558C7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Very dark lenses prove good UV protection.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802B6CA4-84C7-421B-96AF-683AC230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9ECCD558-FB41-4767-82A5-4CB8DA59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EBD12570-4D9C-421E-8B12-2889C1CB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Sunglasses let us stare at the Sun safely.">
            <a:extLst xmlns:a="http://schemas.openxmlformats.org/drawingml/2006/main">
              <a:ext uri="{FF2B5EF4-FFF2-40B4-BE49-F238E27FC236}">
                <a16:creationId xmlns:a16="http://schemas.microsoft.com/office/drawing/2014/main" id="{87A9CA77-772C-4A05-93E5-8920345E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Sunglasses let us stare at the Sun safely.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84820591-64D3-4F56-8E3F-C165E12C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659271E1-C4EC-4176-966D-239A2CDA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54B264F1-A785-4167-B093-49ACCDC4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Use suitable UV protection, a hat and shade; never look directly">
            <a:extLst xmlns:a="http://schemas.openxmlformats.org/drawingml/2006/main">
              <a:ext uri="{FF2B5EF4-FFF2-40B4-BE49-F238E27FC236}">
                <a16:creationId xmlns:a16="http://schemas.microsoft.com/office/drawing/2014/main" id="{B9A62A23-256B-4130-92C6-2493E514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suitable UV protection, a hat and shade; never look directly at the Sun.</a:t>
            </a:r>
          </a:p>
        </p:txBody>
      </p:sp>
    </p:spTree>
    <p:extLst>
      <p:ext uri="{BB962C8B-B14F-4D97-AF65-F5344CB8AC3E}">
        <p14:creationId xmlns:p14="http://schemas.microsoft.com/office/powerpoint/2010/main" val="1871131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47565A2-CD4A-4908-ACEC-8B6DFA25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FA412BF-B934-414F-A8C5-01B641DB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D6C1546-4BAB-4C22-A1E8-61CA944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A939B7C-4B03-4B8F-91B6-A0828A9B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5AA46D3-3CE7-4F0B-887C-7B0C21B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0EE2778-3242-45E4-AEE1-C832588C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investigation route">
            <a:extLst xmlns:a="http://schemas.openxmlformats.org/drawingml/2006/main">
              <a:ext uri="{FF2B5EF4-FFF2-40B4-BE49-F238E27FC236}">
                <a16:creationId xmlns:a16="http://schemas.microsoft.com/office/drawing/2014/main" id="{3CE34BBC-11EC-4960-B3FC-684F1022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investigation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974BFFC-F18C-46EA-8884-84247CF9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4236FD0F-B8B2-4347-B999-5D0F9D44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825F39D2-A102-4432-AEA2-EF29BB1E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Choose a protection plan.">
            <a:extLst xmlns:a="http://schemas.openxmlformats.org/drawingml/2006/main">
              <a:ext uri="{FF2B5EF4-FFF2-40B4-BE49-F238E27FC236}">
                <a16:creationId xmlns:a16="http://schemas.microsoft.com/office/drawing/2014/main" id="{2D5CFCD9-F703-4FBC-B1AD-8011C65D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protection plan.</a:t>
            </a:r>
          </a:p>
        </p:txBody>
      </p:sp>
      <p:sp>
        <p:nvSpPr>
          <p:cNvPr id="12" name="Write a pupil safety brief.">
            <a:extLst xmlns:a="http://schemas.openxmlformats.org/drawingml/2006/main">
              <a:ext uri="{FF2B5EF4-FFF2-40B4-BE49-F238E27FC236}">
                <a16:creationId xmlns:a16="http://schemas.microsoft.com/office/drawing/2014/main" id="{23BA03D4-4786-4655-AF04-00EF510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 pupil safety brief.</a:t>
            </a:r>
          </a:p>
        </p:txBody>
      </p:sp>
      <p:sp>
        <p:nvSpPr>
          <p:cNvPr id="13" name="Make a decision with missing evidence.">
            <a:extLst xmlns:a="http://schemas.openxmlformats.org/drawingml/2006/main">
              <a:ext uri="{FF2B5EF4-FFF2-40B4-BE49-F238E27FC236}">
                <a16:creationId xmlns:a16="http://schemas.microsoft.com/office/drawing/2014/main" id="{C1959AF1-1FE7-4CFA-8159-FCADD7EA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a decision with missing evidence.</a:t>
            </a:r>
          </a:p>
        </p:txBody>
      </p:sp>
    </p:spTree>
    <p:extLst>
      <p:ext uri="{BB962C8B-B14F-4D97-AF65-F5344CB8AC3E}">
        <p14:creationId xmlns:p14="http://schemas.microsoft.com/office/powerpoint/2010/main" val="727112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23D3AD3-1EBC-41B6-A5F8-CC99F53E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65E36A2-C1E0-4876-BCEC-A83AE0FC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33763CC-1325-4327-8664-47295A4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E246539-EC25-4EEA-8F46-F0AF12E6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B09BA668-E1CA-4ED3-97CB-D67DA9D6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64C76B73-2362-4F9D-9466-7FD24289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5370E51-0874-49FA-8973-E8298A5D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49B4649F-7FEF-4EB8-8FED-FEA0C196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9" name="10 / 14">
            <a:extLst xmlns:a="http://schemas.openxmlformats.org/drawingml/2006/main">
              <a:ext uri="{FF2B5EF4-FFF2-40B4-BE49-F238E27FC236}">
                <a16:creationId xmlns:a16="http://schemas.microsoft.com/office/drawing/2014/main" id="{EAC14155-CB36-488F-8C64-71ED45FD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0" name="Read or point to one clue.">
            <a:extLst xmlns:a="http://schemas.openxmlformats.org/drawingml/2006/main">
              <a:ext uri="{FF2B5EF4-FFF2-40B4-BE49-F238E27FC236}">
                <a16:creationId xmlns:a16="http://schemas.microsoft.com/office/drawing/2014/main" id="{8966CEE7-C8EB-4671-9479-3AE3F3EE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or point to one clue.</a:t>
            </a:r>
          </a:p>
        </p:txBody>
      </p:sp>
      <p:sp>
        <p:nvSpPr>
          <p:cNvPr id="11" name="Record what it supports.">
            <a:extLst xmlns:a="http://schemas.openxmlformats.org/drawingml/2006/main">
              <a:ext uri="{FF2B5EF4-FFF2-40B4-BE49-F238E27FC236}">
                <a16:creationId xmlns:a16="http://schemas.microsoft.com/office/drawing/2014/main" id="{4581ADE0-1F6D-454A-9774-4B795D10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what it supports.</a:t>
            </a:r>
          </a:p>
        </p:txBody>
      </p:sp>
      <p:sp>
        <p:nvSpPr>
          <p:cNvPr id="12" name="Keep your explanation short.">
            <a:extLst xmlns:a="http://schemas.openxmlformats.org/drawingml/2006/main">
              <a:ext uri="{FF2B5EF4-FFF2-40B4-BE49-F238E27FC236}">
                <a16:creationId xmlns:a16="http://schemas.microsoft.com/office/drawing/2014/main" id="{17157C60-9AA5-4272-8135-3070E6F8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your explanation short.</a:t>
            </a:r>
          </a:p>
        </p:txBody>
      </p:sp>
    </p:spTree>
    <p:extLst>
      <p:ext uri="{BB962C8B-B14F-4D97-AF65-F5344CB8AC3E}">
        <p14:creationId xmlns:p14="http://schemas.microsoft.com/office/powerpoint/2010/main" val="972069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62E0D90-CCB4-43F2-9271-48BC4929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9FE1E60-1D91-4D64-B192-DEE1FD23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2436856-31BF-4657-9A0E-2C73CD50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E0E858A-60AF-40FB-8384-9F756426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FCFE875-DE43-4A78-8268-84D226A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FE740C5E-4818-4C74-9D67-00ACE491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science record">
            <a:extLst xmlns:a="http://schemas.openxmlformats.org/drawingml/2006/main">
              <a:ext uri="{FF2B5EF4-FFF2-40B4-BE49-F238E27FC236}">
                <a16:creationId xmlns:a16="http://schemas.microsoft.com/office/drawing/2014/main" id="{AA590808-8242-4B55-B6C7-A580C9BA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science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0DF4EA2-B68B-49FE-BC14-2EF8DD43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5616A3C5-BB77-4D62-A777-F8869813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11 / 14">
            <a:extLst xmlns:a="http://schemas.openxmlformats.org/drawingml/2006/main">
              <a:ext uri="{FF2B5EF4-FFF2-40B4-BE49-F238E27FC236}">
                <a16:creationId xmlns:a16="http://schemas.microsoft.com/office/drawing/2014/main" id="{8C7CD0A1-FACB-4E42-B261-FA28E8A7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1" name="Complete your chosen route.">
            <a:extLst xmlns:a="http://schemas.openxmlformats.org/drawingml/2006/main">
              <a:ext uri="{FF2B5EF4-FFF2-40B4-BE49-F238E27FC236}">
                <a16:creationId xmlns:a16="http://schemas.microsoft.com/office/drawing/2014/main" id="{380861F9-0697-4D1E-8DB9-FF8FB68C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Complete your chosen route.</a:t>
            </a:r>
          </a:p>
        </p:txBody>
      </p:sp>
      <p:sp>
        <p:nvSpPr>
          <p:cNvPr id="12" name="Use a diagram, words or speech.">
            <a:extLst xmlns:a="http://schemas.openxmlformats.org/drawingml/2006/main">
              <a:ext uri="{FF2B5EF4-FFF2-40B4-BE49-F238E27FC236}">
                <a16:creationId xmlns:a16="http://schemas.microsoft.com/office/drawing/2014/main" id="{3DFAE406-4FAE-4B0E-8539-DA990AB8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diagram, words or speech.</a:t>
            </a:r>
          </a:p>
        </p:txBody>
      </p:sp>
      <p:sp>
        <p:nvSpPr>
          <p:cNvPr id="13" name="Check one answer with the evidence.">
            <a:extLst xmlns:a="http://schemas.openxmlformats.org/drawingml/2006/main">
              <a:ext uri="{FF2B5EF4-FFF2-40B4-BE49-F238E27FC236}">
                <a16:creationId xmlns:a16="http://schemas.microsoft.com/office/drawing/2014/main" id="{7827A055-C432-4070-A67F-B4674462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one answer with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324316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492D54C-2FBE-4E22-984A-F33D243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7F9903E-5257-45C5-AD82-D144ECA1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DB433C8-9D2D-4645-908B-ADF1F9D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57AD5F2-9AC2-4A5A-9960-68F11368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38CFE27-C04E-4E1A-A8A2-705E78EB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and improve">
            <a:extLst xmlns:a="http://schemas.openxmlformats.org/drawingml/2006/main">
              <a:ext uri="{FF2B5EF4-FFF2-40B4-BE49-F238E27FC236}">
                <a16:creationId xmlns:a16="http://schemas.microsoft.com/office/drawing/2014/main" id="{2154E594-07A7-4FDB-96BF-A9CB728F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and improve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C52ABEC-CA3A-4728-8DAC-D1ACEF5E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1DE1ED54-D863-4391-A503-5A5998E7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9" name="12 / 14">
            <a:extLst xmlns:a="http://schemas.openxmlformats.org/drawingml/2006/main">
              <a:ext uri="{FF2B5EF4-FFF2-40B4-BE49-F238E27FC236}">
                <a16:creationId xmlns:a16="http://schemas.microsoft.com/office/drawing/2014/main" id="{D20D91EF-9B11-4F63-81AE-B170618B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0" name="Does my answer match the evidence?">
            <a:extLst xmlns:a="http://schemas.openxmlformats.org/drawingml/2006/main">
              <a:ext uri="{FF2B5EF4-FFF2-40B4-BE49-F238E27FC236}">
                <a16:creationId xmlns:a16="http://schemas.microsoft.com/office/drawing/2014/main" id="{90C8011C-9500-40B6-81E3-E9A9E78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answer match the evidence?</a:t>
            </a:r>
          </a:p>
        </p:txBody>
      </p:sp>
      <p:sp>
        <p:nvSpPr>
          <p:cNvPr id="11" name="Have I explained why?">
            <a:extLst xmlns:a="http://schemas.openxmlformats.org/drawingml/2006/main">
              <a:ext uri="{FF2B5EF4-FFF2-40B4-BE49-F238E27FC236}">
                <a16:creationId xmlns:a16="http://schemas.microsoft.com/office/drawing/2014/main" id="{658A80A3-6307-4226-BC7B-FA49F8CE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explained why?</a:t>
            </a:r>
          </a:p>
        </p:txBody>
      </p:sp>
      <p:sp>
        <p:nvSpPr>
          <p:cNvPr id="12" name="Improve one label or sentence.">
            <a:extLst xmlns:a="http://schemas.openxmlformats.org/drawingml/2006/main">
              <a:ext uri="{FF2B5EF4-FFF2-40B4-BE49-F238E27FC236}">
                <a16:creationId xmlns:a16="http://schemas.microsoft.com/office/drawing/2014/main" id="{904666E2-955B-4221-8330-CC2C0CB9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one label or sentence.</a:t>
            </a:r>
          </a:p>
        </p:txBody>
      </p:sp>
    </p:spTree>
    <p:extLst>
      <p:ext uri="{BB962C8B-B14F-4D97-AF65-F5344CB8AC3E}">
        <p14:creationId xmlns:p14="http://schemas.microsoft.com/office/powerpoint/2010/main" val="926221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BC6BEA34-623E-4E97-A531-CEA62CF2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F33B589-91D2-45E5-B800-6010294A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462BE62-CB80-415C-943C-5BD3542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DB83424-B28E-40AB-A347-BE498012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535C3B11-39AD-439F-80F9-D4643C45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FC730850-D3B4-47A5-9B6D-418E37FB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our account">
            <a:extLst xmlns:a="http://schemas.openxmlformats.org/drawingml/2006/main">
              <a:ext uri="{FF2B5EF4-FFF2-40B4-BE49-F238E27FC236}">
                <a16:creationId xmlns:a16="http://schemas.microsoft.com/office/drawing/2014/main" id="{8D0ACF0E-8041-4917-B0A1-970C1D8D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our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A6EE59F-BC38-417F-B483-5337B754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F236F5F9-953C-4BA1-A782-7D6DF33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13 / 14">
            <a:extLst xmlns:a="http://schemas.openxmlformats.org/drawingml/2006/main">
              <a:ext uri="{FF2B5EF4-FFF2-40B4-BE49-F238E27FC236}">
                <a16:creationId xmlns:a16="http://schemas.microsoft.com/office/drawing/2014/main" id="{CD577163-E15E-4BC7-8380-95AAC0C7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1" name="Choose how to share one idea.">
            <a:extLst xmlns:a="http://schemas.openxmlformats.org/drawingml/2006/main">
              <a:ext uri="{FF2B5EF4-FFF2-40B4-BE49-F238E27FC236}">
                <a16:creationId xmlns:a16="http://schemas.microsoft.com/office/drawing/2014/main" id="{1B5C4B39-A0A2-4C23-AC2D-8187406D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 one idea.</a:t>
            </a:r>
          </a:p>
        </p:txBody>
      </p:sp>
      <p:sp>
        <p:nvSpPr>
          <p:cNvPr id="12" name="Listen to another explanation.">
            <a:extLst xmlns:a="http://schemas.openxmlformats.org/drawingml/2006/main">
              <a:ext uri="{FF2B5EF4-FFF2-40B4-BE49-F238E27FC236}">
                <a16:creationId xmlns:a16="http://schemas.microsoft.com/office/drawing/2014/main" id="{D6682D81-29E6-4CCD-AB52-E71E5C46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Listen to another explanation.</a:t>
            </a:r>
          </a:p>
        </p:txBody>
      </p:sp>
      <p:sp>
        <p:nvSpPr>
          <p:cNvPr id="13" name="Use evidence to improve our account.">
            <a:extLst xmlns:a="http://schemas.openxmlformats.org/drawingml/2006/main">
              <a:ext uri="{FF2B5EF4-FFF2-40B4-BE49-F238E27FC236}">
                <a16:creationId xmlns:a16="http://schemas.microsoft.com/office/drawing/2014/main" id="{EDC7DB72-4DC0-41D8-B75E-9C24A60D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 to improve our account.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AD69A05-86C6-4C12-8522-EE447830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ECBFE995-9AD2-4F99-B5B1-6AD8439E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ich sentence must stay in every plan?">
            <a:extLst xmlns:a="http://schemas.openxmlformats.org/drawingml/2006/main">
              <a:ext uri="{FF2B5EF4-FFF2-40B4-BE49-F238E27FC236}">
                <a16:creationId xmlns:a16="http://schemas.microsoft.com/office/drawing/2014/main" id="{7EE7D995-0EAC-4CD3-8163-AC2B4EAE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Which sentence must stay in every plan?</a:t>
            </a:r>
          </a:p>
        </p:txBody>
      </p:sp>
    </p:spTree>
    <p:extLst>
      <p:ext uri="{BB962C8B-B14F-4D97-AF65-F5344CB8AC3E}">
        <p14:creationId xmlns:p14="http://schemas.microsoft.com/office/powerpoint/2010/main" val="10228345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D42520B-F2F4-488C-94AB-417AA212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5835BAC-EFA8-4E6F-9506-6BF7E9B6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E2420EC-FD05-4755-A158-324E2433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390F47E-F2EB-4328-8D30-202997F0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458BE1AF-4F2C-4D4D-B8B6-C90E01BC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D06EBAA6-E35F-4976-BF7F-917C3E38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quick checks">
            <a:extLst xmlns:a="http://schemas.openxmlformats.org/drawingml/2006/main">
              <a:ext uri="{FF2B5EF4-FFF2-40B4-BE49-F238E27FC236}">
                <a16:creationId xmlns:a16="http://schemas.microsoft.com/office/drawing/2014/main" id="{F5D64962-E3CA-49B0-BE9B-73ECE1BD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quick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513F9EE-2D63-48CA-8B50-A05A01C2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Sunlight: make a safer plan">
            <a:extLst xmlns:a="http://schemas.openxmlformats.org/drawingml/2006/main">
              <a:ext uri="{FF2B5EF4-FFF2-40B4-BE49-F238E27FC236}">
                <a16:creationId xmlns:a16="http://schemas.microsoft.com/office/drawing/2014/main" id="{0B93486C-68F7-4B35-96BE-636CD0A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Sunlight: make a safer plan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316095B3-198E-453B-A358-37FC57E8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y do we protect our eyes from sunlight?">
            <a:extLst xmlns:a="http://schemas.openxmlformats.org/drawingml/2006/main">
              <a:ext uri="{FF2B5EF4-FFF2-40B4-BE49-F238E27FC236}">
                <a16:creationId xmlns:a16="http://schemas.microsoft.com/office/drawing/2014/main" id="{C711EE16-EA46-4715-A186-0154D887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Why do we protect our eyes from sunlight?</a:t>
            </a:r>
          </a:p>
        </p:txBody>
      </p:sp>
      <p:sp>
        <p:nvSpPr>
          <p:cNvPr id="12" name="E2. Name two ways to reduce exposure.">
            <a:extLst xmlns:a="http://schemas.openxmlformats.org/drawingml/2006/main">
              <a:ext uri="{FF2B5EF4-FFF2-40B4-BE49-F238E27FC236}">
                <a16:creationId xmlns:a16="http://schemas.microsoft.com/office/drawing/2014/main" id="{3F5FA696-BAF6-4CD4-9892-FD14F35E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Name two ways to reduce exposure.</a:t>
            </a:r>
          </a:p>
        </p:txBody>
      </p:sp>
      <p:sp>
        <p:nvSpPr>
          <p:cNvPr id="13" name="E3. Do ordinary sunglasses make Sun viewing safe?">
            <a:extLst xmlns:a="http://schemas.openxmlformats.org/drawingml/2006/main">
              <a:ext uri="{FF2B5EF4-FFF2-40B4-BE49-F238E27FC236}">
                <a16:creationId xmlns:a16="http://schemas.microsoft.com/office/drawing/2014/main" id="{3ABB2F3E-D75B-4521-BAAD-285DC03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Do ordinary sunglasses make Sun viewing safe?</a:t>
            </a:r>
          </a:p>
        </p:txBody>
      </p:sp>
    </p:spTree>
    <p:extLst>
      <p:ext uri="{BB962C8B-B14F-4D97-AF65-F5344CB8AC3E}">
        <p14:creationId xmlns:p14="http://schemas.microsoft.com/office/powerpoint/2010/main" val="40838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2026-09-08T23:11:45.1670000Z</dcterms:created>
  <dcterms:modified xsi:type="dcterms:W3CDTF">2026-09-08T23:11:45.1670000Z</dcterms:modified>
</coreProperties>
</file>