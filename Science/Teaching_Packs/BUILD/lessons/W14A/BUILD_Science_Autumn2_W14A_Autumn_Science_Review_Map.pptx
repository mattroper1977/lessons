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cd53a6893a46bd" /><Relationship Type="http://schemas.openxmlformats.org/officeDocument/2006/relationships/extended-properties" Target="/docProps/app.xml" Id="R15e51cc5de344287" /><Relationship Type="http://schemas.openxmlformats.org/officeDocument/2006/relationships/officeDocument" Target="/ppt/presentation.xml" Id="R3719d236f74a49ef" /></Relationships>
</file>

<file path=ppt/presentation.xml><?xml version="1.0" encoding="utf-8"?>
<p:presentation xmlns:p="http://schemas.openxmlformats.org/presentationml/2006/main">
  <p:sldMasterIdLst>
    <p:sldMasterId xmlns:r="http://schemas.openxmlformats.org/officeDocument/2006/relationships" id="2147483648" r:id="R58287ab187a741db"/>
  </p:sldMasterIdLst>
  <p:notesMasterIdLst>
    <p:notesMasterId xmlns:r="http://schemas.openxmlformats.org/officeDocument/2006/relationships" r:id="Ra8e8ad5f467548cc"/>
  </p:notesMasterIdLst>
  <p:sldIdLst>
    <p:sldId xmlns:r="http://schemas.openxmlformats.org/officeDocument/2006/relationships" id="256" r:id="R78a4f0d441ad41e7"/>
    <p:sldId xmlns:r="http://schemas.openxmlformats.org/officeDocument/2006/relationships" id="257" r:id="Rd3ac4307f3294f89"/>
    <p:sldId xmlns:r="http://schemas.openxmlformats.org/officeDocument/2006/relationships" id="258" r:id="R9b5cbdc4e8e6453d"/>
    <p:sldId xmlns:r="http://schemas.openxmlformats.org/officeDocument/2006/relationships" id="259" r:id="R05598c1b99e24827"/>
    <p:sldId xmlns:r="http://schemas.openxmlformats.org/officeDocument/2006/relationships" id="260" r:id="Raf3c8571dbd840fe"/>
    <p:sldId xmlns:r="http://schemas.openxmlformats.org/officeDocument/2006/relationships" id="261" r:id="R53db3f97ad994252"/>
    <p:sldId xmlns:r="http://schemas.openxmlformats.org/officeDocument/2006/relationships" id="262" r:id="Ra9f076cbee224539"/>
    <p:sldId xmlns:r="http://schemas.openxmlformats.org/officeDocument/2006/relationships" id="263" r:id="Ref0b5c6761294cc5"/>
    <p:sldId xmlns:r="http://schemas.openxmlformats.org/officeDocument/2006/relationships" id="264" r:id="Rcbae2b1fb791473e"/>
    <p:sldId xmlns:r="http://schemas.openxmlformats.org/officeDocument/2006/relationships" id="265" r:id="R45a8952b9b5948bd"/>
    <p:sldId xmlns:r="http://schemas.openxmlformats.org/officeDocument/2006/relationships" id="266" r:id="Rcd3a74027e6945c5"/>
    <p:sldId xmlns:r="http://schemas.openxmlformats.org/officeDocument/2006/relationships" id="267" r:id="Rab2c940df4f04874"/>
    <p:sldId xmlns:r="http://schemas.openxmlformats.org/officeDocument/2006/relationships" id="268" r:id="R5bc73e48077e465f"/>
    <p:sldId xmlns:r="http://schemas.openxmlformats.org/officeDocument/2006/relationships" id="269" r:id="Rb1487d95c32642cb"/>
    <p:sldId xmlns:r="http://schemas.openxmlformats.org/officeDocument/2006/relationships" id="270" r:id="R5222306a0d2b4775"/>
    <p:sldId xmlns:r="http://schemas.openxmlformats.org/officeDocument/2006/relationships" id="271" r:id="R72e876cf391d4236"/>
    <p:sldId xmlns:r="http://schemas.openxmlformats.org/officeDocument/2006/relationships" id="272" r:id="R3c8b83ca6eed425b"/>
    <p:sldId xmlns:r="http://schemas.openxmlformats.org/officeDocument/2006/relationships" id="273" r:id="R6ed261e35c6a4d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9fbe1e73fe42d1" /><Relationship Type="http://schemas.openxmlformats.org/officeDocument/2006/relationships/slideMaster" Target="/ppt/slideMasters/slideMaster1.xml" Id="R58287ab187a741db" /><Relationship Type="http://schemas.openxmlformats.org/officeDocument/2006/relationships/notesMaster" Target="/ppt/notesMasters/notesMaster1.xml" Id="Ra8e8ad5f467548cc" /><Relationship Type="http://schemas.openxmlformats.org/officeDocument/2006/relationships/presProps" Target="/ppt/presProps.xml" Id="R7e9fd950fce94e71" /><Relationship Type="http://schemas.openxmlformats.org/officeDocument/2006/relationships/tableStyles" Target="/ppt/tableStyles.xml" Id="Rf0fe6d6ac7b34236" /><Relationship Type="http://schemas.openxmlformats.org/officeDocument/2006/relationships/slide" Target="/ppt/slides/slide1.xml" Id="R78a4f0d441ad41e7" /><Relationship Type="http://schemas.openxmlformats.org/officeDocument/2006/relationships/slide" Target="/ppt/slides/slide2.xml" Id="Rd3ac4307f3294f89" /><Relationship Type="http://schemas.openxmlformats.org/officeDocument/2006/relationships/slide" Target="/ppt/slides/slide3.xml" Id="R9b5cbdc4e8e6453d" /><Relationship Type="http://schemas.openxmlformats.org/officeDocument/2006/relationships/slide" Target="/ppt/slides/slide4.xml" Id="R05598c1b99e24827" /><Relationship Type="http://schemas.openxmlformats.org/officeDocument/2006/relationships/slide" Target="/ppt/slides/slide5.xml" Id="Raf3c8571dbd840fe" /><Relationship Type="http://schemas.openxmlformats.org/officeDocument/2006/relationships/slide" Target="/ppt/slides/slide6.xml" Id="R53db3f97ad994252" /><Relationship Type="http://schemas.openxmlformats.org/officeDocument/2006/relationships/slide" Target="/ppt/slides/slide7.xml" Id="Ra9f076cbee224539" /><Relationship Type="http://schemas.openxmlformats.org/officeDocument/2006/relationships/slide" Target="/ppt/slides/slide8.xml" Id="Ref0b5c6761294cc5" /><Relationship Type="http://schemas.openxmlformats.org/officeDocument/2006/relationships/slide" Target="/ppt/slides/slide9.xml" Id="Rcbae2b1fb791473e" /><Relationship Type="http://schemas.openxmlformats.org/officeDocument/2006/relationships/slide" Target="/ppt/slides/slide10.xml" Id="R45a8952b9b5948bd" /><Relationship Type="http://schemas.openxmlformats.org/officeDocument/2006/relationships/slide" Target="/ppt/slides/slide11.xml" Id="Rcd3a74027e6945c5" /><Relationship Type="http://schemas.openxmlformats.org/officeDocument/2006/relationships/slide" Target="/ppt/slides/slide12.xml" Id="Rab2c940df4f04874" /><Relationship Type="http://schemas.openxmlformats.org/officeDocument/2006/relationships/slide" Target="/ppt/slides/slide13.xml" Id="R5bc73e48077e465f" /><Relationship Type="http://schemas.openxmlformats.org/officeDocument/2006/relationships/slide" Target="/ppt/slides/slide14.xml" Id="Rb1487d95c32642cb" /><Relationship Type="http://schemas.openxmlformats.org/officeDocument/2006/relationships/slide" Target="/ppt/slides/slide15.xml" Id="R5222306a0d2b4775" /><Relationship Type="http://schemas.openxmlformats.org/officeDocument/2006/relationships/slide" Target="/ppt/slides/slide16.xml" Id="R72e876cf391d4236" /><Relationship Type="http://schemas.openxmlformats.org/officeDocument/2006/relationships/slide" Target="/ppt/slides/slide17.xml" Id="R3c8b83ca6eed425b" /><Relationship Type="http://schemas.openxmlformats.org/officeDocument/2006/relationships/slide" Target="/ppt/slides/slide18.xml" Id="R6ed261e35c6a4d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32bd3d35ef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65590c4a644561" /><Relationship Type="http://schemas.openxmlformats.org/officeDocument/2006/relationships/notesMaster" Target="/ppt/notesMasters/notesMaster1.xml" Id="R66d4f87b7ef04b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775cb9163b46f8" /><Relationship Type="http://schemas.openxmlformats.org/officeDocument/2006/relationships/notesMaster" Target="/ppt/notesMasters/notesMaster1.xml" Id="R4ad118fbcbdf45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6d80c902c456d" /><Relationship Type="http://schemas.openxmlformats.org/officeDocument/2006/relationships/notesMaster" Target="/ppt/notesMasters/notesMaster1.xml" Id="R82cb57ea4ad049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9f4dcadb8d4b2f" /><Relationship Type="http://schemas.openxmlformats.org/officeDocument/2006/relationships/notesMaster" Target="/ppt/notesMasters/notesMaster1.xml" Id="Re89030f2ff494a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56f39e578f41ef" /><Relationship Type="http://schemas.openxmlformats.org/officeDocument/2006/relationships/notesMaster" Target="/ppt/notesMasters/notesMaster1.xml" Id="R2230e4ae4c534e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c5d91b4b424661" /><Relationship Type="http://schemas.openxmlformats.org/officeDocument/2006/relationships/notesMaster" Target="/ppt/notesMasters/notesMaster1.xml" Id="R05a127662cec48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0c9b79824342e4" /><Relationship Type="http://schemas.openxmlformats.org/officeDocument/2006/relationships/notesMaster" Target="/ppt/notesMasters/notesMaster1.xml" Id="Rcb40e92839034e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9c5ecbf3e3442e" /><Relationship Type="http://schemas.openxmlformats.org/officeDocument/2006/relationships/notesMaster" Target="/ppt/notesMasters/notesMaster1.xml" Id="R8d3330890d5a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d17d223fb1496d" /><Relationship Type="http://schemas.openxmlformats.org/officeDocument/2006/relationships/notesMaster" Target="/ppt/notesMasters/notesMaster1.xml" Id="R1fa793f91d2d46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5631956f6d4082" /><Relationship Type="http://schemas.openxmlformats.org/officeDocument/2006/relationships/notesMaster" Target="/ppt/notesMasters/notesMaster1.xml" Id="R3e36a7d3a0694e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8c807a4053430c" /><Relationship Type="http://schemas.openxmlformats.org/officeDocument/2006/relationships/notesMaster" Target="/ppt/notesMasters/notesMaster1.xml" Id="R378e1e2e569c49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92037cfcf541dc" /><Relationship Type="http://schemas.openxmlformats.org/officeDocument/2006/relationships/notesMaster" Target="/ppt/notesMasters/notesMaster1.xml" Id="R2c840702e70148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4388b4db60439f" /><Relationship Type="http://schemas.openxmlformats.org/officeDocument/2006/relationships/notesMaster" Target="/ppt/notesMasters/notesMaster1.xml" Id="Rf45246a653954c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13be3746634e6b" /><Relationship Type="http://schemas.openxmlformats.org/officeDocument/2006/relationships/notesMaster" Target="/ppt/notesMasters/notesMaster1.xml" Id="R66339e1df2314a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183b8b3aff4cec" /><Relationship Type="http://schemas.openxmlformats.org/officeDocument/2006/relationships/notesMaster" Target="/ppt/notesMasters/notesMaster1.xml" Id="Rb5e8ef128bad45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2cc2b3fc784a30" /><Relationship Type="http://schemas.openxmlformats.org/officeDocument/2006/relationships/notesMaster" Target="/ppt/notesMasters/notesMaster1.xml" Id="R61af1ee5df8040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841131b69784696" /><Relationship Type="http://schemas.openxmlformats.org/officeDocument/2006/relationships/notesMaster" Target="/ppt/notesMasters/notesMaster1.xml" Id="R0095a4c7bfe84a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b35b94066643e6" /><Relationship Type="http://schemas.openxmlformats.org/officeDocument/2006/relationships/notesMaster" Target="/ppt/notesMasters/notesMaster1.xml" Id="Rd41eaa4a3c574e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Overview: 0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 card: preserve the learning goal; change modality before changing demand.</a:t>
            </a:r>
          </a:p>
          <a:p xmlns:a="http://schemas.openxmlformats.org/drawingml/2006/main">
            <a:r>
              <a:t/>
            </a:r>
          </a:p>
          <a:p xmlns:a="http://schemas.openxmlformats.org/drawingml/2006/main">
            <a:r>
              <a:t>Modal guidance carrier.</a:t>
            </a:r>
          </a:p>
          <a:p xmlns:a="http://schemas.openxmlformats.org/drawingml/2006/main">
            <a:r>
              <a:t/>
            </a:r>
          </a:p>
          <a:p xmlns:a="http://schemas.openxmlformats.org/drawingml/2006/main">
            <a:r>
              <a:t>At the Lesson overview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Science · Week 14A · Explore</a:t>
            </a:r>
          </a:p>
          <a:p xmlns:a="http://schemas.openxmlformats.org/drawingml/2006/main">
            <a:r>
              <a:t>Objective: Organise previously learned observations about skeletons, nutrition and rocks into an evidence map, then identify what each observation can and cannot support.</a:t>
            </a:r>
          </a:p>
          <a:p xmlns:a="http://schemas.openxmlformats.org/drawingml/2006/main">
            <a:r>
              <a:t>Success evidence:</a:t>
            </a:r>
          </a:p>
          <a:p xmlns:a="http://schemas.openxmlformats.org/drawingml/2006/main">
            <a:r>
              <a:t>Records stay attached to the topic and question they address.</a:t>
            </a:r>
          </a:p>
          <a:p xmlns:a="http://schemas.openxmlformats.org/drawingml/2006/main">
            <a:r>
              <a:t>A claim says no more than the available observation supports.</a:t>
            </a:r>
          </a:p>
          <a:p xmlns:a="http://schemas.openxmlformats.org/drawingml/2006/main">
            <a:r>
              <a:t>At least one limit or honest missing item remains visible.</a:t>
            </a:r>
          </a:p>
          <a:p xmlns:a="http://schemas.openxmlformats.org/drawingml/2006/main">
            <a:r>
              <a:t>FOCUS → EVIDENCE → LIMIT</a:t>
            </a:r>
          </a:p>
          <a:p xmlns:a="http://schemas.openxmlformats.org/drawingml/2006/main">
            <a:r>
              <a:t>◆ Supported</a:t>
            </a:r>
          </a:p>
          <a:p xmlns:a="http://schemas.openxmlformats.org/drawingml/2006/main">
            <a:r>
              <a:t>Sort nine supplied record cards into the three topic headings. Choose one sentence frame per topic: ‘The record shows __. It can support __. It cannot show __.’ An adult may read each card exactly and place it only as directed.</a:t>
            </a:r>
          </a:p>
          <a:p xmlns:a="http://schemas.openxmlformats.org/drawingml/2006/main">
            <a:r>
              <a:t>▲ Standard</a:t>
            </a:r>
          </a:p>
          <a:p xmlns:a="http://schemas.openxmlformats.org/drawingml/2006/main">
            <a:r>
              <a:t>Select two records per topic, write a cautious claim for each topic and add a specific evidence limit. Explain one fair-comparison link between nutrition labels and a rock test without mixing their conclusions.</a:t>
            </a:r>
          </a:p>
          <a:p xmlns:a="http://schemas.openxmlformats.org/drawingml/2006/main">
            <a:r>
              <a:t>Stretch</a:t>
            </a:r>
          </a:p>
          <a:p xmlns:a="http://schemas.openxmlformats.org/drawingml/2006/main">
            <a:r>
              <a:t>Evaluate the strength of one record from each topic by considering method, comparison basis and uncertainty. Defend one cross-topic connection and reject one tempting connection that the evidence does not support.</a:t>
            </a:r>
          </a:p>
          <a:p xmlns:a="http://schemas.openxmlformats.org/drawingml/2006/main">
            <a:r>
              <a:t>Truth boundary: never backdate, never reconstruct a quotation, never stage an event, and never convert adult wording into the learner’s voice. Use only existing school-approved local records and clean classroom models. Do not repeat scratch, water, food or body-related activities during this review unless they are separately planned, risk assessed and authorised. No diagnosis or medical advice. No personal or family disclosure. Learning does not depend on a runtime connection. A learner may use the supplied fictional examples, pause, observe, direct an adult, or take the printed route.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Arrival · retrieve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Skeleton work used named parts and models to connect structure with support, protection or movement.</a:t>
            </a:r>
          </a:p>
          <a:p xmlns:a="http://schemas.openxmlformats.org/drawingml/2006/main">
            <a:r>
              <a:t>Nutrition work compared labelled information on the same basis before drawing a conclusion.</a:t>
            </a:r>
          </a:p>
          <a:p xmlns:a="http://schemas.openxmlformats.org/drawingml/2006/main">
            <a:r>
              <a:t>Rock work described visible properties and used controlled tests for properties that cannot be judged safely by appearance alone.</a:t>
            </a:r>
          </a:p>
          <a:p xmlns:a="http://schemas.openxmlformats.org/drawingml/2006/main">
            <a:r>
              <a:t>A record becomes useful evidence only when its source, question and limit remain clear.</a:t>
            </a:r>
          </a:p>
          <a:p xmlns:a="http://schemas.openxmlformats.org/drawingml/2006/main">
            <a:r>
              <a:t>Arrival decision: Choose one available record and identify what it shows. If it is unavailable, mark it MISSING rather than recreating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Arrival · retrieve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Skeleton work used named parts and models to connect structure with support, protection or movement.</a:t>
            </a:r>
          </a:p>
          <a:p xmlns:a="http://schemas.openxmlformats.org/drawingml/2006/main">
            <a:r>
              <a:t>Nutrition work compared labelled information on the same basis before drawing a conclusion.</a:t>
            </a:r>
          </a:p>
          <a:p xmlns:a="http://schemas.openxmlformats.org/drawingml/2006/main">
            <a:r>
              <a:t>Rock work described visible properties and used controlled tests for properties that cannot be judged safely by appearance alone.</a:t>
            </a:r>
          </a:p>
          <a:p xmlns:a="http://schemas.openxmlformats.org/drawingml/2006/main">
            <a:r>
              <a:t>A record becomes useful evidence only when its source, question and limit remain clear.</a:t>
            </a:r>
          </a:p>
          <a:p xmlns:a="http://schemas.openxmlformats.org/drawingml/2006/main">
            <a:r>
              <a:t>Arrival decision: Choose one available record and identify what it shows. If it is unavailable, mark it MISSING rather than recreating it.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Starter · create the need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three topics, kept separate. Every record you own belongs under one of them.</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Commit before explanation. Use the supplied record, compare the available options and keep any first prediction open to revision.</a:t>
            </a:r>
          </a:p>
          <a:p xmlns:a="http://schemas.openxmlformats.org/drawingml/2006/main">
            <a:r>
              <a:t>Checking questions:</a:t>
            </a:r>
          </a:p>
          <a:p xmlns:a="http://schemas.openxmlformats.org/drawingml/2006/main">
            <a:r>
              <a:t>What can be read directly from the record?</a:t>
            </a:r>
          </a:p>
          <a:p xmlns:a="http://schemas.openxmlformats.org/drawingml/2006/main">
            <a:r>
              <a:t>Which words are interpretation rather than observation?</a:t>
            </a:r>
          </a:p>
          <a:p xmlns:a="http://schemas.openxmlformats.org/drawingml/2006/main">
            <a:r>
              <a:t>What method or comparison basis must be named?</a:t>
            </a:r>
          </a:p>
          <a:p xmlns:a="http://schemas.openxmlformats.org/drawingml/2006/main">
            <a:r>
              <a:t>What would be unsafe or dishonest to infer?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Starter · create the need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three topics, kept separate. Every record you own belongs under one of them.</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Commit before explanation. Use the supplied record, compare the available options and keep any first prediction open to revision.</a:t>
            </a:r>
          </a:p>
          <a:p xmlns:a="http://schemas.openxmlformats.org/drawingml/2006/main">
            <a:r>
              <a:t>Checking questions:</a:t>
            </a:r>
          </a:p>
          <a:p xmlns:a="http://schemas.openxmlformats.org/drawingml/2006/main">
            <a:r>
              <a:t>What can be read directly from the record?</a:t>
            </a:r>
          </a:p>
          <a:p xmlns:a="http://schemas.openxmlformats.org/drawingml/2006/main">
            <a:r>
              <a:t>Which words are interpretation rather than observation?</a:t>
            </a:r>
          </a:p>
          <a:p xmlns:a="http://schemas.openxmlformats.org/drawingml/2006/main">
            <a:r>
              <a:t>What method or comparison basis must be named?</a:t>
            </a:r>
          </a:p>
          <a:p xmlns:a="http://schemas.openxmlformats.org/drawingml/2006/main">
            <a:r>
              <a:t>What would be unsafe or dishonest to infer?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Starter · create the need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three topics, kept separate. Every record you own belongs under one of them.</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Commit before explanation. Use the supplied record, compare the available options and keep any first prediction open to revision.</a:t>
            </a:r>
          </a:p>
          <a:p xmlns:a="http://schemas.openxmlformats.org/drawingml/2006/main">
            <a:r>
              <a:t>Checking questions:</a:t>
            </a:r>
          </a:p>
          <a:p xmlns:a="http://schemas.openxmlformats.org/drawingml/2006/main">
            <a:r>
              <a:t>What can be read directly from the record?</a:t>
            </a:r>
          </a:p>
          <a:p xmlns:a="http://schemas.openxmlformats.org/drawingml/2006/main">
            <a:r>
              <a:t>Which words are interpretation rather than observation?</a:t>
            </a:r>
          </a:p>
          <a:p xmlns:a="http://schemas.openxmlformats.org/drawingml/2006/main">
            <a:r>
              <a:t>What method or comparison basis must be named?</a:t>
            </a:r>
          </a:p>
          <a:p xmlns:a="http://schemas.openxmlformats.org/drawingml/2006/main">
            <a:r>
              <a:t>What would be unsafe or dishonest to infer?</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At the I Do · model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Record → topic → what it shows</a:t>
            </a:r>
          </a:p>
          <a:p xmlns:a="http://schemas.openxmlformats.org/drawingml/2006/main">
            <a:r>
              <a:t>Press a record from the autumn evidence folder, then the topic it belongs to.</a:t>
            </a:r>
          </a:p>
          <a:p xmlns:a="http://schemas.openxmlformats.org/drawingml/2006/main">
            <a:r>
              <a:t>a sorted mat of vertebrates and invertebrates</a:t>
            </a:r>
          </a:p>
          <a:p xmlns:a="http://schemas.openxmlformats.org/drawingml/2006/main">
            <a:r>
              <a:t>a table of after-wipe scratch results</a:t>
            </a:r>
          </a:p>
          <a:p xmlns:a="http://schemas.openxmlformats.org/drawingml/2006/main">
            <a:r>
              <a:t>a plan with CHANGE / MEASURE / SAME boards</a:t>
            </a:r>
          </a:p>
          <a:p xmlns:a="http://schemas.openxmlformats.org/drawingml/2006/main">
            <a:r>
              <a:t>a labelled arm model showing biceps and triceps</a:t>
            </a:r>
          </a:p>
          <a:p xmlns:a="http://schemas.openxmlformats.org/drawingml/2006/main">
            <a:r>
              <a:t>a sketch of the sealed water bench with mL collected</a:t>
            </a:r>
          </a:p>
          <a:p xmlns:a="http://schemas.openxmlformats.org/drawingml/2006/main">
            <a:r>
              <a:t>four sugar labels ordered per 100 g</a:t>
            </a:r>
          </a:p>
          <a:p xmlns:a="http://schemas.openxmlformats.org/drawingml/2006/main">
            <a:r>
              <a:t>body science</a:t>
            </a:r>
          </a:p>
          <a:p xmlns:a="http://schemas.openxmlformats.org/drawingml/2006/main">
            <a:r>
              <a:t>rocks</a:t>
            </a:r>
          </a:p>
          <a:p xmlns:a="http://schemas.openxmlformats.org/drawingml/2006/main">
            <a:r>
              <a:t>fair tests</a:t>
            </a:r>
          </a:p>
          <a:p xmlns:a="http://schemas.openxmlformats.org/drawingml/2006/main">
            <a:r>
              <a:t>Press a card.</a:t>
            </a:r>
          </a:p>
          <a:p xmlns:a="http://schemas.openxmlformats.org/drawingml/2006/main">
            <a:r>
              <a:t>OBSERVATION what was seen, measured or recorded</a:t>
            </a:r>
          </a:p>
          <a:p xmlns:a="http://schemas.openxmlformats.org/drawingml/2006/main">
            <a:r>
              <a:t>EVIDENCE an observation used for a stated question</a:t>
            </a:r>
          </a:p>
          <a:p xmlns:a="http://schemas.openxmlformats.org/drawingml/2006/main">
            <a:r>
              <a:t>LIMIT what the available record cannot establish</a:t>
            </a:r>
          </a:p>
          <a:p xmlns:a="http://schemas.openxmlformats.org/drawingml/2006/main">
            <a:r>
              <a:t>Place each record under one topic heading first. Name exactly what the record shows. Add the question it can help answer, then add one boundary sentence. A labelled skeleton diagram can support a statement about where a bone is and what it protects or supports; it cannot show how every body moves. A same-basis nutrition label comparison can support a cautious comparison between the supplied labels; it cannot judge a person's diet or health. A recorded rock observation or fair-test result can support a claim about the tested specimens under that method; it cannot identify every rock or promise how it will behave in every use.</a:t>
            </a:r>
          </a:p>
          <a:p xmlns:a="http://schemas.openxmlformats.org/drawingml/2006/main">
            <a:r>
              <a:t>Read the supplied record without improving it.</a:t>
            </a:r>
          </a:p>
          <a:p xmlns:a="http://schemas.openxmlformats.org/drawingml/2006/main">
            <a:r>
              <a:t>Name the task or question it addresses.</a:t>
            </a:r>
          </a:p>
          <a:p xmlns:a="http://schemas.openxmlformats.org/drawingml/2006/main">
            <a:r>
              <a:t>Make one bounded response.</a:t>
            </a:r>
          </a:p>
          <a:p xmlns:a="http://schemas.openxmlformats.org/drawingml/2006/main">
            <a:r>
              <a:t>Add a limit or checking point.</a:t>
            </a:r>
          </a:p>
          <a:p xmlns:a="http://schemas.openxmlformats.org/drawingml/2006/main">
            <a:r>
              <a:t>Check that no missing detail has been silently supplied.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At the I Do · model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Record → topic → what it shows</a:t>
            </a:r>
          </a:p>
          <a:p xmlns:a="http://schemas.openxmlformats.org/drawingml/2006/main">
            <a:r>
              <a:t>Press a record from the autumn evidence folder, then the topic it belongs to.</a:t>
            </a:r>
          </a:p>
          <a:p xmlns:a="http://schemas.openxmlformats.org/drawingml/2006/main">
            <a:r>
              <a:t>a sorted mat of vertebrates and invertebrates</a:t>
            </a:r>
          </a:p>
          <a:p xmlns:a="http://schemas.openxmlformats.org/drawingml/2006/main">
            <a:r>
              <a:t>a table of after-wipe scratch results</a:t>
            </a:r>
          </a:p>
          <a:p xmlns:a="http://schemas.openxmlformats.org/drawingml/2006/main">
            <a:r>
              <a:t>a plan with CHANGE / MEASURE / SAME boards</a:t>
            </a:r>
          </a:p>
          <a:p xmlns:a="http://schemas.openxmlformats.org/drawingml/2006/main">
            <a:r>
              <a:t>a labelled arm model showing biceps and triceps</a:t>
            </a:r>
          </a:p>
          <a:p xmlns:a="http://schemas.openxmlformats.org/drawingml/2006/main">
            <a:r>
              <a:t>a sketch of the sealed water bench with mL collected</a:t>
            </a:r>
          </a:p>
          <a:p xmlns:a="http://schemas.openxmlformats.org/drawingml/2006/main">
            <a:r>
              <a:t>four sugar labels ordered per 100 g</a:t>
            </a:r>
          </a:p>
          <a:p xmlns:a="http://schemas.openxmlformats.org/drawingml/2006/main">
            <a:r>
              <a:t>body science</a:t>
            </a:r>
          </a:p>
          <a:p xmlns:a="http://schemas.openxmlformats.org/drawingml/2006/main">
            <a:r>
              <a:t>rocks</a:t>
            </a:r>
          </a:p>
          <a:p xmlns:a="http://schemas.openxmlformats.org/drawingml/2006/main">
            <a:r>
              <a:t>fair tests</a:t>
            </a:r>
          </a:p>
          <a:p xmlns:a="http://schemas.openxmlformats.org/drawingml/2006/main">
            <a:r>
              <a:t>Press a card.</a:t>
            </a:r>
          </a:p>
          <a:p xmlns:a="http://schemas.openxmlformats.org/drawingml/2006/main">
            <a:r>
              <a:t>OBSERVATION what was seen, measured or recorded</a:t>
            </a:r>
          </a:p>
          <a:p xmlns:a="http://schemas.openxmlformats.org/drawingml/2006/main">
            <a:r>
              <a:t>EVIDENCE an observation used for a stated question</a:t>
            </a:r>
          </a:p>
          <a:p xmlns:a="http://schemas.openxmlformats.org/drawingml/2006/main">
            <a:r>
              <a:t>LIMIT what the available record cannot establish</a:t>
            </a:r>
          </a:p>
          <a:p xmlns:a="http://schemas.openxmlformats.org/drawingml/2006/main">
            <a:r>
              <a:t>Place each record under one topic heading first. Name exactly what the record shows. Add the question it can help answer, then add one boundary sentence. A labelled skeleton diagram can support a statement about where a bone is and what it protects or supports; it cannot show how every body moves. A same-basis nutrition label comparison can support a cautious comparison between the supplied labels; it cannot judge a person's diet or health. A recorded rock observation or fair-test result can support a claim about the tested specimens under that method; it cannot identify every rock or promise how it will behave in every use.</a:t>
            </a:r>
          </a:p>
          <a:p xmlns:a="http://schemas.openxmlformats.org/drawingml/2006/main">
            <a:r>
              <a:t>Read the supplied record without improving it.</a:t>
            </a:r>
          </a:p>
          <a:p xmlns:a="http://schemas.openxmlformats.org/drawingml/2006/main">
            <a:r>
              <a:t>Name the task or question it addresses.</a:t>
            </a:r>
          </a:p>
          <a:p xmlns:a="http://schemas.openxmlformats.org/drawingml/2006/main">
            <a:r>
              <a:t>Make one bounded response.</a:t>
            </a:r>
          </a:p>
          <a:p xmlns:a="http://schemas.openxmlformats.org/drawingml/2006/main">
            <a:r>
              <a:t>Add a limit or checking point.</a:t>
            </a:r>
          </a:p>
          <a:p xmlns:a="http://schemas.openxmlformats.org/drawingml/2006/main">
            <a:r>
              <a:t>Check that no missing detail has been silently supplied.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At the I Do · model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Record → topic → what it shows</a:t>
            </a:r>
          </a:p>
          <a:p xmlns:a="http://schemas.openxmlformats.org/drawingml/2006/main">
            <a:r>
              <a:t>Press a record from the autumn evidence folder, then the topic it belongs to.</a:t>
            </a:r>
          </a:p>
          <a:p xmlns:a="http://schemas.openxmlformats.org/drawingml/2006/main">
            <a:r>
              <a:t>a sorted mat of vertebrates and invertebrates</a:t>
            </a:r>
          </a:p>
          <a:p xmlns:a="http://schemas.openxmlformats.org/drawingml/2006/main">
            <a:r>
              <a:t>a table of after-wipe scratch results</a:t>
            </a:r>
          </a:p>
          <a:p xmlns:a="http://schemas.openxmlformats.org/drawingml/2006/main">
            <a:r>
              <a:t>a plan with CHANGE / MEASURE / SAME boards</a:t>
            </a:r>
          </a:p>
          <a:p xmlns:a="http://schemas.openxmlformats.org/drawingml/2006/main">
            <a:r>
              <a:t>a labelled arm model showing biceps and triceps</a:t>
            </a:r>
          </a:p>
          <a:p xmlns:a="http://schemas.openxmlformats.org/drawingml/2006/main">
            <a:r>
              <a:t>a sketch of the sealed water bench with mL collected</a:t>
            </a:r>
          </a:p>
          <a:p xmlns:a="http://schemas.openxmlformats.org/drawingml/2006/main">
            <a:r>
              <a:t>four sugar labels ordered per 100 g</a:t>
            </a:r>
          </a:p>
          <a:p xmlns:a="http://schemas.openxmlformats.org/drawingml/2006/main">
            <a:r>
              <a:t>body science</a:t>
            </a:r>
          </a:p>
          <a:p xmlns:a="http://schemas.openxmlformats.org/drawingml/2006/main">
            <a:r>
              <a:t>rocks</a:t>
            </a:r>
          </a:p>
          <a:p xmlns:a="http://schemas.openxmlformats.org/drawingml/2006/main">
            <a:r>
              <a:t>fair tests</a:t>
            </a:r>
          </a:p>
          <a:p xmlns:a="http://schemas.openxmlformats.org/drawingml/2006/main">
            <a:r>
              <a:t>Press a card.</a:t>
            </a:r>
          </a:p>
          <a:p xmlns:a="http://schemas.openxmlformats.org/drawingml/2006/main">
            <a:r>
              <a:t>OBSERVATION what was seen, measured or recorded</a:t>
            </a:r>
          </a:p>
          <a:p xmlns:a="http://schemas.openxmlformats.org/drawingml/2006/main">
            <a:r>
              <a:t>EVIDENCE an observation used for a stated question</a:t>
            </a:r>
          </a:p>
          <a:p xmlns:a="http://schemas.openxmlformats.org/drawingml/2006/main">
            <a:r>
              <a:t>LIMIT what the available record cannot establish</a:t>
            </a:r>
          </a:p>
          <a:p xmlns:a="http://schemas.openxmlformats.org/drawingml/2006/main">
            <a:r>
              <a:t>Place each record under one topic heading first. Name exactly what the record shows. Add the question it can help answer, then add one boundary sentence. A labelled skeleton diagram can support a statement about where a bone is and what it protects or supports; it cannot show how every body moves. A same-basis nutrition label comparison can support a cautious comparison between the supplied labels; it cannot judge a person's diet or health. A recorded rock observation or fair-test result can support a claim about the tested specimens under that method; it cannot identify every rock or promise how it will behave in every use.</a:t>
            </a:r>
          </a:p>
          <a:p xmlns:a="http://schemas.openxmlformats.org/drawingml/2006/main">
            <a:r>
              <a:t>Read the supplied record without improving it.</a:t>
            </a:r>
          </a:p>
          <a:p xmlns:a="http://schemas.openxmlformats.org/drawingml/2006/main">
            <a:r>
              <a:t>Name the task or question it addresses.</a:t>
            </a:r>
          </a:p>
          <a:p xmlns:a="http://schemas.openxmlformats.org/drawingml/2006/main">
            <a:r>
              <a:t>Make one bounded response.</a:t>
            </a:r>
          </a:p>
          <a:p xmlns:a="http://schemas.openxmlformats.org/drawingml/2006/main">
            <a:r>
              <a:t>Add a limit or checking point.</a:t>
            </a:r>
          </a:p>
          <a:p xmlns:a="http://schemas.openxmlformats.org/drawingml/2006/main">
            <a:r>
              <a:t>Check that no missing detail has been silently supplied.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At the I Do · model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Record → topic → what it shows</a:t>
            </a:r>
          </a:p>
          <a:p xmlns:a="http://schemas.openxmlformats.org/drawingml/2006/main">
            <a:r>
              <a:t>Press a record from the autumn evidence folder, then the topic it belongs to.</a:t>
            </a:r>
          </a:p>
          <a:p xmlns:a="http://schemas.openxmlformats.org/drawingml/2006/main">
            <a:r>
              <a:t>a sorted mat of vertebrates and invertebrates</a:t>
            </a:r>
          </a:p>
          <a:p xmlns:a="http://schemas.openxmlformats.org/drawingml/2006/main">
            <a:r>
              <a:t>a table of after-wipe scratch results</a:t>
            </a:r>
          </a:p>
          <a:p xmlns:a="http://schemas.openxmlformats.org/drawingml/2006/main">
            <a:r>
              <a:t>a plan with CHANGE / MEASURE / SAME boards</a:t>
            </a:r>
          </a:p>
          <a:p xmlns:a="http://schemas.openxmlformats.org/drawingml/2006/main">
            <a:r>
              <a:t>a labelled arm model showing biceps and triceps</a:t>
            </a:r>
          </a:p>
          <a:p xmlns:a="http://schemas.openxmlformats.org/drawingml/2006/main">
            <a:r>
              <a:t>a sketch of the sealed water bench with mL collected</a:t>
            </a:r>
          </a:p>
          <a:p xmlns:a="http://schemas.openxmlformats.org/drawingml/2006/main">
            <a:r>
              <a:t>four sugar labels ordered per 100 g</a:t>
            </a:r>
          </a:p>
          <a:p xmlns:a="http://schemas.openxmlformats.org/drawingml/2006/main">
            <a:r>
              <a:t>body science</a:t>
            </a:r>
          </a:p>
          <a:p xmlns:a="http://schemas.openxmlformats.org/drawingml/2006/main">
            <a:r>
              <a:t>rocks</a:t>
            </a:r>
          </a:p>
          <a:p xmlns:a="http://schemas.openxmlformats.org/drawingml/2006/main">
            <a:r>
              <a:t>fair tests</a:t>
            </a:r>
          </a:p>
          <a:p xmlns:a="http://schemas.openxmlformats.org/drawingml/2006/main">
            <a:r>
              <a:t>Press a card.</a:t>
            </a:r>
          </a:p>
          <a:p xmlns:a="http://schemas.openxmlformats.org/drawingml/2006/main">
            <a:r>
              <a:t>OBSERVATION what was seen, measured or recorded</a:t>
            </a:r>
          </a:p>
          <a:p xmlns:a="http://schemas.openxmlformats.org/drawingml/2006/main">
            <a:r>
              <a:t>EVIDENCE an observation used for a stated question</a:t>
            </a:r>
          </a:p>
          <a:p xmlns:a="http://schemas.openxmlformats.org/drawingml/2006/main">
            <a:r>
              <a:t>LIMIT what the available record cannot establish</a:t>
            </a:r>
          </a:p>
          <a:p xmlns:a="http://schemas.openxmlformats.org/drawingml/2006/main">
            <a:r>
              <a:t>Place each record under one topic heading first. Name exactly what the record shows. Add the question it can help answer, then add one boundary sentence. A labelled skeleton diagram can support a statement about where a bone is and what it protects or supports; it cannot show how every body moves. A same-basis nutrition label comparison can support a cautious comparison between the supplied labels; it cannot judge a person's diet or health. A recorded rock observation or fair-test result can support a claim about the tested specimens under that method; it cannot identify every rock or promise how it will behave in every use.</a:t>
            </a:r>
          </a:p>
          <a:p xmlns:a="http://schemas.openxmlformats.org/drawingml/2006/main">
            <a:r>
              <a:t>Read the supplied record without improving it.</a:t>
            </a:r>
          </a:p>
          <a:p xmlns:a="http://schemas.openxmlformats.org/drawingml/2006/main">
            <a:r>
              <a:t>Name the task or question it addresses.</a:t>
            </a:r>
          </a:p>
          <a:p xmlns:a="http://schemas.openxmlformats.org/drawingml/2006/main">
            <a:r>
              <a:t>Make one bounded response.</a:t>
            </a:r>
          </a:p>
          <a:p xmlns:a="http://schemas.openxmlformats.org/drawingml/2006/main">
            <a:r>
              <a:t>Add a limit or checking point.</a:t>
            </a:r>
          </a:p>
          <a:p xmlns:a="http://schemas.openxmlformats.org/drawingml/2006/main">
            <a:r>
              <a:t>Check that no missing detail has been silently supplied.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We do: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We Do · everyone commits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Everyone commits through pointing, selecting, saying, signing, typing or directing an adult. Compare the bounded and over-strong responses, then answer a fresh example.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I Do 2 · connect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Same reasoning move</a:t>
            </a:r>
          </a:p>
          <a:p xmlns:a="http://schemas.openxmlformats.org/drawingml/2006/main">
            <a:r>
              <a:t>Connect only records that share a named reasoning move.</a:t>
            </a:r>
          </a:p>
          <a:p xmlns:a="http://schemas.openxmlformats.org/drawingml/2006/main">
            <a:r>
              <a:t>Different evidence job</a:t>
            </a:r>
          </a:p>
          <a:p xmlns:a="http://schemas.openxmlformats.org/drawingml/2006/main">
            <a:r>
              <a:t>Keep each source attached to the question it can address.</a:t>
            </a:r>
          </a:p>
          <a:p xmlns:a="http://schemas.openxmlformats.org/drawingml/2006/main">
            <a:r>
              <a:t>Honest absence</a:t>
            </a:r>
          </a:p>
          <a:p xmlns:a="http://schemas.openxmlformats.org/drawingml/2006/main">
            <a:r>
              <a:t>Use MISSING or AWAITING AUTHORISED CHECK rather than filling a gap.</a:t>
            </a:r>
          </a:p>
          <a:p xmlns:a="http://schemas.openxmlformats.org/drawingml/2006/main">
            <a:r>
              <a:t>Name the connection explicitly. Remove any link that cannot be explained from the supplied material.</a:t>
            </a:r>
          </a:p>
          <a:p xmlns:a="http://schemas.openxmlformats.org/drawingml/2006/main">
            <a:r>
              <a:t>Audit a sample reader route before independent work. Begin with a labelled skeleton record and state whether it shows location, structure or function. Move to a nutrition record and name the comparison basis retained from its label. Move again to a rock record and distinguish a visible description from a property established by a controlled test. At each stop, select the exact observation, connect it to one cautious claim and attach a limit. Reject any arrow that joins topics merely because the same everyday word appears. Finish by rehearsing how a reader will find the source or method without asking the learner to recreate an event or practical.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We Do 2 · lab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Sort nine supplied record cards into the three topic headings. Choose one sentence frame per topic: ‘The record shows __. It can support __. It cannot show __.’ An adult may read each card exactly and place it only as directed.</a:t>
            </a:r>
          </a:p>
          <a:p xmlns:a="http://schemas.openxmlformats.org/drawingml/2006/main">
            <a:r>
              <a:t>▲ Standard</a:t>
            </a:r>
          </a:p>
          <a:p xmlns:a="http://schemas.openxmlformats.org/drawingml/2006/main">
            <a:r>
              <a:t>Select two records per topic, write a cautious claim for each topic and add a specific evidence limit. Explain one fair-comparison link between nutrition labels and a rock test without mixing their conclusions.</a:t>
            </a:r>
          </a:p>
          <a:p xmlns:a="http://schemas.openxmlformats.org/drawingml/2006/main">
            <a:r>
              <a:t>Stretch</a:t>
            </a:r>
          </a:p>
          <a:p xmlns:a="http://schemas.openxmlformats.org/drawingml/2006/main">
            <a:r>
              <a:t>Evaluate the strength of one record from each topic by considering method, comparison basis and uncertainty. Defend one cross-topic connection and reject one tempting connection that the evidence does not support.</a:t>
            </a:r>
          </a:p>
          <a:p xmlns:a="http://schemas.openxmlformats.org/drawingml/2006/main">
            <a:r>
              <a:t>Build a three-part review map from the supplied class records. For skeletons, nutrition and rocks, select at least two genuine records already available in the pack or lesson folder. For each record, write or select: the observation; the science question; a cautious claim; and a limit. Add one connection arrow only when the link is scientifically meaningful—for example, both a label comparison and a rock test require a fair basis. Finish with a short evidence audit: identify one strong record, one record that needs its method named, and one question that remains open. Add a reader route through the finished map: begin at a labelled record, follow the evidence arrow to its cautious claim, and finish at the boundary statement. Check that a reader cannot accidentally carry a skeleton conclusion into nutrition or a rock result into body evidence. Where two topics use the same reasoning move, label the move rather than merging their scientific conclusions. Existing work may be pointed to, sorted, spoken, signed, typed or exactly scribed. Do not recreate a practical simply to make a photograph, and do not invent a result that is missing.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We Do 2 · lab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Sort nine supplied record cards into the three topic headings. Choose one sentence frame per topic: ‘The record shows __. It can support __. It cannot show __.’ An adult may read each card exactly and place it only as directed.</a:t>
            </a:r>
          </a:p>
          <a:p xmlns:a="http://schemas.openxmlformats.org/drawingml/2006/main">
            <a:r>
              <a:t>▲ Standard</a:t>
            </a:r>
          </a:p>
          <a:p xmlns:a="http://schemas.openxmlformats.org/drawingml/2006/main">
            <a:r>
              <a:t>Select two records per topic, write a cautious claim for each topic and add a specific evidence limit. Explain one fair-comparison link between nutrition labels and a rock test without mixing their conclusions.</a:t>
            </a:r>
          </a:p>
          <a:p xmlns:a="http://schemas.openxmlformats.org/drawingml/2006/main">
            <a:r>
              <a:t>Stretch</a:t>
            </a:r>
          </a:p>
          <a:p xmlns:a="http://schemas.openxmlformats.org/drawingml/2006/main">
            <a:r>
              <a:t>Evaluate the strength of one record from each topic by considering method, comparison basis and uncertainty. Defend one cross-topic connection and reject one tempting connection that the evidence does not support.</a:t>
            </a:r>
          </a:p>
          <a:p xmlns:a="http://schemas.openxmlformats.org/drawingml/2006/main">
            <a:r>
              <a:t>Build a three-part review map from the supplied class records. For skeletons, nutrition and rocks, select at least two genuine records already available in the pack or lesson folder. For each record, write or select: the observation; the science question; a cautious claim; and a limit. Add one connection arrow only when the link is scientifically meaningful—for example, both a label comparison and a rock test require a fair basis. Finish with a short evidence audit: identify one strong record, one record that needs its method named, and one question that remains open. Add a reader route through the finished map: begin at a labelled record, follow the evidence arrow to its cautious claim, and finish at the boundary statement. Check that a reader cannot accidentally carry a skeleton conclusion into nutrition or a rock result into body evidence. Where two topics use the same reasoning move, label the move rather than merging their scientific conclusions. Existing work may be pointed to, sorted, spoken, signed, typed or exactly scribed. Do not recreate a practical simply to make a photograph, and do not invent a result that is missing.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Independent · evidence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three-part review map from the supplied class records. For skeletons, nutrition and rocks, select at least two genuine records already available in the pack or lesson folder. For each record, write or select: the observation; the science question; a cautious claim; and a limit. Add one connection arrow only when the link is scientifically meaningful—for example, both a label comparison and a rock test require a fair basis. Finish with a short evidence audit: identify one strong record, one record that needs its method named, and one question that remains open. Add a reader route through the finished map: begin at a labelled record, follow the evidence arrow to its cautious claim, and finish at the boundary statement. Check that a reader cannot accidentally carry a skeleton conclusion into nutrition or a rock result into body evidence. Where two topics use the same reasoning move, label the move rather than merging their scientific conclusions. Existing work may be pointed to, sorted, spoken, signed, typed or exactly scribed. Do not recreate a practical simply to make a photograph, and do not invent a result that is missing.</a:t>
            </a:r>
          </a:p>
          <a:p xmlns:a="http://schemas.openxmlformats.org/drawingml/2006/main">
            <a:r>
              <a:t>◆ Supported</a:t>
            </a:r>
          </a:p>
          <a:p xmlns:a="http://schemas.openxmlformats.org/drawingml/2006/main">
            <a:r>
              <a:t>Sort nine supplied record cards into the three topic headings. Choose one sentence frame per topic: ‘The record shows __. It can support __. It cannot show __.’ An adult may read each card exactly and place it only as directed.</a:t>
            </a:r>
          </a:p>
          <a:p xmlns:a="http://schemas.openxmlformats.org/drawingml/2006/main">
            <a:r>
              <a:t>▲ Standard</a:t>
            </a:r>
          </a:p>
          <a:p xmlns:a="http://schemas.openxmlformats.org/drawingml/2006/main">
            <a:r>
              <a:t>Select two records per topic, write a cautious claim for each topic and add a specific evidence limit. Explain one fair-comparison link between nutrition labels and a rock test without mixing their conclusions.</a:t>
            </a:r>
          </a:p>
          <a:p xmlns:a="http://schemas.openxmlformats.org/drawingml/2006/main">
            <a:r>
              <a:t>Stretch</a:t>
            </a:r>
          </a:p>
          <a:p xmlns:a="http://schemas.openxmlformats.org/drawingml/2006/main">
            <a:r>
              <a:t>Evaluate the strength of one record from each topic by considering method, comparison basis and uncertainty. Defend one cross-topic connection and reject one tempting connection that the evidence does not support.</a:t>
            </a:r>
          </a:p>
          <a:p xmlns:a="http://schemas.openxmlformats.org/drawingml/2006/main">
            <a:r>
              <a:t>Trace</a:t>
            </a:r>
          </a:p>
          <a:p xmlns:a="http://schemas.openxmlformats.org/drawingml/2006/main">
            <a:r>
              <a:t>Keep the source, material or action locator visible.</a:t>
            </a:r>
          </a:p>
          <a:p xmlns:a="http://schemas.openxmlformats.org/drawingml/2006/main">
            <a:r>
              <a:t>Demand</a:t>
            </a:r>
          </a:p>
          <a:p xmlns:a="http://schemas.openxmlformats.org/drawingml/2006/main">
            <a:r>
              <a:t>Supported, Standard and Stretch change the task demand rather than merely softening a verb.</a:t>
            </a:r>
          </a:p>
          <a:p xmlns:a="http://schemas.openxmlformats.org/drawingml/2006/main">
            <a:r>
              <a:t>Truth</a:t>
            </a:r>
          </a:p>
          <a:p xmlns:a="http://schemas.openxmlformats.org/drawingml/2006/main">
            <a:r>
              <a:t>Use PRESENT, MISSING or AWAITING AUTHORISED CHECK; never stage a record.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Independent · evidence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three-part review map from the supplied class records. For skeletons, nutrition and rocks, select at least two genuine records already available in the pack or lesson folder. For each record, write or select: the observation; the science question; a cautious claim; and a limit. Add one connection arrow only when the link is scientifically meaningful—for example, both a label comparison and a rock test require a fair basis. Finish with a short evidence audit: identify one strong record, one record that needs its method named, and one question that remains open. Add a reader route through the finished map: begin at a labelled record, follow the evidence arrow to its cautious claim, and finish at the boundary statement. Check that a reader cannot accidentally carry a skeleton conclusion into nutrition or a rock result into body evidence. Where two topics use the same reasoning move, label the move rather than merging their scientific conclusions. Existing work may be pointed to, sorted, spoken, signed, typed or exactly scribed. Do not recreate a practical simply to make a photograph, and do not invent a result that is missing.</a:t>
            </a:r>
          </a:p>
          <a:p xmlns:a="http://schemas.openxmlformats.org/drawingml/2006/main">
            <a:r>
              <a:t>◆ Supported</a:t>
            </a:r>
          </a:p>
          <a:p xmlns:a="http://schemas.openxmlformats.org/drawingml/2006/main">
            <a:r>
              <a:t>Sort nine supplied record cards into the three topic headings. Choose one sentence frame per topic: ‘The record shows __. It can support __. It cannot show __.’ An adult may read each card exactly and place it only as directed.</a:t>
            </a:r>
          </a:p>
          <a:p xmlns:a="http://schemas.openxmlformats.org/drawingml/2006/main">
            <a:r>
              <a:t>▲ Standard</a:t>
            </a:r>
          </a:p>
          <a:p xmlns:a="http://schemas.openxmlformats.org/drawingml/2006/main">
            <a:r>
              <a:t>Select two records per topic, write a cautious claim for each topic and add a specific evidence limit. Explain one fair-comparison link between nutrition labels and a rock test without mixing their conclusions.</a:t>
            </a:r>
          </a:p>
          <a:p xmlns:a="http://schemas.openxmlformats.org/drawingml/2006/main">
            <a:r>
              <a:t>Stretch</a:t>
            </a:r>
          </a:p>
          <a:p xmlns:a="http://schemas.openxmlformats.org/drawingml/2006/main">
            <a:r>
              <a:t>Evaluate the strength of one record from each topic by considering method, comparison basis and uncertainty. Defend one cross-topic connection and reject one tempting connection that the evidence does not support.</a:t>
            </a:r>
          </a:p>
          <a:p xmlns:a="http://schemas.openxmlformats.org/drawingml/2006/main">
            <a:r>
              <a:t>Trace</a:t>
            </a:r>
          </a:p>
          <a:p xmlns:a="http://schemas.openxmlformats.org/drawingml/2006/main">
            <a:r>
              <a:t>Keep the source, material or action locator visible.</a:t>
            </a:r>
          </a:p>
          <a:p xmlns:a="http://schemas.openxmlformats.org/drawingml/2006/main">
            <a:r>
              <a:t>Demand</a:t>
            </a:r>
          </a:p>
          <a:p xmlns:a="http://schemas.openxmlformats.org/drawingml/2006/main">
            <a:r>
              <a:t>Supported, Standard and Stretch change the task demand rather than merely softening a verb.</a:t>
            </a:r>
          </a:p>
          <a:p xmlns:a="http://schemas.openxmlformats.org/drawingml/2006/main">
            <a:r>
              <a:t>Truth</a:t>
            </a:r>
          </a:p>
          <a:p xmlns:a="http://schemas.openxmlformats.org/drawingml/2006/main">
            <a:r>
              <a:t>Use PRESENT, MISSING or AWAITING AUTHORISED CHECK; never stage a record.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Independent · evidence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a three-part review map from the supplied class records. For skeletons, nutrition and rocks, select at least two genuine records already available in the pack or lesson folder. For each record, write or select: the observation; the science question; a cautious claim; and a limit. Add one connection arrow only when the link is scientifically meaningful—for example, both a label comparison and a rock test require a fair basis. Finish with a short evidence audit: identify one strong record, one record that needs its method named, and one question that remains open. Add a reader route through the finished map: begin at a labelled record, follow the evidence arrow to its cautious claim, and finish at the boundary statement. Check that a reader cannot accidentally carry a skeleton conclusion into nutrition or a rock result into body evidence. Where two topics use the same reasoning move, label the move rather than merging their scientific conclusions. Existing work may be pointed to, sorted, spoken, signed, typed or exactly scribed. Do not recreate a practical simply to make a photograph, and do not invent a result that is missing.</a:t>
            </a:r>
          </a:p>
          <a:p xmlns:a="http://schemas.openxmlformats.org/drawingml/2006/main">
            <a:r>
              <a:t>◆ Supported</a:t>
            </a:r>
          </a:p>
          <a:p xmlns:a="http://schemas.openxmlformats.org/drawingml/2006/main">
            <a:r>
              <a:t>Sort nine supplied record cards into the three topic headings. Choose one sentence frame per topic: ‘The record shows __. It can support __. It cannot show __.’ An adult may read each card exactly and place it only as directed.</a:t>
            </a:r>
          </a:p>
          <a:p xmlns:a="http://schemas.openxmlformats.org/drawingml/2006/main">
            <a:r>
              <a:t>▲ Standard</a:t>
            </a:r>
          </a:p>
          <a:p xmlns:a="http://schemas.openxmlformats.org/drawingml/2006/main">
            <a:r>
              <a:t>Select two records per topic, write a cautious claim for each topic and add a specific evidence limit. Explain one fair-comparison link between nutrition labels and a rock test without mixing their conclusions.</a:t>
            </a:r>
          </a:p>
          <a:p xmlns:a="http://schemas.openxmlformats.org/drawingml/2006/main">
            <a:r>
              <a:t>Stretch</a:t>
            </a:r>
          </a:p>
          <a:p xmlns:a="http://schemas.openxmlformats.org/drawingml/2006/main">
            <a:r>
              <a:t>Evaluate the strength of one record from each topic by considering method, comparison basis and uncertainty. Defend one cross-topic connection and reject one tempting connection that the evidence does not support.</a:t>
            </a:r>
          </a:p>
          <a:p xmlns:a="http://schemas.openxmlformats.org/drawingml/2006/main">
            <a:r>
              <a:t>Trace</a:t>
            </a:r>
          </a:p>
          <a:p xmlns:a="http://schemas.openxmlformats.org/drawingml/2006/main">
            <a:r>
              <a:t>Keep the source, material or action locator visible.</a:t>
            </a:r>
          </a:p>
          <a:p xmlns:a="http://schemas.openxmlformats.org/drawingml/2006/main">
            <a:r>
              <a:t>Demand</a:t>
            </a:r>
          </a:p>
          <a:p xmlns:a="http://schemas.openxmlformats.org/drawingml/2006/main">
            <a:r>
              <a:t>Supported, Standard and Stretch change the task demand rather than merely softening a verb.</a:t>
            </a:r>
          </a:p>
          <a:p xmlns:a="http://schemas.openxmlformats.org/drawingml/2006/main">
            <a:r>
              <a:t>Truth</a:t>
            </a:r>
          </a:p>
          <a:p xmlns:a="http://schemas.openxmlformats.org/drawingml/2006/main">
            <a:r>
              <a:t>Use PRESENT, MISSING or AWAITING AUTHORISED CHECK; never stage a record.</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SCI_B_W14A_Autumn_Science_Review_Explore.html. Exit: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At the Exit · Audience and Influence stage, keep the current science question visible and use the lightest access route that still lets the learner decide. Pointing, selecting, signing, speaking, typing and exact-word scribing are equivalent response routes for Autumn Science Review Map. A familiar adult may read the displayed wording exactly, but the adult does not supply a pupil decision or turn a partial observation into a stronger claim. If regulation or access is the barrier, pause, reduce visual density, offer the printed route or let the learner direct an adult. Nothing is scored, uploaded or saved by this page, and a retry is information rather than a penalty.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Choose one topic. State the record, the claim it supports and one limit. The receiving adult repeats the science back without upgrading it. Confirm, correct or point to the part that needs changing. Then choose the next honest action: retain the claim, add the missing method detail, or mark the question as still open.</a:t>
            </a:r>
          </a:p>
          <a:p xmlns:a="http://schemas.openxmlformats.org/drawingml/2006/main">
            <a:r>
              <a:t>Final check: no result, quote, date, event or pupil wording has been created to make the map look complete. The HTML stores no learner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SCI_B_W14A_Autumn_Science_Review_Explore.html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62c2d221ec45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74f0247fa44cee" /><Relationship Type="http://schemas.openxmlformats.org/officeDocument/2006/relationships/slideLayout" Target="/ppt/slideLayouts/slideLayout1.xml" Id="Rfdb2ac0d74c744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b2ac0d74c744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82abe0d7c54e6c" /><Relationship Type="http://schemas.openxmlformats.org/officeDocument/2006/relationships/hyperlink" Target="SCI_B_W14A_Autumn_Science_Review_Explore.html" TargetMode="External" Id="Re558e62f434e4dc0" /><Relationship Type="http://schemas.openxmlformats.org/officeDocument/2006/relationships/notesSlide" Target="/ppt/notesSlides/notesSlide1.xml" Id="R4ddbe76544004d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174068de7b498b" /><Relationship Type="http://schemas.openxmlformats.org/officeDocument/2006/relationships/notesSlide" Target="/ppt/notesSlides/notesSlide2.xml" Id="Re3b4d98e5eee48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5117b080854177" /><Relationship Type="http://schemas.openxmlformats.org/officeDocument/2006/relationships/notesSlide" Target="/ppt/notesSlides/notesSlide3.xml" Id="Rfdbae9be851149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e6ee82e9d846bb" /><Relationship Type="http://schemas.openxmlformats.org/officeDocument/2006/relationships/notesSlide" Target="/ppt/notesSlides/notesSlide4.xml" Id="R4047a6fe4d3648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1756004a8249d8" /><Relationship Type="http://schemas.openxmlformats.org/officeDocument/2006/relationships/notesSlide" Target="/ppt/notesSlides/notesSlide5.xml" Id="Rb12f37a8787e4d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364a44014b4d95" /><Relationship Type="http://schemas.openxmlformats.org/officeDocument/2006/relationships/image" Target="/ppt/media/image.png" Id="R40e193590c314a35" /><Relationship Type="http://schemas.openxmlformats.org/officeDocument/2006/relationships/notesSlide" Target="/ppt/notesSlides/notesSlide6.xml" Id="R514cb50a5d3140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953caab7e34e91" /><Relationship Type="http://schemas.openxmlformats.org/officeDocument/2006/relationships/notesSlide" Target="/ppt/notesSlides/notesSlide7.xml" Id="Rfc4ba5987bff4b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e6688a78144a3d" /><Relationship Type="http://schemas.openxmlformats.org/officeDocument/2006/relationships/notesSlide" Target="/ppt/notesSlides/notesSlide8.xml" Id="Rdf0b0b6dcb774b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86b4577cac4057" /><Relationship Type="http://schemas.openxmlformats.org/officeDocument/2006/relationships/notesSlide" Target="/ppt/notesSlides/notesSlide9.xml" Id="Rb6bee3a6cce942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672b8f9c9147a2" /><Relationship Type="http://schemas.openxmlformats.org/officeDocument/2006/relationships/notesSlide" Target="/ppt/notesSlides/notesSlide10.xml" Id="R1c764e0b38f647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b1e91ff6f9419d" /><Relationship Type="http://schemas.openxmlformats.org/officeDocument/2006/relationships/notesSlide" Target="/ppt/notesSlides/notesSlide11.xml" Id="Re84203b03e0f48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d1b8bf4b20458d" /><Relationship Type="http://schemas.openxmlformats.org/officeDocument/2006/relationships/notesSlide" Target="/ppt/notesSlides/notesSlide12.xml" Id="R87725d7a9ab747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d6172d0afcf4e20" /><Relationship Type="http://schemas.openxmlformats.org/officeDocument/2006/relationships/notesSlide" Target="/ppt/notesSlides/notesSlide13.xml" Id="Rffc2b4a695cf4f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4e95d022c74092" /><Relationship Type="http://schemas.openxmlformats.org/officeDocument/2006/relationships/notesSlide" Target="/ppt/notesSlides/notesSlide14.xml" Id="R90587316998641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8a18476deb94d3f" /><Relationship Type="http://schemas.openxmlformats.org/officeDocument/2006/relationships/notesSlide" Target="/ppt/notesSlides/notesSlide15.xml" Id="R60d711ca1b8a44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fa79a120d64633" /><Relationship Type="http://schemas.openxmlformats.org/officeDocument/2006/relationships/notesSlide" Target="/ppt/notesSlides/notesSlide16.xml" Id="R7e5f889e52bf46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71cdbb708b4f50" /><Relationship Type="http://schemas.openxmlformats.org/officeDocument/2006/relationships/notesSlide" Target="/ppt/notesSlides/notesSlide17.xml" Id="R23fdfbcfc1754c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b9ac42504e44677" /><Relationship Type="http://schemas.openxmlformats.org/officeDocument/2006/relationships/notesSlide" Target="/ppt/notesSlides/notesSlide18.xml" Id="Ra50a7f1b64f845d0"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C83CF362-F4F9-4ED7-9FAD-A910D79B3D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4255E33-3B39-47D0-89B3-D445250539F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46C626F-40C1-4AF4-8F8E-26F8F98205B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C45E66B4-23A9-4CC9-96A4-BF2CC775083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Autumn Science Review Map</a:t>
            </a:r>
          </a:p>
        </p:txBody>
      </p:sp>
      <p:sp>
        <p:nvSpPr>
          <p:cNvPr id="5" name="paper panel">
            <a:extLst xmlns:a="http://schemas.openxmlformats.org/drawingml/2006/main">
              <a:ext uri="{FF2B5EF4-FFF2-40B4-BE49-F238E27FC236}">
                <a16:creationId xmlns:a16="http://schemas.microsoft.com/office/drawing/2014/main" id="{807143A4-D629-402B-840A-1C1D06638D7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56E5798E-2A9A-4BFC-965A-90BA3DE652F4}"/>
              </a:ext>
            </a:extLst>
          </p:cNvPr>
          <p:cNvSpPr>
            <a:spLocks xmlns:a="http://schemas.openxmlformats.org/drawingml/2006/main" noGrp="1"/>
          </p:cNvSpPr>
          <p:nvPr/>
        </p:nvSpPr>
        <p:spPr>
          <a:xfrm xmlns:a="http://schemas.openxmlformats.org/drawingml/2006/main">
            <a:off x="762000" y="2181225"/>
            <a:ext cx="103822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Organise previously learned observations about skeletons, nutrition and rocks into an evidence map, then identify what each observation can and cannot support.</a:t>
            </a:r>
          </a:p>
        </p:txBody>
      </p:sp>
      <p:sp>
        <p:nvSpPr>
          <p:cNvPr id="7" name="HTML link">
            <a:extLst xmlns:a="http://schemas.openxmlformats.org/drawingml/2006/main">
              <a:ext uri="{FF2B5EF4-FFF2-40B4-BE49-F238E27FC236}">
                <a16:creationId xmlns:a16="http://schemas.microsoft.com/office/drawing/2014/main" id="{E2C6084F-6C38-448A-BAE1-0CCD4DF809F8}"/>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E7A9B"/>
                </a:solidFill>
                <a:latin typeface="Arial"/>
                <a:ea typeface="Arial"/>
                <a:cs typeface="Arial"/>
              </a:defRPr>
            </a:pPr>
            <a:r>
              <a:rPr sz="1575" b="1">
                <a:solidFill>
                  <a:srgbClr val="4E7A9B"/>
                </a:solidFill>
                <a:latin typeface="Arial"/>
                <a:ea typeface="Arial"/>
                <a:cs typeface="Arial"/>
                <a:hlinkClick xmlns:r="http://schemas.openxmlformats.org/officeDocument/2006/relationships" r:id="Re558e62f434e4dc0"/>
              </a:rPr>
              <a:t>Open the original interactive lesson</a:t>
            </a:r>
          </a:p>
        </p:txBody>
      </p:sp>
      <p:sp>
        <p:nvSpPr>
          <p:cNvPr id="8" name="time">
            <a:extLst xmlns:a="http://schemas.openxmlformats.org/drawingml/2006/main">
              <a:ext uri="{FF2B5EF4-FFF2-40B4-BE49-F238E27FC236}">
                <a16:creationId xmlns:a16="http://schemas.microsoft.com/office/drawing/2014/main" id="{50D7C800-A420-4795-8676-A50DF2017DE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D2E186D3-AA43-44B0-A03E-5CFD262E36C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18</a:t>
            </a:r>
          </a:p>
        </p:txBody>
      </p:sp>
    </p:spTree>
    <p:extLst>
      <p:ext uri="{BB962C8B-B14F-4D97-AF65-F5344CB8AC3E}">
        <p14:creationId xmlns:p14="http://schemas.microsoft.com/office/powerpoint/2010/main" val="1570281062"/>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BAD85D9E-BE04-4932-BA97-A810D44CE2A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F863391-2094-42C8-86BF-A6579346765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2DC356F7-F55B-4FB4-AEDE-A920089ACCB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5CB4CF69-848C-48B6-8D36-48522BA46E1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C905E984-45D8-47CE-B6D1-9A019D57BC9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DC79367-159C-4B75-A018-82AFAF2A0E6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Skeleton work used named parts and models to connect structure with support, protection or movement.</a:t>
            </a:r>
          </a:p>
        </p:txBody>
      </p:sp>
      <p:sp>
        <p:nvSpPr>
          <p:cNvPr id="7" name="content 1">
            <a:extLst xmlns:a="http://schemas.openxmlformats.org/drawingml/2006/main">
              <a:ext uri="{FF2B5EF4-FFF2-40B4-BE49-F238E27FC236}">
                <a16:creationId xmlns:a16="http://schemas.microsoft.com/office/drawing/2014/main" id="{66198483-6305-4863-A069-5BB4DA0C7CD9}"/>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Nutrition work compared labelled information on the same basis before drawing a conclusion.</a:t>
            </a:r>
          </a:p>
        </p:txBody>
      </p:sp>
      <p:sp>
        <p:nvSpPr>
          <p:cNvPr id="8" name="content 2">
            <a:extLst xmlns:a="http://schemas.openxmlformats.org/drawingml/2006/main">
              <a:ext uri="{FF2B5EF4-FFF2-40B4-BE49-F238E27FC236}">
                <a16:creationId xmlns:a16="http://schemas.microsoft.com/office/drawing/2014/main" id="{3EAAFF59-3F65-45B4-82CD-783F1C5D792E}"/>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Rock work described visible properties and used controlled tests for properties that cannot be judged safely by appearance alone.</a:t>
            </a:r>
          </a:p>
        </p:txBody>
      </p:sp>
      <p:sp>
        <p:nvSpPr>
          <p:cNvPr id="9" name="content 3">
            <a:extLst xmlns:a="http://schemas.openxmlformats.org/drawingml/2006/main">
              <a:ext uri="{FF2B5EF4-FFF2-40B4-BE49-F238E27FC236}">
                <a16:creationId xmlns:a16="http://schemas.microsoft.com/office/drawing/2014/main" id="{DF759C73-A271-4FC0-94CA-D799CDED9A89}"/>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record becomes useful evidence only when its source, question and limit remain clear.</a:t>
            </a:r>
          </a:p>
        </p:txBody>
      </p:sp>
      <p:sp>
        <p:nvSpPr>
          <p:cNvPr id="10" name="time">
            <a:extLst xmlns:a="http://schemas.openxmlformats.org/drawingml/2006/main">
              <a:ext uri="{FF2B5EF4-FFF2-40B4-BE49-F238E27FC236}">
                <a16:creationId xmlns:a16="http://schemas.microsoft.com/office/drawing/2014/main" id="{190848DF-738B-49F3-8824-8198F01D92F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4FDC72CE-71E0-462B-93D0-3F96F552689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18</a:t>
            </a:r>
          </a:p>
        </p:txBody>
      </p:sp>
    </p:spTree>
    <p:extLst>
      <p:ext uri="{BB962C8B-B14F-4D97-AF65-F5344CB8AC3E}">
        <p14:creationId xmlns:p14="http://schemas.microsoft.com/office/powerpoint/2010/main" val="1687703146"/>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09A6D80B-5CE3-48A4-9AB0-4973678074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E521798-AAD5-484B-B612-FA308726DFE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B0813223-55B2-461A-A292-D63B04F2CD9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344FF991-FBD9-48F5-9808-6A9F3112A06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B7175EE4-51C4-474B-88FC-B6D4D47016B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ED7A779-C68B-45B0-9D7C-D16C8713F1FC}"/>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Arrival decision: Choose one available record and identify what it shows. If it is unavailable, mark it MISSING rather than recreating it.</a:t>
            </a:r>
          </a:p>
        </p:txBody>
      </p:sp>
      <p:sp>
        <p:nvSpPr>
          <p:cNvPr id="7" name="time">
            <a:extLst xmlns:a="http://schemas.openxmlformats.org/drawingml/2006/main">
              <a:ext uri="{FF2B5EF4-FFF2-40B4-BE49-F238E27FC236}">
                <a16:creationId xmlns:a16="http://schemas.microsoft.com/office/drawing/2014/main" id="{D2A25BDC-5301-44F4-82EE-2EC9535431F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8" name="number">
            <a:extLst xmlns:a="http://schemas.openxmlformats.org/drawingml/2006/main">
              <a:ext uri="{FF2B5EF4-FFF2-40B4-BE49-F238E27FC236}">
                <a16:creationId xmlns:a16="http://schemas.microsoft.com/office/drawing/2014/main" id="{352763FC-44D5-4692-B78B-BAC350D3D32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18</a:t>
            </a:r>
          </a:p>
        </p:txBody>
      </p:sp>
    </p:spTree>
    <p:extLst>
      <p:ext uri="{BB962C8B-B14F-4D97-AF65-F5344CB8AC3E}">
        <p14:creationId xmlns:p14="http://schemas.microsoft.com/office/powerpoint/2010/main" val="705138"/>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2DB5FF5A-9565-4A0E-8C40-64D62BF9B9E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4138407-6D29-4F46-BD1A-14A312D6741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05776138-1743-4EDE-BDF8-2216C00B9D4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9A938EEB-62EA-44B7-89F6-8AB6F491C29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keep three science topics separate while still showing how evidence supports an explanation?</a:t>
            </a:r>
          </a:p>
        </p:txBody>
      </p:sp>
      <p:sp>
        <p:nvSpPr>
          <p:cNvPr id="5" name="paper panel">
            <a:extLst xmlns:a="http://schemas.openxmlformats.org/drawingml/2006/main">
              <a:ext uri="{FF2B5EF4-FFF2-40B4-BE49-F238E27FC236}">
                <a16:creationId xmlns:a16="http://schemas.microsoft.com/office/drawing/2014/main" id="{35F470D7-88A8-45D7-9508-A5D99AD0649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B480C18-D0CC-4EAD-A993-1F89AED091AA}"/>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three topics, kept separate. Every record you own belongs under one of them.</a:t>
            </a:r>
          </a:p>
        </p:txBody>
      </p:sp>
      <p:sp>
        <p:nvSpPr>
          <p:cNvPr id="7" name="content 1">
            <a:extLst xmlns:a="http://schemas.openxmlformats.org/drawingml/2006/main">
              <a:ext uri="{FF2B5EF4-FFF2-40B4-BE49-F238E27FC236}">
                <a16:creationId xmlns:a16="http://schemas.microsoft.com/office/drawing/2014/main" id="{84B97F6E-34CA-4E14-BB5B-1683EF33A454}"/>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Commit before explanation. Use the supplied record, compare the available options and keep any first prediction open to revision.</a:t>
            </a:r>
          </a:p>
        </p:txBody>
      </p:sp>
      <p:sp>
        <p:nvSpPr>
          <p:cNvPr id="8" name="content 2">
            <a:extLst xmlns:a="http://schemas.openxmlformats.org/drawingml/2006/main">
              <a:ext uri="{FF2B5EF4-FFF2-40B4-BE49-F238E27FC236}">
                <a16:creationId xmlns:a16="http://schemas.microsoft.com/office/drawing/2014/main" id="{9D4BCB5A-4365-48C9-A581-F0272B0BD78A}"/>
              </a:ext>
            </a:extLst>
          </p:cNvPr>
          <p:cNvSpPr>
            <a:spLocks xmlns:a="http://schemas.openxmlformats.org/drawingml/2006/main" noGrp="1"/>
          </p:cNvSpPr>
          <p:nvPr/>
        </p:nvSpPr>
        <p:spPr>
          <a:xfrm xmlns:a="http://schemas.openxmlformats.org/drawingml/2006/main">
            <a:off x="800100" y="37528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Checking questions:</a:t>
            </a:r>
          </a:p>
        </p:txBody>
      </p:sp>
      <p:sp>
        <p:nvSpPr>
          <p:cNvPr id="9" name="content 3">
            <a:extLst xmlns:a="http://schemas.openxmlformats.org/drawingml/2006/main">
              <a:ext uri="{FF2B5EF4-FFF2-40B4-BE49-F238E27FC236}">
                <a16:creationId xmlns:a16="http://schemas.microsoft.com/office/drawing/2014/main" id="{C25E9C83-9134-4593-8415-5A3D6515BEA9}"/>
              </a:ext>
            </a:extLst>
          </p:cNvPr>
          <p:cNvSpPr>
            <a:spLocks xmlns:a="http://schemas.openxmlformats.org/drawingml/2006/main" noGrp="1"/>
          </p:cNvSpPr>
          <p:nvPr/>
        </p:nvSpPr>
        <p:spPr>
          <a:xfrm xmlns:a="http://schemas.openxmlformats.org/drawingml/2006/main">
            <a:off x="800100" y="42100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What can be read directly from the record?</a:t>
            </a:r>
          </a:p>
        </p:txBody>
      </p:sp>
      <p:sp>
        <p:nvSpPr>
          <p:cNvPr id="10" name="content 4">
            <a:extLst xmlns:a="http://schemas.openxmlformats.org/drawingml/2006/main">
              <a:ext uri="{FF2B5EF4-FFF2-40B4-BE49-F238E27FC236}">
                <a16:creationId xmlns:a16="http://schemas.microsoft.com/office/drawing/2014/main" id="{860277C8-D8EA-4420-9469-8D3169E8A592}"/>
              </a:ext>
            </a:extLst>
          </p:cNvPr>
          <p:cNvSpPr>
            <a:spLocks xmlns:a="http://schemas.openxmlformats.org/drawingml/2006/main" noGrp="1"/>
          </p:cNvSpPr>
          <p:nvPr/>
        </p:nvSpPr>
        <p:spPr>
          <a:xfrm xmlns:a="http://schemas.openxmlformats.org/drawingml/2006/main">
            <a:off x="800100" y="46672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Which words are interpretation rather than observation?</a:t>
            </a:r>
          </a:p>
        </p:txBody>
      </p:sp>
      <p:sp>
        <p:nvSpPr>
          <p:cNvPr id="11" name="content 5">
            <a:extLst xmlns:a="http://schemas.openxmlformats.org/drawingml/2006/main">
              <a:ext uri="{FF2B5EF4-FFF2-40B4-BE49-F238E27FC236}">
                <a16:creationId xmlns:a16="http://schemas.microsoft.com/office/drawing/2014/main" id="{3DDEB7BE-30A7-4FCC-AF28-C04C25F79D54}"/>
              </a:ext>
            </a:extLst>
          </p:cNvPr>
          <p:cNvSpPr>
            <a:spLocks xmlns:a="http://schemas.openxmlformats.org/drawingml/2006/main" noGrp="1"/>
          </p:cNvSpPr>
          <p:nvPr/>
        </p:nvSpPr>
        <p:spPr>
          <a:xfrm xmlns:a="http://schemas.openxmlformats.org/drawingml/2006/main">
            <a:off x="800100" y="51244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What method or comparison basis must be named?</a:t>
            </a:r>
          </a:p>
        </p:txBody>
      </p:sp>
      <p:sp>
        <p:nvSpPr>
          <p:cNvPr id="12" name="time">
            <a:extLst xmlns:a="http://schemas.openxmlformats.org/drawingml/2006/main">
              <a:ext uri="{FF2B5EF4-FFF2-40B4-BE49-F238E27FC236}">
                <a16:creationId xmlns:a16="http://schemas.microsoft.com/office/drawing/2014/main" id="{85135E5B-60D0-4FDA-A1E4-E8C19B86A95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3" name="number">
            <a:extLst xmlns:a="http://schemas.openxmlformats.org/drawingml/2006/main">
              <a:ext uri="{FF2B5EF4-FFF2-40B4-BE49-F238E27FC236}">
                <a16:creationId xmlns:a16="http://schemas.microsoft.com/office/drawing/2014/main" id="{7DE0FAF9-47A1-404B-8D76-FAF388D68C7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18</a:t>
            </a:r>
          </a:p>
        </p:txBody>
      </p:sp>
    </p:spTree>
    <p:extLst>
      <p:ext uri="{BB962C8B-B14F-4D97-AF65-F5344CB8AC3E}">
        <p14:creationId xmlns:p14="http://schemas.microsoft.com/office/powerpoint/2010/main" val="1965245474"/>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4983BA76-1A99-4775-BD8B-D1A948F9965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A124A29-6B56-4CC5-9772-A053C397D2D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C1A9B663-D089-4267-A742-35A3C439EFC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389DCABD-09AF-44CA-A9B2-258E82A3F9D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keep three science topics separate while still showing how evidence supports an explanation?</a:t>
            </a:r>
          </a:p>
        </p:txBody>
      </p:sp>
      <p:sp>
        <p:nvSpPr>
          <p:cNvPr id="5" name="paper panel">
            <a:extLst xmlns:a="http://schemas.openxmlformats.org/drawingml/2006/main">
              <a:ext uri="{FF2B5EF4-FFF2-40B4-BE49-F238E27FC236}">
                <a16:creationId xmlns:a16="http://schemas.microsoft.com/office/drawing/2014/main" id="{F50DC827-EE59-430B-A8E5-CB19AB87D9C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0E33F8F-8769-4E92-8448-44C4F061F1D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What would be unsafe or dishonest to infer?</a:t>
            </a:r>
          </a:p>
        </p:txBody>
      </p:sp>
      <p:sp>
        <p:nvSpPr>
          <p:cNvPr id="7" name="time">
            <a:extLst xmlns:a="http://schemas.openxmlformats.org/drawingml/2006/main">
              <a:ext uri="{FF2B5EF4-FFF2-40B4-BE49-F238E27FC236}">
                <a16:creationId xmlns:a16="http://schemas.microsoft.com/office/drawing/2014/main" id="{E02A5109-5915-4C13-94C6-D6036E37FE8E}"/>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8" name="number">
            <a:extLst xmlns:a="http://schemas.openxmlformats.org/drawingml/2006/main">
              <a:ext uri="{FF2B5EF4-FFF2-40B4-BE49-F238E27FC236}">
                <a16:creationId xmlns:a16="http://schemas.microsoft.com/office/drawing/2014/main" id="{DEF69BC0-BB8E-4767-A998-9A9BBC58625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18</a:t>
            </a:r>
          </a:p>
        </p:txBody>
      </p:sp>
    </p:spTree>
    <p:extLst>
      <p:ext uri="{BB962C8B-B14F-4D97-AF65-F5344CB8AC3E}">
        <p14:creationId xmlns:p14="http://schemas.microsoft.com/office/powerpoint/2010/main" val="226418416"/>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93F7FA75-F5D5-483C-A7FA-6799C849E2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F47E67F-F393-48EF-8472-8E817AB7680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E410357-F4D5-496C-80DD-9399BA81952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74BCE33E-D370-4B73-B670-8F429FEB0F2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How can a review map keep three science topics separate while still showing how evidence supports an explanation?</a:t>
            </a:r>
          </a:p>
        </p:txBody>
      </p:sp>
      <p:sp>
        <p:nvSpPr>
          <p:cNvPr id="5" name="paper panel">
            <a:extLst xmlns:a="http://schemas.openxmlformats.org/drawingml/2006/main">
              <a:ext uri="{FF2B5EF4-FFF2-40B4-BE49-F238E27FC236}">
                <a16:creationId xmlns:a16="http://schemas.microsoft.com/office/drawing/2014/main" id="{AF3ADF38-C514-402C-9C22-E9EA5BE9B36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0e193590c314a35"/>
          <a:stretch xmlns:a="http://schemas.openxmlformats.org/drawingml/2006/main"/>
        </p:blipFill>
        <p:spPr>
          <a:xfrm xmlns:a="http://schemas.openxmlformats.org/drawingml/2006/main">
            <a:off x="1762125" y="2181225"/>
            <a:ext cx="8667750"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4D548225-7EE9-4516-A672-C087A018325D}"/>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Three autumn topics as a map</a:t>
            </a:r>
          </a:p>
        </p:txBody>
      </p:sp>
      <p:sp>
        <p:nvSpPr>
          <p:cNvPr id="8" name="time">
            <a:extLst xmlns:a="http://schemas.openxmlformats.org/drawingml/2006/main">
              <a:ext uri="{FF2B5EF4-FFF2-40B4-BE49-F238E27FC236}">
                <a16:creationId xmlns:a16="http://schemas.microsoft.com/office/drawing/2014/main" id="{F078A241-5393-4E8A-A9F4-092A89C8C55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2300EE08-2782-49B7-890E-266647D4AC9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18</a:t>
            </a:r>
          </a:p>
        </p:txBody>
      </p:sp>
    </p:spTree>
    <p:extLst>
      <p:ext uri="{BB962C8B-B14F-4D97-AF65-F5344CB8AC3E}">
        <p14:creationId xmlns:p14="http://schemas.microsoft.com/office/powerpoint/2010/main" val="228825835"/>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4535877B-E30C-43CC-9BF2-E846EAFE14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04997C3-7E25-4A1A-B7AC-C9F0528CF67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10371A6-C104-437D-A81B-B405BDAB364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D88C0341-437E-4A5B-BCB3-EB221C666E1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Model the thinking</a:t>
            </a:r>
          </a:p>
        </p:txBody>
      </p:sp>
      <p:sp>
        <p:nvSpPr>
          <p:cNvPr id="5" name="paper panel">
            <a:extLst xmlns:a="http://schemas.openxmlformats.org/drawingml/2006/main">
              <a:ext uri="{FF2B5EF4-FFF2-40B4-BE49-F238E27FC236}">
                <a16:creationId xmlns:a16="http://schemas.microsoft.com/office/drawing/2014/main" id="{3D5E8BDC-74F8-4E70-AE18-E2DF3088029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D8DAD7B-9DFF-4F65-B5CA-166A2A13079C}"/>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Record → topic → what it shows</a:t>
            </a:r>
          </a:p>
        </p:txBody>
      </p:sp>
      <p:sp>
        <p:nvSpPr>
          <p:cNvPr id="7" name="content 1">
            <a:extLst xmlns:a="http://schemas.openxmlformats.org/drawingml/2006/main">
              <a:ext uri="{FF2B5EF4-FFF2-40B4-BE49-F238E27FC236}">
                <a16:creationId xmlns:a16="http://schemas.microsoft.com/office/drawing/2014/main" id="{E386FB6D-5DD2-4967-8A06-78D894A2672E}"/>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record from the autumn evidence folder, then the topic it belongs to.</a:t>
            </a:r>
          </a:p>
        </p:txBody>
      </p:sp>
      <p:sp>
        <p:nvSpPr>
          <p:cNvPr id="8" name="time">
            <a:extLst xmlns:a="http://schemas.openxmlformats.org/drawingml/2006/main">
              <a:ext uri="{FF2B5EF4-FFF2-40B4-BE49-F238E27FC236}">
                <a16:creationId xmlns:a16="http://schemas.microsoft.com/office/drawing/2014/main" id="{2D9E9DBE-8E3A-4074-B12A-7ADE7179255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51879501-3BAB-46B3-88C2-D17D91A5F81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18</a:t>
            </a:r>
          </a:p>
        </p:txBody>
      </p:sp>
    </p:spTree>
    <p:extLst>
      <p:ext uri="{BB962C8B-B14F-4D97-AF65-F5344CB8AC3E}">
        <p14:creationId xmlns:p14="http://schemas.microsoft.com/office/powerpoint/2010/main" val="1490785455"/>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4DECA0BC-8906-4A71-8B5D-40A6F6BBA61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FB76C4C-3124-4EA2-94FB-D6BA9A54F45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7C9257F-84E0-4240-949C-7BB6C0EDF83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9B6C8447-B4BB-4DB5-A08D-F0C25F41F9C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Model the thinking</a:t>
            </a:r>
          </a:p>
        </p:txBody>
      </p:sp>
      <p:sp>
        <p:nvSpPr>
          <p:cNvPr id="5" name="paper panel">
            <a:extLst xmlns:a="http://schemas.openxmlformats.org/drawingml/2006/main">
              <a:ext uri="{FF2B5EF4-FFF2-40B4-BE49-F238E27FC236}">
                <a16:creationId xmlns:a16="http://schemas.microsoft.com/office/drawing/2014/main" id="{1308273D-8C21-41A0-9C9F-509E1985824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A345514-F5C3-464C-916D-42C60C43F4B0}"/>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a sorted mat of vertebrates and invertebrates</a:t>
            </a:r>
          </a:p>
        </p:txBody>
      </p:sp>
      <p:sp>
        <p:nvSpPr>
          <p:cNvPr id="7" name="content 1">
            <a:extLst xmlns:a="http://schemas.openxmlformats.org/drawingml/2006/main">
              <a:ext uri="{FF2B5EF4-FFF2-40B4-BE49-F238E27FC236}">
                <a16:creationId xmlns:a16="http://schemas.microsoft.com/office/drawing/2014/main" id="{0A25D17B-CC7D-4C0F-80A5-55A131CDC546}"/>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a table of after-wipe scratch results</a:t>
            </a:r>
          </a:p>
        </p:txBody>
      </p:sp>
      <p:sp>
        <p:nvSpPr>
          <p:cNvPr id="8" name="content 2">
            <a:extLst xmlns:a="http://schemas.openxmlformats.org/drawingml/2006/main">
              <a:ext uri="{FF2B5EF4-FFF2-40B4-BE49-F238E27FC236}">
                <a16:creationId xmlns:a16="http://schemas.microsoft.com/office/drawing/2014/main" id="{84C7AD1F-2ED0-4BE5-9A66-C9AE2528C058}"/>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a plan with CHANGE / MEASURE / SAME boards</a:t>
            </a:r>
          </a:p>
        </p:txBody>
      </p:sp>
      <p:sp>
        <p:nvSpPr>
          <p:cNvPr id="9" name="content 3">
            <a:extLst xmlns:a="http://schemas.openxmlformats.org/drawingml/2006/main">
              <a:ext uri="{FF2B5EF4-FFF2-40B4-BE49-F238E27FC236}">
                <a16:creationId xmlns:a16="http://schemas.microsoft.com/office/drawing/2014/main" id="{0194B740-27C6-496C-8D80-35B705B9D114}"/>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a labelled arm model showing biceps and triceps</a:t>
            </a:r>
          </a:p>
        </p:txBody>
      </p:sp>
      <p:sp>
        <p:nvSpPr>
          <p:cNvPr id="10" name="content 4">
            <a:extLst xmlns:a="http://schemas.openxmlformats.org/drawingml/2006/main">
              <a:ext uri="{FF2B5EF4-FFF2-40B4-BE49-F238E27FC236}">
                <a16:creationId xmlns:a16="http://schemas.microsoft.com/office/drawing/2014/main" id="{F98532A8-4118-4193-B3BC-6A5571E7C549}"/>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a sketch of the sealed water bench with mL collected</a:t>
            </a:r>
          </a:p>
        </p:txBody>
      </p:sp>
      <p:sp>
        <p:nvSpPr>
          <p:cNvPr id="11" name="content 5">
            <a:extLst xmlns:a="http://schemas.openxmlformats.org/drawingml/2006/main">
              <a:ext uri="{FF2B5EF4-FFF2-40B4-BE49-F238E27FC236}">
                <a16:creationId xmlns:a16="http://schemas.microsoft.com/office/drawing/2014/main" id="{28AFC86E-3D6C-46A4-B13E-FFFC60FFE715}"/>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four sugar labels ordered per 100 g</a:t>
            </a:r>
          </a:p>
        </p:txBody>
      </p:sp>
      <p:sp>
        <p:nvSpPr>
          <p:cNvPr id="12" name="content 6">
            <a:extLst xmlns:a="http://schemas.openxmlformats.org/drawingml/2006/main">
              <a:ext uri="{FF2B5EF4-FFF2-40B4-BE49-F238E27FC236}">
                <a16:creationId xmlns:a16="http://schemas.microsoft.com/office/drawing/2014/main" id="{2509A263-5168-44BC-8F36-E48EE629571A}"/>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body science</a:t>
            </a:r>
          </a:p>
        </p:txBody>
      </p:sp>
      <p:sp>
        <p:nvSpPr>
          <p:cNvPr id="13" name="content 7">
            <a:extLst xmlns:a="http://schemas.openxmlformats.org/drawingml/2006/main">
              <a:ext uri="{FF2B5EF4-FFF2-40B4-BE49-F238E27FC236}">
                <a16:creationId xmlns:a16="http://schemas.microsoft.com/office/drawing/2014/main" id="{E072A253-83D2-46B9-BD0F-3D13B0D8A78C}"/>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H. rocks</a:t>
            </a:r>
          </a:p>
        </p:txBody>
      </p:sp>
      <p:sp>
        <p:nvSpPr>
          <p:cNvPr id="14" name="time">
            <a:extLst xmlns:a="http://schemas.openxmlformats.org/drawingml/2006/main">
              <a:ext uri="{FF2B5EF4-FFF2-40B4-BE49-F238E27FC236}">
                <a16:creationId xmlns:a16="http://schemas.microsoft.com/office/drawing/2014/main" id="{145B7A55-8F9D-4CF1-BD8C-3FB6475D4F15}"/>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A767DB4D-27C4-43BB-9B02-337AC8DC240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18</a:t>
            </a:r>
          </a:p>
        </p:txBody>
      </p:sp>
    </p:spTree>
    <p:extLst>
      <p:ext uri="{BB962C8B-B14F-4D97-AF65-F5344CB8AC3E}">
        <p14:creationId xmlns:p14="http://schemas.microsoft.com/office/powerpoint/2010/main" val="900654785"/>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38A723D6-2FD7-4BC5-8A7C-B72AA8ED03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BE72F06-1397-4C29-AC55-6127ACC9895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5B6D9393-4DD1-448A-8DD5-2C40109D95D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30D6B332-11DF-4F5A-9762-D9101D976D8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Model the thinking</a:t>
            </a:r>
          </a:p>
        </p:txBody>
      </p:sp>
      <p:sp>
        <p:nvSpPr>
          <p:cNvPr id="5" name="paper panel">
            <a:extLst xmlns:a="http://schemas.openxmlformats.org/drawingml/2006/main">
              <a:ext uri="{FF2B5EF4-FFF2-40B4-BE49-F238E27FC236}">
                <a16:creationId xmlns:a16="http://schemas.microsoft.com/office/drawing/2014/main" id="{CEA60C72-3069-424D-8DC6-7E70C843647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DEAD041-51F7-468C-9FDC-88E05D04922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 fair tests</a:t>
            </a:r>
          </a:p>
        </p:txBody>
      </p:sp>
      <p:sp>
        <p:nvSpPr>
          <p:cNvPr id="7" name="content 1">
            <a:extLst xmlns:a="http://schemas.openxmlformats.org/drawingml/2006/main">
              <a:ext uri="{FF2B5EF4-FFF2-40B4-BE49-F238E27FC236}">
                <a16:creationId xmlns:a16="http://schemas.microsoft.com/office/drawing/2014/main" id="{4078CAEE-4B74-4696-AFEF-1265A6C77846}"/>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OBSERVATION what was seen, measured or recorded</a:t>
            </a:r>
          </a:p>
        </p:txBody>
      </p:sp>
      <p:sp>
        <p:nvSpPr>
          <p:cNvPr id="8" name="content 2">
            <a:extLst xmlns:a="http://schemas.openxmlformats.org/drawingml/2006/main">
              <a:ext uri="{FF2B5EF4-FFF2-40B4-BE49-F238E27FC236}">
                <a16:creationId xmlns:a16="http://schemas.microsoft.com/office/drawing/2014/main" id="{2B50F197-40CA-4072-983A-489AE3BE1BF2}"/>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EVIDENCE an observation used for a stated question</a:t>
            </a:r>
          </a:p>
        </p:txBody>
      </p:sp>
      <p:sp>
        <p:nvSpPr>
          <p:cNvPr id="9" name="content 3">
            <a:extLst xmlns:a="http://schemas.openxmlformats.org/drawingml/2006/main">
              <a:ext uri="{FF2B5EF4-FFF2-40B4-BE49-F238E27FC236}">
                <a16:creationId xmlns:a16="http://schemas.microsoft.com/office/drawing/2014/main" id="{BFA84D9B-A8AA-4D45-A572-FF88AEA7DE27}"/>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LIMIT what the available record cannot establish</a:t>
            </a:r>
          </a:p>
        </p:txBody>
      </p:sp>
      <p:sp>
        <p:nvSpPr>
          <p:cNvPr id="10" name="content 4">
            <a:extLst xmlns:a="http://schemas.openxmlformats.org/drawingml/2006/main">
              <a:ext uri="{FF2B5EF4-FFF2-40B4-BE49-F238E27FC236}">
                <a16:creationId xmlns:a16="http://schemas.microsoft.com/office/drawing/2014/main" id="{C72DBD05-73B1-4F55-8524-86ECEB6B68AB}"/>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Read the supplied record without improving it.</a:t>
            </a:r>
          </a:p>
        </p:txBody>
      </p:sp>
      <p:sp>
        <p:nvSpPr>
          <p:cNvPr id="11" name="content 5">
            <a:extLst xmlns:a="http://schemas.openxmlformats.org/drawingml/2006/main">
              <a:ext uri="{FF2B5EF4-FFF2-40B4-BE49-F238E27FC236}">
                <a16:creationId xmlns:a16="http://schemas.microsoft.com/office/drawing/2014/main" id="{8254C2DF-CE1F-4C49-89C7-3DD5F24B6275}"/>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Name the task or question it addresses.</a:t>
            </a:r>
          </a:p>
        </p:txBody>
      </p:sp>
      <p:sp>
        <p:nvSpPr>
          <p:cNvPr id="12" name="content 6">
            <a:extLst xmlns:a="http://schemas.openxmlformats.org/drawingml/2006/main">
              <a:ext uri="{FF2B5EF4-FFF2-40B4-BE49-F238E27FC236}">
                <a16:creationId xmlns:a16="http://schemas.microsoft.com/office/drawing/2014/main" id="{4BD1BDCB-29AD-49DE-8C3B-1287522280F7}"/>
              </a:ext>
            </a:extLst>
          </p:cNvPr>
          <p:cNvSpPr>
            <a:spLocks xmlns:a="http://schemas.openxmlformats.org/drawingml/2006/main" noGrp="1"/>
          </p:cNvSpPr>
          <p:nvPr/>
        </p:nvSpPr>
        <p:spPr>
          <a:xfrm xmlns:a="http://schemas.openxmlformats.org/drawingml/2006/main">
            <a:off x="800100" y="4914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Make one bounded response.</a:t>
            </a:r>
          </a:p>
        </p:txBody>
      </p:sp>
      <p:sp>
        <p:nvSpPr>
          <p:cNvPr id="13" name="content 7">
            <a:extLst xmlns:a="http://schemas.openxmlformats.org/drawingml/2006/main">
              <a:ext uri="{FF2B5EF4-FFF2-40B4-BE49-F238E27FC236}">
                <a16:creationId xmlns:a16="http://schemas.microsoft.com/office/drawing/2014/main" id="{D4DE3E8B-F216-4704-A1B2-9B6FAF2175F7}"/>
              </a:ext>
            </a:extLst>
          </p:cNvPr>
          <p:cNvSpPr>
            <a:spLocks xmlns:a="http://schemas.openxmlformats.org/drawingml/2006/main" noGrp="1"/>
          </p:cNvSpPr>
          <p:nvPr/>
        </p:nvSpPr>
        <p:spPr>
          <a:xfrm xmlns:a="http://schemas.openxmlformats.org/drawingml/2006/main">
            <a:off x="800100" y="5372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Add a limit or checking point.</a:t>
            </a:r>
          </a:p>
        </p:txBody>
      </p:sp>
      <p:sp>
        <p:nvSpPr>
          <p:cNvPr id="14" name="time">
            <a:extLst xmlns:a="http://schemas.openxmlformats.org/drawingml/2006/main">
              <a:ext uri="{FF2B5EF4-FFF2-40B4-BE49-F238E27FC236}">
                <a16:creationId xmlns:a16="http://schemas.microsoft.com/office/drawing/2014/main" id="{945A61CE-3C17-42E9-8813-6CD3793757A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5" name="number">
            <a:extLst xmlns:a="http://schemas.openxmlformats.org/drawingml/2006/main">
              <a:ext uri="{FF2B5EF4-FFF2-40B4-BE49-F238E27FC236}">
                <a16:creationId xmlns:a16="http://schemas.microsoft.com/office/drawing/2014/main" id="{80631B32-C653-476A-948D-BDB301E8D93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18</a:t>
            </a:r>
          </a:p>
        </p:txBody>
      </p:sp>
    </p:spTree>
    <p:extLst>
      <p:ext uri="{BB962C8B-B14F-4D97-AF65-F5344CB8AC3E}">
        <p14:creationId xmlns:p14="http://schemas.microsoft.com/office/powerpoint/2010/main" val="1410472818"/>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7378A11F-E44A-47DA-8F6E-1F19C61B5FA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66CAF9A-80C3-4F42-AD48-50DE2A32057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0D621A78-E943-4EA0-85A2-72A982B57A0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7D61ED34-1E90-471B-92A1-AD5B831D748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Model the thinking</a:t>
            </a:r>
          </a:p>
        </p:txBody>
      </p:sp>
      <p:sp>
        <p:nvSpPr>
          <p:cNvPr id="5" name="paper panel">
            <a:extLst xmlns:a="http://schemas.openxmlformats.org/drawingml/2006/main">
              <a:ext uri="{FF2B5EF4-FFF2-40B4-BE49-F238E27FC236}">
                <a16:creationId xmlns:a16="http://schemas.microsoft.com/office/drawing/2014/main" id="{F9269559-ECA4-4A8D-A572-BB48BD446C1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2024C1A-E3A5-493E-BE1F-55A1D35702B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Check that no missing detail has been silently supplied.</a:t>
            </a:r>
          </a:p>
        </p:txBody>
      </p:sp>
      <p:sp>
        <p:nvSpPr>
          <p:cNvPr id="7" name="time">
            <a:extLst xmlns:a="http://schemas.openxmlformats.org/drawingml/2006/main">
              <a:ext uri="{FF2B5EF4-FFF2-40B4-BE49-F238E27FC236}">
                <a16:creationId xmlns:a16="http://schemas.microsoft.com/office/drawing/2014/main" id="{5876B314-1A74-4E3D-B7BC-AA0E2884C88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8" name="number">
            <a:extLst xmlns:a="http://schemas.openxmlformats.org/drawingml/2006/main">
              <a:ext uri="{FF2B5EF4-FFF2-40B4-BE49-F238E27FC236}">
                <a16:creationId xmlns:a16="http://schemas.microsoft.com/office/drawing/2014/main" id="{0E7A1B33-9F4F-4C5D-BC9B-BCB243023DA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18</a:t>
            </a:r>
          </a:p>
        </p:txBody>
      </p:sp>
    </p:spTree>
    <p:extLst>
      <p:ext uri="{BB962C8B-B14F-4D97-AF65-F5344CB8AC3E}">
        <p14:creationId xmlns:p14="http://schemas.microsoft.com/office/powerpoint/2010/main" val="685723026"/>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AE647C21-5EEF-4482-9FB9-3E4E634F55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F8274C0-7480-412B-8F6D-07D6304E5CDF}"/>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C2FA9EC4-60F3-406A-B69B-B11F0A690EF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405DAFAC-B77F-49E6-B912-43B8DAF7F04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A learner places ‘Sample B allowed less water through in the stated test’ under rocks. Which follow-up keeps the claim honest?</a:t>
            </a:r>
          </a:p>
        </p:txBody>
      </p:sp>
      <p:sp>
        <p:nvSpPr>
          <p:cNvPr id="5" name="paper panel">
            <a:extLst xmlns:a="http://schemas.openxmlformats.org/drawingml/2006/main">
              <a:ext uri="{FF2B5EF4-FFF2-40B4-BE49-F238E27FC236}">
                <a16:creationId xmlns:a16="http://schemas.microsoft.com/office/drawing/2014/main" id="{65D59FBB-D0EE-4732-9B00-23BE19C5963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41840A6-C2B8-439C-8DCD-B0DA7E6656C8}"/>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Everyone commits through pointing, selecting, saying, signing, typing or directing an adult. Compare the bounded and over-strong responses, then answer a fresh example.</a:t>
            </a:r>
          </a:p>
        </p:txBody>
      </p:sp>
      <p:sp>
        <p:nvSpPr>
          <p:cNvPr id="7" name="time">
            <a:extLst xmlns:a="http://schemas.openxmlformats.org/drawingml/2006/main">
              <a:ext uri="{FF2B5EF4-FFF2-40B4-BE49-F238E27FC236}">
                <a16:creationId xmlns:a16="http://schemas.microsoft.com/office/drawing/2014/main" id="{91E4218D-57C9-4910-AACD-9922A4EBAE1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E7EDBBD5-63D4-4E31-8900-6262711FEFC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18</a:t>
            </a:r>
          </a:p>
        </p:txBody>
      </p:sp>
    </p:spTree>
    <p:extLst>
      <p:ext uri="{BB962C8B-B14F-4D97-AF65-F5344CB8AC3E}">
        <p14:creationId xmlns:p14="http://schemas.microsoft.com/office/powerpoint/2010/main" val="1574034753"/>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331A5C92-D639-489D-AD2E-0AB5E89039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A2E415B-2EA9-4736-9A44-F134733EF07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5DBFF31C-4806-4F17-82A6-3FCFB1BFFDD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9464D0FE-D8C8-49DA-AEA8-89B0F004C47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Connect the second idea</a:t>
            </a:r>
          </a:p>
        </p:txBody>
      </p:sp>
      <p:sp>
        <p:nvSpPr>
          <p:cNvPr id="5" name="paper panel">
            <a:extLst xmlns:a="http://schemas.openxmlformats.org/drawingml/2006/main">
              <a:ext uri="{FF2B5EF4-FFF2-40B4-BE49-F238E27FC236}">
                <a16:creationId xmlns:a16="http://schemas.microsoft.com/office/drawing/2014/main" id="{BFA5F02E-CAAC-4CAC-8F0C-033FC12FC0F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453734D-A155-4A6B-A754-5EAC5854DA43}"/>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Same reasoning move</a:t>
            </a:r>
          </a:p>
        </p:txBody>
      </p:sp>
      <p:sp>
        <p:nvSpPr>
          <p:cNvPr id="7" name="content 1">
            <a:extLst xmlns:a="http://schemas.openxmlformats.org/drawingml/2006/main">
              <a:ext uri="{FF2B5EF4-FFF2-40B4-BE49-F238E27FC236}">
                <a16:creationId xmlns:a16="http://schemas.microsoft.com/office/drawing/2014/main" id="{CB810786-4E0D-41FE-BD64-28F0DBAFF418}"/>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Connect only records that share a named reasoning move.</a:t>
            </a:r>
          </a:p>
        </p:txBody>
      </p:sp>
      <p:sp>
        <p:nvSpPr>
          <p:cNvPr id="8" name="content 2">
            <a:extLst xmlns:a="http://schemas.openxmlformats.org/drawingml/2006/main">
              <a:ext uri="{FF2B5EF4-FFF2-40B4-BE49-F238E27FC236}">
                <a16:creationId xmlns:a16="http://schemas.microsoft.com/office/drawing/2014/main" id="{3F5D33B9-A01A-4936-AAFC-DC52B9E744A6}"/>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Different evidence job</a:t>
            </a:r>
          </a:p>
        </p:txBody>
      </p:sp>
      <p:sp>
        <p:nvSpPr>
          <p:cNvPr id="9" name="content 3">
            <a:extLst xmlns:a="http://schemas.openxmlformats.org/drawingml/2006/main">
              <a:ext uri="{FF2B5EF4-FFF2-40B4-BE49-F238E27FC236}">
                <a16:creationId xmlns:a16="http://schemas.microsoft.com/office/drawing/2014/main" id="{4C8ABEB9-A517-4F33-AA1E-605C5A1E506C}"/>
              </a:ext>
            </a:extLst>
          </p:cNvPr>
          <p:cNvSpPr>
            <a:spLocks xmlns:a="http://schemas.openxmlformats.org/drawingml/2006/main" noGrp="1"/>
          </p:cNvSpPr>
          <p:nvPr/>
        </p:nvSpPr>
        <p:spPr>
          <a:xfrm xmlns:a="http://schemas.openxmlformats.org/drawingml/2006/main">
            <a:off x="800100" y="35814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Keep each source attached to the question it can address.</a:t>
            </a:r>
          </a:p>
        </p:txBody>
      </p:sp>
      <p:sp>
        <p:nvSpPr>
          <p:cNvPr id="10" name="content 4">
            <a:extLst xmlns:a="http://schemas.openxmlformats.org/drawingml/2006/main">
              <a:ext uri="{FF2B5EF4-FFF2-40B4-BE49-F238E27FC236}">
                <a16:creationId xmlns:a16="http://schemas.microsoft.com/office/drawing/2014/main" id="{4D9A266F-2214-4DA9-9582-048F0CB2D0F5}"/>
              </a:ext>
            </a:extLst>
          </p:cNvPr>
          <p:cNvSpPr>
            <a:spLocks xmlns:a="http://schemas.openxmlformats.org/drawingml/2006/main" noGrp="1"/>
          </p:cNvSpPr>
          <p:nvPr/>
        </p:nvSpPr>
        <p:spPr>
          <a:xfrm xmlns:a="http://schemas.openxmlformats.org/drawingml/2006/main">
            <a:off x="800100" y="40386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Honest absence</a:t>
            </a:r>
          </a:p>
        </p:txBody>
      </p:sp>
      <p:sp>
        <p:nvSpPr>
          <p:cNvPr id="11" name="content 5">
            <a:extLst xmlns:a="http://schemas.openxmlformats.org/drawingml/2006/main">
              <a:ext uri="{FF2B5EF4-FFF2-40B4-BE49-F238E27FC236}">
                <a16:creationId xmlns:a16="http://schemas.microsoft.com/office/drawing/2014/main" id="{F3345E23-E544-421E-B011-E88655576F24}"/>
              </a:ext>
            </a:extLst>
          </p:cNvPr>
          <p:cNvSpPr>
            <a:spLocks xmlns:a="http://schemas.openxmlformats.org/drawingml/2006/main" noGrp="1"/>
          </p:cNvSpPr>
          <p:nvPr/>
        </p:nvSpPr>
        <p:spPr>
          <a:xfrm xmlns:a="http://schemas.openxmlformats.org/drawingml/2006/main">
            <a:off x="800100" y="45148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MISSING or AWAITING AUTHORISED CHECK rather than filling a gap.</a:t>
            </a:r>
          </a:p>
        </p:txBody>
      </p:sp>
      <p:sp>
        <p:nvSpPr>
          <p:cNvPr id="12" name="content 6">
            <a:extLst xmlns:a="http://schemas.openxmlformats.org/drawingml/2006/main">
              <a:ext uri="{FF2B5EF4-FFF2-40B4-BE49-F238E27FC236}">
                <a16:creationId xmlns:a16="http://schemas.microsoft.com/office/drawing/2014/main" id="{07222524-EA6B-410F-BDE8-B2ED155A07EE}"/>
              </a:ext>
            </a:extLst>
          </p:cNvPr>
          <p:cNvSpPr>
            <a:spLocks xmlns:a="http://schemas.openxmlformats.org/drawingml/2006/main" noGrp="1"/>
          </p:cNvSpPr>
          <p:nvPr/>
        </p:nvSpPr>
        <p:spPr>
          <a:xfrm xmlns:a="http://schemas.openxmlformats.org/drawingml/2006/main">
            <a:off x="800100" y="4972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Name the connection explicitly. Remove any link that cannot be explained from the supplied material.</a:t>
            </a:r>
          </a:p>
        </p:txBody>
      </p:sp>
      <p:sp>
        <p:nvSpPr>
          <p:cNvPr id="13" name="time">
            <a:extLst xmlns:a="http://schemas.openxmlformats.org/drawingml/2006/main">
              <a:ext uri="{FF2B5EF4-FFF2-40B4-BE49-F238E27FC236}">
                <a16:creationId xmlns:a16="http://schemas.microsoft.com/office/drawing/2014/main" id="{5CA6CDE1-E51D-4A8C-A573-E7174630BFA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4" name="number">
            <a:extLst xmlns:a="http://schemas.openxmlformats.org/drawingml/2006/main">
              <a:ext uri="{FF2B5EF4-FFF2-40B4-BE49-F238E27FC236}">
                <a16:creationId xmlns:a16="http://schemas.microsoft.com/office/drawing/2014/main" id="{12B023A5-94A6-4308-B637-83A38A00DCB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18</a:t>
            </a:r>
          </a:p>
        </p:txBody>
      </p:sp>
    </p:spTree>
    <p:extLst>
      <p:ext uri="{BB962C8B-B14F-4D97-AF65-F5344CB8AC3E}">
        <p14:creationId xmlns:p14="http://schemas.microsoft.com/office/powerpoint/2010/main" val="144684283"/>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9CFDCBB1-EFE9-44A1-A784-CDBC552AB4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A5374E4-FD42-4385-9CF1-0A0D4406457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51E396C-3D85-48D6-AAC5-A41977C31A0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665F5D72-6D23-4F6B-A698-FDDBEA91422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Decision lab</a:t>
            </a:r>
          </a:p>
        </p:txBody>
      </p:sp>
      <p:sp>
        <p:nvSpPr>
          <p:cNvPr id="5" name="paper panel">
            <a:extLst xmlns:a="http://schemas.openxmlformats.org/drawingml/2006/main">
              <a:ext uri="{FF2B5EF4-FFF2-40B4-BE49-F238E27FC236}">
                <a16:creationId xmlns:a16="http://schemas.microsoft.com/office/drawing/2014/main" id="{663F88EC-1762-4E84-AE30-AF7E5FA2B97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F24F227-2178-4CA7-8EF0-129746376996}"/>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7" name="content 1">
            <a:extLst xmlns:a="http://schemas.openxmlformats.org/drawingml/2006/main">
              <a:ext uri="{FF2B5EF4-FFF2-40B4-BE49-F238E27FC236}">
                <a16:creationId xmlns:a16="http://schemas.microsoft.com/office/drawing/2014/main" id="{709F1838-C546-4EE8-BE11-55574BACACF8}"/>
              </a:ext>
            </a:extLst>
          </p:cNvPr>
          <p:cNvSpPr>
            <a:spLocks xmlns:a="http://schemas.openxmlformats.org/drawingml/2006/main" noGrp="1"/>
          </p:cNvSpPr>
          <p:nvPr/>
        </p:nvSpPr>
        <p:spPr>
          <a:xfrm xmlns:a="http://schemas.openxmlformats.org/drawingml/2006/main">
            <a:off x="800100" y="26479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Sort nine supplied record cards into the three topic headings. Choose one sentence frame per topic: ‘The record shows __. It can support __. It cannot show __.’ An adult may read each card exactly and place it only as directed.</a:t>
            </a:r>
          </a:p>
        </p:txBody>
      </p:sp>
      <p:sp>
        <p:nvSpPr>
          <p:cNvPr id="8" name="content 2">
            <a:extLst xmlns:a="http://schemas.openxmlformats.org/drawingml/2006/main">
              <a:ext uri="{FF2B5EF4-FFF2-40B4-BE49-F238E27FC236}">
                <a16:creationId xmlns:a16="http://schemas.microsoft.com/office/drawing/2014/main" id="{786E48A5-7ABF-4BA2-B951-16AC71E15976}"/>
              </a:ext>
            </a:extLst>
          </p:cNvPr>
          <p:cNvSpPr>
            <a:spLocks xmlns:a="http://schemas.openxmlformats.org/drawingml/2006/main" noGrp="1"/>
          </p:cNvSpPr>
          <p:nvPr/>
        </p:nvSpPr>
        <p:spPr>
          <a:xfrm xmlns:a="http://schemas.openxmlformats.org/drawingml/2006/main">
            <a:off x="800100" y="3771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9" name="content 3">
            <a:extLst xmlns:a="http://schemas.openxmlformats.org/drawingml/2006/main">
              <a:ext uri="{FF2B5EF4-FFF2-40B4-BE49-F238E27FC236}">
                <a16:creationId xmlns:a16="http://schemas.microsoft.com/office/drawing/2014/main" id="{F1FC210F-1FE6-47E3-949C-4AB6268B6E46}"/>
              </a:ext>
            </a:extLst>
          </p:cNvPr>
          <p:cNvSpPr>
            <a:spLocks xmlns:a="http://schemas.openxmlformats.org/drawingml/2006/main" noGrp="1"/>
          </p:cNvSpPr>
          <p:nvPr/>
        </p:nvSpPr>
        <p:spPr>
          <a:xfrm xmlns:a="http://schemas.openxmlformats.org/drawingml/2006/main">
            <a:off x="800100" y="42481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Select two records per topic, write a cautious claim for each topic and add a specific evidence limit. Explain one fair-comparison link between nutrition labels and a rock test without mixing their conclusions.</a:t>
            </a:r>
          </a:p>
        </p:txBody>
      </p:sp>
      <p:sp>
        <p:nvSpPr>
          <p:cNvPr id="10" name="content 4">
            <a:extLst xmlns:a="http://schemas.openxmlformats.org/drawingml/2006/main">
              <a:ext uri="{FF2B5EF4-FFF2-40B4-BE49-F238E27FC236}">
                <a16:creationId xmlns:a16="http://schemas.microsoft.com/office/drawing/2014/main" id="{9AED0EE6-AF67-405E-A7F1-C2026641B859}"/>
              </a:ext>
            </a:extLst>
          </p:cNvPr>
          <p:cNvSpPr>
            <a:spLocks xmlns:a="http://schemas.openxmlformats.org/drawingml/2006/main" noGrp="1"/>
          </p:cNvSpPr>
          <p:nvPr/>
        </p:nvSpPr>
        <p:spPr>
          <a:xfrm xmlns:a="http://schemas.openxmlformats.org/drawingml/2006/main">
            <a:off x="800100" y="5372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1" name="time">
            <a:extLst xmlns:a="http://schemas.openxmlformats.org/drawingml/2006/main">
              <a:ext uri="{FF2B5EF4-FFF2-40B4-BE49-F238E27FC236}">
                <a16:creationId xmlns:a16="http://schemas.microsoft.com/office/drawing/2014/main" id="{C8D0C02F-E49A-4A14-A914-C31205B5A0E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334EA6D8-F4B2-4DEC-AC90-D5274D38699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18</a:t>
            </a:r>
          </a:p>
        </p:txBody>
      </p:sp>
    </p:spTree>
    <p:extLst>
      <p:ext uri="{BB962C8B-B14F-4D97-AF65-F5344CB8AC3E}">
        <p14:creationId xmlns:p14="http://schemas.microsoft.com/office/powerpoint/2010/main" val="770931185"/>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F1A67813-922A-4AA8-8981-2883CA7095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97242C6-71CF-4DB8-BFD7-BAE22CBDC1D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BDDF4E3-5368-432D-9F20-10BC7A78C6F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3AC72003-252D-4BA3-BF0E-5C293E7A455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Decision lab</a:t>
            </a:r>
          </a:p>
        </p:txBody>
      </p:sp>
      <p:sp>
        <p:nvSpPr>
          <p:cNvPr id="5" name="paper panel">
            <a:extLst xmlns:a="http://schemas.openxmlformats.org/drawingml/2006/main">
              <a:ext uri="{FF2B5EF4-FFF2-40B4-BE49-F238E27FC236}">
                <a16:creationId xmlns:a16="http://schemas.microsoft.com/office/drawing/2014/main" id="{259C3493-128C-401E-BD2E-EC7B530D097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C71D78D-E6A6-4438-9974-D4491E996235}"/>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Evaluate the strength of one record from each topic by considering method, comparison basis and uncertainty. Defend one cross-topic connection and reject one tempting connection that the evidence does not support.</a:t>
            </a:r>
          </a:p>
        </p:txBody>
      </p:sp>
      <p:sp>
        <p:nvSpPr>
          <p:cNvPr id="7" name="time">
            <a:extLst xmlns:a="http://schemas.openxmlformats.org/drawingml/2006/main">
              <a:ext uri="{FF2B5EF4-FFF2-40B4-BE49-F238E27FC236}">
                <a16:creationId xmlns:a16="http://schemas.microsoft.com/office/drawing/2014/main" id="{07034216-BF83-4744-856D-1986F93357B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8" name="number">
            <a:extLst xmlns:a="http://schemas.openxmlformats.org/drawingml/2006/main">
              <a:ext uri="{FF2B5EF4-FFF2-40B4-BE49-F238E27FC236}">
                <a16:creationId xmlns:a16="http://schemas.microsoft.com/office/drawing/2014/main" id="{CF72664B-8FC5-4D59-8EB7-6527333C0FF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18</a:t>
            </a:r>
          </a:p>
        </p:txBody>
      </p:sp>
    </p:spTree>
    <p:extLst>
      <p:ext uri="{BB962C8B-B14F-4D97-AF65-F5344CB8AC3E}">
        <p14:creationId xmlns:p14="http://schemas.microsoft.com/office/powerpoint/2010/main" val="603609356"/>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5785C3A6-38B5-487A-90FE-F30F5B7AD91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0D17678-1AC4-472C-A900-D433970C1A9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26F4AC81-BD44-4254-AB86-8A247161924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E2856A21-7A5B-452C-8A0D-E035F746514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evidence</a:t>
            </a:r>
          </a:p>
        </p:txBody>
      </p:sp>
      <p:sp>
        <p:nvSpPr>
          <p:cNvPr id="5" name="paper panel">
            <a:extLst xmlns:a="http://schemas.openxmlformats.org/drawingml/2006/main">
              <a:ext uri="{FF2B5EF4-FFF2-40B4-BE49-F238E27FC236}">
                <a16:creationId xmlns:a16="http://schemas.microsoft.com/office/drawing/2014/main" id="{B298232F-A989-4A3C-AA6C-591EBC62821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07B9D56-45EE-4053-AF93-540788585A3D}"/>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7" name="content 1">
            <a:extLst xmlns:a="http://schemas.openxmlformats.org/drawingml/2006/main">
              <a:ext uri="{FF2B5EF4-FFF2-40B4-BE49-F238E27FC236}">
                <a16:creationId xmlns:a16="http://schemas.microsoft.com/office/drawing/2014/main" id="{5C2EA5E9-1FE4-410B-88A0-A2DCF38E492B}"/>
              </a:ext>
            </a:extLst>
          </p:cNvPr>
          <p:cNvSpPr>
            <a:spLocks xmlns:a="http://schemas.openxmlformats.org/drawingml/2006/main" noGrp="1"/>
          </p:cNvSpPr>
          <p:nvPr/>
        </p:nvSpPr>
        <p:spPr>
          <a:xfrm xmlns:a="http://schemas.openxmlformats.org/drawingml/2006/main">
            <a:off x="800100" y="26479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Sort nine supplied record cards into the three topic headings. Choose one sentence frame per topic: ‘The record shows __. It can support __. It cannot show __.’ An adult may read each card exactly and place it only as directed.</a:t>
            </a:r>
          </a:p>
        </p:txBody>
      </p:sp>
      <p:sp>
        <p:nvSpPr>
          <p:cNvPr id="8" name="content 2">
            <a:extLst xmlns:a="http://schemas.openxmlformats.org/drawingml/2006/main">
              <a:ext uri="{FF2B5EF4-FFF2-40B4-BE49-F238E27FC236}">
                <a16:creationId xmlns:a16="http://schemas.microsoft.com/office/drawing/2014/main" id="{AD39479D-C7DA-45F1-AB19-249D52036D67}"/>
              </a:ext>
            </a:extLst>
          </p:cNvPr>
          <p:cNvSpPr>
            <a:spLocks xmlns:a="http://schemas.openxmlformats.org/drawingml/2006/main" noGrp="1"/>
          </p:cNvSpPr>
          <p:nvPr/>
        </p:nvSpPr>
        <p:spPr>
          <a:xfrm xmlns:a="http://schemas.openxmlformats.org/drawingml/2006/main">
            <a:off x="800100" y="3771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9" name="content 3">
            <a:extLst xmlns:a="http://schemas.openxmlformats.org/drawingml/2006/main">
              <a:ext uri="{FF2B5EF4-FFF2-40B4-BE49-F238E27FC236}">
                <a16:creationId xmlns:a16="http://schemas.microsoft.com/office/drawing/2014/main" id="{2B0E8085-9ED5-4523-B73A-5BE00C83E2FA}"/>
              </a:ext>
            </a:extLst>
          </p:cNvPr>
          <p:cNvSpPr>
            <a:spLocks xmlns:a="http://schemas.openxmlformats.org/drawingml/2006/main" noGrp="1"/>
          </p:cNvSpPr>
          <p:nvPr/>
        </p:nvSpPr>
        <p:spPr>
          <a:xfrm xmlns:a="http://schemas.openxmlformats.org/drawingml/2006/main">
            <a:off x="800100" y="424815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Select two records per topic, write a cautious claim for each topic and add a specific evidence limit. Explain one fair-comparison link between nutrition labels and a rock test without mixing their conclusions.</a:t>
            </a:r>
          </a:p>
        </p:txBody>
      </p:sp>
      <p:sp>
        <p:nvSpPr>
          <p:cNvPr id="10" name="content 4">
            <a:extLst xmlns:a="http://schemas.openxmlformats.org/drawingml/2006/main">
              <a:ext uri="{FF2B5EF4-FFF2-40B4-BE49-F238E27FC236}">
                <a16:creationId xmlns:a16="http://schemas.microsoft.com/office/drawing/2014/main" id="{37325488-8A30-45BF-B6FD-F13BEF3D3F62}"/>
              </a:ext>
            </a:extLst>
          </p:cNvPr>
          <p:cNvSpPr>
            <a:spLocks xmlns:a="http://schemas.openxmlformats.org/drawingml/2006/main" noGrp="1"/>
          </p:cNvSpPr>
          <p:nvPr/>
        </p:nvSpPr>
        <p:spPr>
          <a:xfrm xmlns:a="http://schemas.openxmlformats.org/drawingml/2006/main">
            <a:off x="800100" y="5372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1" name="time">
            <a:extLst xmlns:a="http://schemas.openxmlformats.org/drawingml/2006/main">
              <a:ext uri="{FF2B5EF4-FFF2-40B4-BE49-F238E27FC236}">
                <a16:creationId xmlns:a16="http://schemas.microsoft.com/office/drawing/2014/main" id="{CB371481-787B-4F04-B047-BE13061FB5C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0D282430-8A98-4D5F-A6C2-753756C7E10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18</a:t>
            </a:r>
          </a:p>
        </p:txBody>
      </p:sp>
    </p:spTree>
    <p:extLst>
      <p:ext uri="{BB962C8B-B14F-4D97-AF65-F5344CB8AC3E}">
        <p14:creationId xmlns:p14="http://schemas.microsoft.com/office/powerpoint/2010/main" val="1241820295"/>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0302CEE3-80BE-48D6-A12B-168AEE4736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4A039F3-51C4-4E30-9F61-8C1C4F5DD2B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51AEA006-4F72-4EFC-B8A0-E84C8484D76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73FC88FE-7F67-4308-9C1B-F3891D6408C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evidence</a:t>
            </a:r>
          </a:p>
        </p:txBody>
      </p:sp>
      <p:sp>
        <p:nvSpPr>
          <p:cNvPr id="5" name="paper panel">
            <a:extLst xmlns:a="http://schemas.openxmlformats.org/drawingml/2006/main">
              <a:ext uri="{FF2B5EF4-FFF2-40B4-BE49-F238E27FC236}">
                <a16:creationId xmlns:a16="http://schemas.microsoft.com/office/drawing/2014/main" id="{72595B70-087B-4881-8267-6E99516741F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D48D057-FB2B-4E11-AF2C-F8DE09D03CE1}"/>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Evaluate the strength of one record from each topic by considering method, comparison basis and uncertainty. Defend one cross-topic connection and reject one tempting connection that the evidence does not support.</a:t>
            </a:r>
          </a:p>
        </p:txBody>
      </p:sp>
      <p:sp>
        <p:nvSpPr>
          <p:cNvPr id="7" name="content 1">
            <a:extLst xmlns:a="http://schemas.openxmlformats.org/drawingml/2006/main">
              <a:ext uri="{FF2B5EF4-FFF2-40B4-BE49-F238E27FC236}">
                <a16:creationId xmlns:a16="http://schemas.microsoft.com/office/drawing/2014/main" id="{13AC66B8-222C-4CF9-B2EE-55449D965F85}"/>
              </a:ext>
            </a:extLst>
          </p:cNvPr>
          <p:cNvSpPr>
            <a:spLocks xmlns:a="http://schemas.openxmlformats.org/drawingml/2006/main" noGrp="1"/>
          </p:cNvSpPr>
          <p:nvPr/>
        </p:nvSpPr>
        <p:spPr>
          <a:xfrm xmlns:a="http://schemas.openxmlformats.org/drawingml/2006/main">
            <a:off x="800100" y="32956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Trace</a:t>
            </a:r>
          </a:p>
        </p:txBody>
      </p:sp>
      <p:sp>
        <p:nvSpPr>
          <p:cNvPr id="8" name="content 2">
            <a:extLst xmlns:a="http://schemas.openxmlformats.org/drawingml/2006/main">
              <a:ext uri="{FF2B5EF4-FFF2-40B4-BE49-F238E27FC236}">
                <a16:creationId xmlns:a16="http://schemas.microsoft.com/office/drawing/2014/main" id="{50E59DD5-D500-45D0-B2FA-BBBA53F469AC}"/>
              </a:ext>
            </a:extLst>
          </p:cNvPr>
          <p:cNvSpPr>
            <a:spLocks xmlns:a="http://schemas.openxmlformats.org/drawingml/2006/main" noGrp="1"/>
          </p:cNvSpPr>
          <p:nvPr/>
        </p:nvSpPr>
        <p:spPr>
          <a:xfrm xmlns:a="http://schemas.openxmlformats.org/drawingml/2006/main">
            <a:off x="800100" y="3771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Keep the source, material or action locator visible.</a:t>
            </a:r>
          </a:p>
        </p:txBody>
      </p:sp>
      <p:sp>
        <p:nvSpPr>
          <p:cNvPr id="9" name="content 3">
            <a:extLst xmlns:a="http://schemas.openxmlformats.org/drawingml/2006/main">
              <a:ext uri="{FF2B5EF4-FFF2-40B4-BE49-F238E27FC236}">
                <a16:creationId xmlns:a16="http://schemas.microsoft.com/office/drawing/2014/main" id="{6C9CBCDA-3331-429E-8295-B675E6F45892}"/>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Demand</a:t>
            </a:r>
          </a:p>
        </p:txBody>
      </p:sp>
      <p:sp>
        <p:nvSpPr>
          <p:cNvPr id="10" name="content 4">
            <a:extLst xmlns:a="http://schemas.openxmlformats.org/drawingml/2006/main">
              <a:ext uri="{FF2B5EF4-FFF2-40B4-BE49-F238E27FC236}">
                <a16:creationId xmlns:a16="http://schemas.microsoft.com/office/drawing/2014/main" id="{945F462E-D492-47B5-93E9-C540CA1A509C}"/>
              </a:ext>
            </a:extLst>
          </p:cNvPr>
          <p:cNvSpPr>
            <a:spLocks xmlns:a="http://schemas.openxmlformats.org/drawingml/2006/main" noGrp="1"/>
          </p:cNvSpPr>
          <p:nvPr/>
        </p:nvSpPr>
        <p:spPr>
          <a:xfrm xmlns:a="http://schemas.openxmlformats.org/drawingml/2006/main">
            <a:off x="800100" y="4705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Supported, Standard and Stretch change the task demand rather than merely softening a verb.</a:t>
            </a:r>
          </a:p>
        </p:txBody>
      </p:sp>
      <p:sp>
        <p:nvSpPr>
          <p:cNvPr id="11" name="time">
            <a:extLst xmlns:a="http://schemas.openxmlformats.org/drawingml/2006/main">
              <a:ext uri="{FF2B5EF4-FFF2-40B4-BE49-F238E27FC236}">
                <a16:creationId xmlns:a16="http://schemas.microsoft.com/office/drawing/2014/main" id="{39443884-C772-4AAD-A7F0-97105C78A3D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A83FDC71-390C-42AD-BE24-09EEA7DCF88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18</a:t>
            </a:r>
          </a:p>
        </p:txBody>
      </p:sp>
    </p:spTree>
    <p:extLst>
      <p:ext uri="{BB962C8B-B14F-4D97-AF65-F5344CB8AC3E}">
        <p14:creationId xmlns:p14="http://schemas.microsoft.com/office/powerpoint/2010/main" val="1858568973"/>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7B412547-63BD-4DFF-BD4E-99300C7D4D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A3DADEB-C0B6-4AF4-A95F-4E09D5B763E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906D580C-6838-4F79-8E0F-93A131DBBA7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6460871-6048-4F1A-B3F4-A5FF72F9E34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evidence</a:t>
            </a:r>
          </a:p>
        </p:txBody>
      </p:sp>
      <p:sp>
        <p:nvSpPr>
          <p:cNvPr id="5" name="paper panel">
            <a:extLst xmlns:a="http://schemas.openxmlformats.org/drawingml/2006/main">
              <a:ext uri="{FF2B5EF4-FFF2-40B4-BE49-F238E27FC236}">
                <a16:creationId xmlns:a16="http://schemas.microsoft.com/office/drawing/2014/main" id="{50A82184-9610-4953-9969-FAA99406615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00C929E-0E40-456D-817E-4E769164F5EA}"/>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Truth</a:t>
            </a:r>
          </a:p>
        </p:txBody>
      </p:sp>
      <p:sp>
        <p:nvSpPr>
          <p:cNvPr id="7" name="content 1">
            <a:extLst xmlns:a="http://schemas.openxmlformats.org/drawingml/2006/main">
              <a:ext uri="{FF2B5EF4-FFF2-40B4-BE49-F238E27FC236}">
                <a16:creationId xmlns:a16="http://schemas.microsoft.com/office/drawing/2014/main" id="{C2FEB3A4-DD88-43D6-B8A9-86004BC2446F}"/>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PRESENT, MISSING or AWAITING AUTHORISED CHECK; never stage a record.</a:t>
            </a:r>
          </a:p>
        </p:txBody>
      </p:sp>
      <p:sp>
        <p:nvSpPr>
          <p:cNvPr id="8" name="content 2">
            <a:extLst xmlns:a="http://schemas.openxmlformats.org/drawingml/2006/main">
              <a:ext uri="{FF2B5EF4-FFF2-40B4-BE49-F238E27FC236}">
                <a16:creationId xmlns:a16="http://schemas.microsoft.com/office/drawing/2014/main" id="{8C59E615-9258-4BF9-B450-377AFC66BEEC}"/>
              </a:ext>
            </a:extLst>
          </p:cNvPr>
          <p:cNvSpPr>
            <a:spLocks xmlns:a="http://schemas.openxmlformats.org/drawingml/2006/main" noGrp="1"/>
          </p:cNvSpPr>
          <p:nvPr/>
        </p:nvSpPr>
        <p:spPr>
          <a:xfrm xmlns:a="http://schemas.openxmlformats.org/drawingml/2006/main">
            <a:off x="800100" y="31051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Exit route remains available: pause, use the print pack, reduce visual density or direct an adult. The named learning demand remains available.</a:t>
            </a:r>
          </a:p>
        </p:txBody>
      </p:sp>
      <p:sp>
        <p:nvSpPr>
          <p:cNvPr id="9" name="time">
            <a:extLst xmlns:a="http://schemas.openxmlformats.org/drawingml/2006/main">
              <a:ext uri="{FF2B5EF4-FFF2-40B4-BE49-F238E27FC236}">
                <a16:creationId xmlns:a16="http://schemas.microsoft.com/office/drawing/2014/main" id="{58F7E5D5-4EFA-4280-A03C-C0D2F14436F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0" name="number">
            <a:extLst xmlns:a="http://schemas.openxmlformats.org/drawingml/2006/main">
              <a:ext uri="{FF2B5EF4-FFF2-40B4-BE49-F238E27FC236}">
                <a16:creationId xmlns:a16="http://schemas.microsoft.com/office/drawing/2014/main" id="{FB279825-7F0C-4A97-80BF-DDA8D6531FB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18</a:t>
            </a:r>
          </a:p>
        </p:txBody>
      </p:sp>
    </p:spTree>
    <p:extLst>
      <p:ext uri="{BB962C8B-B14F-4D97-AF65-F5344CB8AC3E}">
        <p14:creationId xmlns:p14="http://schemas.microsoft.com/office/powerpoint/2010/main" val="1838472081"/>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AA4E3830-791B-48E4-9470-E2EAB4CA43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DD446E0-CC84-4A11-B290-1D6E4FF1F8F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C11301B8-B561-465D-BEA1-2AE1741E3CA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8DF0EB16-8063-4078-B6EC-9E32AD9BECC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Audience receives; Influence changes one next action</a:t>
            </a:r>
          </a:p>
        </p:txBody>
      </p:sp>
      <p:sp>
        <p:nvSpPr>
          <p:cNvPr id="5" name="paper panel">
            <a:extLst xmlns:a="http://schemas.openxmlformats.org/drawingml/2006/main">
              <a:ext uri="{FF2B5EF4-FFF2-40B4-BE49-F238E27FC236}">
                <a16:creationId xmlns:a16="http://schemas.microsoft.com/office/drawing/2014/main" id="{83A41107-E9D9-4DB6-931D-92913EF5D9F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E5CE5C8-DB0C-4215-9DB2-F9908D939FD7}"/>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one topic. State the record, the claim it supports and one limit. The receiving adult repeats the science back without upgrading it. Confirm, correct or point to the part that needs changing. Then choose the next honest action: retain the claim, add the missing method detail, or mark the question as still open.</a:t>
            </a:r>
          </a:p>
        </p:txBody>
      </p:sp>
      <p:sp>
        <p:nvSpPr>
          <p:cNvPr id="7" name="content 1">
            <a:extLst xmlns:a="http://schemas.openxmlformats.org/drawingml/2006/main">
              <a:ext uri="{FF2B5EF4-FFF2-40B4-BE49-F238E27FC236}">
                <a16:creationId xmlns:a16="http://schemas.microsoft.com/office/drawing/2014/main" id="{13030F1C-B5F8-4DA6-BD3B-1FFAB87C20F1}"/>
              </a:ext>
            </a:extLst>
          </p:cNvPr>
          <p:cNvSpPr>
            <a:spLocks xmlns:a="http://schemas.openxmlformats.org/drawingml/2006/main" noGrp="1"/>
          </p:cNvSpPr>
          <p:nvPr/>
        </p:nvSpPr>
        <p:spPr>
          <a:xfrm xmlns:a="http://schemas.openxmlformats.org/drawingml/2006/main">
            <a:off x="800100" y="3962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Final check: no result, quote, date, event or pupil wording has been created to make the map look complete. The HTML stores no learner response.</a:t>
            </a:r>
          </a:p>
        </p:txBody>
      </p:sp>
      <p:sp>
        <p:nvSpPr>
          <p:cNvPr id="8" name="time">
            <a:extLst xmlns:a="http://schemas.openxmlformats.org/drawingml/2006/main">
              <a:ext uri="{FF2B5EF4-FFF2-40B4-BE49-F238E27FC236}">
                <a16:creationId xmlns:a16="http://schemas.microsoft.com/office/drawing/2014/main" id="{07779FEA-46EA-42F6-BE3D-81829255947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924E42E4-EDE8-4C69-92D2-405A9E8F1CC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18</a:t>
            </a:r>
          </a:p>
        </p:txBody>
      </p:sp>
    </p:spTree>
    <p:extLst>
      <p:ext uri="{BB962C8B-B14F-4D97-AF65-F5344CB8AC3E}">
        <p14:creationId xmlns:p14="http://schemas.microsoft.com/office/powerpoint/2010/main" val="18083220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2026-09-08T09:10:07.3700000Z</dcterms:created>
  <dcterms:modified xsi:type="dcterms:W3CDTF">2026-09-08T09:10:07.3700000Z</dcterms:modified>
</coreProperties>
</file>