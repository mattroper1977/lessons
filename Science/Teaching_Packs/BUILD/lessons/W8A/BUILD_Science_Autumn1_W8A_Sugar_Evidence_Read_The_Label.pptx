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0e329ea28d44d5" /><Relationship Type="http://schemas.openxmlformats.org/officeDocument/2006/relationships/extended-properties" Target="/docProps/app.xml" Id="R457784b0c1d14d00" /><Relationship Type="http://schemas.openxmlformats.org/officeDocument/2006/relationships/officeDocument" Target="/ppt/presentation.xml" Id="R7e2938c6c6bd4119" /></Relationships>
</file>

<file path=ppt/presentation.xml><?xml version="1.0" encoding="utf-8"?>
<p:presentation xmlns:p="http://schemas.openxmlformats.org/presentationml/2006/main">
  <p:sldMasterIdLst>
    <p:sldMasterId xmlns:r="http://schemas.openxmlformats.org/officeDocument/2006/relationships" id="2147483648" r:id="Rcaf3277a77fa4539"/>
  </p:sldMasterIdLst>
  <p:notesMasterIdLst>
    <p:notesMasterId xmlns:r="http://schemas.openxmlformats.org/officeDocument/2006/relationships" r:id="R4ab5f695b2854b62"/>
  </p:notesMasterIdLst>
  <p:sldIdLst>
    <p:sldId xmlns:r="http://schemas.openxmlformats.org/officeDocument/2006/relationships" id="256" r:id="Rbaa4615b21864c80"/>
    <p:sldId xmlns:r="http://schemas.openxmlformats.org/officeDocument/2006/relationships" id="257" r:id="R64680d63d8ac4260"/>
    <p:sldId xmlns:r="http://schemas.openxmlformats.org/officeDocument/2006/relationships" id="258" r:id="R22832c07041d4edf"/>
    <p:sldId xmlns:r="http://schemas.openxmlformats.org/officeDocument/2006/relationships" id="259" r:id="R0a907b439eae4258"/>
    <p:sldId xmlns:r="http://schemas.openxmlformats.org/officeDocument/2006/relationships" id="260" r:id="R4608f1f627c34fd0"/>
    <p:sldId xmlns:r="http://schemas.openxmlformats.org/officeDocument/2006/relationships" id="261" r:id="R618e204819e74308"/>
    <p:sldId xmlns:r="http://schemas.openxmlformats.org/officeDocument/2006/relationships" id="262" r:id="Rb47d4c6996a34a38"/>
    <p:sldId xmlns:r="http://schemas.openxmlformats.org/officeDocument/2006/relationships" id="263" r:id="R78b98b674ed24b4b"/>
    <p:sldId xmlns:r="http://schemas.openxmlformats.org/officeDocument/2006/relationships" id="264" r:id="R5100c439c37e447b"/>
    <p:sldId xmlns:r="http://schemas.openxmlformats.org/officeDocument/2006/relationships" id="265" r:id="R781ce527fbc64fde"/>
    <p:sldId xmlns:r="http://schemas.openxmlformats.org/officeDocument/2006/relationships" id="266" r:id="R618c521a5307422f"/>
    <p:sldId xmlns:r="http://schemas.openxmlformats.org/officeDocument/2006/relationships" id="267" r:id="R6682cc0d87ae4d26"/>
    <p:sldId xmlns:r="http://schemas.openxmlformats.org/officeDocument/2006/relationships" id="268" r:id="R764a2903f1204168"/>
    <p:sldId xmlns:r="http://schemas.openxmlformats.org/officeDocument/2006/relationships" id="269" r:id="Rb1c09aae65a74967"/>
    <p:sldId xmlns:r="http://schemas.openxmlformats.org/officeDocument/2006/relationships" id="270" r:id="Re3e5ff9bac844837"/>
    <p:sldId xmlns:r="http://schemas.openxmlformats.org/officeDocument/2006/relationships" id="271" r:id="R898c465a011745ab"/>
    <p:sldId xmlns:r="http://schemas.openxmlformats.org/officeDocument/2006/relationships" id="272" r:id="R1e9691d5ca004435"/>
    <p:sldId xmlns:r="http://schemas.openxmlformats.org/officeDocument/2006/relationships" id="273" r:id="Rb1361a9ef8394cbd"/>
    <p:sldId xmlns:r="http://schemas.openxmlformats.org/officeDocument/2006/relationships" id="274" r:id="R65c4407767ae4bf7"/>
    <p:sldId xmlns:r="http://schemas.openxmlformats.org/officeDocument/2006/relationships" id="275" r:id="Rfc07a6fffd564211"/>
    <p:sldId xmlns:r="http://schemas.openxmlformats.org/officeDocument/2006/relationships" id="276" r:id="Rd14eb46ef5c24933"/>
    <p:sldId xmlns:r="http://schemas.openxmlformats.org/officeDocument/2006/relationships" id="277" r:id="Rea07427ffd1a471e"/>
    <p:sldId xmlns:r="http://schemas.openxmlformats.org/officeDocument/2006/relationships" id="278" r:id="R4180d23b648b433b"/>
    <p:sldId xmlns:r="http://schemas.openxmlformats.org/officeDocument/2006/relationships" id="279" r:id="Re052a4e6d36042d3"/>
    <p:sldId xmlns:r="http://schemas.openxmlformats.org/officeDocument/2006/relationships" id="280" r:id="R7218d222cd88487c"/>
    <p:sldId xmlns:r="http://schemas.openxmlformats.org/officeDocument/2006/relationships" id="281" r:id="Recd45626a80449d2"/>
    <p:sldId xmlns:r="http://schemas.openxmlformats.org/officeDocument/2006/relationships" id="282" r:id="R694d56f6907f4e06"/>
    <p:sldId xmlns:r="http://schemas.openxmlformats.org/officeDocument/2006/relationships" id="283" r:id="Rf2ad960409f1475b"/>
    <p:sldId xmlns:r="http://schemas.openxmlformats.org/officeDocument/2006/relationships" id="284" r:id="R875e99a42043408c"/>
    <p:sldId xmlns:r="http://schemas.openxmlformats.org/officeDocument/2006/relationships" id="285" r:id="Racfcd9480e3a474e"/>
    <p:sldId xmlns:r="http://schemas.openxmlformats.org/officeDocument/2006/relationships" id="286" r:id="Rd089ff5ac8784468"/>
    <p:sldId xmlns:r="http://schemas.openxmlformats.org/officeDocument/2006/relationships" id="287" r:id="R5fec608cca274497"/>
    <p:sldId xmlns:r="http://schemas.openxmlformats.org/officeDocument/2006/relationships" id="288" r:id="R8a08a51c63cd475b"/>
    <p:sldId xmlns:r="http://schemas.openxmlformats.org/officeDocument/2006/relationships" id="289" r:id="R785b9a1bcafa4df4"/>
    <p:sldId xmlns:r="http://schemas.openxmlformats.org/officeDocument/2006/relationships" id="290" r:id="Rc7f7baaa361c4ef9"/>
    <p:sldId xmlns:r="http://schemas.openxmlformats.org/officeDocument/2006/relationships" id="291" r:id="R2f52e670b4394bbd"/>
    <p:sldId xmlns:r="http://schemas.openxmlformats.org/officeDocument/2006/relationships" id="292" r:id="R54446765883d4fca"/>
    <p:sldId xmlns:r="http://schemas.openxmlformats.org/officeDocument/2006/relationships" id="293" r:id="R356727a42f824814"/>
    <p:sldId xmlns:r="http://schemas.openxmlformats.org/officeDocument/2006/relationships" id="294" r:id="Rce59b26166b24e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9811ca3658484d" /><Relationship Type="http://schemas.openxmlformats.org/officeDocument/2006/relationships/slideMaster" Target="/ppt/slideMasters/slideMaster1.xml" Id="Rcaf3277a77fa4539" /><Relationship Type="http://schemas.openxmlformats.org/officeDocument/2006/relationships/notesMaster" Target="/ppt/notesMasters/notesMaster1.xml" Id="R4ab5f695b2854b62" /><Relationship Type="http://schemas.openxmlformats.org/officeDocument/2006/relationships/presProps" Target="/ppt/presProps.xml" Id="R337389dada0349ba" /><Relationship Type="http://schemas.openxmlformats.org/officeDocument/2006/relationships/tableStyles" Target="/ppt/tableStyles.xml" Id="Rd1bbe1d32a004786" /><Relationship Type="http://schemas.openxmlformats.org/officeDocument/2006/relationships/slide" Target="/ppt/slides/slide1.xml" Id="Rbaa4615b21864c80" /><Relationship Type="http://schemas.openxmlformats.org/officeDocument/2006/relationships/slide" Target="/ppt/slides/slide2.xml" Id="R64680d63d8ac4260" /><Relationship Type="http://schemas.openxmlformats.org/officeDocument/2006/relationships/slide" Target="/ppt/slides/slide3.xml" Id="R22832c07041d4edf" /><Relationship Type="http://schemas.openxmlformats.org/officeDocument/2006/relationships/slide" Target="/ppt/slides/slide4.xml" Id="R0a907b439eae4258" /><Relationship Type="http://schemas.openxmlformats.org/officeDocument/2006/relationships/slide" Target="/ppt/slides/slide5.xml" Id="R4608f1f627c34fd0" /><Relationship Type="http://schemas.openxmlformats.org/officeDocument/2006/relationships/slide" Target="/ppt/slides/slide6.xml" Id="R618e204819e74308" /><Relationship Type="http://schemas.openxmlformats.org/officeDocument/2006/relationships/slide" Target="/ppt/slides/slide7.xml" Id="Rb47d4c6996a34a38" /><Relationship Type="http://schemas.openxmlformats.org/officeDocument/2006/relationships/slide" Target="/ppt/slides/slide8.xml" Id="R78b98b674ed24b4b" /><Relationship Type="http://schemas.openxmlformats.org/officeDocument/2006/relationships/slide" Target="/ppt/slides/slide9.xml" Id="R5100c439c37e447b" /><Relationship Type="http://schemas.openxmlformats.org/officeDocument/2006/relationships/slide" Target="/ppt/slides/slide10.xml" Id="R781ce527fbc64fde" /><Relationship Type="http://schemas.openxmlformats.org/officeDocument/2006/relationships/slide" Target="/ppt/slides/slide11.xml" Id="R618c521a5307422f" /><Relationship Type="http://schemas.openxmlformats.org/officeDocument/2006/relationships/slide" Target="/ppt/slides/slide12.xml" Id="R6682cc0d87ae4d26" /><Relationship Type="http://schemas.openxmlformats.org/officeDocument/2006/relationships/slide" Target="/ppt/slides/slide13.xml" Id="R764a2903f1204168" /><Relationship Type="http://schemas.openxmlformats.org/officeDocument/2006/relationships/slide" Target="/ppt/slides/slide14.xml" Id="Rb1c09aae65a74967" /><Relationship Type="http://schemas.openxmlformats.org/officeDocument/2006/relationships/slide" Target="/ppt/slides/slide15.xml" Id="Re3e5ff9bac844837" /><Relationship Type="http://schemas.openxmlformats.org/officeDocument/2006/relationships/slide" Target="/ppt/slides/slide16.xml" Id="R898c465a011745ab" /><Relationship Type="http://schemas.openxmlformats.org/officeDocument/2006/relationships/slide" Target="/ppt/slides/slide17.xml" Id="R1e9691d5ca004435" /><Relationship Type="http://schemas.openxmlformats.org/officeDocument/2006/relationships/slide" Target="/ppt/slides/slide18.xml" Id="Rb1361a9ef8394cbd" /><Relationship Type="http://schemas.openxmlformats.org/officeDocument/2006/relationships/slide" Target="/ppt/slides/slide19.xml" Id="R65c4407767ae4bf7" /><Relationship Type="http://schemas.openxmlformats.org/officeDocument/2006/relationships/slide" Target="/ppt/slides/slide20.xml" Id="Rfc07a6fffd564211" /><Relationship Type="http://schemas.openxmlformats.org/officeDocument/2006/relationships/slide" Target="/ppt/slides/slide21.xml" Id="Rd14eb46ef5c24933" /><Relationship Type="http://schemas.openxmlformats.org/officeDocument/2006/relationships/slide" Target="/ppt/slides/slide22.xml" Id="Rea07427ffd1a471e" /><Relationship Type="http://schemas.openxmlformats.org/officeDocument/2006/relationships/slide" Target="/ppt/slides/slide23.xml" Id="R4180d23b648b433b" /><Relationship Type="http://schemas.openxmlformats.org/officeDocument/2006/relationships/slide" Target="/ppt/slides/slide24.xml" Id="Re052a4e6d36042d3" /><Relationship Type="http://schemas.openxmlformats.org/officeDocument/2006/relationships/slide" Target="/ppt/slides/slide25.xml" Id="R7218d222cd88487c" /><Relationship Type="http://schemas.openxmlformats.org/officeDocument/2006/relationships/slide" Target="/ppt/slides/slide26.xml" Id="Recd45626a80449d2" /><Relationship Type="http://schemas.openxmlformats.org/officeDocument/2006/relationships/slide" Target="/ppt/slides/slide27.xml" Id="R694d56f6907f4e06" /><Relationship Type="http://schemas.openxmlformats.org/officeDocument/2006/relationships/slide" Target="/ppt/slides/slide28.xml" Id="Rf2ad960409f1475b" /><Relationship Type="http://schemas.openxmlformats.org/officeDocument/2006/relationships/slide" Target="/ppt/slides/slide29.xml" Id="R875e99a42043408c" /><Relationship Type="http://schemas.openxmlformats.org/officeDocument/2006/relationships/slide" Target="/ppt/slides/slide30.xml" Id="Racfcd9480e3a474e" /><Relationship Type="http://schemas.openxmlformats.org/officeDocument/2006/relationships/slide" Target="/ppt/slides/slide31.xml" Id="Rd089ff5ac8784468" /><Relationship Type="http://schemas.openxmlformats.org/officeDocument/2006/relationships/slide" Target="/ppt/slides/slide32.xml" Id="R5fec608cca274497" /><Relationship Type="http://schemas.openxmlformats.org/officeDocument/2006/relationships/slide" Target="/ppt/slides/slide33.xml" Id="R8a08a51c63cd475b" /><Relationship Type="http://schemas.openxmlformats.org/officeDocument/2006/relationships/slide" Target="/ppt/slides/slide34.xml" Id="R785b9a1bcafa4df4" /><Relationship Type="http://schemas.openxmlformats.org/officeDocument/2006/relationships/slide" Target="/ppt/slides/slide35.xml" Id="Rc7f7baaa361c4ef9" /><Relationship Type="http://schemas.openxmlformats.org/officeDocument/2006/relationships/slide" Target="/ppt/slides/slide36.xml" Id="R2f52e670b4394bbd" /><Relationship Type="http://schemas.openxmlformats.org/officeDocument/2006/relationships/slide" Target="/ppt/slides/slide37.xml" Id="R54446765883d4fca" /><Relationship Type="http://schemas.openxmlformats.org/officeDocument/2006/relationships/slide" Target="/ppt/slides/slide38.xml" Id="R356727a42f824814" /><Relationship Type="http://schemas.openxmlformats.org/officeDocument/2006/relationships/slide" Target="/ppt/slides/slide39.xml" Id="Rce59b26166b24e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4607f3192e41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3a07110ea34193" /><Relationship Type="http://schemas.openxmlformats.org/officeDocument/2006/relationships/notesMaster" Target="/ppt/notesMasters/notesMaster1.xml" Id="R30cdf8b3024d42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fdc18a1db94697" /><Relationship Type="http://schemas.openxmlformats.org/officeDocument/2006/relationships/notesMaster" Target="/ppt/notesMasters/notesMaster1.xml" Id="R942ccf408f6b4a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f2194709e3401e" /><Relationship Type="http://schemas.openxmlformats.org/officeDocument/2006/relationships/notesMaster" Target="/ppt/notesMasters/notesMaster1.xml" Id="R4b59bf160e574f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9e7891b1ff41f5" /><Relationship Type="http://schemas.openxmlformats.org/officeDocument/2006/relationships/notesMaster" Target="/ppt/notesMasters/notesMaster1.xml" Id="R66106e48d3424c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886f5dbc524553" /><Relationship Type="http://schemas.openxmlformats.org/officeDocument/2006/relationships/notesMaster" Target="/ppt/notesMasters/notesMaster1.xml" Id="Re3d795d2d31640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5c37ac00504e5e" /><Relationship Type="http://schemas.openxmlformats.org/officeDocument/2006/relationships/notesMaster" Target="/ppt/notesMasters/notesMaster1.xml" Id="R52d2b348544444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f4c39d72864f60" /><Relationship Type="http://schemas.openxmlformats.org/officeDocument/2006/relationships/notesMaster" Target="/ppt/notesMasters/notesMaster1.xml" Id="R3df95219b85441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c1ddcb1b7242a7" /><Relationship Type="http://schemas.openxmlformats.org/officeDocument/2006/relationships/notesMaster" Target="/ppt/notesMasters/notesMaster1.xml" Id="R0b5940fc5d0949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78ba194c3c49cf" /><Relationship Type="http://schemas.openxmlformats.org/officeDocument/2006/relationships/notesMaster" Target="/ppt/notesMasters/notesMaster1.xml" Id="Ra62ef0b1894a43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4a912bbf774828" /><Relationship Type="http://schemas.openxmlformats.org/officeDocument/2006/relationships/notesMaster" Target="/ppt/notesMasters/notesMaster1.xml" Id="R5e6290c8d3a347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ac0e06c81d4d44" /><Relationship Type="http://schemas.openxmlformats.org/officeDocument/2006/relationships/notesMaster" Target="/ppt/notesMasters/notesMaster1.xml" Id="R877b6b1be16f46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bb7be35c444958" /><Relationship Type="http://schemas.openxmlformats.org/officeDocument/2006/relationships/notesMaster" Target="/ppt/notesMasters/notesMaster1.xml" Id="Rc291cb91651b46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3ead1340954877" /><Relationship Type="http://schemas.openxmlformats.org/officeDocument/2006/relationships/notesMaster" Target="/ppt/notesMasters/notesMaster1.xml" Id="R86460427b58b46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3a5a1a19174a3a" /><Relationship Type="http://schemas.openxmlformats.org/officeDocument/2006/relationships/notesMaster" Target="/ppt/notesMasters/notesMaster1.xml" Id="R1a55b32f06c146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02664bd8d246a9" /><Relationship Type="http://schemas.openxmlformats.org/officeDocument/2006/relationships/notesMaster" Target="/ppt/notesMasters/notesMaster1.xml" Id="R6d09b40a33914a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f2b2b2cc5747f2" /><Relationship Type="http://schemas.openxmlformats.org/officeDocument/2006/relationships/notesMaster" Target="/ppt/notesMasters/notesMaster1.xml" Id="R7f1b31ae169a41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c73ca9bc2446b8" /><Relationship Type="http://schemas.openxmlformats.org/officeDocument/2006/relationships/notesMaster" Target="/ppt/notesMasters/notesMaster1.xml" Id="R3368619e0b4444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233712cb3d4e8e" /><Relationship Type="http://schemas.openxmlformats.org/officeDocument/2006/relationships/notesMaster" Target="/ppt/notesMasters/notesMaster1.xml" Id="R32a2e2446c7b43a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d18315dce34528" /><Relationship Type="http://schemas.openxmlformats.org/officeDocument/2006/relationships/notesMaster" Target="/ppt/notesMasters/notesMaster1.xml" Id="R62ff4731692147c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78a16982b14c71" /><Relationship Type="http://schemas.openxmlformats.org/officeDocument/2006/relationships/notesMaster" Target="/ppt/notesMasters/notesMaster1.xml" Id="R014a03bf4e1a40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e890fe35a44b97" /><Relationship Type="http://schemas.openxmlformats.org/officeDocument/2006/relationships/notesMaster" Target="/ppt/notesMasters/notesMaster1.xml" Id="Rb429aaf3d1014c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73df6942a24fb3" /><Relationship Type="http://schemas.openxmlformats.org/officeDocument/2006/relationships/notesMaster" Target="/ppt/notesMasters/notesMaster1.xml" Id="Rce68192fd65b41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1fa9816a5443ab" /><Relationship Type="http://schemas.openxmlformats.org/officeDocument/2006/relationships/notesMaster" Target="/ppt/notesMasters/notesMaster1.xml" Id="Rde46de41dc5340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0e899e50e74154" /><Relationship Type="http://schemas.openxmlformats.org/officeDocument/2006/relationships/notesMaster" Target="/ppt/notesMasters/notesMaster1.xml" Id="Rb9de9c68f54343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72fc524733436e" /><Relationship Type="http://schemas.openxmlformats.org/officeDocument/2006/relationships/notesMaster" Target="/ppt/notesMasters/notesMaster1.xml" Id="Rcd23b417407b4c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1e671a2eae47a4" /><Relationship Type="http://schemas.openxmlformats.org/officeDocument/2006/relationships/notesMaster" Target="/ppt/notesMasters/notesMaster1.xml" Id="R4f5028e9e4bb4b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8d4a41af8d346c1" /><Relationship Type="http://schemas.openxmlformats.org/officeDocument/2006/relationships/notesMaster" Target="/ppt/notesMasters/notesMaster1.xml" Id="Rbece9ae554fe44d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83db00fa9040fe" /><Relationship Type="http://schemas.openxmlformats.org/officeDocument/2006/relationships/notesMaster" Target="/ppt/notesMasters/notesMaster1.xml" Id="R959304415b1842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0aa6cf5bfa4af3" /><Relationship Type="http://schemas.openxmlformats.org/officeDocument/2006/relationships/notesMaster" Target="/ppt/notesMasters/notesMaster1.xml" Id="R9152bb4ed5cb44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da7d42b6b1141c1" /><Relationship Type="http://schemas.openxmlformats.org/officeDocument/2006/relationships/notesMaster" Target="/ppt/notesMasters/notesMaster1.xml" Id="R2e04eed1011443f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55c59764df54768" /><Relationship Type="http://schemas.openxmlformats.org/officeDocument/2006/relationships/notesMaster" Target="/ppt/notesMasters/notesMaster1.xml" Id="Rc22ef84aec264ae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273491b2c80472b" /><Relationship Type="http://schemas.openxmlformats.org/officeDocument/2006/relationships/notesMaster" Target="/ppt/notesMasters/notesMaster1.xml" Id="R6997f44676484f6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1f0d5a6a7e9465e" /><Relationship Type="http://schemas.openxmlformats.org/officeDocument/2006/relationships/notesMaster" Target="/ppt/notesMasters/notesMaster1.xml" Id="R1fa9e9cd8e9f47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8221b7cfba24ac2" /><Relationship Type="http://schemas.openxmlformats.org/officeDocument/2006/relationships/notesMaster" Target="/ppt/notesMasters/notesMaster1.xml" Id="Red2e125f644e4b5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7240031e64b4a52" /><Relationship Type="http://schemas.openxmlformats.org/officeDocument/2006/relationships/notesMaster" Target="/ppt/notesMasters/notesMaster1.xml" Id="Rd72c762f684e49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fbb49e68ca14996" /><Relationship Type="http://schemas.openxmlformats.org/officeDocument/2006/relationships/notesMaster" Target="/ppt/notesMasters/notesMaster1.xml" Id="R2aa9cec74714409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dd27619231f4d6e" /><Relationship Type="http://schemas.openxmlformats.org/officeDocument/2006/relationships/notesMaster" Target="/ppt/notesMasters/notesMaster1.xml" Id="R3cddd850590b460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b596a8e2a784636" /><Relationship Type="http://schemas.openxmlformats.org/officeDocument/2006/relationships/notesMaster" Target="/ppt/notesMasters/notesMaster1.xml" Id="R89e5153d2a2c43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a420cadd3bb44d8" /><Relationship Type="http://schemas.openxmlformats.org/officeDocument/2006/relationships/notesMaster" Target="/ppt/notesMasters/notesMaster1.xml" Id="R7056325f3de4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40-minute lesson. Establish a calm opportunity to respond and keep the organiser available. If earlier work gives useful evidence, use it to choose the starting explanation; no invented response or fixed opening script is needed.</a:t>
            </a:r>
          </a:p>
          <a:p xmlns:a="http://schemas.openxmlformats.org/drawingml/2006/main">
            <a:r>
              <a:t>Use the organiser throughout. This deck contains alternative support routes and separate answer pages. Use the slide titles to select one route rather than teaching all alternatives. The original HTML offers the interactive controls and optional silent captioned video. These slide pages provide editable prompts and a still sequence of the same explanation.</a:t>
            </a:r>
          </a:p>
          <a:p xmlns:a="http://schemas.openxmlformats.org/drawingml/2006/main">
            <a:r>
              <a:t>Timing: 0 minutes for stage 1,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Use four questions from this route. Think first, then use the next page for answer guidance.</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Show only after learners have responded.</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Use four questions from this route. Think first, then use the next page for answer guidance.</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Show only after learners have responded.</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Use four questions from this route. Think first, then use the next page for answer guidance.</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chosen four-card route. Read unfamiliar wording. Q4 is a lead-in; accept a first prediction. Reveal only after pupils respond. Print questions separately from answers.</a:t>
            </a:r>
          </a:p>
          <a:p xmlns:a="http://schemas.openxmlformats.org/drawingml/2006/main">
            <a:r>
              <a:t>Show only after learners have responded.</a:t>
            </a:r>
          </a:p>
          <a:p xmlns:a="http://schemas.openxmlformats.org/drawingml/2006/main">
            <a:r>
              <a:t>Timing: 4 minutes for stage 2,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Pupils may choose carbohydrate 22/67 instead of sugars 4/9. Do not correct by speed: ask what the row label says. Keep attention on the nutrition evidence, not personal food choices.</a:t>
            </a:r>
          </a:p>
          <a:p xmlns:a="http://schemas.openxmlformats.org/drawingml/2006/main">
            <a:r>
              <a:t>Keep the matching A4 organiser available. This reference uses X and P–S/Z as distinct worked examples, not the A–E task data.</a:t>
            </a:r>
          </a:p>
          <a:p xmlns:a="http://schemas.openxmlformats.org/drawingml/2006/main">
            <a:r>
              <a:t>Timing: 4 minutes for stage 3,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Pupils may choose carbohydrate 22/67 instead of sugars 4/9. Do not correct by speed: ask what the row label says. Keep attention on the nutrition evidence, not personal food choices.</a:t>
            </a:r>
          </a:p>
          <a:p xmlns:a="http://schemas.openxmlformats.org/drawingml/2006/main">
            <a:r>
              <a:t/>
            </a:r>
          </a:p>
          <a:p xmlns:a="http://schemas.openxmlformats.org/drawingml/2006/main">
            <a:r>
              <a:t>Timing: 4 minutes for stage 3,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Pupils may choose carbohydrate 22/67 instead of sugars 4/9. Do not correct by speed: ask what the row label says. Keep attention on the nutrition evidence, not personal food choices.</a:t>
            </a:r>
          </a:p>
          <a:p xmlns:a="http://schemas.openxmlformats.org/drawingml/2006/main">
            <a:r>
              <a:t/>
            </a:r>
          </a:p>
          <a:p xmlns:a="http://schemas.openxmlformats.org/drawingml/2006/main">
            <a:r>
              <a:t>Timing: 4 minutes for stage 3,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each highlight to trace sugar line, number, unit and basis. Think aloud. Do not add sugar to carbohydrate. Explain that both values describe a 100 g amount. Optional: use the captioned clip instead of part of the demonstration, or replay one section. It adds no required stage. Pause for pupil thinking. The equal-serving section is an extension, not a requirement for core success.</a:t>
            </a:r>
          </a:p>
          <a:p xmlns:a="http://schemas.openxmlformats.org/drawingml/2006/main">
            <a:r>
              <a:t/>
            </a:r>
          </a:p>
          <a:p xmlns:a="http://schemas.openxmlformats.org/drawingml/2006/main">
            <a:r>
              <a:t>Timing: 5 minutes for stage 4,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each highlight to trace sugar line, number, unit and basis. Think aloud. Do not add sugar to carbohydrate. Explain that both values describe a 100 g amount. Optional: use the captioned clip instead of part of the demonstration, or replay one section. It adds no required stage. Pause for pupil thinking. The equal-serving section is an extension, not a requirement for core success.</a:t>
            </a:r>
          </a:p>
          <a:p xmlns:a="http://schemas.openxmlformats.org/drawingml/2006/main">
            <a:r>
              <a:t>This still sequence preserves the first half of the optional 42-second silent explainer. The HTML lesson retains the video with captions and transcript.</a:t>
            </a:r>
          </a:p>
          <a:p xmlns:a="http://schemas.openxmlformats.org/drawingml/2006/main">
            <a:r>
              <a:t>Timing: 5 minutes for stage 4,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each highlight to trace sugar line, number, unit and basis. Think aloud. Do not add sugar to carbohydrate. Explain that both values describe a 100 g amount. Optional: use the captioned clip instead of part of the demonstration, or replay one section. It adds no required stage. Pause for pupil thinking. The equal-serving section is an extension, not a requirement for core success.</a:t>
            </a:r>
          </a:p>
          <a:p xmlns:a="http://schemas.openxmlformats.org/drawingml/2006/main">
            <a:r>
              <a:t>Same transcript information as the HTML explainer; comparison on a different basis is an extension.</a:t>
            </a:r>
          </a:p>
          <a:p xmlns:a="http://schemas.openxmlformats.org/drawingml/2006/main">
            <a:r>
              <a:t>Timing: 5 minutes for stage 4,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 placement, receive the pupil’s reason. If they copied carbohydrate, point out “of which sugars” and invite another try. If small text is the barrier, enlarge or isolate the row. Watch the re-attempt and choose the next example from what it shows. The optional prompt can stay closed when feedback is already happening naturally.</a:t>
            </a:r>
          </a:p>
          <a:p xmlns:a="http://schemas.openxmlformats.org/drawingml/2006/main">
            <a:r>
              <a:t>One named involvement: pupils can ask for other nutrient rows to be covered, try again and tell the adult whether that change helped. Offer space and voice; listen and clarify before changing the task. Do not automatically award R, Audience or Influence.</a:t>
            </a:r>
          </a:p>
          <a:p xmlns:a="http://schemas.openxmlformats.org/drawingml/2006/main">
            <a:r>
              <a:t>Timing: 5 minutes for stage 5,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 placement, receive the pupil’s reason. If they copied carbohydrate, point out “of which sugars” and invite another try. If small text is the barrier, enlarge or isolate the row. Watch the re-attempt and choose the next example from what it shows. The optional prompt can stay closed when feedback is already happening naturally.</a:t>
            </a:r>
          </a:p>
          <a:p xmlns:a="http://schemas.openxmlformats.org/drawingml/2006/main">
            <a:r>
              <a:t/>
            </a:r>
          </a:p>
          <a:p xmlns:a="http://schemas.openxmlformats.org/drawingml/2006/main">
            <a:r>
              <a:t>Timing: 5 minutes for stage 5,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core BUILD identify unequal masses before ordering. Only extend to 3 + 3 + 3 + 3=12 gper 100 g when appropriate; do not make this conversion a barrier to the core comparison. One low sugar value cannot establish overall healthiest.</a:t>
            </a:r>
          </a:p>
          <a:p xmlns:a="http://schemas.openxmlformats.org/drawingml/2006/main">
            <a:r>
              <a:t>Core success is spotting the different basis. Conversion is an extension.</a:t>
            </a:r>
          </a:p>
          <a:p xmlns:a="http://schemas.openxmlformats.org/drawingml/2006/main">
            <a:r>
              <a:t>Timing: 4 minutes for stage 6,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core BUILD identify unequal masses before ordering. Only extend to 3 + 3 + 3 + 3=12 gper 100 g when appropriate; do not make this conversion a barrier to the core comparison. One low sugar value cannot establish overall healthiest.</a:t>
            </a:r>
          </a:p>
          <a:p xmlns:a="http://schemas.openxmlformats.org/drawingml/2006/main">
            <a:r>
              <a:t/>
            </a:r>
          </a:p>
          <a:p xmlns:a="http://schemas.openxmlformats.org/drawingml/2006/main">
            <a:r>
              <a:t>Timing: 4 minutes for stage 6,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Receive the pupil’s annotation or explanation. Give a precise cue where useful, allow a response, then read or watch it and adapt the next question. A button revealing text is a teaching aid, not evidence that an adult received a pupil response.</a:t>
            </a:r>
          </a:p>
          <a:p xmlns:a="http://schemas.openxmlformats.org/drawingml/2006/main">
            <a:r>
              <a:t/>
            </a:r>
          </a:p>
          <a:p xmlns:a="http://schemas.openxmlformats.org/drawingml/2006/main">
            <a:r>
              <a:t>Timing: 4 minutes for stage 7,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Receive the pupil’s annotation or explanation. Give a precise cue where useful, allow a response, then read or watch it and adapt the next question. A button revealing text is a teaching aid, not evidence that an adult received a pupil response.</a:t>
            </a:r>
          </a:p>
          <a:p xmlns:a="http://schemas.openxmlformats.org/drawingml/2006/main">
            <a:r>
              <a:t/>
            </a:r>
          </a:p>
          <a:p xmlns:a="http://schemas.openxmlformats.org/drawingml/2006/main">
            <a:r>
              <a:t>Timing: 4 minutes for stage 7,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Sugar rows: A 4 g per 100 g; B 9 g per 100 g; C 14 g per 100 g; D 23 g per 100 g. Values 22, 67, 58 and 72 are total carbohydrate, not the requested sugar values.Order A, B, C, D: 4 &lt; 9 &lt; 14 &lt; 23, all in g per 100 g.Example: 'B has 9 g sugar per 100 g. This is less than C, which has 14 g per 100 g.' Accept any correct comparison that keeps the same basis.Valid limits include: other nutrient amounts are not all supplied; actual portion eaten is unknown; the person's needs and wider eating pattern are unknown. Sugar alone cannot identify a universally healthiest food.</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Order: A — 4 g per 100 g; B — 9 g per 100 g; C — 14 g per 100 g; D — 23 g per 100 g.Least: A. Most: D.Supported claim: A has less sugar per 100 g than D. The sugar data alone do not establish a healthiest food for everyone.ONE PART OF NUTRITION. These numbers describe sugar, not the whole food or eating pattern. Accept pointing, signing, speech or exact scribing without changing the pupil’s scientific meaning.</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useful level of support and accept pointing, directing, drawing, speech or writing. Use live feedback during the existing task. Give time to respond and receive the re-attempt before choosing the next instruction. Interpret supported work in light of the help provided; do not treat every task as requiring a written comment.</a:t>
            </a:r>
          </a:p>
          <a:p xmlns:a="http://schemas.openxmlformats.org/drawingml/2006/main">
            <a:r>
              <a:t>A 4 &lt; B 9 &lt; C 14 &lt; D 23, all g sugar per 100 g. Total carbohydrate is not the requested nutrient value.E cannot be placed by comparing 3 with 4 directly: its basis is per 25 g serving, while A–D are per 100 g.Four 25 g servings make 100 g. E: 3 × 4 = 12 g sugar per 100 g. The full order is A 4, B 9, E 12, C 14, D 23, all g per 100 g. Accept supported doubling 3 → 6 → 12 with the serving masses 25 → 50 → 100.Example supported comparison: 'A has 19 g less sugar per 100 g than D.' Simpler correct less/more comparisons are also sufficient.Repair: the lowest value identifies the least sugar per 100 g among these labels. It does not prove the best food for everyone; a broader judgement needs more nutrition and context information. No judgement about pupils' own food choices is required.</a:t>
            </a:r>
          </a:p>
          <a:p xmlns:a="http://schemas.openxmlformats.org/drawingml/2006/main">
            <a:r>
              <a:t>Timing: 10 minutes for stage 8,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One route only. Leave a response blank if needed. Accept pupil words without inventing a mark. Next lesson: Body Science Checkpoint.</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One route only. Leave a response blank if needed. Accept pupil words without inventing a mark. Next lesson: Body Science Checkpoint.</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One route only. Leave a response blank if needed. Accept pupil words without inventing a mark. Next lesson: Body Science Checkpoint.</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appropriate two-question route. The lower reading and writing load is intentional. Pupils may point, circle, sign, speak, select or write. Read the response alongside their independent work and the support used. Give useful feedback and offer a re-attempt as needed; do not require a separate reflection or loop form. Next lesson: Body Science Checkpoint.</a:t>
            </a:r>
          </a:p>
          <a:p xmlns:a="http://schemas.openxmlformats.org/drawingml/2006/main">
            <a:r>
              <a:t>No extra lesson time is assigned here. Use the two exit checks as normal evidence, without a duplicate record.</a:t>
            </a:r>
          </a:p>
          <a:p xmlns:a="http://schemas.openxmlformats.org/drawingml/2006/main">
            <a:r>
              <a:t>Timing: 4 minutes for stage 9, shared across its pages. The nine stage times total 40 minutes. Choose one support route for arrival, independent work and exit. Reveal answer pages after responses. Keep the unknown starting point approach. Accept pointing, signing, speech, drawing or adult scribing in normal work. No additional compulsory pupil record.</a:t>
            </a:r>
          </a:p>
          <a:p xmlns:a="http://schemas.openxmlformats.org/drawingml/2006/main">
            <a:r>
              <a:t>Source: canonical BUILD W8A Sugar lesson, reviewed head 007520c55e0ed1c8d9265f7e47a8dee57dd63ea1.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bcc2cdc76e44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e5bdb13dca42bb" /><Relationship Type="http://schemas.openxmlformats.org/officeDocument/2006/relationships/slideLayout" Target="/ppt/slideLayouts/slideLayout1.xml" Id="Rdd22463539f746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22463539f746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6047aa79cb4332" /><Relationship Type="http://schemas.openxmlformats.org/officeDocument/2006/relationships/notesSlide" Target="/ppt/notesSlides/notesSlide1.xml" Id="Ref5351d22a354f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41de3515bb4906" /><Relationship Type="http://schemas.openxmlformats.org/officeDocument/2006/relationships/notesSlide" Target="/ppt/notesSlides/notesSlide2.xml" Id="Ra9f30027ab3748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8b917dc66a413a" /><Relationship Type="http://schemas.openxmlformats.org/officeDocument/2006/relationships/notesSlide" Target="/ppt/notesSlides/notesSlide3.xml" Id="R5afe1a40a2294a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299387a0214c75" /><Relationship Type="http://schemas.openxmlformats.org/officeDocument/2006/relationships/notesSlide" Target="/ppt/notesSlides/notesSlide4.xml" Id="R17e88426abf94c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17fbd8e04f4627" /><Relationship Type="http://schemas.openxmlformats.org/officeDocument/2006/relationships/notesSlide" Target="/ppt/notesSlides/notesSlide5.xml" Id="R594c91d135d245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1610e668284ffd" /><Relationship Type="http://schemas.openxmlformats.org/officeDocument/2006/relationships/notesSlide" Target="/ppt/notesSlides/notesSlide6.xml" Id="Ra403b8856ae54a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5845cf3e0c4b76" /><Relationship Type="http://schemas.openxmlformats.org/officeDocument/2006/relationships/notesSlide" Target="/ppt/notesSlides/notesSlide7.xml" Id="R3765a104755f41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301a79d9f9453e" /><Relationship Type="http://schemas.openxmlformats.org/officeDocument/2006/relationships/notesSlide" Target="/ppt/notesSlides/notesSlide8.xml" Id="Rdca63ef312de4a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e045f031ac415a" /><Relationship Type="http://schemas.openxmlformats.org/officeDocument/2006/relationships/notesSlide" Target="/ppt/notesSlides/notesSlide9.xml" Id="R5f2921823afc4d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b0accc0e0d4b6d" /><Relationship Type="http://schemas.openxmlformats.org/officeDocument/2006/relationships/notesSlide" Target="/ppt/notesSlides/notesSlide10.xml" Id="R67f67de6aa1547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7b8a8ee54f4636" /><Relationship Type="http://schemas.openxmlformats.org/officeDocument/2006/relationships/notesSlide" Target="/ppt/notesSlides/notesSlide11.xml" Id="R7672ffd272a946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738c8cbea34b49" /><Relationship Type="http://schemas.openxmlformats.org/officeDocument/2006/relationships/notesSlide" Target="/ppt/notesSlides/notesSlide12.xml" Id="Rbca8a30ef3c648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d089e002454acb" /><Relationship Type="http://schemas.openxmlformats.org/officeDocument/2006/relationships/notesSlide" Target="/ppt/notesSlides/notesSlide13.xml" Id="Rc0f0842ac2d043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d004fda7694e21" /><Relationship Type="http://schemas.openxmlformats.org/officeDocument/2006/relationships/notesSlide" Target="/ppt/notesSlides/notesSlide14.xml" Id="R29cbbfe7f2824b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a8d267286143ae" /><Relationship Type="http://schemas.openxmlformats.org/officeDocument/2006/relationships/chart" Target="/ppt/slides/charts/chart1.xml" Id="R7d6bf7737fd44fd8" /><Relationship Type="http://schemas.openxmlformats.org/officeDocument/2006/relationships/notesSlide" Target="/ppt/notesSlides/notesSlide15.xml" Id="R1c2f94ac028d4d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ec906c5b4a64814" /><Relationship Type="http://schemas.openxmlformats.org/officeDocument/2006/relationships/notesSlide" Target="/ppt/notesSlides/notesSlide16.xml" Id="Rd4d373a3d72a4c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e47123cc0e43ee" /><Relationship Type="http://schemas.openxmlformats.org/officeDocument/2006/relationships/notesSlide" Target="/ppt/notesSlides/notesSlide17.xml" Id="Rd81fbeff6f5548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e82d8c44764304" /><Relationship Type="http://schemas.openxmlformats.org/officeDocument/2006/relationships/notesSlide" Target="/ppt/notesSlides/notesSlide18.xml" Id="R918548890bc14b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f54d142d9645fc" /><Relationship Type="http://schemas.openxmlformats.org/officeDocument/2006/relationships/notesSlide" Target="/ppt/notesSlides/notesSlide19.xml" Id="R214c92af45294d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ed1188e6cf4b9a" /><Relationship Type="http://schemas.openxmlformats.org/officeDocument/2006/relationships/notesSlide" Target="/ppt/notesSlides/notesSlide20.xml" Id="R53d3b607547447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259872a0a64439" /><Relationship Type="http://schemas.openxmlformats.org/officeDocument/2006/relationships/notesSlide" Target="/ppt/notesSlides/notesSlide21.xml" Id="R8cfd01657b7348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048965acf84c2d" /><Relationship Type="http://schemas.openxmlformats.org/officeDocument/2006/relationships/notesSlide" Target="/ppt/notesSlides/notesSlide22.xml" Id="R61a57c61ab204d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baf67b1fa74dd8" /><Relationship Type="http://schemas.openxmlformats.org/officeDocument/2006/relationships/notesSlide" Target="/ppt/notesSlides/notesSlide23.xml" Id="R4d93f98083714a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570f7c514a64246" /><Relationship Type="http://schemas.openxmlformats.org/officeDocument/2006/relationships/notesSlide" Target="/ppt/notesSlides/notesSlide24.xml" Id="R84c34dd0685549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ff47f3bb1964ef3" /><Relationship Type="http://schemas.openxmlformats.org/officeDocument/2006/relationships/notesSlide" Target="/ppt/notesSlides/notesSlide25.xml" Id="R31e0a1a9fb5640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19eb6071e904369" /><Relationship Type="http://schemas.openxmlformats.org/officeDocument/2006/relationships/notesSlide" Target="/ppt/notesSlides/notesSlide26.xml" Id="R7a68e73e0c8e487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bb1b6207b9e47c9" /><Relationship Type="http://schemas.openxmlformats.org/officeDocument/2006/relationships/notesSlide" Target="/ppt/notesSlides/notesSlide27.xml" Id="R3625485b3d7c4a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e7bf0097ccb4396" /><Relationship Type="http://schemas.openxmlformats.org/officeDocument/2006/relationships/notesSlide" Target="/ppt/notesSlides/notesSlide28.xml" Id="Rc74092bebaaf4b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81523c613ee441e" /><Relationship Type="http://schemas.openxmlformats.org/officeDocument/2006/relationships/notesSlide" Target="/ppt/notesSlides/notesSlide29.xml" Id="Re07ff8a29b5340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6cc6699f9544f2b" /><Relationship Type="http://schemas.openxmlformats.org/officeDocument/2006/relationships/notesSlide" Target="/ppt/notesSlides/notesSlide30.xml" Id="Ra10f424a3e994f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5b743f3fff543e7" /><Relationship Type="http://schemas.openxmlformats.org/officeDocument/2006/relationships/notesSlide" Target="/ppt/notesSlides/notesSlide31.xml" Id="R055f7bab9d7144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d2996aeab014bb6" /><Relationship Type="http://schemas.openxmlformats.org/officeDocument/2006/relationships/notesSlide" Target="/ppt/notesSlides/notesSlide32.xml" Id="R0e21a1f0d86e443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1c76b4355e54e54" /><Relationship Type="http://schemas.openxmlformats.org/officeDocument/2006/relationships/notesSlide" Target="/ppt/notesSlides/notesSlide33.xml" Id="Rf23e5ac42cd8448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0ac5ac220e44c02" /><Relationship Type="http://schemas.openxmlformats.org/officeDocument/2006/relationships/notesSlide" Target="/ppt/notesSlides/notesSlide34.xml" Id="Rbd3a5d6082b84c8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9b298e6e08b473a" /><Relationship Type="http://schemas.openxmlformats.org/officeDocument/2006/relationships/notesSlide" Target="/ppt/notesSlides/notesSlide35.xml" Id="R215deae2c65c47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a10e6a6959e41b6" /><Relationship Type="http://schemas.openxmlformats.org/officeDocument/2006/relationships/notesSlide" Target="/ppt/notesSlides/notesSlide36.xml" Id="R6fb55c08e8cb4e6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0a0f5a051934ec5" /><Relationship Type="http://schemas.openxmlformats.org/officeDocument/2006/relationships/notesSlide" Target="/ppt/notesSlides/notesSlide37.xml" Id="R46e12e897edb4c2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7cb08c3c0af4114" /><Relationship Type="http://schemas.openxmlformats.org/officeDocument/2006/relationships/notesSlide" Target="/ppt/notesSlides/notesSlide38.xml" Id="Rfd23e639878e412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b55e653436c41d8" /><Relationship Type="http://schemas.openxmlformats.org/officeDocument/2006/relationships/notesSlide" Target="/ppt/notesSlides/notesSlide39.xml" Id="Rbcaa51b1cc474a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Sugar / g per 100 g</c:v>
          </c:tx>
          <c:spPr>
            <a:solidFill xmlns:a="http://schemas.openxmlformats.org/drawingml/2006/main">
              <a:srgbClr val="7C3AED"/>
            </a:solidFill>
          </c:spPr>
          <c:cat>
            <c:strRef>
              <c:f>'Chart Data'!$A$2:$A$5</c:f>
              <c:strCache>
                <c:ptCount val="4"/>
                <c:pt idx="0">
                  <c:v>A</c:v>
                </c:pt>
                <c:pt idx="1">
                  <c:v>B</c:v>
                </c:pt>
                <c:pt idx="2">
                  <c:v>C</c:v>
                </c:pt>
                <c:pt idx="3">
                  <c:v>D</c:v>
                </c:pt>
              </c:strCache>
            </c:strRef>
          </c:cat>
          <c:val>
            <c:numRef>
              <c:f>'Chart Data'!$B$2:$B$5</c:f>
              <c:numCache>
                <c:formatCode>General</c:formatCode>
                <c:ptCount val="4"/>
                <c:pt idx="0">
                  <c:v>4</c:v>
                </c:pt>
                <c:pt idx="1">
                  <c:v>9</c:v>
                </c:pt>
                <c:pt idx="2">
                  <c:v>14</c:v>
                </c:pt>
                <c:pt idx="3">
                  <c:v>23</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F2937"/>
                  </a:solidFill>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1F2937"/>
                </a:solidFill>
                <a:latin typeface="DejaVu Sans"/>
                <a:ea typeface="DejaVu Sans"/>
                <a:cs typeface="DejaVu San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15B8FB-EDE7-4870-AD9B-53DA90FDC43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550D2B-B2A1-452C-835D-A03242505DB9}"/>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Sugar Evidence: Read the Label</a:t>
            </a:r>
          </a:p>
        </p:txBody>
      </p:sp>
      <p:sp>
        <p:nvSpPr>
          <p:cNvPr id="3" name="">
            <a:extLst xmlns:a="http://schemas.openxmlformats.org/drawingml/2006/main">
              <a:ext uri="{FF2B5EF4-FFF2-40B4-BE49-F238E27FC236}">
                <a16:creationId xmlns:a16="http://schemas.microsoft.com/office/drawing/2014/main" id="{E8F0088E-A6CD-4D6D-A16D-4CC01275BA3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Opening</a:t>
            </a:r>
          </a:p>
        </p:txBody>
      </p:sp>
      <p:sp>
        <p:nvSpPr>
          <p:cNvPr id="4" name="">
            <a:extLst xmlns:a="http://schemas.openxmlformats.org/drawingml/2006/main">
              <a:ext uri="{FF2B5EF4-FFF2-40B4-BE49-F238E27FC236}">
                <a16:creationId xmlns:a16="http://schemas.microsoft.com/office/drawing/2014/main" id="{1744868A-7C6E-4A96-BB5C-BAFFDBB0D4E9}"/>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B44DC693-946B-4C05-8B9F-123D21471763}"/>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3713AB5D-AD93-49C6-A4A8-C6E6D8FB2CEE}"/>
              </a:ext>
            </a:extLst>
          </p:cNvPr>
          <p:cNvSpPr>
            <a:spLocks xmlns:a="http://schemas.openxmlformats.org/drawingml/2006/main" noGrp="1"/>
          </p:cNvSpPr>
          <p:nvPr/>
        </p:nvSpPr>
        <p:spPr>
          <a:xfrm xmlns:a="http://schemas.openxmlformats.org/drawingml/2006/main">
            <a:off x="457200" y="1809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C27B0"/>
                </a:solidFill>
                <a:latin typeface="DejaVu Sans"/>
                <a:ea typeface="DejaVu Sans"/>
                <a:cs typeface="DejaVu Sans"/>
              </a:defRPr>
            </a:pPr>
            <a:r>
              <a:rPr sz="2250" b="1">
                <a:solidFill>
                  <a:srgbClr val="9C27B0"/>
                </a:solidFill>
                <a:latin typeface="DejaVu Sans"/>
                <a:ea typeface="DejaVu Sans"/>
                <a:cs typeface="DejaVu Sans"/>
              </a:rPr>
              <a:t>Learning objective</a:t>
            </a:r>
          </a:p>
        </p:txBody>
      </p:sp>
      <p:sp>
        <p:nvSpPr>
          <p:cNvPr id="7" name="">
            <a:extLst xmlns:a="http://schemas.openxmlformats.org/drawingml/2006/main">
              <a:ext uri="{FF2B5EF4-FFF2-40B4-BE49-F238E27FC236}">
                <a16:creationId xmlns:a16="http://schemas.microsoft.com/office/drawing/2014/main" id="{1ECF2FB7-3E14-4E97-A9D2-C2B694D44F7C}"/>
              </a:ext>
            </a:extLst>
          </p:cNvPr>
          <p:cNvSpPr>
            <a:spLocks xmlns:a="http://schemas.openxmlformats.org/drawingml/2006/main" noGrp="1"/>
          </p:cNvSpPr>
          <p:nvPr/>
        </p:nvSpPr>
        <p:spPr>
          <a:xfrm xmlns:a="http://schemas.openxmlformats.org/drawingml/2006/main">
            <a:off x="457200" y="2333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F2937"/>
                </a:solidFill>
                <a:latin typeface="DejaVu Sans"/>
                <a:ea typeface="DejaVu Sans"/>
                <a:cs typeface="DejaVu Sans"/>
              </a:defRPr>
            </a:pPr>
            <a:r>
              <a:rPr sz="2700" b="0">
                <a:solidFill>
                  <a:srgbClr val="1F2937"/>
                </a:solidFill>
                <a:latin typeface="DejaVu Sans"/>
                <a:ea typeface="DejaVu Sans"/>
                <a:cs typeface="DejaVu Sans"/>
              </a:rPr>
              <a:t>I can compare sugar values using the same label basis and order four supplied food labels from least to most sugar.</a:t>
            </a:r>
          </a:p>
        </p:txBody>
      </p:sp>
      <p:sp>
        <p:nvSpPr>
          <p:cNvPr id="8" name="">
            <a:extLst xmlns:a="http://schemas.openxmlformats.org/drawingml/2006/main">
              <a:ext uri="{FF2B5EF4-FFF2-40B4-BE49-F238E27FC236}">
                <a16:creationId xmlns:a16="http://schemas.microsoft.com/office/drawing/2014/main" id="{B344747A-4799-4031-8009-4189D91B80C1}"/>
              </a:ext>
            </a:extLst>
          </p:cNvPr>
          <p:cNvSpPr>
            <a:spLocks xmlns:a="http://schemas.openxmlformats.org/drawingml/2006/main" noGrp="1"/>
          </p:cNvSpPr>
          <p:nvPr/>
        </p:nvSpPr>
        <p:spPr>
          <a:xfrm xmlns:a="http://schemas.openxmlformats.org/drawingml/2006/main">
            <a:off x="457200" y="3733800"/>
            <a:ext cx="11277600" cy="2190750"/>
          </a:xfrm>
          <a:prstGeom xmlns:a="http://schemas.openxmlformats.org/drawingml/2006/main" prst="roundRect">
            <a:avLst>
              <a:gd name="adj" fmla="val 5217"/>
            </a:avLst>
          </a:prstGeom>
          <a:solidFill xmlns:a="http://schemas.openxmlformats.org/drawingml/2006/main">
            <a:srgbClr val="FFF7ED"/>
          </a:solidFill>
          <a:ln xmlns:a="http://schemas.openxmlformats.org/drawingml/2006/main" w="14288">
            <a:solidFill>
              <a:srgbClr val="C2410C"/>
            </a:solidFill>
          </a:ln>
        </p:spPr>
      </p:sp>
      <p:sp>
        <p:nvSpPr>
          <p:cNvPr id="9" name="">
            <a:extLst xmlns:a="http://schemas.openxmlformats.org/drawingml/2006/main">
              <a:ext uri="{FF2B5EF4-FFF2-40B4-BE49-F238E27FC236}">
                <a16:creationId xmlns:a16="http://schemas.microsoft.com/office/drawing/2014/main" id="{E603EF20-2756-4473-88D0-924E67478AF2}"/>
              </a:ext>
            </a:extLst>
          </p:cNvPr>
          <p:cNvSpPr>
            <a:spLocks xmlns:a="http://schemas.openxmlformats.org/drawingml/2006/main" noGrp="1"/>
          </p:cNvSpPr>
          <p:nvPr/>
        </p:nvSpPr>
        <p:spPr>
          <a:xfrm xmlns:a="http://schemas.openxmlformats.org/drawingml/2006/main">
            <a:off x="609600" y="3848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2410C"/>
                </a:solidFill>
                <a:latin typeface="DejaVu Sans"/>
                <a:ea typeface="DejaVu Sans"/>
                <a:cs typeface="DejaVu Sans"/>
              </a:defRPr>
            </a:pPr>
            <a:r>
              <a:rPr sz="1875" b="1">
                <a:solidFill>
                  <a:srgbClr val="C2410C"/>
                </a:solidFill>
                <a:latin typeface="DejaVu Sans"/>
                <a:ea typeface="DejaVu Sans"/>
                <a:cs typeface="DejaVu Sans"/>
              </a:rPr>
              <a:t>Success looks like</a:t>
            </a:r>
          </a:p>
        </p:txBody>
      </p:sp>
      <p:sp>
        <p:nvSpPr>
          <p:cNvPr id="10" name="">
            <a:extLst xmlns:a="http://schemas.openxmlformats.org/drawingml/2006/main">
              <a:ext uri="{FF2B5EF4-FFF2-40B4-BE49-F238E27FC236}">
                <a16:creationId xmlns:a16="http://schemas.microsoft.com/office/drawing/2014/main" id="{5BBDB73C-DCEE-4E9C-9554-879B2A830FB6}"/>
              </a:ext>
            </a:extLst>
          </p:cNvPr>
          <p:cNvSpPr>
            <a:spLocks xmlns:a="http://schemas.openxmlformats.org/drawingml/2006/main" noGrp="1"/>
          </p:cNvSpPr>
          <p:nvPr/>
        </p:nvSpPr>
        <p:spPr>
          <a:xfrm xmlns:a="http://schemas.openxmlformats.org/drawingml/2006/main">
            <a:off x="609600" y="42576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Find the sugar number, unit and label basis.</a:t>
            </a:r>
          </a:p>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Compare values with the same unit and basis.</a:t>
            </a:r>
          </a:p>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Order four labels and explain the limits of the evidence.</a:t>
            </a:r>
          </a:p>
        </p:txBody>
      </p:sp>
    </p:spTree>
    <p:extLst>
      <p:ext uri="{BB962C8B-B14F-4D97-AF65-F5344CB8AC3E}">
        <p14:creationId xmlns:p14="http://schemas.microsoft.com/office/powerpoint/2010/main" val="1885392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73DB769-078B-456B-BD6D-5CB98E66571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9E7944-0D45-4FBD-9859-587B95456F77}"/>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task</a:t>
            </a:r>
          </a:p>
        </p:txBody>
      </p:sp>
      <p:sp>
        <p:nvSpPr>
          <p:cNvPr id="3" name="">
            <a:extLst xmlns:a="http://schemas.openxmlformats.org/drawingml/2006/main">
              <a:ext uri="{FF2B5EF4-FFF2-40B4-BE49-F238E27FC236}">
                <a16:creationId xmlns:a16="http://schemas.microsoft.com/office/drawing/2014/main" id="{920CA3A5-85FB-4286-8325-8F05F1845634}"/>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E6B23C53-2CEA-4A7D-A95C-8A786F19F7E5}"/>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a:t>
            </a:r>
          </a:p>
        </p:txBody>
      </p:sp>
      <p:sp>
        <p:nvSpPr>
          <p:cNvPr id="5" name="">
            <a:extLst xmlns:a="http://schemas.openxmlformats.org/drawingml/2006/main">
              <a:ext uri="{FF2B5EF4-FFF2-40B4-BE49-F238E27FC236}">
                <a16:creationId xmlns:a16="http://schemas.microsoft.com/office/drawing/2014/main" id="{DB94B34D-EE2F-4A26-A82D-D81E8673F9F5}"/>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1881A353-90E5-43D0-88CE-33A2023C1A97}"/>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a:t>
            </a:r>
          </a:p>
        </p:txBody>
      </p:sp>
      <p:sp>
        <p:nvSpPr>
          <p:cNvPr id="7" name="">
            <a:extLst xmlns:a="http://schemas.openxmlformats.org/drawingml/2006/main">
              <a:ext uri="{FF2B5EF4-FFF2-40B4-BE49-F238E27FC236}">
                <a16:creationId xmlns:a16="http://schemas.microsoft.com/office/drawing/2014/main" id="{4544B972-5EAC-4D60-98A4-C7BC23ED2993}"/>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8" name="">
            <a:extLst xmlns:a="http://schemas.openxmlformats.org/drawingml/2006/main">
              <a:ext uri="{FF2B5EF4-FFF2-40B4-BE49-F238E27FC236}">
                <a16:creationId xmlns:a16="http://schemas.microsoft.com/office/drawing/2014/main" id="{FF4BDBF5-644A-4C3D-B666-76F99465A2D3}"/>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1. Read the arrow</a:t>
            </a:r>
          </a:p>
        </p:txBody>
      </p:sp>
      <p:sp>
        <p:nvSpPr>
          <p:cNvPr id="9" name="">
            <a:extLst xmlns:a="http://schemas.openxmlformats.org/drawingml/2006/main">
              <a:ext uri="{FF2B5EF4-FFF2-40B4-BE49-F238E27FC236}">
                <a16:creationId xmlns:a16="http://schemas.microsoft.com/office/drawing/2014/main" id="{4460FC21-0D0C-4B29-8452-BC76E2A88291}"/>
              </a:ext>
            </a:extLst>
          </p:cNvPr>
          <p:cNvSpPr>
            <a:spLocks xmlns:a="http://schemas.openxmlformats.org/drawingml/2006/main" noGrp="1"/>
          </p:cNvSpPr>
          <p:nvPr/>
        </p:nvSpPr>
        <p:spPr>
          <a:xfrm xmlns:a="http://schemas.openxmlformats.org/drawingml/2006/main">
            <a:off x="6096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Plant → caterpillar → bird. What does the arrow from plant to caterpillar show?</a:t>
            </a:r>
          </a:p>
        </p:txBody>
      </p:sp>
      <p:sp>
        <p:nvSpPr>
          <p:cNvPr id="10" name="">
            <a:extLst xmlns:a="http://schemas.openxmlformats.org/drawingml/2006/main">
              <a:ext uri="{FF2B5EF4-FFF2-40B4-BE49-F238E27FC236}">
                <a16:creationId xmlns:a16="http://schemas.microsoft.com/office/drawing/2014/main" id="{244D08FB-DDEB-41C9-BEDC-37DB802ADBF3}"/>
              </a:ext>
            </a:extLst>
          </p:cNvPr>
          <p:cNvSpPr>
            <a:spLocks xmlns:a="http://schemas.openxmlformats.org/drawingml/2006/main" noGrp="1"/>
          </p:cNvSpPr>
          <p:nvPr/>
        </p:nvSpPr>
        <p:spPr>
          <a:xfrm xmlns:a="http://schemas.openxmlformats.org/drawingml/2006/main">
            <a:off x="6096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Think about food and energy transfer.</a:t>
            </a:r>
          </a:p>
        </p:txBody>
      </p:sp>
      <p:sp>
        <p:nvSpPr>
          <p:cNvPr id="11" name="">
            <a:extLst xmlns:a="http://schemas.openxmlformats.org/drawingml/2006/main">
              <a:ext uri="{FF2B5EF4-FFF2-40B4-BE49-F238E27FC236}">
                <a16:creationId xmlns:a16="http://schemas.microsoft.com/office/drawing/2014/main" id="{799F87AB-10BB-4064-BE0D-A5D57C4D5106}"/>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2" name="">
            <a:extLst xmlns:a="http://schemas.openxmlformats.org/drawingml/2006/main">
              <a:ext uri="{FF2B5EF4-FFF2-40B4-BE49-F238E27FC236}">
                <a16:creationId xmlns:a16="http://schemas.microsoft.com/office/drawing/2014/main" id="{26154904-8A4E-4C2D-9788-B3CBBBE191AF}"/>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2. Recall body jobs</a:t>
            </a:r>
          </a:p>
        </p:txBody>
      </p:sp>
      <p:sp>
        <p:nvSpPr>
          <p:cNvPr id="13" name="">
            <a:extLst xmlns:a="http://schemas.openxmlformats.org/drawingml/2006/main">
              <a:ext uri="{FF2B5EF4-FFF2-40B4-BE49-F238E27FC236}">
                <a16:creationId xmlns:a16="http://schemas.microsoft.com/office/drawing/2014/main" id="{C19073F1-6516-4484-A370-F1A9056EA9B8}"/>
              </a:ext>
            </a:extLst>
          </p:cNvPr>
          <p:cNvSpPr>
            <a:spLocks xmlns:a="http://schemas.openxmlformats.org/drawingml/2006/main" noGrp="1"/>
          </p:cNvSpPr>
          <p:nvPr/>
        </p:nvSpPr>
        <p:spPr>
          <a:xfrm xmlns:a="http://schemas.openxmlformats.org/drawingml/2006/main">
            <a:off x="63627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Name two jobs that nutrients from food support.</a:t>
            </a:r>
          </a:p>
        </p:txBody>
      </p:sp>
      <p:sp>
        <p:nvSpPr>
          <p:cNvPr id="14" name="">
            <a:extLst xmlns:a="http://schemas.openxmlformats.org/drawingml/2006/main">
              <a:ext uri="{FF2B5EF4-FFF2-40B4-BE49-F238E27FC236}">
                <a16:creationId xmlns:a16="http://schemas.microsoft.com/office/drawing/2014/main" id="{87EBA710-2F94-4EFB-B941-4F9B7409F230}"/>
              </a:ext>
            </a:extLst>
          </p:cNvPr>
          <p:cNvSpPr>
            <a:spLocks xmlns:a="http://schemas.openxmlformats.org/drawingml/2006/main" noGrp="1"/>
          </p:cNvSpPr>
          <p:nvPr/>
        </p:nvSpPr>
        <p:spPr>
          <a:xfrm xmlns:a="http://schemas.openxmlformats.org/drawingml/2006/main">
            <a:off x="63627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Think about energy, growth or repair.</a:t>
            </a:r>
          </a:p>
        </p:txBody>
      </p:sp>
      <p:sp>
        <p:nvSpPr>
          <p:cNvPr id="15" name="">
            <a:extLst xmlns:a="http://schemas.openxmlformats.org/drawingml/2006/main">
              <a:ext uri="{FF2B5EF4-FFF2-40B4-BE49-F238E27FC236}">
                <a16:creationId xmlns:a16="http://schemas.microsoft.com/office/drawing/2014/main" id="{D48D6201-DA96-4984-8F43-8EEF1000DA00}"/>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6" name="">
            <a:extLst xmlns:a="http://schemas.openxmlformats.org/drawingml/2006/main">
              <a:ext uri="{FF2B5EF4-FFF2-40B4-BE49-F238E27FC236}">
                <a16:creationId xmlns:a16="http://schemas.microsoft.com/office/drawing/2014/main" id="{9AE3B488-A4BA-424A-B3BC-B349C1AF549E}"/>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3. Explain variety</a:t>
            </a:r>
          </a:p>
        </p:txBody>
      </p:sp>
      <p:sp>
        <p:nvSpPr>
          <p:cNvPr id="17" name="">
            <a:extLst xmlns:a="http://schemas.openxmlformats.org/drawingml/2006/main">
              <a:ext uri="{FF2B5EF4-FFF2-40B4-BE49-F238E27FC236}">
                <a16:creationId xmlns:a16="http://schemas.microsoft.com/office/drawing/2014/main" id="{4FBCCA3B-6066-4819-852C-060C47404263}"/>
              </a:ext>
            </a:extLst>
          </p:cNvPr>
          <p:cNvSpPr>
            <a:spLocks xmlns:a="http://schemas.openxmlformats.org/drawingml/2006/main" noGrp="1"/>
          </p:cNvSpPr>
          <p:nvPr/>
        </p:nvSpPr>
        <p:spPr>
          <a:xfrm xmlns:a="http://schemas.openxmlformats.org/drawingml/2006/main">
            <a:off x="6096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Why does a balanced eating pattern include a range of foods?</a:t>
            </a:r>
          </a:p>
        </p:txBody>
      </p:sp>
      <p:sp>
        <p:nvSpPr>
          <p:cNvPr id="18" name="">
            <a:extLst xmlns:a="http://schemas.openxmlformats.org/drawingml/2006/main">
              <a:ext uri="{FF2B5EF4-FFF2-40B4-BE49-F238E27FC236}">
                <a16:creationId xmlns:a16="http://schemas.microsoft.com/office/drawing/2014/main" id="{14ABD820-9D9C-41D5-AC7E-B8DBB4C3338B}"/>
              </a:ext>
            </a:extLst>
          </p:cNvPr>
          <p:cNvSpPr>
            <a:spLocks xmlns:a="http://schemas.openxmlformats.org/drawingml/2006/main" noGrp="1"/>
          </p:cNvSpPr>
          <p:nvPr/>
        </p:nvSpPr>
        <p:spPr>
          <a:xfrm xmlns:a="http://schemas.openxmlformats.org/drawingml/2006/main">
            <a:off x="6096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Different foods supply different nutrients.</a:t>
            </a:r>
          </a:p>
        </p:txBody>
      </p:sp>
      <p:sp>
        <p:nvSpPr>
          <p:cNvPr id="19" name="">
            <a:extLst xmlns:a="http://schemas.openxmlformats.org/drawingml/2006/main">
              <a:ext uri="{FF2B5EF4-FFF2-40B4-BE49-F238E27FC236}">
                <a16:creationId xmlns:a16="http://schemas.microsoft.com/office/drawing/2014/main" id="{2C8AAF2C-6AA8-45B1-B940-A16D8652C80A}"/>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20" name="">
            <a:extLst xmlns:a="http://schemas.openxmlformats.org/drawingml/2006/main">
              <a:ext uri="{FF2B5EF4-FFF2-40B4-BE49-F238E27FC236}">
                <a16:creationId xmlns:a16="http://schemas.microsoft.com/office/drawing/2014/main" id="{A3049DD1-D93B-4DC3-9B0C-70FC5200BF52}"/>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4. Read all three</a:t>
            </a:r>
          </a:p>
        </p:txBody>
      </p:sp>
      <p:sp>
        <p:nvSpPr>
          <p:cNvPr id="21" name="">
            <a:extLst xmlns:a="http://schemas.openxmlformats.org/drawingml/2006/main">
              <a:ext uri="{FF2B5EF4-FFF2-40B4-BE49-F238E27FC236}">
                <a16:creationId xmlns:a16="http://schemas.microsoft.com/office/drawing/2014/main" id="{8F5DE103-73E9-43B4-BE36-24FA02379A65}"/>
              </a:ext>
            </a:extLst>
          </p:cNvPr>
          <p:cNvSpPr>
            <a:spLocks xmlns:a="http://schemas.openxmlformats.org/drawingml/2006/main" noGrp="1"/>
          </p:cNvSpPr>
          <p:nvPr/>
        </p:nvSpPr>
        <p:spPr>
          <a:xfrm xmlns:a="http://schemas.openxmlformats.org/drawingml/2006/main">
            <a:off x="63627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A label says 'of which sugars: 4 g per 100 g'. Give the number, unit and basis.</a:t>
            </a:r>
          </a:p>
        </p:txBody>
      </p:sp>
      <p:sp>
        <p:nvSpPr>
          <p:cNvPr id="22" name="">
            <a:extLst xmlns:a="http://schemas.openxmlformats.org/drawingml/2006/main">
              <a:ext uri="{FF2B5EF4-FFF2-40B4-BE49-F238E27FC236}">
                <a16:creationId xmlns:a16="http://schemas.microsoft.com/office/drawing/2014/main" id="{D621377C-2C4E-4594-84E0-4FAACA4372FE}"/>
              </a:ext>
            </a:extLst>
          </p:cNvPr>
          <p:cNvSpPr>
            <a:spLocks xmlns:a="http://schemas.openxmlformats.org/drawingml/2006/main" noGrp="1"/>
          </p:cNvSpPr>
          <p:nvPr/>
        </p:nvSpPr>
        <p:spPr>
          <a:xfrm xmlns:a="http://schemas.openxmlformats.org/drawingml/2006/main">
            <a:off x="63627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Number = how much; unit = what measure; basis = in how much food.</a:t>
            </a:r>
          </a:p>
        </p:txBody>
      </p:sp>
    </p:spTree>
    <p:extLst>
      <p:ext uri="{BB962C8B-B14F-4D97-AF65-F5344CB8AC3E}">
        <p14:creationId xmlns:p14="http://schemas.microsoft.com/office/powerpoint/2010/main" val="840796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D41D32-ABE6-40D9-8C74-94899DA39B5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4E44FC-5D52-43AD-A195-6CA546FD8195}"/>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answers</a:t>
            </a:r>
          </a:p>
        </p:txBody>
      </p:sp>
      <p:sp>
        <p:nvSpPr>
          <p:cNvPr id="3" name="">
            <a:extLst xmlns:a="http://schemas.openxmlformats.org/drawingml/2006/main">
              <a:ext uri="{FF2B5EF4-FFF2-40B4-BE49-F238E27FC236}">
                <a16:creationId xmlns:a16="http://schemas.microsoft.com/office/drawing/2014/main" id="{886FB323-23F1-4A63-8518-F259B6271762}"/>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5DDAFC5D-F3EA-4986-82C1-F93CD9848EE9}"/>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a:t>
            </a:r>
          </a:p>
        </p:txBody>
      </p:sp>
      <p:sp>
        <p:nvSpPr>
          <p:cNvPr id="5" name="">
            <a:extLst xmlns:a="http://schemas.openxmlformats.org/drawingml/2006/main">
              <a:ext uri="{FF2B5EF4-FFF2-40B4-BE49-F238E27FC236}">
                <a16:creationId xmlns:a16="http://schemas.microsoft.com/office/drawing/2014/main" id="{5AE3C01B-7E1F-467C-823A-35E0C85D3AAB}"/>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E7293397-9BD4-49D7-BC2B-114BF8117A0A}"/>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a:t>
            </a:r>
          </a:p>
        </p:txBody>
      </p:sp>
      <p:sp>
        <p:nvSpPr>
          <p:cNvPr id="7" name="">
            <a:extLst xmlns:a="http://schemas.openxmlformats.org/drawingml/2006/main">
              <a:ext uri="{FF2B5EF4-FFF2-40B4-BE49-F238E27FC236}">
                <a16:creationId xmlns:a16="http://schemas.microsoft.com/office/drawing/2014/main" id="{8CDBEA58-E820-4970-ABA5-220FFFBC99B2}"/>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8" name="">
            <a:extLst xmlns:a="http://schemas.openxmlformats.org/drawingml/2006/main">
              <a:ext uri="{FF2B5EF4-FFF2-40B4-BE49-F238E27FC236}">
                <a16:creationId xmlns:a16="http://schemas.microsoft.com/office/drawing/2014/main" id="{DC4A20BD-8043-46D0-BE2C-DF8F2871EAA8}"/>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1. Read the arrow</a:t>
            </a:r>
          </a:p>
        </p:txBody>
      </p:sp>
      <p:sp>
        <p:nvSpPr>
          <p:cNvPr id="9" name="">
            <a:extLst xmlns:a="http://schemas.openxmlformats.org/drawingml/2006/main">
              <a:ext uri="{FF2B5EF4-FFF2-40B4-BE49-F238E27FC236}">
                <a16:creationId xmlns:a16="http://schemas.microsoft.com/office/drawing/2014/main" id="{6CD8A3AD-1172-4426-BECE-906D03B5F075}"/>
              </a:ext>
            </a:extLst>
          </p:cNvPr>
          <p:cNvSpPr>
            <a:spLocks xmlns:a="http://schemas.openxmlformats.org/drawingml/2006/main" noGrp="1"/>
          </p:cNvSpPr>
          <p:nvPr/>
        </p:nvSpPr>
        <p:spPr>
          <a:xfrm xmlns:a="http://schemas.openxmlformats.org/drawingml/2006/main">
            <a:off x="6096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The caterpillar gets food and energy by eating the plant. The arrow points in the direction of transfer.</a:t>
            </a:r>
          </a:p>
        </p:txBody>
      </p:sp>
      <p:sp>
        <p:nvSpPr>
          <p:cNvPr id="10" name="">
            <a:extLst xmlns:a="http://schemas.openxmlformats.org/drawingml/2006/main">
              <a:ext uri="{FF2B5EF4-FFF2-40B4-BE49-F238E27FC236}">
                <a16:creationId xmlns:a16="http://schemas.microsoft.com/office/drawing/2014/main" id="{E8B743FF-5D0B-4186-AEA6-035AFCB5E49C}"/>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1" name="">
            <a:extLst xmlns:a="http://schemas.openxmlformats.org/drawingml/2006/main">
              <a:ext uri="{FF2B5EF4-FFF2-40B4-BE49-F238E27FC236}">
                <a16:creationId xmlns:a16="http://schemas.microsoft.com/office/drawing/2014/main" id="{A01BF769-879E-4386-8B3A-9EDE604AA9BA}"/>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2. Recall body jobs</a:t>
            </a:r>
          </a:p>
        </p:txBody>
      </p:sp>
      <p:sp>
        <p:nvSpPr>
          <p:cNvPr id="12" name="">
            <a:extLst xmlns:a="http://schemas.openxmlformats.org/drawingml/2006/main">
              <a:ext uri="{FF2B5EF4-FFF2-40B4-BE49-F238E27FC236}">
                <a16:creationId xmlns:a16="http://schemas.microsoft.com/office/drawing/2014/main" id="{7EFDB9EC-D823-46E2-B1B8-62354BE28759}"/>
              </a:ext>
            </a:extLst>
          </p:cNvPr>
          <p:cNvSpPr>
            <a:spLocks xmlns:a="http://schemas.openxmlformats.org/drawingml/2006/main" noGrp="1"/>
          </p:cNvSpPr>
          <p:nvPr/>
        </p:nvSpPr>
        <p:spPr>
          <a:xfrm xmlns:a="http://schemas.openxmlformats.org/drawingml/2006/main">
            <a:off x="63627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Any two: supplying energy, growth, repairing tissues. Accept other correct nutrient functions.</a:t>
            </a:r>
          </a:p>
        </p:txBody>
      </p:sp>
      <p:sp>
        <p:nvSpPr>
          <p:cNvPr id="13" name="">
            <a:extLst xmlns:a="http://schemas.openxmlformats.org/drawingml/2006/main">
              <a:ext uri="{FF2B5EF4-FFF2-40B4-BE49-F238E27FC236}">
                <a16:creationId xmlns:a16="http://schemas.microsoft.com/office/drawing/2014/main" id="{8F15B78F-4776-479C-9F9D-B43AB4004F9C}"/>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4" name="">
            <a:extLst xmlns:a="http://schemas.openxmlformats.org/drawingml/2006/main">
              <a:ext uri="{FF2B5EF4-FFF2-40B4-BE49-F238E27FC236}">
                <a16:creationId xmlns:a16="http://schemas.microsoft.com/office/drawing/2014/main" id="{B2844A92-E6F4-4811-A056-D239A658AEB9}"/>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3. Explain variety</a:t>
            </a:r>
          </a:p>
        </p:txBody>
      </p:sp>
      <p:sp>
        <p:nvSpPr>
          <p:cNvPr id="15" name="">
            <a:extLst xmlns:a="http://schemas.openxmlformats.org/drawingml/2006/main">
              <a:ext uri="{FF2B5EF4-FFF2-40B4-BE49-F238E27FC236}">
                <a16:creationId xmlns:a16="http://schemas.microsoft.com/office/drawing/2014/main" id="{40AC9F48-DA92-468C-A86D-277A6007AF8D}"/>
              </a:ext>
            </a:extLst>
          </p:cNvPr>
          <p:cNvSpPr>
            <a:spLocks xmlns:a="http://schemas.openxmlformats.org/drawingml/2006/main" noGrp="1"/>
          </p:cNvSpPr>
          <p:nvPr/>
        </p:nvSpPr>
        <p:spPr>
          <a:xfrm xmlns:a="http://schemas.openxmlformats.org/drawingml/2006/main">
            <a:off x="6096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Different foods provide different nutrients and amounts. A varied pattern helps meet different needs; no single food must do every job.</a:t>
            </a:r>
          </a:p>
        </p:txBody>
      </p:sp>
      <p:sp>
        <p:nvSpPr>
          <p:cNvPr id="16" name="">
            <a:extLst xmlns:a="http://schemas.openxmlformats.org/drawingml/2006/main">
              <a:ext uri="{FF2B5EF4-FFF2-40B4-BE49-F238E27FC236}">
                <a16:creationId xmlns:a16="http://schemas.microsoft.com/office/drawing/2014/main" id="{24845610-560B-442E-90D0-C659A1543D09}"/>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7" name="">
            <a:extLst xmlns:a="http://schemas.openxmlformats.org/drawingml/2006/main">
              <a:ext uri="{FF2B5EF4-FFF2-40B4-BE49-F238E27FC236}">
                <a16:creationId xmlns:a16="http://schemas.microsoft.com/office/drawing/2014/main" id="{444C81F5-38E2-4396-805D-6B145B8CAF2D}"/>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4. Read all three</a:t>
            </a:r>
          </a:p>
        </p:txBody>
      </p:sp>
      <p:sp>
        <p:nvSpPr>
          <p:cNvPr id="18" name="">
            <a:extLst xmlns:a="http://schemas.openxmlformats.org/drawingml/2006/main">
              <a:ext uri="{FF2B5EF4-FFF2-40B4-BE49-F238E27FC236}">
                <a16:creationId xmlns:a16="http://schemas.microsoft.com/office/drawing/2014/main" id="{166E28D1-6A93-4CEA-A825-407534B149E8}"/>
              </a:ext>
            </a:extLst>
          </p:cNvPr>
          <p:cNvSpPr>
            <a:spLocks xmlns:a="http://schemas.openxmlformats.org/drawingml/2006/main" noGrp="1"/>
          </p:cNvSpPr>
          <p:nvPr/>
        </p:nvSpPr>
        <p:spPr>
          <a:xfrm xmlns:a="http://schemas.openxmlformats.org/drawingml/2006/main">
            <a:off x="63627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Number: 4. Unit: g (grams). Basis: per 100 g of food.</a:t>
            </a:r>
          </a:p>
        </p:txBody>
      </p:sp>
    </p:spTree>
    <p:extLst>
      <p:ext uri="{BB962C8B-B14F-4D97-AF65-F5344CB8AC3E}">
        <p14:creationId xmlns:p14="http://schemas.microsoft.com/office/powerpoint/2010/main" val="7911485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6E1E37F-118A-41B2-AD66-9001761063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9BEFAC-C76D-4E45-BF23-0D2B300BFDF7}"/>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task</a:t>
            </a:r>
          </a:p>
        </p:txBody>
      </p:sp>
      <p:sp>
        <p:nvSpPr>
          <p:cNvPr id="3" name="">
            <a:extLst xmlns:a="http://schemas.openxmlformats.org/drawingml/2006/main">
              <a:ext uri="{FF2B5EF4-FFF2-40B4-BE49-F238E27FC236}">
                <a16:creationId xmlns:a16="http://schemas.microsoft.com/office/drawing/2014/main" id="{C10E89FC-3616-489C-95D5-ADC9FD01B7C1}"/>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A387FEE4-7505-4839-B8FC-FCE60C8E891F}"/>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a:t>
            </a:r>
          </a:p>
        </p:txBody>
      </p:sp>
      <p:sp>
        <p:nvSpPr>
          <p:cNvPr id="5" name="">
            <a:extLst xmlns:a="http://schemas.openxmlformats.org/drawingml/2006/main">
              <a:ext uri="{FF2B5EF4-FFF2-40B4-BE49-F238E27FC236}">
                <a16:creationId xmlns:a16="http://schemas.microsoft.com/office/drawing/2014/main" id="{CA5DF5AC-4162-4551-BDC0-068464A4423F}"/>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857FAF7B-C178-4C43-AA94-3A534071111A}"/>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4</a:t>
            </a:r>
          </a:p>
        </p:txBody>
      </p:sp>
      <p:sp>
        <p:nvSpPr>
          <p:cNvPr id="7" name="">
            <a:extLst xmlns:a="http://schemas.openxmlformats.org/drawingml/2006/main">
              <a:ext uri="{FF2B5EF4-FFF2-40B4-BE49-F238E27FC236}">
                <a16:creationId xmlns:a16="http://schemas.microsoft.com/office/drawing/2014/main" id="{582C7B7A-4F38-4943-A74B-A9C18D352633}"/>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8" name="">
            <a:extLst xmlns:a="http://schemas.openxmlformats.org/drawingml/2006/main">
              <a:ext uri="{FF2B5EF4-FFF2-40B4-BE49-F238E27FC236}">
                <a16:creationId xmlns:a16="http://schemas.microsoft.com/office/drawing/2014/main" id="{D24A03DA-FC99-4081-A6F1-84D55BB8AE40}"/>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1. Food chain</a:t>
            </a:r>
          </a:p>
        </p:txBody>
      </p:sp>
      <p:sp>
        <p:nvSpPr>
          <p:cNvPr id="9" name="">
            <a:extLst xmlns:a="http://schemas.openxmlformats.org/drawingml/2006/main">
              <a:ext uri="{FF2B5EF4-FFF2-40B4-BE49-F238E27FC236}">
                <a16:creationId xmlns:a16="http://schemas.microsoft.com/office/drawing/2014/main" id="{78DC215E-3103-47D0-8CA8-A817704B6B3F}"/>
              </a:ext>
            </a:extLst>
          </p:cNvPr>
          <p:cNvSpPr>
            <a:spLocks xmlns:a="http://schemas.openxmlformats.org/drawingml/2006/main" noGrp="1"/>
          </p:cNvSpPr>
          <p:nvPr/>
        </p:nvSpPr>
        <p:spPr>
          <a:xfrm xmlns:a="http://schemas.openxmlformats.org/drawingml/2006/main">
            <a:off x="6096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Plant → caterpillar → bird. Which is the plant that starts this chain?</a:t>
            </a:r>
          </a:p>
        </p:txBody>
      </p:sp>
      <p:sp>
        <p:nvSpPr>
          <p:cNvPr id="10" name="">
            <a:extLst xmlns:a="http://schemas.openxmlformats.org/drawingml/2006/main">
              <a:ext uri="{FF2B5EF4-FFF2-40B4-BE49-F238E27FC236}">
                <a16:creationId xmlns:a16="http://schemas.microsoft.com/office/drawing/2014/main" id="{99E90F0E-148A-4B9F-88DE-9D784BD361F3}"/>
              </a:ext>
            </a:extLst>
          </p:cNvPr>
          <p:cNvSpPr>
            <a:spLocks xmlns:a="http://schemas.openxmlformats.org/drawingml/2006/main" noGrp="1"/>
          </p:cNvSpPr>
          <p:nvPr/>
        </p:nvSpPr>
        <p:spPr>
          <a:xfrm xmlns:a="http://schemas.openxmlformats.org/drawingml/2006/main">
            <a:off x="6096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A producer makes its own food. Here, it is the plant.</a:t>
            </a:r>
          </a:p>
        </p:txBody>
      </p:sp>
      <p:sp>
        <p:nvSpPr>
          <p:cNvPr id="11" name="">
            <a:extLst xmlns:a="http://schemas.openxmlformats.org/drawingml/2006/main">
              <a:ext uri="{FF2B5EF4-FFF2-40B4-BE49-F238E27FC236}">
                <a16:creationId xmlns:a16="http://schemas.microsoft.com/office/drawing/2014/main" id="{2E928399-BB9D-4DE1-8BDB-29A7E4B3EA89}"/>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2" name="">
            <a:extLst xmlns:a="http://schemas.openxmlformats.org/drawingml/2006/main">
              <a:ext uri="{FF2B5EF4-FFF2-40B4-BE49-F238E27FC236}">
                <a16:creationId xmlns:a16="http://schemas.microsoft.com/office/drawing/2014/main" id="{CB414698-282B-40F7-9EAC-A23D89EA22CE}"/>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2. Body jobs</a:t>
            </a:r>
          </a:p>
        </p:txBody>
      </p:sp>
      <p:sp>
        <p:nvSpPr>
          <p:cNvPr id="13" name="">
            <a:extLst xmlns:a="http://schemas.openxmlformats.org/drawingml/2006/main">
              <a:ext uri="{FF2B5EF4-FFF2-40B4-BE49-F238E27FC236}">
                <a16:creationId xmlns:a16="http://schemas.microsoft.com/office/drawing/2014/main" id="{A2B25D84-BC33-4FFD-98B5-F0BC20C3ED5A}"/>
              </a:ext>
            </a:extLst>
          </p:cNvPr>
          <p:cNvSpPr>
            <a:spLocks xmlns:a="http://schemas.openxmlformats.org/drawingml/2006/main" noGrp="1"/>
          </p:cNvSpPr>
          <p:nvPr/>
        </p:nvSpPr>
        <p:spPr>
          <a:xfrm xmlns:a="http://schemas.openxmlformats.org/drawingml/2006/main">
            <a:off x="63627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Food helps us have energy and grow. Choose: energy only / growth only / both.</a:t>
            </a:r>
          </a:p>
        </p:txBody>
      </p:sp>
      <p:sp>
        <p:nvSpPr>
          <p:cNvPr id="14" name="">
            <a:extLst xmlns:a="http://schemas.openxmlformats.org/drawingml/2006/main">
              <a:ext uri="{FF2B5EF4-FFF2-40B4-BE49-F238E27FC236}">
                <a16:creationId xmlns:a16="http://schemas.microsoft.com/office/drawing/2014/main" id="{B9DD0705-49EB-4262-B9D5-7B88A6B9ACD3}"/>
              </a:ext>
            </a:extLst>
          </p:cNvPr>
          <p:cNvSpPr>
            <a:spLocks xmlns:a="http://schemas.openxmlformats.org/drawingml/2006/main" noGrp="1"/>
          </p:cNvSpPr>
          <p:nvPr/>
        </p:nvSpPr>
        <p:spPr>
          <a:xfrm xmlns:a="http://schemas.openxmlformats.org/drawingml/2006/main">
            <a:off x="63627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There are two jobs in the question.</a:t>
            </a:r>
          </a:p>
        </p:txBody>
      </p:sp>
      <p:sp>
        <p:nvSpPr>
          <p:cNvPr id="15" name="">
            <a:extLst xmlns:a="http://schemas.openxmlformats.org/drawingml/2006/main">
              <a:ext uri="{FF2B5EF4-FFF2-40B4-BE49-F238E27FC236}">
                <a16:creationId xmlns:a16="http://schemas.microsoft.com/office/drawing/2014/main" id="{48350471-94CC-4A5D-9995-713E807AC51F}"/>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6" name="">
            <a:extLst xmlns:a="http://schemas.openxmlformats.org/drawingml/2006/main">
              <a:ext uri="{FF2B5EF4-FFF2-40B4-BE49-F238E27FC236}">
                <a16:creationId xmlns:a16="http://schemas.microsoft.com/office/drawing/2014/main" id="{23F5732D-DE78-4CF5-A208-8B90756EC337}"/>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3. A varied pattern</a:t>
            </a:r>
          </a:p>
        </p:txBody>
      </p:sp>
      <p:sp>
        <p:nvSpPr>
          <p:cNvPr id="17" name="">
            <a:extLst xmlns:a="http://schemas.openxmlformats.org/drawingml/2006/main">
              <a:ext uri="{FF2B5EF4-FFF2-40B4-BE49-F238E27FC236}">
                <a16:creationId xmlns:a16="http://schemas.microsoft.com/office/drawing/2014/main" id="{6FCB32DE-4123-4A82-B2FA-104459AA35F1}"/>
              </a:ext>
            </a:extLst>
          </p:cNvPr>
          <p:cNvSpPr>
            <a:spLocks xmlns:a="http://schemas.openxmlformats.org/drawingml/2006/main" noGrp="1"/>
          </p:cNvSpPr>
          <p:nvPr/>
        </p:nvSpPr>
        <p:spPr>
          <a:xfrm xmlns:a="http://schemas.openxmlformats.org/drawingml/2006/main">
            <a:off x="6096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A balanced eating pattern includes a range of foods. Choose: one food always / a range of foods.</a:t>
            </a:r>
          </a:p>
        </p:txBody>
      </p:sp>
      <p:sp>
        <p:nvSpPr>
          <p:cNvPr id="18" name="">
            <a:extLst xmlns:a="http://schemas.openxmlformats.org/drawingml/2006/main">
              <a:ext uri="{FF2B5EF4-FFF2-40B4-BE49-F238E27FC236}">
                <a16:creationId xmlns:a16="http://schemas.microsoft.com/office/drawing/2014/main" id="{93EED329-10FC-4B18-ABC3-1F6AA0700831}"/>
              </a:ext>
            </a:extLst>
          </p:cNvPr>
          <p:cNvSpPr>
            <a:spLocks xmlns:a="http://schemas.openxmlformats.org/drawingml/2006/main" noGrp="1"/>
          </p:cNvSpPr>
          <p:nvPr/>
        </p:nvSpPr>
        <p:spPr>
          <a:xfrm xmlns:a="http://schemas.openxmlformats.org/drawingml/2006/main">
            <a:off x="6096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Balanced means varied over time.</a:t>
            </a:r>
          </a:p>
        </p:txBody>
      </p:sp>
      <p:sp>
        <p:nvSpPr>
          <p:cNvPr id="19" name="">
            <a:extLst xmlns:a="http://schemas.openxmlformats.org/drawingml/2006/main">
              <a:ext uri="{FF2B5EF4-FFF2-40B4-BE49-F238E27FC236}">
                <a16:creationId xmlns:a16="http://schemas.microsoft.com/office/drawing/2014/main" id="{B26EA446-E805-4D74-9F81-B9A448DE02D8}"/>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20" name="">
            <a:extLst xmlns:a="http://schemas.openxmlformats.org/drawingml/2006/main">
              <a:ext uri="{FF2B5EF4-FFF2-40B4-BE49-F238E27FC236}">
                <a16:creationId xmlns:a16="http://schemas.microsoft.com/office/drawing/2014/main" id="{FAD0E0FA-E8CA-48C0-B46E-D013307FD112}"/>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4. Label clue</a:t>
            </a:r>
          </a:p>
        </p:txBody>
      </p:sp>
      <p:sp>
        <p:nvSpPr>
          <p:cNvPr id="21" name="">
            <a:extLst xmlns:a="http://schemas.openxmlformats.org/drawingml/2006/main">
              <a:ext uri="{FF2B5EF4-FFF2-40B4-BE49-F238E27FC236}">
                <a16:creationId xmlns:a16="http://schemas.microsoft.com/office/drawing/2014/main" id="{82A5B52D-7E51-49B3-BDE8-D79B533BFE9A}"/>
              </a:ext>
            </a:extLst>
          </p:cNvPr>
          <p:cNvSpPr>
            <a:spLocks xmlns:a="http://schemas.openxmlformats.org/drawingml/2006/main" noGrp="1"/>
          </p:cNvSpPr>
          <p:nvPr/>
        </p:nvSpPr>
        <p:spPr>
          <a:xfrm xmlns:a="http://schemas.openxmlformats.org/drawingml/2006/main">
            <a:off x="63627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Teaching label: 'of which sugars: 4 g per 100 g'. Point to the sugar number.</a:t>
            </a:r>
          </a:p>
        </p:txBody>
      </p:sp>
      <p:sp>
        <p:nvSpPr>
          <p:cNvPr id="22" name="">
            <a:extLst xmlns:a="http://schemas.openxmlformats.org/drawingml/2006/main">
              <a:ext uri="{FF2B5EF4-FFF2-40B4-BE49-F238E27FC236}">
                <a16:creationId xmlns:a16="http://schemas.microsoft.com/office/drawing/2014/main" id="{BFCF7125-1D1E-4D22-9DB8-180907445E09}"/>
              </a:ext>
            </a:extLst>
          </p:cNvPr>
          <p:cNvSpPr>
            <a:spLocks xmlns:a="http://schemas.openxmlformats.org/drawingml/2006/main" noGrp="1"/>
          </p:cNvSpPr>
          <p:nvPr/>
        </p:nvSpPr>
        <p:spPr>
          <a:xfrm xmlns:a="http://schemas.openxmlformats.org/drawingml/2006/main">
            <a:off x="63627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Find the number just before the first g.</a:t>
            </a:r>
          </a:p>
        </p:txBody>
      </p:sp>
    </p:spTree>
    <p:extLst>
      <p:ext uri="{BB962C8B-B14F-4D97-AF65-F5344CB8AC3E}">
        <p14:creationId xmlns:p14="http://schemas.microsoft.com/office/powerpoint/2010/main" val="8264343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44AADA-7AA4-4B45-989F-A1CA3F62B76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0EC794-9707-440A-AB41-1AF28A334479}"/>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answers</a:t>
            </a:r>
          </a:p>
        </p:txBody>
      </p:sp>
      <p:sp>
        <p:nvSpPr>
          <p:cNvPr id="3" name="">
            <a:extLst xmlns:a="http://schemas.openxmlformats.org/drawingml/2006/main">
              <a:ext uri="{FF2B5EF4-FFF2-40B4-BE49-F238E27FC236}">
                <a16:creationId xmlns:a16="http://schemas.microsoft.com/office/drawing/2014/main" id="{64538BEB-1FA7-4FDF-979F-A3AE0ED507CD}"/>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C6C2300D-F236-4A56-B955-1CD95316C716}"/>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a:t>
            </a:r>
          </a:p>
        </p:txBody>
      </p:sp>
      <p:sp>
        <p:nvSpPr>
          <p:cNvPr id="5" name="">
            <a:extLst xmlns:a="http://schemas.openxmlformats.org/drawingml/2006/main">
              <a:ext uri="{FF2B5EF4-FFF2-40B4-BE49-F238E27FC236}">
                <a16:creationId xmlns:a16="http://schemas.microsoft.com/office/drawing/2014/main" id="{35F5E73F-C28E-4314-A0EA-50DCE25260DB}"/>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9842E3A4-8FDB-4D9D-85D0-293A19B19F8B}"/>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5</a:t>
            </a:r>
          </a:p>
        </p:txBody>
      </p:sp>
      <p:sp>
        <p:nvSpPr>
          <p:cNvPr id="7" name="">
            <a:extLst xmlns:a="http://schemas.openxmlformats.org/drawingml/2006/main">
              <a:ext uri="{FF2B5EF4-FFF2-40B4-BE49-F238E27FC236}">
                <a16:creationId xmlns:a16="http://schemas.microsoft.com/office/drawing/2014/main" id="{50CC125F-F14F-4E0C-8E5D-D5E4EAD0ABDA}"/>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8" name="">
            <a:extLst xmlns:a="http://schemas.openxmlformats.org/drawingml/2006/main">
              <a:ext uri="{FF2B5EF4-FFF2-40B4-BE49-F238E27FC236}">
                <a16:creationId xmlns:a16="http://schemas.microsoft.com/office/drawing/2014/main" id="{F9D6DC0A-6BAB-4CA5-9BFD-2EA6BF1B62DE}"/>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1. Food chain</a:t>
            </a:r>
          </a:p>
        </p:txBody>
      </p:sp>
      <p:sp>
        <p:nvSpPr>
          <p:cNvPr id="9" name="">
            <a:extLst xmlns:a="http://schemas.openxmlformats.org/drawingml/2006/main">
              <a:ext uri="{FF2B5EF4-FFF2-40B4-BE49-F238E27FC236}">
                <a16:creationId xmlns:a16="http://schemas.microsoft.com/office/drawing/2014/main" id="{ABA93C00-943F-4012-B0F8-44ADF91ABA43}"/>
              </a:ext>
            </a:extLst>
          </p:cNvPr>
          <p:cNvSpPr>
            <a:spLocks xmlns:a="http://schemas.openxmlformats.org/drawingml/2006/main" noGrp="1"/>
          </p:cNvSpPr>
          <p:nvPr/>
        </p:nvSpPr>
        <p:spPr>
          <a:xfrm xmlns:a="http://schemas.openxmlformats.org/drawingml/2006/main">
            <a:off x="6096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The plant is the producer. The arrows show food and energy passing to the next living thing.</a:t>
            </a:r>
          </a:p>
        </p:txBody>
      </p:sp>
      <p:sp>
        <p:nvSpPr>
          <p:cNvPr id="10" name="">
            <a:extLst xmlns:a="http://schemas.openxmlformats.org/drawingml/2006/main">
              <a:ext uri="{FF2B5EF4-FFF2-40B4-BE49-F238E27FC236}">
                <a16:creationId xmlns:a16="http://schemas.microsoft.com/office/drawing/2014/main" id="{F7B9CF1E-099D-4415-9E68-58F0FB27BA21}"/>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1" name="">
            <a:extLst xmlns:a="http://schemas.openxmlformats.org/drawingml/2006/main">
              <a:ext uri="{FF2B5EF4-FFF2-40B4-BE49-F238E27FC236}">
                <a16:creationId xmlns:a16="http://schemas.microsoft.com/office/drawing/2014/main" id="{3F538472-47DA-40E7-A60F-DD351F66368B}"/>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2. Body jobs</a:t>
            </a:r>
          </a:p>
        </p:txBody>
      </p:sp>
      <p:sp>
        <p:nvSpPr>
          <p:cNvPr id="12" name="">
            <a:extLst xmlns:a="http://schemas.openxmlformats.org/drawingml/2006/main">
              <a:ext uri="{FF2B5EF4-FFF2-40B4-BE49-F238E27FC236}">
                <a16:creationId xmlns:a16="http://schemas.microsoft.com/office/drawing/2014/main" id="{E8A3404E-0523-4718-AFA5-13837143EAA4}"/>
              </a:ext>
            </a:extLst>
          </p:cNvPr>
          <p:cNvSpPr>
            <a:spLocks xmlns:a="http://schemas.openxmlformats.org/drawingml/2006/main" noGrp="1"/>
          </p:cNvSpPr>
          <p:nvPr/>
        </p:nvSpPr>
        <p:spPr>
          <a:xfrm xmlns:a="http://schemas.openxmlformats.org/drawingml/2006/main">
            <a:off x="63627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Both. Nutrients support energy needs, growth and repair.</a:t>
            </a:r>
          </a:p>
        </p:txBody>
      </p:sp>
      <p:sp>
        <p:nvSpPr>
          <p:cNvPr id="13" name="">
            <a:extLst xmlns:a="http://schemas.openxmlformats.org/drawingml/2006/main">
              <a:ext uri="{FF2B5EF4-FFF2-40B4-BE49-F238E27FC236}">
                <a16:creationId xmlns:a16="http://schemas.microsoft.com/office/drawing/2014/main" id="{07DA6E2D-087D-480E-B0B1-B2A387C0A9B4}"/>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4" name="">
            <a:extLst xmlns:a="http://schemas.openxmlformats.org/drawingml/2006/main">
              <a:ext uri="{FF2B5EF4-FFF2-40B4-BE49-F238E27FC236}">
                <a16:creationId xmlns:a16="http://schemas.microsoft.com/office/drawing/2014/main" id="{60EBB82F-6139-4320-BCB4-5D8F83997F51}"/>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3. A varied pattern</a:t>
            </a:r>
          </a:p>
        </p:txBody>
      </p:sp>
      <p:sp>
        <p:nvSpPr>
          <p:cNvPr id="15" name="">
            <a:extLst xmlns:a="http://schemas.openxmlformats.org/drawingml/2006/main">
              <a:ext uri="{FF2B5EF4-FFF2-40B4-BE49-F238E27FC236}">
                <a16:creationId xmlns:a16="http://schemas.microsoft.com/office/drawing/2014/main" id="{E6F5B7EB-8691-4F87-B054-875EA2B0B836}"/>
              </a:ext>
            </a:extLst>
          </p:cNvPr>
          <p:cNvSpPr>
            <a:spLocks xmlns:a="http://schemas.openxmlformats.org/drawingml/2006/main" noGrp="1"/>
          </p:cNvSpPr>
          <p:nvPr/>
        </p:nvSpPr>
        <p:spPr>
          <a:xfrm xmlns:a="http://schemas.openxmlformats.org/drawingml/2006/main">
            <a:off x="6096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A range of foods. One food does not have to supply everything.</a:t>
            </a:r>
          </a:p>
        </p:txBody>
      </p:sp>
      <p:sp>
        <p:nvSpPr>
          <p:cNvPr id="16" name="">
            <a:extLst xmlns:a="http://schemas.openxmlformats.org/drawingml/2006/main">
              <a:ext uri="{FF2B5EF4-FFF2-40B4-BE49-F238E27FC236}">
                <a16:creationId xmlns:a16="http://schemas.microsoft.com/office/drawing/2014/main" id="{12AB8B1C-7823-42F5-A716-48232EE8043C}"/>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7" name="">
            <a:extLst xmlns:a="http://schemas.openxmlformats.org/drawingml/2006/main">
              <a:ext uri="{FF2B5EF4-FFF2-40B4-BE49-F238E27FC236}">
                <a16:creationId xmlns:a16="http://schemas.microsoft.com/office/drawing/2014/main" id="{2E92DA2B-C81E-47E5-8B49-00DFDC1DFB9C}"/>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4. Label clue</a:t>
            </a:r>
          </a:p>
        </p:txBody>
      </p:sp>
      <p:sp>
        <p:nvSpPr>
          <p:cNvPr id="18" name="">
            <a:extLst xmlns:a="http://schemas.openxmlformats.org/drawingml/2006/main">
              <a:ext uri="{FF2B5EF4-FFF2-40B4-BE49-F238E27FC236}">
                <a16:creationId xmlns:a16="http://schemas.microsoft.com/office/drawing/2014/main" id="{F0DEC76A-FFD7-4E43-BD7D-434D49AE8B2D}"/>
              </a:ext>
            </a:extLst>
          </p:cNvPr>
          <p:cNvSpPr>
            <a:spLocks xmlns:a="http://schemas.openxmlformats.org/drawingml/2006/main" noGrp="1"/>
          </p:cNvSpPr>
          <p:nvPr/>
        </p:nvSpPr>
        <p:spPr>
          <a:xfrm xmlns:a="http://schemas.openxmlformats.org/drawingml/2006/main">
            <a:off x="63627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4. The complete sugar value is 4 g per 100 g.</a:t>
            </a:r>
          </a:p>
        </p:txBody>
      </p:sp>
    </p:spTree>
    <p:extLst>
      <p:ext uri="{BB962C8B-B14F-4D97-AF65-F5344CB8AC3E}">
        <p14:creationId xmlns:p14="http://schemas.microsoft.com/office/powerpoint/2010/main" val="8695875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774DDF2-2814-4A06-8746-DB00AEBC6D1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9BF3DA-9620-4F49-8A42-0A2483D2FA15}"/>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task</a:t>
            </a:r>
          </a:p>
        </p:txBody>
      </p:sp>
      <p:sp>
        <p:nvSpPr>
          <p:cNvPr id="3" name="">
            <a:extLst xmlns:a="http://schemas.openxmlformats.org/drawingml/2006/main">
              <a:ext uri="{FF2B5EF4-FFF2-40B4-BE49-F238E27FC236}">
                <a16:creationId xmlns:a16="http://schemas.microsoft.com/office/drawing/2014/main" id="{C01B28AB-BE78-4EEE-BF20-18871D21BEF5}"/>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3FB728EE-2400-45F5-8946-AE8E0DD8B66F}"/>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a:t>
            </a:r>
          </a:p>
        </p:txBody>
      </p:sp>
      <p:sp>
        <p:nvSpPr>
          <p:cNvPr id="5" name="">
            <a:extLst xmlns:a="http://schemas.openxmlformats.org/drawingml/2006/main">
              <a:ext uri="{FF2B5EF4-FFF2-40B4-BE49-F238E27FC236}">
                <a16:creationId xmlns:a16="http://schemas.microsoft.com/office/drawing/2014/main" id="{03A5E1CE-CEE1-4681-9EDD-D16C25EED940}"/>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C043D673-AB7A-4E7A-98E8-79BC304CD6D0}"/>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6</a:t>
            </a:r>
          </a:p>
        </p:txBody>
      </p:sp>
      <p:sp>
        <p:nvSpPr>
          <p:cNvPr id="7" name="">
            <a:extLst xmlns:a="http://schemas.openxmlformats.org/drawingml/2006/main">
              <a:ext uri="{FF2B5EF4-FFF2-40B4-BE49-F238E27FC236}">
                <a16:creationId xmlns:a16="http://schemas.microsoft.com/office/drawing/2014/main" id="{3DD0DBBB-2C5B-4B84-A78F-1CD06003F72A}"/>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8" name="">
            <a:extLst xmlns:a="http://schemas.openxmlformats.org/drawingml/2006/main">
              <a:ext uri="{FF2B5EF4-FFF2-40B4-BE49-F238E27FC236}">
                <a16:creationId xmlns:a16="http://schemas.microsoft.com/office/drawing/2014/main" id="{F11C437C-38C5-4FF0-99A2-498D38324087}"/>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1. Use food-chain evidence</a:t>
            </a:r>
          </a:p>
        </p:txBody>
      </p:sp>
      <p:sp>
        <p:nvSpPr>
          <p:cNvPr id="9" name="">
            <a:extLst xmlns:a="http://schemas.openxmlformats.org/drawingml/2006/main">
              <a:ext uri="{FF2B5EF4-FFF2-40B4-BE49-F238E27FC236}">
                <a16:creationId xmlns:a16="http://schemas.microsoft.com/office/drawing/2014/main" id="{145588E0-B7CD-42E7-91E2-6927925B9BD4}"/>
              </a:ext>
            </a:extLst>
          </p:cNvPr>
          <p:cNvSpPr>
            <a:spLocks xmlns:a="http://schemas.openxmlformats.org/drawingml/2006/main" noGrp="1"/>
          </p:cNvSpPr>
          <p:nvPr/>
        </p:nvSpPr>
        <p:spPr>
          <a:xfrm xmlns:a="http://schemas.openxmlformats.org/drawingml/2006/main">
            <a:off x="6096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Plant → caterpillar → bird. Explain why the arrows are not pointing towards what each animal hunts or eats.</a:t>
            </a:r>
          </a:p>
        </p:txBody>
      </p:sp>
      <p:sp>
        <p:nvSpPr>
          <p:cNvPr id="10" name="">
            <a:extLst xmlns:a="http://schemas.openxmlformats.org/drawingml/2006/main">
              <a:ext uri="{FF2B5EF4-FFF2-40B4-BE49-F238E27FC236}">
                <a16:creationId xmlns:a16="http://schemas.microsoft.com/office/drawing/2014/main" id="{E315228A-71E2-4694-A064-55E2A3FF8128}"/>
              </a:ext>
            </a:extLst>
          </p:cNvPr>
          <p:cNvSpPr>
            <a:spLocks xmlns:a="http://schemas.openxmlformats.org/drawingml/2006/main" noGrp="1"/>
          </p:cNvSpPr>
          <p:nvPr/>
        </p:nvSpPr>
        <p:spPr>
          <a:xfrm xmlns:a="http://schemas.openxmlformats.org/drawingml/2006/main">
            <a:off x="6096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Follow the transfer of food and energy.</a:t>
            </a:r>
          </a:p>
        </p:txBody>
      </p:sp>
      <p:sp>
        <p:nvSpPr>
          <p:cNvPr id="11" name="">
            <a:extLst xmlns:a="http://schemas.openxmlformats.org/drawingml/2006/main">
              <a:ext uri="{FF2B5EF4-FFF2-40B4-BE49-F238E27FC236}">
                <a16:creationId xmlns:a16="http://schemas.microsoft.com/office/drawing/2014/main" id="{F3825EF6-E56E-4C49-8033-A695B5B99672}"/>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2" name="">
            <a:extLst xmlns:a="http://schemas.openxmlformats.org/drawingml/2006/main">
              <a:ext uri="{FF2B5EF4-FFF2-40B4-BE49-F238E27FC236}">
                <a16:creationId xmlns:a16="http://schemas.microsoft.com/office/drawing/2014/main" id="{BB69D222-E0CD-41A7-A14C-556D8344E96F}"/>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2. Separate the claims</a:t>
            </a:r>
          </a:p>
        </p:txBody>
      </p:sp>
      <p:sp>
        <p:nvSpPr>
          <p:cNvPr id="13" name="">
            <a:extLst xmlns:a="http://schemas.openxmlformats.org/drawingml/2006/main">
              <a:ext uri="{FF2B5EF4-FFF2-40B4-BE49-F238E27FC236}">
                <a16:creationId xmlns:a16="http://schemas.microsoft.com/office/drawing/2014/main" id="{BEA5FBE6-FFF7-43CB-95A0-1EE72EF4D888}"/>
              </a:ext>
            </a:extLst>
          </p:cNvPr>
          <p:cNvSpPr>
            <a:spLocks xmlns:a="http://schemas.openxmlformats.org/drawingml/2006/main" noGrp="1"/>
          </p:cNvSpPr>
          <p:nvPr/>
        </p:nvSpPr>
        <p:spPr>
          <a:xfrm xmlns:a="http://schemas.openxmlformats.org/drawingml/2006/main">
            <a:off x="6362700" y="20859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'Food supplies energy' and 'This person eats badly'. Which is a statement about a body job?</a:t>
            </a:r>
          </a:p>
        </p:txBody>
      </p:sp>
      <p:sp>
        <p:nvSpPr>
          <p:cNvPr id="14" name="">
            <a:extLst xmlns:a="http://schemas.openxmlformats.org/drawingml/2006/main">
              <a:ext uri="{FF2B5EF4-FFF2-40B4-BE49-F238E27FC236}">
                <a16:creationId xmlns:a16="http://schemas.microsoft.com/office/drawing/2014/main" id="{FC4612BF-1A17-4B7A-AEF6-696ACEF2C074}"/>
              </a:ext>
            </a:extLst>
          </p:cNvPr>
          <p:cNvSpPr>
            <a:spLocks xmlns:a="http://schemas.openxmlformats.org/drawingml/2006/main" noGrp="1"/>
          </p:cNvSpPr>
          <p:nvPr/>
        </p:nvSpPr>
        <p:spPr>
          <a:xfrm xmlns:a="http://schemas.openxmlformats.org/drawingml/2006/main">
            <a:off x="6362700" y="3048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Keep the science about nutrients and evidence.</a:t>
            </a:r>
          </a:p>
        </p:txBody>
      </p:sp>
      <p:sp>
        <p:nvSpPr>
          <p:cNvPr id="15" name="">
            <a:extLst xmlns:a="http://schemas.openxmlformats.org/drawingml/2006/main">
              <a:ext uri="{FF2B5EF4-FFF2-40B4-BE49-F238E27FC236}">
                <a16:creationId xmlns:a16="http://schemas.microsoft.com/office/drawing/2014/main" id="{41EA1D63-45E0-44F3-A90E-95DD772AE898}"/>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16" name="">
            <a:extLst xmlns:a="http://schemas.openxmlformats.org/drawingml/2006/main">
              <a:ext uri="{FF2B5EF4-FFF2-40B4-BE49-F238E27FC236}">
                <a16:creationId xmlns:a16="http://schemas.microsoft.com/office/drawing/2014/main" id="{8FD907D9-8255-4065-B662-A04C9FEE9518}"/>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3. Limit a judgement</a:t>
            </a:r>
          </a:p>
        </p:txBody>
      </p:sp>
      <p:sp>
        <p:nvSpPr>
          <p:cNvPr id="17" name="">
            <a:extLst xmlns:a="http://schemas.openxmlformats.org/drawingml/2006/main">
              <a:ext uri="{FF2B5EF4-FFF2-40B4-BE49-F238E27FC236}">
                <a16:creationId xmlns:a16="http://schemas.microsoft.com/office/drawing/2014/main" id="{80C4601F-54DE-4A87-AB4B-DBB2AA21E83C}"/>
              </a:ext>
            </a:extLst>
          </p:cNvPr>
          <p:cNvSpPr>
            <a:spLocks xmlns:a="http://schemas.openxmlformats.org/drawingml/2006/main" noGrp="1"/>
          </p:cNvSpPr>
          <p:nvPr/>
        </p:nvSpPr>
        <p:spPr>
          <a:xfrm xmlns:a="http://schemas.openxmlformats.org/drawingml/2006/main">
            <a:off x="6096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Can one food's sugar value describe a person's whole eating pattern? Explain.</a:t>
            </a:r>
          </a:p>
        </p:txBody>
      </p:sp>
      <p:sp>
        <p:nvSpPr>
          <p:cNvPr id="18" name="">
            <a:extLst xmlns:a="http://schemas.openxmlformats.org/drawingml/2006/main">
              <a:ext uri="{FF2B5EF4-FFF2-40B4-BE49-F238E27FC236}">
                <a16:creationId xmlns:a16="http://schemas.microsoft.com/office/drawing/2014/main" id="{226D7A95-11D3-4BF4-9772-805836BB179A}"/>
              </a:ext>
            </a:extLst>
          </p:cNvPr>
          <p:cNvSpPr>
            <a:spLocks xmlns:a="http://schemas.openxmlformats.org/drawingml/2006/main" noGrp="1"/>
          </p:cNvSpPr>
          <p:nvPr/>
        </p:nvSpPr>
        <p:spPr>
          <a:xfrm xmlns:a="http://schemas.openxmlformats.org/drawingml/2006/main">
            <a:off x="6096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Consider the other foods and information missing.</a:t>
            </a:r>
          </a:p>
        </p:txBody>
      </p:sp>
      <p:sp>
        <p:nvSpPr>
          <p:cNvPr id="19" name="">
            <a:extLst xmlns:a="http://schemas.openxmlformats.org/drawingml/2006/main">
              <a:ext uri="{FF2B5EF4-FFF2-40B4-BE49-F238E27FC236}">
                <a16:creationId xmlns:a16="http://schemas.microsoft.com/office/drawing/2014/main" id="{3DA1DBA8-E515-4170-9F46-15851E633C21}"/>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AF5FF"/>
          </a:solidFill>
          <a:ln xmlns:a="http://schemas.openxmlformats.org/drawingml/2006/main" w="14288">
            <a:solidFill>
              <a:srgbClr val="7C3AED"/>
            </a:solidFill>
          </a:ln>
        </p:spPr>
      </p:sp>
      <p:sp>
        <p:nvSpPr>
          <p:cNvPr id="20" name="">
            <a:extLst xmlns:a="http://schemas.openxmlformats.org/drawingml/2006/main">
              <a:ext uri="{FF2B5EF4-FFF2-40B4-BE49-F238E27FC236}">
                <a16:creationId xmlns:a16="http://schemas.microsoft.com/office/drawing/2014/main" id="{DBD38E0B-DFD9-4B66-9C45-31BC9949110C}"/>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4. Spot the mismatch</a:t>
            </a:r>
          </a:p>
        </p:txBody>
      </p:sp>
      <p:sp>
        <p:nvSpPr>
          <p:cNvPr id="21" name="">
            <a:extLst xmlns:a="http://schemas.openxmlformats.org/drawingml/2006/main">
              <a:ext uri="{FF2B5EF4-FFF2-40B4-BE49-F238E27FC236}">
                <a16:creationId xmlns:a16="http://schemas.microsoft.com/office/drawing/2014/main" id="{32F6EDEE-B1B6-49E1-ABF3-A4A357D7A30D}"/>
              </a:ext>
            </a:extLst>
          </p:cNvPr>
          <p:cNvSpPr>
            <a:spLocks xmlns:a="http://schemas.openxmlformats.org/drawingml/2006/main" noGrp="1"/>
          </p:cNvSpPr>
          <p:nvPr/>
        </p:nvSpPr>
        <p:spPr>
          <a:xfrm xmlns:a="http://schemas.openxmlformats.org/drawingml/2006/main">
            <a:off x="6362700" y="442912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937"/>
                </a:solidFill>
                <a:latin typeface="DejaVu Sans"/>
                <a:ea typeface="DejaVu Sans"/>
                <a:cs typeface="DejaVu Sans"/>
              </a:defRPr>
            </a:pPr>
            <a:r>
              <a:rPr sz="1875" b="0">
                <a:solidFill>
                  <a:srgbClr val="1F2937"/>
                </a:solidFill>
                <a:latin typeface="DejaVu Sans"/>
                <a:ea typeface="DejaVu Sans"/>
                <a:cs typeface="DejaVu Sans"/>
              </a:rPr>
              <a:t>Can 8 g sugar per serving be compared directly with 8 g per 100 g? What is missing?</a:t>
            </a:r>
          </a:p>
        </p:txBody>
      </p:sp>
      <p:sp>
        <p:nvSpPr>
          <p:cNvPr id="22" name="">
            <a:extLst xmlns:a="http://schemas.openxmlformats.org/drawingml/2006/main">
              <a:ext uri="{FF2B5EF4-FFF2-40B4-BE49-F238E27FC236}">
                <a16:creationId xmlns:a16="http://schemas.microsoft.com/office/drawing/2014/main" id="{8CB8BEE0-49A3-4950-9BA4-2EBD0E3411B6}"/>
              </a:ext>
            </a:extLst>
          </p:cNvPr>
          <p:cNvSpPr>
            <a:spLocks xmlns:a="http://schemas.openxmlformats.org/drawingml/2006/main" noGrp="1"/>
          </p:cNvSpPr>
          <p:nvPr/>
        </p:nvSpPr>
        <p:spPr>
          <a:xfrm xmlns:a="http://schemas.openxmlformats.org/drawingml/2006/main">
            <a:off x="6362700" y="539115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A serving might not be 100 g.</a:t>
            </a:r>
          </a:p>
        </p:txBody>
      </p:sp>
    </p:spTree>
    <p:extLst>
      <p:ext uri="{BB962C8B-B14F-4D97-AF65-F5344CB8AC3E}">
        <p14:creationId xmlns:p14="http://schemas.microsoft.com/office/powerpoint/2010/main" val="160875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D3A1463-0114-4CC7-AAA3-CBDC5E81EAD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4216D3-1560-4BDA-8906-4B61BF7ABA80}"/>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Arrival answers</a:t>
            </a:r>
          </a:p>
        </p:txBody>
      </p:sp>
      <p:sp>
        <p:nvSpPr>
          <p:cNvPr id="3" name="">
            <a:extLst xmlns:a="http://schemas.openxmlformats.org/drawingml/2006/main">
              <a:ext uri="{FF2B5EF4-FFF2-40B4-BE49-F238E27FC236}">
                <a16:creationId xmlns:a16="http://schemas.microsoft.com/office/drawing/2014/main" id="{46C23ED0-97E3-493A-A4E2-5F47E63BCFFE}"/>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Arrival · 4 min across this stage</a:t>
            </a:r>
          </a:p>
        </p:txBody>
      </p:sp>
      <p:sp>
        <p:nvSpPr>
          <p:cNvPr id="4" name="">
            <a:extLst xmlns:a="http://schemas.openxmlformats.org/drawingml/2006/main">
              <a:ext uri="{FF2B5EF4-FFF2-40B4-BE49-F238E27FC236}">
                <a16:creationId xmlns:a16="http://schemas.microsoft.com/office/drawing/2014/main" id="{59868930-648D-4C16-AF10-788EBA5F03AE}"/>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a:t>
            </a:r>
          </a:p>
        </p:txBody>
      </p:sp>
      <p:sp>
        <p:nvSpPr>
          <p:cNvPr id="5" name="">
            <a:extLst xmlns:a="http://schemas.openxmlformats.org/drawingml/2006/main">
              <a:ext uri="{FF2B5EF4-FFF2-40B4-BE49-F238E27FC236}">
                <a16:creationId xmlns:a16="http://schemas.microsoft.com/office/drawing/2014/main" id="{FF9C143A-0247-4404-9E6E-4EEA22FD854C}"/>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0EF0B7CF-3B20-4DB0-B857-D83A76C413D1}"/>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7</a:t>
            </a:r>
          </a:p>
        </p:txBody>
      </p:sp>
      <p:sp>
        <p:nvSpPr>
          <p:cNvPr id="7" name="">
            <a:extLst xmlns:a="http://schemas.openxmlformats.org/drawingml/2006/main">
              <a:ext uri="{FF2B5EF4-FFF2-40B4-BE49-F238E27FC236}">
                <a16:creationId xmlns:a16="http://schemas.microsoft.com/office/drawing/2014/main" id="{A60017C8-19F2-40B7-A258-4BA3B5788A74}"/>
              </a:ext>
            </a:extLst>
          </p:cNvPr>
          <p:cNvSpPr>
            <a:spLocks xmlns:a="http://schemas.openxmlformats.org/drawingml/2006/main" noGrp="1"/>
          </p:cNvSpPr>
          <p:nvPr/>
        </p:nvSpPr>
        <p:spPr>
          <a:xfrm xmlns:a="http://schemas.openxmlformats.org/drawingml/2006/main">
            <a:off x="4572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8" name="">
            <a:extLst xmlns:a="http://schemas.openxmlformats.org/drawingml/2006/main">
              <a:ext uri="{FF2B5EF4-FFF2-40B4-BE49-F238E27FC236}">
                <a16:creationId xmlns:a16="http://schemas.microsoft.com/office/drawing/2014/main" id="{50092949-CCE6-4F05-BC9A-AA316FBAA0D2}"/>
              </a:ext>
            </a:extLst>
          </p:cNvPr>
          <p:cNvSpPr>
            <a:spLocks xmlns:a="http://schemas.openxmlformats.org/drawingml/2006/main" noGrp="1"/>
          </p:cNvSpPr>
          <p:nvPr/>
        </p:nvSpPr>
        <p:spPr>
          <a:xfrm xmlns:a="http://schemas.openxmlformats.org/drawingml/2006/main">
            <a:off x="6096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1. Use food-chain evidence</a:t>
            </a:r>
          </a:p>
        </p:txBody>
      </p:sp>
      <p:sp>
        <p:nvSpPr>
          <p:cNvPr id="9" name="">
            <a:extLst xmlns:a="http://schemas.openxmlformats.org/drawingml/2006/main">
              <a:ext uri="{FF2B5EF4-FFF2-40B4-BE49-F238E27FC236}">
                <a16:creationId xmlns:a16="http://schemas.microsoft.com/office/drawing/2014/main" id="{EA87E28E-866D-4FE7-8BDA-074F38CDC09B}"/>
              </a:ext>
            </a:extLst>
          </p:cNvPr>
          <p:cNvSpPr>
            <a:spLocks xmlns:a="http://schemas.openxmlformats.org/drawingml/2006/main" noGrp="1"/>
          </p:cNvSpPr>
          <p:nvPr/>
        </p:nvSpPr>
        <p:spPr>
          <a:xfrm xmlns:a="http://schemas.openxmlformats.org/drawingml/2006/main">
            <a:off x="6096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The arrows show food and energy moving from the organism eaten to the consumer, not the direction the consumer travels to find food.</a:t>
            </a:r>
          </a:p>
        </p:txBody>
      </p:sp>
      <p:sp>
        <p:nvSpPr>
          <p:cNvPr id="10" name="">
            <a:extLst xmlns:a="http://schemas.openxmlformats.org/drawingml/2006/main">
              <a:ext uri="{FF2B5EF4-FFF2-40B4-BE49-F238E27FC236}">
                <a16:creationId xmlns:a16="http://schemas.microsoft.com/office/drawing/2014/main" id="{33E0D200-F179-41C5-9FDA-92861E795EA1}"/>
              </a:ext>
            </a:extLst>
          </p:cNvPr>
          <p:cNvSpPr>
            <a:spLocks xmlns:a="http://schemas.openxmlformats.org/drawingml/2006/main" noGrp="1"/>
          </p:cNvSpPr>
          <p:nvPr/>
        </p:nvSpPr>
        <p:spPr>
          <a:xfrm xmlns:a="http://schemas.openxmlformats.org/drawingml/2006/main">
            <a:off x="6210300" y="156210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1" name="">
            <a:extLst xmlns:a="http://schemas.openxmlformats.org/drawingml/2006/main">
              <a:ext uri="{FF2B5EF4-FFF2-40B4-BE49-F238E27FC236}">
                <a16:creationId xmlns:a16="http://schemas.microsoft.com/office/drawing/2014/main" id="{927A1A74-5D9C-49C7-8DBE-F6BCFF27005F}"/>
              </a:ext>
            </a:extLst>
          </p:cNvPr>
          <p:cNvSpPr>
            <a:spLocks xmlns:a="http://schemas.openxmlformats.org/drawingml/2006/main" noGrp="1"/>
          </p:cNvSpPr>
          <p:nvPr/>
        </p:nvSpPr>
        <p:spPr>
          <a:xfrm xmlns:a="http://schemas.openxmlformats.org/drawingml/2006/main">
            <a:off x="6362700" y="16764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2. Separate the claims</a:t>
            </a:r>
          </a:p>
        </p:txBody>
      </p:sp>
      <p:sp>
        <p:nvSpPr>
          <p:cNvPr id="12" name="">
            <a:extLst xmlns:a="http://schemas.openxmlformats.org/drawingml/2006/main">
              <a:ext uri="{FF2B5EF4-FFF2-40B4-BE49-F238E27FC236}">
                <a16:creationId xmlns:a16="http://schemas.microsoft.com/office/drawing/2014/main" id="{EADE1FF1-915C-4E37-9A80-32C703AB2245}"/>
              </a:ext>
            </a:extLst>
          </p:cNvPr>
          <p:cNvSpPr>
            <a:spLocks xmlns:a="http://schemas.openxmlformats.org/drawingml/2006/main" noGrp="1"/>
          </p:cNvSpPr>
          <p:nvPr/>
        </p:nvSpPr>
        <p:spPr>
          <a:xfrm xmlns:a="http://schemas.openxmlformats.org/drawingml/2006/main">
            <a:off x="6362700" y="20859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'Food supplies energy' describes a body job. The second judges a person and is not supported by that nutrient fact.</a:t>
            </a:r>
          </a:p>
        </p:txBody>
      </p:sp>
      <p:sp>
        <p:nvSpPr>
          <p:cNvPr id="13" name="">
            <a:extLst xmlns:a="http://schemas.openxmlformats.org/drawingml/2006/main">
              <a:ext uri="{FF2B5EF4-FFF2-40B4-BE49-F238E27FC236}">
                <a16:creationId xmlns:a16="http://schemas.microsoft.com/office/drawing/2014/main" id="{DA327834-3435-42B5-9FE0-F7A593FB613D}"/>
              </a:ext>
            </a:extLst>
          </p:cNvPr>
          <p:cNvSpPr>
            <a:spLocks xmlns:a="http://schemas.openxmlformats.org/drawingml/2006/main" noGrp="1"/>
          </p:cNvSpPr>
          <p:nvPr/>
        </p:nvSpPr>
        <p:spPr>
          <a:xfrm xmlns:a="http://schemas.openxmlformats.org/drawingml/2006/main">
            <a:off x="4572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4" name="">
            <a:extLst xmlns:a="http://schemas.openxmlformats.org/drawingml/2006/main">
              <a:ext uri="{FF2B5EF4-FFF2-40B4-BE49-F238E27FC236}">
                <a16:creationId xmlns:a16="http://schemas.microsoft.com/office/drawing/2014/main" id="{498D82D2-19A6-487F-82CA-A4BA90F2DA3E}"/>
              </a:ext>
            </a:extLst>
          </p:cNvPr>
          <p:cNvSpPr>
            <a:spLocks xmlns:a="http://schemas.openxmlformats.org/drawingml/2006/main" noGrp="1"/>
          </p:cNvSpPr>
          <p:nvPr/>
        </p:nvSpPr>
        <p:spPr>
          <a:xfrm xmlns:a="http://schemas.openxmlformats.org/drawingml/2006/main">
            <a:off x="6096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3. Limit a judgement</a:t>
            </a:r>
          </a:p>
        </p:txBody>
      </p:sp>
      <p:sp>
        <p:nvSpPr>
          <p:cNvPr id="15" name="">
            <a:extLst xmlns:a="http://schemas.openxmlformats.org/drawingml/2006/main">
              <a:ext uri="{FF2B5EF4-FFF2-40B4-BE49-F238E27FC236}">
                <a16:creationId xmlns:a16="http://schemas.microsoft.com/office/drawing/2014/main" id="{4BE7EBCA-6D9F-4B53-96E4-85EA8320D589}"/>
              </a:ext>
            </a:extLst>
          </p:cNvPr>
          <p:cNvSpPr>
            <a:spLocks xmlns:a="http://schemas.openxmlformats.org/drawingml/2006/main" noGrp="1"/>
          </p:cNvSpPr>
          <p:nvPr/>
        </p:nvSpPr>
        <p:spPr>
          <a:xfrm xmlns:a="http://schemas.openxmlformats.org/drawingml/2006/main">
            <a:off x="6096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No. One sugar value does not show all foods, nutrients, amounts or the pattern over time. Keep conclusions within the evidence.</a:t>
            </a:r>
          </a:p>
        </p:txBody>
      </p:sp>
      <p:sp>
        <p:nvSpPr>
          <p:cNvPr id="16" name="">
            <a:extLst xmlns:a="http://schemas.openxmlformats.org/drawingml/2006/main">
              <a:ext uri="{FF2B5EF4-FFF2-40B4-BE49-F238E27FC236}">
                <a16:creationId xmlns:a16="http://schemas.microsoft.com/office/drawing/2014/main" id="{29E1944E-A8F6-48FF-B9A9-A1F812F96D00}"/>
              </a:ext>
            </a:extLst>
          </p:cNvPr>
          <p:cNvSpPr>
            <a:spLocks xmlns:a="http://schemas.openxmlformats.org/drawingml/2006/main" noGrp="1"/>
          </p:cNvSpPr>
          <p:nvPr/>
        </p:nvSpPr>
        <p:spPr>
          <a:xfrm xmlns:a="http://schemas.openxmlformats.org/drawingml/2006/main">
            <a:off x="6210300" y="3905250"/>
            <a:ext cx="5524500" cy="2209800"/>
          </a:xfrm>
          <a:prstGeom xmlns:a="http://schemas.openxmlformats.org/drawingml/2006/main" prst="roundRect">
            <a:avLst>
              <a:gd name="adj" fmla="val 5172"/>
            </a:avLst>
          </a:prstGeom>
          <a:solidFill xmlns:a="http://schemas.openxmlformats.org/drawingml/2006/main">
            <a:srgbClr val="F0FDF4"/>
          </a:solidFill>
          <a:ln xmlns:a="http://schemas.openxmlformats.org/drawingml/2006/main" w="14288">
            <a:solidFill>
              <a:srgbClr val="166534"/>
            </a:solidFill>
          </a:ln>
        </p:spPr>
      </p:sp>
      <p:sp>
        <p:nvSpPr>
          <p:cNvPr id="17" name="">
            <a:extLst xmlns:a="http://schemas.openxmlformats.org/drawingml/2006/main">
              <a:ext uri="{FF2B5EF4-FFF2-40B4-BE49-F238E27FC236}">
                <a16:creationId xmlns:a16="http://schemas.microsoft.com/office/drawing/2014/main" id="{8B344240-371A-4854-BB62-310A4C846E78}"/>
              </a:ext>
            </a:extLst>
          </p:cNvPr>
          <p:cNvSpPr>
            <a:spLocks xmlns:a="http://schemas.openxmlformats.org/drawingml/2006/main" noGrp="1"/>
          </p:cNvSpPr>
          <p:nvPr/>
        </p:nvSpPr>
        <p:spPr>
          <a:xfrm xmlns:a="http://schemas.openxmlformats.org/drawingml/2006/main">
            <a:off x="6362700" y="40195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6534"/>
                </a:solidFill>
                <a:latin typeface="DejaVu Sans"/>
                <a:ea typeface="DejaVu Sans"/>
                <a:cs typeface="DejaVu Sans"/>
              </a:defRPr>
            </a:pPr>
            <a:r>
              <a:rPr sz="1875" b="1">
                <a:solidFill>
                  <a:srgbClr val="166534"/>
                </a:solidFill>
                <a:latin typeface="DejaVu Sans"/>
                <a:ea typeface="DejaVu Sans"/>
                <a:cs typeface="DejaVu Sans"/>
              </a:rPr>
              <a:t>4. Spot the mismatch</a:t>
            </a:r>
          </a:p>
        </p:txBody>
      </p:sp>
      <p:sp>
        <p:nvSpPr>
          <p:cNvPr id="18" name="">
            <a:extLst xmlns:a="http://schemas.openxmlformats.org/drawingml/2006/main">
              <a:ext uri="{FF2B5EF4-FFF2-40B4-BE49-F238E27FC236}">
                <a16:creationId xmlns:a16="http://schemas.microsoft.com/office/drawing/2014/main" id="{62727AC6-364F-45B7-815E-DCFFDD637C45}"/>
              </a:ext>
            </a:extLst>
          </p:cNvPr>
          <p:cNvSpPr>
            <a:spLocks xmlns:a="http://schemas.openxmlformats.org/drawingml/2006/main" noGrp="1"/>
          </p:cNvSpPr>
          <p:nvPr/>
        </p:nvSpPr>
        <p:spPr>
          <a:xfrm xmlns:a="http://schemas.openxmlformats.org/drawingml/2006/main">
            <a:off x="6362700" y="442912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F2937"/>
                </a:solidFill>
                <a:latin typeface="DejaVu Sans"/>
                <a:ea typeface="DejaVu Sans"/>
                <a:cs typeface="DejaVu Sans"/>
              </a:defRPr>
            </a:pPr>
            <a:r>
              <a:rPr sz="1800" b="0">
                <a:solidFill>
                  <a:srgbClr val="1F2937"/>
                </a:solidFill>
                <a:latin typeface="DejaVu Sans"/>
                <a:ea typeface="DejaVu Sans"/>
                <a:cs typeface="DejaVu Sans"/>
              </a:rPr>
              <a:t>No, unless the serving is known to be 100 g. We need its mass and must put both values on the same basis.</a:t>
            </a:r>
          </a:p>
        </p:txBody>
      </p:sp>
    </p:spTree>
    <p:extLst>
      <p:ext uri="{BB962C8B-B14F-4D97-AF65-F5344CB8AC3E}">
        <p14:creationId xmlns:p14="http://schemas.microsoft.com/office/powerpoint/2010/main" val="6437266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612F28-BDAA-4CD7-9B51-EA647CE37D5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C1E777-9245-4195-9C62-AD13AED51A2F}"/>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Knowledge organiser: the whole label</a:t>
            </a:r>
          </a:p>
        </p:txBody>
      </p:sp>
      <p:sp>
        <p:nvSpPr>
          <p:cNvPr id="3" name="">
            <a:extLst xmlns:a="http://schemas.openxmlformats.org/drawingml/2006/main">
              <a:ext uri="{FF2B5EF4-FFF2-40B4-BE49-F238E27FC236}">
                <a16:creationId xmlns:a16="http://schemas.microsoft.com/office/drawing/2014/main" id="{167F878E-BE5E-473C-8944-13528B40C6DC}"/>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Starter · 4 min across this stage</a:t>
            </a:r>
          </a:p>
        </p:txBody>
      </p:sp>
      <p:sp>
        <p:nvSpPr>
          <p:cNvPr id="4" name="">
            <a:extLst xmlns:a="http://schemas.openxmlformats.org/drawingml/2006/main">
              <a:ext uri="{FF2B5EF4-FFF2-40B4-BE49-F238E27FC236}">
                <a16:creationId xmlns:a16="http://schemas.microsoft.com/office/drawing/2014/main" id="{40D55980-ED2A-4D6F-86CF-635AEBD5C0EA}"/>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Reference</a:t>
            </a:r>
          </a:p>
        </p:txBody>
      </p:sp>
      <p:sp>
        <p:nvSpPr>
          <p:cNvPr id="5" name="">
            <a:extLst xmlns:a="http://schemas.openxmlformats.org/drawingml/2006/main">
              <a:ext uri="{FF2B5EF4-FFF2-40B4-BE49-F238E27FC236}">
                <a16:creationId xmlns:a16="http://schemas.microsoft.com/office/drawing/2014/main" id="{24FE7865-1360-45F5-8CDD-4034F45E4E9C}"/>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2056371F-0407-46D0-9225-00B1F145D4EE}"/>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8</a:t>
            </a:r>
          </a:p>
        </p:txBody>
      </p:sp>
      <p:graphicFrame>
        <p:nvGraphicFramePr>
          <p:cNvPr id="18" name=""/>
          <p:cNvGraphicFramePr/>
          <p:nvPr/>
        </p:nvGraphicFramePr>
        <p:xfrm>
          <a:off xmlns:a="http://schemas.openxmlformats.org/drawingml/2006/main" x="457200" y="1752600"/>
          <a:ext xmlns:a="http://schemas.openxmlformats.org/drawingml/2006/main" cx="5334000" cy="2333625"/>
        </p:xfrm>
        <a:graphic xmlns:a="http://schemas.openxmlformats.org/drawingml/2006/main">
          <a:graphicData uri="http://schemas.openxmlformats.org/drawingml/2006/table">
            <a:tbl>
              <a:tblPr/>
              <a:tblGrid>
                <a:gridCol w="2667000"/>
                <a:gridCol w="2667000"/>
              </a:tblGrid>
              <a:tr h="777875">
                <a:tc>
                  <a:txBody>
                    <a:bodyPr/>
                    <a:lstStyle/>
                    <a:p>
                      <a:r>
                        <a:rPr sz="2100" b="1">
                          <a:solidFill>
                            <a:srgbClr val="1F2937"/>
                          </a:solidFill>
                          <a:latin typeface="DejaVu Sans"/>
                          <a:ea typeface="DejaVu Sans"/>
                          <a:cs typeface="DejaVu Sans"/>
                        </a:rPr>
                        <a:t>Label X / per 100 g</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Amount</a:t>
                      </a:r>
                    </a:p>
                  </a:txBody>
                  <a:tcPr marL="91440" marR="91440" marT="45720" marB="45720">
                    <a:solidFill>
                      <a:srgbClr val="EDE9FE"/>
                    </a:solidFill>
                  </a:tcPr>
                </a:tc>
              </a:tr>
              <a:tr h="777875">
                <a:tc>
                  <a:txBody>
                    <a:bodyPr/>
                    <a:lstStyle/>
                    <a:p>
                      <a:r>
                        <a:rPr sz="2100" b="0">
                          <a:solidFill>
                            <a:srgbClr val="1F2937"/>
                          </a:solidFill>
                          <a:latin typeface="DejaVu Sans"/>
                          <a:ea typeface="DejaVu Sans"/>
                          <a:cs typeface="DejaVu Sans"/>
                        </a:rPr>
                        <a:t>Carbohydrate</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47 g</a:t>
                      </a:r>
                    </a:p>
                  </a:txBody>
                  <a:tcPr marL="91440" marR="91440" marT="45720" marB="45720">
                    <a:solidFill>
                      <a:srgbClr val="FFFFFF"/>
                    </a:solidFill>
                  </a:tcPr>
                </a:tc>
              </a:tr>
              <a:tr h="777875">
                <a:tc>
                  <a:txBody>
                    <a:bodyPr/>
                    <a:lstStyle/>
                    <a:p>
                      <a:r>
                        <a:rPr sz="2100" b="0">
                          <a:solidFill>
                            <a:srgbClr val="1F2937"/>
                          </a:solidFill>
                          <a:latin typeface="DejaVu Sans"/>
                          <a:ea typeface="DejaVu Sans"/>
                          <a:cs typeface="DejaVu Sans"/>
                        </a:rPr>
                        <a:t>of which sugars</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8 g</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7D8AEA99-1E03-4467-B8AC-2CA461B88216}"/>
              </a:ext>
            </a:extLst>
          </p:cNvPr>
          <p:cNvSpPr>
            <a:spLocks xmlns:a="http://schemas.openxmlformats.org/drawingml/2006/main" noGrp="1"/>
          </p:cNvSpPr>
          <p:nvPr/>
        </p:nvSpPr>
        <p:spPr>
          <a:xfrm xmlns:a="http://schemas.openxmlformats.org/drawingml/2006/main">
            <a:off x="6096000" y="1752600"/>
            <a:ext cx="5638800" cy="2333625"/>
          </a:xfrm>
          <a:prstGeom xmlns:a="http://schemas.openxmlformats.org/drawingml/2006/main" prst="roundRect">
            <a:avLst>
              <a:gd name="adj" fmla="val 4898"/>
            </a:avLst>
          </a:prstGeom>
          <a:solidFill xmlns:a="http://schemas.openxmlformats.org/drawingml/2006/main">
            <a:srgbClr val="F8F5FB"/>
          </a:solidFill>
          <a:ln xmlns:a="http://schemas.openxmlformats.org/drawingml/2006/main" w="14288">
            <a:solidFill>
              <a:srgbClr val="7C3AED"/>
            </a:solidFill>
          </a:ln>
        </p:spPr>
      </p:sp>
      <p:sp>
        <p:nvSpPr>
          <p:cNvPr id="9" name="">
            <a:extLst xmlns:a="http://schemas.openxmlformats.org/drawingml/2006/main">
              <a:ext uri="{FF2B5EF4-FFF2-40B4-BE49-F238E27FC236}">
                <a16:creationId xmlns:a16="http://schemas.microsoft.com/office/drawing/2014/main" id="{E43A903C-3616-43C0-9278-435A07620EAB}"/>
              </a:ext>
            </a:extLst>
          </p:cNvPr>
          <p:cNvSpPr>
            <a:spLocks xmlns:a="http://schemas.openxmlformats.org/drawingml/2006/main" noGrp="1"/>
          </p:cNvSpPr>
          <p:nvPr/>
        </p:nvSpPr>
        <p:spPr>
          <a:xfrm xmlns:a="http://schemas.openxmlformats.org/drawingml/2006/main">
            <a:off x="6248400" y="1866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Number, unit and basis</a:t>
            </a:r>
          </a:p>
        </p:txBody>
      </p:sp>
      <p:sp>
        <p:nvSpPr>
          <p:cNvPr id="10" name="">
            <a:extLst xmlns:a="http://schemas.openxmlformats.org/drawingml/2006/main">
              <a:ext uri="{FF2B5EF4-FFF2-40B4-BE49-F238E27FC236}">
                <a16:creationId xmlns:a16="http://schemas.microsoft.com/office/drawing/2014/main" id="{CD0E9415-BDCB-4F9F-BDDC-34007553B812}"/>
              </a:ext>
            </a:extLst>
          </p:cNvPr>
          <p:cNvSpPr>
            <a:spLocks xmlns:a="http://schemas.openxmlformats.org/drawingml/2006/main" noGrp="1"/>
          </p:cNvSpPr>
          <p:nvPr/>
        </p:nvSpPr>
        <p:spPr>
          <a:xfrm xmlns:a="http://schemas.openxmlformats.org/drawingml/2006/main">
            <a:off x="6248400" y="2276475"/>
            <a:ext cx="53340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8 = number: how much sugar</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g = unit: grams measure mass</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per 100 g = basis: food amount compared</a:t>
            </a:r>
          </a:p>
        </p:txBody>
      </p:sp>
      <p:sp>
        <p:nvSpPr>
          <p:cNvPr id="11" name="">
            <a:extLst xmlns:a="http://schemas.openxmlformats.org/drawingml/2006/main">
              <a:ext uri="{FF2B5EF4-FFF2-40B4-BE49-F238E27FC236}">
                <a16:creationId xmlns:a16="http://schemas.microsoft.com/office/drawing/2014/main" id="{343247AC-4C11-405A-811F-8CE15AF187EF}"/>
              </a:ext>
            </a:extLst>
          </p:cNvPr>
          <p:cNvSpPr>
            <a:spLocks xmlns:a="http://schemas.openxmlformats.org/drawingml/2006/main" noGrp="1"/>
          </p:cNvSpPr>
          <p:nvPr/>
        </p:nvSpPr>
        <p:spPr>
          <a:xfrm xmlns:a="http://schemas.openxmlformats.org/drawingml/2006/main">
            <a:off x="457200" y="4438650"/>
            <a:ext cx="11277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F2937"/>
                </a:solidFill>
                <a:latin typeface="DejaVu Sans"/>
                <a:ea typeface="DejaVu Sans"/>
                <a:cs typeface="DejaVu Sans"/>
              </a:defRPr>
            </a:pPr>
            <a:r>
              <a:rPr sz="2325" b="0">
                <a:solidFill>
                  <a:srgbClr val="1F2937"/>
                </a:solidFill>
                <a:latin typeface="DejaVu Sans"/>
                <a:ea typeface="DejaVu Sans"/>
                <a:cs typeface="DejaVu Sans"/>
              </a:rPr>
              <a:t>Carbohydrate includes sugars. “Of which sugars” is the sugar part of that total. Evidence is information used to support a claim.</a:t>
            </a:r>
          </a:p>
        </p:txBody>
      </p:sp>
    </p:spTree>
    <p:extLst>
      <p:ext uri="{BB962C8B-B14F-4D97-AF65-F5344CB8AC3E}">
        <p14:creationId xmlns:p14="http://schemas.microsoft.com/office/powerpoint/2010/main" val="16249622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1FB100-EEF5-4F80-BE6F-499246731F7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96D171-A9EE-44EF-BF5A-0C6CF77C470A}"/>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Knowledge organiser: equal amounts</a:t>
            </a:r>
          </a:p>
        </p:txBody>
      </p:sp>
      <p:sp>
        <p:nvSpPr>
          <p:cNvPr id="3" name="">
            <a:extLst xmlns:a="http://schemas.openxmlformats.org/drawingml/2006/main">
              <a:ext uri="{FF2B5EF4-FFF2-40B4-BE49-F238E27FC236}">
                <a16:creationId xmlns:a16="http://schemas.microsoft.com/office/drawing/2014/main" id="{260D121E-CC56-4F04-925F-56F955C405B9}"/>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Starter · 4 min across this stage</a:t>
            </a:r>
          </a:p>
        </p:txBody>
      </p:sp>
      <p:sp>
        <p:nvSpPr>
          <p:cNvPr id="4" name="">
            <a:extLst xmlns:a="http://schemas.openxmlformats.org/drawingml/2006/main">
              <a:ext uri="{FF2B5EF4-FFF2-40B4-BE49-F238E27FC236}">
                <a16:creationId xmlns:a16="http://schemas.microsoft.com/office/drawing/2014/main" id="{7C816F8C-A8C0-410D-869B-24B64314758B}"/>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Reference</a:t>
            </a:r>
          </a:p>
        </p:txBody>
      </p:sp>
      <p:sp>
        <p:nvSpPr>
          <p:cNvPr id="5" name="">
            <a:extLst xmlns:a="http://schemas.openxmlformats.org/drawingml/2006/main">
              <a:ext uri="{FF2B5EF4-FFF2-40B4-BE49-F238E27FC236}">
                <a16:creationId xmlns:a16="http://schemas.microsoft.com/office/drawing/2014/main" id="{5623EB53-AB09-4673-B3C2-531CA4067A0D}"/>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66E6E9C3-B499-467F-9C71-B3A852533B35}"/>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9</a:t>
            </a:r>
          </a:p>
        </p:txBody>
      </p:sp>
      <p:graphicFrame>
        <p:nvGraphicFramePr>
          <p:cNvPr id="18" name=""/>
          <p:cNvGraphicFramePr/>
          <p:nvPr/>
        </p:nvGraphicFramePr>
        <p:xfrm>
          <a:off xmlns:a="http://schemas.openxmlformats.org/drawingml/2006/main" x="457200" y="1685925"/>
          <a:ext xmlns:a="http://schemas.openxmlformats.org/drawingml/2006/main" cx="5143500" cy="3524250"/>
        </p:xfrm>
        <a:graphic xmlns:a="http://schemas.openxmlformats.org/drawingml/2006/main">
          <a:graphicData uri="http://schemas.openxmlformats.org/drawingml/2006/table">
            <a:tbl>
              <a:tblPr/>
              <a:tblGrid>
                <a:gridCol w="2571750"/>
                <a:gridCol w="2571750"/>
              </a:tblGrid>
              <a:tr h="704850">
                <a:tc>
                  <a:txBody>
                    <a:bodyPr/>
                    <a:lstStyle/>
                    <a:p>
                      <a:r>
                        <a:rPr sz="2100" b="1">
                          <a:solidFill>
                            <a:srgbClr val="1F2937"/>
                          </a:solidFill>
                          <a:latin typeface="DejaVu Sans"/>
                          <a:ea typeface="DejaVu Sans"/>
                          <a:cs typeface="DejaVu Sans"/>
                        </a:rPr>
                        <a:t>Label</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Sugar / g per 100 g</a:t>
                      </a:r>
                    </a:p>
                  </a:txBody>
                  <a:tcPr marL="91440" marR="91440" marT="45720" marB="45720">
                    <a:solidFill>
                      <a:srgbClr val="EDE9FE"/>
                    </a:solidFill>
                  </a:tcPr>
                </a:tc>
              </a:tr>
              <a:tr h="704850">
                <a:tc>
                  <a:txBody>
                    <a:bodyPr/>
                    <a:lstStyle/>
                    <a:p>
                      <a:r>
                        <a:rPr sz="2100" b="0">
                          <a:solidFill>
                            <a:srgbClr val="1F2937"/>
                          </a:solidFill>
                          <a:latin typeface="DejaVu Sans"/>
                          <a:ea typeface="DejaVu Sans"/>
                          <a:cs typeface="DejaVu Sans"/>
                        </a:rPr>
                        <a:t>P</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6</a:t>
                      </a:r>
                    </a:p>
                  </a:txBody>
                  <a:tcPr marL="91440" marR="91440" marT="45720" marB="45720">
                    <a:solidFill>
                      <a:srgbClr val="FFFFFF"/>
                    </a:solidFill>
                  </a:tcPr>
                </a:tc>
              </a:tr>
              <a:tr h="704850">
                <a:tc>
                  <a:txBody>
                    <a:bodyPr/>
                    <a:lstStyle/>
                    <a:p>
                      <a:r>
                        <a:rPr sz="2100" b="0">
                          <a:solidFill>
                            <a:srgbClr val="1F2937"/>
                          </a:solidFill>
                          <a:latin typeface="DejaVu Sans"/>
                          <a:ea typeface="DejaVu Sans"/>
                          <a:cs typeface="DejaVu Sans"/>
                        </a:rPr>
                        <a:t>Q</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11</a:t>
                      </a:r>
                    </a:p>
                  </a:txBody>
                  <a:tcPr marL="91440" marR="91440" marT="45720" marB="45720">
                    <a:solidFill>
                      <a:srgbClr val="F8FAFC"/>
                    </a:solidFill>
                  </a:tcPr>
                </a:tc>
              </a:tr>
              <a:tr h="704850">
                <a:tc>
                  <a:txBody>
                    <a:bodyPr/>
                    <a:lstStyle/>
                    <a:p>
                      <a:r>
                        <a:rPr sz="2100" b="0">
                          <a:solidFill>
                            <a:srgbClr val="1F2937"/>
                          </a:solidFill>
                          <a:latin typeface="DejaVu Sans"/>
                          <a:ea typeface="DejaVu Sans"/>
                          <a:cs typeface="DejaVu Sans"/>
                        </a:rPr>
                        <a:t>R</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18</a:t>
                      </a:r>
                    </a:p>
                  </a:txBody>
                  <a:tcPr marL="91440" marR="91440" marT="45720" marB="45720">
                    <a:solidFill>
                      <a:srgbClr val="FFFFFF"/>
                    </a:solidFill>
                  </a:tcPr>
                </a:tc>
              </a:tr>
              <a:tr h="704850">
                <a:tc>
                  <a:txBody>
                    <a:bodyPr/>
                    <a:lstStyle/>
                    <a:p>
                      <a:r>
                        <a:rPr sz="2100" b="0">
                          <a:solidFill>
                            <a:srgbClr val="1F2937"/>
                          </a:solidFill>
                          <a:latin typeface="DejaVu Sans"/>
                          <a:ea typeface="DejaVu Sans"/>
                          <a:cs typeface="DejaVu Sans"/>
                        </a:rPr>
                        <a:t>S</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21</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E45CC991-34B2-414B-B984-BEC9B22303C5}"/>
              </a:ext>
            </a:extLst>
          </p:cNvPr>
          <p:cNvSpPr>
            <a:spLocks xmlns:a="http://schemas.openxmlformats.org/drawingml/2006/main" noGrp="1"/>
          </p:cNvSpPr>
          <p:nvPr/>
        </p:nvSpPr>
        <p:spPr>
          <a:xfrm xmlns:a="http://schemas.openxmlformats.org/drawingml/2006/main">
            <a:off x="6000750" y="1685925"/>
            <a:ext cx="5734050" cy="2762250"/>
          </a:xfrm>
          <a:prstGeom xmlns:a="http://schemas.openxmlformats.org/drawingml/2006/main" prst="roundRect">
            <a:avLst>
              <a:gd name="adj" fmla="val 4138"/>
            </a:avLst>
          </a:prstGeom>
          <a:solidFill xmlns:a="http://schemas.openxmlformats.org/drawingml/2006/main">
            <a:srgbClr val="F8F5FB"/>
          </a:solidFill>
          <a:ln xmlns:a="http://schemas.openxmlformats.org/drawingml/2006/main" w="14288">
            <a:solidFill>
              <a:srgbClr val="7C3AED"/>
            </a:solidFill>
          </a:ln>
        </p:spPr>
      </p:sp>
      <p:sp>
        <p:nvSpPr>
          <p:cNvPr id="9" name="">
            <a:extLst xmlns:a="http://schemas.openxmlformats.org/drawingml/2006/main">
              <a:ext uri="{FF2B5EF4-FFF2-40B4-BE49-F238E27FC236}">
                <a16:creationId xmlns:a16="http://schemas.microsoft.com/office/drawing/2014/main" id="{B7A4C649-F69D-44E4-8FEF-C0E995FCE50A}"/>
              </a:ext>
            </a:extLst>
          </p:cNvPr>
          <p:cNvSpPr>
            <a:spLocks xmlns:a="http://schemas.openxmlformats.org/drawingml/2006/main" noGrp="1"/>
          </p:cNvSpPr>
          <p:nvPr/>
        </p:nvSpPr>
        <p:spPr>
          <a:xfrm xmlns:a="http://schemas.openxmlformats.org/drawingml/2006/main">
            <a:off x="6153150" y="180022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Worked example Z</a:t>
            </a:r>
          </a:p>
        </p:txBody>
      </p:sp>
      <p:sp>
        <p:nvSpPr>
          <p:cNvPr id="10" name="">
            <a:extLst xmlns:a="http://schemas.openxmlformats.org/drawingml/2006/main">
              <a:ext uri="{FF2B5EF4-FFF2-40B4-BE49-F238E27FC236}">
                <a16:creationId xmlns:a16="http://schemas.microsoft.com/office/drawing/2014/main" id="{DEF2D4D6-9AE9-4F74-8272-DAA702E7ACCF}"/>
              </a:ext>
            </a:extLst>
          </p:cNvPr>
          <p:cNvSpPr>
            <a:spLocks xmlns:a="http://schemas.openxmlformats.org/drawingml/2006/main" noGrp="1"/>
          </p:cNvSpPr>
          <p:nvPr/>
        </p:nvSpPr>
        <p:spPr>
          <a:xfrm xmlns:a="http://schemas.openxmlformats.org/drawingml/2006/main">
            <a:off x="6153150" y="2209800"/>
            <a:ext cx="5429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2 g sugar per 20 g serving</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5 × 20 g = 100 g of food</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5 × 2 g = 10 g sugar</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Z has 10 g sugar per 100 g.</a:t>
            </a:r>
          </a:p>
        </p:txBody>
      </p:sp>
      <p:sp>
        <p:nvSpPr>
          <p:cNvPr id="11" name="">
            <a:extLst xmlns:a="http://schemas.openxmlformats.org/drawingml/2006/main">
              <a:ext uri="{FF2B5EF4-FFF2-40B4-BE49-F238E27FC236}">
                <a16:creationId xmlns:a16="http://schemas.microsoft.com/office/drawing/2014/main" id="{CE57BD64-ECDC-4D9F-BF5B-41A4DA629166}"/>
              </a:ext>
            </a:extLst>
          </p:cNvPr>
          <p:cNvSpPr>
            <a:spLocks xmlns:a="http://schemas.openxmlformats.org/drawingml/2006/main" noGrp="1"/>
          </p:cNvSpPr>
          <p:nvPr/>
        </p:nvSpPr>
        <p:spPr>
          <a:xfrm xmlns:a="http://schemas.openxmlformats.org/drawingml/2006/main">
            <a:off x="6000750" y="4667250"/>
            <a:ext cx="5734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F2937"/>
                </a:solidFill>
                <a:latin typeface="DejaVu Sans"/>
                <a:ea typeface="DejaVu Sans"/>
                <a:cs typeface="DejaVu Sans"/>
              </a:defRPr>
            </a:pPr>
            <a:r>
              <a:rPr sz="2025" b="0">
                <a:solidFill>
                  <a:srgbClr val="1F2937"/>
                </a:solidFill>
                <a:latin typeface="DejaVu Sans"/>
                <a:ea typeface="DejaVu Sans"/>
                <a:cs typeface="DejaVu Sans"/>
              </a:rPr>
              <a:t>With the basis matched: P, Z, Q, R, S.</a:t>
            </a:r>
          </a:p>
          <a:p xmlns:a="http://schemas.openxmlformats.org/drawingml/2006/main">
            <a:pPr>
              <a:defRPr sz="2025" b="0">
                <a:solidFill>
                  <a:srgbClr val="1F2937"/>
                </a:solidFill>
                <a:latin typeface="DejaVu Sans"/>
                <a:ea typeface="DejaVu Sans"/>
                <a:cs typeface="DejaVu Sans"/>
              </a:defRPr>
            </a:pPr>
            <a:r>
              <a:rPr sz="2025" b="0">
                <a:solidFill>
                  <a:srgbClr val="1F2937"/>
                </a:solidFill>
                <a:latin typeface="DejaVu Sans"/>
                <a:ea typeface="DejaVu Sans"/>
                <a:cs typeface="DejaVu Sans"/>
              </a:rPr>
              <a:t>“P has less sugar per 100 g than Q.”</a:t>
            </a:r>
          </a:p>
          <a:p xmlns:a="http://schemas.openxmlformats.org/drawingml/2006/main">
            <a:pPr>
              <a:defRPr sz="2025" b="0">
                <a:solidFill>
                  <a:srgbClr val="1F2937"/>
                </a:solidFill>
                <a:latin typeface="DejaVu Sans"/>
                <a:ea typeface="DejaVu Sans"/>
                <a:cs typeface="DejaVu Sans"/>
              </a:defRPr>
            </a:pPr>
            <a:r>
              <a:rPr sz="2025" b="0">
                <a:solidFill>
                  <a:srgbClr val="1F2937"/>
                </a:solidFill>
                <a:latin typeface="DejaVu Sans"/>
                <a:ea typeface="DejaVu Sans"/>
                <a:cs typeface="DejaVu Sans"/>
              </a:rPr>
              <a:t>Sugar alone cannot identify overall health.</a:t>
            </a:r>
          </a:p>
        </p:txBody>
      </p:sp>
    </p:spTree>
    <p:extLst>
      <p:ext uri="{BB962C8B-B14F-4D97-AF65-F5344CB8AC3E}">
        <p14:creationId xmlns:p14="http://schemas.microsoft.com/office/powerpoint/2010/main" val="20694424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1DBCB6-9F9F-4B92-9466-51AC8C7CCCC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8DAE02-A80D-47F2-BD5A-0FAFB0D5AE3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Starter: which number matters?</a:t>
            </a:r>
          </a:p>
        </p:txBody>
      </p:sp>
      <p:sp>
        <p:nvSpPr>
          <p:cNvPr id="3" name="">
            <a:extLst xmlns:a="http://schemas.openxmlformats.org/drawingml/2006/main">
              <a:ext uri="{FF2B5EF4-FFF2-40B4-BE49-F238E27FC236}">
                <a16:creationId xmlns:a16="http://schemas.microsoft.com/office/drawing/2014/main" id="{CC5EBC6D-1689-443F-A128-DC4DA98E2A21}"/>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Starter · 4 min across this stage</a:t>
            </a:r>
          </a:p>
        </p:txBody>
      </p:sp>
      <p:sp>
        <p:nvSpPr>
          <p:cNvPr id="4" name="">
            <a:extLst xmlns:a="http://schemas.openxmlformats.org/drawingml/2006/main">
              <a:ext uri="{FF2B5EF4-FFF2-40B4-BE49-F238E27FC236}">
                <a16:creationId xmlns:a16="http://schemas.microsoft.com/office/drawing/2014/main" id="{85E1FDE9-77B1-4D59-9E43-47B7C0458E83}"/>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297ECCDA-2FA1-48AA-B6BE-E9F663DC1441}"/>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10</a:t>
            </a:r>
          </a:p>
        </p:txBody>
      </p:sp>
      <p:graphicFrame>
        <p:nvGraphicFramePr>
          <p:cNvPr id="14" name=""/>
          <p:cNvGraphicFramePr/>
          <p:nvPr/>
        </p:nvGraphicFramePr>
        <p:xfrm>
          <a:off xmlns:a="http://schemas.openxmlformats.org/drawingml/2006/main" x="457200" y="1752600"/>
          <a:ext xmlns:a="http://schemas.openxmlformats.org/drawingml/2006/main" cx="11277600" cy="2524125"/>
        </p:xfrm>
        <a:graphic xmlns:a="http://schemas.openxmlformats.org/drawingml/2006/main">
          <a:graphicData uri="http://schemas.openxmlformats.org/drawingml/2006/table">
            <a:tbl>
              <a:tblPr/>
              <a:tblGrid>
                <a:gridCol w="3759200"/>
                <a:gridCol w="3759200"/>
                <a:gridCol w="3759200"/>
              </a:tblGrid>
              <a:tr h="841375">
                <a:tc>
                  <a:txBody>
                    <a:bodyPr/>
                    <a:lstStyle/>
                    <a:p>
                      <a:r>
                        <a:rPr sz="2100" b="1">
                          <a:solidFill>
                            <a:srgbClr val="1F2937"/>
                          </a:solidFill>
                          <a:latin typeface="DejaVu Sans"/>
                          <a:ea typeface="DejaVu Sans"/>
                          <a:cs typeface="DejaVu Sans"/>
                        </a:rPr>
                        <a:t>Nutrient / per 100 g</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Label A</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Label B</a:t>
                      </a:r>
                    </a:p>
                  </a:txBody>
                  <a:tcPr marL="91440" marR="91440" marT="45720" marB="45720">
                    <a:solidFill>
                      <a:srgbClr val="EDE9FE"/>
                    </a:solidFill>
                  </a:tcPr>
                </a:tc>
              </a:tr>
              <a:tr h="841375">
                <a:tc>
                  <a:txBody>
                    <a:bodyPr/>
                    <a:lstStyle/>
                    <a:p>
                      <a:r>
                        <a:rPr sz="2100" b="0">
                          <a:solidFill>
                            <a:srgbClr val="1F2937"/>
                          </a:solidFill>
                          <a:latin typeface="DejaVu Sans"/>
                          <a:ea typeface="DejaVu Sans"/>
                          <a:cs typeface="DejaVu Sans"/>
                        </a:rPr>
                        <a:t>Carbohydrate</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22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67 g</a:t>
                      </a:r>
                    </a:p>
                  </a:txBody>
                  <a:tcPr marL="91440" marR="91440" marT="45720" marB="45720">
                    <a:solidFill>
                      <a:srgbClr val="FFFFFF"/>
                    </a:solidFill>
                  </a:tcPr>
                </a:tc>
              </a:tr>
              <a:tr h="841375">
                <a:tc>
                  <a:txBody>
                    <a:bodyPr/>
                    <a:lstStyle/>
                    <a:p>
                      <a:r>
                        <a:rPr sz="2100" b="0">
                          <a:solidFill>
                            <a:srgbClr val="1F2937"/>
                          </a:solidFill>
                          <a:latin typeface="DejaVu Sans"/>
                          <a:ea typeface="DejaVu Sans"/>
                          <a:cs typeface="DejaVu Sans"/>
                        </a:rPr>
                        <a:t>of which sugars</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4 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9 g</a:t>
                      </a:r>
                    </a:p>
                  </a:txBody>
                  <a:tcPr marL="91440" marR="91440" marT="45720" marB="45720">
                    <a:solidFill>
                      <a:srgbClr val="F8FAFC"/>
                    </a:solidFill>
                  </a:tcPr>
                </a:tc>
              </a:tr>
            </a:tbl>
          </a:graphicData>
        </a:graphic>
      </p:graphicFrame>
      <p:sp>
        <p:nvSpPr>
          <p:cNvPr id="7" name="">
            <a:extLst xmlns:a="http://schemas.openxmlformats.org/drawingml/2006/main">
              <a:ext uri="{FF2B5EF4-FFF2-40B4-BE49-F238E27FC236}">
                <a16:creationId xmlns:a16="http://schemas.microsoft.com/office/drawing/2014/main" id="{ED33848C-8F5F-4AF2-9F97-3BEE9061DDD3}"/>
              </a:ext>
            </a:extLst>
          </p:cNvPr>
          <p:cNvSpPr>
            <a:spLocks xmlns:a="http://schemas.openxmlformats.org/drawingml/2006/main" noGrp="1"/>
          </p:cNvSpPr>
          <p:nvPr/>
        </p:nvSpPr>
        <p:spPr>
          <a:xfrm xmlns:a="http://schemas.openxmlformats.org/drawingml/2006/main">
            <a:off x="457200" y="4648200"/>
            <a:ext cx="11277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F2937"/>
                </a:solidFill>
                <a:latin typeface="DejaVu Sans"/>
                <a:ea typeface="DejaVu Sans"/>
                <a:cs typeface="DejaVu Sans"/>
              </a:defRPr>
            </a:pPr>
            <a:r>
              <a:rPr sz="2625" b="0">
                <a:solidFill>
                  <a:srgbClr val="1F2937"/>
                </a:solidFill>
                <a:latin typeface="DejaVu Sans"/>
                <a:ea typeface="DejaVu Sans"/>
                <a:cs typeface="DejaVu Sans"/>
              </a:rPr>
              <a:t>Point to a number you would use to compare sugar.</a:t>
            </a:r>
          </a:p>
          <a:p xmlns:a="http://schemas.openxmlformats.org/drawingml/2006/main">
            <a:pPr>
              <a:defRPr sz="2625" b="0">
                <a:solidFill>
                  <a:srgbClr val="1F2937"/>
                </a:solidFill>
                <a:latin typeface="DejaVu Sans"/>
                <a:ea typeface="DejaVu Sans"/>
                <a:cs typeface="DejaVu Sans"/>
              </a:defRPr>
            </a:pPr>
            <a:r>
              <a:rPr sz="2625" b="0">
                <a:solidFill>
                  <a:srgbClr val="1F2937"/>
                </a:solidFill>
                <a:latin typeface="DejaVu Sans"/>
                <a:ea typeface="DejaVu Sans"/>
                <a:cs typeface="DejaVu Sans"/>
              </a:rPr>
              <a:t>Why that number?</a:t>
            </a:r>
          </a:p>
        </p:txBody>
      </p:sp>
      <p:sp>
        <p:nvSpPr>
          <p:cNvPr id="8" name="">
            <a:extLst xmlns:a="http://schemas.openxmlformats.org/drawingml/2006/main">
              <a:ext uri="{FF2B5EF4-FFF2-40B4-BE49-F238E27FC236}">
                <a16:creationId xmlns:a16="http://schemas.microsoft.com/office/drawing/2014/main" id="{0396C7DE-7F2E-437F-86E3-B1093ECF7ACC}"/>
              </a:ext>
            </a:extLst>
          </p:cNvPr>
          <p:cNvSpPr>
            <a:spLocks xmlns:a="http://schemas.openxmlformats.org/drawingml/2006/main" noGrp="1"/>
          </p:cNvSpPr>
          <p:nvPr/>
        </p:nvSpPr>
        <p:spPr>
          <a:xfrm xmlns:a="http://schemas.openxmlformats.org/drawingml/2006/main">
            <a:off x="457200" y="585787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75985"/>
                </a:solidFill>
                <a:latin typeface="DejaVu Sans"/>
                <a:ea typeface="DejaVu Sans"/>
                <a:cs typeface="DejaVu Sans"/>
              </a:defRPr>
            </a:pPr>
            <a:r>
              <a:rPr sz="1650" b="0">
                <a:solidFill>
                  <a:srgbClr val="075985"/>
                </a:solidFill>
                <a:latin typeface="DejaVu Sans"/>
                <a:ea typeface="DejaVu Sans"/>
                <a:cs typeface="DejaVu Sans"/>
              </a:rPr>
              <a:t>Fictional teaching labels. Nothing is tasted. Help: track the “of which sugars” row.</a:t>
            </a:r>
          </a:p>
        </p:txBody>
      </p:sp>
    </p:spTree>
    <p:extLst>
      <p:ext uri="{BB962C8B-B14F-4D97-AF65-F5344CB8AC3E}">
        <p14:creationId xmlns:p14="http://schemas.microsoft.com/office/powerpoint/2010/main" val="12116473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3EE5CB-FC6C-4D16-8CEA-E10532EB144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A4EC1D-AE39-42E0-83E4-C2B78058B43D}"/>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C3AED"/>
                </a:solidFill>
                <a:latin typeface="DejaVu Sans"/>
                <a:ea typeface="DejaVu Sans"/>
                <a:cs typeface="DejaVu Sans"/>
              </a:defRPr>
            </a:pPr>
            <a:r>
              <a:rPr sz="3150" b="1">
                <a:solidFill>
                  <a:srgbClr val="7C3AED"/>
                </a:solidFill>
                <a:latin typeface="DejaVu Sans"/>
                <a:ea typeface="DejaVu Sans"/>
                <a:cs typeface="DejaVu Sans"/>
              </a:rPr>
              <a:t>Number, unit and basis</a:t>
            </a:r>
          </a:p>
        </p:txBody>
      </p:sp>
      <p:sp>
        <p:nvSpPr>
          <p:cNvPr id="3" name="">
            <a:extLst xmlns:a="http://schemas.openxmlformats.org/drawingml/2006/main">
              <a:ext uri="{FF2B5EF4-FFF2-40B4-BE49-F238E27FC236}">
                <a16:creationId xmlns:a16="http://schemas.microsoft.com/office/drawing/2014/main" id="{967C6156-70EE-4035-85E5-8116E2B9B468}"/>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I do 1 · 5 min across this stage</a:t>
            </a:r>
          </a:p>
        </p:txBody>
      </p:sp>
      <p:sp>
        <p:nvSpPr>
          <p:cNvPr id="4" name="">
            <a:extLst xmlns:a="http://schemas.openxmlformats.org/drawingml/2006/main">
              <a:ext uri="{FF2B5EF4-FFF2-40B4-BE49-F238E27FC236}">
                <a16:creationId xmlns:a16="http://schemas.microsoft.com/office/drawing/2014/main" id="{70B1003B-A3D9-4A25-87CB-8D3E3130D4EE}"/>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DCC5A5E0-14FF-405E-AC23-D9966B7609D0}"/>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11</a:t>
            </a:r>
          </a:p>
        </p:txBody>
      </p:sp>
      <p:graphicFrame>
        <p:nvGraphicFramePr>
          <p:cNvPr id="16" name=""/>
          <p:cNvGraphicFramePr/>
          <p:nvPr/>
        </p:nvGraphicFramePr>
        <p:xfrm>
          <a:off xmlns:a="http://schemas.openxmlformats.org/drawingml/2006/main" x="457200" y="1714500"/>
          <a:ext xmlns:a="http://schemas.openxmlformats.org/drawingml/2006/main" cx="5715000" cy="3524250"/>
        </p:xfrm>
        <a:graphic xmlns:a="http://schemas.openxmlformats.org/drawingml/2006/main">
          <a:graphicData uri="http://schemas.openxmlformats.org/drawingml/2006/table">
            <a:tbl>
              <a:tblPr/>
              <a:tblGrid>
                <a:gridCol w="2857500"/>
                <a:gridCol w="2857500"/>
              </a:tblGrid>
              <a:tr h="704850">
                <a:tc>
                  <a:txBody>
                    <a:bodyPr/>
                    <a:lstStyle/>
                    <a:p>
                      <a:r>
                        <a:rPr sz="2100" b="1">
                          <a:solidFill>
                            <a:srgbClr val="1F2937"/>
                          </a:solidFill>
                          <a:latin typeface="DejaVu Sans"/>
                          <a:ea typeface="DejaVu Sans"/>
                          <a:cs typeface="DejaVu Sans"/>
                        </a:rPr>
                        <a:t>Label A / per 100 g</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Amount</a:t>
                      </a:r>
                    </a:p>
                  </a:txBody>
                  <a:tcPr marL="91440" marR="91440" marT="45720" marB="45720">
                    <a:solidFill>
                      <a:srgbClr val="EDE9FE"/>
                    </a:solidFill>
                  </a:tcPr>
                </a:tc>
              </a:tr>
              <a:tr h="704850">
                <a:tc>
                  <a:txBody>
                    <a:bodyPr/>
                    <a:lstStyle/>
                    <a:p>
                      <a:r>
                        <a:rPr sz="2100" b="0">
                          <a:solidFill>
                            <a:srgbClr val="1F2937"/>
                          </a:solidFill>
                          <a:latin typeface="DejaVu Sans"/>
                          <a:ea typeface="DejaVu Sans"/>
                          <a:cs typeface="DejaVu Sans"/>
                        </a:rPr>
                        <a:t>Carbohydrate</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22 g</a:t>
                      </a:r>
                    </a:p>
                  </a:txBody>
                  <a:tcPr marL="91440" marR="91440" marT="45720" marB="45720">
                    <a:solidFill>
                      <a:srgbClr val="FFFFFF"/>
                    </a:solidFill>
                  </a:tcPr>
                </a:tc>
              </a:tr>
              <a:tr h="704850">
                <a:tc>
                  <a:txBody>
                    <a:bodyPr/>
                    <a:lstStyle/>
                    <a:p>
                      <a:r>
                        <a:rPr sz="2100" b="0">
                          <a:solidFill>
                            <a:srgbClr val="1F2937"/>
                          </a:solidFill>
                          <a:latin typeface="DejaVu Sans"/>
                          <a:ea typeface="DejaVu Sans"/>
                          <a:cs typeface="DejaVu Sans"/>
                        </a:rPr>
                        <a:t>of which sugars</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4 g</a:t>
                      </a:r>
                    </a:p>
                  </a:txBody>
                  <a:tcPr marL="91440" marR="91440" marT="45720" marB="45720">
                    <a:solidFill>
                      <a:srgbClr val="F8FAFC"/>
                    </a:solidFill>
                  </a:tcPr>
                </a:tc>
              </a:tr>
              <a:tr h="704850">
                <a:tc>
                  <a:txBody>
                    <a:bodyPr/>
                    <a:lstStyle/>
                    <a:p>
                      <a:r>
                        <a:rPr sz="2100" b="0">
                          <a:solidFill>
                            <a:srgbClr val="1F2937"/>
                          </a:solidFill>
                          <a:latin typeface="DejaVu Sans"/>
                          <a:ea typeface="DejaVu Sans"/>
                          <a:cs typeface="DejaVu Sans"/>
                        </a:rPr>
                        <a:t>Protein</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6 g</a:t>
                      </a:r>
                    </a:p>
                  </a:txBody>
                  <a:tcPr marL="91440" marR="91440" marT="45720" marB="45720">
                    <a:solidFill>
                      <a:srgbClr val="FFFFFF"/>
                    </a:solidFill>
                  </a:tcPr>
                </a:tc>
              </a:tr>
              <a:tr h="704850">
                <a:tc>
                  <a:txBody>
                    <a:bodyPr/>
                    <a:lstStyle/>
                    <a:p>
                      <a:r>
                        <a:rPr sz="2100" b="0">
                          <a:solidFill>
                            <a:srgbClr val="1F2937"/>
                          </a:solidFill>
                          <a:latin typeface="DejaVu Sans"/>
                          <a:ea typeface="DejaVu Sans"/>
                          <a:cs typeface="DejaVu Sans"/>
                        </a:rPr>
                        <a:t>Salt</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0.2 g</a:t>
                      </a:r>
                    </a:p>
                  </a:txBody>
                  <a:tcPr marL="91440" marR="91440" marT="45720" marB="45720">
                    <a:solidFill>
                      <a:srgbClr val="F8FAFC"/>
                    </a:solidFill>
                  </a:tcPr>
                </a:tc>
              </a:tr>
            </a:tbl>
          </a:graphicData>
        </a:graphic>
      </p:graphicFrame>
      <p:sp>
        <p:nvSpPr>
          <p:cNvPr id="7" name="">
            <a:extLst xmlns:a="http://schemas.openxmlformats.org/drawingml/2006/main">
              <a:ext uri="{FF2B5EF4-FFF2-40B4-BE49-F238E27FC236}">
                <a16:creationId xmlns:a16="http://schemas.microsoft.com/office/drawing/2014/main" id="{75108E42-684B-4335-8D62-78DBCD9154A2}"/>
              </a:ext>
            </a:extLst>
          </p:cNvPr>
          <p:cNvSpPr>
            <a:spLocks xmlns:a="http://schemas.openxmlformats.org/drawingml/2006/main" noGrp="1"/>
          </p:cNvSpPr>
          <p:nvPr/>
        </p:nvSpPr>
        <p:spPr>
          <a:xfrm xmlns:a="http://schemas.openxmlformats.org/drawingml/2006/main">
            <a:off x="6858000" y="1714500"/>
            <a:ext cx="4876800" cy="4095750"/>
          </a:xfrm>
          <a:prstGeom xmlns:a="http://schemas.openxmlformats.org/drawingml/2006/main" prst="roundRect">
            <a:avLst>
              <a:gd name="adj" fmla="val 2791"/>
            </a:avLst>
          </a:prstGeom>
          <a:solidFill xmlns:a="http://schemas.openxmlformats.org/drawingml/2006/main">
            <a:srgbClr val="F8F5FB"/>
          </a:solidFill>
          <a:ln xmlns:a="http://schemas.openxmlformats.org/drawingml/2006/main" w="14288">
            <a:solidFill>
              <a:srgbClr val="7C3AED"/>
            </a:solidFill>
          </a:ln>
        </p:spPr>
      </p:sp>
      <p:sp>
        <p:nvSpPr>
          <p:cNvPr id="8" name="">
            <a:extLst xmlns:a="http://schemas.openxmlformats.org/drawingml/2006/main">
              <a:ext uri="{FF2B5EF4-FFF2-40B4-BE49-F238E27FC236}">
                <a16:creationId xmlns:a16="http://schemas.microsoft.com/office/drawing/2014/main" id="{41E76864-4FAD-49C0-A07E-9336B6CCC126}"/>
              </a:ext>
            </a:extLst>
          </p:cNvPr>
          <p:cNvSpPr>
            <a:spLocks xmlns:a="http://schemas.openxmlformats.org/drawingml/2006/main" noGrp="1"/>
          </p:cNvSpPr>
          <p:nvPr/>
        </p:nvSpPr>
        <p:spPr>
          <a:xfrm xmlns:a="http://schemas.openxmlformats.org/drawingml/2006/main">
            <a:off x="7010400" y="182880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Read the whole value</a:t>
            </a:r>
          </a:p>
        </p:txBody>
      </p:sp>
      <p:sp>
        <p:nvSpPr>
          <p:cNvPr id="9" name="">
            <a:extLst xmlns:a="http://schemas.openxmlformats.org/drawingml/2006/main">
              <a:ext uri="{FF2B5EF4-FFF2-40B4-BE49-F238E27FC236}">
                <a16:creationId xmlns:a16="http://schemas.microsoft.com/office/drawing/2014/main" id="{6BBDF084-B67E-42C5-8DAA-8D48642A097A}"/>
              </a:ext>
            </a:extLst>
          </p:cNvPr>
          <p:cNvSpPr>
            <a:spLocks xmlns:a="http://schemas.openxmlformats.org/drawingml/2006/main" noGrp="1"/>
          </p:cNvSpPr>
          <p:nvPr/>
        </p:nvSpPr>
        <p:spPr>
          <a:xfrm xmlns:a="http://schemas.openxmlformats.org/drawingml/2006/main">
            <a:off x="7010400" y="2238375"/>
            <a:ext cx="457200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4</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number</a:t>
            </a:r>
          </a:p>
          <a:p xmlns:a="http://schemas.openxmlformats.org/drawingml/2006/main">
            <a:r>
              <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g</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unit</a:t>
            </a:r>
          </a:p>
          <a:p xmlns:a="http://schemas.openxmlformats.org/drawingml/2006/main">
            <a:r>
              <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per 100 g</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basis</a:t>
            </a:r>
          </a:p>
        </p:txBody>
      </p:sp>
      <p:sp>
        <p:nvSpPr>
          <p:cNvPr id="10" name="">
            <a:extLst xmlns:a="http://schemas.openxmlformats.org/drawingml/2006/main">
              <a:ext uri="{FF2B5EF4-FFF2-40B4-BE49-F238E27FC236}">
                <a16:creationId xmlns:a16="http://schemas.microsoft.com/office/drawing/2014/main" id="{17C8B1B3-BBF0-4902-9AD4-EA4C1DDBE5EF}"/>
              </a:ext>
            </a:extLst>
          </p:cNvPr>
          <p:cNvSpPr>
            <a:spLocks xmlns:a="http://schemas.openxmlformats.org/drawingml/2006/main" noGrp="1"/>
          </p:cNvSpPr>
          <p:nvPr/>
        </p:nvSpPr>
        <p:spPr>
          <a:xfrm xmlns:a="http://schemas.openxmlformats.org/drawingml/2006/main">
            <a:off x="457200" y="5410200"/>
            <a:ext cx="590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Sugars are already part of carbohydrate.</a:t>
            </a:r>
          </a:p>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Do not add the two rows together.</a:t>
            </a:r>
          </a:p>
        </p:txBody>
      </p:sp>
    </p:spTree>
    <p:extLst>
      <p:ext uri="{BB962C8B-B14F-4D97-AF65-F5344CB8AC3E}">
        <p14:creationId xmlns:p14="http://schemas.microsoft.com/office/powerpoint/2010/main" val="3409966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C9EFF9-8CB1-4B95-A2C8-A952A28D557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D1B7E6-B1B7-4DD5-BE65-AF928B050FA3}"/>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C3AED"/>
                </a:solidFill>
                <a:latin typeface="DejaVu Sans"/>
                <a:ea typeface="DejaVu Sans"/>
                <a:cs typeface="DejaVu Sans"/>
              </a:defRPr>
            </a:pPr>
            <a:r>
              <a:rPr sz="3150" b="1">
                <a:solidFill>
                  <a:srgbClr val="7C3AED"/>
                </a:solidFill>
                <a:latin typeface="DejaVu Sans"/>
                <a:ea typeface="DejaVu Sans"/>
                <a:cs typeface="DejaVu Sans"/>
              </a:rPr>
              <a:t>Reading and comparing labels</a:t>
            </a:r>
          </a:p>
        </p:txBody>
      </p:sp>
      <p:sp>
        <p:nvSpPr>
          <p:cNvPr id="3" name="">
            <a:extLst xmlns:a="http://schemas.openxmlformats.org/drawingml/2006/main">
              <a:ext uri="{FF2B5EF4-FFF2-40B4-BE49-F238E27FC236}">
                <a16:creationId xmlns:a16="http://schemas.microsoft.com/office/drawing/2014/main" id="{1A3A71A0-1690-4EBE-AFD3-AB406211F116}"/>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I do 1 · 5 min across this stage</a:t>
            </a:r>
          </a:p>
        </p:txBody>
      </p:sp>
      <p:sp>
        <p:nvSpPr>
          <p:cNvPr id="4" name="">
            <a:extLst xmlns:a="http://schemas.openxmlformats.org/drawingml/2006/main">
              <a:ext uri="{FF2B5EF4-FFF2-40B4-BE49-F238E27FC236}">
                <a16:creationId xmlns:a16="http://schemas.microsoft.com/office/drawing/2014/main" id="{E560A7C7-B752-4D60-9A10-490548F14219}"/>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Explanation 1 of 2</a:t>
            </a:r>
          </a:p>
        </p:txBody>
      </p:sp>
      <p:sp>
        <p:nvSpPr>
          <p:cNvPr id="5" name="">
            <a:extLst xmlns:a="http://schemas.openxmlformats.org/drawingml/2006/main">
              <a:ext uri="{FF2B5EF4-FFF2-40B4-BE49-F238E27FC236}">
                <a16:creationId xmlns:a16="http://schemas.microsoft.com/office/drawing/2014/main" id="{35D48516-7F22-41CA-8C1E-72815E0304A3}"/>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B7E0009F-A853-4976-948A-366FB22F4C25}"/>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12</a:t>
            </a:r>
          </a:p>
        </p:txBody>
      </p:sp>
      <p:sp>
        <p:nvSpPr>
          <p:cNvPr id="7" name="">
            <a:extLst xmlns:a="http://schemas.openxmlformats.org/drawingml/2006/main">
              <a:ext uri="{FF2B5EF4-FFF2-40B4-BE49-F238E27FC236}">
                <a16:creationId xmlns:a16="http://schemas.microsoft.com/office/drawing/2014/main" id="{86DED7FF-9BD7-4A39-B5AF-348E9BBB2B93}"/>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400BE195-0C6C-41E9-9566-0A87989D34E4}"/>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sugar line</a:t>
            </a:r>
          </a:p>
        </p:txBody>
      </p:sp>
      <p:sp>
        <p:nvSpPr>
          <p:cNvPr id="9" name="">
            <a:extLst xmlns:a="http://schemas.openxmlformats.org/drawingml/2006/main">
              <a:ext uri="{FF2B5EF4-FFF2-40B4-BE49-F238E27FC236}">
                <a16:creationId xmlns:a16="http://schemas.microsoft.com/office/drawing/2014/main" id="{F7D01A0F-07B1-4283-AD51-64F402B9DE50}"/>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Find “of which sugars”. Read the number, unit and basis together: 4 g sugars per 100 g of food.</a:t>
            </a:r>
          </a:p>
        </p:txBody>
      </p:sp>
      <p:sp>
        <p:nvSpPr>
          <p:cNvPr id="10" name="">
            <a:extLst xmlns:a="http://schemas.openxmlformats.org/drawingml/2006/main">
              <a:ext uri="{FF2B5EF4-FFF2-40B4-BE49-F238E27FC236}">
                <a16:creationId xmlns:a16="http://schemas.microsoft.com/office/drawing/2014/main" id="{2F822FBA-3106-4E6E-AF23-34EE05CF7582}"/>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CD2666FF-1E3E-48A6-BAA4-4704E64AF4E1}"/>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same food amount</a:t>
            </a:r>
          </a:p>
        </p:txBody>
      </p:sp>
      <p:sp>
        <p:nvSpPr>
          <p:cNvPr id="12" name="">
            <a:extLst xmlns:a="http://schemas.openxmlformats.org/drawingml/2006/main">
              <a:ext uri="{FF2B5EF4-FFF2-40B4-BE49-F238E27FC236}">
                <a16:creationId xmlns:a16="http://schemas.microsoft.com/office/drawing/2014/main" id="{6E51C505-B228-4FF2-A321-CFDBC6C99248}"/>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A has 4 g and B has 9 g sugars per 100 g. A has less sugar when equal food amounts are compared.</a:t>
            </a:r>
          </a:p>
        </p:txBody>
      </p:sp>
    </p:spTree>
    <p:extLst>
      <p:ext uri="{BB962C8B-B14F-4D97-AF65-F5344CB8AC3E}">
        <p14:creationId xmlns:p14="http://schemas.microsoft.com/office/powerpoint/2010/main" val="20099305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9F4103-8606-4B90-B434-B746AF839AA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0AA5A1-84E3-476B-921D-9F637949AEE2}"/>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C3AED"/>
                </a:solidFill>
                <a:latin typeface="DejaVu Sans"/>
                <a:ea typeface="DejaVu Sans"/>
                <a:cs typeface="DejaVu Sans"/>
              </a:defRPr>
            </a:pPr>
            <a:r>
              <a:rPr sz="3150" b="1">
                <a:solidFill>
                  <a:srgbClr val="7C3AED"/>
                </a:solidFill>
                <a:latin typeface="DejaVu Sans"/>
                <a:ea typeface="DejaVu Sans"/>
                <a:cs typeface="DejaVu Sans"/>
              </a:rPr>
              <a:t>Reading and comparing labels</a:t>
            </a:r>
          </a:p>
        </p:txBody>
      </p:sp>
      <p:sp>
        <p:nvSpPr>
          <p:cNvPr id="3" name="">
            <a:extLst xmlns:a="http://schemas.openxmlformats.org/drawingml/2006/main">
              <a:ext uri="{FF2B5EF4-FFF2-40B4-BE49-F238E27FC236}">
                <a16:creationId xmlns:a16="http://schemas.microsoft.com/office/drawing/2014/main" id="{DE2D1BF9-771B-482C-990B-4E8112D33E9B}"/>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I do 1 · 5 min across this stage</a:t>
            </a:r>
          </a:p>
        </p:txBody>
      </p:sp>
      <p:sp>
        <p:nvSpPr>
          <p:cNvPr id="4" name="">
            <a:extLst xmlns:a="http://schemas.openxmlformats.org/drawingml/2006/main">
              <a:ext uri="{FF2B5EF4-FFF2-40B4-BE49-F238E27FC236}">
                <a16:creationId xmlns:a16="http://schemas.microsoft.com/office/drawing/2014/main" id="{8074FF13-0C0F-4CDA-96B2-84DBC49C5C56}"/>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Explanation 2 of 2</a:t>
            </a:r>
          </a:p>
        </p:txBody>
      </p:sp>
      <p:sp>
        <p:nvSpPr>
          <p:cNvPr id="5" name="">
            <a:extLst xmlns:a="http://schemas.openxmlformats.org/drawingml/2006/main">
              <a:ext uri="{FF2B5EF4-FFF2-40B4-BE49-F238E27FC236}">
                <a16:creationId xmlns:a16="http://schemas.microsoft.com/office/drawing/2014/main" id="{CD1D28CB-3C87-4347-80C2-55FF7A39B243}"/>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A1A4072C-872A-4E8B-A0D2-A5F429177419}"/>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13</a:t>
            </a:r>
          </a:p>
        </p:txBody>
      </p:sp>
      <p:sp>
        <p:nvSpPr>
          <p:cNvPr id="7" name="">
            <a:extLst xmlns:a="http://schemas.openxmlformats.org/drawingml/2006/main">
              <a:ext uri="{FF2B5EF4-FFF2-40B4-BE49-F238E27FC236}">
                <a16:creationId xmlns:a16="http://schemas.microsoft.com/office/drawing/2014/main" id="{6F419BF1-5193-4569-A7CD-384D652D25AD}"/>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CE616B93-9007-402F-8711-11C4E73DA612}"/>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A different basis</a:t>
            </a:r>
          </a:p>
        </p:txBody>
      </p:sp>
      <p:sp>
        <p:nvSpPr>
          <p:cNvPr id="9" name="">
            <a:extLst xmlns:a="http://schemas.openxmlformats.org/drawingml/2006/main">
              <a:ext uri="{FF2B5EF4-FFF2-40B4-BE49-F238E27FC236}">
                <a16:creationId xmlns:a16="http://schemas.microsoft.com/office/drawing/2014/main" id="{0569E7CD-727D-449F-A5ED-3838AB0C17F6}"/>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E has 3 g sugars per 25 g serving. Four 25 g servings make 100 g. Four lots of 3 g give 12 g sugars per 100 g.</a:t>
            </a:r>
          </a:p>
        </p:txBody>
      </p:sp>
      <p:sp>
        <p:nvSpPr>
          <p:cNvPr id="10" name="">
            <a:extLst xmlns:a="http://schemas.openxmlformats.org/drawingml/2006/main">
              <a:ext uri="{FF2B5EF4-FFF2-40B4-BE49-F238E27FC236}">
                <a16:creationId xmlns:a16="http://schemas.microsoft.com/office/drawing/2014/main" id="{88B88806-C575-4061-938B-59704DF1F4D2}"/>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66BB547A-E487-4D6D-A667-47CF07DBA49B}"/>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limits of the numbers</a:t>
            </a:r>
          </a:p>
        </p:txBody>
      </p:sp>
      <p:sp>
        <p:nvSpPr>
          <p:cNvPr id="12" name="">
            <a:extLst xmlns:a="http://schemas.openxmlformats.org/drawingml/2006/main">
              <a:ext uri="{FF2B5EF4-FFF2-40B4-BE49-F238E27FC236}">
                <a16:creationId xmlns:a16="http://schemas.microsoft.com/office/drawing/2014/main" id="{2B4614ED-E037-4368-A593-1F42303B6883}"/>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These figures compare sugar only. They cannot identify the best whole food for everyone.</a:t>
            </a:r>
          </a:p>
        </p:txBody>
      </p:sp>
    </p:spTree>
    <p:extLst>
      <p:ext uri="{BB962C8B-B14F-4D97-AF65-F5344CB8AC3E}">
        <p14:creationId xmlns:p14="http://schemas.microsoft.com/office/powerpoint/2010/main" val="3791777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A1112E-B38C-4B8F-BC13-118E133023A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818329-CE6B-4CB8-A6AD-35F7103F0142}"/>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B2777"/>
                </a:solidFill>
                <a:latin typeface="DejaVu Sans"/>
                <a:ea typeface="DejaVu Sans"/>
                <a:cs typeface="DejaVu Sans"/>
              </a:defRPr>
            </a:pPr>
            <a:r>
              <a:rPr sz="3150" b="1">
                <a:solidFill>
                  <a:srgbClr val="DB2777"/>
                </a:solidFill>
                <a:latin typeface="DejaVu Sans"/>
                <a:ea typeface="DejaVu Sans"/>
                <a:cs typeface="DejaVu Sans"/>
              </a:rPr>
              <a:t>We do: order the labels</a:t>
            </a:r>
          </a:p>
        </p:txBody>
      </p:sp>
      <p:sp>
        <p:nvSpPr>
          <p:cNvPr id="3" name="">
            <a:extLst xmlns:a="http://schemas.openxmlformats.org/drawingml/2006/main">
              <a:ext uri="{FF2B5EF4-FFF2-40B4-BE49-F238E27FC236}">
                <a16:creationId xmlns:a16="http://schemas.microsoft.com/office/drawing/2014/main" id="{4CCD6350-0CBD-4073-9F3A-4160F064A596}"/>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We do 1 · 5 min across this stage</a:t>
            </a:r>
          </a:p>
        </p:txBody>
      </p:sp>
      <p:sp>
        <p:nvSpPr>
          <p:cNvPr id="4" name="">
            <a:extLst xmlns:a="http://schemas.openxmlformats.org/drawingml/2006/main">
              <a:ext uri="{FF2B5EF4-FFF2-40B4-BE49-F238E27FC236}">
                <a16:creationId xmlns:a16="http://schemas.microsoft.com/office/drawing/2014/main" id="{BD2B776E-D305-402B-BBE5-9191EE17A6C8}"/>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9D68A8C1-6140-4C95-8275-BEC4E862C45E}"/>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14</a:t>
            </a:r>
          </a:p>
        </p:txBody>
      </p:sp>
      <p:graphicFrame>
        <p:nvGraphicFramePr>
          <p:cNvPr id="13" name=""/>
          <p:cNvGraphicFramePr/>
          <p:nvPr/>
        </p:nvGraphicFramePr>
        <p:xfrm>
          <a:off xmlns:a="http://schemas.openxmlformats.org/drawingml/2006/main" x="457200" y="1752600"/>
          <a:ext xmlns:a="http://schemas.openxmlformats.org/drawingml/2006/main" cx="11277600" cy="3095625"/>
        </p:xfrm>
        <a:graphic xmlns:a="http://schemas.openxmlformats.org/drawingml/2006/main">
          <a:graphicData uri="http://schemas.openxmlformats.org/drawingml/2006/table">
            <a:tbl>
              <a:tblPr/>
              <a:tblGrid>
                <a:gridCol w="5638800"/>
                <a:gridCol w="5638800"/>
              </a:tblGrid>
              <a:tr h="619125">
                <a:tc>
                  <a:txBody>
                    <a:bodyPr/>
                    <a:lstStyle/>
                    <a:p>
                      <a:r>
                        <a:rPr sz="2100" b="1">
                          <a:solidFill>
                            <a:srgbClr val="1F2937"/>
                          </a:solidFill>
                          <a:latin typeface="DejaVu Sans"/>
                          <a:ea typeface="DejaVu Sans"/>
                          <a:cs typeface="DejaVu Sans"/>
                        </a:rPr>
                        <a:t>Label</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Sugar / g per 100 g</a:t>
                      </a:r>
                    </a:p>
                  </a:txBody>
                  <a:tcPr marL="91440" marR="91440" marT="45720" marB="45720">
                    <a:solidFill>
                      <a:srgbClr val="EDE9FE"/>
                    </a:solidFill>
                  </a:tcPr>
                </a:tc>
              </a:tr>
              <a:tr h="619125">
                <a:tc>
                  <a:txBody>
                    <a:bodyPr/>
                    <a:lstStyle/>
                    <a:p>
                      <a:r>
                        <a:rPr sz="2100" b="0">
                          <a:solidFill>
                            <a:srgbClr val="1F2937"/>
                          </a:solidFill>
                          <a:latin typeface="DejaVu Sans"/>
                          <a:ea typeface="DejaVu Sans"/>
                          <a:cs typeface="DejaVu Sans"/>
                        </a:rPr>
                        <a:t>C</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14</a:t>
                      </a:r>
                    </a:p>
                  </a:txBody>
                  <a:tcPr marL="91440" marR="91440" marT="45720" marB="45720">
                    <a:solidFill>
                      <a:srgbClr val="FFFFFF"/>
                    </a:solidFill>
                  </a:tcPr>
                </a:tc>
              </a:tr>
              <a:tr h="619125">
                <a:tc>
                  <a:txBody>
                    <a:bodyPr/>
                    <a:lstStyle/>
                    <a:p>
                      <a:r>
                        <a:rPr sz="2100" b="0">
                          <a:solidFill>
                            <a:srgbClr val="1F2937"/>
                          </a:solidFill>
                          <a:latin typeface="DejaVu Sans"/>
                          <a:ea typeface="DejaVu Sans"/>
                          <a:cs typeface="DejaVu Sans"/>
                        </a:rPr>
                        <a:t>A</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4</a:t>
                      </a:r>
                    </a:p>
                  </a:txBody>
                  <a:tcPr marL="91440" marR="91440" marT="45720" marB="45720">
                    <a:solidFill>
                      <a:srgbClr val="F8FAFC"/>
                    </a:solidFill>
                  </a:tcPr>
                </a:tc>
              </a:tr>
              <a:tr h="619125">
                <a:tc>
                  <a:txBody>
                    <a:bodyPr/>
                    <a:lstStyle/>
                    <a:p>
                      <a:r>
                        <a:rPr sz="2100" b="0">
                          <a:solidFill>
                            <a:srgbClr val="1F2937"/>
                          </a:solidFill>
                          <a:latin typeface="DejaVu Sans"/>
                          <a:ea typeface="DejaVu Sans"/>
                          <a:cs typeface="DejaVu Sans"/>
                        </a:rPr>
                        <a:t>D</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23</a:t>
                      </a:r>
                    </a:p>
                  </a:txBody>
                  <a:tcPr marL="91440" marR="91440" marT="45720" marB="45720">
                    <a:solidFill>
                      <a:srgbClr val="FFFFFF"/>
                    </a:solidFill>
                  </a:tcPr>
                </a:tc>
              </a:tr>
              <a:tr h="619125">
                <a:tc>
                  <a:txBody>
                    <a:bodyPr/>
                    <a:lstStyle/>
                    <a:p>
                      <a:r>
                        <a:rPr sz="2100" b="0">
                          <a:solidFill>
                            <a:srgbClr val="1F2937"/>
                          </a:solidFill>
                          <a:latin typeface="DejaVu Sans"/>
                          <a:ea typeface="DejaVu Sans"/>
                          <a:cs typeface="DejaVu Sans"/>
                        </a:rPr>
                        <a:t>B</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9</a:t>
                      </a:r>
                    </a:p>
                  </a:txBody>
                  <a:tcPr marL="91440" marR="91440" marT="45720" marB="45720">
                    <a:solidFill>
                      <a:srgbClr val="F8FAFC"/>
                    </a:solidFill>
                  </a:tcPr>
                </a:tc>
              </a:tr>
            </a:tbl>
          </a:graphicData>
        </a:graphic>
      </p:graphicFrame>
      <p:sp>
        <p:nvSpPr>
          <p:cNvPr id="7" name="">
            <a:extLst xmlns:a="http://schemas.openxmlformats.org/drawingml/2006/main">
              <a:ext uri="{FF2B5EF4-FFF2-40B4-BE49-F238E27FC236}">
                <a16:creationId xmlns:a16="http://schemas.microsoft.com/office/drawing/2014/main" id="{F5001256-D55E-45DD-AF38-E8DF6FB04BF0}"/>
              </a:ext>
            </a:extLst>
          </p:cNvPr>
          <p:cNvSpPr>
            <a:spLocks xmlns:a="http://schemas.openxmlformats.org/drawingml/2006/main" noGrp="1"/>
          </p:cNvSpPr>
          <p:nvPr/>
        </p:nvSpPr>
        <p:spPr>
          <a:xfrm xmlns:a="http://schemas.openxmlformats.org/drawingml/2006/main">
            <a:off x="457200" y="5200650"/>
            <a:ext cx="11277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F2937"/>
                </a:solidFill>
                <a:latin typeface="DejaVu Sans"/>
                <a:ea typeface="DejaVu Sans"/>
                <a:cs typeface="DejaVu Sans"/>
              </a:defRPr>
            </a:pPr>
            <a:r>
              <a:rPr sz="2550" b="0">
                <a:solidFill>
                  <a:srgbClr val="1F2937"/>
                </a:solidFill>
                <a:latin typeface="DejaVu Sans"/>
                <a:ea typeface="DejaVu Sans"/>
                <a:cs typeface="DejaVu Sans"/>
              </a:rPr>
              <a:t>Order from least to most sugar per 100 g.</a:t>
            </a:r>
          </a:p>
          <a:p xmlns:a="http://schemas.openxmlformats.org/drawingml/2006/main">
            <a:pPr>
              <a:defRPr sz="2550" b="0">
                <a:solidFill>
                  <a:srgbClr val="1F2937"/>
                </a:solidFill>
                <a:latin typeface="DejaVu Sans"/>
                <a:ea typeface="DejaVu Sans"/>
                <a:cs typeface="DejaVu Sans"/>
              </a:defRPr>
            </a:pPr>
            <a:r>
              <a:rPr sz="2550" b="0">
                <a:solidFill>
                  <a:srgbClr val="1F2937"/>
                </a:solidFill>
                <a:latin typeface="DejaVu Sans"/>
                <a:ea typeface="DejaVu Sans"/>
                <a:cs typeface="DejaVu Sans"/>
              </a:rPr>
              <a:t>Point, move the paper cards or direct an adult.</a:t>
            </a:r>
          </a:p>
        </p:txBody>
      </p:sp>
    </p:spTree>
    <p:extLst>
      <p:ext uri="{BB962C8B-B14F-4D97-AF65-F5344CB8AC3E}">
        <p14:creationId xmlns:p14="http://schemas.microsoft.com/office/powerpoint/2010/main" val="11341937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B87CD6-A111-4FEF-9676-E9CC5B6F08A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547DB6-3E24-4CE7-BDC8-7D533AA46FC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B2777"/>
                </a:solidFill>
                <a:latin typeface="DejaVu Sans"/>
                <a:ea typeface="DejaVu Sans"/>
                <a:cs typeface="DejaVu Sans"/>
              </a:defRPr>
            </a:pPr>
            <a:r>
              <a:rPr sz="3150" b="1">
                <a:solidFill>
                  <a:srgbClr val="DB2777"/>
                </a:solidFill>
                <a:latin typeface="DejaVu Sans"/>
                <a:ea typeface="DejaVu Sans"/>
                <a:cs typeface="DejaVu Sans"/>
              </a:rPr>
              <a:t>Our order: check the evidence</a:t>
            </a:r>
          </a:p>
        </p:txBody>
      </p:sp>
      <p:sp>
        <p:nvSpPr>
          <p:cNvPr id="3" name="">
            <a:extLst xmlns:a="http://schemas.openxmlformats.org/drawingml/2006/main">
              <a:ext uri="{FF2B5EF4-FFF2-40B4-BE49-F238E27FC236}">
                <a16:creationId xmlns:a16="http://schemas.microsoft.com/office/drawing/2014/main" id="{283940C6-D469-415C-BDAB-A4B7DC03D7B6}"/>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We do 1 · 5 min across this stage</a:t>
            </a:r>
          </a:p>
        </p:txBody>
      </p:sp>
      <p:sp>
        <p:nvSpPr>
          <p:cNvPr id="4" name="">
            <a:extLst xmlns:a="http://schemas.openxmlformats.org/drawingml/2006/main">
              <a:ext uri="{FF2B5EF4-FFF2-40B4-BE49-F238E27FC236}">
                <a16:creationId xmlns:a16="http://schemas.microsoft.com/office/drawing/2014/main" id="{340E9D8E-9DF5-4380-9090-7D519C38E2BF}"/>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Answer guidance</a:t>
            </a:r>
          </a:p>
        </p:txBody>
      </p:sp>
      <p:sp>
        <p:nvSpPr>
          <p:cNvPr id="5" name="">
            <a:extLst xmlns:a="http://schemas.openxmlformats.org/drawingml/2006/main">
              <a:ext uri="{FF2B5EF4-FFF2-40B4-BE49-F238E27FC236}">
                <a16:creationId xmlns:a16="http://schemas.microsoft.com/office/drawing/2014/main" id="{5DC26995-39B3-4BD9-BA4C-AF96C73D4B24}"/>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3AF7C0C7-A0B2-4D58-B720-50AB3F16ABB5}"/>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15</a:t>
            </a:r>
          </a:p>
        </p:txBody>
      </p:sp>
      <p:graphicFrame>
        <p:nvGraphicFramePr>
          <p:cNvPr id="16" name="Chart"/>
          <p:cNvGraphicFramePr/>
          <p:nvPr/>
        </p:nvGraphicFramePr>
        <p:xfrm>
          <a:off xmlns:a="http://schemas.openxmlformats.org/drawingml/2006/main" x="4572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7d6bf7737fd44fd8"/>
          </a:graphicData>
        </a:graphic>
      </p:graphicFrame>
      <p:sp>
        <p:nvSpPr>
          <p:cNvPr id="8" name="">
            <a:extLst xmlns:a="http://schemas.openxmlformats.org/drawingml/2006/main">
              <a:ext uri="{FF2B5EF4-FFF2-40B4-BE49-F238E27FC236}">
                <a16:creationId xmlns:a16="http://schemas.microsoft.com/office/drawing/2014/main" id="{5B2A0074-D445-453C-AB39-B5CE0972543B}"/>
              </a:ext>
            </a:extLst>
          </p:cNvPr>
          <p:cNvSpPr>
            <a:spLocks xmlns:a="http://schemas.openxmlformats.org/drawingml/2006/main" noGrp="1"/>
          </p:cNvSpPr>
          <p:nvPr/>
        </p:nvSpPr>
        <p:spPr>
          <a:xfrm xmlns:a="http://schemas.openxmlformats.org/drawingml/2006/main">
            <a:off x="457200" y="561975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Sugar / g per 100 g</a:t>
            </a:r>
          </a:p>
        </p:txBody>
      </p:sp>
      <p:sp>
        <p:nvSpPr>
          <p:cNvPr id="9" name="">
            <a:extLst xmlns:a="http://schemas.openxmlformats.org/drawingml/2006/main">
              <a:ext uri="{FF2B5EF4-FFF2-40B4-BE49-F238E27FC236}">
                <a16:creationId xmlns:a16="http://schemas.microsoft.com/office/drawing/2014/main" id="{8C3D1630-5635-4063-A991-CC23CCF981C0}"/>
              </a:ext>
            </a:extLst>
          </p:cNvPr>
          <p:cNvSpPr>
            <a:spLocks xmlns:a="http://schemas.openxmlformats.org/drawingml/2006/main" noGrp="1"/>
          </p:cNvSpPr>
          <p:nvPr/>
        </p:nvSpPr>
        <p:spPr>
          <a:xfrm xmlns:a="http://schemas.openxmlformats.org/drawingml/2006/main">
            <a:off x="8458200" y="2095500"/>
            <a:ext cx="32766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F2937"/>
                </a:solidFill>
                <a:latin typeface="DejaVu Sans"/>
                <a:ea typeface="DejaVu Sans"/>
                <a:cs typeface="DejaVu Sans"/>
              </a:defRPr>
            </a:pPr>
            <a:r>
              <a:rPr sz="2325" b="0">
                <a:solidFill>
                  <a:srgbClr val="1F2937"/>
                </a:solidFill>
                <a:latin typeface="DejaVu Sans"/>
                <a:ea typeface="DejaVu Sans"/>
                <a:cs typeface="DejaVu Sans"/>
              </a:rPr>
              <a:t>A, B, C, D</a:t>
            </a:r>
          </a:p>
          <a:p xmlns:a="http://schemas.openxmlformats.org/drawingml/2006/main">
            <a:r>
              <a:t/>
            </a:r>
          </a:p>
          <a:p xmlns:a="http://schemas.openxmlformats.org/drawingml/2006/main">
            <a:pPr>
              <a:defRPr sz="2325" b="0">
                <a:solidFill>
                  <a:srgbClr val="1F2937"/>
                </a:solidFill>
                <a:latin typeface="DejaVu Sans"/>
                <a:ea typeface="DejaVu Sans"/>
                <a:cs typeface="DejaVu Sans"/>
              </a:defRPr>
            </a:pPr>
            <a:r>
              <a:rPr sz="2325" b="0">
                <a:solidFill>
                  <a:srgbClr val="1F2937"/>
                </a:solidFill>
                <a:latin typeface="DejaVu Sans"/>
                <a:ea typeface="DejaVu Sans"/>
                <a:cs typeface="DejaVu Sans"/>
              </a:rPr>
              <a:t>4 &lt; 9 &lt; 14 &lt; 23</a:t>
            </a:r>
          </a:p>
          <a:p xmlns:a="http://schemas.openxmlformats.org/drawingml/2006/main">
            <a:r>
              <a:t/>
            </a:r>
          </a:p>
          <a:p xmlns:a="http://schemas.openxmlformats.org/drawingml/2006/main">
            <a:pPr>
              <a:defRPr sz="2325" b="0">
                <a:solidFill>
                  <a:srgbClr val="1F2937"/>
                </a:solidFill>
                <a:latin typeface="DejaVu Sans"/>
                <a:ea typeface="DejaVu Sans"/>
                <a:cs typeface="DejaVu Sans"/>
              </a:defRPr>
            </a:pPr>
            <a:r>
              <a:rPr sz="2325" b="0">
                <a:solidFill>
                  <a:srgbClr val="1F2937"/>
                </a:solidFill>
                <a:latin typeface="DejaVu Sans"/>
                <a:ea typeface="DejaVu Sans"/>
                <a:cs typeface="DejaVu Sans"/>
              </a:rPr>
              <a:t>Check each neighbouring pair.</a:t>
            </a:r>
          </a:p>
        </p:txBody>
      </p:sp>
    </p:spTree>
    <p:extLst>
      <p:ext uri="{BB962C8B-B14F-4D97-AF65-F5344CB8AC3E}">
        <p14:creationId xmlns:p14="http://schemas.microsoft.com/office/powerpoint/2010/main" val="1663840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F399C9-C2DC-4156-BD4D-22A642F25BC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F99AFA-4567-442C-BE00-A0DAF152E948}"/>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C3AED"/>
                </a:solidFill>
                <a:latin typeface="DejaVu Sans"/>
                <a:ea typeface="DejaVu Sans"/>
                <a:cs typeface="DejaVu Sans"/>
              </a:defRPr>
            </a:pPr>
            <a:r>
              <a:rPr sz="3150" b="1">
                <a:solidFill>
                  <a:srgbClr val="7C3AED"/>
                </a:solidFill>
                <a:latin typeface="DejaVu Sans"/>
                <a:ea typeface="DejaVu Sans"/>
                <a:cs typeface="DejaVu Sans"/>
              </a:rPr>
              <a:t>A fair comparison</a:t>
            </a:r>
          </a:p>
        </p:txBody>
      </p:sp>
      <p:sp>
        <p:nvSpPr>
          <p:cNvPr id="3" name="">
            <a:extLst xmlns:a="http://schemas.openxmlformats.org/drawingml/2006/main">
              <a:ext uri="{FF2B5EF4-FFF2-40B4-BE49-F238E27FC236}">
                <a16:creationId xmlns:a16="http://schemas.microsoft.com/office/drawing/2014/main" id="{2F31B828-9090-4F35-AD5B-B12F4C2BC6EB}"/>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I do 2 · 4 min across this stage</a:t>
            </a:r>
          </a:p>
        </p:txBody>
      </p:sp>
      <p:sp>
        <p:nvSpPr>
          <p:cNvPr id="4" name="">
            <a:extLst xmlns:a="http://schemas.openxmlformats.org/drawingml/2006/main">
              <a:ext uri="{FF2B5EF4-FFF2-40B4-BE49-F238E27FC236}">
                <a16:creationId xmlns:a16="http://schemas.microsoft.com/office/drawing/2014/main" id="{E2C1CDA8-74E8-410E-8BDE-F1ED532AB8FB}"/>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Core check</a:t>
            </a:r>
          </a:p>
        </p:txBody>
      </p:sp>
      <p:sp>
        <p:nvSpPr>
          <p:cNvPr id="5" name="">
            <a:extLst xmlns:a="http://schemas.openxmlformats.org/drawingml/2006/main">
              <a:ext uri="{FF2B5EF4-FFF2-40B4-BE49-F238E27FC236}">
                <a16:creationId xmlns:a16="http://schemas.microsoft.com/office/drawing/2014/main" id="{1B6A4B2A-85D6-48BE-BAA8-79031559FE4E}"/>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9794BC95-33E4-4792-8FF7-F2A9D103C91E}"/>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16</a:t>
            </a:r>
          </a:p>
        </p:txBody>
      </p:sp>
      <p:graphicFrame>
        <p:nvGraphicFramePr>
          <p:cNvPr id="15" name=""/>
          <p:cNvGraphicFramePr/>
          <p:nvPr/>
        </p:nvGraphicFramePr>
        <p:xfrm>
          <a:off xmlns:a="http://schemas.openxmlformats.org/drawingml/2006/main" x="457200" y="1752600"/>
          <a:ext xmlns:a="http://schemas.openxmlformats.org/drawingml/2006/main" cx="11277600" cy="2857500"/>
        </p:xfrm>
        <a:graphic xmlns:a="http://schemas.openxmlformats.org/drawingml/2006/main">
          <a:graphicData uri="http://schemas.openxmlformats.org/drawingml/2006/table">
            <a:tbl>
              <a:tblPr/>
              <a:tblGrid>
                <a:gridCol w="3759200"/>
                <a:gridCol w="3759200"/>
                <a:gridCol w="3759200"/>
              </a:tblGrid>
              <a:tr h="952500">
                <a:tc>
                  <a:txBody>
                    <a:bodyPr/>
                    <a:lstStyle/>
                    <a:p>
                      <a:r>
                        <a:rPr sz="2100" b="1">
                          <a:solidFill>
                            <a:srgbClr val="1F2937"/>
                          </a:solidFill>
                          <a:latin typeface="DejaVu Sans"/>
                          <a:ea typeface="DejaVu Sans"/>
                          <a:cs typeface="DejaVu Sans"/>
                        </a:rPr>
                        <a:t>Label</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Food amount</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Sugar</a:t>
                      </a:r>
                    </a:p>
                  </a:txBody>
                  <a:tcPr marL="91440" marR="91440" marT="45720" marB="45720">
                    <a:solidFill>
                      <a:srgbClr val="EDE9FE"/>
                    </a:solidFill>
                  </a:tcPr>
                </a:tc>
              </a:tr>
              <a:tr h="952500">
                <a:tc>
                  <a:txBody>
                    <a:bodyPr/>
                    <a:lstStyle/>
                    <a:p>
                      <a:r>
                        <a:rPr sz="2100" b="0">
                          <a:solidFill>
                            <a:srgbClr val="1F2937"/>
                          </a:solidFill>
                          <a:latin typeface="DejaVu Sans"/>
                          <a:ea typeface="DejaVu Sans"/>
                          <a:cs typeface="DejaVu Sans"/>
                        </a:rPr>
                        <a:t>A</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100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4 g</a:t>
                      </a:r>
                    </a:p>
                  </a:txBody>
                  <a:tcPr marL="91440" marR="91440" marT="45720" marB="45720">
                    <a:solidFill>
                      <a:srgbClr val="FFFFFF"/>
                    </a:solidFill>
                  </a:tcPr>
                </a:tc>
              </a:tr>
              <a:tr h="952500">
                <a:tc>
                  <a:txBody>
                    <a:bodyPr/>
                    <a:lstStyle/>
                    <a:p>
                      <a:r>
                        <a:rPr sz="2100" b="0">
                          <a:solidFill>
                            <a:srgbClr val="1F2937"/>
                          </a:solidFill>
                          <a:latin typeface="DejaVu Sans"/>
                          <a:ea typeface="DejaVu Sans"/>
                          <a:cs typeface="DejaVu Sans"/>
                        </a:rPr>
                        <a:t>E</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25 g serving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3 g</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A0EA0301-882D-4C85-BE51-CCC949ED654F}"/>
              </a:ext>
            </a:extLst>
          </p:cNvPr>
          <p:cNvSpPr>
            <a:spLocks xmlns:a="http://schemas.openxmlformats.org/drawingml/2006/main" noGrp="1"/>
          </p:cNvSpPr>
          <p:nvPr/>
        </p:nvSpPr>
        <p:spPr>
          <a:xfrm xmlns:a="http://schemas.openxmlformats.org/drawingml/2006/main">
            <a:off x="457200" y="5086350"/>
            <a:ext cx="11277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F2937"/>
                </a:solidFill>
                <a:latin typeface="DejaVu Sans"/>
                <a:ea typeface="DejaVu Sans"/>
                <a:cs typeface="DejaVu Sans"/>
              </a:defRPr>
            </a:pPr>
            <a:r>
              <a:rPr sz="2475" b="0">
                <a:solidFill>
                  <a:srgbClr val="1F2937"/>
                </a:solidFill>
                <a:latin typeface="DejaVu Sans"/>
                <a:ea typeface="DejaVu Sans"/>
                <a:cs typeface="DejaVu Sans"/>
              </a:rPr>
              <a:t>Are these the same food amounts?</a:t>
            </a:r>
          </a:p>
          <a:p xmlns:a="http://schemas.openxmlformats.org/drawingml/2006/main">
            <a:pPr>
              <a:defRPr sz="2475" b="0">
                <a:solidFill>
                  <a:srgbClr val="1F2937"/>
                </a:solidFill>
                <a:latin typeface="DejaVu Sans"/>
                <a:ea typeface="DejaVu Sans"/>
                <a:cs typeface="DejaVu Sans"/>
              </a:defRPr>
            </a:pPr>
            <a:r>
              <a:rPr sz="2475" b="0">
                <a:solidFill>
                  <a:srgbClr val="1F2937"/>
                </a:solidFill>
                <a:latin typeface="DejaVu Sans"/>
                <a:ea typeface="DejaVu Sans"/>
                <a:cs typeface="DejaVu Sans"/>
              </a:rPr>
              <a:t>Explain why comparing 4 and 3 directly is not fair.</a:t>
            </a:r>
          </a:p>
        </p:txBody>
      </p:sp>
    </p:spTree>
    <p:extLst>
      <p:ext uri="{BB962C8B-B14F-4D97-AF65-F5344CB8AC3E}">
        <p14:creationId xmlns:p14="http://schemas.microsoft.com/office/powerpoint/2010/main" val="9181380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68B6EF-A1E6-4081-AC81-821B997C573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60AC72-9A87-4B04-AAC5-F5D377420F5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C3AED"/>
                </a:solidFill>
                <a:latin typeface="DejaVu Sans"/>
                <a:ea typeface="DejaVu Sans"/>
                <a:cs typeface="DejaVu Sans"/>
              </a:defRPr>
            </a:pPr>
            <a:r>
              <a:rPr sz="3150" b="1">
                <a:solidFill>
                  <a:srgbClr val="7C3AED"/>
                </a:solidFill>
                <a:latin typeface="DejaVu Sans"/>
                <a:ea typeface="DejaVu Sans"/>
                <a:cs typeface="DejaVu Sans"/>
              </a:rPr>
              <a:t>Four equal servings</a:t>
            </a:r>
          </a:p>
        </p:txBody>
      </p:sp>
      <p:sp>
        <p:nvSpPr>
          <p:cNvPr id="3" name="">
            <a:extLst xmlns:a="http://schemas.openxmlformats.org/drawingml/2006/main">
              <a:ext uri="{FF2B5EF4-FFF2-40B4-BE49-F238E27FC236}">
                <a16:creationId xmlns:a16="http://schemas.microsoft.com/office/drawing/2014/main" id="{D234599F-F6A1-428C-AA46-97335F37FB6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I do 2 · 4 min across this stage</a:t>
            </a:r>
          </a:p>
        </p:txBody>
      </p:sp>
      <p:sp>
        <p:nvSpPr>
          <p:cNvPr id="4" name="">
            <a:extLst xmlns:a="http://schemas.openxmlformats.org/drawingml/2006/main">
              <a:ext uri="{FF2B5EF4-FFF2-40B4-BE49-F238E27FC236}">
                <a16:creationId xmlns:a16="http://schemas.microsoft.com/office/drawing/2014/main" id="{A269DB7C-9136-45A8-8F08-E590486BF58F}"/>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Extension</a:t>
            </a:r>
          </a:p>
        </p:txBody>
      </p:sp>
      <p:sp>
        <p:nvSpPr>
          <p:cNvPr id="5" name="">
            <a:extLst xmlns:a="http://schemas.openxmlformats.org/drawingml/2006/main">
              <a:ext uri="{FF2B5EF4-FFF2-40B4-BE49-F238E27FC236}">
                <a16:creationId xmlns:a16="http://schemas.microsoft.com/office/drawing/2014/main" id="{EAAB81A9-8170-4DF4-A56A-EF36E10F8746}"/>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ED2E1E70-BF7D-4F88-9E48-28145BF428D7}"/>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17</a:t>
            </a:r>
          </a:p>
        </p:txBody>
      </p:sp>
      <p:graphicFrame>
        <p:nvGraphicFramePr>
          <p:cNvPr id="15" name=""/>
          <p:cNvGraphicFramePr/>
          <p:nvPr/>
        </p:nvGraphicFramePr>
        <p:xfrm>
          <a:off xmlns:a="http://schemas.openxmlformats.org/drawingml/2006/main" x="457200" y="1752600"/>
          <a:ext xmlns:a="http://schemas.openxmlformats.org/drawingml/2006/main" cx="11277600" cy="3429000"/>
        </p:xfrm>
        <a:graphic xmlns:a="http://schemas.openxmlformats.org/drawingml/2006/main">
          <a:graphicData uri="http://schemas.openxmlformats.org/drawingml/2006/table">
            <a:tbl>
              <a:tblPr/>
              <a:tblGrid>
                <a:gridCol w="3759200"/>
                <a:gridCol w="3759200"/>
                <a:gridCol w="3759200"/>
              </a:tblGrid>
              <a:tr h="685800">
                <a:tc>
                  <a:txBody>
                    <a:bodyPr/>
                    <a:lstStyle/>
                    <a:p>
                      <a:r>
                        <a:rPr sz="2100" b="1">
                          <a:solidFill>
                            <a:srgbClr val="1F2937"/>
                          </a:solidFill>
                          <a:latin typeface="DejaVu Sans"/>
                          <a:ea typeface="DejaVu Sans"/>
                          <a:cs typeface="DejaVu Sans"/>
                        </a:rPr>
                        <a:t>Servings of E</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Food mass</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Sugar mass</a:t>
                      </a:r>
                    </a:p>
                  </a:txBody>
                  <a:tcPr marL="91440" marR="91440" marT="45720" marB="45720">
                    <a:solidFill>
                      <a:srgbClr val="EDE9FE"/>
                    </a:solidFill>
                  </a:tcPr>
                </a:tc>
              </a:tr>
              <a:tr h="685800">
                <a:tc>
                  <a:txBody>
                    <a:bodyPr/>
                    <a:lstStyle/>
                    <a:p>
                      <a:r>
                        <a:rPr sz="2100" b="0">
                          <a:solidFill>
                            <a:srgbClr val="1F2937"/>
                          </a:solidFill>
                          <a:latin typeface="DejaVu Sans"/>
                          <a:ea typeface="DejaVu Sans"/>
                          <a:cs typeface="DejaVu Sans"/>
                        </a:rPr>
                        <a:t>1</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25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3 g</a:t>
                      </a:r>
                    </a:p>
                  </a:txBody>
                  <a:tcPr marL="91440" marR="91440" marT="45720" marB="45720">
                    <a:solidFill>
                      <a:srgbClr val="FFFFFF"/>
                    </a:solidFill>
                  </a:tcPr>
                </a:tc>
              </a:tr>
              <a:tr h="685800">
                <a:tc>
                  <a:txBody>
                    <a:bodyPr/>
                    <a:lstStyle/>
                    <a:p>
                      <a:r>
                        <a:rPr sz="2100" b="0">
                          <a:solidFill>
                            <a:srgbClr val="1F2937"/>
                          </a:solidFill>
                          <a:latin typeface="DejaVu Sans"/>
                          <a:ea typeface="DejaVu Sans"/>
                          <a:cs typeface="DejaVu Sans"/>
                        </a:rPr>
                        <a:t>2</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50 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6 g</a:t>
                      </a:r>
                    </a:p>
                  </a:txBody>
                  <a:tcPr marL="91440" marR="91440" marT="45720" marB="45720">
                    <a:solidFill>
                      <a:srgbClr val="F8FAFC"/>
                    </a:solidFill>
                  </a:tcPr>
                </a:tc>
              </a:tr>
              <a:tr h="685800">
                <a:tc>
                  <a:txBody>
                    <a:bodyPr/>
                    <a:lstStyle/>
                    <a:p>
                      <a:r>
                        <a:rPr sz="2100" b="0">
                          <a:solidFill>
                            <a:srgbClr val="1F2937"/>
                          </a:solidFill>
                          <a:latin typeface="DejaVu Sans"/>
                          <a:ea typeface="DejaVu Sans"/>
                          <a:cs typeface="DejaVu Sans"/>
                        </a:rPr>
                        <a:t>3</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75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9 g</a:t>
                      </a:r>
                    </a:p>
                  </a:txBody>
                  <a:tcPr marL="91440" marR="91440" marT="45720" marB="45720">
                    <a:solidFill>
                      <a:srgbClr val="FFFFFF"/>
                    </a:solidFill>
                  </a:tcPr>
                </a:tc>
              </a:tr>
              <a:tr h="685800">
                <a:tc>
                  <a:txBody>
                    <a:bodyPr/>
                    <a:lstStyle/>
                    <a:p>
                      <a:r>
                        <a:rPr sz="2100" b="0">
                          <a:solidFill>
                            <a:srgbClr val="1F2937"/>
                          </a:solidFill>
                          <a:latin typeface="DejaVu Sans"/>
                          <a:ea typeface="DejaVu Sans"/>
                          <a:cs typeface="DejaVu Sans"/>
                        </a:rPr>
                        <a:t>4</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100 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12 g</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595CF0DB-1A1D-404A-8EA1-D1B33C40D910}"/>
              </a:ext>
            </a:extLst>
          </p:cNvPr>
          <p:cNvSpPr>
            <a:spLocks xmlns:a="http://schemas.openxmlformats.org/drawingml/2006/main" noGrp="1"/>
          </p:cNvSpPr>
          <p:nvPr/>
        </p:nvSpPr>
        <p:spPr>
          <a:xfrm xmlns:a="http://schemas.openxmlformats.org/drawingml/2006/main">
            <a:off x="457200" y="535305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F2937"/>
                </a:solidFill>
                <a:latin typeface="DejaVu Sans"/>
                <a:ea typeface="DejaVu Sans"/>
                <a:cs typeface="DejaVu Sans"/>
              </a:defRPr>
            </a:pPr>
            <a:r>
              <a:rPr sz="2400" b="0">
                <a:solidFill>
                  <a:srgbClr val="1F2937"/>
                </a:solidFill>
                <a:latin typeface="DejaVu Sans"/>
                <a:ea typeface="DejaVu Sans"/>
                <a:cs typeface="DejaVu Sans"/>
              </a:rPr>
              <a:t>4 × 25 g food = 100 g food</a:t>
            </a:r>
          </a:p>
          <a:p xmlns:a="http://schemas.openxmlformats.org/drawingml/2006/main">
            <a:pPr>
              <a:defRPr sz="2400" b="0">
                <a:solidFill>
                  <a:srgbClr val="1F2937"/>
                </a:solidFill>
                <a:latin typeface="DejaVu Sans"/>
                <a:ea typeface="DejaVu Sans"/>
                <a:cs typeface="DejaVu Sans"/>
              </a:defRPr>
            </a:pPr>
            <a:r>
              <a:rPr sz="2400" b="0">
                <a:solidFill>
                  <a:srgbClr val="1F2937"/>
                </a:solidFill>
                <a:latin typeface="DejaVu Sans"/>
                <a:ea typeface="DejaVu Sans"/>
                <a:cs typeface="DejaVu Sans"/>
              </a:rPr>
              <a:t>4 × 3 g sugar = 12 g sugar</a:t>
            </a:r>
          </a:p>
        </p:txBody>
      </p:sp>
    </p:spTree>
    <p:extLst>
      <p:ext uri="{BB962C8B-B14F-4D97-AF65-F5344CB8AC3E}">
        <p14:creationId xmlns:p14="http://schemas.microsoft.com/office/powerpoint/2010/main" val="2622474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3F131B-C6FD-4738-91FD-3C463321C0B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DC1B7E-959B-4539-9457-B52F458B0B6A}"/>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B2777"/>
                </a:solidFill>
                <a:latin typeface="DejaVu Sans"/>
                <a:ea typeface="DejaVu Sans"/>
                <a:cs typeface="DejaVu Sans"/>
              </a:defRPr>
            </a:pPr>
            <a:r>
              <a:rPr sz="3150" b="1">
                <a:solidFill>
                  <a:srgbClr val="DB2777"/>
                </a:solidFill>
                <a:latin typeface="DejaVu Sans"/>
                <a:ea typeface="DejaVu Sans"/>
                <a:cs typeface="DejaVu Sans"/>
              </a:rPr>
              <a:t>We do: label detective</a:t>
            </a:r>
          </a:p>
        </p:txBody>
      </p:sp>
      <p:sp>
        <p:nvSpPr>
          <p:cNvPr id="3" name="">
            <a:extLst xmlns:a="http://schemas.openxmlformats.org/drawingml/2006/main">
              <a:ext uri="{FF2B5EF4-FFF2-40B4-BE49-F238E27FC236}">
                <a16:creationId xmlns:a16="http://schemas.microsoft.com/office/drawing/2014/main" id="{A3CBB2CF-1672-4193-AE01-9EDD61E0A988}"/>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We do 2 · 4 min across this stage</a:t>
            </a:r>
          </a:p>
        </p:txBody>
      </p:sp>
      <p:sp>
        <p:nvSpPr>
          <p:cNvPr id="4" name="">
            <a:extLst xmlns:a="http://schemas.openxmlformats.org/drawingml/2006/main">
              <a:ext uri="{FF2B5EF4-FFF2-40B4-BE49-F238E27FC236}">
                <a16:creationId xmlns:a16="http://schemas.microsoft.com/office/drawing/2014/main" id="{0F07491E-C441-470C-927A-C7A616FBB84D}"/>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E4D41651-CF36-4F86-84D3-C17DE536F802}"/>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D254B3F8-655A-402E-8B80-887F52DCB673}"/>
              </a:ext>
            </a:extLst>
          </p:cNvPr>
          <p:cNvSpPr>
            <a:spLocks xmlns:a="http://schemas.openxmlformats.org/drawingml/2006/main" noGrp="1"/>
          </p:cNvSpPr>
          <p:nvPr/>
        </p:nvSpPr>
        <p:spPr>
          <a:xfrm xmlns:a="http://schemas.openxmlformats.org/drawingml/2006/main">
            <a:off x="457200" y="20383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7C3AED"/>
                </a:solidFill>
                <a:latin typeface="DejaVu Sans"/>
                <a:ea typeface="DejaVu Sans"/>
                <a:cs typeface="DejaVu Sans"/>
              </a:defRPr>
            </a:pPr>
            <a:r>
              <a:rPr sz="3675" b="1">
                <a:solidFill>
                  <a:srgbClr val="7C3AED"/>
                </a:solidFill>
                <a:latin typeface="DejaVu Sans"/>
                <a:ea typeface="DejaVu Sans"/>
                <a:cs typeface="DejaVu Sans"/>
              </a:rPr>
              <a:t>of which sugars: 14 g per 100 g</a:t>
            </a:r>
          </a:p>
        </p:txBody>
      </p:sp>
      <p:sp>
        <p:nvSpPr>
          <p:cNvPr id="7" name="">
            <a:extLst xmlns:a="http://schemas.openxmlformats.org/drawingml/2006/main">
              <a:ext uri="{FF2B5EF4-FFF2-40B4-BE49-F238E27FC236}">
                <a16:creationId xmlns:a16="http://schemas.microsoft.com/office/drawing/2014/main" id="{29A03A39-8A21-4FF3-889D-ABE6EEC395BC}"/>
              </a:ext>
            </a:extLst>
          </p:cNvPr>
          <p:cNvSpPr>
            <a:spLocks xmlns:a="http://schemas.openxmlformats.org/drawingml/2006/main" noGrp="1"/>
          </p:cNvSpPr>
          <p:nvPr/>
        </p:nvSpPr>
        <p:spPr>
          <a:xfrm xmlns:a="http://schemas.openxmlformats.org/drawingml/2006/main">
            <a:off x="457200" y="334327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F2937"/>
                </a:solidFill>
                <a:latin typeface="DejaVu Sans"/>
                <a:ea typeface="DejaVu Sans"/>
                <a:cs typeface="DejaVu Sans"/>
              </a:defRPr>
            </a:pPr>
            <a:r>
              <a:rPr sz="2550" b="0">
                <a:solidFill>
                  <a:srgbClr val="1F2937"/>
                </a:solidFill>
                <a:latin typeface="DejaVu Sans"/>
                <a:ea typeface="DejaVu Sans"/>
                <a:cs typeface="DejaVu Sans"/>
              </a:rPr>
              <a:t>Box the number. Circle the unit. Underline the basis.</a:t>
            </a:r>
          </a:p>
        </p:txBody>
      </p:sp>
      <p:sp>
        <p:nvSpPr>
          <p:cNvPr id="8" name="">
            <a:extLst xmlns:a="http://schemas.openxmlformats.org/drawingml/2006/main">
              <a:ext uri="{FF2B5EF4-FFF2-40B4-BE49-F238E27FC236}">
                <a16:creationId xmlns:a16="http://schemas.microsoft.com/office/drawing/2014/main" id="{23BEDD34-2B45-46DE-807C-00C6CA53AE05}"/>
              </a:ext>
            </a:extLst>
          </p:cNvPr>
          <p:cNvSpPr>
            <a:spLocks xmlns:a="http://schemas.openxmlformats.org/drawingml/2006/main" noGrp="1"/>
          </p:cNvSpPr>
          <p:nvPr/>
        </p:nvSpPr>
        <p:spPr>
          <a:xfrm xmlns:a="http://schemas.openxmlformats.org/drawingml/2006/main">
            <a:off x="457200" y="4171950"/>
            <a:ext cx="112776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Which sentence stays within the evidence?</a:t>
            </a:r>
          </a:p>
          <a:p xmlns:a="http://schemas.openxmlformats.org/drawingml/2006/main">
            <a:r>
              <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A has less sugar per 100 g than D.</a:t>
            </a:r>
          </a:p>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A must be the healthiest food for everyone.</a:t>
            </a:r>
          </a:p>
        </p:txBody>
      </p:sp>
    </p:spTree>
    <p:extLst>
      <p:ext uri="{BB962C8B-B14F-4D97-AF65-F5344CB8AC3E}">
        <p14:creationId xmlns:p14="http://schemas.microsoft.com/office/powerpoint/2010/main" val="10208668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D71B20-CF0E-4B13-8C51-2C1C99B7248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70E4F8-72C0-40C4-985C-CE1D39481114}"/>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B2777"/>
                </a:solidFill>
                <a:latin typeface="DejaVu Sans"/>
                <a:ea typeface="DejaVu Sans"/>
                <a:cs typeface="DejaVu Sans"/>
              </a:defRPr>
            </a:pPr>
            <a:r>
              <a:rPr sz="3150" b="1">
                <a:solidFill>
                  <a:srgbClr val="DB2777"/>
                </a:solidFill>
                <a:latin typeface="DejaVu Sans"/>
                <a:ea typeface="DejaVu Sans"/>
                <a:cs typeface="DejaVu Sans"/>
              </a:rPr>
              <a:t>Label detective: answer guidance</a:t>
            </a:r>
          </a:p>
        </p:txBody>
      </p:sp>
      <p:sp>
        <p:nvSpPr>
          <p:cNvPr id="3" name="">
            <a:extLst xmlns:a="http://schemas.openxmlformats.org/drawingml/2006/main">
              <a:ext uri="{FF2B5EF4-FFF2-40B4-BE49-F238E27FC236}">
                <a16:creationId xmlns:a16="http://schemas.microsoft.com/office/drawing/2014/main" id="{FBD074FF-B6D7-46C5-B8A6-261AD4A0E1D1}"/>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We do 2 · 4 min across this stage</a:t>
            </a:r>
          </a:p>
        </p:txBody>
      </p:sp>
      <p:sp>
        <p:nvSpPr>
          <p:cNvPr id="4" name="">
            <a:extLst xmlns:a="http://schemas.openxmlformats.org/drawingml/2006/main">
              <a:ext uri="{FF2B5EF4-FFF2-40B4-BE49-F238E27FC236}">
                <a16:creationId xmlns:a16="http://schemas.microsoft.com/office/drawing/2014/main" id="{07953DD9-2737-45A6-9920-0D1FAC4D525D}"/>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3915F65C-3376-440C-B28D-5792FAABF751}"/>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19</a:t>
            </a:r>
          </a:p>
        </p:txBody>
      </p:sp>
      <p:graphicFrame>
        <p:nvGraphicFramePr>
          <p:cNvPr id="13" name=""/>
          <p:cNvGraphicFramePr/>
          <p:nvPr/>
        </p:nvGraphicFramePr>
        <p:xfrm>
          <a:off xmlns:a="http://schemas.openxmlformats.org/drawingml/2006/main" x="457200" y="1752600"/>
          <a:ext xmlns:a="http://schemas.openxmlformats.org/drawingml/2006/main" cx="11277600" cy="2952750"/>
        </p:xfrm>
        <a:graphic xmlns:a="http://schemas.openxmlformats.org/drawingml/2006/main">
          <a:graphicData uri="http://schemas.openxmlformats.org/drawingml/2006/table">
            <a:tbl>
              <a:tblPr/>
              <a:tblGrid>
                <a:gridCol w="5638800"/>
                <a:gridCol w="5638800"/>
              </a:tblGrid>
              <a:tr h="738188">
                <a:tc>
                  <a:txBody>
                    <a:bodyPr/>
                    <a:lstStyle/>
                    <a:p>
                      <a:r>
                        <a:rPr sz="2100" b="1">
                          <a:solidFill>
                            <a:srgbClr val="1F2937"/>
                          </a:solidFill>
                          <a:latin typeface="DejaVu Sans"/>
                          <a:ea typeface="DejaVu Sans"/>
                          <a:cs typeface="DejaVu Sans"/>
                        </a:rPr>
                        <a:t>Part</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Meaning</a:t>
                      </a:r>
                    </a:p>
                  </a:txBody>
                  <a:tcPr marL="91440" marR="91440" marT="45720" marB="45720">
                    <a:solidFill>
                      <a:srgbClr val="EDE9FE"/>
                    </a:solidFill>
                  </a:tcPr>
                </a:tc>
              </a:tr>
              <a:tr h="738188">
                <a:tc>
                  <a:txBody>
                    <a:bodyPr/>
                    <a:lstStyle/>
                    <a:p>
                      <a:r>
                        <a:rPr sz="2100" b="0">
                          <a:solidFill>
                            <a:srgbClr val="1F2937"/>
                          </a:solidFill>
                          <a:latin typeface="DejaVu Sans"/>
                          <a:ea typeface="DejaVu Sans"/>
                          <a:cs typeface="DejaVu Sans"/>
                        </a:rPr>
                        <a:t>14</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Number: amount of sugar</a:t>
                      </a:r>
                    </a:p>
                  </a:txBody>
                  <a:tcPr marL="91440" marR="91440" marT="45720" marB="45720">
                    <a:solidFill>
                      <a:srgbClr val="FFFFFF"/>
                    </a:solidFill>
                  </a:tcPr>
                </a:tc>
              </a:tr>
              <a:tr h="738188">
                <a:tc>
                  <a:txBody>
                    <a:bodyPr/>
                    <a:lstStyle/>
                    <a:p>
                      <a:r>
                        <a:rPr sz="2100" b="0">
                          <a:solidFill>
                            <a:srgbClr val="1F2937"/>
                          </a:solidFill>
                          <a:latin typeface="DejaVu Sans"/>
                          <a:ea typeface="DejaVu Sans"/>
                          <a:cs typeface="DejaVu Sans"/>
                        </a:rPr>
                        <a:t>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Unit: grams</a:t>
                      </a:r>
                    </a:p>
                  </a:txBody>
                  <a:tcPr marL="91440" marR="91440" marT="45720" marB="45720">
                    <a:solidFill>
                      <a:srgbClr val="F8FAFC"/>
                    </a:solidFill>
                  </a:tcPr>
                </a:tc>
              </a:tr>
              <a:tr h="738188">
                <a:tc>
                  <a:txBody>
                    <a:bodyPr/>
                    <a:lstStyle/>
                    <a:p>
                      <a:r>
                        <a:rPr sz="2100" b="0">
                          <a:solidFill>
                            <a:srgbClr val="1F2937"/>
                          </a:solidFill>
                          <a:latin typeface="DejaVu Sans"/>
                          <a:ea typeface="DejaVu Sans"/>
                          <a:cs typeface="DejaVu Sans"/>
                        </a:rPr>
                        <a:t>per 100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Basis: amount of food compared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4CF2A8A-12F5-42D2-A8B3-05AFC5B13937}"/>
              </a:ext>
            </a:extLst>
          </p:cNvPr>
          <p:cNvSpPr>
            <a:spLocks xmlns:a="http://schemas.openxmlformats.org/drawingml/2006/main" noGrp="1"/>
          </p:cNvSpPr>
          <p:nvPr/>
        </p:nvSpPr>
        <p:spPr>
          <a:xfrm xmlns:a="http://schemas.openxmlformats.org/drawingml/2006/main">
            <a:off x="457200" y="5114925"/>
            <a:ext cx="11277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“A has less sugar per 100 g than D” stays within the evidence.</a:t>
            </a:r>
          </a:p>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The sugar values cannot establish the healthiest food for everyone.</a:t>
            </a:r>
          </a:p>
        </p:txBody>
      </p:sp>
    </p:spTree>
    <p:extLst>
      <p:ext uri="{BB962C8B-B14F-4D97-AF65-F5344CB8AC3E}">
        <p14:creationId xmlns:p14="http://schemas.microsoft.com/office/powerpoint/2010/main" val="3297185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37391F-6E46-40E0-8B17-A4A93784BBB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194337-6C45-4EE2-9CA8-4600BE96DE69}"/>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shared teaching labels</a:t>
            </a:r>
          </a:p>
        </p:txBody>
      </p:sp>
      <p:sp>
        <p:nvSpPr>
          <p:cNvPr id="3" name="">
            <a:extLst xmlns:a="http://schemas.openxmlformats.org/drawingml/2006/main">
              <a:ext uri="{FF2B5EF4-FFF2-40B4-BE49-F238E27FC236}">
                <a16:creationId xmlns:a16="http://schemas.microsoft.com/office/drawing/2014/main" id="{87616D92-0FD4-40D7-A8D7-32E9FEB0BB8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8CDF52E1-D41E-4F6A-99A2-57DB2FEC181B}"/>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Evidence</a:t>
            </a:r>
          </a:p>
        </p:txBody>
      </p:sp>
      <p:sp>
        <p:nvSpPr>
          <p:cNvPr id="5" name="">
            <a:extLst xmlns:a="http://schemas.openxmlformats.org/drawingml/2006/main">
              <a:ext uri="{FF2B5EF4-FFF2-40B4-BE49-F238E27FC236}">
                <a16:creationId xmlns:a16="http://schemas.microsoft.com/office/drawing/2014/main" id="{FBC70F06-51C0-43E8-A5D0-99578A75AB15}"/>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48BDB066-8EEB-49B1-BEFA-91BCF9965FDB}"/>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20</a:t>
            </a:r>
          </a:p>
        </p:txBody>
      </p:sp>
      <p:graphicFrame>
        <p:nvGraphicFramePr>
          <p:cNvPr id="15" name=""/>
          <p:cNvGraphicFramePr/>
          <p:nvPr/>
        </p:nvGraphicFramePr>
        <p:xfrm>
          <a:off xmlns:a="http://schemas.openxmlformats.org/drawingml/2006/main" x="457200" y="1752600"/>
          <a:ext xmlns:a="http://schemas.openxmlformats.org/drawingml/2006/main" cx="11277600" cy="2619375"/>
        </p:xfrm>
        <a:graphic xmlns:a="http://schemas.openxmlformats.org/drawingml/2006/main">
          <a:graphicData uri="http://schemas.openxmlformats.org/drawingml/2006/table">
            <a:tbl>
              <a:tblPr/>
              <a:tblGrid>
                <a:gridCol w="2255520"/>
                <a:gridCol w="2255520"/>
                <a:gridCol w="2255520"/>
                <a:gridCol w="2255520"/>
                <a:gridCol w="2255520"/>
              </a:tblGrid>
              <a:tr h="873125">
                <a:tc>
                  <a:txBody>
                    <a:bodyPr/>
                    <a:lstStyle/>
                    <a:p>
                      <a:r>
                        <a:rPr sz="2100" b="1">
                          <a:solidFill>
                            <a:srgbClr val="1F2937"/>
                          </a:solidFill>
                          <a:latin typeface="DejaVu Sans"/>
                          <a:ea typeface="DejaVu Sans"/>
                          <a:cs typeface="DejaVu Sans"/>
                        </a:rPr>
                        <a:t>Per 100 g</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A</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B</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C</a:t>
                      </a:r>
                    </a:p>
                  </a:txBody>
                  <a:tcPr marL="91440" marR="91440" marT="45720" marB="45720">
                    <a:solidFill>
                      <a:srgbClr val="EDE9FE"/>
                    </a:solidFill>
                  </a:tcPr>
                </a:tc>
                <a:tc>
                  <a:txBody>
                    <a:bodyPr/>
                    <a:lstStyle/>
                    <a:p>
                      <a:r>
                        <a:rPr sz="2100" b="1">
                          <a:solidFill>
                            <a:srgbClr val="1F2937"/>
                          </a:solidFill>
                          <a:latin typeface="DejaVu Sans"/>
                          <a:ea typeface="DejaVu Sans"/>
                          <a:cs typeface="DejaVu Sans"/>
                        </a:rPr>
                        <a:t>D</a:t>
                      </a:r>
                    </a:p>
                  </a:txBody>
                  <a:tcPr marL="91440" marR="91440" marT="45720" marB="45720">
                    <a:solidFill>
                      <a:srgbClr val="EDE9FE"/>
                    </a:solidFill>
                  </a:tcPr>
                </a:tc>
              </a:tr>
              <a:tr h="873125">
                <a:tc>
                  <a:txBody>
                    <a:bodyPr/>
                    <a:lstStyle/>
                    <a:p>
                      <a:r>
                        <a:rPr sz="2100" b="0">
                          <a:solidFill>
                            <a:srgbClr val="1F2937"/>
                          </a:solidFill>
                          <a:latin typeface="DejaVu Sans"/>
                          <a:ea typeface="DejaVu Sans"/>
                          <a:cs typeface="DejaVu Sans"/>
                        </a:rPr>
                        <a:t>Carbohydrate / g</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22</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67</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58</a:t>
                      </a:r>
                    </a:p>
                  </a:txBody>
                  <a:tcPr marL="91440" marR="91440" marT="45720" marB="45720">
                    <a:solidFill>
                      <a:srgbClr val="FFFFFF"/>
                    </a:solidFill>
                  </a:tcPr>
                </a:tc>
                <a:tc>
                  <a:txBody>
                    <a:bodyPr/>
                    <a:lstStyle/>
                    <a:p>
                      <a:r>
                        <a:rPr sz="2100" b="0">
                          <a:solidFill>
                            <a:srgbClr val="1F2937"/>
                          </a:solidFill>
                          <a:latin typeface="DejaVu Sans"/>
                          <a:ea typeface="DejaVu Sans"/>
                          <a:cs typeface="DejaVu Sans"/>
                        </a:rPr>
                        <a:t>72</a:t>
                      </a:r>
                    </a:p>
                  </a:txBody>
                  <a:tcPr marL="91440" marR="91440" marT="45720" marB="45720">
                    <a:solidFill>
                      <a:srgbClr val="FFFFFF"/>
                    </a:solidFill>
                  </a:tcPr>
                </a:tc>
              </a:tr>
              <a:tr h="873125">
                <a:tc>
                  <a:txBody>
                    <a:bodyPr/>
                    <a:lstStyle/>
                    <a:p>
                      <a:r>
                        <a:rPr sz="2100" b="0">
                          <a:solidFill>
                            <a:srgbClr val="1F2937"/>
                          </a:solidFill>
                          <a:latin typeface="DejaVu Sans"/>
                          <a:ea typeface="DejaVu Sans"/>
                          <a:cs typeface="DejaVu Sans"/>
                        </a:rPr>
                        <a:t>of which sugars / g</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4</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9</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14</a:t>
                      </a:r>
                    </a:p>
                  </a:txBody>
                  <a:tcPr marL="91440" marR="91440" marT="45720" marB="45720">
                    <a:solidFill>
                      <a:srgbClr val="F8FAFC"/>
                    </a:solidFill>
                  </a:tcPr>
                </a:tc>
                <a:tc>
                  <a:txBody>
                    <a:bodyPr/>
                    <a:lstStyle/>
                    <a:p>
                      <a:r>
                        <a:rPr sz="2100" b="0">
                          <a:solidFill>
                            <a:srgbClr val="1F2937"/>
                          </a:solidFill>
                          <a:latin typeface="DejaVu Sans"/>
                          <a:ea typeface="DejaVu Sans"/>
                          <a:cs typeface="DejaVu Sans"/>
                        </a:rPr>
                        <a:t>23</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11170565-C27C-46CC-8A66-7D09C5B81A8A}"/>
              </a:ext>
            </a:extLst>
          </p:cNvPr>
          <p:cNvSpPr>
            <a:spLocks xmlns:a="http://schemas.openxmlformats.org/drawingml/2006/main" noGrp="1"/>
          </p:cNvSpPr>
          <p:nvPr/>
        </p:nvSpPr>
        <p:spPr>
          <a:xfrm xmlns:a="http://schemas.openxmlformats.org/drawingml/2006/main">
            <a:off x="457200" y="4714875"/>
            <a:ext cx="11277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F2937"/>
                </a:solidFill>
                <a:latin typeface="DejaVu Sans"/>
                <a:ea typeface="DejaVu Sans"/>
                <a:cs typeface="DejaVu Sans"/>
              </a:defRPr>
            </a:pPr>
            <a:r>
              <a:rPr sz="2400" b="0">
                <a:solidFill>
                  <a:srgbClr val="1F2937"/>
                </a:solidFill>
                <a:latin typeface="DejaVu Sans"/>
                <a:ea typeface="DejaVu Sans"/>
                <a:cs typeface="DejaVu Sans"/>
              </a:rPr>
              <a:t>Challenge E: 3 g sugars per 25 g serving.</a:t>
            </a:r>
          </a:p>
          <a:p xmlns:a="http://schemas.openxmlformats.org/drawingml/2006/main">
            <a:pPr>
              <a:defRPr sz="2400" b="0">
                <a:solidFill>
                  <a:srgbClr val="1F2937"/>
                </a:solidFill>
                <a:latin typeface="DejaVu Sans"/>
                <a:ea typeface="DejaVu Sans"/>
                <a:cs typeface="DejaVu Sans"/>
              </a:defRPr>
            </a:pPr>
            <a:r>
              <a:rPr sz="2400" b="0">
                <a:solidFill>
                  <a:srgbClr val="1F2937"/>
                </a:solidFill>
                <a:latin typeface="DejaVu Sans"/>
                <a:ea typeface="DejaVu Sans"/>
                <a:cs typeface="DejaVu Sans"/>
              </a:rPr>
              <a:t>Four such servings weigh 100 g. All other information is unknown.</a:t>
            </a:r>
          </a:p>
        </p:txBody>
      </p:sp>
    </p:spTree>
    <p:extLst>
      <p:ext uri="{BB962C8B-B14F-4D97-AF65-F5344CB8AC3E}">
        <p14:creationId xmlns:p14="http://schemas.microsoft.com/office/powerpoint/2010/main" val="6749511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FB421B-6ADD-46AD-9DFD-B1D0AE7116C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1D96A5-BAAF-4DD0-8BC6-65B5B8EFF12A}"/>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AEA7640A-2CE4-414A-B1AB-6BAB7D3B8152}"/>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FDB2D48B-9743-4C53-9517-0DC9014ECAE4}"/>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 / 1 of 3</a:t>
            </a:r>
          </a:p>
        </p:txBody>
      </p:sp>
      <p:sp>
        <p:nvSpPr>
          <p:cNvPr id="5" name="">
            <a:extLst xmlns:a="http://schemas.openxmlformats.org/drawingml/2006/main">
              <a:ext uri="{FF2B5EF4-FFF2-40B4-BE49-F238E27FC236}">
                <a16:creationId xmlns:a16="http://schemas.microsoft.com/office/drawing/2014/main" id="{EC4EE1D4-4503-4608-9490-B82A50BF3FEA}"/>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83E076FF-52BB-4817-A327-8D31024CE9BE}"/>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21</a:t>
            </a:r>
          </a:p>
        </p:txBody>
      </p:sp>
      <p:sp>
        <p:nvSpPr>
          <p:cNvPr id="7" name="">
            <a:extLst xmlns:a="http://schemas.openxmlformats.org/drawingml/2006/main">
              <a:ext uri="{FF2B5EF4-FFF2-40B4-BE49-F238E27FC236}">
                <a16:creationId xmlns:a16="http://schemas.microsoft.com/office/drawing/2014/main" id="{C26CAF21-1703-40C1-9293-5F25A7AAE400}"/>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0DC7C1DD-3C65-4D1D-A992-6D62529D2EDA}"/>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1</a:t>
            </a:r>
          </a:p>
        </p:txBody>
      </p:sp>
      <p:sp>
        <p:nvSpPr>
          <p:cNvPr id="9" name="">
            <a:extLst xmlns:a="http://schemas.openxmlformats.org/drawingml/2006/main">
              <a:ext uri="{FF2B5EF4-FFF2-40B4-BE49-F238E27FC236}">
                <a16:creationId xmlns:a16="http://schemas.microsoft.com/office/drawing/2014/main" id="{8A2826A0-6A95-44DC-94F9-03CAE4EC7F09}"/>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Read these fictional teaching labels. Each is PER 100 g. A: carbohydrate 22 g; of which sugars 4 g. B: carbohydrate 67 g; of which sugars 9 g. C: carbohydrate 58 g; of which sugars 14 g. D: carbohydrate 72 g; of which sugars 23 g.</a:t>
            </a:r>
          </a:p>
        </p:txBody>
      </p:sp>
      <p:sp>
        <p:nvSpPr>
          <p:cNvPr id="10" name="">
            <a:extLst xmlns:a="http://schemas.openxmlformats.org/drawingml/2006/main">
              <a:ext uri="{FF2B5EF4-FFF2-40B4-BE49-F238E27FC236}">
                <a16:creationId xmlns:a16="http://schemas.microsoft.com/office/drawing/2014/main" id="{FD8341FF-AC0E-4373-BD24-6E8326DF25F1}"/>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Track the ‘of which sugars’ row. Keep the carbohydrate and sugar rows separate.</a:t>
            </a:r>
          </a:p>
        </p:txBody>
      </p:sp>
      <p:sp>
        <p:nvSpPr>
          <p:cNvPr id="11" name="">
            <a:extLst xmlns:a="http://schemas.openxmlformats.org/drawingml/2006/main">
              <a:ext uri="{FF2B5EF4-FFF2-40B4-BE49-F238E27FC236}">
                <a16:creationId xmlns:a16="http://schemas.microsoft.com/office/drawing/2014/main" id="{81FE49D9-3C28-4EAF-86F7-EA27C2604DDB}"/>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F5833ECA-692A-4342-81FB-AD5587938978}"/>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2</a:t>
            </a:r>
          </a:p>
        </p:txBody>
      </p:sp>
      <p:sp>
        <p:nvSpPr>
          <p:cNvPr id="13" name="">
            <a:extLst xmlns:a="http://schemas.openxmlformats.org/drawingml/2006/main">
              <a:ext uri="{FF2B5EF4-FFF2-40B4-BE49-F238E27FC236}">
                <a16:creationId xmlns:a16="http://schemas.microsoft.com/office/drawing/2014/main" id="{93486AFF-C242-4526-AA8E-AC0C1A3EA6C3}"/>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Make a results row for each label. Copy the SUGAR value with its unit and basis; do not copy total carbohydrate.</a:t>
            </a:r>
          </a:p>
        </p:txBody>
      </p:sp>
      <p:sp>
        <p:nvSpPr>
          <p:cNvPr id="14" name="">
            <a:extLst xmlns:a="http://schemas.openxmlformats.org/drawingml/2006/main">
              <a:ext uri="{FF2B5EF4-FFF2-40B4-BE49-F238E27FC236}">
                <a16:creationId xmlns:a16="http://schemas.microsoft.com/office/drawing/2014/main" id="{760B845C-ABAC-4E9C-BD74-E77152E6FFC0}"/>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Use the headings Label | Sugar / g per 100 g. Check each copied value against its nutrient name.</a:t>
            </a:r>
          </a:p>
        </p:txBody>
      </p:sp>
    </p:spTree>
    <p:extLst>
      <p:ext uri="{BB962C8B-B14F-4D97-AF65-F5344CB8AC3E}">
        <p14:creationId xmlns:p14="http://schemas.microsoft.com/office/powerpoint/2010/main" val="189132174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5D14FD-C465-40E2-AE44-0C6F543F402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E265F1-5C07-45A1-8C2A-49FB7A095453}"/>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A54105FF-1B8D-4774-84AE-A182A2892F6D}"/>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F1AF3B45-911C-442C-ACF0-D73049C2A6E5}"/>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 / 2 of 3</a:t>
            </a:r>
          </a:p>
        </p:txBody>
      </p:sp>
      <p:sp>
        <p:nvSpPr>
          <p:cNvPr id="5" name="">
            <a:extLst xmlns:a="http://schemas.openxmlformats.org/drawingml/2006/main">
              <a:ext uri="{FF2B5EF4-FFF2-40B4-BE49-F238E27FC236}">
                <a16:creationId xmlns:a16="http://schemas.microsoft.com/office/drawing/2014/main" id="{F7FA5F6E-D8C8-489B-BA0B-92480D47361F}"/>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6266EA0E-473A-45AA-A53E-B21CB937F973}"/>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22</a:t>
            </a:r>
          </a:p>
        </p:txBody>
      </p:sp>
      <p:sp>
        <p:nvSpPr>
          <p:cNvPr id="7" name="">
            <a:extLst xmlns:a="http://schemas.openxmlformats.org/drawingml/2006/main">
              <a:ext uri="{FF2B5EF4-FFF2-40B4-BE49-F238E27FC236}">
                <a16:creationId xmlns:a16="http://schemas.microsoft.com/office/drawing/2014/main" id="{17EA92BB-639C-46E2-969E-6AA78336AD67}"/>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FAFD3522-3529-4699-94B4-D1136B766CB5}"/>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3</a:t>
            </a:r>
          </a:p>
        </p:txBody>
      </p:sp>
      <p:sp>
        <p:nvSpPr>
          <p:cNvPr id="9" name="">
            <a:extLst xmlns:a="http://schemas.openxmlformats.org/drawingml/2006/main">
              <a:ext uri="{FF2B5EF4-FFF2-40B4-BE49-F238E27FC236}">
                <a16:creationId xmlns:a16="http://schemas.microsoft.com/office/drawing/2014/main" id="{5C2BD9FB-9E79-47A5-A98C-71DD8D1E0E39}"/>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Order A–D from least to most sugar per 100 g.</a:t>
            </a:r>
          </a:p>
        </p:txBody>
      </p:sp>
      <p:sp>
        <p:nvSpPr>
          <p:cNvPr id="10" name="">
            <a:extLst xmlns:a="http://schemas.openxmlformats.org/drawingml/2006/main">
              <a:ext uri="{FF2B5EF4-FFF2-40B4-BE49-F238E27FC236}">
                <a16:creationId xmlns:a16="http://schemas.microsoft.com/office/drawing/2014/main" id="{B942E3F4-36E0-4850-ACFC-71D052F9B5CD}"/>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Check adjacent pairs: is each value no larger than the next? Recheck that all four use the same basis.</a:t>
            </a:r>
          </a:p>
        </p:txBody>
      </p:sp>
      <p:sp>
        <p:nvSpPr>
          <p:cNvPr id="11" name="">
            <a:extLst xmlns:a="http://schemas.openxmlformats.org/drawingml/2006/main">
              <a:ext uri="{FF2B5EF4-FFF2-40B4-BE49-F238E27FC236}">
                <a16:creationId xmlns:a16="http://schemas.microsoft.com/office/drawing/2014/main" id="{2337EC56-EB10-4F52-87C3-A86DB8228CF9}"/>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4296E879-595F-448D-BBAD-5B2258AFBCFC}"/>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4</a:t>
            </a:r>
          </a:p>
        </p:txBody>
      </p:sp>
      <p:sp>
        <p:nvSpPr>
          <p:cNvPr id="13" name="">
            <a:extLst xmlns:a="http://schemas.openxmlformats.org/drawingml/2006/main">
              <a:ext uri="{FF2B5EF4-FFF2-40B4-BE49-F238E27FC236}">
                <a16:creationId xmlns:a16="http://schemas.microsoft.com/office/drawing/2014/main" id="{A1B172B5-F73D-4BEC-A69E-B09CC27A1F5C}"/>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Write or say one comparison: 'Label ___ has ___ g sugar per 100 g. This is less/more than ___.'</a:t>
            </a:r>
          </a:p>
        </p:txBody>
      </p:sp>
      <p:sp>
        <p:nvSpPr>
          <p:cNvPr id="14" name="">
            <a:extLst xmlns:a="http://schemas.openxmlformats.org/drawingml/2006/main">
              <a:ext uri="{FF2B5EF4-FFF2-40B4-BE49-F238E27FC236}">
                <a16:creationId xmlns:a16="http://schemas.microsoft.com/office/drawing/2014/main" id="{AEA8ED34-7FA6-4012-8AF6-83A9C38DBF65}"/>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Build the comparison from two complete readings. Include which label you are comparing it with.</a:t>
            </a:r>
          </a:p>
        </p:txBody>
      </p:sp>
    </p:spTree>
    <p:extLst>
      <p:ext uri="{BB962C8B-B14F-4D97-AF65-F5344CB8AC3E}">
        <p14:creationId xmlns:p14="http://schemas.microsoft.com/office/powerpoint/2010/main" val="9128670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FBF323-8DA0-4F2D-8BFE-1EFD0E5A9B5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C207D-5AAD-4DFA-A1D0-24DDDADC2F83}"/>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B25963C2-78A8-4DAF-A794-BB014106BDE3}"/>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62D9D7D0-EB5F-4406-8337-0ED0FD72E361}"/>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 / 3 of 3</a:t>
            </a:r>
          </a:p>
        </p:txBody>
      </p:sp>
      <p:sp>
        <p:nvSpPr>
          <p:cNvPr id="5" name="">
            <a:extLst xmlns:a="http://schemas.openxmlformats.org/drawingml/2006/main">
              <a:ext uri="{FF2B5EF4-FFF2-40B4-BE49-F238E27FC236}">
                <a16:creationId xmlns:a16="http://schemas.microsoft.com/office/drawing/2014/main" id="{3C193D7C-AD64-4740-93CB-4C1408966CC4}"/>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19754523-B7BE-4B79-BF47-B177B31176A6}"/>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23</a:t>
            </a:r>
          </a:p>
        </p:txBody>
      </p:sp>
      <p:sp>
        <p:nvSpPr>
          <p:cNvPr id="7" name="">
            <a:extLst xmlns:a="http://schemas.openxmlformats.org/drawingml/2006/main">
              <a:ext uri="{FF2B5EF4-FFF2-40B4-BE49-F238E27FC236}">
                <a16:creationId xmlns:a16="http://schemas.microsoft.com/office/drawing/2014/main" id="{9CB4F019-CDE2-4D26-9FBE-47096784CF6D}"/>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81B5C1D6-271E-41EE-841D-713C512DC82A}"/>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5</a:t>
            </a:r>
          </a:p>
        </p:txBody>
      </p:sp>
      <p:sp>
        <p:nvSpPr>
          <p:cNvPr id="9" name="">
            <a:extLst xmlns:a="http://schemas.openxmlformats.org/drawingml/2006/main">
              <a:ext uri="{FF2B5EF4-FFF2-40B4-BE49-F238E27FC236}">
                <a16:creationId xmlns:a16="http://schemas.microsoft.com/office/drawing/2014/main" id="{3FD0EB50-0C89-4168-9679-8A273E63DC08}"/>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Explain one thing these sugar numbers cannot tell us about the whole food or eating pattern.</a:t>
            </a:r>
          </a:p>
        </p:txBody>
      </p:sp>
      <p:sp>
        <p:nvSpPr>
          <p:cNvPr id="10" name="">
            <a:extLst xmlns:a="http://schemas.openxmlformats.org/drawingml/2006/main">
              <a:ext uri="{FF2B5EF4-FFF2-40B4-BE49-F238E27FC236}">
                <a16:creationId xmlns:a16="http://schemas.microsoft.com/office/drawing/2014/main" id="{E6D7435E-780C-4AA9-8A31-05A281A410F0}"/>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Choose one missing piece of information. Explain why that missing information limits a wider judgement.</a:t>
            </a:r>
          </a:p>
        </p:txBody>
      </p:sp>
      <p:sp>
        <p:nvSpPr>
          <p:cNvPr id="11" name="">
            <a:extLst xmlns:a="http://schemas.openxmlformats.org/drawingml/2006/main">
              <a:ext uri="{FF2B5EF4-FFF2-40B4-BE49-F238E27FC236}">
                <a16:creationId xmlns:a16="http://schemas.microsoft.com/office/drawing/2014/main" id="{3C05F117-95CB-4014-8E4F-64155E87C289}"/>
              </a:ext>
            </a:extLst>
          </p:cNvPr>
          <p:cNvSpPr>
            <a:spLocks xmlns:a="http://schemas.openxmlformats.org/drawingml/2006/main" noGrp="1"/>
          </p:cNvSpPr>
          <p:nvPr/>
        </p:nvSpPr>
        <p:spPr>
          <a:xfrm xmlns:a="http://schemas.openxmlformats.org/drawingml/2006/main">
            <a:off x="457200" y="46672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75985"/>
                </a:solidFill>
                <a:latin typeface="DejaVu Sans"/>
                <a:ea typeface="DejaVu Sans"/>
                <a:cs typeface="DejaVu Sans"/>
              </a:defRPr>
            </a:pPr>
            <a:r>
              <a:rPr sz="2400" b="0">
                <a:solidFill>
                  <a:srgbClr val="075985"/>
                </a:solidFill>
                <a:latin typeface="DejaVu Sans"/>
                <a:ea typeface="DejaVu Sans"/>
                <a:cs typeface="DejaVu Sans"/>
              </a:rPr>
              <a:t>You may point, direct, draw, write or explain to an adult.</a:t>
            </a:r>
          </a:p>
        </p:txBody>
      </p:sp>
    </p:spTree>
    <p:extLst>
      <p:ext uri="{BB962C8B-B14F-4D97-AF65-F5344CB8AC3E}">
        <p14:creationId xmlns:p14="http://schemas.microsoft.com/office/powerpoint/2010/main" val="15398671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0189851-CEEE-4F74-B40F-485F82AA8F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3FE4AF-C030-4D4F-B267-91F8EDA4D83F}"/>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answer guidance</a:t>
            </a:r>
          </a:p>
        </p:txBody>
      </p:sp>
      <p:sp>
        <p:nvSpPr>
          <p:cNvPr id="3" name="">
            <a:extLst xmlns:a="http://schemas.openxmlformats.org/drawingml/2006/main">
              <a:ext uri="{FF2B5EF4-FFF2-40B4-BE49-F238E27FC236}">
                <a16:creationId xmlns:a16="http://schemas.microsoft.com/office/drawing/2014/main" id="{C24ECC51-E589-4375-854E-A887F5A283D2}"/>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1CA5A181-713D-49BD-AA99-974EC9CCE4D8}"/>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a:t>
            </a:r>
          </a:p>
        </p:txBody>
      </p:sp>
      <p:sp>
        <p:nvSpPr>
          <p:cNvPr id="5" name="">
            <a:extLst xmlns:a="http://schemas.openxmlformats.org/drawingml/2006/main">
              <a:ext uri="{FF2B5EF4-FFF2-40B4-BE49-F238E27FC236}">
                <a16:creationId xmlns:a16="http://schemas.microsoft.com/office/drawing/2014/main" id="{363C3ECD-1856-4483-916A-F650BF10E2FA}"/>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B5712C76-5474-400B-8BC9-5A264A220DCC}"/>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24</a:t>
            </a:r>
          </a:p>
        </p:txBody>
      </p:sp>
      <p:sp>
        <p:nvSpPr>
          <p:cNvPr id="7" name="">
            <a:extLst xmlns:a="http://schemas.openxmlformats.org/drawingml/2006/main">
              <a:ext uri="{FF2B5EF4-FFF2-40B4-BE49-F238E27FC236}">
                <a16:creationId xmlns:a16="http://schemas.microsoft.com/office/drawing/2014/main" id="{FC3741CA-0432-41ED-91DA-638164C6AD98}"/>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98D1D474-E5FD-42CB-8006-D15E80B05559}"/>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sugar values and order</a:t>
            </a:r>
          </a:p>
        </p:txBody>
      </p:sp>
      <p:sp>
        <p:nvSpPr>
          <p:cNvPr id="9" name="">
            <a:extLst xmlns:a="http://schemas.openxmlformats.org/drawingml/2006/main">
              <a:ext uri="{FF2B5EF4-FFF2-40B4-BE49-F238E27FC236}">
                <a16:creationId xmlns:a16="http://schemas.microsoft.com/office/drawing/2014/main" id="{002D8FBD-FEEC-43CA-8540-4B46FE38AC93}"/>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A 4, B 9, C 14, D 23 g sugars per 100 g. The values 22, 67, 58 and 72 are total carbohydrate.</a:t>
            </a:r>
          </a:p>
        </p:txBody>
      </p:sp>
      <p:sp>
        <p:nvSpPr>
          <p:cNvPr id="10" name="">
            <a:extLst xmlns:a="http://schemas.openxmlformats.org/drawingml/2006/main">
              <a:ext uri="{FF2B5EF4-FFF2-40B4-BE49-F238E27FC236}">
                <a16:creationId xmlns:a16="http://schemas.microsoft.com/office/drawing/2014/main" id="{7B2600F5-B041-4204-95D4-2C9E97174F0A}"/>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B2E6B45E-1D72-48C5-9868-B8EFF02FB841}"/>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A comparison and a limit</a:t>
            </a:r>
          </a:p>
        </p:txBody>
      </p:sp>
      <p:sp>
        <p:nvSpPr>
          <p:cNvPr id="12" name="">
            <a:extLst xmlns:a="http://schemas.openxmlformats.org/drawingml/2006/main">
              <a:ext uri="{FF2B5EF4-FFF2-40B4-BE49-F238E27FC236}">
                <a16:creationId xmlns:a16="http://schemas.microsoft.com/office/drawing/2014/main" id="{A54BE4F9-E63B-4BF7-89E1-6D947F2931F3}"/>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B has 9 g sugar per 100 g, less than C at 14 g. Other nutrients, actual portions and the wider eating pattern are not all known.</a:t>
            </a:r>
          </a:p>
        </p:txBody>
      </p:sp>
    </p:spTree>
    <p:extLst>
      <p:ext uri="{BB962C8B-B14F-4D97-AF65-F5344CB8AC3E}">
        <p14:creationId xmlns:p14="http://schemas.microsoft.com/office/powerpoint/2010/main" val="165926070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BCD66E-7267-4161-A8CD-02443298269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75E679-1D57-4D2B-9A19-97D579D76E5B}"/>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B9DDFC47-6EFF-4644-85E3-5516E98374B0}"/>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0D1DA05A-B86C-4857-81B2-164ABE0F149A}"/>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 / 1 of 3</a:t>
            </a:r>
          </a:p>
        </p:txBody>
      </p:sp>
      <p:sp>
        <p:nvSpPr>
          <p:cNvPr id="5" name="">
            <a:extLst xmlns:a="http://schemas.openxmlformats.org/drawingml/2006/main">
              <a:ext uri="{FF2B5EF4-FFF2-40B4-BE49-F238E27FC236}">
                <a16:creationId xmlns:a16="http://schemas.microsoft.com/office/drawing/2014/main" id="{1B3865AE-E13B-4007-B920-4F11B7B89B18}"/>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A502050B-278A-4C09-94F7-F63E1D02F784}"/>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25</a:t>
            </a:r>
          </a:p>
        </p:txBody>
      </p:sp>
      <p:sp>
        <p:nvSpPr>
          <p:cNvPr id="7" name="">
            <a:extLst xmlns:a="http://schemas.openxmlformats.org/drawingml/2006/main">
              <a:ext uri="{FF2B5EF4-FFF2-40B4-BE49-F238E27FC236}">
                <a16:creationId xmlns:a16="http://schemas.microsoft.com/office/drawing/2014/main" id="{FE4316DE-1351-4F0A-A5F9-D352B7BBDA7E}"/>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5CF222D3-E710-4B5E-941F-52005992487F}"/>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1</a:t>
            </a:r>
          </a:p>
        </p:txBody>
      </p:sp>
      <p:sp>
        <p:nvSpPr>
          <p:cNvPr id="9" name="">
            <a:extLst xmlns:a="http://schemas.openxmlformats.org/drawingml/2006/main">
              <a:ext uri="{FF2B5EF4-FFF2-40B4-BE49-F238E27FC236}">
                <a16:creationId xmlns:a16="http://schemas.microsoft.com/office/drawing/2014/main" id="{2A2B9A34-674E-47E0-BB97-E2869D50E18D}"/>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Use these fictional teaching cards. All give sugar in g per 100 g: A — 4 g; B — 9 g; C — 14 g; D — 23 g.</a:t>
            </a:r>
          </a:p>
        </p:txBody>
      </p:sp>
      <p:sp>
        <p:nvSpPr>
          <p:cNvPr id="10" name="">
            <a:extLst xmlns:a="http://schemas.openxmlformats.org/drawingml/2006/main">
              <a:ext uri="{FF2B5EF4-FFF2-40B4-BE49-F238E27FC236}">
                <a16:creationId xmlns:a16="http://schemas.microsoft.com/office/drawing/2014/main" id="{EDCF36C6-47A0-42F7-B535-8FC56474795C}"/>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Use a paper strip to track one card at a time. Say or point to the letter, the sugar number and ‘g per 100 g’ together.</a:t>
            </a:r>
          </a:p>
        </p:txBody>
      </p:sp>
      <p:sp>
        <p:nvSpPr>
          <p:cNvPr id="11" name="">
            <a:extLst xmlns:a="http://schemas.openxmlformats.org/drawingml/2006/main">
              <a:ext uri="{FF2B5EF4-FFF2-40B4-BE49-F238E27FC236}">
                <a16:creationId xmlns:a16="http://schemas.microsoft.com/office/drawing/2014/main" id="{72274393-27C5-4C15-BB12-0991E3AD3D1B}"/>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CD57FF5E-8E43-4683-BD22-F9EA21FC98E1}"/>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2</a:t>
            </a:r>
          </a:p>
        </p:txBody>
      </p:sp>
      <p:sp>
        <p:nvSpPr>
          <p:cNvPr id="13" name="">
            <a:extLst xmlns:a="http://schemas.openxmlformats.org/drawingml/2006/main">
              <a:ext uri="{FF2B5EF4-FFF2-40B4-BE49-F238E27FC236}">
                <a16:creationId xmlns:a16="http://schemas.microsoft.com/office/drawing/2014/main" id="{5CDFC13A-A347-4F96-BAE0-8C4CA62229B5}"/>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Put the four cards in order from LEAST sugar per 100 g to MOST. Point, move paper cards or direct an adult.</a:t>
            </a:r>
          </a:p>
        </p:txBody>
      </p:sp>
      <p:sp>
        <p:nvSpPr>
          <p:cNvPr id="14" name="">
            <a:extLst xmlns:a="http://schemas.openxmlformats.org/drawingml/2006/main">
              <a:ext uri="{FF2B5EF4-FFF2-40B4-BE49-F238E27FC236}">
                <a16:creationId xmlns:a16="http://schemas.microsoft.com/office/drawing/2014/main" id="{4B11F221-2D69-4F9F-9870-FF68EC136D90}"/>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Compare two numbers first. Place the smaller one towards LEAST, then find where each remaining card belongs.</a:t>
            </a:r>
          </a:p>
        </p:txBody>
      </p:sp>
    </p:spTree>
    <p:extLst>
      <p:ext uri="{BB962C8B-B14F-4D97-AF65-F5344CB8AC3E}">
        <p14:creationId xmlns:p14="http://schemas.microsoft.com/office/powerpoint/2010/main" val="16985169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560AE7-780A-40D3-830B-EB56BB2904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E4BEBB-FD5F-482E-850D-25A7966087C7}"/>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B10DC02D-0DD4-4F1E-B4B8-3D76CEE0782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8718117B-58AF-4D45-9959-CF9B26503A8A}"/>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 / 2 of 3</a:t>
            </a:r>
          </a:p>
        </p:txBody>
      </p:sp>
      <p:sp>
        <p:nvSpPr>
          <p:cNvPr id="5" name="">
            <a:extLst xmlns:a="http://schemas.openxmlformats.org/drawingml/2006/main">
              <a:ext uri="{FF2B5EF4-FFF2-40B4-BE49-F238E27FC236}">
                <a16:creationId xmlns:a16="http://schemas.microsoft.com/office/drawing/2014/main" id="{B2991587-6A1B-4688-A192-E5D14E5C5334}"/>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B7FF6E7B-A3A5-47C1-B2EE-2DA3E9961D80}"/>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26</a:t>
            </a:r>
          </a:p>
        </p:txBody>
      </p:sp>
      <p:sp>
        <p:nvSpPr>
          <p:cNvPr id="7" name="">
            <a:extLst xmlns:a="http://schemas.openxmlformats.org/drawingml/2006/main">
              <a:ext uri="{FF2B5EF4-FFF2-40B4-BE49-F238E27FC236}">
                <a16:creationId xmlns:a16="http://schemas.microsoft.com/office/drawing/2014/main" id="{CABBC5FC-E2C1-4BBA-AFB4-2900B5D8F8C7}"/>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F74A742B-7449-4D7A-A9C9-3233518311A2}"/>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3</a:t>
            </a:r>
          </a:p>
        </p:txBody>
      </p:sp>
      <p:sp>
        <p:nvSpPr>
          <p:cNvPr id="9" name="">
            <a:extLst xmlns:a="http://schemas.openxmlformats.org/drawingml/2006/main">
              <a:ext uri="{FF2B5EF4-FFF2-40B4-BE49-F238E27FC236}">
                <a16:creationId xmlns:a16="http://schemas.microsoft.com/office/drawing/2014/main" id="{9AB0A482-9148-44AF-AA66-70DEF60E4B64}"/>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Complete: Label ___ has the least sugar per 100 g. Label ___ has the most.</a:t>
            </a:r>
          </a:p>
        </p:txBody>
      </p:sp>
      <p:sp>
        <p:nvSpPr>
          <p:cNvPr id="10" name="">
            <a:extLst xmlns:a="http://schemas.openxmlformats.org/drawingml/2006/main">
              <a:ext uri="{FF2B5EF4-FFF2-40B4-BE49-F238E27FC236}">
                <a16:creationId xmlns:a16="http://schemas.microsoft.com/office/drawing/2014/main" id="{03BCB331-A4A3-45B4-A0FC-55DFDC6BF2F5}"/>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Look at the two ends of your own order. Use those card letters to fill the gaps.</a:t>
            </a:r>
          </a:p>
        </p:txBody>
      </p:sp>
      <p:sp>
        <p:nvSpPr>
          <p:cNvPr id="11" name="">
            <a:extLst xmlns:a="http://schemas.openxmlformats.org/drawingml/2006/main">
              <a:ext uri="{FF2B5EF4-FFF2-40B4-BE49-F238E27FC236}">
                <a16:creationId xmlns:a16="http://schemas.microsoft.com/office/drawing/2014/main" id="{D8996872-9919-4B93-84C9-1A1DBDEBBE7A}"/>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5295E0FF-0559-4FC8-8086-F4B247F3D788}"/>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4</a:t>
            </a:r>
          </a:p>
        </p:txBody>
      </p:sp>
      <p:sp>
        <p:nvSpPr>
          <p:cNvPr id="13" name="">
            <a:extLst xmlns:a="http://schemas.openxmlformats.org/drawingml/2006/main">
              <a:ext uri="{FF2B5EF4-FFF2-40B4-BE49-F238E27FC236}">
                <a16:creationId xmlns:a16="http://schemas.microsoft.com/office/drawing/2014/main" id="{8B5B37D6-88BB-43EA-A03D-0F59FBBE620E}"/>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Choose the claim we can support: 'A has less sugar per 100 g than D' / 'A is the healthiest food for everyone'.</a:t>
            </a:r>
          </a:p>
        </p:txBody>
      </p:sp>
      <p:sp>
        <p:nvSpPr>
          <p:cNvPr id="14" name="">
            <a:extLst xmlns:a="http://schemas.openxmlformats.org/drawingml/2006/main">
              <a:ext uri="{FF2B5EF4-FFF2-40B4-BE49-F238E27FC236}">
                <a16:creationId xmlns:a16="http://schemas.microsoft.com/office/drawing/2014/main" id="{1D67A14D-865F-47AB-8A0A-3A15C264DFED}"/>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Ask: does this sentence describe the sugar evidence, or claim to know everything about the food?</a:t>
            </a:r>
          </a:p>
        </p:txBody>
      </p:sp>
    </p:spTree>
    <p:extLst>
      <p:ext uri="{BB962C8B-B14F-4D97-AF65-F5344CB8AC3E}">
        <p14:creationId xmlns:p14="http://schemas.microsoft.com/office/powerpoint/2010/main" val="2629153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8F9E1A-49B5-4FB5-A741-B657F4CE87D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A5DD2-26EA-4DFC-99BC-252597B7FF7C}"/>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65DB56E9-3AE4-4C2F-BAFA-4A8A830AD725}"/>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5605CCB0-1760-4350-82D9-78BAFD7A6BE7}"/>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 / 3 of 3</a:t>
            </a:r>
          </a:p>
        </p:txBody>
      </p:sp>
      <p:sp>
        <p:nvSpPr>
          <p:cNvPr id="5" name="">
            <a:extLst xmlns:a="http://schemas.openxmlformats.org/drawingml/2006/main">
              <a:ext uri="{FF2B5EF4-FFF2-40B4-BE49-F238E27FC236}">
                <a16:creationId xmlns:a16="http://schemas.microsoft.com/office/drawing/2014/main" id="{679D74C0-BA14-48D1-B04D-7F5C71D174B3}"/>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67418EDA-3187-45A5-A402-50B89AE4202B}"/>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27</a:t>
            </a:r>
          </a:p>
        </p:txBody>
      </p:sp>
      <p:sp>
        <p:nvSpPr>
          <p:cNvPr id="7" name="">
            <a:extLst xmlns:a="http://schemas.openxmlformats.org/drawingml/2006/main">
              <a:ext uri="{FF2B5EF4-FFF2-40B4-BE49-F238E27FC236}">
                <a16:creationId xmlns:a16="http://schemas.microsoft.com/office/drawing/2014/main" id="{16E6B003-DF7C-4421-B9BF-62E6BD036511}"/>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EB61643A-2469-4460-8E9F-72326488BAB3}"/>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5</a:t>
            </a:r>
          </a:p>
        </p:txBody>
      </p:sp>
      <p:sp>
        <p:nvSpPr>
          <p:cNvPr id="9" name="">
            <a:extLst xmlns:a="http://schemas.openxmlformats.org/drawingml/2006/main">
              <a:ext uri="{FF2B5EF4-FFF2-40B4-BE49-F238E27FC236}">
                <a16:creationId xmlns:a16="http://schemas.microsoft.com/office/drawing/2014/main" id="{E08B5BBF-AA90-48A7-9B0F-D162FCCFB0D5}"/>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Finish or point: These sugar numbers show ONE PART OF NUTRITION / THE WHOLE EATING PATTERN. Keep “g per 100 g” with each number.</a:t>
            </a:r>
          </a:p>
        </p:txBody>
      </p:sp>
      <p:sp>
        <p:nvSpPr>
          <p:cNvPr id="10" name="">
            <a:extLst xmlns:a="http://schemas.openxmlformats.org/drawingml/2006/main">
              <a:ext uri="{FF2B5EF4-FFF2-40B4-BE49-F238E27FC236}">
                <a16:creationId xmlns:a16="http://schemas.microsoft.com/office/drawing/2014/main" id="{4E4313B2-F0ED-470B-B833-F253C3B02DC5}"/>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Look at what was measured. Think about whether these cards show every nutrient and everything a person eats.</a:t>
            </a:r>
          </a:p>
        </p:txBody>
      </p:sp>
      <p:sp>
        <p:nvSpPr>
          <p:cNvPr id="11" name="">
            <a:extLst xmlns:a="http://schemas.openxmlformats.org/drawingml/2006/main">
              <a:ext uri="{FF2B5EF4-FFF2-40B4-BE49-F238E27FC236}">
                <a16:creationId xmlns:a16="http://schemas.microsoft.com/office/drawing/2014/main" id="{E0B5ADDE-22FA-4452-99FF-03B46DFA1E7D}"/>
              </a:ext>
            </a:extLst>
          </p:cNvPr>
          <p:cNvSpPr>
            <a:spLocks xmlns:a="http://schemas.openxmlformats.org/drawingml/2006/main" noGrp="1"/>
          </p:cNvSpPr>
          <p:nvPr/>
        </p:nvSpPr>
        <p:spPr>
          <a:xfrm xmlns:a="http://schemas.openxmlformats.org/drawingml/2006/main">
            <a:off x="457200" y="46672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75985"/>
                </a:solidFill>
                <a:latin typeface="DejaVu Sans"/>
                <a:ea typeface="DejaVu Sans"/>
                <a:cs typeface="DejaVu Sans"/>
              </a:defRPr>
            </a:pPr>
            <a:r>
              <a:rPr sz="2400" b="0">
                <a:solidFill>
                  <a:srgbClr val="075985"/>
                </a:solidFill>
                <a:latin typeface="DejaVu Sans"/>
                <a:ea typeface="DejaVu Sans"/>
                <a:cs typeface="DejaVu Sans"/>
              </a:rPr>
              <a:t>You may point, direct, draw, write or explain to an adult.</a:t>
            </a:r>
          </a:p>
        </p:txBody>
      </p:sp>
    </p:spTree>
    <p:extLst>
      <p:ext uri="{BB962C8B-B14F-4D97-AF65-F5344CB8AC3E}">
        <p14:creationId xmlns:p14="http://schemas.microsoft.com/office/powerpoint/2010/main" val="183202791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35BF8B-0082-42FA-B4C1-9A2D7036DEA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8D888A-0C1A-41CE-8319-B0F8AD4179DF}"/>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answer guidance</a:t>
            </a:r>
          </a:p>
        </p:txBody>
      </p:sp>
      <p:sp>
        <p:nvSpPr>
          <p:cNvPr id="3" name="">
            <a:extLst xmlns:a="http://schemas.openxmlformats.org/drawingml/2006/main">
              <a:ext uri="{FF2B5EF4-FFF2-40B4-BE49-F238E27FC236}">
                <a16:creationId xmlns:a16="http://schemas.microsoft.com/office/drawing/2014/main" id="{1795A77E-504D-4622-86D9-47928EDFCFA0}"/>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02F17B38-4840-45AD-ADF6-A6A83FC329A6}"/>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a:t>
            </a:r>
          </a:p>
        </p:txBody>
      </p:sp>
      <p:sp>
        <p:nvSpPr>
          <p:cNvPr id="5" name="">
            <a:extLst xmlns:a="http://schemas.openxmlformats.org/drawingml/2006/main">
              <a:ext uri="{FF2B5EF4-FFF2-40B4-BE49-F238E27FC236}">
                <a16:creationId xmlns:a16="http://schemas.microsoft.com/office/drawing/2014/main" id="{3AB10369-5ACC-4FE4-A30C-A8DA0479436F}"/>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0C5A8840-4C8C-4DD0-B663-A1878B76EE0F}"/>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28</a:t>
            </a:r>
          </a:p>
        </p:txBody>
      </p:sp>
      <p:sp>
        <p:nvSpPr>
          <p:cNvPr id="7" name="">
            <a:extLst xmlns:a="http://schemas.openxmlformats.org/drawingml/2006/main">
              <a:ext uri="{FF2B5EF4-FFF2-40B4-BE49-F238E27FC236}">
                <a16:creationId xmlns:a16="http://schemas.microsoft.com/office/drawing/2014/main" id="{2EA6C88D-1CEA-47DE-9601-09E4B569B5D9}"/>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C6949E2B-9F4B-45C7-B2FC-D913D7D912AB}"/>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order</a:t>
            </a:r>
          </a:p>
        </p:txBody>
      </p:sp>
      <p:sp>
        <p:nvSpPr>
          <p:cNvPr id="9" name="">
            <a:extLst xmlns:a="http://schemas.openxmlformats.org/drawingml/2006/main">
              <a:ext uri="{FF2B5EF4-FFF2-40B4-BE49-F238E27FC236}">
                <a16:creationId xmlns:a16="http://schemas.microsoft.com/office/drawing/2014/main" id="{43830A44-EEE8-4AB4-801A-1C2A367C883E}"/>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A 4, B 9, C 14, D 23. All values are g sugars per 100 g. Least: A. Most: D.</a:t>
            </a:r>
          </a:p>
        </p:txBody>
      </p:sp>
      <p:sp>
        <p:nvSpPr>
          <p:cNvPr id="10" name="">
            <a:extLst xmlns:a="http://schemas.openxmlformats.org/drawingml/2006/main">
              <a:ext uri="{FF2B5EF4-FFF2-40B4-BE49-F238E27FC236}">
                <a16:creationId xmlns:a16="http://schemas.microsoft.com/office/drawing/2014/main" id="{A80851BC-C141-4B1A-BB2C-B3DD8B3B4730}"/>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A8FFAFEA-6546-46D1-A62C-9455622AC526}"/>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The claim</a:t>
            </a:r>
          </a:p>
        </p:txBody>
      </p:sp>
      <p:sp>
        <p:nvSpPr>
          <p:cNvPr id="12" name="">
            <a:extLst xmlns:a="http://schemas.openxmlformats.org/drawingml/2006/main">
              <a:ext uri="{FF2B5EF4-FFF2-40B4-BE49-F238E27FC236}">
                <a16:creationId xmlns:a16="http://schemas.microsoft.com/office/drawing/2014/main" id="{BE0104B4-BED7-4727-84CC-72E0580569B6}"/>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A has less sugar per 100 g than D. These numbers show one part of nutrition, not the whole eating pattern.</a:t>
            </a:r>
          </a:p>
        </p:txBody>
      </p:sp>
    </p:spTree>
    <p:extLst>
      <p:ext uri="{BB962C8B-B14F-4D97-AF65-F5344CB8AC3E}">
        <p14:creationId xmlns:p14="http://schemas.microsoft.com/office/powerpoint/2010/main" val="17953298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1090C57-3474-4701-959B-073E879D5C2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DE03CA-4275-4538-9C23-657F54FA2015}"/>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E7A85F14-72C5-458C-AFB4-F9FB3635B327}"/>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CA739D99-12D9-47B3-B1C8-100DFA360CEB}"/>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 / 1 of 3</a:t>
            </a:r>
          </a:p>
        </p:txBody>
      </p:sp>
      <p:sp>
        <p:nvSpPr>
          <p:cNvPr id="5" name="">
            <a:extLst xmlns:a="http://schemas.openxmlformats.org/drawingml/2006/main">
              <a:ext uri="{FF2B5EF4-FFF2-40B4-BE49-F238E27FC236}">
                <a16:creationId xmlns:a16="http://schemas.microsoft.com/office/drawing/2014/main" id="{C6A1CC73-50B4-48F5-829C-030CAE0B3FD8}"/>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042FB6F2-70AC-495C-B8A7-148683F45B92}"/>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29</a:t>
            </a:r>
          </a:p>
        </p:txBody>
      </p:sp>
      <p:sp>
        <p:nvSpPr>
          <p:cNvPr id="7" name="">
            <a:extLst xmlns:a="http://schemas.openxmlformats.org/drawingml/2006/main">
              <a:ext uri="{FF2B5EF4-FFF2-40B4-BE49-F238E27FC236}">
                <a16:creationId xmlns:a16="http://schemas.microsoft.com/office/drawing/2014/main" id="{A9ADBD04-EDAF-4859-9DD5-C11CAC1F85E8}"/>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D571B22F-2DAD-4F27-BED1-1F5C6630B154}"/>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1</a:t>
            </a:r>
          </a:p>
        </p:txBody>
      </p:sp>
      <p:sp>
        <p:nvSpPr>
          <p:cNvPr id="9" name="">
            <a:extLst xmlns:a="http://schemas.openxmlformats.org/drawingml/2006/main">
              <a:ext uri="{FF2B5EF4-FFF2-40B4-BE49-F238E27FC236}">
                <a16:creationId xmlns:a16="http://schemas.microsoft.com/office/drawing/2014/main" id="{16EA7444-0316-4CF0-B5E5-C676D1EDBB73}"/>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Fictional labels, all PER 100 g: A — carbohydrate 22 g, sugars 4 g; B — carbohydrate 67 g, sugars 9 g; C — carbohydrate 58 g, sugars 14 g; D — carbohydrate 72 g, sugars 23 g.</a:t>
            </a:r>
          </a:p>
        </p:txBody>
      </p:sp>
      <p:sp>
        <p:nvSpPr>
          <p:cNvPr id="10" name="">
            <a:extLst xmlns:a="http://schemas.openxmlformats.org/drawingml/2006/main">
              <a:ext uri="{FF2B5EF4-FFF2-40B4-BE49-F238E27FC236}">
                <a16:creationId xmlns:a16="http://schemas.microsoft.com/office/drawing/2014/main" id="{7B5640CF-A404-4299-9CDA-3A0528A07EBB}"/>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Identify the nutrient and reference amount before selecting numerical evidence.</a:t>
            </a:r>
          </a:p>
        </p:txBody>
      </p:sp>
      <p:sp>
        <p:nvSpPr>
          <p:cNvPr id="11" name="">
            <a:extLst xmlns:a="http://schemas.openxmlformats.org/drawingml/2006/main">
              <a:ext uri="{FF2B5EF4-FFF2-40B4-BE49-F238E27FC236}">
                <a16:creationId xmlns:a16="http://schemas.microsoft.com/office/drawing/2014/main" id="{F4A5CD12-B2A2-4EAD-8EF7-4FC91E16FA0E}"/>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94B70CF1-DF5B-4623-B2E9-931FD9779A18}"/>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2</a:t>
            </a:r>
          </a:p>
        </p:txBody>
      </p:sp>
      <p:sp>
        <p:nvSpPr>
          <p:cNvPr id="13" name="">
            <a:extLst xmlns:a="http://schemas.openxmlformats.org/drawingml/2006/main">
              <a:ext uri="{FF2B5EF4-FFF2-40B4-BE49-F238E27FC236}">
                <a16:creationId xmlns:a16="http://schemas.microsoft.com/office/drawing/2014/main" id="{F62C5D0C-29B6-44A4-8C4B-EBBE1EAE8DCB}"/>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Extract the four sugar values and order them. Keep the unit and basis.</a:t>
            </a:r>
          </a:p>
        </p:txBody>
      </p:sp>
      <p:sp>
        <p:nvSpPr>
          <p:cNvPr id="14" name="">
            <a:extLst xmlns:a="http://schemas.openxmlformats.org/drawingml/2006/main">
              <a:ext uri="{FF2B5EF4-FFF2-40B4-BE49-F238E27FC236}">
                <a16:creationId xmlns:a16="http://schemas.microsoft.com/office/drawing/2014/main" id="{34B2CB7E-6430-4CE6-977F-58BA1BA65216}"/>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Audit the completed order against the source labels; a correct number copied from the wrong row is still the wrong evidence.</a:t>
            </a:r>
          </a:p>
        </p:txBody>
      </p:sp>
    </p:spTree>
    <p:extLst>
      <p:ext uri="{BB962C8B-B14F-4D97-AF65-F5344CB8AC3E}">
        <p14:creationId xmlns:p14="http://schemas.microsoft.com/office/powerpoint/2010/main" val="19652264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7277E6-1F08-4C99-80B2-92A8638BBC5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16EAFF-BD0A-4095-B06B-290A4E70B978}"/>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52693388-DE9B-4355-8DF8-29426B9F364A}"/>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B1388062-08D0-44E6-995D-C383CD2BFF91}"/>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 / 2 of 3</a:t>
            </a:r>
          </a:p>
        </p:txBody>
      </p:sp>
      <p:sp>
        <p:nvSpPr>
          <p:cNvPr id="5" name="">
            <a:extLst xmlns:a="http://schemas.openxmlformats.org/drawingml/2006/main">
              <a:ext uri="{FF2B5EF4-FFF2-40B4-BE49-F238E27FC236}">
                <a16:creationId xmlns:a16="http://schemas.microsoft.com/office/drawing/2014/main" id="{6D493319-899F-426A-8407-0ECB145D174D}"/>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45B19323-4E66-466E-9E4B-FFC52548B652}"/>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30</a:t>
            </a:r>
          </a:p>
        </p:txBody>
      </p:sp>
      <p:sp>
        <p:nvSpPr>
          <p:cNvPr id="7" name="">
            <a:extLst xmlns:a="http://schemas.openxmlformats.org/drawingml/2006/main">
              <a:ext uri="{FF2B5EF4-FFF2-40B4-BE49-F238E27FC236}">
                <a16:creationId xmlns:a16="http://schemas.microsoft.com/office/drawing/2014/main" id="{027A8A9A-437D-406D-BAF4-8311346879A5}"/>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27807598-1CE1-4A66-B4D9-079CCED719C5}"/>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3</a:t>
            </a:r>
          </a:p>
        </p:txBody>
      </p:sp>
      <p:sp>
        <p:nvSpPr>
          <p:cNvPr id="9" name="">
            <a:extLst xmlns:a="http://schemas.openxmlformats.org/drawingml/2006/main">
              <a:ext uri="{FF2B5EF4-FFF2-40B4-BE49-F238E27FC236}">
                <a16:creationId xmlns:a16="http://schemas.microsoft.com/office/drawing/2014/main" id="{C1C3D009-119C-4A80-8B2B-AFDEC95F3DB8}"/>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Extra label E says 'sugars 3 g per 25 g serving'. Someone puts E before A because 3 is less than 4. Audit this decision.</a:t>
            </a:r>
          </a:p>
        </p:txBody>
      </p:sp>
      <p:sp>
        <p:nvSpPr>
          <p:cNvPr id="10" name="">
            <a:extLst xmlns:a="http://schemas.openxmlformats.org/drawingml/2006/main">
              <a:ext uri="{FF2B5EF4-FFF2-40B4-BE49-F238E27FC236}">
                <a16:creationId xmlns:a16="http://schemas.microsoft.com/office/drawing/2014/main" id="{153BDD72-4A50-4682-AEFE-E2E34118889E}"/>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Compare the reference quantities before comparing the two bare numbers.</a:t>
            </a:r>
          </a:p>
        </p:txBody>
      </p:sp>
      <p:sp>
        <p:nvSpPr>
          <p:cNvPr id="11" name="">
            <a:extLst xmlns:a="http://schemas.openxmlformats.org/drawingml/2006/main">
              <a:ext uri="{FF2B5EF4-FFF2-40B4-BE49-F238E27FC236}">
                <a16:creationId xmlns:a16="http://schemas.microsoft.com/office/drawing/2014/main" id="{CC0EE657-95E3-43C9-8133-7CECBF53244B}"/>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2" name="">
            <a:extLst xmlns:a="http://schemas.openxmlformats.org/drawingml/2006/main">
              <a:ext uri="{FF2B5EF4-FFF2-40B4-BE49-F238E27FC236}">
                <a16:creationId xmlns:a16="http://schemas.microsoft.com/office/drawing/2014/main" id="{E6FF10C9-2A2E-4092-A395-07E948940969}"/>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4</a:t>
            </a:r>
          </a:p>
        </p:txBody>
      </p:sp>
      <p:sp>
        <p:nvSpPr>
          <p:cNvPr id="13" name="">
            <a:extLst xmlns:a="http://schemas.openxmlformats.org/drawingml/2006/main">
              <a:ext uri="{FF2B5EF4-FFF2-40B4-BE49-F238E27FC236}">
                <a16:creationId xmlns:a16="http://schemas.microsoft.com/office/drawing/2014/main" id="{F222AAB6-E85C-489C-8FB6-760D1E3DFCEB}"/>
              </a:ext>
            </a:extLst>
          </p:cNvPr>
          <p:cNvSpPr>
            <a:spLocks xmlns:a="http://schemas.openxmlformats.org/drawingml/2006/main" noGrp="1"/>
          </p:cNvSpPr>
          <p:nvPr/>
        </p:nvSpPr>
        <p:spPr>
          <a:xfrm xmlns:a="http://schemas.openxmlformats.org/drawingml/2006/main">
            <a:off x="609600" y="442912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Put E on a per-100 g basis before comparing. How many 25 g servings make 100 g? Then place E among A–D.</a:t>
            </a:r>
          </a:p>
        </p:txBody>
      </p:sp>
      <p:sp>
        <p:nvSpPr>
          <p:cNvPr id="14" name="">
            <a:extLst xmlns:a="http://schemas.openxmlformats.org/drawingml/2006/main">
              <a:ext uri="{FF2B5EF4-FFF2-40B4-BE49-F238E27FC236}">
                <a16:creationId xmlns:a16="http://schemas.microsoft.com/office/drawing/2014/main" id="{E0B3BAAC-958D-4D1D-9D9E-61C23272790C}"/>
              </a:ext>
            </a:extLst>
          </p:cNvPr>
          <p:cNvSpPr>
            <a:spLocks xmlns:a="http://schemas.openxmlformats.org/drawingml/2006/main" noGrp="1"/>
          </p:cNvSpPr>
          <p:nvPr/>
        </p:nvSpPr>
        <p:spPr>
          <a:xfrm xmlns:a="http://schemas.openxmlformats.org/drawingml/2006/main">
            <a:off x="609600" y="5372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Find the scale factor from 25 g of food to 100 g of food. Apply the same factor to the sugar amount.</a:t>
            </a:r>
          </a:p>
        </p:txBody>
      </p:sp>
    </p:spTree>
    <p:extLst>
      <p:ext uri="{BB962C8B-B14F-4D97-AF65-F5344CB8AC3E}">
        <p14:creationId xmlns:p14="http://schemas.microsoft.com/office/powerpoint/2010/main" val="55789734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9D3F93-A3D0-455D-A75F-3C46090A389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194EA5-F0AB-4398-B401-9535E1D9DBC0}"/>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use the evidence</a:t>
            </a:r>
          </a:p>
        </p:txBody>
      </p:sp>
      <p:sp>
        <p:nvSpPr>
          <p:cNvPr id="3" name="">
            <a:extLst xmlns:a="http://schemas.openxmlformats.org/drawingml/2006/main">
              <a:ext uri="{FF2B5EF4-FFF2-40B4-BE49-F238E27FC236}">
                <a16:creationId xmlns:a16="http://schemas.microsoft.com/office/drawing/2014/main" id="{66BD89B0-398B-48C6-AFFB-5F1968D38634}"/>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300F2F64-FDE8-47E3-8059-EDE383606AC7}"/>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 / 3 of 3</a:t>
            </a:r>
          </a:p>
        </p:txBody>
      </p:sp>
      <p:sp>
        <p:nvSpPr>
          <p:cNvPr id="5" name="">
            <a:extLst xmlns:a="http://schemas.openxmlformats.org/drawingml/2006/main">
              <a:ext uri="{FF2B5EF4-FFF2-40B4-BE49-F238E27FC236}">
                <a16:creationId xmlns:a16="http://schemas.microsoft.com/office/drawing/2014/main" id="{AF2E99D3-C7FC-43F7-8368-2D02336DC666}"/>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9E5020E9-7970-4C2C-886E-E463EAE4C51C}"/>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31</a:t>
            </a:r>
          </a:p>
        </p:txBody>
      </p:sp>
      <p:sp>
        <p:nvSpPr>
          <p:cNvPr id="7" name="">
            <a:extLst xmlns:a="http://schemas.openxmlformats.org/drawingml/2006/main">
              <a:ext uri="{FF2B5EF4-FFF2-40B4-BE49-F238E27FC236}">
                <a16:creationId xmlns:a16="http://schemas.microsoft.com/office/drawing/2014/main" id="{6AE6FDA9-4AEC-4975-8D78-8BDD39A3F28E}"/>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50A5A6C1-AD63-4DF8-8EFE-21594B8F52C3}"/>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Question 5</a:t>
            </a:r>
          </a:p>
        </p:txBody>
      </p:sp>
      <p:sp>
        <p:nvSpPr>
          <p:cNvPr id="9" name="">
            <a:extLst xmlns:a="http://schemas.openxmlformats.org/drawingml/2006/main">
              <a:ext uri="{FF2B5EF4-FFF2-40B4-BE49-F238E27FC236}">
                <a16:creationId xmlns:a16="http://schemas.microsoft.com/office/drawing/2014/main" id="{1E8283E6-3E6E-45C6-AF39-26D865E8F7CC}"/>
              </a:ext>
            </a:extLst>
          </p:cNvPr>
          <p:cNvSpPr>
            <a:spLocks xmlns:a="http://schemas.openxmlformats.org/drawingml/2006/main" noGrp="1"/>
          </p:cNvSpPr>
          <p:nvPr/>
        </p:nvSpPr>
        <p:spPr>
          <a:xfrm xmlns:a="http://schemas.openxmlformats.org/drawingml/2006/main">
            <a:off x="609600" y="20859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F2937"/>
                </a:solidFill>
                <a:latin typeface="DejaVu Sans"/>
                <a:ea typeface="DejaVu Sans"/>
                <a:cs typeface="DejaVu Sans"/>
              </a:defRPr>
            </a:pPr>
            <a:r>
              <a:rPr sz="1950" b="0">
                <a:solidFill>
                  <a:srgbClr val="1F2937"/>
                </a:solidFill>
                <a:latin typeface="DejaVu Sans"/>
                <a:ea typeface="DejaVu Sans"/>
                <a:cs typeface="DejaVu Sans"/>
              </a:rPr>
              <a:t>Write one supported comparison from A–D and repair this claim: 'The lowest-sugar card proves the best food for everybody.'</a:t>
            </a:r>
          </a:p>
        </p:txBody>
      </p:sp>
      <p:sp>
        <p:nvSpPr>
          <p:cNvPr id="10" name="">
            <a:extLst xmlns:a="http://schemas.openxmlformats.org/drawingml/2006/main">
              <a:ext uri="{FF2B5EF4-FFF2-40B4-BE49-F238E27FC236}">
                <a16:creationId xmlns:a16="http://schemas.microsoft.com/office/drawing/2014/main" id="{072551BE-8869-4FDF-B986-4C3D47022CC3}"/>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75985"/>
                </a:solidFill>
                <a:latin typeface="DejaVu Sans"/>
                <a:ea typeface="DejaVu Sans"/>
                <a:cs typeface="DejaVu Sans"/>
              </a:defRPr>
            </a:pPr>
            <a:r>
              <a:rPr sz="1575" b="0">
                <a:solidFill>
                  <a:srgbClr val="075985"/>
                </a:solidFill>
                <a:latin typeface="DejaVu Sans"/>
                <a:ea typeface="DejaVu Sans"/>
                <a:cs typeface="DejaVu Sans"/>
              </a:rPr>
              <a:t>Help: Separate a justified numerical comparison from a wider judgement. State exactly what the evidence establishes and what it leaves unknown.</a:t>
            </a:r>
          </a:p>
        </p:txBody>
      </p:sp>
      <p:sp>
        <p:nvSpPr>
          <p:cNvPr id="11" name="">
            <a:extLst xmlns:a="http://schemas.openxmlformats.org/drawingml/2006/main">
              <a:ext uri="{FF2B5EF4-FFF2-40B4-BE49-F238E27FC236}">
                <a16:creationId xmlns:a16="http://schemas.microsoft.com/office/drawing/2014/main" id="{076811A6-552C-4E80-833B-A1E784284800}"/>
              </a:ext>
            </a:extLst>
          </p:cNvPr>
          <p:cNvSpPr>
            <a:spLocks xmlns:a="http://schemas.openxmlformats.org/drawingml/2006/main" noGrp="1"/>
          </p:cNvSpPr>
          <p:nvPr/>
        </p:nvSpPr>
        <p:spPr>
          <a:xfrm xmlns:a="http://schemas.openxmlformats.org/drawingml/2006/main">
            <a:off x="457200" y="46672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75985"/>
                </a:solidFill>
                <a:latin typeface="DejaVu Sans"/>
                <a:ea typeface="DejaVu Sans"/>
                <a:cs typeface="DejaVu Sans"/>
              </a:defRPr>
            </a:pPr>
            <a:r>
              <a:rPr sz="2400" b="0">
                <a:solidFill>
                  <a:srgbClr val="075985"/>
                </a:solidFill>
                <a:latin typeface="DejaVu Sans"/>
                <a:ea typeface="DejaVu Sans"/>
                <a:cs typeface="DejaVu Sans"/>
              </a:rPr>
              <a:t>You may point, direct, draw, write or explain to an adult.</a:t>
            </a:r>
          </a:p>
        </p:txBody>
      </p:sp>
    </p:spTree>
    <p:extLst>
      <p:ext uri="{BB962C8B-B14F-4D97-AF65-F5344CB8AC3E}">
        <p14:creationId xmlns:p14="http://schemas.microsoft.com/office/powerpoint/2010/main" val="178696460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08C743-5EA6-46D0-9C85-FC20CF28E7C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A1620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805D89-0E9A-4027-A6FA-19309C1F671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16207"/>
                </a:solidFill>
                <a:latin typeface="DejaVu Sans"/>
                <a:ea typeface="DejaVu Sans"/>
                <a:cs typeface="DejaVu Sans"/>
              </a:defRPr>
            </a:pPr>
            <a:r>
              <a:rPr sz="3150" b="1">
                <a:solidFill>
                  <a:srgbClr val="A16207"/>
                </a:solidFill>
                <a:latin typeface="DejaVu Sans"/>
                <a:ea typeface="DejaVu Sans"/>
                <a:cs typeface="DejaVu Sans"/>
              </a:rPr>
              <a:t>You do: answer guidance</a:t>
            </a:r>
          </a:p>
        </p:txBody>
      </p:sp>
      <p:sp>
        <p:nvSpPr>
          <p:cNvPr id="3" name="">
            <a:extLst xmlns:a="http://schemas.openxmlformats.org/drawingml/2006/main">
              <a:ext uri="{FF2B5EF4-FFF2-40B4-BE49-F238E27FC236}">
                <a16:creationId xmlns:a16="http://schemas.microsoft.com/office/drawing/2014/main" id="{9EA54B29-413C-47B1-8784-B52F99FC7A53}"/>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You do · 10 min across this stage</a:t>
            </a:r>
          </a:p>
        </p:txBody>
      </p:sp>
      <p:sp>
        <p:nvSpPr>
          <p:cNvPr id="4" name="">
            <a:extLst xmlns:a="http://schemas.openxmlformats.org/drawingml/2006/main">
              <a:ext uri="{FF2B5EF4-FFF2-40B4-BE49-F238E27FC236}">
                <a16:creationId xmlns:a16="http://schemas.microsoft.com/office/drawing/2014/main" id="{7FF0B363-FDE9-4FA0-9E8C-4D34D0DA1AC2}"/>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a:t>
            </a:r>
          </a:p>
        </p:txBody>
      </p:sp>
      <p:sp>
        <p:nvSpPr>
          <p:cNvPr id="5" name="">
            <a:extLst xmlns:a="http://schemas.openxmlformats.org/drawingml/2006/main">
              <a:ext uri="{FF2B5EF4-FFF2-40B4-BE49-F238E27FC236}">
                <a16:creationId xmlns:a16="http://schemas.microsoft.com/office/drawing/2014/main" id="{435D255F-3AD6-41E1-8350-E03046784A8F}"/>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1A791F86-0FAE-4076-AA77-21D93F43CD4E}"/>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32</a:t>
            </a:r>
          </a:p>
        </p:txBody>
      </p:sp>
      <p:sp>
        <p:nvSpPr>
          <p:cNvPr id="7" name="">
            <a:extLst xmlns:a="http://schemas.openxmlformats.org/drawingml/2006/main">
              <a:ext uri="{FF2B5EF4-FFF2-40B4-BE49-F238E27FC236}">
                <a16:creationId xmlns:a16="http://schemas.microsoft.com/office/drawing/2014/main" id="{DF124F4F-08CF-47D5-921C-EAC9D9178555}"/>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9BACBAAA-598C-4D62-9A44-F7D9ECA646DB}"/>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E on the same basis</a:t>
            </a:r>
          </a:p>
        </p:txBody>
      </p:sp>
      <p:sp>
        <p:nvSpPr>
          <p:cNvPr id="9" name="">
            <a:extLst xmlns:a="http://schemas.openxmlformats.org/drawingml/2006/main">
              <a:ext uri="{FF2B5EF4-FFF2-40B4-BE49-F238E27FC236}">
                <a16:creationId xmlns:a16="http://schemas.microsoft.com/office/drawing/2014/main" id="{9DB9A7E7-B2E7-4994-8534-A301C40462C3}"/>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Four 25 g servings make 100 g. E has 3 × 4 = 12 g sugar per 100 g. Order: A 4, B 9, E 12, C 14, D 23.</a:t>
            </a:r>
          </a:p>
        </p:txBody>
      </p:sp>
      <p:sp>
        <p:nvSpPr>
          <p:cNvPr id="10" name="">
            <a:extLst xmlns:a="http://schemas.openxmlformats.org/drawingml/2006/main">
              <a:ext uri="{FF2B5EF4-FFF2-40B4-BE49-F238E27FC236}">
                <a16:creationId xmlns:a16="http://schemas.microsoft.com/office/drawing/2014/main" id="{F65433EF-D317-4BAC-B92A-831FABE2F319}"/>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CA8FE543-E1FE-47F4-9D42-8E391FB28053}"/>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A comparison and a repair</a:t>
            </a:r>
          </a:p>
        </p:txBody>
      </p:sp>
      <p:sp>
        <p:nvSpPr>
          <p:cNvPr id="12" name="">
            <a:extLst xmlns:a="http://schemas.openxmlformats.org/drawingml/2006/main">
              <a:ext uri="{FF2B5EF4-FFF2-40B4-BE49-F238E27FC236}">
                <a16:creationId xmlns:a16="http://schemas.microsoft.com/office/drawing/2014/main" id="{B9F3889F-94A0-4EB3-80CC-F7A245BDA4A4}"/>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DejaVu Sans"/>
                <a:ea typeface="DejaVu Sans"/>
                <a:cs typeface="DejaVu Sans"/>
              </a:defRPr>
            </a:pPr>
            <a:r>
              <a:rPr sz="2250" b="0">
                <a:solidFill>
                  <a:srgbClr val="1F2937"/>
                </a:solidFill>
                <a:latin typeface="DejaVu Sans"/>
                <a:ea typeface="DejaVu Sans"/>
                <a:cs typeface="DejaVu Sans"/>
              </a:rPr>
              <a:t>A has 19 g less sugar per 100 g than D. The lowest sugar value does not prove the best food for everyone. More nutrition and context information is needed.</a:t>
            </a:r>
          </a:p>
        </p:txBody>
      </p:sp>
    </p:spTree>
    <p:extLst>
      <p:ext uri="{BB962C8B-B14F-4D97-AF65-F5344CB8AC3E}">
        <p14:creationId xmlns:p14="http://schemas.microsoft.com/office/powerpoint/2010/main" val="68321146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2856B7-84E8-432C-9FED-64F5B6098A2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87E9A8-C596-4B7D-BCBB-D71F9BDEF538}"/>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ticket: two small checks</a:t>
            </a:r>
          </a:p>
        </p:txBody>
      </p:sp>
      <p:sp>
        <p:nvSpPr>
          <p:cNvPr id="3" name="">
            <a:extLst xmlns:a="http://schemas.openxmlformats.org/drawingml/2006/main">
              <a:ext uri="{FF2B5EF4-FFF2-40B4-BE49-F238E27FC236}">
                <a16:creationId xmlns:a16="http://schemas.microsoft.com/office/drawing/2014/main" id="{2CD73BCB-671F-41C1-9743-0D7A907C5D43}"/>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79AC7B32-F9CE-4AD9-B466-DEE9D7F232D6}"/>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a:t>
            </a:r>
          </a:p>
        </p:txBody>
      </p:sp>
      <p:sp>
        <p:nvSpPr>
          <p:cNvPr id="5" name="">
            <a:extLst xmlns:a="http://schemas.openxmlformats.org/drawingml/2006/main">
              <a:ext uri="{FF2B5EF4-FFF2-40B4-BE49-F238E27FC236}">
                <a16:creationId xmlns:a16="http://schemas.microsoft.com/office/drawing/2014/main" id="{0E8055EA-9061-46A5-8F6A-7EAFCE7B3D76}"/>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9B42CD8A-8ABA-4598-8D12-CAAB608ECB13}"/>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33</a:t>
            </a:r>
          </a:p>
        </p:txBody>
      </p:sp>
      <p:sp>
        <p:nvSpPr>
          <p:cNvPr id="7" name="">
            <a:extLst xmlns:a="http://schemas.openxmlformats.org/drawingml/2006/main">
              <a:ext uri="{FF2B5EF4-FFF2-40B4-BE49-F238E27FC236}">
                <a16:creationId xmlns:a16="http://schemas.microsoft.com/office/drawing/2014/main" id="{FFA4474E-F038-4407-9EB5-78EBFC7635F8}"/>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B4B3207C-1A89-4E8E-8EA5-C7ABC63E530E}"/>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Complete the comparison</a:t>
            </a:r>
          </a:p>
        </p:txBody>
      </p:sp>
      <p:sp>
        <p:nvSpPr>
          <p:cNvPr id="9" name="">
            <a:extLst xmlns:a="http://schemas.openxmlformats.org/drawingml/2006/main">
              <a:ext uri="{FF2B5EF4-FFF2-40B4-BE49-F238E27FC236}">
                <a16:creationId xmlns:a16="http://schemas.microsoft.com/office/drawing/2014/main" id="{08AFB517-7851-48EF-85FF-BF81B0049D51}"/>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Label B has ___ g sugars per 100 g.</a:t>
            </a:r>
          </a:p>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That is less / more than C at 14 g per 100 g.</a:t>
            </a:r>
          </a:p>
        </p:txBody>
      </p:sp>
      <p:sp>
        <p:nvSpPr>
          <p:cNvPr id="10" name="">
            <a:extLst xmlns:a="http://schemas.openxmlformats.org/drawingml/2006/main">
              <a:ext uri="{FF2B5EF4-FFF2-40B4-BE49-F238E27FC236}">
                <a16:creationId xmlns:a16="http://schemas.microsoft.com/office/drawing/2014/main" id="{5AD2ACCA-AB6B-460B-B0C5-0E916AC86774}"/>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6FB3D55C-770D-44A8-AE62-B7C8D76778F3}"/>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Finish the idea</a:t>
            </a:r>
          </a:p>
        </p:txBody>
      </p:sp>
      <p:sp>
        <p:nvSpPr>
          <p:cNvPr id="12" name="">
            <a:extLst xmlns:a="http://schemas.openxmlformats.org/drawingml/2006/main">
              <a:ext uri="{FF2B5EF4-FFF2-40B4-BE49-F238E27FC236}">
                <a16:creationId xmlns:a16="http://schemas.microsoft.com/office/drawing/2014/main" id="{DFB07D75-8D8B-4BCC-A97F-E03CF7DAA2C3}"/>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These numbers compare sugar / every nutrient.</a:t>
            </a:r>
          </a:p>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They do not tell us everything about the food.</a:t>
            </a:r>
          </a:p>
        </p:txBody>
      </p:sp>
    </p:spTree>
    <p:extLst>
      <p:ext uri="{BB962C8B-B14F-4D97-AF65-F5344CB8AC3E}">
        <p14:creationId xmlns:p14="http://schemas.microsoft.com/office/powerpoint/2010/main" val="122666421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13920E-AC53-4A04-BC9D-89BAC9E56FA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6B904B-6738-41F7-9CCA-CB06F6653A7A}"/>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answer guidance</a:t>
            </a:r>
          </a:p>
        </p:txBody>
      </p:sp>
      <p:sp>
        <p:nvSpPr>
          <p:cNvPr id="3" name="">
            <a:extLst xmlns:a="http://schemas.openxmlformats.org/drawingml/2006/main">
              <a:ext uri="{FF2B5EF4-FFF2-40B4-BE49-F238E27FC236}">
                <a16:creationId xmlns:a16="http://schemas.microsoft.com/office/drawing/2014/main" id="{26F8914A-5E76-4D84-850F-5ECB926DD82D}"/>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55721C35-AFD8-46ED-B0A3-B76538FBA588}"/>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Standard</a:t>
            </a:r>
          </a:p>
        </p:txBody>
      </p:sp>
      <p:sp>
        <p:nvSpPr>
          <p:cNvPr id="5" name="">
            <a:extLst xmlns:a="http://schemas.openxmlformats.org/drawingml/2006/main">
              <a:ext uri="{FF2B5EF4-FFF2-40B4-BE49-F238E27FC236}">
                <a16:creationId xmlns:a16="http://schemas.microsoft.com/office/drawing/2014/main" id="{FEDAE2AA-69E4-43C4-AEED-385CFB8E2ED7}"/>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515D7948-2D85-4535-9892-4BE14145C08F}"/>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34</a:t>
            </a:r>
          </a:p>
        </p:txBody>
      </p:sp>
      <p:sp>
        <p:nvSpPr>
          <p:cNvPr id="7" name="">
            <a:extLst xmlns:a="http://schemas.openxmlformats.org/drawingml/2006/main">
              <a:ext uri="{FF2B5EF4-FFF2-40B4-BE49-F238E27FC236}">
                <a16:creationId xmlns:a16="http://schemas.microsoft.com/office/drawing/2014/main" id="{1E8EEC9E-2618-4BE5-9647-8FDB8FB83F7D}"/>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F2A785D3-32CE-4E69-B7DA-F39F523F5F05}"/>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1</a:t>
            </a:r>
          </a:p>
        </p:txBody>
      </p:sp>
      <p:sp>
        <p:nvSpPr>
          <p:cNvPr id="9" name="">
            <a:extLst xmlns:a="http://schemas.openxmlformats.org/drawingml/2006/main">
              <a:ext uri="{FF2B5EF4-FFF2-40B4-BE49-F238E27FC236}">
                <a16:creationId xmlns:a16="http://schemas.microsoft.com/office/drawing/2014/main" id="{95EADF77-47DC-463D-95FE-C7CD7FEF88D1}"/>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9 g; less. The basis is per 100 g for both labels.</a:t>
            </a:r>
          </a:p>
        </p:txBody>
      </p:sp>
      <p:sp>
        <p:nvSpPr>
          <p:cNvPr id="10" name="">
            <a:extLst xmlns:a="http://schemas.openxmlformats.org/drawingml/2006/main">
              <a:ext uri="{FF2B5EF4-FFF2-40B4-BE49-F238E27FC236}">
                <a16:creationId xmlns:a16="http://schemas.microsoft.com/office/drawing/2014/main" id="{5C78899D-E32D-4411-B643-D7A10163A581}"/>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831A2CD7-8296-43DA-BA3F-DEF0EEA49E2E}"/>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2</a:t>
            </a:r>
          </a:p>
        </p:txBody>
      </p:sp>
      <p:sp>
        <p:nvSpPr>
          <p:cNvPr id="12" name="">
            <a:extLst xmlns:a="http://schemas.openxmlformats.org/drawingml/2006/main">
              <a:ext uri="{FF2B5EF4-FFF2-40B4-BE49-F238E27FC236}">
                <a16:creationId xmlns:a16="http://schemas.microsoft.com/office/drawing/2014/main" id="{0DF7FEB7-BA08-4603-9DFA-543E51845404}"/>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Sugar. Accept an equivalent spoken completion.</a:t>
            </a:r>
          </a:p>
        </p:txBody>
      </p:sp>
    </p:spTree>
    <p:extLst>
      <p:ext uri="{BB962C8B-B14F-4D97-AF65-F5344CB8AC3E}">
        <p14:creationId xmlns:p14="http://schemas.microsoft.com/office/powerpoint/2010/main" val="106388319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D8D9F2-9B45-444A-9F1F-51224CE18A5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924C6B-A5CB-4106-A4FF-2F2DBB3C101F}"/>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ticket: two small checks</a:t>
            </a:r>
          </a:p>
        </p:txBody>
      </p:sp>
      <p:sp>
        <p:nvSpPr>
          <p:cNvPr id="3" name="">
            <a:extLst xmlns:a="http://schemas.openxmlformats.org/drawingml/2006/main">
              <a:ext uri="{FF2B5EF4-FFF2-40B4-BE49-F238E27FC236}">
                <a16:creationId xmlns:a16="http://schemas.microsoft.com/office/drawing/2014/main" id="{8118A0EB-632A-4B98-9D69-387104641F7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CCA61F49-6113-4757-A008-16DEEDC70A33}"/>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a:t>
            </a:r>
          </a:p>
        </p:txBody>
      </p:sp>
      <p:sp>
        <p:nvSpPr>
          <p:cNvPr id="5" name="">
            <a:extLst xmlns:a="http://schemas.openxmlformats.org/drawingml/2006/main">
              <a:ext uri="{FF2B5EF4-FFF2-40B4-BE49-F238E27FC236}">
                <a16:creationId xmlns:a16="http://schemas.microsoft.com/office/drawing/2014/main" id="{7B09A522-B7D5-480C-9347-DA23FA13887A}"/>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C845F225-7AE2-4B35-A945-54038A3D9D8A}"/>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35</a:t>
            </a:r>
          </a:p>
        </p:txBody>
      </p:sp>
      <p:sp>
        <p:nvSpPr>
          <p:cNvPr id="7" name="">
            <a:extLst xmlns:a="http://schemas.openxmlformats.org/drawingml/2006/main">
              <a:ext uri="{FF2B5EF4-FFF2-40B4-BE49-F238E27FC236}">
                <a16:creationId xmlns:a16="http://schemas.microsoft.com/office/drawing/2014/main" id="{CDBA78D8-DA00-4E65-ABA6-FA8ABB5F43F1}"/>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B8BB9DA0-2C10-4471-A45A-A8D115452730}"/>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Which label has less sugar per 100 g?</a:t>
            </a:r>
          </a:p>
        </p:txBody>
      </p:sp>
      <p:sp>
        <p:nvSpPr>
          <p:cNvPr id="9" name="">
            <a:extLst xmlns:a="http://schemas.openxmlformats.org/drawingml/2006/main">
              <a:ext uri="{FF2B5EF4-FFF2-40B4-BE49-F238E27FC236}">
                <a16:creationId xmlns:a16="http://schemas.microsoft.com/office/drawing/2014/main" id="{85CAC6C0-1EDC-4DE9-8B26-878595B6EC31}"/>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B: 9 g per 100 g</a:t>
            </a:r>
          </a:p>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C: 14 g per 100 g</a:t>
            </a:r>
          </a:p>
        </p:txBody>
      </p:sp>
      <p:sp>
        <p:nvSpPr>
          <p:cNvPr id="10" name="">
            <a:extLst xmlns:a="http://schemas.openxmlformats.org/drawingml/2006/main">
              <a:ext uri="{FF2B5EF4-FFF2-40B4-BE49-F238E27FC236}">
                <a16:creationId xmlns:a16="http://schemas.microsoft.com/office/drawing/2014/main" id="{44571F53-8C74-44CB-9A3B-E81D0382651C}"/>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C39A55AF-85A2-4802-A70F-4000544D4836}"/>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What do these numbers tell us?</a:t>
            </a:r>
          </a:p>
        </p:txBody>
      </p:sp>
      <p:sp>
        <p:nvSpPr>
          <p:cNvPr id="12" name="">
            <a:extLst xmlns:a="http://schemas.openxmlformats.org/drawingml/2006/main">
              <a:ext uri="{FF2B5EF4-FFF2-40B4-BE49-F238E27FC236}">
                <a16:creationId xmlns:a16="http://schemas.microsoft.com/office/drawing/2014/main" id="{4A22A7D2-BFFB-4E8D-8A79-C617996C0071}"/>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The amount of sugar</a:t>
            </a:r>
          </a:p>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Everything about the food</a:t>
            </a:r>
          </a:p>
        </p:txBody>
      </p:sp>
    </p:spTree>
    <p:extLst>
      <p:ext uri="{BB962C8B-B14F-4D97-AF65-F5344CB8AC3E}">
        <p14:creationId xmlns:p14="http://schemas.microsoft.com/office/powerpoint/2010/main" val="169088515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0364052-EE08-49C5-A58B-770DD245F20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4A306D-37F6-419E-9F63-CF17EBABA98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answer guidance</a:t>
            </a:r>
          </a:p>
        </p:txBody>
      </p:sp>
      <p:sp>
        <p:nvSpPr>
          <p:cNvPr id="3" name="">
            <a:extLst xmlns:a="http://schemas.openxmlformats.org/drawingml/2006/main">
              <a:ext uri="{FF2B5EF4-FFF2-40B4-BE49-F238E27FC236}">
                <a16:creationId xmlns:a16="http://schemas.microsoft.com/office/drawing/2014/main" id="{4AB773E7-44F1-44F2-8583-A1B42C317B3B}"/>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0E7128E9-D80D-47CC-9732-46DF6A3AD5B1}"/>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Supported</a:t>
            </a:r>
          </a:p>
        </p:txBody>
      </p:sp>
      <p:sp>
        <p:nvSpPr>
          <p:cNvPr id="5" name="">
            <a:extLst xmlns:a="http://schemas.openxmlformats.org/drawingml/2006/main">
              <a:ext uri="{FF2B5EF4-FFF2-40B4-BE49-F238E27FC236}">
                <a16:creationId xmlns:a16="http://schemas.microsoft.com/office/drawing/2014/main" id="{B33984EF-04CD-422C-A27E-8A1AC9DD2C9C}"/>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43B6B0E2-6590-44A3-A3C3-0E03D9785111}"/>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36</a:t>
            </a:r>
          </a:p>
        </p:txBody>
      </p:sp>
      <p:sp>
        <p:nvSpPr>
          <p:cNvPr id="7" name="">
            <a:extLst xmlns:a="http://schemas.openxmlformats.org/drawingml/2006/main">
              <a:ext uri="{FF2B5EF4-FFF2-40B4-BE49-F238E27FC236}">
                <a16:creationId xmlns:a16="http://schemas.microsoft.com/office/drawing/2014/main" id="{9C0646D4-5F5C-43E6-8BF6-628AB70ADE8F}"/>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A615D23A-4B14-4EE5-97BD-3F781564C891}"/>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1</a:t>
            </a:r>
          </a:p>
        </p:txBody>
      </p:sp>
      <p:sp>
        <p:nvSpPr>
          <p:cNvPr id="9" name="">
            <a:extLst xmlns:a="http://schemas.openxmlformats.org/drawingml/2006/main">
              <a:ext uri="{FF2B5EF4-FFF2-40B4-BE49-F238E27FC236}">
                <a16:creationId xmlns:a16="http://schemas.microsoft.com/office/drawing/2014/main" id="{27076DC9-20E6-4621-A7F8-E4973E606B00}"/>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B: 9 g sugars per 100 g, less than C at 14 g. Pointing to the complete B value is enough.</a:t>
            </a:r>
          </a:p>
        </p:txBody>
      </p:sp>
      <p:sp>
        <p:nvSpPr>
          <p:cNvPr id="10" name="">
            <a:extLst xmlns:a="http://schemas.openxmlformats.org/drawingml/2006/main">
              <a:ext uri="{FF2B5EF4-FFF2-40B4-BE49-F238E27FC236}">
                <a16:creationId xmlns:a16="http://schemas.microsoft.com/office/drawing/2014/main" id="{034D483A-DC99-4067-92D3-FA4B98EE978F}"/>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EB09D2E6-E081-45AD-948B-903DF0C8DC0D}"/>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2</a:t>
            </a:r>
          </a:p>
        </p:txBody>
      </p:sp>
      <p:sp>
        <p:nvSpPr>
          <p:cNvPr id="12" name="">
            <a:extLst xmlns:a="http://schemas.openxmlformats.org/drawingml/2006/main">
              <a:ext uri="{FF2B5EF4-FFF2-40B4-BE49-F238E27FC236}">
                <a16:creationId xmlns:a16="http://schemas.microsoft.com/office/drawing/2014/main" id="{B702AC76-1AC8-4CA7-8283-5D3417034C03}"/>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The amount of sugar. These figures do not describe everything about the food.</a:t>
            </a:r>
          </a:p>
        </p:txBody>
      </p:sp>
    </p:spTree>
    <p:extLst>
      <p:ext uri="{BB962C8B-B14F-4D97-AF65-F5344CB8AC3E}">
        <p14:creationId xmlns:p14="http://schemas.microsoft.com/office/powerpoint/2010/main" val="37533353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EB75C6-E5FE-4A9D-9FC0-D7A177054E8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FB2D53-BFD5-4D16-9340-C8CFF67138B2}"/>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ticket: two small checks</a:t>
            </a:r>
          </a:p>
        </p:txBody>
      </p:sp>
      <p:sp>
        <p:nvSpPr>
          <p:cNvPr id="3" name="">
            <a:extLst xmlns:a="http://schemas.openxmlformats.org/drawingml/2006/main">
              <a:ext uri="{FF2B5EF4-FFF2-40B4-BE49-F238E27FC236}">
                <a16:creationId xmlns:a16="http://schemas.microsoft.com/office/drawing/2014/main" id="{4AE4F2A3-624C-4901-A561-8A5433D2E076}"/>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EE5E9540-654D-4820-BC94-7E98FFBD3351}"/>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a:t>
            </a:r>
          </a:p>
        </p:txBody>
      </p:sp>
      <p:sp>
        <p:nvSpPr>
          <p:cNvPr id="5" name="">
            <a:extLst xmlns:a="http://schemas.openxmlformats.org/drawingml/2006/main">
              <a:ext uri="{FF2B5EF4-FFF2-40B4-BE49-F238E27FC236}">
                <a16:creationId xmlns:a16="http://schemas.microsoft.com/office/drawing/2014/main" id="{1EBD84A0-4922-4D6F-B32E-6C195B329C15}"/>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EF437761-77D4-4879-A438-0C6FA266792F}"/>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37</a:t>
            </a:r>
          </a:p>
        </p:txBody>
      </p:sp>
      <p:sp>
        <p:nvSpPr>
          <p:cNvPr id="7" name="">
            <a:extLst xmlns:a="http://schemas.openxmlformats.org/drawingml/2006/main">
              <a:ext uri="{FF2B5EF4-FFF2-40B4-BE49-F238E27FC236}">
                <a16:creationId xmlns:a16="http://schemas.microsoft.com/office/drawing/2014/main" id="{3865D5FC-E2FA-4D9B-B331-F5E26A85E071}"/>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C8FC56D8-C9D4-4D01-9410-526323D869EF}"/>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Put E on the same basis</a:t>
            </a:r>
          </a:p>
        </p:txBody>
      </p:sp>
      <p:sp>
        <p:nvSpPr>
          <p:cNvPr id="9" name="">
            <a:extLst xmlns:a="http://schemas.openxmlformats.org/drawingml/2006/main">
              <a:ext uri="{FF2B5EF4-FFF2-40B4-BE49-F238E27FC236}">
                <a16:creationId xmlns:a16="http://schemas.microsoft.com/office/drawing/2014/main" id="{88482DC6-77B8-4D3C-9B7E-0B9859562F52}"/>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E has 3 g sugars per 25 g serving. Four servings make 100 g. E has 6 / 12 / 24 g sugars per 100 g. Compare with B at 9 g.</a:t>
            </a:r>
          </a:p>
        </p:txBody>
      </p:sp>
      <p:sp>
        <p:nvSpPr>
          <p:cNvPr id="10" name="">
            <a:extLst xmlns:a="http://schemas.openxmlformats.org/drawingml/2006/main">
              <a:ext uri="{FF2B5EF4-FFF2-40B4-BE49-F238E27FC236}">
                <a16:creationId xmlns:a16="http://schemas.microsoft.com/office/drawing/2014/main" id="{5A503D90-3E3D-441F-B1CA-D939CB945AFA}"/>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FFBEA"/>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0E7E039E-DDCE-43F2-888B-7DBA6DEF2162}"/>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What else would you need to know?</a:t>
            </a:r>
          </a:p>
        </p:txBody>
      </p:sp>
      <p:sp>
        <p:nvSpPr>
          <p:cNvPr id="12" name="">
            <a:extLst xmlns:a="http://schemas.openxmlformats.org/drawingml/2006/main">
              <a:ext uri="{FF2B5EF4-FFF2-40B4-BE49-F238E27FC236}">
                <a16:creationId xmlns:a16="http://schemas.microsoft.com/office/drawing/2014/main" id="{A42CF44E-B550-4F29-A611-0E5EBADAD72C}"/>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Other nutrient amounts / The label font</a:t>
            </a:r>
          </a:p>
          <a:p xmlns:a="http://schemas.openxmlformats.org/drawingml/2006/main">
            <a:pPr>
              <a:defRPr sz="2100" b="0">
                <a:solidFill>
                  <a:srgbClr val="1F2937"/>
                </a:solidFill>
                <a:latin typeface="DejaVu Sans"/>
                <a:ea typeface="DejaVu Sans"/>
                <a:cs typeface="DejaVu Sans"/>
              </a:defRPr>
            </a:pPr>
            <a:r>
              <a:rPr sz="2100" b="0">
                <a:solidFill>
                  <a:srgbClr val="1F2937"/>
                </a:solidFill>
                <a:latin typeface="DejaVu Sans"/>
                <a:ea typeface="DejaVu Sans"/>
                <a:cs typeface="DejaVu Sans"/>
              </a:rPr>
              <a:t>Or say or write your own relevant example.</a:t>
            </a:r>
          </a:p>
        </p:txBody>
      </p:sp>
    </p:spTree>
    <p:extLst>
      <p:ext uri="{BB962C8B-B14F-4D97-AF65-F5344CB8AC3E}">
        <p14:creationId xmlns:p14="http://schemas.microsoft.com/office/powerpoint/2010/main" val="925867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943D52-603E-4F14-AAA7-4A289615DBE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CA3E04-019D-488E-979A-B7B6FB83381E}"/>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Exit: answer guidance</a:t>
            </a:r>
          </a:p>
        </p:txBody>
      </p:sp>
      <p:sp>
        <p:nvSpPr>
          <p:cNvPr id="3" name="">
            <a:extLst xmlns:a="http://schemas.openxmlformats.org/drawingml/2006/main">
              <a:ext uri="{FF2B5EF4-FFF2-40B4-BE49-F238E27FC236}">
                <a16:creationId xmlns:a16="http://schemas.microsoft.com/office/drawing/2014/main" id="{F3013DA5-432C-4C4E-8D4F-1D35C99B3624}"/>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9A7D3ABB-2215-4935-8B49-D1344CB680AD}"/>
              </a:ext>
            </a:extLst>
          </p:cNvPr>
          <p:cNvSpPr>
            <a:spLocks xmlns:a="http://schemas.openxmlformats.org/drawingml/2006/main" noGrp="1"/>
          </p:cNvSpPr>
          <p:nvPr/>
        </p:nvSpPr>
        <p:spPr>
          <a:xfrm xmlns:a="http://schemas.openxmlformats.org/drawingml/2006/main">
            <a:off x="8267700" y="1123950"/>
            <a:ext cx="346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Stretch</a:t>
            </a:r>
          </a:p>
        </p:txBody>
      </p:sp>
      <p:sp>
        <p:nvSpPr>
          <p:cNvPr id="5" name="">
            <a:extLst xmlns:a="http://schemas.openxmlformats.org/drawingml/2006/main">
              <a:ext uri="{FF2B5EF4-FFF2-40B4-BE49-F238E27FC236}">
                <a16:creationId xmlns:a16="http://schemas.microsoft.com/office/drawing/2014/main" id="{992C1EAA-5BBA-4725-AB40-E573A9B08BA2}"/>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6" name="">
            <a:extLst xmlns:a="http://schemas.openxmlformats.org/drawingml/2006/main">
              <a:ext uri="{FF2B5EF4-FFF2-40B4-BE49-F238E27FC236}">
                <a16:creationId xmlns:a16="http://schemas.microsoft.com/office/drawing/2014/main" id="{B7D6C0C5-B6AC-40ED-A4CA-1B8B9BF96B46}"/>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38</a:t>
            </a:r>
          </a:p>
        </p:txBody>
      </p:sp>
      <p:sp>
        <p:nvSpPr>
          <p:cNvPr id="7" name="">
            <a:extLst xmlns:a="http://schemas.openxmlformats.org/drawingml/2006/main">
              <a:ext uri="{FF2B5EF4-FFF2-40B4-BE49-F238E27FC236}">
                <a16:creationId xmlns:a16="http://schemas.microsoft.com/office/drawing/2014/main" id="{093E320B-E647-4989-B86F-23D3AB0512F2}"/>
              </a:ext>
            </a:extLst>
          </p:cNvPr>
          <p:cNvSpPr>
            <a:spLocks xmlns:a="http://schemas.openxmlformats.org/drawingml/2006/main" noGrp="1"/>
          </p:cNvSpPr>
          <p:nvPr/>
        </p:nvSpPr>
        <p:spPr>
          <a:xfrm xmlns:a="http://schemas.openxmlformats.org/drawingml/2006/main">
            <a:off x="457200" y="156210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8" name="">
            <a:extLst xmlns:a="http://schemas.openxmlformats.org/drawingml/2006/main">
              <a:ext uri="{FF2B5EF4-FFF2-40B4-BE49-F238E27FC236}">
                <a16:creationId xmlns:a16="http://schemas.microsoft.com/office/drawing/2014/main" id="{7E92AA17-9411-45D7-849B-7C54A0EAFF9C}"/>
              </a:ext>
            </a:extLst>
          </p:cNvPr>
          <p:cNvSpPr>
            <a:spLocks xmlns:a="http://schemas.openxmlformats.org/drawingml/2006/main" noGrp="1"/>
          </p:cNvSpPr>
          <p:nvPr/>
        </p:nvSpPr>
        <p:spPr>
          <a:xfrm xmlns:a="http://schemas.openxmlformats.org/drawingml/2006/main">
            <a:off x="609600" y="1676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1</a:t>
            </a:r>
          </a:p>
        </p:txBody>
      </p:sp>
      <p:sp>
        <p:nvSpPr>
          <p:cNvPr id="9" name="">
            <a:extLst xmlns:a="http://schemas.openxmlformats.org/drawingml/2006/main">
              <a:ext uri="{FF2B5EF4-FFF2-40B4-BE49-F238E27FC236}">
                <a16:creationId xmlns:a16="http://schemas.microsoft.com/office/drawing/2014/main" id="{396C3386-2BF2-4C3D-981F-1D8D682954E5}"/>
              </a:ext>
            </a:extLst>
          </p:cNvPr>
          <p:cNvSpPr>
            <a:spLocks xmlns:a="http://schemas.openxmlformats.org/drawingml/2006/main" noGrp="1"/>
          </p:cNvSpPr>
          <p:nvPr/>
        </p:nvSpPr>
        <p:spPr>
          <a:xfrm xmlns:a="http://schemas.openxmlformats.org/drawingml/2006/main">
            <a:off x="609600" y="208597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12 g sugars per 100 g; more sugar than B at 9 g. Four 25 g servings make 100 g, so 3 × 4 = 12.</a:t>
            </a:r>
          </a:p>
        </p:txBody>
      </p:sp>
      <p:sp>
        <p:nvSpPr>
          <p:cNvPr id="10" name="">
            <a:extLst xmlns:a="http://schemas.openxmlformats.org/drawingml/2006/main">
              <a:ext uri="{FF2B5EF4-FFF2-40B4-BE49-F238E27FC236}">
                <a16:creationId xmlns:a16="http://schemas.microsoft.com/office/drawing/2014/main" id="{E896691E-09E9-485D-AB5C-6F75FD4A51A6}"/>
              </a:ext>
            </a:extLst>
          </p:cNvPr>
          <p:cNvSpPr>
            <a:spLocks xmlns:a="http://schemas.openxmlformats.org/drawingml/2006/main" noGrp="1"/>
          </p:cNvSpPr>
          <p:nvPr/>
        </p:nvSpPr>
        <p:spPr>
          <a:xfrm xmlns:a="http://schemas.openxmlformats.org/drawingml/2006/main">
            <a:off x="457200" y="3905250"/>
            <a:ext cx="11277600" cy="2190750"/>
          </a:xfrm>
          <a:prstGeom xmlns:a="http://schemas.openxmlformats.org/drawingml/2006/main" prst="roundRect">
            <a:avLst>
              <a:gd name="adj" fmla="val 5217"/>
            </a:avLst>
          </a:prstGeom>
          <a:solidFill xmlns:a="http://schemas.openxmlformats.org/drawingml/2006/main">
            <a:srgbClr val="F0FDF4"/>
          </a:solidFill>
          <a:ln xmlns:a="http://schemas.openxmlformats.org/drawingml/2006/main" w="14288">
            <a:solidFill>
              <a:srgbClr val="A16207"/>
            </a:solidFill>
          </a:ln>
        </p:spPr>
      </p:sp>
      <p:sp>
        <p:nvSpPr>
          <p:cNvPr id="11" name="">
            <a:extLst xmlns:a="http://schemas.openxmlformats.org/drawingml/2006/main">
              <a:ext uri="{FF2B5EF4-FFF2-40B4-BE49-F238E27FC236}">
                <a16:creationId xmlns:a16="http://schemas.microsoft.com/office/drawing/2014/main" id="{79E69C19-8724-4368-A491-32975497F444}"/>
              </a:ext>
            </a:extLst>
          </p:cNvPr>
          <p:cNvSpPr>
            <a:spLocks xmlns:a="http://schemas.openxmlformats.org/drawingml/2006/main" noGrp="1"/>
          </p:cNvSpPr>
          <p:nvPr/>
        </p:nvSpPr>
        <p:spPr>
          <a:xfrm xmlns:a="http://schemas.openxmlformats.org/drawingml/2006/main">
            <a:off x="609600" y="4019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6207"/>
                </a:solidFill>
                <a:latin typeface="DejaVu Sans"/>
                <a:ea typeface="DejaVu Sans"/>
                <a:cs typeface="DejaVu Sans"/>
              </a:defRPr>
            </a:pPr>
            <a:r>
              <a:rPr sz="1875" b="1">
                <a:solidFill>
                  <a:srgbClr val="A16207"/>
                </a:solidFill>
                <a:latin typeface="DejaVu Sans"/>
                <a:ea typeface="DejaVu Sans"/>
                <a:cs typeface="DejaVu Sans"/>
              </a:rPr>
              <a:t>Check 2</a:t>
            </a:r>
          </a:p>
        </p:txBody>
      </p:sp>
      <p:sp>
        <p:nvSpPr>
          <p:cNvPr id="12" name="">
            <a:extLst xmlns:a="http://schemas.openxmlformats.org/drawingml/2006/main">
              <a:ext uri="{FF2B5EF4-FFF2-40B4-BE49-F238E27FC236}">
                <a16:creationId xmlns:a16="http://schemas.microsoft.com/office/drawing/2014/main" id="{8B74E726-D770-448F-AE5E-88BAC29138FA}"/>
              </a:ext>
            </a:extLst>
          </p:cNvPr>
          <p:cNvSpPr>
            <a:spLocks xmlns:a="http://schemas.openxmlformats.org/drawingml/2006/main" noGrp="1"/>
          </p:cNvSpPr>
          <p:nvPr/>
        </p:nvSpPr>
        <p:spPr>
          <a:xfrm xmlns:a="http://schemas.openxmlformats.org/drawingml/2006/main">
            <a:off x="609600" y="4429125"/>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F2937"/>
                </a:solidFill>
                <a:latin typeface="DejaVu Sans"/>
                <a:ea typeface="DejaVu Sans"/>
                <a:cs typeface="DejaVu Sans"/>
              </a:defRPr>
            </a:pPr>
            <a:r>
              <a:rPr sz="2175" b="0">
                <a:solidFill>
                  <a:srgbClr val="1F2937"/>
                </a:solidFill>
                <a:latin typeface="DejaVu Sans"/>
                <a:ea typeface="DejaVu Sans"/>
                <a:cs typeface="DejaVu Sans"/>
              </a:rPr>
              <a:t>Other nutrient amounts. Also accept a relevant own example, such as actual portion, other nutrients, individual needs or the wider eating pattern. The label font is not nutrition evidence.</a:t>
            </a:r>
          </a:p>
        </p:txBody>
      </p:sp>
    </p:spTree>
    <p:extLst>
      <p:ext uri="{BB962C8B-B14F-4D97-AF65-F5344CB8AC3E}">
        <p14:creationId xmlns:p14="http://schemas.microsoft.com/office/powerpoint/2010/main" val="84439456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BC3368-1A09-48C1-8DEB-1BD835CCE2B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9C27B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8C1D2D-C230-46B6-BAD5-DDD87C60DF47}"/>
              </a:ext>
            </a:extLst>
          </p:cNvPr>
          <p:cNvSpPr>
            <a:spLocks xmlns:a="http://schemas.openxmlformats.org/drawingml/2006/main" noGrp="1"/>
          </p:cNvSpPr>
          <p:nvPr/>
        </p:nvSpPr>
        <p:spPr>
          <a:xfrm xmlns:a="http://schemas.openxmlformats.org/drawingml/2006/main">
            <a:off x="457200" y="4000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C27B0"/>
                </a:solidFill>
                <a:latin typeface="DejaVu Sans"/>
                <a:ea typeface="DejaVu Sans"/>
                <a:cs typeface="DejaVu Sans"/>
              </a:defRPr>
            </a:pPr>
            <a:r>
              <a:rPr sz="3150" b="1">
                <a:solidFill>
                  <a:srgbClr val="9C27B0"/>
                </a:solidFill>
                <a:latin typeface="DejaVu Sans"/>
                <a:ea typeface="DejaVu Sans"/>
                <a:cs typeface="DejaVu Sans"/>
              </a:rPr>
              <a:t>Next lesson: Body Science Checkpoint</a:t>
            </a:r>
          </a:p>
        </p:txBody>
      </p:sp>
      <p:sp>
        <p:nvSpPr>
          <p:cNvPr id="3" name="">
            <a:extLst xmlns:a="http://schemas.openxmlformats.org/drawingml/2006/main">
              <a:ext uri="{FF2B5EF4-FFF2-40B4-BE49-F238E27FC236}">
                <a16:creationId xmlns:a16="http://schemas.microsoft.com/office/drawing/2014/main" id="{0346AB9D-6073-49C1-A1AF-B6C4F72DA2BF}"/>
              </a:ext>
            </a:extLst>
          </p:cNvPr>
          <p:cNvSpPr>
            <a:spLocks xmlns:a="http://schemas.openxmlformats.org/drawingml/2006/main" noGrp="1"/>
          </p:cNvSpPr>
          <p:nvPr/>
        </p:nvSpPr>
        <p:spPr>
          <a:xfrm xmlns:a="http://schemas.openxmlformats.org/drawingml/2006/main">
            <a:off x="457200" y="1123950"/>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06D"/>
                </a:solidFill>
                <a:latin typeface="DejaVu Sans"/>
                <a:ea typeface="DejaVu Sans"/>
                <a:cs typeface="DejaVu Sans"/>
              </a:defRPr>
            </a:pPr>
            <a:r>
              <a:rPr sz="1500" b="0">
                <a:solidFill>
                  <a:srgbClr val="52606D"/>
                </a:solidFill>
                <a:latin typeface="DejaVu Sans"/>
                <a:ea typeface="DejaVu Sans"/>
                <a:cs typeface="DejaVu Sans"/>
              </a:rPr>
              <a:t>Exit · 4 min across this stage</a:t>
            </a:r>
          </a:p>
        </p:txBody>
      </p:sp>
      <p:sp>
        <p:nvSpPr>
          <p:cNvPr id="4" name="">
            <a:extLst xmlns:a="http://schemas.openxmlformats.org/drawingml/2006/main">
              <a:ext uri="{FF2B5EF4-FFF2-40B4-BE49-F238E27FC236}">
                <a16:creationId xmlns:a16="http://schemas.microsoft.com/office/drawing/2014/main" id="{1D07A08E-4177-487B-B845-BAEA6DC2289B}"/>
              </a:ext>
            </a:extLst>
          </p:cNvPr>
          <p:cNvSpPr>
            <a:spLocks xmlns:a="http://schemas.openxmlformats.org/drawingml/2006/main" noGrp="1"/>
          </p:cNvSpPr>
          <p:nvPr/>
        </p:nvSpPr>
        <p:spPr>
          <a:xfrm xmlns:a="http://schemas.openxmlformats.org/drawingml/2006/main">
            <a:off x="457200" y="641985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Made by Matt / BUILD Science / Sugar evidence</a:t>
            </a:r>
          </a:p>
        </p:txBody>
      </p:sp>
      <p:sp>
        <p:nvSpPr>
          <p:cNvPr id="5" name="">
            <a:extLst xmlns:a="http://schemas.openxmlformats.org/drawingml/2006/main">
              <a:ext uri="{FF2B5EF4-FFF2-40B4-BE49-F238E27FC236}">
                <a16:creationId xmlns:a16="http://schemas.microsoft.com/office/drawing/2014/main" id="{DE802D3A-B723-46C7-8E23-74538175B9F3}"/>
              </a:ext>
            </a:extLst>
          </p:cNvPr>
          <p:cNvSpPr>
            <a:spLocks xmlns:a="http://schemas.openxmlformats.org/drawingml/2006/main" noGrp="1"/>
          </p:cNvSpPr>
          <p:nvPr/>
        </p:nvSpPr>
        <p:spPr>
          <a:xfrm xmlns:a="http://schemas.openxmlformats.org/drawingml/2006/main">
            <a:off x="11049000" y="6419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06D"/>
                </a:solidFill>
                <a:latin typeface="DejaVu Sans"/>
                <a:ea typeface="DejaVu Sans"/>
                <a:cs typeface="DejaVu Sans"/>
              </a:defRPr>
            </a:pPr>
            <a:r>
              <a:rPr sz="1275" b="0">
                <a:solidFill>
                  <a:srgbClr val="52606D"/>
                </a:solidFill>
                <a:latin typeface="DejaVu Sans"/>
                <a:ea typeface="DejaVu Sans"/>
                <a:cs typeface="DejaVu Sans"/>
              </a:rPr>
              <a:t>39</a:t>
            </a:r>
          </a:p>
        </p:txBody>
      </p:sp>
      <p:sp>
        <p:nvSpPr>
          <p:cNvPr id="6" name="">
            <a:extLst xmlns:a="http://schemas.openxmlformats.org/drawingml/2006/main">
              <a:ext uri="{FF2B5EF4-FFF2-40B4-BE49-F238E27FC236}">
                <a16:creationId xmlns:a16="http://schemas.microsoft.com/office/drawing/2014/main" id="{E4F2E232-D553-40CD-B375-2764A2E10219}"/>
              </a:ext>
            </a:extLst>
          </p:cNvPr>
          <p:cNvSpPr>
            <a:spLocks xmlns:a="http://schemas.openxmlformats.org/drawingml/2006/main" noGrp="1"/>
          </p:cNvSpPr>
          <p:nvPr/>
        </p:nvSpPr>
        <p:spPr>
          <a:xfrm xmlns:a="http://schemas.openxmlformats.org/drawingml/2006/main">
            <a:off x="457200" y="2190750"/>
            <a:ext cx="11277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1F2937"/>
                </a:solidFill>
                <a:latin typeface="DejaVu Sans"/>
                <a:ea typeface="DejaVu Sans"/>
                <a:cs typeface="DejaVu Sans"/>
              </a:defRPr>
            </a:pPr>
            <a:r>
              <a:rPr sz="3375" b="0">
                <a:solidFill>
                  <a:srgbClr val="1F2937"/>
                </a:solidFill>
                <a:latin typeface="DejaVu Sans"/>
                <a:ea typeface="DejaVu Sans"/>
                <a:cs typeface="DejaVu Sans"/>
              </a:rPr>
              <a:t>What helped you read the whole sugar value today?</a:t>
            </a:r>
          </a:p>
        </p:txBody>
      </p:sp>
      <p:sp>
        <p:nvSpPr>
          <p:cNvPr id="7" name="">
            <a:extLst xmlns:a="http://schemas.openxmlformats.org/drawingml/2006/main">
              <a:ext uri="{FF2B5EF4-FFF2-40B4-BE49-F238E27FC236}">
                <a16:creationId xmlns:a16="http://schemas.microsoft.com/office/drawing/2014/main" id="{35C6A5F0-DDDC-4B26-A6DC-371456E4ECE4}"/>
              </a:ext>
            </a:extLst>
          </p:cNvPr>
          <p:cNvSpPr>
            <a:spLocks xmlns:a="http://schemas.openxmlformats.org/drawingml/2006/main" noGrp="1"/>
          </p:cNvSpPr>
          <p:nvPr/>
        </p:nvSpPr>
        <p:spPr>
          <a:xfrm xmlns:a="http://schemas.openxmlformats.org/drawingml/2006/main">
            <a:off x="457200" y="401955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7C3AED"/>
                </a:solidFill>
                <a:latin typeface="DejaVu Sans"/>
                <a:ea typeface="DejaVu Sans"/>
                <a:cs typeface="DejaVu Sans"/>
              </a:defRPr>
            </a:pPr>
            <a:r>
              <a:rPr sz="2850" b="1">
                <a:solidFill>
                  <a:srgbClr val="7C3AED"/>
                </a:solidFill>
                <a:latin typeface="DejaVu Sans"/>
                <a:ea typeface="DejaVu Sans"/>
                <a:cs typeface="DejaVu Sans"/>
              </a:rPr>
              <a:t>Number, unit and basis</a:t>
            </a:r>
          </a:p>
        </p:txBody>
      </p:sp>
    </p:spTree>
    <p:extLst>
      <p:ext uri="{BB962C8B-B14F-4D97-AF65-F5344CB8AC3E}">
        <p14:creationId xmlns:p14="http://schemas.microsoft.com/office/powerpoint/2010/main" val="1246644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2026-09-15T10:36:16.9590000Z</dcterms:created>
  <dcterms:modified xsi:type="dcterms:W3CDTF">2026-09-15T10:36:16.9590000Z</dcterms:modified>
</coreProperties>
</file>