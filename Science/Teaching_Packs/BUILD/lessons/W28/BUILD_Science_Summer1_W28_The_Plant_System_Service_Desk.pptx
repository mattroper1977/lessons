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b2c5bb0ba44d51" /><Relationship Type="http://schemas.openxmlformats.org/officeDocument/2006/relationships/extended-properties" Target="/docProps/app.xml" Id="R16d002f4638e4673" /><Relationship Type="http://schemas.openxmlformats.org/officeDocument/2006/relationships/officeDocument" Target="/ppt/presentation.xml" Id="R4c8f51ecd85143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64de927ae6437c"/>
  </p:sldMasterIdLst>
  <p:notesMasterIdLst>
    <p:notesMasterId xmlns:r="http://schemas.openxmlformats.org/officeDocument/2006/relationships" r:id="R5bbbee507e0343ec"/>
  </p:notesMasterIdLst>
  <p:sldIdLst>
    <p:sldId xmlns:r="http://schemas.openxmlformats.org/officeDocument/2006/relationships" id="256" r:id="Raebc297c94bf4ad1"/>
    <p:sldId xmlns:r="http://schemas.openxmlformats.org/officeDocument/2006/relationships" id="257" r:id="Rd042a433f59240e3"/>
    <p:sldId xmlns:r="http://schemas.openxmlformats.org/officeDocument/2006/relationships" id="258" r:id="Re4957991d80e49d5"/>
    <p:sldId xmlns:r="http://schemas.openxmlformats.org/officeDocument/2006/relationships" id="259" r:id="R85980219be5f4ae4"/>
    <p:sldId xmlns:r="http://schemas.openxmlformats.org/officeDocument/2006/relationships" id="260" r:id="R41f23b98939e4009"/>
    <p:sldId xmlns:r="http://schemas.openxmlformats.org/officeDocument/2006/relationships" id="261" r:id="R764f6c443b1244e8"/>
    <p:sldId xmlns:r="http://schemas.openxmlformats.org/officeDocument/2006/relationships" id="262" r:id="Ra0d60df3735a46f4"/>
    <p:sldId xmlns:r="http://schemas.openxmlformats.org/officeDocument/2006/relationships" id="263" r:id="R0344ac33d7b2452b"/>
    <p:sldId xmlns:r="http://schemas.openxmlformats.org/officeDocument/2006/relationships" id="264" r:id="R12a2aa9fec40429b"/>
    <p:sldId xmlns:r="http://schemas.openxmlformats.org/officeDocument/2006/relationships" id="265" r:id="R86c4837be6a54750"/>
    <p:sldId xmlns:r="http://schemas.openxmlformats.org/officeDocument/2006/relationships" id="266" r:id="R208091456aff4cfa"/>
    <p:sldId xmlns:r="http://schemas.openxmlformats.org/officeDocument/2006/relationships" id="267" r:id="R2c3434e9b5f34b7d"/>
    <p:sldId xmlns:r="http://schemas.openxmlformats.org/officeDocument/2006/relationships" id="268" r:id="R9653bff7f13b49e1"/>
    <p:sldId xmlns:r="http://schemas.openxmlformats.org/officeDocument/2006/relationships" id="269" r:id="Rf5f0dd6a37ab4e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574a20c4684a1e" /><Relationship Type="http://schemas.openxmlformats.org/officeDocument/2006/relationships/slideMaster" Target="/ppt/slideMasters/slideMaster1.xml" Id="Rca64de927ae6437c" /><Relationship Type="http://schemas.openxmlformats.org/officeDocument/2006/relationships/notesMaster" Target="/ppt/notesMasters/notesMaster1.xml" Id="R5bbbee507e0343ec" /><Relationship Type="http://schemas.openxmlformats.org/officeDocument/2006/relationships/presProps" Target="/ppt/presProps.xml" Id="R37be8083c98240a8" /><Relationship Type="http://schemas.openxmlformats.org/officeDocument/2006/relationships/tableStyles" Target="/ppt/tableStyles.xml" Id="Re5aa4ebf17434912" /><Relationship Type="http://schemas.openxmlformats.org/officeDocument/2006/relationships/slide" Target="/ppt/slides/slide1.xml" Id="Raebc297c94bf4ad1" /><Relationship Type="http://schemas.openxmlformats.org/officeDocument/2006/relationships/slide" Target="/ppt/slides/slide2.xml" Id="Rd042a433f59240e3" /><Relationship Type="http://schemas.openxmlformats.org/officeDocument/2006/relationships/slide" Target="/ppt/slides/slide3.xml" Id="Re4957991d80e49d5" /><Relationship Type="http://schemas.openxmlformats.org/officeDocument/2006/relationships/slide" Target="/ppt/slides/slide4.xml" Id="R85980219be5f4ae4" /><Relationship Type="http://schemas.openxmlformats.org/officeDocument/2006/relationships/slide" Target="/ppt/slides/slide5.xml" Id="R41f23b98939e4009" /><Relationship Type="http://schemas.openxmlformats.org/officeDocument/2006/relationships/slide" Target="/ppt/slides/slide6.xml" Id="R764f6c443b1244e8" /><Relationship Type="http://schemas.openxmlformats.org/officeDocument/2006/relationships/slide" Target="/ppt/slides/slide7.xml" Id="Ra0d60df3735a46f4" /><Relationship Type="http://schemas.openxmlformats.org/officeDocument/2006/relationships/slide" Target="/ppt/slides/slide8.xml" Id="R0344ac33d7b2452b" /><Relationship Type="http://schemas.openxmlformats.org/officeDocument/2006/relationships/slide" Target="/ppt/slides/slide9.xml" Id="R12a2aa9fec40429b" /><Relationship Type="http://schemas.openxmlformats.org/officeDocument/2006/relationships/slide" Target="/ppt/slides/slide10.xml" Id="R86c4837be6a54750" /><Relationship Type="http://schemas.openxmlformats.org/officeDocument/2006/relationships/slide" Target="/ppt/slides/slide11.xml" Id="R208091456aff4cfa" /><Relationship Type="http://schemas.openxmlformats.org/officeDocument/2006/relationships/slide" Target="/ppt/slides/slide12.xml" Id="R2c3434e9b5f34b7d" /><Relationship Type="http://schemas.openxmlformats.org/officeDocument/2006/relationships/slide" Target="/ppt/slides/slide13.xml" Id="R9653bff7f13b49e1" /><Relationship Type="http://schemas.openxmlformats.org/officeDocument/2006/relationships/slide" Target="/ppt/slides/slide14.xml" Id="Rf5f0dd6a37ab4e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ed4cd021084e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c8d7e541464da2" /><Relationship Type="http://schemas.openxmlformats.org/officeDocument/2006/relationships/notesMaster" Target="/ppt/notesMasters/notesMaster1.xml" Id="Rf661b8432cb446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5f35932cb949ef" /><Relationship Type="http://schemas.openxmlformats.org/officeDocument/2006/relationships/notesMaster" Target="/ppt/notesMasters/notesMaster1.xml" Id="R6b8923871cf443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42a9c5f6aa4b6e" /><Relationship Type="http://schemas.openxmlformats.org/officeDocument/2006/relationships/notesMaster" Target="/ppt/notesMasters/notesMaster1.xml" Id="R55aa3c5a10384d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bd7f2889064b6e" /><Relationship Type="http://schemas.openxmlformats.org/officeDocument/2006/relationships/notesMaster" Target="/ppt/notesMasters/notesMaster1.xml" Id="R99ccd6895abd4f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7b75438ac54f8e" /><Relationship Type="http://schemas.openxmlformats.org/officeDocument/2006/relationships/notesMaster" Target="/ppt/notesMasters/notesMaster1.xml" Id="R45cd8491a73b4b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137cd149364e6e" /><Relationship Type="http://schemas.openxmlformats.org/officeDocument/2006/relationships/notesMaster" Target="/ppt/notesMasters/notesMaster1.xml" Id="Rb70ac0235d4145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6bd08ada36438a" /><Relationship Type="http://schemas.openxmlformats.org/officeDocument/2006/relationships/notesMaster" Target="/ppt/notesMasters/notesMaster1.xml" Id="Rd89b2c37e01d4f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9da7357fdc4ce3" /><Relationship Type="http://schemas.openxmlformats.org/officeDocument/2006/relationships/notesMaster" Target="/ppt/notesMasters/notesMaster1.xml" Id="R5cc8cb0ffc3d4a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fe3da3d446495f" /><Relationship Type="http://schemas.openxmlformats.org/officeDocument/2006/relationships/notesMaster" Target="/ppt/notesMasters/notesMaster1.xml" Id="R7391b29af2e240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7bad2007e84200" /><Relationship Type="http://schemas.openxmlformats.org/officeDocument/2006/relationships/notesMaster" Target="/ppt/notesMasters/notesMaster1.xml" Id="R6f87031108b345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41dd55b6234a29" /><Relationship Type="http://schemas.openxmlformats.org/officeDocument/2006/relationships/notesMaster" Target="/ppt/notesMasters/notesMaster1.xml" Id="Re793983694cc4d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ee7c7d51ca42be" /><Relationship Type="http://schemas.openxmlformats.org/officeDocument/2006/relationships/notesMaster" Target="/ppt/notesMasters/notesMaster1.xml" Id="R58bcc11e92224f5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4d4aff669e4a81" /><Relationship Type="http://schemas.openxmlformats.org/officeDocument/2006/relationships/notesMaster" Target="/ppt/notesMasters/notesMaster1.xml" Id="R850b4da5e70e4a0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1c56d0635149b2" /><Relationship Type="http://schemas.openxmlformats.org/officeDocument/2006/relationships/notesMaster" Target="/ppt/notesMasters/notesMaster1.xml" Id="R9b3687ebffd04c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anthropomorphise a service desk into intention: “jobs” means biological functions.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water transport</a:t>
            </a:r>
          </a:p>
          <a:p xmlns:a="http://schemas.openxmlformats.org/drawingml/2006/main">
            <a:r>
              <a:t>https://www.saps.org.uk/growth-hub/plants-as-inspirational-contexts-2-water-transport-in-plants/</a:t>
            </a:r>
          </a:p>
          <a:p xmlns:a="http://schemas.openxmlformats.org/drawingml/2006/main">
            <a:r>
              <a:t>Checked 8 September 2026. Xylem transports water and dissolved minerals; evaporation from leaves contributes to pulling water upwards. Phloem sugar transport is distinct.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 roots. 2 stem. 3 flowers take part in seed formation. Accept an emerging answer without requiring pollination detail.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water transport</a:t>
            </a:r>
          </a:p>
          <a:p xmlns:a="http://schemas.openxmlformats.org/drawingml/2006/main">
            <a:r>
              <a:t>https://www.saps.org.uk/growth-hub/plants-as-inspirational-contexts-2-water-transport-in-plants/</a:t>
            </a:r>
          </a:p>
          <a:p xmlns:a="http://schemas.openxmlformats.org/drawingml/2006/main">
            <a:r>
              <a:t>Checked 8 September 2026. Xylem transports water and dissolved minerals; evaporation from leaves contributes to pulling water upwards. Phloem sugar transport is distinct.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7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“Water enters through the roots, but the leaves are higher up. I need a connecting pathway. Naming roots alone does not explain arrival at leaves.” Roots also anchor; arrows show selected water movement.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Schematic root system absorbs water with dissolved mineral nutrients from soil; selected arrows then lead upwards through the stem. Soil is not eaten as ready-made food.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water transport</a:t>
            </a:r>
          </a:p>
          <a:p xmlns:a="http://schemas.openxmlformats.org/drawingml/2006/main">
            <a:r>
              <a:t>https://www.saps.org.uk/growth-hub/plants-as-inspirational-contexts-2-water-transport-in-plants/</a:t>
            </a:r>
          </a:p>
          <a:p xmlns:a="http://schemas.openxmlformats.org/drawingml/2006/main">
            <a:r>
              <a:t>Checked 8 September 2026. Xylem transports water and dissolved minerals; evaporation from leaves contributes to pulling water upwards. Phloem sugar transport is distinct.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 do time. Think aloud: “I see water arriving, but sugar-making also needs light and carbon dioxide from air. Soil is not a meal the roots eat.” Oxygen is also produced; the simplified diagram focuses on the inputs and sugar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Simplified photosynthesis input-output model: light provides energy; water and carbon dioxide from air are used to make sugars in green leaves. Only selected inputs and the sugar output are shown; oxygen is also produced.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water transport</a:t>
            </a:r>
          </a:p>
          <a:p xmlns:a="http://schemas.openxmlformats.org/drawingml/2006/main">
            <a:r>
              <a:t>https://www.saps.org.uk/growth-hub/plants-as-inspirational-contexts-2-water-transport-in-plants/</a:t>
            </a:r>
          </a:p>
          <a:p xmlns:a="http://schemas.openxmlformats.org/drawingml/2006/main">
            <a:r>
              <a:t>Checked 8 September 2026. Xylem transports water and dissolved minerals; evaporation from leaves contributes to pulling water upwards. Phloem sugar transport is distinct.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 do time. Think aloud: “A bright colour may help attract some pollinators, but it is not the whole function. I connect the flower with forming seeds.” Not every flower succeeds; not all flowers are bright or insect-pollinated.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Simplified flowering-plant sequence: a flower can develop into a fruit containing seeds after successful pollination and fertilisation. A seed can later germinate under suitable conditions. Not every flower successfully forms seeds.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water transport</a:t>
            </a:r>
          </a:p>
          <a:p xmlns:a="http://schemas.openxmlformats.org/drawingml/2006/main">
            <a:r>
              <a:t>https://www.saps.org.uk/growth-hub/plants-as-inspirational-contexts-2-water-transport-in-plants/</a:t>
            </a:r>
          </a:p>
          <a:p xmlns:a="http://schemas.openxmlformats.org/drawingml/2006/main">
            <a:r>
              <a:t>Checked 8 September 2026. Xylem transports water and dissolved minerals; evaporation from leaves contributes to pulling water upwards. Phloem sugar transport is distinct.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W1: roots absorb/anchor; stem supports/transports; green leaves make sugars; flowers reproduction/seeds. Roles: explainer, evidence checker, connector. Rotate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water transport</a:t>
            </a:r>
          </a:p>
          <a:p xmlns:a="http://schemas.openxmlformats.org/drawingml/2006/main">
            <a:r>
              <a:t>https://www.saps.org.uk/growth-hub/plants-as-inspirational-contexts-2-water-transport-in-plants/</a:t>
            </a:r>
          </a:p>
          <a:p xmlns:a="http://schemas.openxmlformats.org/drawingml/2006/main">
            <a:r>
              <a:t>Checked 8 September 2026. Xylem transports water and dissolved minerals; evaporation from leaves contributes to pulling water upwards. Phloem sugar transport is distinct.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W2: E needs suitable light reaching leaves; more minerals alone cannot replace light. F needs transport through the stem. Never damage or deliberately shade a class plant to act out a fault.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A connected system needs suitable inputs and working pathways.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water transport</a:t>
            </a:r>
          </a:p>
          <a:p xmlns:a="http://schemas.openxmlformats.org/drawingml/2006/main">
            <a:r>
              <a:t>https://www.saps.org.uk/growth-hub/plants-as-inspirational-contexts-2-water-transport-in-plants/</a:t>
            </a:r>
          </a:p>
          <a:p xmlns:a="http://schemas.openxmlformats.org/drawingml/2006/main">
            <a:r>
              <a:t>Checked 8 September 2026. Xylem transports water and dissolved minerals; evaporation from leaves contributes to pulling water upwards. Phloem sugar transport is distinct.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Correct first option. If soil-food appears, revisit leafjob alongside rootjob.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Roots absorb water and minerals; green leaves make sugars using light.</a:t>
            </a:r>
          </a:p>
          <a:p xmlns:a="http://schemas.openxmlformats.org/drawingml/2006/main">
            <a:r>
              <a:t>Correct. This distinguishes uptake from sugar-making.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Roots eat soil, so leaves have no role.</a:t>
            </a:r>
          </a:p>
          <a:p xmlns:a="http://schemas.openxmlformats.org/drawingml/2006/main">
            <a:r>
              <a:t>Minerals and soil are not the plant’s ready-made sugars.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Flowers pump all water from the soil.</a:t>
            </a:r>
          </a:p>
          <a:p xmlns:a="http://schemas.openxmlformats.org/drawingml/2006/main">
            <a:r>
              <a:t>Roots take in water, which travels through stem pathways.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water transport</a:t>
            </a:r>
          </a:p>
          <a:p xmlns:a="http://schemas.openxmlformats.org/drawingml/2006/main">
            <a:r>
              <a:t>https://www.saps.org.uk/growth-hub/plants-as-inspirational-contexts-2-water-transport-in-plants/</a:t>
            </a:r>
          </a:p>
          <a:p xmlns:a="http://schemas.openxmlformats.org/drawingml/2006/main">
            <a:r>
              <a:t>Checked 8 September 2026. Xylem transports water and dissolved minerals; evaporation from leaves contributes to pulling water upwards. Phloem sugar transport is distinct.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ONE route. Use the same objective across routes. A successful connection includes an entry point and transport, or a photosynthesis input and sugar-making. Do not demand the full photosynthesis equation.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water transport</a:t>
            </a:r>
          </a:p>
          <a:p xmlns:a="http://schemas.openxmlformats.org/drawingml/2006/main">
            <a:r>
              <a:t>https://www.saps.org.uk/growth-hub/plants-as-inspirational-contexts-2-water-transport-in-plants/</a:t>
            </a:r>
          </a:p>
          <a:p xmlns:a="http://schemas.openxmlformats.org/drawingml/2006/main">
            <a:r>
              <a:t>Checked 8 September 2026. Xylem transports water and dissolved minerals; evaporation from leaves contributes to pulling water upwards. Phloem sugar transport is distinct.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same objective across routes. A successful connection includes an entry point and transport, or a photosynthesis input and sugar-making. Do not demand the full photosynthesis equation.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water transport</a:t>
            </a:r>
          </a:p>
          <a:p xmlns:a="http://schemas.openxmlformats.org/drawingml/2006/main">
            <a:r>
              <a:t>https://www.saps.org.uk/growth-hub/plants-as-inspirational-contexts-2-water-transport-in-plants/</a:t>
            </a:r>
          </a:p>
          <a:p xmlns:a="http://schemas.openxmlformats.org/drawingml/2006/main">
            <a:r>
              <a:t>Checked 8 September 2026. Xylem transports water and dissolved minerals; evaporation from leaves contributes to pulling water upwards. Phloem sugar transport is distinct.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independent time. Ask for a reason, not just a correct word. Use the same objective across routes. A successful connection includes an entry point and transport, or a photosynthesis input and sugar-making. Do not demand the full photosynthesis equation.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water transport</a:t>
            </a:r>
          </a:p>
          <a:p xmlns:a="http://schemas.openxmlformats.org/drawingml/2006/main">
            <a:r>
              <a:t>https://www.saps.org.uk/growth-hub/plants-as-inspirational-contexts-2-water-transport-in-plants/</a:t>
            </a:r>
          </a:p>
          <a:p xmlns:a="http://schemas.openxmlformats.org/drawingml/2006/main">
            <a:r>
              <a:t>Checked 8 September 2026. Xylem transports water and dissolved minerals; evaporation from leaves contributes to pulling water upwards. Phloem sugar transport is distinct.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Listen to a selected pupil revision and visibly adopt a scientifically accurate contribution. Offer private, written or partner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Parts have different functions and work together; water uptake is different from making sugars.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water transport</a:t>
            </a:r>
          </a:p>
          <a:p xmlns:a="http://schemas.openxmlformats.org/drawingml/2006/main">
            <a:r>
              <a:t>https://www.saps.org.uk/growth-hub/plants-as-inspirational-contexts-2-water-transport-in-plants/</a:t>
            </a:r>
          </a:p>
          <a:p xmlns:a="http://schemas.openxmlformats.org/drawingml/2006/main">
            <a:r>
              <a:t>Checked 8 September 2026. Xylem transports water and dissolved minerals; evaporation from leaves contributes to pulling water upwards. Phloem sugar transport is distinct.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review time. Name how a pupil contribution changed a label, method or conclusion. Do not rank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Parts have different functions and work together; water uptake is different from making sugars.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water transport</a:t>
            </a:r>
          </a:p>
          <a:p xmlns:a="http://schemas.openxmlformats.org/drawingml/2006/main">
            <a:r>
              <a:t>https://www.saps.org.uk/growth-hub/plants-as-inspirational-contexts-2-water-transport-in-plants/</a:t>
            </a:r>
          </a:p>
          <a:p xmlns:a="http://schemas.openxmlformats.org/drawingml/2006/main">
            <a:r>
              <a:t>Checked 8 September 2026. Xylem transports water and dissolved minerals; evaporation from leaves contributes to pulling water upwards. Phloem sugar transport is distinct.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Collect brief individual evidence. Use the answer key and re-teach the specified misconception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water transport</a:t>
            </a:r>
          </a:p>
          <a:p xmlns:a="http://schemas.openxmlformats.org/drawingml/2006/main">
            <a:r>
              <a:t>https://www.saps.org.uk/growth-hub/plants-as-inspirational-contexts-2-water-transport-in-plants/</a:t>
            </a:r>
          </a:p>
          <a:p xmlns:a="http://schemas.openxmlformats.org/drawingml/2006/main">
            <a:r>
              <a:t>Checked 8 September 2026. Xylem transports water and dissolved minerals; evaporation from leaves contributes to pulling water upwards. Phloem sugar transport is distinct.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0648b3e99443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51cf6922c14da5" /><Relationship Type="http://schemas.openxmlformats.org/officeDocument/2006/relationships/slideLayout" Target="/ppt/slideLayouts/slideLayout1.xml" Id="Re250a7fc9a184f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50a7fc9a184f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a7a675a3d451c" /><Relationship Type="http://schemas.openxmlformats.org/officeDocument/2006/relationships/notesSlide" Target="/ppt/notesSlides/notesSlide1.xml" Id="R5234c7740a5e43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2cf487d7f4f94" /><Relationship Type="http://schemas.openxmlformats.org/officeDocument/2006/relationships/notesSlide" Target="/ppt/notesSlides/notesSlide2.xml" Id="Ra8cc15b93dc542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9c925a6014154" /><Relationship Type="http://schemas.openxmlformats.org/officeDocument/2006/relationships/notesSlide" Target="/ppt/notesSlides/notesSlide3.xml" Id="Rf645f7b204c84f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5d0424aa44795" /><Relationship Type="http://schemas.openxmlformats.org/officeDocument/2006/relationships/notesSlide" Target="/ppt/notesSlides/notesSlide4.xml" Id="R521e63e9184246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872861d854383" /><Relationship Type="http://schemas.openxmlformats.org/officeDocument/2006/relationships/notesSlide" Target="/ppt/notesSlides/notesSlide5.xml" Id="R2404fe6c53f643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1123990fe43a0" /><Relationship Type="http://schemas.openxmlformats.org/officeDocument/2006/relationships/notesSlide" Target="/ppt/notesSlides/notesSlide6.xml" Id="R775dc41979f947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224a4068547a6" /><Relationship Type="http://schemas.openxmlformats.org/officeDocument/2006/relationships/notesSlide" Target="/ppt/notesSlides/notesSlide7.xml" Id="R62c565eeb89648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baae563954f18" /><Relationship Type="http://schemas.openxmlformats.org/officeDocument/2006/relationships/notesSlide" Target="/ppt/notesSlides/notesSlide8.xml" Id="R7481154abd6147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bae9c23104f20" /><Relationship Type="http://schemas.openxmlformats.org/officeDocument/2006/relationships/notesSlide" Target="/ppt/notesSlides/notesSlide9.xml" Id="R5b28f7a686154b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8cdfd48c741ae" /><Relationship Type="http://schemas.openxmlformats.org/officeDocument/2006/relationships/notesSlide" Target="/ppt/notesSlides/notesSlide10.xml" Id="Re9a3f76ef27a47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5159780fa46b0" /><Relationship Type="http://schemas.openxmlformats.org/officeDocument/2006/relationships/notesSlide" Target="/ppt/notesSlides/notesSlide11.xml" Id="R62ac2e328fd546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4bcd4b23f4745" /><Relationship Type="http://schemas.openxmlformats.org/officeDocument/2006/relationships/notesSlide" Target="/ppt/notesSlides/notesSlide12.xml" Id="Rc56dce3302b74b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45071c7c94373" /><Relationship Type="http://schemas.openxmlformats.org/officeDocument/2006/relationships/notesSlide" Target="/ppt/notesSlides/notesSlide13.xml" Id="Rb478760ede9444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865650c504828" /><Relationship Type="http://schemas.openxmlformats.org/officeDocument/2006/relationships/notesSlide" Target="/ppt/notesSlides/notesSlide14.xml" Id="R736cf87f6b9945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B2EAE16C-6EEF-4AD7-92E1-0BB8DBC0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D74213E-F017-4E25-BF61-3B9F481B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04255AE-11FB-4843-B1DE-23FDDC43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936345DC-8A45-47C0-B0B3-FAF2208F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6DF8E58B-0AED-4C0D-8C2F-B4150043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0FCBA392-2BD6-4302-9EA5-8D3FEF78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Can one plant part do every job?">
            <a:extLst xmlns:a="http://schemas.openxmlformats.org/drawingml/2006/main">
              <a:ext uri="{FF2B5EF4-FFF2-40B4-BE49-F238E27FC236}">
                <a16:creationId xmlns:a16="http://schemas.microsoft.com/office/drawing/2014/main" id="{AF6612E3-C5C9-4C48-B332-F7A562D0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Can one plant part do every job?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5F54363-1FDF-4B03-8141-5E7D9081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-system service desk">
            <a:extLst xmlns:a="http://schemas.openxmlformats.org/drawingml/2006/main">
              <a:ext uri="{FF2B5EF4-FFF2-40B4-BE49-F238E27FC236}">
                <a16:creationId xmlns:a16="http://schemas.microsoft.com/office/drawing/2014/main" id="{7A7053F4-0214-4340-9A06-6D67C106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plant-system service desk</a:t>
            </a:r>
          </a:p>
        </p:txBody>
      </p:sp>
      <p:sp>
        <p:nvSpPr>
          <p:cNvPr id="10" name="1 / 14">
            <a:extLst xmlns:a="http://schemas.openxmlformats.org/drawingml/2006/main">
              <a:ext uri="{FF2B5EF4-FFF2-40B4-BE49-F238E27FC236}">
                <a16:creationId xmlns:a16="http://schemas.microsoft.com/office/drawing/2014/main" id="{273A01D0-EF9F-4F24-AF30-2D324873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14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AB79C438-92C9-4DD6-BBCA-E6EBD105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5F94C743-5516-4844-9648-84FA9878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280F0C6B-A652-4E92-9BD1-34F23F9B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Explain how roots, stem, leaves and flowers contribute to the li">
            <a:extLst xmlns:a="http://schemas.openxmlformats.org/drawingml/2006/main">
              <a:ext uri="{FF2B5EF4-FFF2-40B4-BE49-F238E27FC236}">
                <a16:creationId xmlns:a16="http://schemas.microsoft.com/office/drawing/2014/main" id="{73010DD3-A565-4648-8262-827F1ECE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how roots, stem, leaves and flowers contribute to the life of a flowering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plant.</a:t>
            </a:r>
          </a:p>
        </p:txBody>
      </p:sp>
      <p:sp>
        <p:nvSpPr>
          <p:cNvPr id="15" name="Follow the work through the whole plant.">
            <a:extLst xmlns:a="http://schemas.openxmlformats.org/drawingml/2006/main">
              <a:ext uri="{FF2B5EF4-FFF2-40B4-BE49-F238E27FC236}">
                <a16:creationId xmlns:a16="http://schemas.microsoft.com/office/drawing/2014/main" id="{BF19A66B-756B-4C08-8463-09F09A8F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Follow the work through the whole plant.</a:t>
            </a:r>
          </a:p>
        </p:txBody>
      </p:sp>
    </p:spTree>
    <p:extLst>
      <p:ext uri="{BB962C8B-B14F-4D97-AF65-F5344CB8AC3E}">
        <p14:creationId xmlns:p14="http://schemas.microsoft.com/office/powerpoint/2010/main" val="10542823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537C8055-F635-4E93-9884-BE85E5EC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CFB2D2D-2804-456B-BADB-4E27037B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887949F-A8C4-4076-9176-E46D4A15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5D2790CD-41BA-47D4-A304-300960D9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22F9112F-D3B8-46D1-ADDB-1C6C13F6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CB2E0EC2-4559-4B69-9835-B1179358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Name the part before its function">
            <a:extLst xmlns:a="http://schemas.openxmlformats.org/drawingml/2006/main">
              <a:ext uri="{FF2B5EF4-FFF2-40B4-BE49-F238E27FC236}">
                <a16:creationId xmlns:a16="http://schemas.microsoft.com/office/drawing/2014/main" id="{5690AADF-5948-479C-8CC1-C8037969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Name the part before its function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48998532-3C46-4BF6-A300-DC3C181B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-system service desk">
            <a:extLst xmlns:a="http://schemas.openxmlformats.org/drawingml/2006/main">
              <a:ext uri="{FF2B5EF4-FFF2-40B4-BE49-F238E27FC236}">
                <a16:creationId xmlns:a16="http://schemas.microsoft.com/office/drawing/2014/main" id="{988C14C7-CF86-4226-91C2-E1003537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plant-system service desk</a:t>
            </a:r>
          </a:p>
        </p:txBody>
      </p:sp>
      <p:sp>
        <p:nvSpPr>
          <p:cNvPr id="10" name="2 / 14">
            <a:extLst xmlns:a="http://schemas.openxmlformats.org/drawingml/2006/main">
              <a:ext uri="{FF2B5EF4-FFF2-40B4-BE49-F238E27FC236}">
                <a16:creationId xmlns:a16="http://schemas.microsoft.com/office/drawing/2014/main" id="{46D842AC-5539-4B59-AC3E-C1AF2021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14</a:t>
            </a:r>
          </a:p>
        </p:txBody>
      </p:sp>
      <p:sp>
        <p:nvSpPr>
          <p:cNvPr id="11" name="1. Which part branches below soil?">
            <a:extLst xmlns:a="http://schemas.openxmlformats.org/drawingml/2006/main">
              <a:ext uri="{FF2B5EF4-FFF2-40B4-BE49-F238E27FC236}">
                <a16:creationId xmlns:a16="http://schemas.microsoft.com/office/drawing/2014/main" id="{A623D318-7C61-472D-8CF9-33BC7E56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1. Which part branches below soil?</a:t>
            </a:r>
          </a:p>
        </p:txBody>
      </p:sp>
      <p:sp>
        <p:nvSpPr>
          <p:cNvPr id="12" name="2. Which part holds leaves?">
            <a:extLst xmlns:a="http://schemas.openxmlformats.org/drawingml/2006/main">
              <a:ext uri="{FF2B5EF4-FFF2-40B4-BE49-F238E27FC236}">
                <a16:creationId xmlns:a16="http://schemas.microsoft.com/office/drawing/2014/main" id="{DC3294DD-E7D3-4DA1-A2D4-EF9C3858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2. Which part holds leaves?</a:t>
            </a:r>
          </a:p>
        </p:txBody>
      </p:sp>
      <p:sp>
        <p:nvSpPr>
          <p:cNvPr id="13" name="3. Which structure can form seeds?">
            <a:extLst xmlns:a="http://schemas.openxmlformats.org/drawingml/2006/main">
              <a:ext uri="{FF2B5EF4-FFF2-40B4-BE49-F238E27FC236}">
                <a16:creationId xmlns:a16="http://schemas.microsoft.com/office/drawing/2014/main" id="{2344A1A4-B6E4-4F01-836D-A76E460D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3. Which structure can form seeds?</a:t>
            </a:r>
          </a:p>
        </p:txBody>
      </p:sp>
    </p:spTree>
    <p:extLst>
      <p:ext uri="{BB962C8B-B14F-4D97-AF65-F5344CB8AC3E}">
        <p14:creationId xmlns:p14="http://schemas.microsoft.com/office/powerpoint/2010/main" val="6069525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C936736E-A481-422E-8ECF-9AC3C99F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BB154F8-9C57-4F83-BFEC-35ABCE96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4C08CFE-0C6A-4B78-A7B7-1CDA775D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27070999-8C14-4F20-9F45-7EE462CF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B54C9910-F33A-45E8-ACFF-1411E4F5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7 min">
            <a:extLst xmlns:a="http://schemas.openxmlformats.org/drawingml/2006/main">
              <a:ext uri="{FF2B5EF4-FFF2-40B4-BE49-F238E27FC236}">
                <a16:creationId xmlns:a16="http://schemas.microsoft.com/office/drawing/2014/main" id="{115FD1D6-2D5E-486D-AEE6-A49BBB9F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7 min</a:t>
            </a:r>
          </a:p>
        </p:txBody>
      </p:sp>
      <p:sp>
        <p:nvSpPr>
          <p:cNvPr id="7" name="I connect entry to transport">
            <a:extLst xmlns:a="http://schemas.openxmlformats.org/drawingml/2006/main">
              <a:ext uri="{FF2B5EF4-FFF2-40B4-BE49-F238E27FC236}">
                <a16:creationId xmlns:a16="http://schemas.microsoft.com/office/drawing/2014/main" id="{24ED9C5B-1075-4CDC-9ACD-92A256A0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connect entry to transport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7E4C626-0CD6-4402-B6A5-4B9C059A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-system service desk">
            <a:extLst xmlns:a="http://schemas.openxmlformats.org/drawingml/2006/main">
              <a:ext uri="{FF2B5EF4-FFF2-40B4-BE49-F238E27FC236}">
                <a16:creationId xmlns:a16="http://schemas.microsoft.com/office/drawing/2014/main" id="{322E452E-E147-4C06-B583-B06DBD64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plant-system service desk</a:t>
            </a:r>
          </a:p>
        </p:txBody>
      </p:sp>
      <p:sp>
        <p:nvSpPr>
          <p:cNvPr id="10" name="3 / 14">
            <a:extLst xmlns:a="http://schemas.openxmlformats.org/drawingml/2006/main">
              <a:ext uri="{FF2B5EF4-FFF2-40B4-BE49-F238E27FC236}">
                <a16:creationId xmlns:a16="http://schemas.microsoft.com/office/drawing/2014/main" id="{2EFAA58E-59D3-405F-A376-C9AA0161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14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98F8562-1008-4A73-A182-54143388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285" y="4759949"/>
            <a:ext cx="2090738" cy="9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D7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87B46BB-A5C9-4204-8752-A1DA668E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647985" y="2706546"/>
            <a:ext cx="953" cy="20534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9603">
            <a:solidFill>
              <a:srgbClr val="3F7D6E"/>
            </a:solidFill>
          </a:ln>
        </p:spPr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6AB82C8-EEBD-4228-A670-5357405B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285" y="3341234"/>
            <a:ext cx="970700" cy="48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23BE437-0284-4EAF-B306-3F403FFB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852" y="3751915"/>
            <a:ext cx="1008034" cy="48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8DE644D-324A-4C42-A7D8-151C88A3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050631" y="4759949"/>
            <a:ext cx="597354" cy="48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4802">
            <a:solidFill>
              <a:srgbClr val="C9803B"/>
            </a:solidFill>
          </a:ln>
        </p:spPr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4E8A134-0836-4301-ADCB-4F07ABC3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47985" y="4759949"/>
            <a:ext cx="672023" cy="48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4802">
            <a:solidFill>
              <a:srgbClr val="C9803B"/>
            </a:solidFill>
          </a:ln>
        </p:spPr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DDB30F5-C481-4BA6-B132-C2CFA297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349308" y="4759949"/>
            <a:ext cx="298677" cy="746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4802">
            <a:solidFill>
              <a:srgbClr val="C9803B"/>
            </a:solidFill>
          </a:ln>
        </p:spPr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E8E392C-EDE4-47EB-934D-DF18E898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47985" y="4759949"/>
            <a:ext cx="261342" cy="7840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4802">
            <a:solidFill>
              <a:srgbClr val="C9803B"/>
            </a:solidFill>
          </a:ln>
        </p:spPr>
      </p:sp>
      <p:sp>
        <p:nvSpPr>
          <p:cNvPr id="19" name="Diagram label: The root system anchors the plant.">
            <a:extLst xmlns:a="http://schemas.openxmlformats.org/drawingml/2006/main">
              <a:ext uri="{FF2B5EF4-FFF2-40B4-BE49-F238E27FC236}">
                <a16:creationId xmlns:a16="http://schemas.microsoft.com/office/drawing/2014/main" id="{4450D7C8-98E9-4EB4-9C42-169C3A53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2183861"/>
            <a:ext cx="6794897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23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23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root system anchors the plant.</a:t>
            </a:r>
          </a:p>
        </p:txBody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9DADAD51-B79F-4C72-9E57-93AA8AE4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57247" y="5137115"/>
            <a:ext cx="1452409" cy="708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347EBC"/>
            </a:solidFill>
          </a:ln>
        </p:spPr>
      </p:sp>
      <p:sp>
        <p:nvSpPr>
          <p:cNvPr id="21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2A1610CC-0927-439C-BF12-21755601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32438">
            <a:off x="4983491" y="5083573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7EBC"/>
          </a:solidFill>
          <a:ln xmlns:a="http://schemas.openxmlformats.org/drawingml/2006/main" w="0">
            <a:noFill/>
          </a:ln>
        </p:spPr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A9CD12AB-C1FC-416F-AD7A-EC7D6807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323633" y="5137415"/>
            <a:ext cx="1340420" cy="705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347EBC"/>
            </a:solidFill>
          </a:ln>
        </p:spPr>
      </p:sp>
      <p:sp>
        <p:nvSpPr>
          <p:cNvPr id="23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EFBB0F72-F33D-4E9B-959F-F644AD06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219233">
            <a:off x="6245266" y="5083773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7EBC"/>
          </a:solidFill>
          <a:ln xmlns:a="http://schemas.openxmlformats.org/drawingml/2006/main" w="0">
            <a:noFill/>
          </a:ln>
        </p:spPr>
      </p:sp>
      <p:sp>
        <p:nvSpPr>
          <p:cNvPr id="2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3284B72-004F-44F8-BFA1-083498B1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610650" y="4054325"/>
            <a:ext cx="953" cy="8176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347EBC"/>
            </a:solidFill>
          </a:ln>
        </p:spPr>
      </p:sp>
      <p:sp>
        <p:nvSpPr>
          <p:cNvPr id="2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C72B0F65-4D5C-4BDA-B7F2-6151B99B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8382" y="3975922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7EBC"/>
          </a:solidFill>
          <a:ln xmlns:a="http://schemas.openxmlformats.org/drawingml/2006/main" w="0">
            <a:noFill/>
          </a:ln>
        </p:spPr>
      </p:sp>
      <p:sp>
        <p:nvSpPr>
          <p:cNvPr id="26" name="Diagram label: Water and dissolved&#10;mineral nutrients">
            <a:extLst xmlns:a="http://schemas.openxmlformats.org/drawingml/2006/main">
              <a:ext uri="{FF2B5EF4-FFF2-40B4-BE49-F238E27FC236}">
                <a16:creationId xmlns:a16="http://schemas.microsoft.com/office/drawing/2014/main" id="{17203E6C-EBDB-4CFD-975B-4861BA4F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4237264"/>
            <a:ext cx="1866730" cy="821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 and dissolved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mineral nutrients</a:t>
            </a:r>
          </a:p>
        </p:txBody>
      </p:sp>
      <p:sp>
        <p:nvSpPr>
          <p:cNvPr id="27" name="Diagram label: Water moves into&#10;and through the plant.">
            <a:extLst xmlns:a="http://schemas.openxmlformats.org/drawingml/2006/main">
              <a:ext uri="{FF2B5EF4-FFF2-40B4-BE49-F238E27FC236}">
                <a16:creationId xmlns:a16="http://schemas.microsoft.com/office/drawing/2014/main" id="{4307E722-E909-4CF4-950A-B2729C82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376" y="4199930"/>
            <a:ext cx="2016068" cy="784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 moves into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and through the plant.</a:t>
            </a:r>
          </a:p>
        </p:txBody>
      </p:sp>
      <p:sp>
        <p:nvSpPr>
          <p:cNvPr id="28" name="Diagram label: Mineral nutrients are needed; they are not ready-made plant food.">
            <a:extLst xmlns:a="http://schemas.openxmlformats.org/drawingml/2006/main">
              <a:ext uri="{FF2B5EF4-FFF2-40B4-BE49-F238E27FC236}">
                <a16:creationId xmlns:a16="http://schemas.microsoft.com/office/drawing/2014/main" id="{410FCC71-242A-4E1F-90B4-78F3E267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5730648"/>
            <a:ext cx="6832231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Mineral nutrients are needed; they are not ready-made plant food.</a:t>
            </a:r>
          </a:p>
        </p:txBody>
      </p:sp>
      <p:sp>
        <p:nvSpPr>
          <p:cNvPr id="29" name="Roots take in water and minerals.  The stem contains transport p">
            <a:extLst xmlns:a="http://schemas.openxmlformats.org/drawingml/2006/main">
              <a:ext uri="{FF2B5EF4-FFF2-40B4-BE49-F238E27FC236}">
                <a16:creationId xmlns:a16="http://schemas.microsoft.com/office/drawing/2014/main" id="{02948B79-DAC7-4658-8DC9-933437BC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Roots take in water and minerals. The stem contains transport pathways.</a:t>
            </a:r>
          </a:p>
        </p:txBody>
      </p:sp>
    </p:spTree>
    <p:extLst>
      <p:ext uri="{BB962C8B-B14F-4D97-AF65-F5344CB8AC3E}">
        <p14:creationId xmlns:p14="http://schemas.microsoft.com/office/powerpoint/2010/main" val="18308426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83893AEF-D674-47D1-88CB-BC47C19F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F7FBA7C-BFAA-40E6-9D9B-4A3C97D5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D486B82-AE8C-4B95-A347-C89856F4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F53019FC-6FFA-4ED0-A53A-507439B7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D91E61FD-A390-40B2-AB28-2D7E647A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distinguish materials from sugar-making">
            <a:extLst xmlns:a="http://schemas.openxmlformats.org/drawingml/2006/main">
              <a:ext uri="{FF2B5EF4-FFF2-40B4-BE49-F238E27FC236}">
                <a16:creationId xmlns:a16="http://schemas.microsoft.com/office/drawing/2014/main" id="{8FDADD84-88D4-436C-B123-395BF65E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distinguish materials from sugar-making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6A00251D-2B82-42C0-8FED-BFE871B2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plant-system service desk">
            <a:extLst xmlns:a="http://schemas.openxmlformats.org/drawingml/2006/main">
              <a:ext uri="{FF2B5EF4-FFF2-40B4-BE49-F238E27FC236}">
                <a16:creationId xmlns:a16="http://schemas.microsoft.com/office/drawing/2014/main" id="{AA63B941-5FEE-4E53-A8BE-4AD9772E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plant-system service desk</a:t>
            </a:r>
          </a:p>
        </p:txBody>
      </p:sp>
      <p:sp>
        <p:nvSpPr>
          <p:cNvPr id="9" name="4 / 14">
            <a:extLst xmlns:a="http://schemas.openxmlformats.org/drawingml/2006/main">
              <a:ext uri="{FF2B5EF4-FFF2-40B4-BE49-F238E27FC236}">
                <a16:creationId xmlns:a16="http://schemas.microsoft.com/office/drawing/2014/main" id="{DD887BD0-ABBB-485B-8732-D0226464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14</a:t>
            </a:r>
          </a:p>
        </p:txBody>
      </p:sp>
      <p:sp>
        <p:nvSpPr>
          <p:cNvPr id="1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A04AF68-B6B0-4E0A-8061-5AC649E1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970" y="3415903"/>
            <a:ext cx="1642722" cy="11200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1" name="Diagram label: Green leaf">
            <a:extLst xmlns:a="http://schemas.openxmlformats.org/drawingml/2006/main">
              <a:ext uri="{FF2B5EF4-FFF2-40B4-BE49-F238E27FC236}">
                <a16:creationId xmlns:a16="http://schemas.microsoft.com/office/drawing/2014/main" id="{30F01955-E487-4276-BAF1-BF4CAF96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977" y="3751915"/>
            <a:ext cx="1269376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Green leaf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7102F6E-93EC-449B-9462-67F5066F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2221196"/>
            <a:ext cx="1792061" cy="672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2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3" name="Diagram label: Light energy">
            <a:extLst xmlns:a="http://schemas.openxmlformats.org/drawingml/2006/main">
              <a:ext uri="{FF2B5EF4-FFF2-40B4-BE49-F238E27FC236}">
                <a16:creationId xmlns:a16="http://schemas.microsoft.com/office/drawing/2014/main" id="{E5776F90-698C-4E24-BCCA-F5268521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2407869"/>
            <a:ext cx="1493384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Light energy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8ABB12D-A3FF-4742-AA99-C0328643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4535941"/>
            <a:ext cx="1792061" cy="672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4"/>
          </a:solidFill>
          <a:ln xmlns:a="http://schemas.openxmlformats.org/drawingml/2006/main" w="22401">
            <a:solidFill>
              <a:srgbClr val="347EBC"/>
            </a:solidFill>
          </a:ln>
        </p:spPr>
      </p:sp>
      <p:sp>
        <p:nvSpPr>
          <p:cNvPr id="15" name="Diagram label: Water">
            <a:extLst xmlns:a="http://schemas.openxmlformats.org/drawingml/2006/main">
              <a:ext uri="{FF2B5EF4-FFF2-40B4-BE49-F238E27FC236}">
                <a16:creationId xmlns:a16="http://schemas.microsoft.com/office/drawing/2014/main" id="{8F384D09-8DEE-4ED5-BBED-C731431D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559" y="4722614"/>
            <a:ext cx="1269376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</a:t>
            </a:r>
          </a:p>
        </p:txBody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255311A-F50C-4467-BDB9-0782481A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053" y="2221196"/>
            <a:ext cx="1829395" cy="8213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7" name="Diagram label: Carbon dioxide&#10;from air">
            <a:extLst xmlns:a="http://schemas.openxmlformats.org/drawingml/2006/main">
              <a:ext uri="{FF2B5EF4-FFF2-40B4-BE49-F238E27FC236}">
                <a16:creationId xmlns:a16="http://schemas.microsoft.com/office/drawing/2014/main" id="{1388C1DF-3845-470C-AE88-01F82E4F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057" y="2333200"/>
            <a:ext cx="1642722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Carbon dioxide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from air</a:t>
            </a:r>
          </a:p>
        </p:txBody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7897391-1418-460D-B17F-1257D009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053" y="4535941"/>
            <a:ext cx="1829395" cy="7840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1C4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9" name="Diagram label: Sugars made&#10;by the plant">
            <a:extLst xmlns:a="http://schemas.openxmlformats.org/drawingml/2006/main">
              <a:ext uri="{FF2B5EF4-FFF2-40B4-BE49-F238E27FC236}">
                <a16:creationId xmlns:a16="http://schemas.microsoft.com/office/drawing/2014/main" id="{ED56DB65-4CF7-4278-8FBD-83596CB3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726" y="4685279"/>
            <a:ext cx="1493384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Sugars made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by the plant</a:t>
            </a:r>
          </a:p>
        </p:txBody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A0011B08-9470-49E0-A11F-6D6D188C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53278" y="2781215"/>
            <a:ext cx="764648" cy="7298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C9803B"/>
            </a:solidFill>
          </a:ln>
        </p:spPr>
      </p:sp>
      <p:sp>
        <p:nvSpPr>
          <p:cNvPr id="21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B9642EE2-3A4E-4B7A-8075-CE43CE65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020067">
            <a:off x="5184562" y="3476883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9AD2698F-DFEF-478C-94EF-802E1C78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53278" y="4380529"/>
            <a:ext cx="786795" cy="3420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347EBC"/>
            </a:solidFill>
          </a:ln>
        </p:spPr>
      </p:sp>
      <p:sp>
        <p:nvSpPr>
          <p:cNvPr id="23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ACE792B7-32EA-4AC8-9BC5-4F2FB02C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90086">
            <a:off x="5211771" y="4317840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7EBC"/>
          </a:solidFill>
          <a:ln xmlns:a="http://schemas.openxmlformats.org/drawingml/2006/main" w="0">
            <a:noFill/>
          </a:ln>
        </p:spPr>
      </p:sp>
      <p:sp>
        <p:nvSpPr>
          <p:cNvPr id="2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7B432562-1F9D-4871-B557-75AB78A6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832001" y="2967888"/>
            <a:ext cx="832052" cy="5893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2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16F33E35-AB64-4C67-92C1-0A594D1E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081327">
            <a:off x="6758407" y="3520096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7BAAAC37-7887-408F-9A4B-2C41C2BB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68023" y="4349268"/>
            <a:ext cx="824757" cy="3780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3F7D6E"/>
            </a:solidFill>
          </a:ln>
        </p:spPr>
      </p:sp>
      <p:sp>
        <p:nvSpPr>
          <p:cNvPr id="27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E1CAA9C9-0F40-4502-A8A9-305F0BC3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877414">
            <a:off x="7564269" y="4685902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8" name="Diagram label: Roots supply water and minerals; the plant makes its sugars.">
            <a:extLst xmlns:a="http://schemas.openxmlformats.org/drawingml/2006/main">
              <a:ext uri="{FF2B5EF4-FFF2-40B4-BE49-F238E27FC236}">
                <a16:creationId xmlns:a16="http://schemas.microsoft.com/office/drawing/2014/main" id="{EFF98EC6-64A6-4BDB-9019-46B9EEBF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221" y="5506641"/>
            <a:ext cx="6645558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Roots supply water and minerals; the plant makes its sugars.</a:t>
            </a:r>
          </a:p>
        </p:txBody>
      </p:sp>
      <p:sp>
        <p:nvSpPr>
          <p:cNvPr id="29" name="Light supplies energy.  Green leaves make sugars.  Minerals are ">
            <a:extLst xmlns:a="http://schemas.openxmlformats.org/drawingml/2006/main">
              <a:ext uri="{FF2B5EF4-FFF2-40B4-BE49-F238E27FC236}">
                <a16:creationId xmlns:a16="http://schemas.microsoft.com/office/drawing/2014/main" id="{AC290EC8-3FAF-4A4B-88D3-1DEDDF69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Light supplies energy. Green leaves make sugars. Minerals are not ready-made food.</a:t>
            </a:r>
          </a:p>
        </p:txBody>
      </p:sp>
    </p:spTree>
    <p:extLst>
      <p:ext uri="{BB962C8B-B14F-4D97-AF65-F5344CB8AC3E}">
        <p14:creationId xmlns:p14="http://schemas.microsoft.com/office/powerpoint/2010/main" val="17610076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958F4AD2-4302-41E9-81D9-64F36A2D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1826AB0-78D8-4441-8933-1C80339A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4CCDFAE-2ECA-4BE1-A5D2-711D254D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7E62B573-A48C-4A69-93BD-62B5D92D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5FC342FB-299D-41BC-92D0-99D561CF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give flowers a biological function">
            <a:extLst xmlns:a="http://schemas.openxmlformats.org/drawingml/2006/main">
              <a:ext uri="{FF2B5EF4-FFF2-40B4-BE49-F238E27FC236}">
                <a16:creationId xmlns:a16="http://schemas.microsoft.com/office/drawing/2014/main" id="{E021AD77-9F68-465E-B64A-102C111F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give flowers a biological function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E3E8BC84-D427-4CE0-9683-698791C3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plant-system service desk">
            <a:extLst xmlns:a="http://schemas.openxmlformats.org/drawingml/2006/main">
              <a:ext uri="{FF2B5EF4-FFF2-40B4-BE49-F238E27FC236}">
                <a16:creationId xmlns:a16="http://schemas.microsoft.com/office/drawing/2014/main" id="{BA1C0231-EE4D-4176-BA4A-67C9221B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plant-system service desk</a:t>
            </a:r>
          </a:p>
        </p:txBody>
      </p:sp>
      <p:sp>
        <p:nvSpPr>
          <p:cNvPr id="9" name="5 / 14">
            <a:extLst xmlns:a="http://schemas.openxmlformats.org/drawingml/2006/main">
              <a:ext uri="{FF2B5EF4-FFF2-40B4-BE49-F238E27FC236}">
                <a16:creationId xmlns:a16="http://schemas.microsoft.com/office/drawing/2014/main" id="{7AC629BE-7A19-492A-8E36-91D91A18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14</a:t>
            </a:r>
          </a:p>
        </p:txBody>
      </p:sp>
      <p:sp>
        <p:nvSpPr>
          <p:cNvPr id="1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C46C679-59F2-4F6F-BC04-ABEBA398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232" y="2967888"/>
            <a:ext cx="970700" cy="970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E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3B416E1-DDD4-41C5-A68C-B80DF68F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0574" y="3229230"/>
            <a:ext cx="448015" cy="448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CA8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2" name="Diagram label: Flower">
            <a:extLst xmlns:a="http://schemas.openxmlformats.org/drawingml/2006/main">
              <a:ext uri="{FF2B5EF4-FFF2-40B4-BE49-F238E27FC236}">
                <a16:creationId xmlns:a16="http://schemas.microsoft.com/office/drawing/2014/main" id="{B859557F-D73F-4449-A3E2-DEFB8BEB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559" y="4349268"/>
            <a:ext cx="1717392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Flower</a:t>
            </a:r>
          </a:p>
        </p:txBody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2F2D512-A12B-457D-A31F-C0EA667C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53278" y="3453238"/>
            <a:ext cx="89229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14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29AD04A5-4702-4E3D-883F-A9FFF8EB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19440" y="3400969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DA82D82-4010-4D55-AA23-4F2FB467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316" y="2818550"/>
            <a:ext cx="1306711" cy="13440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E9F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71DA866-7E2D-4409-9CE7-B0E16E88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992" y="3303899"/>
            <a:ext cx="224008" cy="4106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5D40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12DC465-E369-4DD7-8B4E-C2E6883D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38" y="3378569"/>
            <a:ext cx="224008" cy="4106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5D40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8" name="Diagram label: Fruit containing&#10;seeds">
            <a:extLst xmlns:a="http://schemas.openxmlformats.org/drawingml/2006/main">
              <a:ext uri="{FF2B5EF4-FFF2-40B4-BE49-F238E27FC236}">
                <a16:creationId xmlns:a16="http://schemas.microsoft.com/office/drawing/2014/main" id="{D322D85C-FCBB-4A18-B8E8-D352C5A4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308" y="4423937"/>
            <a:ext cx="2240076" cy="746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Fruit containing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seeds</a:t>
            </a:r>
          </a:p>
        </p:txBody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3942B70-B027-4C1F-A37E-7214014E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66700" y="3453238"/>
            <a:ext cx="81762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20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472DC628-3D31-4757-8047-81DB3641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58193" y="3400969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CB6D8C0-D8CD-4DB4-86D7-4B287035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597418" y="3602576"/>
            <a:ext cx="953" cy="6346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7202">
            <a:solidFill>
              <a:srgbClr val="3F7D6E"/>
            </a:solidFill>
          </a:ln>
        </p:spPr>
      </p:sp>
      <p:sp>
        <p:nvSpPr>
          <p:cNvPr id="2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B706E34-124B-4817-B690-C6BCD17C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068" y="3453238"/>
            <a:ext cx="485350" cy="2986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2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1F15177-6B1D-43F6-915D-1A62E8EC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753" y="3266565"/>
            <a:ext cx="485350" cy="2986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2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AA30043-9825-46E6-B59E-6A05666F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336076" y="4274599"/>
            <a:ext cx="261342" cy="3360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C9803B"/>
            </a:solidFill>
          </a:ln>
        </p:spPr>
      </p:sp>
      <p:sp>
        <p:nvSpPr>
          <p:cNvPr id="2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C2D5836-E4FB-4702-B596-874E1430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97418" y="4274599"/>
            <a:ext cx="261342" cy="3360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C9803B"/>
            </a:solidFill>
          </a:ln>
        </p:spPr>
      </p:sp>
      <p:sp>
        <p:nvSpPr>
          <p:cNvPr id="26" name="Diagram label: New plant&#10;may grow">
            <a:extLst xmlns:a="http://schemas.openxmlformats.org/drawingml/2006/main">
              <a:ext uri="{FF2B5EF4-FFF2-40B4-BE49-F238E27FC236}">
                <a16:creationId xmlns:a16="http://schemas.microsoft.com/office/drawing/2014/main" id="{545C6B0F-3F1C-4E7F-9D04-5F84FE81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061" y="4871952"/>
            <a:ext cx="1754726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New plant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may grow</a:t>
            </a:r>
          </a:p>
        </p:txBody>
      </p:sp>
      <p:sp>
        <p:nvSpPr>
          <p:cNvPr id="27" name="Diagram label: After successful pollination and fertilisation">
            <a:extLst xmlns:a="http://schemas.openxmlformats.org/drawingml/2006/main">
              <a:ext uri="{FF2B5EF4-FFF2-40B4-BE49-F238E27FC236}">
                <a16:creationId xmlns:a16="http://schemas.microsoft.com/office/drawing/2014/main" id="{2E013934-3172-4D23-90F5-38F9C33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109192"/>
            <a:ext cx="6832231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After successful pollination and fertilisation</a:t>
            </a:r>
          </a:p>
        </p:txBody>
      </p:sp>
      <p:sp>
        <p:nvSpPr>
          <p:cNvPr id="28" name="Diagram label: A simplified sequence; outcomes and timing vary.">
            <a:extLst xmlns:a="http://schemas.openxmlformats.org/drawingml/2006/main">
              <a:ext uri="{FF2B5EF4-FFF2-40B4-BE49-F238E27FC236}">
                <a16:creationId xmlns:a16="http://schemas.microsoft.com/office/drawing/2014/main" id="{3CC5574D-7685-4458-A4A8-58472D86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5655979"/>
            <a:ext cx="6720228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simplified sequence; outcomes and timing vary.</a:t>
            </a:r>
          </a:p>
        </p:txBody>
      </p:sp>
      <p:sp>
        <p:nvSpPr>
          <p:cNvPr id="29" name="Flowers take part in reproduction.  Seeds can form after fertili">
            <a:extLst xmlns:a="http://schemas.openxmlformats.org/drawingml/2006/main">
              <a:ext uri="{FF2B5EF4-FFF2-40B4-BE49-F238E27FC236}">
                <a16:creationId xmlns:a16="http://schemas.microsoft.com/office/drawing/2014/main" id="{3FB08D36-4B0C-40C1-AD2D-7AE8CE19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Flowers take part in reproduction. Seeds can form after fertilisation.</a:t>
            </a:r>
          </a:p>
        </p:txBody>
      </p:sp>
    </p:spTree>
    <p:extLst>
      <p:ext uri="{BB962C8B-B14F-4D97-AF65-F5344CB8AC3E}">
        <p14:creationId xmlns:p14="http://schemas.microsoft.com/office/powerpoint/2010/main" val="3857871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27ABC457-1510-4618-98BB-506CDC2E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2427D95-57D1-4482-AA90-7F870F09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66B2E87-9A8D-4F9A-9856-6AEA6CD7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C6EE5EC5-611C-4DD1-A2FF-2F932F65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1AF6F46F-2A6F-4853-82A5-D3C42CF8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08599C6D-6F29-484C-BDA2-0F7CEC5B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The service desk sorts the jobs">
            <a:extLst xmlns:a="http://schemas.openxmlformats.org/drawingml/2006/main">
              <a:ext uri="{FF2B5EF4-FFF2-40B4-BE49-F238E27FC236}">
                <a16:creationId xmlns:a16="http://schemas.microsoft.com/office/drawing/2014/main" id="{FCA1CA11-6E67-4A1F-8C8E-06F341E4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service desk sorts the jobs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E388B3F-3150-45E5-AB3D-036D1730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-system service desk">
            <a:extLst xmlns:a="http://schemas.openxmlformats.org/drawingml/2006/main">
              <a:ext uri="{FF2B5EF4-FFF2-40B4-BE49-F238E27FC236}">
                <a16:creationId xmlns:a16="http://schemas.microsoft.com/office/drawing/2014/main" id="{EC96A953-5497-44EF-9E7B-A592D90D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plant-system service desk</a:t>
            </a:r>
          </a:p>
        </p:txBody>
      </p:sp>
      <p:sp>
        <p:nvSpPr>
          <p:cNvPr id="10" name="6 / 14">
            <a:extLst xmlns:a="http://schemas.openxmlformats.org/drawingml/2006/main">
              <a:ext uri="{FF2B5EF4-FFF2-40B4-BE49-F238E27FC236}">
                <a16:creationId xmlns:a16="http://schemas.microsoft.com/office/drawing/2014/main" id="{9AEE830C-14A9-4E00-934A-68729A87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14</a:t>
            </a:r>
          </a:p>
        </p:txBody>
      </p:sp>
      <p:sp>
        <p:nvSpPr>
          <p:cNvPr id="11" name="Use A–D. Connect each part to a function. Explain one connection">
            <a:extLst xmlns:a="http://schemas.openxmlformats.org/drawingml/2006/main">
              <a:ext uri="{FF2B5EF4-FFF2-40B4-BE49-F238E27FC236}">
                <a16:creationId xmlns:a16="http://schemas.microsoft.com/office/drawing/2014/main" id="{345008CE-DA03-4547-BBC8-9F4AC095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A–D. Connect each part to a function. Explain one connection to another part.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2295525"/>
          <a:ext xmlns:a="http://schemas.openxmlformats.org/drawingml/2006/main" cx="11125200" cy="2526506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040968"/>
                <a:gridCol w="5084232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What must happen?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Which part helps?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Water enters from soil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Choose from A–D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Water reaches a leaf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Choose from A–D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Sugars are made in light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Choose from A–D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Seeds form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Choose from A–D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Functional matching; no live plant damage">
            <a:extLst xmlns:a="http://schemas.openxmlformats.org/drawingml/2006/main">
              <a:ext uri="{FF2B5EF4-FFF2-40B4-BE49-F238E27FC236}">
                <a16:creationId xmlns:a16="http://schemas.microsoft.com/office/drawing/2014/main" id="{36D19A10-0FF3-4643-836C-4B216255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6331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Functional matching; no live plant damage</a:t>
            </a:r>
          </a:p>
        </p:txBody>
      </p:sp>
    </p:spTree>
    <p:extLst>
      <p:ext uri="{BB962C8B-B14F-4D97-AF65-F5344CB8AC3E}">
        <p14:creationId xmlns:p14="http://schemas.microsoft.com/office/powerpoint/2010/main" val="402188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5BE89074-BC2F-4187-BE91-4FE028CE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274F2AD-8E98-43EB-8799-3F039064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B21CE79-F53D-4D1C-B62B-19B35D48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9676C354-FCE4-40BD-9558-0423055B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ED328595-1737-4CCB-8DC3-8B0F770D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93B5CD2D-5A62-41AF-B785-D942F371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A repair must address the missing input">
            <a:extLst xmlns:a="http://schemas.openxmlformats.org/drawingml/2006/main">
              <a:ext uri="{FF2B5EF4-FFF2-40B4-BE49-F238E27FC236}">
                <a16:creationId xmlns:a16="http://schemas.microsoft.com/office/drawing/2014/main" id="{55D182FB-9DD5-45CA-9913-F5DF2BBC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repair must address the missing input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87C7EB7-0016-409F-B312-E4110307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-system service desk">
            <a:extLst xmlns:a="http://schemas.openxmlformats.org/drawingml/2006/main">
              <a:ext uri="{FF2B5EF4-FFF2-40B4-BE49-F238E27FC236}">
                <a16:creationId xmlns:a16="http://schemas.microsoft.com/office/drawing/2014/main" id="{E22459C0-CDA9-4523-A1D1-A7B5799C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plant-system service desk</a:t>
            </a:r>
          </a:p>
        </p:txBody>
      </p:sp>
      <p:sp>
        <p:nvSpPr>
          <p:cNvPr id="10" name="7 / 14">
            <a:extLst xmlns:a="http://schemas.openxmlformats.org/drawingml/2006/main">
              <a:ext uri="{FF2B5EF4-FFF2-40B4-BE49-F238E27FC236}">
                <a16:creationId xmlns:a16="http://schemas.microsoft.com/office/drawing/2014/main" id="{998AD579-1E32-4EAA-91B8-D59FA14E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14</a:t>
            </a:r>
          </a:p>
        </p:txBody>
      </p:sp>
      <p:sp>
        <p:nvSpPr>
          <p:cNvPr id="11" name="Read E and F.">
            <a:extLst xmlns:a="http://schemas.openxmlformats.org/drawingml/2006/main">
              <a:ext uri="{FF2B5EF4-FFF2-40B4-BE49-F238E27FC236}">
                <a16:creationId xmlns:a16="http://schemas.microsoft.com/office/drawing/2014/main" id="{CB09650E-2AE3-4B7A-B157-4FF3732E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E and F.</a:t>
            </a:r>
          </a:p>
        </p:txBody>
      </p:sp>
      <p:sp>
        <p:nvSpPr>
          <p:cNvPr id="12" name="Choose a useful explanation.">
            <a:extLst xmlns:a="http://schemas.openxmlformats.org/drawingml/2006/main">
              <a:ext uri="{FF2B5EF4-FFF2-40B4-BE49-F238E27FC236}">
                <a16:creationId xmlns:a16="http://schemas.microsoft.com/office/drawing/2014/main" id="{AF4126C0-A287-4266-B239-92225A73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a useful explanation.</a:t>
            </a:r>
          </a:p>
        </p:txBody>
      </p:sp>
      <p:sp>
        <p:nvSpPr>
          <p:cNvPr id="13" name="Say why an unrelated repair fails.">
            <a:extLst xmlns:a="http://schemas.openxmlformats.org/drawingml/2006/main">
              <a:ext uri="{FF2B5EF4-FFF2-40B4-BE49-F238E27FC236}">
                <a16:creationId xmlns:a16="http://schemas.microsoft.com/office/drawing/2014/main" id="{C852C439-5C91-49E4-8C9B-F43CD12E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Say why an unrelated repair fails.</a:t>
            </a:r>
          </a:p>
        </p:txBody>
      </p:sp>
    </p:spTree>
    <p:extLst>
      <p:ext uri="{BB962C8B-B14F-4D97-AF65-F5344CB8AC3E}">
        <p14:creationId xmlns:p14="http://schemas.microsoft.com/office/powerpoint/2010/main" val="13882533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94F5F887-304F-425C-B02D-A479897F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B7AB45C-38C2-44A1-9A18-B35807BE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503311B-E5A0-488C-A859-55407B0C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8311737B-9E39-47DE-A0B6-37CDB31D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6C3C3078-9E01-4731-ADBC-460C8453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6AD1360D-812B-4908-B89A-86139444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ich account explains plant nutrition?">
            <a:extLst xmlns:a="http://schemas.openxmlformats.org/drawingml/2006/main">
              <a:ext uri="{FF2B5EF4-FFF2-40B4-BE49-F238E27FC236}">
                <a16:creationId xmlns:a16="http://schemas.microsoft.com/office/drawing/2014/main" id="{07A6CA2E-CD50-4C18-9A70-913086FD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account explains plant nutrition?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9E700F9C-2936-4F59-B41E-51FECA15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-system service desk">
            <a:extLst xmlns:a="http://schemas.openxmlformats.org/drawingml/2006/main">
              <a:ext uri="{FF2B5EF4-FFF2-40B4-BE49-F238E27FC236}">
                <a16:creationId xmlns:a16="http://schemas.microsoft.com/office/drawing/2014/main" id="{798D1C6C-DE4F-42AE-9FE4-C2CECD0E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plant-system service desk</a:t>
            </a:r>
          </a:p>
        </p:txBody>
      </p:sp>
      <p:sp>
        <p:nvSpPr>
          <p:cNvPr id="10" name="8 / 14">
            <a:extLst xmlns:a="http://schemas.openxmlformats.org/drawingml/2006/main">
              <a:ext uri="{FF2B5EF4-FFF2-40B4-BE49-F238E27FC236}">
                <a16:creationId xmlns:a16="http://schemas.microsoft.com/office/drawing/2014/main" id="{2079EEA3-27C2-41AB-B73F-6AE98663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14</a:t>
            </a:r>
          </a:p>
        </p:txBody>
      </p:sp>
      <p:sp>
        <p:nvSpPr>
          <p:cNvPr id="11" name="Look for both making and absorbing.">
            <a:extLst xmlns:a="http://schemas.openxmlformats.org/drawingml/2006/main">
              <a:ext uri="{FF2B5EF4-FFF2-40B4-BE49-F238E27FC236}">
                <a16:creationId xmlns:a16="http://schemas.microsoft.com/office/drawing/2014/main" id="{53CDD30F-34F7-4948-B85A-364F8B62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Look for both making and absorbing.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5DA3F642-9044-463E-B72F-F13C9224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35999880-2B46-434B-BD11-534E2712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E30ABF81-2B9D-41F9-AE26-2EE213E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Roots absorb water and minerals; green leaves make sugars using ">
            <a:extLst xmlns:a="http://schemas.openxmlformats.org/drawingml/2006/main">
              <a:ext uri="{FF2B5EF4-FFF2-40B4-BE49-F238E27FC236}">
                <a16:creationId xmlns:a16="http://schemas.microsoft.com/office/drawing/2014/main" id="{AA6892C4-C766-45C4-8A23-20F5FD99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Roots absorb water and minerals; green leaves make sugars using light.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A9A4459D-00E0-4F3D-8E19-B665ABEB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F070FE3D-758F-4698-8EB1-D9970077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F288245D-6EB5-41AE-9EAE-3578263C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Roots eat soil, so leaves have no role.">
            <a:extLst xmlns:a="http://schemas.openxmlformats.org/drawingml/2006/main">
              <a:ext uri="{FF2B5EF4-FFF2-40B4-BE49-F238E27FC236}">
                <a16:creationId xmlns:a16="http://schemas.microsoft.com/office/drawing/2014/main" id="{07E3068E-912E-4065-BA71-C384E625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Roots eat soil, so leaves have no role.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137B63F4-D8F7-4EF4-A4C2-5F26B30D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FD022875-655D-480E-9ED7-9B073754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41372015-65E1-4285-9EA9-D0D60CAA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Flowers pump all water from the soil.">
            <a:extLst xmlns:a="http://schemas.openxmlformats.org/drawingml/2006/main">
              <a:ext uri="{FF2B5EF4-FFF2-40B4-BE49-F238E27FC236}">
                <a16:creationId xmlns:a16="http://schemas.microsoft.com/office/drawing/2014/main" id="{7A739130-C7BB-4693-A637-A54570D3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Flowers pump all water from the soil.</a:t>
            </a:r>
          </a:p>
        </p:txBody>
      </p:sp>
    </p:spTree>
    <p:extLst>
      <p:ext uri="{BB962C8B-B14F-4D97-AF65-F5344CB8AC3E}">
        <p14:creationId xmlns:p14="http://schemas.microsoft.com/office/powerpoint/2010/main" val="8094322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07087322-4B5E-445C-97DD-B0A460CC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3F92EEA-726A-41E2-B281-FC5D0804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99AB51F-A5EC-4501-9929-4DC96327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68E6CA63-28EE-41A8-A1C5-131576F0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294FB2CD-F130-47CE-9EB5-D22413CF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E3D8F7FA-DA52-4940-B719-8B670884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Choose your science route">
            <a:extLst xmlns:a="http://schemas.openxmlformats.org/drawingml/2006/main">
              <a:ext uri="{FF2B5EF4-FFF2-40B4-BE49-F238E27FC236}">
                <a16:creationId xmlns:a16="http://schemas.microsoft.com/office/drawing/2014/main" id="{ED0C30A4-B64B-40D9-BA3F-390709B8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your science route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9CD2C92-8C47-40F4-822B-E023126D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-system service desk">
            <a:extLst xmlns:a="http://schemas.openxmlformats.org/drawingml/2006/main">
              <a:ext uri="{FF2B5EF4-FFF2-40B4-BE49-F238E27FC236}">
                <a16:creationId xmlns:a16="http://schemas.microsoft.com/office/drawing/2014/main" id="{40A8E7DE-7D57-4A10-A0FD-77417299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plant-system service desk</a:t>
            </a:r>
          </a:p>
        </p:txBody>
      </p:sp>
      <p:sp>
        <p:nvSpPr>
          <p:cNvPr id="10" name="9 / 14">
            <a:extLst xmlns:a="http://schemas.openxmlformats.org/drawingml/2006/main">
              <a:ext uri="{FF2B5EF4-FFF2-40B4-BE49-F238E27FC236}">
                <a16:creationId xmlns:a16="http://schemas.microsoft.com/office/drawing/2014/main" id="{DB4E3846-4B10-4AD6-BB0E-3390B085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14</a:t>
            </a:r>
          </a:p>
        </p:txBody>
      </p:sp>
      <p:sp>
        <p:nvSpPr>
          <p:cNvPr id="11" name="Match parts and functions.">
            <a:extLst xmlns:a="http://schemas.openxmlformats.org/drawingml/2006/main">
              <a:ext uri="{FF2B5EF4-FFF2-40B4-BE49-F238E27FC236}">
                <a16:creationId xmlns:a16="http://schemas.microsoft.com/office/drawing/2014/main" id="{3CF1A00E-D2FF-438B-804D-A481E0AC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Match parts and functions.</a:t>
            </a:r>
          </a:p>
        </p:txBody>
      </p:sp>
      <p:sp>
        <p:nvSpPr>
          <p:cNvPr id="12" name="Explain the connected system.">
            <a:extLst xmlns:a="http://schemas.openxmlformats.org/drawingml/2006/main">
              <a:ext uri="{FF2B5EF4-FFF2-40B4-BE49-F238E27FC236}">
                <a16:creationId xmlns:a16="http://schemas.microsoft.com/office/drawing/2014/main" id="{97810C77-DB34-413B-B7F2-E91F17B1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the connected system.</a:t>
            </a:r>
          </a:p>
        </p:txBody>
      </p:sp>
      <p:sp>
        <p:nvSpPr>
          <p:cNvPr id="13" name="Review a proposed repair.">
            <a:extLst xmlns:a="http://schemas.openxmlformats.org/drawingml/2006/main">
              <a:ext uri="{FF2B5EF4-FFF2-40B4-BE49-F238E27FC236}">
                <a16:creationId xmlns:a16="http://schemas.microsoft.com/office/drawing/2014/main" id="{32D32BBF-5DAF-4FA2-BC00-692E39B5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Review a proposed repair.</a:t>
            </a:r>
          </a:p>
        </p:txBody>
      </p:sp>
    </p:spTree>
    <p:extLst>
      <p:ext uri="{BB962C8B-B14F-4D97-AF65-F5344CB8AC3E}">
        <p14:creationId xmlns:p14="http://schemas.microsoft.com/office/powerpoint/2010/main" val="17976668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D285875F-97BA-43C0-928D-00F1B53A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287D9F8-70C1-452F-B7C1-7FC6F715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B19E526-F021-45A7-A7A3-80955F7C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A28115B8-AE61-4B93-8606-289E5EFC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38474233-D68C-4C4B-B89E-C57C8B30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5A590814-B155-4FD0-AF79-377D2731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Make your own evidence record">
            <a:extLst xmlns:a="http://schemas.openxmlformats.org/drawingml/2006/main">
              <a:ext uri="{FF2B5EF4-FFF2-40B4-BE49-F238E27FC236}">
                <a16:creationId xmlns:a16="http://schemas.microsoft.com/office/drawing/2014/main" id="{8F913EC3-F03E-4B89-BDDF-61473DD3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your own evidence record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C83889E-A122-400C-916A-C1241960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-system service desk">
            <a:extLst xmlns:a="http://schemas.openxmlformats.org/drawingml/2006/main">
              <a:ext uri="{FF2B5EF4-FFF2-40B4-BE49-F238E27FC236}">
                <a16:creationId xmlns:a16="http://schemas.microsoft.com/office/drawing/2014/main" id="{1C1B694A-6E5B-439A-9D66-28692D28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plant-system service desk</a:t>
            </a:r>
          </a:p>
        </p:txBody>
      </p:sp>
      <p:sp>
        <p:nvSpPr>
          <p:cNvPr id="10" name="10 / 14">
            <a:extLst xmlns:a="http://schemas.openxmlformats.org/drawingml/2006/main">
              <a:ext uri="{FF2B5EF4-FFF2-40B4-BE49-F238E27FC236}">
                <a16:creationId xmlns:a16="http://schemas.microsoft.com/office/drawing/2014/main" id="{AC2D4643-25E5-47DA-8097-90D19117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14</a:t>
            </a:r>
          </a:p>
        </p:txBody>
      </p:sp>
      <p:sp>
        <p:nvSpPr>
          <p:cNvPr id="11" name="Use the shared evidence.">
            <a:extLst xmlns:a="http://schemas.openxmlformats.org/drawingml/2006/main">
              <a:ext uri="{FF2B5EF4-FFF2-40B4-BE49-F238E27FC236}">
                <a16:creationId xmlns:a16="http://schemas.microsoft.com/office/drawing/2014/main" id="{E4341D36-5240-4591-A09D-9451C297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shared evidence.</a:t>
            </a:r>
          </a:p>
        </p:txBody>
      </p:sp>
      <p:sp>
        <p:nvSpPr>
          <p:cNvPr id="12" name="Explain one choice.">
            <a:extLst xmlns:a="http://schemas.openxmlformats.org/drawingml/2006/main">
              <a:ext uri="{FF2B5EF4-FFF2-40B4-BE49-F238E27FC236}">
                <a16:creationId xmlns:a16="http://schemas.microsoft.com/office/drawing/2014/main" id="{0CEFFFFA-9F08-4D55-A991-45F6D9F4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one choice.</a:t>
            </a:r>
          </a:p>
        </p:txBody>
      </p:sp>
      <p:sp>
        <p:nvSpPr>
          <p:cNvPr id="13" name="Check a label or number.">
            <a:extLst xmlns:a="http://schemas.openxmlformats.org/drawingml/2006/main">
              <a:ext uri="{FF2B5EF4-FFF2-40B4-BE49-F238E27FC236}">
                <a16:creationId xmlns:a16="http://schemas.microsoft.com/office/drawing/2014/main" id="{A7D2A969-39E1-4390-BC94-462122A1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a label or number.</a:t>
            </a:r>
          </a:p>
        </p:txBody>
      </p:sp>
    </p:spTree>
    <p:extLst>
      <p:ext uri="{BB962C8B-B14F-4D97-AF65-F5344CB8AC3E}">
        <p14:creationId xmlns:p14="http://schemas.microsoft.com/office/powerpoint/2010/main" val="2809872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AC46326D-B9BF-4B7E-8C4C-C3D9CBA6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A650C78-972E-43E6-B1B7-D9B2C4C5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9177A9E-F192-4BB7-BB27-F66C0A74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346F572B-8407-47D4-BF2F-97352ABF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740505E7-A99E-483A-A3AC-E45B4954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Check what the evidence can show">
            <a:extLst xmlns:a="http://schemas.openxmlformats.org/drawingml/2006/main">
              <a:ext uri="{FF2B5EF4-FFF2-40B4-BE49-F238E27FC236}">
                <a16:creationId xmlns:a16="http://schemas.microsoft.com/office/drawing/2014/main" id="{EA9FFBF9-1C8D-4B47-B534-74006FB7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what the evidence can show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38C03254-7263-4FE3-B48F-EC8EF538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plant-system service desk">
            <a:extLst xmlns:a="http://schemas.openxmlformats.org/drawingml/2006/main">
              <a:ext uri="{FF2B5EF4-FFF2-40B4-BE49-F238E27FC236}">
                <a16:creationId xmlns:a16="http://schemas.microsoft.com/office/drawing/2014/main" id="{0D740285-A089-4B08-93CD-F71FD647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plant-system service desk</a:t>
            </a:r>
          </a:p>
        </p:txBody>
      </p:sp>
      <p:sp>
        <p:nvSpPr>
          <p:cNvPr id="9" name="11 / 14">
            <a:extLst xmlns:a="http://schemas.openxmlformats.org/drawingml/2006/main">
              <a:ext uri="{FF2B5EF4-FFF2-40B4-BE49-F238E27FC236}">
                <a16:creationId xmlns:a16="http://schemas.microsoft.com/office/drawing/2014/main" id="{E108ED68-280E-4E4E-83B8-C6E9DDAA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14</a:t>
            </a:r>
          </a:p>
        </p:txBody>
      </p:sp>
      <p:sp>
        <p:nvSpPr>
          <p:cNvPr id="10" name="Point to the clue you used.">
            <a:extLst xmlns:a="http://schemas.openxmlformats.org/drawingml/2006/main">
              <a:ext uri="{FF2B5EF4-FFF2-40B4-BE49-F238E27FC236}">
                <a16:creationId xmlns:a16="http://schemas.microsoft.com/office/drawing/2014/main" id="{B9CC2343-E640-46E0-A23C-C5DD9542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Point to the clue you used.</a:t>
            </a:r>
          </a:p>
        </p:txBody>
      </p:sp>
      <p:sp>
        <p:nvSpPr>
          <p:cNvPr id="11" name="Remove an unsupported claim.">
            <a:extLst xmlns:a="http://schemas.openxmlformats.org/drawingml/2006/main">
              <a:ext uri="{FF2B5EF4-FFF2-40B4-BE49-F238E27FC236}">
                <a16:creationId xmlns:a16="http://schemas.microsoft.com/office/drawing/2014/main" id="{6F4C0852-2AF1-4EA9-B8B2-97A4CD51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Remove an unsupported claim.</a:t>
            </a:r>
          </a:p>
        </p:txBody>
      </p:sp>
    </p:spTree>
    <p:extLst>
      <p:ext uri="{BB962C8B-B14F-4D97-AF65-F5344CB8AC3E}">
        <p14:creationId xmlns:p14="http://schemas.microsoft.com/office/powerpoint/2010/main" val="12392802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23E5880B-32AB-42E6-A9DD-B1CBFF51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765AA7F-34DC-4DE4-B732-0BA6E1C6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B061A24-9CFC-4CFF-BECB-B0367605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2658F5D2-ACE8-40D7-9839-754B92FB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30368DFC-7526-42C1-9998-409814D3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CC37F952-C2D2-4BF5-B066-69844F57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Lundy loop: improve the shared account">
            <a:extLst xmlns:a="http://schemas.openxmlformats.org/drawingml/2006/main">
              <a:ext uri="{FF2B5EF4-FFF2-40B4-BE49-F238E27FC236}">
                <a16:creationId xmlns:a16="http://schemas.microsoft.com/office/drawing/2014/main" id="{3E829F73-FA99-40E6-A19C-114A6D53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Lundy loop: improve the shared account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F722108-FAE4-4FF2-96F4-F7A0B50B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-system service desk">
            <a:extLst xmlns:a="http://schemas.openxmlformats.org/drawingml/2006/main">
              <a:ext uri="{FF2B5EF4-FFF2-40B4-BE49-F238E27FC236}">
                <a16:creationId xmlns:a16="http://schemas.microsoft.com/office/drawing/2014/main" id="{68EB65F0-EE8F-4CD1-A9B9-0485DA3E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plant-system service desk</a:t>
            </a:r>
          </a:p>
        </p:txBody>
      </p:sp>
      <p:sp>
        <p:nvSpPr>
          <p:cNvPr id="10" name="12 / 14">
            <a:extLst xmlns:a="http://schemas.openxmlformats.org/drawingml/2006/main">
              <a:ext uri="{FF2B5EF4-FFF2-40B4-BE49-F238E27FC236}">
                <a16:creationId xmlns:a16="http://schemas.microsoft.com/office/drawing/2014/main" id="{C541A6CB-3E54-476C-8714-AE6CECCA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14</a:t>
            </a:r>
          </a:p>
        </p:txBody>
      </p:sp>
      <p:sp>
        <p:nvSpPr>
          <p:cNvPr id="11" name="Choose how to share.">
            <a:extLst xmlns:a="http://schemas.openxmlformats.org/drawingml/2006/main">
              <a:ext uri="{FF2B5EF4-FFF2-40B4-BE49-F238E27FC236}">
                <a16:creationId xmlns:a16="http://schemas.microsoft.com/office/drawing/2014/main" id="{E9308552-B385-4E0B-9848-D010C794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how to share.</a:t>
            </a:r>
          </a:p>
        </p:txBody>
      </p:sp>
      <p:sp>
        <p:nvSpPr>
          <p:cNvPr id="12" name="Hear one evidence-based challenge.">
            <a:extLst xmlns:a="http://schemas.openxmlformats.org/drawingml/2006/main">
              <a:ext uri="{FF2B5EF4-FFF2-40B4-BE49-F238E27FC236}">
                <a16:creationId xmlns:a16="http://schemas.microsoft.com/office/drawing/2014/main" id="{8B6B01C1-0B15-4CA3-B78D-9819381D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Hear one evidence-based challenge.</a:t>
            </a:r>
          </a:p>
        </p:txBody>
      </p:sp>
      <p:sp>
        <p:nvSpPr>
          <p:cNvPr id="13" name="Improve or defend one idea.">
            <a:extLst xmlns:a="http://schemas.openxmlformats.org/drawingml/2006/main">
              <a:ext uri="{FF2B5EF4-FFF2-40B4-BE49-F238E27FC236}">
                <a16:creationId xmlns:a16="http://schemas.microsoft.com/office/drawing/2014/main" id="{FD9789F1-2AE3-4A18-88B1-3171CD77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Improve or defend one idea.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32D0935A-B6C9-4121-A565-59CF3F7C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C515E2CA-209E-4688-98BC-D4914FFA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6" name="Which connection made our explanation stronger?">
            <a:extLst xmlns:a="http://schemas.openxmlformats.org/drawingml/2006/main">
              <a:ext uri="{FF2B5EF4-FFF2-40B4-BE49-F238E27FC236}">
                <a16:creationId xmlns:a16="http://schemas.microsoft.com/office/drawing/2014/main" id="{A27CD3D1-0C33-482C-A0DA-8DCF1BF6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Which connection made our explanation stronger?</a:t>
            </a:r>
          </a:p>
        </p:txBody>
      </p:sp>
    </p:spTree>
    <p:extLst>
      <p:ext uri="{BB962C8B-B14F-4D97-AF65-F5344CB8AC3E}">
        <p14:creationId xmlns:p14="http://schemas.microsoft.com/office/powerpoint/2010/main" val="9521171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160C7B71-472C-45E6-88B8-747CFCB8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9AB2290-F4F1-49AF-80A2-1D939A31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CF897F6-1FCB-4F6C-9705-7AAEF92A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192A14B4-99FD-49D1-B1A6-9E13D3BA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63A230C0-ACF4-479E-B06E-DACFA310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Keep the useful change">
            <a:extLst xmlns:a="http://schemas.openxmlformats.org/drawingml/2006/main">
              <a:ext uri="{FF2B5EF4-FFF2-40B4-BE49-F238E27FC236}">
                <a16:creationId xmlns:a16="http://schemas.microsoft.com/office/drawing/2014/main" id="{8CCC36F8-0B79-4BD8-AC7A-068F5766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the useful change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6D89004C-7A76-4927-88CD-6BF6D98E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plant-system service desk">
            <a:extLst xmlns:a="http://schemas.openxmlformats.org/drawingml/2006/main">
              <a:ext uri="{FF2B5EF4-FFF2-40B4-BE49-F238E27FC236}">
                <a16:creationId xmlns:a16="http://schemas.microsoft.com/office/drawing/2014/main" id="{35E0A52C-FF8F-4017-A0A0-557452A3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plant-system service desk</a:t>
            </a:r>
          </a:p>
        </p:txBody>
      </p:sp>
      <p:sp>
        <p:nvSpPr>
          <p:cNvPr id="9" name="13 / 14">
            <a:extLst xmlns:a="http://schemas.openxmlformats.org/drawingml/2006/main">
              <a:ext uri="{FF2B5EF4-FFF2-40B4-BE49-F238E27FC236}">
                <a16:creationId xmlns:a16="http://schemas.microsoft.com/office/drawing/2014/main" id="{300758D8-D65B-495D-A18E-6136B969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14</a:t>
            </a:r>
          </a:p>
        </p:txBody>
      </p:sp>
      <p:sp>
        <p:nvSpPr>
          <p:cNvPr id="10" name="What changed in our account?">
            <a:extLst xmlns:a="http://schemas.openxmlformats.org/drawingml/2006/main">
              <a:ext uri="{FF2B5EF4-FFF2-40B4-BE49-F238E27FC236}">
                <a16:creationId xmlns:a16="http://schemas.microsoft.com/office/drawing/2014/main" id="{71EFF49C-4FA7-470C-AC5C-B9561BCB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What changed in our account?</a:t>
            </a:r>
          </a:p>
        </p:txBody>
      </p:sp>
      <p:sp>
        <p:nvSpPr>
          <p:cNvPr id="11" name="Which evidence helped?">
            <a:extLst xmlns:a="http://schemas.openxmlformats.org/drawingml/2006/main">
              <a:ext uri="{FF2B5EF4-FFF2-40B4-BE49-F238E27FC236}">
                <a16:creationId xmlns:a16="http://schemas.microsoft.com/office/drawing/2014/main" id="{9C72EE5F-3C01-42EF-A8A1-646F524A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evidence helped?</a:t>
            </a:r>
          </a:p>
        </p:txBody>
      </p:sp>
    </p:spTree>
    <p:extLst>
      <p:ext uri="{BB962C8B-B14F-4D97-AF65-F5344CB8AC3E}">
        <p14:creationId xmlns:p14="http://schemas.microsoft.com/office/powerpoint/2010/main" val="5978907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4DA42FA7-B865-46DB-AC0B-F939E29C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644D66E-48D7-468E-A86A-FDCDDD77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AFB3DCA-C50C-4DB2-870E-57B18ED3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36CF6C15-A0D4-470C-A77E-F87D8887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0D5EE7CD-1645-4357-94C5-FE90EFB5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419361F3-F493-49FF-B4F2-0E6C9EE1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hree final checks">
            <a:extLst xmlns:a="http://schemas.openxmlformats.org/drawingml/2006/main">
              <a:ext uri="{FF2B5EF4-FFF2-40B4-BE49-F238E27FC236}">
                <a16:creationId xmlns:a16="http://schemas.microsoft.com/office/drawing/2014/main" id="{8206A5AE-8B46-4D80-AB37-66FF5243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final checks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B3A906B-5A1C-4586-9D9B-7193E629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-system service desk">
            <a:extLst xmlns:a="http://schemas.openxmlformats.org/drawingml/2006/main">
              <a:ext uri="{FF2B5EF4-FFF2-40B4-BE49-F238E27FC236}">
                <a16:creationId xmlns:a16="http://schemas.microsoft.com/office/drawing/2014/main" id="{7FC79C6D-BDDA-439A-8330-E23E7C92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plant-system service desk</a:t>
            </a:r>
          </a:p>
        </p:txBody>
      </p:sp>
      <p:sp>
        <p:nvSpPr>
          <p:cNvPr id="10" name="14 / 14">
            <a:extLst xmlns:a="http://schemas.openxmlformats.org/drawingml/2006/main">
              <a:ext uri="{FF2B5EF4-FFF2-40B4-BE49-F238E27FC236}">
                <a16:creationId xmlns:a16="http://schemas.microsoft.com/office/drawing/2014/main" id="{46F0403E-7C77-4D8D-942D-74A3AAF2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14</a:t>
            </a:r>
          </a:p>
        </p:txBody>
      </p:sp>
      <p:sp>
        <p:nvSpPr>
          <p:cNvPr id="11" name="E1. Which part absorbs water from soil?">
            <a:extLst xmlns:a="http://schemas.openxmlformats.org/drawingml/2006/main">
              <a:ext uri="{FF2B5EF4-FFF2-40B4-BE49-F238E27FC236}">
                <a16:creationId xmlns:a16="http://schemas.microsoft.com/office/drawing/2014/main" id="{AA34F5CA-1685-43E5-8C27-C1417320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Which part absorbs water from soil?</a:t>
            </a:r>
          </a:p>
        </p:txBody>
      </p:sp>
      <p:sp>
        <p:nvSpPr>
          <p:cNvPr id="12" name="E2. Where do green plants make sugars using light?">
            <a:extLst xmlns:a="http://schemas.openxmlformats.org/drawingml/2006/main">
              <a:ext uri="{FF2B5EF4-FFF2-40B4-BE49-F238E27FC236}">
                <a16:creationId xmlns:a16="http://schemas.microsoft.com/office/drawing/2014/main" id="{220340F7-E7DD-4DC0-8563-4758CC50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Where do green plants make sugars using light?</a:t>
            </a:r>
          </a:p>
        </p:txBody>
      </p:sp>
      <p:sp>
        <p:nvSpPr>
          <p:cNvPr id="13" name="E3. What do flowers help the plant do?">
            <a:extLst xmlns:a="http://schemas.openxmlformats.org/drawingml/2006/main">
              <a:ext uri="{FF2B5EF4-FFF2-40B4-BE49-F238E27FC236}">
                <a16:creationId xmlns:a16="http://schemas.microsoft.com/office/drawing/2014/main" id="{759DAB68-3D2F-44A3-A8DE-32EDD083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What do flowers help the plant do?</a:t>
            </a:r>
          </a:p>
        </p:txBody>
      </p:sp>
    </p:spTree>
    <p:extLst>
      <p:ext uri="{BB962C8B-B14F-4D97-AF65-F5344CB8AC3E}">
        <p14:creationId xmlns:p14="http://schemas.microsoft.com/office/powerpoint/2010/main" val="21422442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2026-09-08T23:49:52.3950000Z</dcterms:created>
  <dcterms:modified xsi:type="dcterms:W3CDTF">2026-09-08T23:49:52.3950000Z</dcterms:modified>
</coreProperties>
</file>