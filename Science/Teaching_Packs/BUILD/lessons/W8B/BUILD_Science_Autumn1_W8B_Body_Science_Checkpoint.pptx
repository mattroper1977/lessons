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063e0941344f6d" /><Relationship Type="http://schemas.openxmlformats.org/officeDocument/2006/relationships/extended-properties" Target="/docProps/app.xml" Id="Rf605a57d87124c94" /><Relationship Type="http://schemas.openxmlformats.org/officeDocument/2006/relationships/officeDocument" Target="/ppt/presentation.xml" Id="R62e99a2ab1e04e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1b35bcd27a4374"/>
  </p:sldMasterIdLst>
  <p:notesMasterIdLst>
    <p:notesMasterId xmlns:r="http://schemas.openxmlformats.org/officeDocument/2006/relationships" r:id="R3892c536af49433d"/>
  </p:notesMasterIdLst>
  <p:sldIdLst>
    <p:sldId xmlns:r="http://schemas.openxmlformats.org/officeDocument/2006/relationships" id="256" r:id="Rc6838012aa7c4ce9"/>
    <p:sldId xmlns:r="http://schemas.openxmlformats.org/officeDocument/2006/relationships" id="257" r:id="R62a4892680014766"/>
    <p:sldId xmlns:r="http://schemas.openxmlformats.org/officeDocument/2006/relationships" id="258" r:id="R34be2e55b87845e2"/>
    <p:sldId xmlns:r="http://schemas.openxmlformats.org/officeDocument/2006/relationships" id="259" r:id="Rf2f6d2af8c354bbf"/>
    <p:sldId xmlns:r="http://schemas.openxmlformats.org/officeDocument/2006/relationships" id="260" r:id="Ra79d0b7d029c4f87"/>
    <p:sldId xmlns:r="http://schemas.openxmlformats.org/officeDocument/2006/relationships" id="261" r:id="Rce04b7772ef5443d"/>
    <p:sldId xmlns:r="http://schemas.openxmlformats.org/officeDocument/2006/relationships" id="262" r:id="R4057c5e23eff4814"/>
    <p:sldId xmlns:r="http://schemas.openxmlformats.org/officeDocument/2006/relationships" id="263" r:id="Rd911a66852354560"/>
    <p:sldId xmlns:r="http://schemas.openxmlformats.org/officeDocument/2006/relationships" id="264" r:id="Re79cf332986147e4"/>
    <p:sldId xmlns:r="http://schemas.openxmlformats.org/officeDocument/2006/relationships" id="265" r:id="R4734a1ee62874948"/>
    <p:sldId xmlns:r="http://schemas.openxmlformats.org/officeDocument/2006/relationships" id="266" r:id="R1c25a83c01cc4492"/>
    <p:sldId xmlns:r="http://schemas.openxmlformats.org/officeDocument/2006/relationships" id="267" r:id="Rd9e9371a400b4a51"/>
    <p:sldId xmlns:r="http://schemas.openxmlformats.org/officeDocument/2006/relationships" id="268" r:id="Rb501d478ff414cb8"/>
    <p:sldId xmlns:r="http://schemas.openxmlformats.org/officeDocument/2006/relationships" id="269" r:id="R9c93c54e9d764def"/>
    <p:sldId xmlns:r="http://schemas.openxmlformats.org/officeDocument/2006/relationships" id="270" r:id="Rbd686531b35941a3"/>
    <p:sldId xmlns:r="http://schemas.openxmlformats.org/officeDocument/2006/relationships" id="271" r:id="Rdfdffd274ae84412"/>
    <p:sldId xmlns:r="http://schemas.openxmlformats.org/officeDocument/2006/relationships" id="272" r:id="R334339632e9042ce"/>
    <p:sldId xmlns:r="http://schemas.openxmlformats.org/officeDocument/2006/relationships" id="273" r:id="Rc1097f14667547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31bb2daf6a4c3d" /><Relationship Type="http://schemas.openxmlformats.org/officeDocument/2006/relationships/slideMaster" Target="/ppt/slideMasters/slideMaster1.xml" Id="R0f1b35bcd27a4374" /><Relationship Type="http://schemas.openxmlformats.org/officeDocument/2006/relationships/notesMaster" Target="/ppt/notesMasters/notesMaster1.xml" Id="R3892c536af49433d" /><Relationship Type="http://schemas.openxmlformats.org/officeDocument/2006/relationships/presProps" Target="/ppt/presProps.xml" Id="R3c09ec4490904f83" /><Relationship Type="http://schemas.openxmlformats.org/officeDocument/2006/relationships/tableStyles" Target="/ppt/tableStyles.xml" Id="R5c4dd276b162414a" /><Relationship Type="http://schemas.openxmlformats.org/officeDocument/2006/relationships/slide" Target="/ppt/slides/slide1.xml" Id="Rc6838012aa7c4ce9" /><Relationship Type="http://schemas.openxmlformats.org/officeDocument/2006/relationships/slide" Target="/ppt/slides/slide2.xml" Id="R62a4892680014766" /><Relationship Type="http://schemas.openxmlformats.org/officeDocument/2006/relationships/slide" Target="/ppt/slides/slide3.xml" Id="R34be2e55b87845e2" /><Relationship Type="http://schemas.openxmlformats.org/officeDocument/2006/relationships/slide" Target="/ppt/slides/slide4.xml" Id="Rf2f6d2af8c354bbf" /><Relationship Type="http://schemas.openxmlformats.org/officeDocument/2006/relationships/slide" Target="/ppt/slides/slide5.xml" Id="Ra79d0b7d029c4f87" /><Relationship Type="http://schemas.openxmlformats.org/officeDocument/2006/relationships/slide" Target="/ppt/slides/slide6.xml" Id="Rce04b7772ef5443d" /><Relationship Type="http://schemas.openxmlformats.org/officeDocument/2006/relationships/slide" Target="/ppt/slides/slide7.xml" Id="R4057c5e23eff4814" /><Relationship Type="http://schemas.openxmlformats.org/officeDocument/2006/relationships/slide" Target="/ppt/slides/slide8.xml" Id="Rd911a66852354560" /><Relationship Type="http://schemas.openxmlformats.org/officeDocument/2006/relationships/slide" Target="/ppt/slides/slide9.xml" Id="Re79cf332986147e4" /><Relationship Type="http://schemas.openxmlformats.org/officeDocument/2006/relationships/slide" Target="/ppt/slides/slide10.xml" Id="R4734a1ee62874948" /><Relationship Type="http://schemas.openxmlformats.org/officeDocument/2006/relationships/slide" Target="/ppt/slides/slide11.xml" Id="R1c25a83c01cc4492" /><Relationship Type="http://schemas.openxmlformats.org/officeDocument/2006/relationships/slide" Target="/ppt/slides/slide12.xml" Id="Rd9e9371a400b4a51" /><Relationship Type="http://schemas.openxmlformats.org/officeDocument/2006/relationships/slide" Target="/ppt/slides/slide13.xml" Id="Rb501d478ff414cb8" /><Relationship Type="http://schemas.openxmlformats.org/officeDocument/2006/relationships/slide" Target="/ppt/slides/slide14.xml" Id="R9c93c54e9d764def" /><Relationship Type="http://schemas.openxmlformats.org/officeDocument/2006/relationships/slide" Target="/ppt/slides/slide15.xml" Id="Rbd686531b35941a3" /><Relationship Type="http://schemas.openxmlformats.org/officeDocument/2006/relationships/slide" Target="/ppt/slides/slide16.xml" Id="Rdfdffd274ae84412" /><Relationship Type="http://schemas.openxmlformats.org/officeDocument/2006/relationships/slide" Target="/ppt/slides/slide17.xml" Id="R334339632e9042ce" /><Relationship Type="http://schemas.openxmlformats.org/officeDocument/2006/relationships/slide" Target="/ppt/slides/slide18.xml" Id="Rc1097f14667547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e29d9d5edd46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dd125ecefb45f9" /><Relationship Type="http://schemas.openxmlformats.org/officeDocument/2006/relationships/notesMaster" Target="/ppt/notesMasters/notesMaster1.xml" Id="R615da4dea82745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92525f8dad4ba1" /><Relationship Type="http://schemas.openxmlformats.org/officeDocument/2006/relationships/notesMaster" Target="/ppt/notesMasters/notesMaster1.xml" Id="Rac912be31abe45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4b407af1d2440f" /><Relationship Type="http://schemas.openxmlformats.org/officeDocument/2006/relationships/notesMaster" Target="/ppt/notesMasters/notesMaster1.xml" Id="R6ba848929ddf43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b0e574de0b43ca" /><Relationship Type="http://schemas.openxmlformats.org/officeDocument/2006/relationships/notesMaster" Target="/ppt/notesMasters/notesMaster1.xml" Id="R9bcfb6f332ad45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ed9d4187174ead" /><Relationship Type="http://schemas.openxmlformats.org/officeDocument/2006/relationships/notesMaster" Target="/ppt/notesMasters/notesMaster1.xml" Id="R888951d74e7147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6223a1d975444f" /><Relationship Type="http://schemas.openxmlformats.org/officeDocument/2006/relationships/notesMaster" Target="/ppt/notesMasters/notesMaster1.xml" Id="R776e58ac44be4f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33a388af2b4de2" /><Relationship Type="http://schemas.openxmlformats.org/officeDocument/2006/relationships/notesMaster" Target="/ppt/notesMasters/notesMaster1.xml" Id="R84bfbcafc0e348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85128765ee446b" /><Relationship Type="http://schemas.openxmlformats.org/officeDocument/2006/relationships/notesMaster" Target="/ppt/notesMasters/notesMaster1.xml" Id="R275645f4902141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e9e9a6fb48461a" /><Relationship Type="http://schemas.openxmlformats.org/officeDocument/2006/relationships/notesMaster" Target="/ppt/notesMasters/notesMaster1.xml" Id="R1b8369ab8f7146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e4b890db5f4ead" /><Relationship Type="http://schemas.openxmlformats.org/officeDocument/2006/relationships/notesMaster" Target="/ppt/notesMasters/notesMaster1.xml" Id="R464628ef41df46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3581437d4b4335" /><Relationship Type="http://schemas.openxmlformats.org/officeDocument/2006/relationships/notesMaster" Target="/ppt/notesMasters/notesMaster1.xml" Id="Rced833081d924e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e56ca6ab9b4ea0" /><Relationship Type="http://schemas.openxmlformats.org/officeDocument/2006/relationships/notesMaster" Target="/ppt/notesMasters/notesMaster1.xml" Id="Rdc555b68ad9341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dcda1755d94f37" /><Relationship Type="http://schemas.openxmlformats.org/officeDocument/2006/relationships/notesMaster" Target="/ppt/notesMasters/notesMaster1.xml" Id="Rda35175b54bb44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76aafc8a2e4feb" /><Relationship Type="http://schemas.openxmlformats.org/officeDocument/2006/relationships/notesMaster" Target="/ppt/notesMasters/notesMaster1.xml" Id="R110f2e96777a41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3dda34279a46d1" /><Relationship Type="http://schemas.openxmlformats.org/officeDocument/2006/relationships/notesMaster" Target="/ppt/notesMasters/notesMaster1.xml" Id="Rc293d61db9a948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439f2f40c74b1e" /><Relationship Type="http://schemas.openxmlformats.org/officeDocument/2006/relationships/notesMaster" Target="/ppt/notesMasters/notesMaster1.xml" Id="R42a8a0003c3c47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911b0db4ef499c" /><Relationship Type="http://schemas.openxmlformats.org/officeDocument/2006/relationships/notesMaster" Target="/ppt/notesMasters/notesMaster1.xml" Id="R23f1838d632848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9aaa6844674aee" /><Relationship Type="http://schemas.openxmlformats.org/officeDocument/2006/relationships/notesMaster" Target="/ppt/notesMasters/notesMaster1.xml" Id="R8abad1eed94b4d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8B · Do</a:t>
            </a:r>
          </a:p>
          <a:p xmlns:a="http://schemas.openxmlformats.org/drawingml/2006/main">
            <a:r>
              <a:t>Learning objective: I can use models and evidence to show what I know about skeletons, muscle pairs, nutrition, balance and food sources.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show one secure idea from each checkpoint strand.</a:t>
            </a:r>
          </a:p>
          <a:p xmlns:a="http://schemas.openxmlformats.org/drawingml/2006/main">
            <a:r>
              <a:t>I can connect at least two ideas using because.</a:t>
            </a:r>
          </a:p>
          <a:p xmlns:a="http://schemas.openxmlformats.org/drawingml/2006/main">
            <a:r>
              <a:t>I can keep my first evidence and identify the strand to practise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8B · Do</a:t>
            </a:r>
          </a:p>
          <a:p xmlns:a="http://schemas.openxmlformats.org/drawingml/2006/main">
            <a:r>
              <a:t>Learning objective: I can use models and evidence to show what I know about skeletons, muscle pairs, nutrition, balance and food sources.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show one secure idea from each checkpoint strand.</a:t>
            </a:r>
          </a:p>
          <a:p xmlns:a="http://schemas.openxmlformats.org/drawingml/2006/main">
            <a:r>
              <a:t>I can connect at least two ideas using because.</a:t>
            </a:r>
          </a:p>
          <a:p xmlns:a="http://schemas.openxmlformats.org/drawingml/2006/main">
            <a:r>
              <a:t>I can keep my first evidence and identify the strand to practise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W8A: a fair label comparison used the same nutrient, unit and per-100 g basis.</a:t>
            </a:r>
          </a:p>
          <a:p xmlns:a="http://schemas.openxmlformats.org/drawingml/2006/main">
            <a:r>
              <a:t>W7: animals obtain food by eating; food-chain arrows show transfer.</a:t>
            </a:r>
          </a:p>
          <a:p xmlns:a="http://schemas.openxmlformats.org/drawingml/2006/main">
            <a:r>
              <a:t>W4: muscles work in pairs and pull on bones to move a joint.</a:t>
            </a:r>
          </a:p>
          <a:p xmlns:a="http://schemas.openxmlformats.org/drawingml/2006/main">
            <a:r>
              <a:t>W2–W3: skeletons support, protect and help movement; vertebrates have an internal backbone.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Name one skeleton job and one bone example.</a:t>
            </a:r>
          </a:p>
          <a:p xmlns:a="http://schemas.openxmlformats.org/drawingml/2006/main">
            <a:r>
              <a:t>Explain what one muscle does while its partner relaxes.</a:t>
            </a:r>
          </a:p>
          <a:p xmlns:a="http://schemas.openxmlformats.org/drawingml/2006/main">
            <a:r>
              <a:t>Define vertebrate using backbone.</a:t>
            </a:r>
          </a:p>
          <a:p xmlns:a="http://schemas.openxmlformats.org/drawingml/2006/main">
            <a:r>
              <a:t>Lead-in: state one supported claim from the sugar labels.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SKELETON · three jobs</a:t>
            </a:r>
          </a:p>
          <a:p xmlns:a="http://schemas.openxmlformats.org/drawingml/2006/main">
            <a:r>
              <a:t>Bones hold you up, keep soft parts safe, and give muscles something to pull on.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MUSCLE PAIR · pull, never push</a:t>
            </a:r>
          </a:p>
          <a:p xmlns:a="http://schemas.openxmlformats.org/drawingml/2006/main">
            <a:r>
              <a:t>The biceps contracts (short and fat) and pulls the arm up. Its partner relaxes 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NUTRITION · food does jobs</a:t>
            </a:r>
          </a:p>
          <a:p xmlns:a="http://schemas.openxmlformats.org/drawingml/2006/main">
            <a:r>
              <a:t>Food gives energy, growth and repair. Animals must eat to get it. Plants make their own.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Keep it: bones push muscles to make them shorter.</a:t>
            </a:r>
          </a:p>
          <a:p xmlns:a="http://schemas.openxmlformats.org/drawingml/2006/main">
            <a:r>
              <a:t>Test the pair: one muscle contracts and pulls while the other relaxes.</a:t>
            </a:r>
          </a:p>
          <a:p xmlns:a="http://schemas.openxmlformats.org/drawingml/2006/main">
            <a:r>
              <a:t>Ignore the arm model and compare sugar labels instead.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SKELETON · three jobs</a:t>
            </a:r>
          </a:p>
          <a:p xmlns:a="http://schemas.openxmlformats.org/drawingml/2006/main">
            <a:r>
              <a:t>Bones hold you up, keep soft parts safe, and give muscles something to pull on.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MUSCLE PAIR · pull, never push</a:t>
            </a:r>
          </a:p>
          <a:p xmlns:a="http://schemas.openxmlformats.org/drawingml/2006/main">
            <a:r>
              <a:t>The biceps contracts (short and fat) and pulls the arm up. Its partner relaxes 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NUTRITION · food does jobs</a:t>
            </a:r>
          </a:p>
          <a:p xmlns:a="http://schemas.openxmlformats.org/drawingml/2006/main">
            <a:r>
              <a:t>Food gives energy, growth and repair. Animals must eat to get it. Plants make their own.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Keep it: bones push muscles to make them shorter.</a:t>
            </a:r>
          </a:p>
          <a:p xmlns:a="http://schemas.openxmlformats.org/drawingml/2006/main">
            <a:r>
              <a:t>Test the pair: one muscle contracts and pulls while the other relaxes.</a:t>
            </a:r>
          </a:p>
          <a:p xmlns:a="http://schemas.openxmlformats.org/drawingml/2006/main">
            <a:r>
              <a:t>Ignore the arm model and compare sugar labels instead.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SKELETON · three jobs</a:t>
            </a:r>
          </a:p>
          <a:p xmlns:a="http://schemas.openxmlformats.org/drawingml/2006/main">
            <a:r>
              <a:t>Bones hold you up, keep soft parts safe, and give muscles something to pull on.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MUSCLE PAIR · pull, never push</a:t>
            </a:r>
          </a:p>
          <a:p xmlns:a="http://schemas.openxmlformats.org/drawingml/2006/main">
            <a:r>
              <a:t>The biceps contracts (short and fat) and pulls the arm up. Its partner relaxes 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NUTRITION · food does jobs</a:t>
            </a:r>
          </a:p>
          <a:p xmlns:a="http://schemas.openxmlformats.org/drawingml/2006/main">
            <a:r>
              <a:t>Food gives energy, growth and repair. Animals must eat to get it. Plants make their own.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Keep it: bones push muscles to make them shorter.</a:t>
            </a:r>
          </a:p>
          <a:p xmlns:a="http://schemas.openxmlformats.org/drawingml/2006/main">
            <a:r>
              <a:t>Test the pair: one muscle contracts and pulls while the other relaxes.</a:t>
            </a:r>
          </a:p>
          <a:p xmlns:a="http://schemas.openxmlformats.org/drawingml/2006/main">
            <a:r>
              <a:t>Ignore the arm model and compare sugar labels instead.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 hold up and give shape a skeleton function that provides a firm framework for the body</a:t>
            </a:r>
          </a:p>
          <a:p xmlns:a="http://schemas.openxmlformats.org/drawingml/2006/main">
            <a:r>
              <a:t>CONTRACT shorten and pull what a muscle does when it becomes shorter and pulls on a bone</a:t>
            </a:r>
          </a:p>
          <a:p xmlns:a="http://schemas.openxmlformats.org/drawingml/2006/main">
            <a:r>
              <a:t>NUTRITION getting what the body needs from food obtaining nutrients needed for energy, growth, repair and healthy function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four checkpoint strands make the half-term knowledge visible without turning one response mode into the only way to show understanding.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Checkpoint 1: use a skeleton model to match support, protection and movement to an example; classify one animal using backbone evidence.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Checkpoint 2: operate the arm model. Name which muscle contracts, which relaxes and how the bone moves at the joint.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Keep each pupil's first response. Feedback adds a repair beside it rather than erasing the evidence.</a:t>
            </a:r>
          </a:p>
          <a:p xmlns:a="http://schemas.openxmlformats.org/drawingml/2006/main">
            <a:r>
              <a:t>Arm model · press to bend and straighten</a:t>
            </a:r>
          </a:p>
          <a:p xmlns:a="http://schemas.openxmlformats.org/drawingml/2006/main">
            <a:r>
              <a:t>Watch which muscle gets short and fat. That one is contracting and pulling. Muscles pull. They never push.</a:t>
            </a:r>
          </a:p>
          <a:p xmlns:a="http://schemas.openxmlformats.org/drawingml/2006/main">
            <a:r>
              <a:t>BEND the elbow</a:t>
            </a:r>
          </a:p>
          <a:p xmlns:a="http://schemas.openxmlformats.org/drawingml/2006/main">
            <a:r>
              <a:t>STRAIGHTEN</a:t>
            </a:r>
          </a:p>
          <a:p xmlns:a="http://schemas.openxmlformats.org/drawingml/2006/main">
            <a:r>
              <a:t>Bent: biceps contracts and pulls the forearm bone up. Triceps relaxes.</a:t>
            </a:r>
          </a:p>
          <a:p xmlns:a="http://schemas.openxmlformats.org/drawingml/2006/main">
            <a:r>
              <a:t>Bone pushes muscle?</a:t>
            </a:r>
          </a:p>
          <a:p xmlns:a="http://schemas.openxmlformats.org/drawingml/2006/main">
            <a:r>
              <a:t>Muscle pulls bone?</a:t>
            </a:r>
          </a:p>
          <a:p xmlns:a="http://schemas.openxmlformats.org/drawingml/2006/main">
            <a:r>
              <a:t>Checkpoint 2 evidence: the pupil says which muscle contracts, which relaxes, and how the bone moves at the joint.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 hold up and give shape a skeleton function that provides a firm framework for the body</a:t>
            </a:r>
          </a:p>
          <a:p xmlns:a="http://schemas.openxmlformats.org/drawingml/2006/main">
            <a:r>
              <a:t>CONTRACT shorten and pull what a muscle does when it becomes shorter and pulls on a bone</a:t>
            </a:r>
          </a:p>
          <a:p xmlns:a="http://schemas.openxmlformats.org/drawingml/2006/main">
            <a:r>
              <a:t>NUTRITION getting what the body needs from food obtaining nutrients needed for energy, growth, repair and healthy function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four checkpoint strands make the half-term knowledge visible without turning one response mode into the only way to show understanding.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Checkpoint 1: use a skeleton model to match support, protection and movement to an example; classify one animal using backbone evidence.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Checkpoint 2: operate the arm model. Name which muscle contracts, which relaxes and how the bone moves at the joint.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Keep each pupil's first response. Feedback adds a repair beside it rather than erasing the evidence.</a:t>
            </a:r>
          </a:p>
          <a:p xmlns:a="http://schemas.openxmlformats.org/drawingml/2006/main">
            <a:r>
              <a:t>Arm model · press to bend and straighten</a:t>
            </a:r>
          </a:p>
          <a:p xmlns:a="http://schemas.openxmlformats.org/drawingml/2006/main">
            <a:r>
              <a:t>Watch which muscle gets short and fat. That one is contracting and pulling. Muscles pull. They never push.</a:t>
            </a:r>
          </a:p>
          <a:p xmlns:a="http://schemas.openxmlformats.org/drawingml/2006/main">
            <a:r>
              <a:t>BEND the elbow</a:t>
            </a:r>
          </a:p>
          <a:p xmlns:a="http://schemas.openxmlformats.org/drawingml/2006/main">
            <a:r>
              <a:t>STRAIGHTEN</a:t>
            </a:r>
          </a:p>
          <a:p xmlns:a="http://schemas.openxmlformats.org/drawingml/2006/main">
            <a:r>
              <a:t>Bent: biceps contracts and pulls the forearm bone up. Triceps relaxes.</a:t>
            </a:r>
          </a:p>
          <a:p xmlns:a="http://schemas.openxmlformats.org/drawingml/2006/main">
            <a:r>
              <a:t>Bone pushes muscle?</a:t>
            </a:r>
          </a:p>
          <a:p xmlns:a="http://schemas.openxmlformats.org/drawingml/2006/main">
            <a:r>
              <a:t>Muscle pulls bone?</a:t>
            </a:r>
          </a:p>
          <a:p xmlns:a="http://schemas.openxmlformats.org/drawingml/2006/main">
            <a:r>
              <a:t>Checkpoint 2 evidence: the pupil says which muscle contracts, which relaxes, and how the bone moves at the joint.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 hold up and give shape a skeleton function that provides a firm framework for the body</a:t>
            </a:r>
          </a:p>
          <a:p xmlns:a="http://schemas.openxmlformats.org/drawingml/2006/main">
            <a:r>
              <a:t>CONTRACT shorten and pull what a muscle does when it becomes shorter and pulls on a bone</a:t>
            </a:r>
          </a:p>
          <a:p xmlns:a="http://schemas.openxmlformats.org/drawingml/2006/main">
            <a:r>
              <a:t>NUTRITION getting what the body needs from food obtaining nutrients needed for energy, growth, repair and healthy function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four checkpoint strands make the half-term knowledge visible without turning one response mode into the only way to show understanding.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Checkpoint 1: use a skeleton model to match support, protection and movement to an example; classify one animal using backbone evidence.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Checkpoint 2: operate the arm model. Name which muscle contracts, which relaxes and how the bone moves at the joint.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Keep each pupil's first response. Feedback adds a repair beside it rather than erasing the evidence.</a:t>
            </a:r>
          </a:p>
          <a:p xmlns:a="http://schemas.openxmlformats.org/drawingml/2006/main">
            <a:r>
              <a:t>Arm model · press to bend and straighten</a:t>
            </a:r>
          </a:p>
          <a:p xmlns:a="http://schemas.openxmlformats.org/drawingml/2006/main">
            <a:r>
              <a:t>Watch which muscle gets short and fat. That one is contracting and pulling. Muscles pull. They never push.</a:t>
            </a:r>
          </a:p>
          <a:p xmlns:a="http://schemas.openxmlformats.org/drawingml/2006/main">
            <a:r>
              <a:t>BEND the elbow</a:t>
            </a:r>
          </a:p>
          <a:p xmlns:a="http://schemas.openxmlformats.org/drawingml/2006/main">
            <a:r>
              <a:t>STRAIGHTEN</a:t>
            </a:r>
          </a:p>
          <a:p xmlns:a="http://schemas.openxmlformats.org/drawingml/2006/main">
            <a:r>
              <a:t>Bent: biceps contracts and pulls the forearm bone up. Triceps relaxes.</a:t>
            </a:r>
          </a:p>
          <a:p xmlns:a="http://schemas.openxmlformats.org/drawingml/2006/main">
            <a:r>
              <a:t>Bone pushes muscle?</a:t>
            </a:r>
          </a:p>
          <a:p xmlns:a="http://schemas.openxmlformats.org/drawingml/2006/main">
            <a:r>
              <a:t>Muscle pulls bone?</a:t>
            </a:r>
          </a:p>
          <a:p xmlns:a="http://schemas.openxmlformats.org/drawingml/2006/main">
            <a:r>
              <a:t>Checkpoint 2 evidence: the pupil says which muscle contracts, which relaxes, and how the bone moves at the joint.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Relax while the biceps pulls the forearm bone.</a:t>
            </a:r>
          </a:p>
          <a:p xmlns:a="http://schemas.openxmlformats.org/drawingml/2006/main">
            <a:r>
              <a:t>Push the bone from behind.</a:t>
            </a:r>
          </a:p>
          <a:p xmlns:a="http://schemas.openxmlformats.org/drawingml/2006/main">
            <a:r>
              <a:t>Contract fully in the same direction as the biceps.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Checkpoint 3: match food evidence to body jobs such as energy, growth and repair; explain why variety matters.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Checkpoint 4: sort foods with a stated rule and build a simple producer-to-consumer food-source chain.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Connect W8A carefully: a sugar value is one piece of nutrition evidence, not a score for a food or person.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four checkpoint strands make the half-term knowledge visible without turning one response mode into the only way to show understanding.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Checkpoint 3: match food evidence to body jobs such as energy, growth and repair; explain why variety matters.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Checkpoint 4: sort foods with a stated rule and build a simple producer-to-consumer food-source chain.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Connect W8A carefully: a sugar value is one piece of nutrition evidence, not a score for a food or person.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four checkpoint strands make the half-term knowledge visible without turning one response mode into the only way to show understanding.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evidence card to the strand it checks. Then choose one strand to explain and one to revisit.</a:t>
            </a:r>
          </a:p>
          <a:p xmlns:a="http://schemas.openxmlformats.org/drawingml/2006/main">
            <a:r>
              <a:t>Choose one evidence card. Place it with its strand. State or point to the science idea. Repair after feedback without deleting the first response. Choose the next strand.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Skull around the brain A hard bone surrounds and guards the brain.</a:t>
            </a:r>
          </a:p>
          <a:p xmlns:a="http://schemas.openxmlformats.org/drawingml/2006/main">
            <a:r>
              <a:t>Snake X-ray shows an internal spine The animal has a backbone even though it has no legs.</a:t>
            </a:r>
          </a:p>
          <a:p xmlns:a="http://schemas.openxmlformats.org/drawingml/2006/main">
            <a:r>
              <a:t>Biceps becomes shorter The muscle contracts and pulls the forearm bone to bend the elbow.</a:t>
            </a:r>
          </a:p>
          <a:p xmlns:a="http://schemas.openxmlformats.org/drawingml/2006/main">
            <a:r>
              <a:t>Partner relaxes during the bend In the simple model, the triceps relaxes while the biceps contracts.</a:t>
            </a:r>
          </a:p>
          <a:p xmlns:a="http://schemas.openxmlformats.org/drawingml/2006/main">
            <a:r>
              <a:t>Energy, growth and repair Different nutrients support different body jobs.</a:t>
            </a:r>
          </a:p>
          <a:p xmlns:a="http://schemas.openxmlformats.org/drawingml/2006/main">
            <a:r>
              <a:t>A varied pattern across food groups No single food or sugar value describes a balanced dietary pattern.</a:t>
            </a:r>
          </a:p>
          <a:p xmlns:a="http://schemas.openxmlformats.org/drawingml/2006/main">
            <a:r>
              <a:t>Plant → caterpillar The plant is the producer at the start of this simple chain.</a:t>
            </a:r>
          </a:p>
          <a:p xmlns:a="http://schemas.openxmlformats.org/drawingml/2006/main">
            <a:r>
              <a:t>Caterpillar → bird The bird is a consumer that obtains food by eating another animal.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SKELETON / BACKBONE</a:t>
            </a:r>
          </a:p>
          <a:p xmlns:a="http://schemas.openxmlformats.org/drawingml/2006/main">
            <a:r>
              <a:t>MUSCLE PAIR</a:t>
            </a:r>
          </a:p>
          <a:p xmlns:a="http://schemas.openxmlformats.org/drawingml/2006/main">
            <a:r>
              <a:t>NUTRITION / BALANCE</a:t>
            </a:r>
          </a:p>
          <a:p xmlns:a="http://schemas.openxmlformats.org/drawingml/2006/main">
            <a:r>
              <a:t>FOOD SOURCE / CHAIN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Checkpoint glitch: bones move by themselves and food with less sugar always makes every body healthier.</a:t>
            </a:r>
          </a:p>
          <a:p xmlns:a="http://schemas.openxmlformats.org/drawingml/2006/main">
            <a:r>
              <a:t>Keep both claims because they sound simple.</a:t>
            </a:r>
          </a:p>
          <a:p xmlns:a="http://schemas.openxmlformats.org/drawingml/2006/main">
            <a:r>
              <a:t>Repair both: muscles pull bones in pairs, and sugar is only one part of nutrition evidence.</a:t>
            </a:r>
          </a:p>
          <a:p xmlns:a="http://schemas.openxmlformats.org/drawingml/2006/main">
            <a:r>
              <a:t>Remove the first answers so nobody can see the misconceptions.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evidence card to the strand it checks. Then choose one strand to explain and one to revisit.</a:t>
            </a:r>
          </a:p>
          <a:p xmlns:a="http://schemas.openxmlformats.org/drawingml/2006/main">
            <a:r>
              <a:t>Choose one evidence card. Place it with its strand. State or point to the science idea. Repair after feedback without deleting the first response. Choose the next strand.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Skull around the brain A hard bone surrounds and guards the brain.</a:t>
            </a:r>
          </a:p>
          <a:p xmlns:a="http://schemas.openxmlformats.org/drawingml/2006/main">
            <a:r>
              <a:t>Snake X-ray shows an internal spine The animal has a backbone even though it has no legs.</a:t>
            </a:r>
          </a:p>
          <a:p xmlns:a="http://schemas.openxmlformats.org/drawingml/2006/main">
            <a:r>
              <a:t>Biceps becomes shorter The muscle contracts and pulls the forearm bone to bend the elbow.</a:t>
            </a:r>
          </a:p>
          <a:p xmlns:a="http://schemas.openxmlformats.org/drawingml/2006/main">
            <a:r>
              <a:t>Partner relaxes during the bend In the simple model, the triceps relaxes while the biceps contracts.</a:t>
            </a:r>
          </a:p>
          <a:p xmlns:a="http://schemas.openxmlformats.org/drawingml/2006/main">
            <a:r>
              <a:t>Energy, growth and repair Different nutrients support different body jobs.</a:t>
            </a:r>
          </a:p>
          <a:p xmlns:a="http://schemas.openxmlformats.org/drawingml/2006/main">
            <a:r>
              <a:t>A varied pattern across food groups No single food or sugar value describes a balanced dietary pattern.</a:t>
            </a:r>
          </a:p>
          <a:p xmlns:a="http://schemas.openxmlformats.org/drawingml/2006/main">
            <a:r>
              <a:t>Plant → caterpillar The plant is the producer at the start of this simple chain.</a:t>
            </a:r>
          </a:p>
          <a:p xmlns:a="http://schemas.openxmlformats.org/drawingml/2006/main">
            <a:r>
              <a:t>Caterpillar → bird The bird is a consumer that obtains food by eating another animal.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SKELETON / BACKBONE</a:t>
            </a:r>
          </a:p>
          <a:p xmlns:a="http://schemas.openxmlformats.org/drawingml/2006/main">
            <a:r>
              <a:t>MUSCLE PAIR</a:t>
            </a:r>
          </a:p>
          <a:p xmlns:a="http://schemas.openxmlformats.org/drawingml/2006/main">
            <a:r>
              <a:t>NUTRITION / BALANCE</a:t>
            </a:r>
          </a:p>
          <a:p xmlns:a="http://schemas.openxmlformats.org/drawingml/2006/main">
            <a:r>
              <a:t>FOOD SOURCE / CHAIN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Checkpoint glitch: bones move by themselves and food with less sugar always makes every body healthier.</a:t>
            </a:r>
          </a:p>
          <a:p xmlns:a="http://schemas.openxmlformats.org/drawingml/2006/main">
            <a:r>
              <a:t>Keep both claims because they sound simple.</a:t>
            </a:r>
          </a:p>
          <a:p xmlns:a="http://schemas.openxmlformats.org/drawingml/2006/main">
            <a:r>
              <a:t>Repair both: muscles pull bones in pairs, and sugar is only one part of nutrition evidence.</a:t>
            </a:r>
          </a:p>
          <a:p xmlns:a="http://schemas.openxmlformats.org/drawingml/2006/main">
            <a:r>
              <a:t>Remove the first answers so nobody can see the misconceptions.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evidence card to the strand it checks. Then choose one strand to explain and one to revisit.</a:t>
            </a:r>
          </a:p>
          <a:p xmlns:a="http://schemas.openxmlformats.org/drawingml/2006/main">
            <a:r>
              <a:t>Choose one evidence card. Place it with its strand. State or point to the science idea. Repair after feedback without deleting the first response. Choose the next strand.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Skull around the brain A hard bone surrounds and guards the brain.</a:t>
            </a:r>
          </a:p>
          <a:p xmlns:a="http://schemas.openxmlformats.org/drawingml/2006/main">
            <a:r>
              <a:t>Snake X-ray shows an internal spine The animal has a backbone even though it has no legs.</a:t>
            </a:r>
          </a:p>
          <a:p xmlns:a="http://schemas.openxmlformats.org/drawingml/2006/main">
            <a:r>
              <a:t>Biceps becomes shorter The muscle contracts and pulls the forearm bone to bend the elbow.</a:t>
            </a:r>
          </a:p>
          <a:p xmlns:a="http://schemas.openxmlformats.org/drawingml/2006/main">
            <a:r>
              <a:t>Partner relaxes during the bend In the simple model, the triceps relaxes while the biceps contracts.</a:t>
            </a:r>
          </a:p>
          <a:p xmlns:a="http://schemas.openxmlformats.org/drawingml/2006/main">
            <a:r>
              <a:t>Energy, growth and repair Different nutrients support different body jobs.</a:t>
            </a:r>
          </a:p>
          <a:p xmlns:a="http://schemas.openxmlformats.org/drawingml/2006/main">
            <a:r>
              <a:t>A varied pattern across food groups No single food or sugar value describes a balanced dietary pattern.</a:t>
            </a:r>
          </a:p>
          <a:p xmlns:a="http://schemas.openxmlformats.org/drawingml/2006/main">
            <a:r>
              <a:t>Plant → caterpillar The plant is the producer at the start of this simple chain.</a:t>
            </a:r>
          </a:p>
          <a:p xmlns:a="http://schemas.openxmlformats.org/drawingml/2006/main">
            <a:r>
              <a:t>Caterpillar → bird The bird is a consumer that obtains food by eating another animal.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SKELETON / BACKBONE</a:t>
            </a:r>
          </a:p>
          <a:p xmlns:a="http://schemas.openxmlformats.org/drawingml/2006/main">
            <a:r>
              <a:t>MUSCLE PAIR</a:t>
            </a:r>
          </a:p>
          <a:p xmlns:a="http://schemas.openxmlformats.org/drawingml/2006/main">
            <a:r>
              <a:t>NUTRITION / BALANCE</a:t>
            </a:r>
          </a:p>
          <a:p xmlns:a="http://schemas.openxmlformats.org/drawingml/2006/main">
            <a:r>
              <a:t>FOOD SOURCE / CHAIN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Checkpoint glitch: bones move by themselves and food with less sugar always makes every body healthier.</a:t>
            </a:r>
          </a:p>
          <a:p xmlns:a="http://schemas.openxmlformats.org/drawingml/2006/main">
            <a:r>
              <a:t>Keep both claims because they sound simple.</a:t>
            </a:r>
          </a:p>
          <a:p xmlns:a="http://schemas.openxmlformats.org/drawingml/2006/main">
            <a:r>
              <a:t>Repair both: muscles pull bones in pairs, and sugar is only one part of nutrition evidence.</a:t>
            </a:r>
          </a:p>
          <a:p xmlns:a="http://schemas.openxmlformats.org/drawingml/2006/main">
            <a:r>
              <a:t>Remove the first answers so nobody can see the misconceptions.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Skeleton or labelled diagram; vertebrate/invertebrate cards; safe card-and-split-pin arm model; nutrition/body-job cards; food-group mats; simple food-chain cards; tiered checkpoint sheet.</a:t>
            </a:r>
          </a:p>
          <a:p xmlns:a="http://schemas.openxmlformats.org/drawingml/2006/main">
            <a:r>
              <a:t>Same outcome: I can use models and evidence to show what I know about skeletons, muscle pairs, nutrition, balance and food sources.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in-page four-strand checkpoint. The same conceptual evidence is produced through card placement, explanation and next-strand choice.</a:t>
            </a:r>
          </a:p>
          <a:p xmlns:a="http://schemas.openxmlformats.org/drawingml/2006/main">
            <a:r>
              <a:t>Same evidence: One observable response from each strand, one because connection, the pupil's chosen next strand and an adult witness note naming independence and prompts.</a:t>
            </a:r>
          </a:p>
          <a:p xmlns:a="http://schemas.openxmlformats.org/drawingml/2006/main">
            <a:r>
              <a:t>Equipment / setup Skeleton or labelled diagram; vertebrate/invertebrate cards; safe card-and-split-pin arm model; nutrition/body-job cards; food-group mats; simple food-chain cards; tiered checkpoint sheet.</a:t>
            </a:r>
          </a:p>
          <a:p xmlns:a="http://schemas.openxmlformats.org/drawingml/2006/main">
            <a:r>
              <a:t>Safety / sensory Teach bodies and food on models, diagrams and supplied cards, never by judging a pupil's body, diet or home. No food is eaten. Check split pins and small parts, offer a no-touch route and avoid public scores or rank order.</a:t>
            </a:r>
          </a:p>
          <a:p xmlns:a="http://schemas.openxmlformats.org/drawingml/2006/main">
            <a:r>
              <a:t>Offline parity Use the in-page four-strand checkpoint. The same conceptual evidence is produced through card placement, explanation and next-strand choice.</a:t>
            </a:r>
          </a:p>
          <a:p xmlns:a="http://schemas.openxmlformats.org/drawingml/2006/main">
            <a:r>
              <a:t>No-equipment/access route: A pupil may point, sign, operate one switch, direct an adult, use eye gaze or have exact words scribed. Keep the science demand while changing access.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all four stations, justify one response from each and connect two strands using because.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__ works with __ because __. My evidence is __. Next I need to practise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Skeleton or labelled diagram; vertebrate/invertebrate cards; safe card-and-split-pin arm model; nutrition/body-job cards; food-group mats; simple food-chain cards; tiered checkpoint sheet.</a:t>
            </a:r>
          </a:p>
          <a:p xmlns:a="http://schemas.openxmlformats.org/drawingml/2006/main">
            <a:r>
              <a:t>Same outcome: I can use models and evidence to show what I know about skeletons, muscle pairs, nutrition, balance and food sources.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in-page four-strand checkpoint. The same conceptual evidence is produced through card placement, explanation and next-strand choice.</a:t>
            </a:r>
          </a:p>
          <a:p xmlns:a="http://schemas.openxmlformats.org/drawingml/2006/main">
            <a:r>
              <a:t>Same evidence: One observable response from each strand, one because connection, the pupil's chosen next strand and an adult witness note naming independence and prompts.</a:t>
            </a:r>
          </a:p>
          <a:p xmlns:a="http://schemas.openxmlformats.org/drawingml/2006/main">
            <a:r>
              <a:t>Equipment / setup Skeleton or labelled diagram; vertebrate/invertebrate cards; safe card-and-split-pin arm model; nutrition/body-job cards; food-group mats; simple food-chain cards; tiered checkpoint sheet.</a:t>
            </a:r>
          </a:p>
          <a:p xmlns:a="http://schemas.openxmlformats.org/drawingml/2006/main">
            <a:r>
              <a:t>Safety / sensory Teach bodies and food on models, diagrams and supplied cards, never by judging a pupil's body, diet or home. No food is eaten. Check split pins and small parts, offer a no-touch route and avoid public scores or rank order.</a:t>
            </a:r>
          </a:p>
          <a:p xmlns:a="http://schemas.openxmlformats.org/drawingml/2006/main">
            <a:r>
              <a:t>Offline parity Use the in-page four-strand checkpoint. The same conceptual evidence is produced through card placement, explanation and next-strand choice.</a:t>
            </a:r>
          </a:p>
          <a:p xmlns:a="http://schemas.openxmlformats.org/drawingml/2006/main">
            <a:r>
              <a:t>No-equipment/access route: A pupil may point, sign, operate one switch, direct an adult, use eye gaze or have exact words scribed. Keep the science demand while changing access.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all four stations, justify one response from each and connect two strands using because.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__ works with __ because __. My evidence is __. Next I need to practise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SCI_B_W8B_Autumn_Science_Checkpoint_Do.html.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move; written closure is optional when Voice and Audience are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Models simplify bodies, joints, diets and food chains. This checkpoint samples key ideas; it is not a medical, dietary or full attainment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Explain one connection between skeletons, muscles, nutrition or food sources using evidence.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Optional exact record of what I said or showed:</a:t>
            </a:r>
          </a:p>
          <a:p xmlns:a="http://schemas.openxmlformats.org/drawingml/2006/main">
            <a:r>
              <a:t>One next teaching move after the adult listened: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SCI_B_W8B_Autumn_Science_Checkpoint_Do.html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80f0098174b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ec9afc5aeb4a48" /><Relationship Type="http://schemas.openxmlformats.org/officeDocument/2006/relationships/slideLayout" Target="/ppt/slideLayouts/slideLayout1.xml" Id="Rf9130dac681f48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130dac681f48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a2111f1ab41f9" /><Relationship Type="http://schemas.openxmlformats.org/officeDocument/2006/relationships/hyperlink" Target="SCI_B_W8B_Autumn_Science_Checkpoint_Do.html" TargetMode="External" Id="Rf741bf1814514111" /><Relationship Type="http://schemas.openxmlformats.org/officeDocument/2006/relationships/notesSlide" Target="/ppt/notesSlides/notesSlide1.xml" Id="Rbdd5d8af6a9f42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81c9ae6674bba" /><Relationship Type="http://schemas.openxmlformats.org/officeDocument/2006/relationships/notesSlide" Target="/ppt/notesSlides/notesSlide2.xml" Id="Re91cced5bc724d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af53ae8da4af2" /><Relationship Type="http://schemas.openxmlformats.org/officeDocument/2006/relationships/notesSlide" Target="/ppt/notesSlides/notesSlide3.xml" Id="Rc420567d3e0b48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de8f636c04dfd" /><Relationship Type="http://schemas.openxmlformats.org/officeDocument/2006/relationships/notesSlide" Target="/ppt/notesSlides/notesSlide4.xml" Id="Rc75524bba05442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36fc7940844ca" /><Relationship Type="http://schemas.openxmlformats.org/officeDocument/2006/relationships/notesSlide" Target="/ppt/notesSlides/notesSlide5.xml" Id="R5284388983ff4d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4222bcc8c479d" /><Relationship Type="http://schemas.openxmlformats.org/officeDocument/2006/relationships/image" Target="/ppt/media/image.png" Id="Rd617c9a1dffd4d8b" /><Relationship Type="http://schemas.openxmlformats.org/officeDocument/2006/relationships/image" Target="/ppt/media/image2.png" Id="R79b855428a7944c9" /><Relationship Type="http://schemas.openxmlformats.org/officeDocument/2006/relationships/image" Target="/ppt/media/image3.png" Id="R5900339b057c40fd" /><Relationship Type="http://schemas.openxmlformats.org/officeDocument/2006/relationships/notesSlide" Target="/ppt/notesSlides/notesSlide6.xml" Id="R58a277ffcdaa4e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835d26a6348f3" /><Relationship Type="http://schemas.openxmlformats.org/officeDocument/2006/relationships/notesSlide" Target="/ppt/notesSlides/notesSlide7.xml" Id="Rafdb2967b35242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dc45aa5024055" /><Relationship Type="http://schemas.openxmlformats.org/officeDocument/2006/relationships/notesSlide" Target="/ppt/notesSlides/notesSlide8.xml" Id="Rffb285db42044a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cee7c30b24d8f" /><Relationship Type="http://schemas.openxmlformats.org/officeDocument/2006/relationships/image" Target="/ppt/media/image4.png" Id="R1a554b29643d49fa" /><Relationship Type="http://schemas.openxmlformats.org/officeDocument/2006/relationships/notesSlide" Target="/ppt/notesSlides/notesSlide9.xml" Id="Rc3d877f000b149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96db6ac4743cc" /><Relationship Type="http://schemas.openxmlformats.org/officeDocument/2006/relationships/notesSlide" Target="/ppt/notesSlides/notesSlide10.xml" Id="Rd9a00b2978cc49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978e0e09f4776" /><Relationship Type="http://schemas.openxmlformats.org/officeDocument/2006/relationships/notesSlide" Target="/ppt/notesSlides/notesSlide11.xml" Id="R5f331ffd3cca44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65d32c88643df" /><Relationship Type="http://schemas.openxmlformats.org/officeDocument/2006/relationships/notesSlide" Target="/ppt/notesSlides/notesSlide12.xml" Id="Re6b2bc8453b64e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e11c9ba894879" /><Relationship Type="http://schemas.openxmlformats.org/officeDocument/2006/relationships/notesSlide" Target="/ppt/notesSlides/notesSlide13.xml" Id="Ra8df0afde41544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108a7e0084128" /><Relationship Type="http://schemas.openxmlformats.org/officeDocument/2006/relationships/notesSlide" Target="/ppt/notesSlides/notesSlide14.xml" Id="Red8cb3d9e52d40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448febb574d8e" /><Relationship Type="http://schemas.openxmlformats.org/officeDocument/2006/relationships/notesSlide" Target="/ppt/notesSlides/notesSlide15.xml" Id="Ra52d3dbf021a4d4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5bea82184423b" /><Relationship Type="http://schemas.openxmlformats.org/officeDocument/2006/relationships/notesSlide" Target="/ppt/notesSlides/notesSlide16.xml" Id="Rf96d7d8517e546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1556d549a4506" /><Relationship Type="http://schemas.openxmlformats.org/officeDocument/2006/relationships/notesSlide" Target="/ppt/notesSlides/notesSlide17.xml" Id="R088a92a0d4e241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80d53dbe94587" /><Relationship Type="http://schemas.openxmlformats.org/officeDocument/2006/relationships/notesSlide" Target="/ppt/notesSlides/notesSlide18.xml" Id="Rf93e4cf607264a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90C0EFD5-62E7-4620-A4EF-12279FE5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8584197-D8BB-4A45-910C-2F128122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44026FA-D17E-423F-9351-DA3DA4F3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2BA0FE-6D50-4622-B335-5946E1CE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Body Science Checkpoint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0D27B0A-3F2A-46E8-835B-04518683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36F9999F-B347-44AA-A394-47D6669F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use models and evidence to show what I know about skeletons, muscle pairs, nutrition, balance and food sources.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067CF9A2-9D94-4F7D-988C-022DEFCC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23E5F88B-3ACA-4708-9B82-D69FCE79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SKELETON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BC3B5AD8-1590-40DD-8DBC-575595E0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backbone evidence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94B74042-210A-4C6C-AC7A-50FB8C3B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032EAD7D-EC4D-4C91-B5C3-7EF33319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MUSCLES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A2DFEE7D-0B02-4EE0-AB11-33D26605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pull to move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3C7ECAC3-4CCE-48AE-9308-DC2BDBFD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D7418C53-FBB9-469B-8769-8E473B44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NUTRITION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5083B9E9-9721-48B0-A4CF-AB1F4C99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evidence, not judgement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A90E7836-7095-462A-A998-B1C39042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7A9B"/>
                </a:solidFill>
                <a:latin typeface="Arial"/>
                <a:ea typeface="Arial"/>
                <a:cs typeface="Arial"/>
                <a:hlinkClick xmlns:r="http://schemas.openxmlformats.org/officeDocument/2006/relationships" r:id="Rf741bf1814514111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D627FD70-DC06-4515-BE50-68808BC5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8F487796-D41E-4678-8D2B-AEB6FA25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263438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D5F107D-1859-40B8-9124-D5111A1F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411561B-3829-408C-BD93-DC7A9216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5A96A74-DF92-4EED-94CB-19F3F0B4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C0F203-00A0-4EE3-912E-C6F63596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78C5BE2-6219-4695-925B-F55D1188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33C7EFC-33C2-4744-837E-AE7B2F26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show one secure idea from each checkpoint strand.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3CDFC54-43AD-4CE7-8A99-987F0B5F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connect at least two ideas using because.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0AB3A90-6126-4457-AD52-F379147C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keep my first evidence and identify the strand to practise next.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443C482-D1A3-4D65-8782-15AD1B14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7DF2609F-69F9-4D1A-BEEE-976F1E50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896373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5D8CEFE0-FF56-4E36-BDB1-075E22D4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47DB7FB-6B20-4D96-83EA-17D4A464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BA1A41B-C0F7-4FC8-8D5A-6367EBEA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0F68E1-7A26-418B-B33F-3A1A984F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AD217A6-79EC-4061-9156-912DAA67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EFE4CB4-C225-4126-B841-B2A3B92D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one skeleton job and one bone example.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32382D6-CB82-41EA-B543-E42D38EA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what one muscle does while its partner relaxes.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6CA5C8E-227C-420A-8C99-8A829DC4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Define vertebrate using backbone.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85D038B-FDC5-4578-A3EC-4DDD873F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state one supported claim from the sugar labels.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C97DC080-1785-48B3-BB0B-72E58E4C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D94CF6DC-BD24-4976-9F39-FB8FB905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99750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96971A78-C910-4675-AB7B-2F017438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2FD2EA9-0A0D-495D-B847-834216E9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3FFD0FC-78C2-4595-8CDF-1E9645D5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6B598E-30CD-466F-AEA2-70B0256C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pupil says, ‘The bone pushes the muscle, so the arm bends.’ Which idea should the checkpoint test?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98C6D07-B99F-4EA0-B1C9-EF02C310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9065CF8-1BE5-4B80-B6F5-D6DD1598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66FCF95-FFDC-455F-9B81-2738E487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bones push muscles to make them shorter.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BC51573-10CD-4250-9C1D-D4D21C57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Test the pair: one muscle contracts and pulls while the other relaxes.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5E8B04C-FAF5-469E-8F7B-156691B6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Ignore the arm model and compare sugar labels instead.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272A57DD-8812-4300-855D-DA5E918A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6C52BD18-D533-499E-91A8-9C2DF505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581344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991B9B65-AFA5-4A22-9A1F-606032F3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8398338-2731-4734-B192-6F1F38C0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5A9E343-5442-421F-9CF6-0E057AAE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44D085-7FB0-4588-9951-8553D344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7BF82C2-1676-48FB-970F-50E7D072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2AB713A-F5E5-4FB3-87B8-B212F998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SKELETON · bones give support, protection and places for movement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9D4CA88-2541-4D25-ACDE-0D86DCB8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MUSCLE PAIR · one contracts and pulls; the partner relaxes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9F00977-9383-4DAF-AF20-11C0224F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NUTRITION · food provides nutrients; animals obtain food by eating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A37499AB-6072-488F-BAA4-B62F36C8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C235BA9-635A-4831-B5BE-6EA1F030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3248679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276CD896-F024-4F41-9936-18404CC9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C440152-1E55-441F-B315-C5C9D3A6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8C9E1FF-4C1F-47CA-BAF4-A9340A7E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15AC44-5768-4707-8105-84EDB0F4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897F1B9-CD01-4606-AA81-E3D2B00F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7c9a1dffd4d8b"/>
          <a:stretch xmlns:a="http://schemas.openxmlformats.org/drawingml/2006/main"/>
        </p:blipFill>
        <p:spPr>
          <a:xfrm xmlns:a="http://schemas.openxmlformats.org/drawingml/2006/main">
            <a:off x="800100" y="2611649"/>
            <a:ext cx="3378200" cy="2139527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02D767FC-756A-4E15-9337-73C9C993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simple skeleton with the words support, protect, move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855428a7944c9"/>
          <a:stretch xmlns:a="http://schemas.openxmlformats.org/drawingml/2006/main"/>
        </p:blipFill>
        <p:spPr>
          <a:xfrm xmlns:a="http://schemas.openxmlformats.org/drawingml/2006/main">
            <a:off x="4406900" y="2883782"/>
            <a:ext cx="3378200" cy="1595261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4CD2581A-EEA2-4713-A0C6-AAC3ED55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Visual 2 · inspect the supplied evidence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0339b057c40fd"/>
          <a:stretch xmlns:a="http://schemas.openxmlformats.org/drawingml/2006/main"/>
        </p:blipFill>
        <p:spPr>
          <a:xfrm xmlns:a="http://schemas.openxmlformats.org/drawingml/2006/main">
            <a:off x="8013700" y="2977621"/>
            <a:ext cx="3378200" cy="1407583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E5DDB69E-5BE8-46BE-9EF9-C2CB2015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Visual 3 · inspect the supplied evidence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494DBF89-A758-4948-97ED-9FC9069F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25753920-194C-44A7-90DF-4665874C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4465022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FCF6D867-4838-40A2-A3E5-A8ABD987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25FDB35-F165-4442-B119-FE20D41B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8F15FC7-38E8-4E77-9CDC-4AF95500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3757C6-7764-4756-B46F-C790DD50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B9E543F-B5CF-4BD9-BFC5-289A7646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290571C-F253-4FAE-A86F-A7CA3EE9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 — hold up and give shape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92B925A-CB89-4D68-998B-962FF56B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contract — shorten and pull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1193AB4-BB10-4E53-B345-B9DF7F5E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nutrition — getting what the body needs from food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35B6376D-F9E1-41B2-AE62-11AC80B3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96817862-44D2-4F8D-8294-4D7FC7A2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107069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46932F7-4BED-486F-96A6-CFE62EEC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C3B454F-BFFC-4A93-8D0D-467FF369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8DC9234-0503-4107-AB99-7FB9E241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6A3ABF-BF49-4A35-B95D-401D050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E0191C2-358B-4B84-8D0A-A02F4096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7CAD4F8-7BB6-4CFC-A292-DE8E7034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Checkpoint 1: use a skeleton model to match support, protection and movement to an example; classify one animal using backbone evidence.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260183E-0E2B-4777-99B9-C9905556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Checkpoint 2: operate the arm model. Name which muscle contracts, which relaxes and how the bone moves at the joint.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DAD08EE-D682-499C-9EF0-4D39A1D3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Keep each pupil's first response. Feedback adds a repair beside it rather than erasing the evidence.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F879543-FA08-44A5-8909-8C24991E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5B1E596-3987-4EC7-A416-358D7FBD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7538033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4D4B329B-850B-4974-B27E-47A426CE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3942264-26EC-441C-BB7F-FD2E39C5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E008BBF-2F80-4183-A88B-74C87FE9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9F44A4-6144-4FED-929D-5ED26847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A04092E-EA42-4F18-A008-452D8213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54b29643d49fa"/>
          <a:stretch xmlns:a="http://schemas.openxmlformats.org/drawingml/2006/main"/>
        </p:blipFill>
        <p:spPr>
          <a:xfrm xmlns:a="http://schemas.openxmlformats.org/drawingml/2006/main">
            <a:off x="2919132" y="2181225"/>
            <a:ext cx="6353735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0711B415-A44C-4CF4-BB54-E37F914D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Arm model showing biceps and triceps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69AA62BA-C471-47B9-BE20-1B9F559E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C6799AF9-725F-415C-AEC7-FE171104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2506668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10A27C81-23BD-4E90-8B67-D901F72B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E4A9233-57C9-47A6-BCE9-59A58375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4B0C9A3-48CA-488A-9FB7-642AB334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441A22-342D-40D4-8159-E84964EC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When the biceps contracts to bend the elbow, what should the triceps do in the simple model?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073757B-6697-40D3-9D0F-725F4F10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8073F35-38EE-4DC5-B6E2-97D16741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Relax while the biceps pulls the forearm bone.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5D022ED-DD0A-4C33-B6CC-C887E6FC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Push the bone from behind.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4CBA81A-F64F-41B3-8148-AE659964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Contract fully in the same direction as the biceps.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82E9C67-F39F-4C33-BA7B-67A9384E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896C474D-9539-43A1-8AD0-9CD71405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DAC2E57C-6974-4471-AF9E-A98A744D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3428361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D7695F5C-84CC-4722-94E6-6D9000BD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106EE02-7C42-4060-BC91-58B6189F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62D025D-D2C8-4C78-81D9-7F2D70C0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3A0A45-A84D-4939-807B-C139F8A9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040A146-3D16-4524-8FCB-3FF31B0F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8F700A7-08B1-4D60-B619-4309F9EF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Checkpoint 3: match food evidence to body jobs such as energy, growth and repair; explain why variety matters.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73408AF-405A-415A-AC4E-1BA431E0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Checkpoint 4: sort foods with a stated rule and build a simple producer-to-consumer food-source chain.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34C5ACF-CBD7-4365-BD74-E3839ABB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Connect W8A carefully: a sugar value is one piece of nutrition evidence, not a score for a food or person.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25D3E6B0-7309-4CD5-B40D-D57DB2D6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2CF712C4-5B5F-4221-B734-7E1CB3F0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78518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6081D301-899C-4F01-97AB-E8509152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F17ED3D-E174-4ED3-B966-90C07C6A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EF5569A-95DA-4CC0-BD61-366CBCC0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3BF6C9-BA75-4E40-B0CE-DFCF52CB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26F6088-EDD4-405A-B8ED-CCAFDC24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19A18B4-5A16-4C76-A643-82B6A8C4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Checkpoint glitch: bones move by themselves and food with less sugar always makes every body healthier.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8A40FAB-2984-44DD-9040-C39B44FA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both claims because they sound simple.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392301B-C6A9-4697-840D-86C0A21E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both: muscles pull bones in pairs, and sugar is only one part of nutrition evidence.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323C442-C637-4755-9077-93863004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Remove the first answers so nobody can see the misconceptions.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D127DFBE-564C-41A3-848F-FCD6AE33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51309437-C15E-4090-83B7-C2E42698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6113027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3A3701AE-DE46-481A-9BBC-2470B17D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41669F3-D596-443B-8F4F-F76651F0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D578D1E-524A-41CD-B25C-3A4834F9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9DAB05-812E-4E58-8B83-5AD66D2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Four-Strand Body Science Checkpoint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4C598C8-FFD8-4177-BED8-8EDFFF27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37488D8-96E8-4286-9359-B328B5E1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Route each evidence card to the strand it checks. Then choose one strand to explain and one to revisit.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70E0135-3FB6-4819-B371-B4CF40E8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one evidence card.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BAFE319-D14A-4296-ABD8-64A009DF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Place it with its strand.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2E2D1FC-60C4-4729-9DF5-93150E06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or point to the science idea.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EA68C12A-C9F9-49BC-A7C9-21EB158C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Repair after feedback without deleting the first response.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E9F34792-F6B8-4578-B91F-07A11C4E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the next strand.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F64ED330-C33A-42C0-82F3-D72EA451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9F5C1747-7087-450D-8419-8E8E010D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21191329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B5250E12-BBA9-4498-97A2-57BD3843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3B27137-E258-41C0-B2B7-3EAB437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F788037-3818-410B-A04C-80EC19D4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7EE2A9-0167-4F03-B0DC-391A1090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Four-Strand Body Science Checkpoint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FBDFD52-D063-4A4C-AC45-539D9B62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792F2D2-E35E-44AE-A2EC-4033AD2E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7E3B38EB-8F51-4C01-B7F6-41457FBC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967D67F6-A60D-4BCD-8107-B74A74D9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1759419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BE59CFE0-6C26-4DF0-805C-8D99ED49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F594CBC-83CB-4496-B345-42012B24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132FA72-5D0F-4606-BA68-6BE35340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5437D5-3388-4596-A0FA-FE8408EE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B88BE71-FE23-4984-883B-3B377DB0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A9F007F-8661-427A-9B6E-1B6DB700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SKELETON / BACKBONE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192D8F6-E35A-44B3-9494-B5B133AD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MUSCLE PAIR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9E46075-7396-4674-B796-1F6326F6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NUTRITION / BALANCE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CEA0393-FC8C-4F5E-94C3-7C408F2E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FOOD SOURCE / CHAIN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0E7C2F13-7E6E-4109-9CFB-30A6B460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Name one secure strand, one connection between strands and the exact next strand to revisit.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6EFCDC77-DE5A-4619-97D3-AC17644C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10CFC411-EA31-4B68-9B50-3303C7DF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2104948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59746B98-3D54-4EFA-9A3A-E0E27797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03EC355-C536-428B-A9B0-1C564DCF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D86BE27-7BB4-41BC-AECA-77C86E08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1E8E94-9C24-4776-AB02-75BFE88D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E9346C0-95E6-4BDB-B817-DEA63C76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F6AC055-D1F6-4A13-90F8-B7CF799B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Complete or direct four short checkpoint stations, preserve a piece of evidence from each and explain one connection between two strands.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B44DE5D-9BD9-4FAC-8CB0-4E23A0A2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One observable response from each strand, one because connection, the pupil's chosen next strand and an adult witness note naming independence and prompts.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255AE01A-2C09-419B-B48D-C2BF2CB7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A2FA2E09-42BC-439A-B906-39DE8A33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21398785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712E83D-04CB-4592-B196-BF77C178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44C11EC-5A51-439A-8851-9B87914F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4834EE2-7DBD-4C1E-8A61-847AE024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A82621-1A64-4036-8A4F-4A0ED374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1D7E768-2903-40CA-8A92-68423505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8B37AA5-6709-4779-B25F-4730C088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Complete one two-choice item at each station, then choose a secure strand and a next strand.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8F4ECC6-A6C4-43E0-AC9D-835673EE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Complete all four stations, justify one response from each and connect two strands using because.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E48F59F-B78C-4319-86D5-DA5453A3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Explain two cross-strand links, repair one misconception and evaluate one model limitation.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18DD8B0E-0342-4F68-9C17-07724583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3AF6F46F-566F-4F04-B233-9C65388D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19972599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D7B3EE0E-C597-483D-B899-FE97010C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7DCB5CB-1B49-4CA9-906D-C41CC74F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A53147E-0938-413D-8C65-EEC34D18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486DA0-5E54-4885-B4F4-32A076D8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8C2A41E-E0AC-43B2-9657-C9AA7ECA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CFA5F8C-2EA1-4ECB-A894-075A993E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Explain one connection between skeletons, muscles, nutrition or food sources using evidence.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64739C3-0578-4AC1-8CAA-494D5351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F3335E41-CCF4-4B06-B734-1CA0FBBE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A12DA8B9-ACB8-4744-A8B2-9383FE3C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518203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2026-09-08T09:10:11.8270000Z</dcterms:created>
  <dcterms:modified xsi:type="dcterms:W3CDTF">2026-09-08T09:10:11.8270000Z</dcterms:modified>
</coreProperties>
</file>