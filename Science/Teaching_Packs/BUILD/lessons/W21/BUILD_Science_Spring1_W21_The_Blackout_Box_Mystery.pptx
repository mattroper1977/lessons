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c9685f5b57c4785" /><Relationship Type="http://schemas.openxmlformats.org/officeDocument/2006/relationships/extended-properties" Target="/docProps/app.xml" Id="Rb35a5a0dcadf4aa0" /><Relationship Type="http://schemas.openxmlformats.org/officeDocument/2006/relationships/officeDocument" Target="/ppt/presentation.xml" Id="Re798268130414b7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2f3d6080c824aed"/>
  </p:sldMasterIdLst>
  <p:notesMasterIdLst>
    <p:notesMasterId xmlns:r="http://schemas.openxmlformats.org/officeDocument/2006/relationships" r:id="R749f49b504c543eb"/>
  </p:notesMasterIdLst>
  <p:sldIdLst>
    <p:sldId xmlns:r="http://schemas.openxmlformats.org/officeDocument/2006/relationships" id="256" r:id="Rc0a048bf3b32450e"/>
    <p:sldId xmlns:r="http://schemas.openxmlformats.org/officeDocument/2006/relationships" id="257" r:id="R9a5240f9d9d946a5"/>
    <p:sldId xmlns:r="http://schemas.openxmlformats.org/officeDocument/2006/relationships" id="258" r:id="R384ca63bfff14eb6"/>
    <p:sldId xmlns:r="http://schemas.openxmlformats.org/officeDocument/2006/relationships" id="259" r:id="Re20294201ad54c94"/>
    <p:sldId xmlns:r="http://schemas.openxmlformats.org/officeDocument/2006/relationships" id="260" r:id="R7bcf14e64ead4a14"/>
    <p:sldId xmlns:r="http://schemas.openxmlformats.org/officeDocument/2006/relationships" id="261" r:id="R420f4c420122462c"/>
    <p:sldId xmlns:r="http://schemas.openxmlformats.org/officeDocument/2006/relationships" id="262" r:id="Ree999afa54844436"/>
    <p:sldId xmlns:r="http://schemas.openxmlformats.org/officeDocument/2006/relationships" id="263" r:id="R9dde5954baa749ac"/>
    <p:sldId xmlns:r="http://schemas.openxmlformats.org/officeDocument/2006/relationships" id="264" r:id="Rfdec958222d14436"/>
    <p:sldId xmlns:r="http://schemas.openxmlformats.org/officeDocument/2006/relationships" id="265" r:id="Rcbc79d9baf08461d"/>
    <p:sldId xmlns:r="http://schemas.openxmlformats.org/officeDocument/2006/relationships" id="266" r:id="R6bcb5b83cedc4049"/>
    <p:sldId xmlns:r="http://schemas.openxmlformats.org/officeDocument/2006/relationships" id="267" r:id="R8d82b65928f2486a"/>
    <p:sldId xmlns:r="http://schemas.openxmlformats.org/officeDocument/2006/relationships" id="268" r:id="R4cbce416555a4a50"/>
    <p:sldId xmlns:r="http://schemas.openxmlformats.org/officeDocument/2006/relationships" id="269" r:id="R45354b721c38414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c6a8c7482fa483c" /><Relationship Type="http://schemas.openxmlformats.org/officeDocument/2006/relationships/slideMaster" Target="/ppt/slideMasters/slideMaster1.xml" Id="Ra2f3d6080c824aed" /><Relationship Type="http://schemas.openxmlformats.org/officeDocument/2006/relationships/notesMaster" Target="/ppt/notesMasters/notesMaster1.xml" Id="R749f49b504c543eb" /><Relationship Type="http://schemas.openxmlformats.org/officeDocument/2006/relationships/presProps" Target="/ppt/presProps.xml" Id="Rcb7cb06d93e24f1f" /><Relationship Type="http://schemas.openxmlformats.org/officeDocument/2006/relationships/tableStyles" Target="/ppt/tableStyles.xml" Id="Re665c2f971064db6" /><Relationship Type="http://schemas.openxmlformats.org/officeDocument/2006/relationships/slide" Target="/ppt/slides/slide1.xml" Id="Rc0a048bf3b32450e" /><Relationship Type="http://schemas.openxmlformats.org/officeDocument/2006/relationships/slide" Target="/ppt/slides/slide2.xml" Id="R9a5240f9d9d946a5" /><Relationship Type="http://schemas.openxmlformats.org/officeDocument/2006/relationships/slide" Target="/ppt/slides/slide3.xml" Id="R384ca63bfff14eb6" /><Relationship Type="http://schemas.openxmlformats.org/officeDocument/2006/relationships/slide" Target="/ppt/slides/slide4.xml" Id="Re20294201ad54c94" /><Relationship Type="http://schemas.openxmlformats.org/officeDocument/2006/relationships/slide" Target="/ppt/slides/slide5.xml" Id="R7bcf14e64ead4a14" /><Relationship Type="http://schemas.openxmlformats.org/officeDocument/2006/relationships/slide" Target="/ppt/slides/slide6.xml" Id="R420f4c420122462c" /><Relationship Type="http://schemas.openxmlformats.org/officeDocument/2006/relationships/slide" Target="/ppt/slides/slide7.xml" Id="Ree999afa54844436" /><Relationship Type="http://schemas.openxmlformats.org/officeDocument/2006/relationships/slide" Target="/ppt/slides/slide8.xml" Id="R9dde5954baa749ac" /><Relationship Type="http://schemas.openxmlformats.org/officeDocument/2006/relationships/slide" Target="/ppt/slides/slide9.xml" Id="Rfdec958222d14436" /><Relationship Type="http://schemas.openxmlformats.org/officeDocument/2006/relationships/slide" Target="/ppt/slides/slide10.xml" Id="Rcbc79d9baf08461d" /><Relationship Type="http://schemas.openxmlformats.org/officeDocument/2006/relationships/slide" Target="/ppt/slides/slide11.xml" Id="R6bcb5b83cedc4049" /><Relationship Type="http://schemas.openxmlformats.org/officeDocument/2006/relationships/slide" Target="/ppt/slides/slide12.xml" Id="R8d82b65928f2486a" /><Relationship Type="http://schemas.openxmlformats.org/officeDocument/2006/relationships/slide" Target="/ppt/slides/slide13.xml" Id="R4cbce416555a4a50" /><Relationship Type="http://schemas.openxmlformats.org/officeDocument/2006/relationships/slide" Target="/ppt/slides/slide14.xml" Id="R45354b721c38414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0da6e64c51447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57ce3dd0f8a41be" /><Relationship Type="http://schemas.openxmlformats.org/officeDocument/2006/relationships/notesMaster" Target="/ppt/notesMasters/notesMaster1.xml" Id="R7486c5c73ab241f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7b4c291093346e1" /><Relationship Type="http://schemas.openxmlformats.org/officeDocument/2006/relationships/notesMaster" Target="/ppt/notesMasters/notesMaster1.xml" Id="R775f9b7cc7f74b6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ee2bc009a0b4fda" /><Relationship Type="http://schemas.openxmlformats.org/officeDocument/2006/relationships/notesMaster" Target="/ppt/notesMasters/notesMaster1.xml" Id="R523515c02d0a4a9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bd89dd3d44f46e5" /><Relationship Type="http://schemas.openxmlformats.org/officeDocument/2006/relationships/notesMaster" Target="/ppt/notesMasters/notesMaster1.xml" Id="R4c6f47fc408a40d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0d005bf35964b92" /><Relationship Type="http://schemas.openxmlformats.org/officeDocument/2006/relationships/notesMaster" Target="/ppt/notesMasters/notesMaster1.xml" Id="R61124cf79988403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1608b93d0fc495c" /><Relationship Type="http://schemas.openxmlformats.org/officeDocument/2006/relationships/notesMaster" Target="/ppt/notesMasters/notesMaster1.xml" Id="R7b49912e96554c1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16dae0e335d47fd" /><Relationship Type="http://schemas.openxmlformats.org/officeDocument/2006/relationships/notesMaster" Target="/ppt/notesMasters/notesMaster1.xml" Id="R464f85564f1e44f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2b818b1af084c77" /><Relationship Type="http://schemas.openxmlformats.org/officeDocument/2006/relationships/notesMaster" Target="/ppt/notesMasters/notesMaster1.xml" Id="R210c5439ebfc40b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562051ae5b84b0d" /><Relationship Type="http://schemas.openxmlformats.org/officeDocument/2006/relationships/notesMaster" Target="/ppt/notesMasters/notesMaster1.xml" Id="Re79e1c7ba55f44f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419553916dd4c92" /><Relationship Type="http://schemas.openxmlformats.org/officeDocument/2006/relationships/notesMaster" Target="/ppt/notesMasters/notesMaster1.xml" Id="Re6766c3ee7bc460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75b412e61454455" /><Relationship Type="http://schemas.openxmlformats.org/officeDocument/2006/relationships/notesMaster" Target="/ppt/notesMasters/notesMaster1.xml" Id="R9d923a2c73b848a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fc2c2a111284bbb" /><Relationship Type="http://schemas.openxmlformats.org/officeDocument/2006/relationships/notesMaster" Target="/ppt/notesMasters/notesMaster1.xml" Id="R6df584b3a0d24b7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34bd54257b54426" /><Relationship Type="http://schemas.openxmlformats.org/officeDocument/2006/relationships/notesMaster" Target="/ppt/notesMasters/notesMaster1.xml" Id="Rcfadcc9d1beb423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98030eba8d146be" /><Relationship Type="http://schemas.openxmlformats.org/officeDocument/2006/relationships/notesMaster" Target="/ppt/notesMasters/notesMaster1.xml" Id="R48ac2f5c73d747e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Show the optional box or describe its two openings. Do not reveal the object by touch. State the objective and offer paper-only observation.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light outcomes anchor the BUILD content; ray explanations are carefully modelled as an accessible extension.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Accept lit lamp, Sun or other valid source. Plain card reflects rather than produces visible light. Eyes enable sight; other senses can identify an object without seeing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light outcomes anchor the BUILD content; ray explanations are carefully modelled as an accessible extension.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4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Think aloud: “I start at the source, not the eye. I trace light to the object, then into the eye. Now the object can be seen.” Arrows are selected light paths, not all light. Never demonstrate by shining into anyone’s eye.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A ray travels from the LED source to an object; reflected light then enters an eye. The eye does not send light out.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light outcomes anchor the BUILD content; ray explanations are carefully modelled as an accessible extension.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Think aloud: “I keep the object in place. In this ideal model, no light comes from anywhere. I remove the light arrows. I cannot infer the object has gone merely because it cannot be seen.” A real box can leak dim light.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An unlit LED, an object and an eye have no light-path arrows. This ideal model excludes all other light.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light outcomes anchor the BUILD content; ray explanations are carefully modelled as an accessible extension.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Shares I do time. Think aloud: “The card blocks our source. If room light entered elsewhere, we might still see the object. My model therefore says no other light.”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An opaque card stops the source-to-object path. No other light source is included in this model.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light outcomes anchor the BUILD content; ray explanations are carefully modelled as an accessible extension.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4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Partners take predictor and evidence-reader roles. A and B use the same white object. The source changes; the object remains. Invite an individual choice before the shared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REVEAL / MODEL ANSWER</a:t>
            </a:r>
          </a:p>
          <a:p xmlns:a="http://schemas.openxmlformats.org/drawingml/2006/main">
            <a:r>
              <a:t>B adds a light path from source to object to eye.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light outcomes anchor the BUILD content; ray explanations are carefully modelled as an accessible extension.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4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cards C and D from the shared page. Ask pairs to replace “eyes make more light” with an accurate explanation. A faint view means some light reaches the eye. Complete darkness stays without visible detail.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REVEAL / MODEL ANSWER</a:t>
            </a:r>
          </a:p>
          <a:p xmlns:a="http://schemas.openxmlformats.org/drawingml/2006/main">
            <a:r>
              <a:t>C has a little light. D has none; waiting alone does not add light.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light outcomes anchor the BUILD content; ray explanations are carefully modelled as an accessible extension.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pupils choose eyes sending light, trace the final arrow into the eye together. If they choose waiting, compare dim and no-light cases.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A. Our eyes send light onto the object.</a:t>
            </a:r>
          </a:p>
          <a:p xmlns:a="http://schemas.openxmlformats.org/drawingml/2006/main">
            <a:r>
              <a:t>For seeing, light enters our eyes; they do not illuminate the object.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B. Light from the object enters our eyes.</a:t>
            </a:r>
          </a:p>
          <a:p xmlns:a="http://schemas.openxmlformats.org/drawingml/2006/main">
            <a:r>
              <a:t>Correct. The object can give out light or reflect light from a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C. Waiting makes light appear in total darkness.</a:t>
            </a:r>
          </a:p>
          <a:p xmlns:a="http://schemas.openxmlformats.org/drawingml/2006/main">
            <a:r>
              <a:t>Adaptation helps with dim light, but it cannot create light.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light outcomes anchor the BUILD content; ray explanations are carefully modelled as an accessible extension.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Give one route only, selected with the pupil. The shared evidence page supports every route. Optional observation: compare a covered light opening with the LED lighting the object. Never claim a practical box is perfectly dark without evidence. Pupils can use only the cases.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light outcomes anchor the BUILD content; ray explanations are carefully modelled as an accessible extension.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Shares the 12-minute independent stage. Optional observation: compare a covered light opening with the LED lighting the object. Never claim a practical box is perfectly dark without evidence. Pupils can use only the cases.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light outcomes anchor the BUILD content; ray explanations are carefully modelled as an accessible extension.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10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Allow ten minutes of independent response after the two-minute setup. Optional observation: compare a covered light opening with the LED lighting the object. Never claim a practical box is perfectly dark without evidence. Pupils can use only the cases.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light outcomes anchor the BUILD content; ray explanations are carefully modelled as an accessible extension.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Shares the independent stage. Ask the pupil to point to the clue supporting their answer; accept a spoken correction or changed choice.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light outcomes anchor the BUILD content; ray explanations are carefully modelled as an accessible extension.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Give a private or paired option. Adopt one scientifically sound pupil revision in the class explanation and name the change. No public ranking.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REVEAL / MODEL ANSWER</a:t>
            </a:r>
          </a:p>
          <a:p xmlns:a="http://schemas.openxmlformats.org/drawingml/2006/main">
            <a:r>
              <a:t>Light reaches the object, and some reflected light enters the eye.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light outcomes anchor the BUILD content; ray explanations are carefully modelled as an accessible extension.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Collect brief individual answers. Secure core requires the main idea and a relevant reason. Revisit the relevant worked diagram next lesson if the explanation reverses cause and effect.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REVEAL / MODEL ANSWER</a:t>
            </a:r>
          </a:p>
          <a:p xmlns:a="http://schemas.openxmlformats.org/drawingml/2006/main">
            <a:r>
              <a:t>See the teacher answer guide for the three checks.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light outcomes anchor the BUILD content; ray explanations are carefully modelled as an accessible extension.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da03087a104a8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acd3eae2fd149d4" /><Relationship Type="http://schemas.openxmlformats.org/officeDocument/2006/relationships/slideLayout" Target="/ppt/slideLayouts/slideLayout1.xml" Id="R15fd79e03e4b4dd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5fd79e03e4b4dd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0217295db04763" /><Relationship Type="http://schemas.openxmlformats.org/officeDocument/2006/relationships/notesSlide" Target="/ppt/notesSlides/notesSlide1.xml" Id="R8a08fbf56bfe419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c833e9e3c84ca6" /><Relationship Type="http://schemas.openxmlformats.org/officeDocument/2006/relationships/notesSlide" Target="/ppt/notesSlides/notesSlide2.xml" Id="Re89e921f8b6046b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d02631e1c44445" /><Relationship Type="http://schemas.openxmlformats.org/officeDocument/2006/relationships/notesSlide" Target="/ppt/notesSlides/notesSlide3.xml" Id="R19c70524cd5a431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75c62e155c4f12" /><Relationship Type="http://schemas.openxmlformats.org/officeDocument/2006/relationships/notesSlide" Target="/ppt/notesSlides/notesSlide4.xml" Id="Rdc3c4c82f27d429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08b33de8d047a2" /><Relationship Type="http://schemas.openxmlformats.org/officeDocument/2006/relationships/notesSlide" Target="/ppt/notesSlides/notesSlide5.xml" Id="Rdcb247758ed4436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dd5f49dc8e4a0e" /><Relationship Type="http://schemas.openxmlformats.org/officeDocument/2006/relationships/notesSlide" Target="/ppt/notesSlides/notesSlide6.xml" Id="Rf42b7eba33e5444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030396a6814cc3" /><Relationship Type="http://schemas.openxmlformats.org/officeDocument/2006/relationships/notesSlide" Target="/ppt/notesSlides/notesSlide7.xml" Id="R06501cc58d134d5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a13e8d10c542c2" /><Relationship Type="http://schemas.openxmlformats.org/officeDocument/2006/relationships/notesSlide" Target="/ppt/notesSlides/notesSlide8.xml" Id="R06311a71f9b9428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9cf434b2fa4dab" /><Relationship Type="http://schemas.openxmlformats.org/officeDocument/2006/relationships/notesSlide" Target="/ppt/notesSlides/notesSlide9.xml" Id="R9c1aabbff7144de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1091d47540413e" /><Relationship Type="http://schemas.openxmlformats.org/officeDocument/2006/relationships/notesSlide" Target="/ppt/notesSlides/notesSlide10.xml" Id="R072511474b56415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6492e95e1042ec" /><Relationship Type="http://schemas.openxmlformats.org/officeDocument/2006/relationships/notesSlide" Target="/ppt/notesSlides/notesSlide11.xml" Id="R0b4d48aa327146e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0ba5e8ed3542c4" /><Relationship Type="http://schemas.openxmlformats.org/officeDocument/2006/relationships/notesSlide" Target="/ppt/notesSlides/notesSlide12.xml" Id="R6b13dea8ca7a43d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bac307791a4a82" /><Relationship Type="http://schemas.openxmlformats.org/officeDocument/2006/relationships/notesSlide" Target="/ppt/notesSlides/notesSlide13.xml" Id="Rd079acef46684b7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be43853cde4abd" /><Relationship Type="http://schemas.openxmlformats.org/officeDocument/2006/relationships/notesSlide" Target="/ppt/notesSlides/notesSlide14.xml" Id="Rc4ec18334dc5423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urface">
            <a:extLst xmlns:a="http://schemas.openxmlformats.org/drawingml/2006/main">
              <a:ext uri="{FF2B5EF4-FFF2-40B4-BE49-F238E27FC236}">
                <a16:creationId xmlns:a16="http://schemas.microsoft.com/office/drawing/2014/main" id="{CA98428B-8D92-4F1A-972A-04AA7889D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E12DBC68-D70E-45F7-A575-0925A1C5A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919294ED-B150-454C-AE99-FA8A67C44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5AFF52F1-7902-4B8B-A7B9-0FFE1BDAC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Opening">
            <a:extLst xmlns:a="http://schemas.openxmlformats.org/drawingml/2006/main">
              <a:ext uri="{FF2B5EF4-FFF2-40B4-BE49-F238E27FC236}">
                <a16:creationId xmlns:a16="http://schemas.microsoft.com/office/drawing/2014/main" id="{E90A7554-7AEA-4531-957F-0C733588D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Opening</a:t>
            </a:r>
          </a:p>
        </p:txBody>
      </p:sp>
      <p:sp>
        <p:nvSpPr>
          <p:cNvPr id="6" name="2 min">
            <a:extLst xmlns:a="http://schemas.openxmlformats.org/drawingml/2006/main">
              <a:ext uri="{FF2B5EF4-FFF2-40B4-BE49-F238E27FC236}">
                <a16:creationId xmlns:a16="http://schemas.microsoft.com/office/drawing/2014/main" id="{65E117AA-6CAE-4315-9DF6-25BCE5BE8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2 min</a:t>
            </a:r>
          </a:p>
        </p:txBody>
      </p:sp>
      <p:sp>
        <p:nvSpPr>
          <p:cNvPr id="7" name="An object is inside. Why can’t we see it?">
            <a:extLst xmlns:a="http://schemas.openxmlformats.org/drawingml/2006/main">
              <a:ext uri="{FF2B5EF4-FFF2-40B4-BE49-F238E27FC236}">
                <a16:creationId xmlns:a16="http://schemas.microsoft.com/office/drawing/2014/main" id="{4CEBFADA-DC49-46FA-85C8-AB7E633A5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An object is inside. Why can’t we see it?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E4F7BEE0-6866-4CB6-9864-4CA8B8FD1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blackout-box mystery">
            <a:extLst xmlns:a="http://schemas.openxmlformats.org/drawingml/2006/main">
              <a:ext uri="{FF2B5EF4-FFF2-40B4-BE49-F238E27FC236}">
                <a16:creationId xmlns:a16="http://schemas.microsoft.com/office/drawing/2014/main" id="{BE7F9406-ED4D-4B1B-86D2-8E9073F65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blackout-box mystery</a:t>
            </a:r>
          </a:p>
        </p:txBody>
      </p:sp>
      <p:sp>
        <p:nvSpPr>
          <p:cNvPr id="10" name="1 / 14">
            <a:extLst xmlns:a="http://schemas.openxmlformats.org/drawingml/2006/main">
              <a:ext uri="{FF2B5EF4-FFF2-40B4-BE49-F238E27FC236}">
                <a16:creationId xmlns:a16="http://schemas.microsoft.com/office/drawing/2014/main" id="{32347FEE-1E8E-4CC9-832F-CD2ED9D86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 / 14</a:t>
            </a:r>
          </a:p>
        </p:txBody>
      </p:sp>
      <p:sp>
        <p:nvSpPr>
          <p:cNvPr id="11" name="surface">
            <a:extLst xmlns:a="http://schemas.openxmlformats.org/drawingml/2006/main">
              <a:ext uri="{FF2B5EF4-FFF2-40B4-BE49-F238E27FC236}">
                <a16:creationId xmlns:a16="http://schemas.microsoft.com/office/drawing/2014/main" id="{CAA6B372-F450-4CEF-81D3-86436E00F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111252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2818CBD9-5202-48BF-AC9B-79BD095CF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6667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13" name="Learning intention">
            <a:extLst xmlns:a="http://schemas.openxmlformats.org/drawingml/2006/main">
              <a:ext uri="{FF2B5EF4-FFF2-40B4-BE49-F238E27FC236}">
                <a16:creationId xmlns:a16="http://schemas.microsoft.com/office/drawing/2014/main" id="{6F918B91-9B1C-4AA9-8616-0A7DCA645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Learning intention</a:t>
            </a:r>
          </a:p>
        </p:txBody>
      </p:sp>
      <p:sp>
        <p:nvSpPr>
          <p:cNvPr id="14" name="Explain why an object needs light reaching it and then the eye t">
            <a:extLst xmlns:a="http://schemas.openxmlformats.org/drawingml/2006/main">
              <a:ext uri="{FF2B5EF4-FFF2-40B4-BE49-F238E27FC236}">
                <a16:creationId xmlns:a16="http://schemas.microsoft.com/office/drawing/2014/main" id="{9ADD54DB-0A2C-4463-8F60-7ACB150BE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Explain why an object needs light reaching it and then the eye to be seen.</a:t>
            </a:r>
          </a:p>
        </p:txBody>
      </p:sp>
      <p:sp>
        <p:nvSpPr>
          <p:cNvPr id="15" name="The object has not moved.">
            <a:extLst xmlns:a="http://schemas.openxmlformats.org/drawingml/2006/main">
              <a:ext uri="{FF2B5EF4-FFF2-40B4-BE49-F238E27FC236}">
                <a16:creationId xmlns:a16="http://schemas.microsoft.com/office/drawing/2014/main" id="{1119131A-BE5C-4E61-BA4B-2BBD538F8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The object has not moved.</a:t>
            </a:r>
          </a:p>
        </p:txBody>
      </p:sp>
      <p:sp>
        <p:nvSpPr>
          <p:cNvPr id="16" name="Find the missing light path.">
            <a:extLst xmlns:a="http://schemas.openxmlformats.org/drawingml/2006/main">
              <a:ext uri="{FF2B5EF4-FFF2-40B4-BE49-F238E27FC236}">
                <a16:creationId xmlns:a16="http://schemas.microsoft.com/office/drawing/2014/main" id="{3C5B6BC4-AC39-4AF6-A411-EBDE80AF4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22358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Find the missing light path.</a:t>
            </a:r>
          </a:p>
        </p:txBody>
      </p:sp>
    </p:spTree>
    <p:extLst>
      <p:ext uri="{BB962C8B-B14F-4D97-AF65-F5344CB8AC3E}">
        <p14:creationId xmlns:p14="http://schemas.microsoft.com/office/powerpoint/2010/main" val="15782702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46D48891-9109-4C2B-9E76-0F3C25FCD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C002FAC0-70A9-42B1-B8A5-687980F49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AF4498D0-4F34-40E9-88FA-FC2B689C9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5654F90D-E3A9-4491-A608-62F8E966E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Retrieval">
            <a:extLst xmlns:a="http://schemas.openxmlformats.org/drawingml/2006/main">
              <a:ext uri="{FF2B5EF4-FFF2-40B4-BE49-F238E27FC236}">
                <a16:creationId xmlns:a16="http://schemas.microsoft.com/office/drawing/2014/main" id="{316E5DF9-0324-4DCD-AE6B-6408B5176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Retrieval</a:t>
            </a:r>
          </a:p>
        </p:txBody>
      </p:sp>
      <p:sp>
        <p:nvSpPr>
          <p:cNvPr id="6" name="3 min">
            <a:extLst xmlns:a="http://schemas.openxmlformats.org/drawingml/2006/main">
              <a:ext uri="{FF2B5EF4-FFF2-40B4-BE49-F238E27FC236}">
                <a16:creationId xmlns:a16="http://schemas.microsoft.com/office/drawing/2014/main" id="{073C7614-DC41-4F9E-8739-301DDFE17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3 min</a:t>
            </a:r>
          </a:p>
        </p:txBody>
      </p:sp>
      <p:sp>
        <p:nvSpPr>
          <p:cNvPr id="7" name="What do we already know?">
            <a:extLst xmlns:a="http://schemas.openxmlformats.org/drawingml/2006/main">
              <a:ext uri="{FF2B5EF4-FFF2-40B4-BE49-F238E27FC236}">
                <a16:creationId xmlns:a16="http://schemas.microsoft.com/office/drawing/2014/main" id="{696CD47D-188E-47A9-AC2A-993FD71DB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What do we already know?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805EBA11-84F1-49DD-8226-0097212A8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blackout-box mystery">
            <a:extLst xmlns:a="http://schemas.openxmlformats.org/drawingml/2006/main">
              <a:ext uri="{FF2B5EF4-FFF2-40B4-BE49-F238E27FC236}">
                <a16:creationId xmlns:a16="http://schemas.microsoft.com/office/drawing/2014/main" id="{29CD5044-E442-4658-A84F-9BD7ADE73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blackout-box mystery</a:t>
            </a:r>
          </a:p>
        </p:txBody>
      </p:sp>
      <p:sp>
        <p:nvSpPr>
          <p:cNvPr id="10" name="2 / 14">
            <a:extLst xmlns:a="http://schemas.openxmlformats.org/drawingml/2006/main">
              <a:ext uri="{FF2B5EF4-FFF2-40B4-BE49-F238E27FC236}">
                <a16:creationId xmlns:a16="http://schemas.microsoft.com/office/drawing/2014/main" id="{C8F31483-E525-4EAB-BF75-30A679B43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2 / 14</a:t>
            </a:r>
          </a:p>
        </p:txBody>
      </p:sp>
      <p:sp>
        <p:nvSpPr>
          <p:cNvPr id="11" name="1. Name something that gives out light.">
            <a:extLst xmlns:a="http://schemas.openxmlformats.org/drawingml/2006/main">
              <a:ext uri="{FF2B5EF4-FFF2-40B4-BE49-F238E27FC236}">
                <a16:creationId xmlns:a16="http://schemas.microsoft.com/office/drawing/2014/main" id="{2B12497B-7C84-4594-BF8D-47B75178D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1. Name something that gives out light.</a:t>
            </a:r>
          </a:p>
        </p:txBody>
      </p:sp>
      <p:sp>
        <p:nvSpPr>
          <p:cNvPr id="12" name="2. Can a plain card make its own light?">
            <a:extLst xmlns:a="http://schemas.openxmlformats.org/drawingml/2006/main">
              <a:ext uri="{FF2B5EF4-FFF2-40B4-BE49-F238E27FC236}">
                <a16:creationId xmlns:a16="http://schemas.microsoft.com/office/drawing/2014/main" id="{4432854F-EF02-4EAF-8701-308A06AC4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3183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2. Can a plain card make its own light?</a:t>
            </a:r>
          </a:p>
        </p:txBody>
      </p:sp>
      <p:sp>
        <p:nvSpPr>
          <p:cNvPr id="13" name="3. Which sense uses the eyes?">
            <a:extLst xmlns:a="http://schemas.openxmlformats.org/drawingml/2006/main">
              <a:ext uri="{FF2B5EF4-FFF2-40B4-BE49-F238E27FC236}">
                <a16:creationId xmlns:a16="http://schemas.microsoft.com/office/drawing/2014/main" id="{01C59960-2416-4A5B-A9DC-01E17CB4C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7540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3. Which sense uses the eyes?</a:t>
            </a:r>
          </a:p>
        </p:txBody>
      </p:sp>
    </p:spTree>
    <p:extLst>
      <p:ext uri="{BB962C8B-B14F-4D97-AF65-F5344CB8AC3E}">
        <p14:creationId xmlns:p14="http://schemas.microsoft.com/office/powerpoint/2010/main" val="11704960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urface">
            <a:extLst xmlns:a="http://schemas.openxmlformats.org/drawingml/2006/main">
              <a:ext uri="{FF2B5EF4-FFF2-40B4-BE49-F238E27FC236}">
                <a16:creationId xmlns:a16="http://schemas.microsoft.com/office/drawing/2014/main" id="{8B0620DD-8222-4AC0-A406-C1D2164B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5AC4ED22-316A-4F35-B0F9-1D07D5869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773A5783-3F1A-447C-954C-055D33C66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22FDF565-F9E1-45F9-8370-D60E2E0E2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I do">
            <a:extLst xmlns:a="http://schemas.openxmlformats.org/drawingml/2006/main">
              <a:ext uri="{FF2B5EF4-FFF2-40B4-BE49-F238E27FC236}">
                <a16:creationId xmlns:a16="http://schemas.microsoft.com/office/drawing/2014/main" id="{F172956B-2840-4FBA-BD8B-494B96624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I do</a:t>
            </a:r>
          </a:p>
        </p:txBody>
      </p:sp>
      <p:sp>
        <p:nvSpPr>
          <p:cNvPr id="6" name="4 min">
            <a:extLst xmlns:a="http://schemas.openxmlformats.org/drawingml/2006/main">
              <a:ext uri="{FF2B5EF4-FFF2-40B4-BE49-F238E27FC236}">
                <a16:creationId xmlns:a16="http://schemas.microsoft.com/office/drawing/2014/main" id="{BE6DCFCC-DFFA-45B7-BF08-BF91ED780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4 min</a:t>
            </a:r>
          </a:p>
        </p:txBody>
      </p:sp>
      <p:sp>
        <p:nvSpPr>
          <p:cNvPr id="7" name="I follow the light">
            <a:extLst xmlns:a="http://schemas.openxmlformats.org/drawingml/2006/main">
              <a:ext uri="{FF2B5EF4-FFF2-40B4-BE49-F238E27FC236}">
                <a16:creationId xmlns:a16="http://schemas.microsoft.com/office/drawing/2014/main" id="{9148AF26-1DCC-4072-86D5-5688AFF65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 follow the light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3843CC1E-5104-4F8C-A323-82B4D817D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blackout-box mystery">
            <a:extLst xmlns:a="http://schemas.openxmlformats.org/drawingml/2006/main">
              <a:ext uri="{FF2B5EF4-FFF2-40B4-BE49-F238E27FC236}">
                <a16:creationId xmlns:a16="http://schemas.microsoft.com/office/drawing/2014/main" id="{E9E24316-4087-4240-9F34-F98211E11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blackout-box mystery</a:t>
            </a:r>
          </a:p>
        </p:txBody>
      </p:sp>
      <p:sp>
        <p:nvSpPr>
          <p:cNvPr id="10" name="3 / 14">
            <a:extLst xmlns:a="http://schemas.openxmlformats.org/drawingml/2006/main">
              <a:ext uri="{FF2B5EF4-FFF2-40B4-BE49-F238E27FC236}">
                <a16:creationId xmlns:a16="http://schemas.microsoft.com/office/drawing/2014/main" id="{C1709207-CFEE-4164-A907-C0BDA580C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3 / 14</a:t>
            </a:r>
          </a:p>
        </p:txBody>
      </p:sp>
      <p:sp>
        <p:nvSpPr>
          <p:cNvPr id="11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27EC71AD-DC4C-4B87-A01B-7FC721AF6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5886" y="3117226"/>
            <a:ext cx="1194707" cy="7093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7"/>
          </a:solidFill>
          <a:ln xmlns:a="http://schemas.openxmlformats.org/drawingml/2006/main" w="22401">
            <a:solidFill>
              <a:srgbClr val="4E7A9B"/>
            </a:solidFill>
          </a:ln>
        </p:spPr>
      </p:sp>
      <p:sp>
        <p:nvSpPr>
          <p:cNvPr id="12" name="Diagram label: LED light">
            <a:extLst xmlns:a="http://schemas.openxmlformats.org/drawingml/2006/main">
              <a:ext uri="{FF2B5EF4-FFF2-40B4-BE49-F238E27FC236}">
                <a16:creationId xmlns:a16="http://schemas.microsoft.com/office/drawing/2014/main" id="{4F1B26FA-99B4-4DAF-AE3C-873DC1028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5886" y="2743880"/>
            <a:ext cx="1418715" cy="2986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46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LED light</a:t>
            </a:r>
          </a:p>
        </p:txBody>
      </p:sp>
      <p:sp>
        <p:nvSpPr>
          <p:cNvPr id="13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6A085EC4-0743-40CE-8BC2-94368CC8A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2654" y="3639911"/>
            <a:ext cx="746692" cy="8960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22401">
            <a:solidFill>
              <a:srgbClr val="4E7A9B"/>
            </a:solidFill>
          </a:ln>
        </p:spPr>
      </p:sp>
      <p:sp>
        <p:nvSpPr>
          <p:cNvPr id="14" name="Diagram label: Object">
            <a:extLst xmlns:a="http://schemas.openxmlformats.org/drawingml/2006/main">
              <a:ext uri="{FF2B5EF4-FFF2-40B4-BE49-F238E27FC236}">
                <a16:creationId xmlns:a16="http://schemas.microsoft.com/office/drawing/2014/main" id="{EA8391EA-B6EB-4BF7-98FF-69FF0519A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2654" y="4871952"/>
            <a:ext cx="1344046" cy="410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46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Object</a:t>
            </a:r>
          </a:p>
        </p:txBody>
      </p:sp>
      <p:sp>
        <p:nvSpPr>
          <p:cNvPr id="15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E4C8D706-0DB5-466E-AEB5-0ECDB4661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1407" y="3079892"/>
            <a:ext cx="1082703" cy="7093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401">
            <a:solidFill>
              <a:srgbClr val="1F2937"/>
            </a:solidFill>
          </a:ln>
        </p:spPr>
      </p:sp>
      <p:sp>
        <p:nvSpPr>
          <p:cNvPr id="16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7F9C4FF9-FDA5-4449-A91B-CEAC471FA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3146" y="3266565"/>
            <a:ext cx="298677" cy="33601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22401">
            <a:solidFill>
              <a:srgbClr val="1F2937"/>
            </a:solidFill>
          </a:ln>
        </p:spPr>
      </p:sp>
      <p:sp>
        <p:nvSpPr>
          <p:cNvPr id="17" name="Diagram label: Eye">
            <a:extLst xmlns:a="http://schemas.openxmlformats.org/drawingml/2006/main">
              <a:ext uri="{FF2B5EF4-FFF2-40B4-BE49-F238E27FC236}">
                <a16:creationId xmlns:a16="http://schemas.microsoft.com/office/drawing/2014/main" id="{30C7FAC0-F7C8-4D2F-A22E-3444BD643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3410" y="2743880"/>
            <a:ext cx="1120038" cy="3360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46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Eye</a:t>
            </a:r>
          </a:p>
        </p:txBody>
      </p:sp>
      <p:sp>
        <p:nvSpPr>
          <p:cNvPr id="18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B18C48B0-0A9A-4B26-8BAB-0A14F27EE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930593" y="3490572"/>
            <a:ext cx="2087190" cy="1439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7335">
            <a:solidFill>
              <a:srgbClr val="E5AB37"/>
            </a:solidFill>
          </a:ln>
        </p:spPr>
      </p:sp>
      <p:sp>
        <p:nvSpPr>
          <p:cNvPr id="19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87A62771-C4E4-4C14-B710-03A3D11E5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636711">
            <a:off x="5991587" y="3584046"/>
            <a:ext cx="104537" cy="10453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5AB37"/>
          </a:solidFill>
          <a:ln xmlns:a="http://schemas.openxmlformats.org/drawingml/2006/main" w="0">
            <a:noFill/>
          </a:ln>
        </p:spPr>
      </p:sp>
      <p:sp>
        <p:nvSpPr>
          <p:cNvPr id="20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6975AC71-5B54-467F-A210-2FD2F74EA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096000" y="3531696"/>
            <a:ext cx="2236434" cy="10821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7335">
            <a:solidFill>
              <a:srgbClr val="E5AB37"/>
            </a:solidFill>
          </a:ln>
        </p:spPr>
      </p:sp>
      <p:sp>
        <p:nvSpPr>
          <p:cNvPr id="21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EDCABB10-2DDC-4173-BFB8-C59167C82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233787">
            <a:off x="8306269" y="3478165"/>
            <a:ext cx="104537" cy="10453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5AB37"/>
          </a:solidFill>
          <a:ln xmlns:a="http://schemas.openxmlformats.org/drawingml/2006/main" w="0">
            <a:noFill/>
          </a:ln>
        </p:spPr>
      </p:sp>
      <p:sp>
        <p:nvSpPr>
          <p:cNvPr id="22" name="Diagram label: Light reaches&#10;the object.">
            <a:extLst xmlns:a="http://schemas.openxmlformats.org/drawingml/2006/main">
              <a:ext uri="{FF2B5EF4-FFF2-40B4-BE49-F238E27FC236}">
                <a16:creationId xmlns:a16="http://schemas.microsoft.com/office/drawing/2014/main" id="{9B7BE2E6-2176-4899-8B16-6AF8DE2C9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255" y="4162595"/>
            <a:ext cx="1754726" cy="672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46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Light reaches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46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the object.</a:t>
            </a:r>
          </a:p>
        </p:txBody>
      </p:sp>
      <p:sp>
        <p:nvSpPr>
          <p:cNvPr id="23" name="Diagram label: Some reflected light&#10;enters the eye.">
            <a:extLst xmlns:a="http://schemas.openxmlformats.org/drawingml/2006/main">
              <a:ext uri="{FF2B5EF4-FFF2-40B4-BE49-F238E27FC236}">
                <a16:creationId xmlns:a16="http://schemas.microsoft.com/office/drawing/2014/main" id="{B6DF4A8A-E3E2-4DE4-939F-2ECA6D0C9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4696" y="4199930"/>
            <a:ext cx="2240076" cy="7466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46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Some reflected light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46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enters the eye.</a:t>
            </a:r>
          </a:p>
        </p:txBody>
      </p:sp>
      <p:sp>
        <p:nvSpPr>
          <p:cNvPr id="24" name="Diagram label: The eye receives light. Arrows show its direction.">
            <a:extLst xmlns:a="http://schemas.openxmlformats.org/drawingml/2006/main">
              <a:ext uri="{FF2B5EF4-FFF2-40B4-BE49-F238E27FC236}">
                <a16:creationId xmlns:a16="http://schemas.microsoft.com/office/drawing/2014/main" id="{C3C341A5-778E-4139-8CF1-ABF9D247A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3221" y="5357302"/>
            <a:ext cx="6496220" cy="410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The eye receives light. Arrows show its direction.</a:t>
            </a:r>
          </a:p>
        </p:txBody>
      </p:sp>
      <p:sp>
        <p:nvSpPr>
          <p:cNvPr id="25" name="The source gives out light.  The object reflects some light.  So">
            <a:extLst xmlns:a="http://schemas.openxmlformats.org/drawingml/2006/main">
              <a:ext uri="{FF2B5EF4-FFF2-40B4-BE49-F238E27FC236}">
                <a16:creationId xmlns:a16="http://schemas.microsoft.com/office/drawing/2014/main" id="{4C289E77-9A50-42CE-934B-E3F94FC9B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86475"/>
            <a:ext cx="11125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The source gives out light. The object reflects some light. Some reaches the eye.</a:t>
            </a:r>
          </a:p>
        </p:txBody>
      </p:sp>
    </p:spTree>
    <p:extLst>
      <p:ext uri="{BB962C8B-B14F-4D97-AF65-F5344CB8AC3E}">
        <p14:creationId xmlns:p14="http://schemas.microsoft.com/office/powerpoint/2010/main" val="17033141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urface">
            <a:extLst xmlns:a="http://schemas.openxmlformats.org/drawingml/2006/main">
              <a:ext uri="{FF2B5EF4-FFF2-40B4-BE49-F238E27FC236}">
                <a16:creationId xmlns:a16="http://schemas.microsoft.com/office/drawing/2014/main" id="{04944ADD-9705-4449-B68C-C3C50BBF6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585A986E-9379-4810-BA5D-965D42783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BAAE6AF8-992F-4C0F-9182-22D221157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E9C3A40A-044F-463E-9331-E05465FC4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I do">
            <a:extLst xmlns:a="http://schemas.openxmlformats.org/drawingml/2006/main">
              <a:ext uri="{FF2B5EF4-FFF2-40B4-BE49-F238E27FC236}">
                <a16:creationId xmlns:a16="http://schemas.microsoft.com/office/drawing/2014/main" id="{8AC8AEA3-F2AE-4093-9512-370CE1F37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I do</a:t>
            </a:r>
          </a:p>
        </p:txBody>
      </p:sp>
      <p:sp>
        <p:nvSpPr>
          <p:cNvPr id="6" name="3 min">
            <a:extLst xmlns:a="http://schemas.openxmlformats.org/drawingml/2006/main">
              <a:ext uri="{FF2B5EF4-FFF2-40B4-BE49-F238E27FC236}">
                <a16:creationId xmlns:a16="http://schemas.microsoft.com/office/drawing/2014/main" id="{C6762746-AC8A-490D-8F41-F88249004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3 min</a:t>
            </a:r>
          </a:p>
        </p:txBody>
      </p:sp>
      <p:sp>
        <p:nvSpPr>
          <p:cNvPr id="7" name="I remove the source">
            <a:extLst xmlns:a="http://schemas.openxmlformats.org/drawingml/2006/main">
              <a:ext uri="{FF2B5EF4-FFF2-40B4-BE49-F238E27FC236}">
                <a16:creationId xmlns:a16="http://schemas.microsoft.com/office/drawing/2014/main" id="{ED210FA2-CAD1-41E7-B474-08793CAB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 remove the source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17675D3E-9A28-4A23-8464-C7567BDE0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blackout-box mystery">
            <a:extLst xmlns:a="http://schemas.openxmlformats.org/drawingml/2006/main">
              <a:ext uri="{FF2B5EF4-FFF2-40B4-BE49-F238E27FC236}">
                <a16:creationId xmlns:a16="http://schemas.microsoft.com/office/drawing/2014/main" id="{118B298C-EE3F-4835-814D-0A84A60C1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blackout-box mystery</a:t>
            </a:r>
          </a:p>
        </p:txBody>
      </p:sp>
      <p:sp>
        <p:nvSpPr>
          <p:cNvPr id="10" name="4 / 14">
            <a:extLst xmlns:a="http://schemas.openxmlformats.org/drawingml/2006/main">
              <a:ext uri="{FF2B5EF4-FFF2-40B4-BE49-F238E27FC236}">
                <a16:creationId xmlns:a16="http://schemas.microsoft.com/office/drawing/2014/main" id="{11D88893-835F-4737-AF88-2D7153392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4 / 14</a:t>
            </a:r>
          </a:p>
        </p:txBody>
      </p:sp>
      <p:sp>
        <p:nvSpPr>
          <p:cNvPr id="11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CF2A532A-B6D7-499B-A617-3C83D03C8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5886" y="3117226"/>
            <a:ext cx="1194707" cy="7093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7"/>
          </a:solidFill>
          <a:ln xmlns:a="http://schemas.openxmlformats.org/drawingml/2006/main" w="22401">
            <a:solidFill>
              <a:srgbClr val="4E7A9B"/>
            </a:solidFill>
          </a:ln>
        </p:spPr>
      </p:sp>
      <p:sp>
        <p:nvSpPr>
          <p:cNvPr id="12" name="Diagram label: LED light">
            <a:extLst xmlns:a="http://schemas.openxmlformats.org/drawingml/2006/main">
              <a:ext uri="{FF2B5EF4-FFF2-40B4-BE49-F238E27FC236}">
                <a16:creationId xmlns:a16="http://schemas.microsoft.com/office/drawing/2014/main" id="{FD8FF5E2-87F9-4205-857B-3F814512F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5886" y="2743880"/>
            <a:ext cx="1418715" cy="2986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46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LED light</a:t>
            </a:r>
          </a:p>
        </p:txBody>
      </p:sp>
      <p:sp>
        <p:nvSpPr>
          <p:cNvPr id="13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8744A911-F0E8-4FAE-A77B-6A85C5A5F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2654" y="3639911"/>
            <a:ext cx="746692" cy="8960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22401">
            <a:solidFill>
              <a:srgbClr val="4E7A9B"/>
            </a:solidFill>
          </a:ln>
        </p:spPr>
      </p:sp>
      <p:sp>
        <p:nvSpPr>
          <p:cNvPr id="14" name="Diagram label: Object">
            <a:extLst xmlns:a="http://schemas.openxmlformats.org/drawingml/2006/main">
              <a:ext uri="{FF2B5EF4-FFF2-40B4-BE49-F238E27FC236}">
                <a16:creationId xmlns:a16="http://schemas.microsoft.com/office/drawing/2014/main" id="{59818F83-C257-4079-BA55-086611BD4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2654" y="4871952"/>
            <a:ext cx="1344046" cy="410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46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Object</a:t>
            </a:r>
          </a:p>
        </p:txBody>
      </p:sp>
      <p:sp>
        <p:nvSpPr>
          <p:cNvPr id="15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C17A2E64-2C13-43C9-A8C8-1616FF152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1407" y="3079892"/>
            <a:ext cx="1082703" cy="7093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401">
            <a:solidFill>
              <a:srgbClr val="1F2937"/>
            </a:solidFill>
          </a:ln>
        </p:spPr>
      </p:sp>
      <p:sp>
        <p:nvSpPr>
          <p:cNvPr id="16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6BF35B39-E13F-4133-A989-D72E08CC0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3146" y="3266565"/>
            <a:ext cx="298677" cy="33601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22401">
            <a:solidFill>
              <a:srgbClr val="1F2937"/>
            </a:solidFill>
          </a:ln>
        </p:spPr>
      </p:sp>
      <p:sp>
        <p:nvSpPr>
          <p:cNvPr id="17" name="Diagram label: Eye">
            <a:extLst xmlns:a="http://schemas.openxmlformats.org/drawingml/2006/main">
              <a:ext uri="{FF2B5EF4-FFF2-40B4-BE49-F238E27FC236}">
                <a16:creationId xmlns:a16="http://schemas.microsoft.com/office/drawing/2014/main" id="{55499DA8-1040-4183-91F9-7984A7201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3410" y="2743880"/>
            <a:ext cx="1120038" cy="3360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46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Eye</a:t>
            </a:r>
          </a:p>
        </p:txBody>
      </p:sp>
      <p:sp>
        <p:nvSpPr>
          <p:cNvPr id="18" name="Diagram label: OFF">
            <a:extLst xmlns:a="http://schemas.openxmlformats.org/drawingml/2006/main">
              <a:ext uri="{FF2B5EF4-FFF2-40B4-BE49-F238E27FC236}">
                <a16:creationId xmlns:a16="http://schemas.microsoft.com/office/drawing/2014/main" id="{E04AC388-5427-4F75-8B10-FEF9E8CC6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5225" y="3975922"/>
            <a:ext cx="1194707" cy="3733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64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64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OFF</a:t>
            </a:r>
          </a:p>
        </p:txBody>
      </p:sp>
      <p:sp>
        <p:nvSpPr>
          <p:cNvPr id="19" name="Diagram label: A model of complete darkness">
            <a:extLst xmlns:a="http://schemas.openxmlformats.org/drawingml/2006/main">
              <a:ext uri="{FF2B5EF4-FFF2-40B4-BE49-F238E27FC236}">
                <a16:creationId xmlns:a16="http://schemas.microsoft.com/office/drawing/2014/main" id="{A16B1206-EBAE-4C64-A0A5-D61F2E801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3278" y="2183861"/>
            <a:ext cx="4106806" cy="48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64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64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 model of complete darkness</a:t>
            </a:r>
          </a:p>
        </p:txBody>
      </p:sp>
      <p:sp>
        <p:nvSpPr>
          <p:cNvPr id="20" name="Diagram label: No light reaches the object or the eye.">
            <a:extLst xmlns:a="http://schemas.openxmlformats.org/drawingml/2006/main">
              <a:ext uri="{FF2B5EF4-FFF2-40B4-BE49-F238E27FC236}">
                <a16:creationId xmlns:a16="http://schemas.microsoft.com/office/drawing/2014/main" id="{3E0FB325-084E-48B2-A692-B1E368179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932" y="5319968"/>
            <a:ext cx="5226844" cy="48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No light reaches the object or the eye.</a:t>
            </a:r>
          </a:p>
        </p:txBody>
      </p:sp>
      <p:sp>
        <p:nvSpPr>
          <p:cNvPr id="21" name="The object is still present.  No light reaches it.  Waiting cann">
            <a:extLst xmlns:a="http://schemas.openxmlformats.org/drawingml/2006/main">
              <a:ext uri="{FF2B5EF4-FFF2-40B4-BE49-F238E27FC236}">
                <a16:creationId xmlns:a16="http://schemas.microsoft.com/office/drawing/2014/main" id="{478FADAB-97AE-41B8-A7D3-1E836011D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86475"/>
            <a:ext cx="11125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The object is still present. No light reaches it. Waiting cannot create light.</a:t>
            </a:r>
          </a:p>
        </p:txBody>
      </p:sp>
    </p:spTree>
    <p:extLst>
      <p:ext uri="{BB962C8B-B14F-4D97-AF65-F5344CB8AC3E}">
        <p14:creationId xmlns:p14="http://schemas.microsoft.com/office/powerpoint/2010/main" val="20707967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urface">
            <a:extLst xmlns:a="http://schemas.openxmlformats.org/drawingml/2006/main">
              <a:ext uri="{FF2B5EF4-FFF2-40B4-BE49-F238E27FC236}">
                <a16:creationId xmlns:a16="http://schemas.microsoft.com/office/drawing/2014/main" id="{93E6656E-4B54-418C-BED6-C12BD6874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ECDDD767-6307-495D-96F0-6652C7884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4F56A83D-B538-4487-B0DB-427D88EBC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54E71FA5-E334-4571-9370-30490A748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I do">
            <a:extLst xmlns:a="http://schemas.openxmlformats.org/drawingml/2006/main">
              <a:ext uri="{FF2B5EF4-FFF2-40B4-BE49-F238E27FC236}">
                <a16:creationId xmlns:a16="http://schemas.microsoft.com/office/drawing/2014/main" id="{B0884D91-AA9D-4B10-863E-2CAD9C641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I do</a:t>
            </a:r>
          </a:p>
        </p:txBody>
      </p:sp>
      <p:sp>
        <p:nvSpPr>
          <p:cNvPr id="6" name="I block one part of the path">
            <a:extLst xmlns:a="http://schemas.openxmlformats.org/drawingml/2006/main">
              <a:ext uri="{FF2B5EF4-FFF2-40B4-BE49-F238E27FC236}">
                <a16:creationId xmlns:a16="http://schemas.microsoft.com/office/drawing/2014/main" id="{D4D711BC-8DC2-4051-8D30-721FEF75D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 block one part of the path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5801C3D5-7819-45C8-8BCC-1E352483A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The blackout-box mystery">
            <a:extLst xmlns:a="http://schemas.openxmlformats.org/drawingml/2006/main">
              <a:ext uri="{FF2B5EF4-FFF2-40B4-BE49-F238E27FC236}">
                <a16:creationId xmlns:a16="http://schemas.microsoft.com/office/drawing/2014/main" id="{B9392D20-F6A8-4F51-9CD6-622AEF8A9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blackout-box mystery</a:t>
            </a:r>
          </a:p>
        </p:txBody>
      </p:sp>
      <p:sp>
        <p:nvSpPr>
          <p:cNvPr id="9" name="5 / 14">
            <a:extLst xmlns:a="http://schemas.openxmlformats.org/drawingml/2006/main">
              <a:ext uri="{FF2B5EF4-FFF2-40B4-BE49-F238E27FC236}">
                <a16:creationId xmlns:a16="http://schemas.microsoft.com/office/drawing/2014/main" id="{002DAE56-36C3-46A1-A6E9-DA7FB8E7F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5 / 14</a:t>
            </a:r>
          </a:p>
        </p:txBody>
      </p:sp>
      <p:sp>
        <p:nvSpPr>
          <p:cNvPr id="10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44766700-E3FA-4624-8764-80E374453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5886" y="3117226"/>
            <a:ext cx="1194707" cy="7093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7"/>
          </a:solidFill>
          <a:ln xmlns:a="http://schemas.openxmlformats.org/drawingml/2006/main" w="22401">
            <a:solidFill>
              <a:srgbClr val="4E7A9B"/>
            </a:solidFill>
          </a:ln>
        </p:spPr>
      </p:sp>
      <p:sp>
        <p:nvSpPr>
          <p:cNvPr id="11" name="Diagram label: LED light">
            <a:extLst xmlns:a="http://schemas.openxmlformats.org/drawingml/2006/main">
              <a:ext uri="{FF2B5EF4-FFF2-40B4-BE49-F238E27FC236}">
                <a16:creationId xmlns:a16="http://schemas.microsoft.com/office/drawing/2014/main" id="{C3609C0D-8408-4460-A0B5-0B3E5F0C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5886" y="2743880"/>
            <a:ext cx="1418715" cy="2986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46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LED light</a:t>
            </a:r>
          </a:p>
        </p:txBody>
      </p:sp>
      <p:sp>
        <p:nvSpPr>
          <p:cNvPr id="12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A96ED859-5583-479D-B2A7-268859DE2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2654" y="3639911"/>
            <a:ext cx="746692" cy="8960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22401">
            <a:solidFill>
              <a:srgbClr val="4E7A9B"/>
            </a:solidFill>
          </a:ln>
        </p:spPr>
      </p:sp>
      <p:sp>
        <p:nvSpPr>
          <p:cNvPr id="13" name="Diagram label: Object">
            <a:extLst xmlns:a="http://schemas.openxmlformats.org/drawingml/2006/main">
              <a:ext uri="{FF2B5EF4-FFF2-40B4-BE49-F238E27FC236}">
                <a16:creationId xmlns:a16="http://schemas.microsoft.com/office/drawing/2014/main" id="{4124871A-CEC5-4FDB-B21D-C4941B3AE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2654" y="4871952"/>
            <a:ext cx="1344046" cy="410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46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Object</a:t>
            </a:r>
          </a:p>
        </p:txBody>
      </p:sp>
      <p:sp>
        <p:nvSpPr>
          <p:cNvPr id="14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0AF97AAC-7FD3-4E0B-82CE-F2719C27C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1407" y="3079892"/>
            <a:ext cx="1082703" cy="7093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401">
            <a:solidFill>
              <a:srgbClr val="1F2937"/>
            </a:solidFill>
          </a:ln>
        </p:spPr>
      </p:sp>
      <p:sp>
        <p:nvSpPr>
          <p:cNvPr id="15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C6719C3B-760E-4965-A2A9-0804AEF30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3146" y="3266565"/>
            <a:ext cx="298677" cy="33601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22401">
            <a:solidFill>
              <a:srgbClr val="1F2937"/>
            </a:solidFill>
          </a:ln>
        </p:spPr>
      </p:sp>
      <p:sp>
        <p:nvSpPr>
          <p:cNvPr id="16" name="Diagram label: Eye">
            <a:extLst xmlns:a="http://schemas.openxmlformats.org/drawingml/2006/main">
              <a:ext uri="{FF2B5EF4-FFF2-40B4-BE49-F238E27FC236}">
                <a16:creationId xmlns:a16="http://schemas.microsoft.com/office/drawing/2014/main" id="{41A86ABF-B053-48A8-8F63-A21AF05EE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3410" y="2743880"/>
            <a:ext cx="1120038" cy="3360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46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Eye</a:t>
            </a:r>
          </a:p>
        </p:txBody>
      </p:sp>
      <p:sp>
        <p:nvSpPr>
          <p:cNvPr id="17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3C60AB6B-4062-40B8-BFD4-8934C918F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930593" y="3490572"/>
            <a:ext cx="715691" cy="189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7335">
            <a:solidFill>
              <a:srgbClr val="E5AB37"/>
            </a:solidFill>
          </a:ln>
        </p:spPr>
      </p:sp>
      <p:sp>
        <p:nvSpPr>
          <p:cNvPr id="18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1C5CEC4E-2A42-4B02-804C-2557F6CC7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287806">
            <a:off x="4619283" y="3634029"/>
            <a:ext cx="104537" cy="10453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5AB37"/>
          </a:solidFill>
          <a:ln xmlns:a="http://schemas.openxmlformats.org/drawingml/2006/main" w="0">
            <a:noFill/>
          </a:ln>
        </p:spPr>
      </p:sp>
      <p:sp>
        <p:nvSpPr>
          <p:cNvPr id="19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E35020A9-4261-4662-9FF1-0E547312D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1954" y="3079892"/>
            <a:ext cx="194140" cy="15680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22401">
            <a:solidFill>
              <a:srgbClr val="1F2937"/>
            </a:solidFill>
          </a:ln>
        </p:spPr>
      </p:sp>
      <p:sp>
        <p:nvSpPr>
          <p:cNvPr id="20" name="Diagram label: Opaque card&#10;blocks this path.">
            <a:extLst xmlns:a="http://schemas.openxmlformats.org/drawingml/2006/main">
              <a:ext uri="{FF2B5EF4-FFF2-40B4-BE49-F238E27FC236}">
                <a16:creationId xmlns:a16="http://schemas.microsoft.com/office/drawing/2014/main" id="{79BA9BBF-9B62-4747-877A-B53D22B79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9251" y="4685279"/>
            <a:ext cx="1568053" cy="672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29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29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Opaque card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29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29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blocks this path.</a:t>
            </a:r>
          </a:p>
        </p:txBody>
      </p:sp>
      <p:sp>
        <p:nvSpPr>
          <p:cNvPr id="21" name="Diagram label: In this model, no other&#10;light lights the object.">
            <a:extLst xmlns:a="http://schemas.openxmlformats.org/drawingml/2006/main">
              <a:ext uri="{FF2B5EF4-FFF2-40B4-BE49-F238E27FC236}">
                <a16:creationId xmlns:a16="http://schemas.microsoft.com/office/drawing/2014/main" id="{4789F8E9-7252-45B7-ADA5-4B3ECA15E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8023" y="4386603"/>
            <a:ext cx="2538753" cy="7466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29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29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In this model, no other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29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29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light lights the object.</a:t>
            </a:r>
          </a:p>
        </p:txBody>
      </p:sp>
      <p:sp>
        <p:nvSpPr>
          <p:cNvPr id="22" name="Diagram label: Removing the block can restore the light path.">
            <a:extLst xmlns:a="http://schemas.openxmlformats.org/drawingml/2006/main">
              <a:ext uri="{FF2B5EF4-FFF2-40B4-BE49-F238E27FC236}">
                <a16:creationId xmlns:a16="http://schemas.microsoft.com/office/drawing/2014/main" id="{37B70415-0408-4AA6-BF80-27648B905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5886" y="5357302"/>
            <a:ext cx="6570889" cy="448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Removing the block can restore the light path.</a:t>
            </a:r>
          </a:p>
        </p:txBody>
      </p:sp>
      <p:sp>
        <p:nvSpPr>
          <p:cNvPr id="23" name="A card can stop this light.  Ask whether another path remains.">
            <a:extLst xmlns:a="http://schemas.openxmlformats.org/drawingml/2006/main">
              <a:ext uri="{FF2B5EF4-FFF2-40B4-BE49-F238E27FC236}">
                <a16:creationId xmlns:a16="http://schemas.microsoft.com/office/drawing/2014/main" id="{33DD1F1B-A143-4183-9A5E-0A7F5E253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86475"/>
            <a:ext cx="11125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 card can stop this light. Ask whether another path remains.</a:t>
            </a:r>
          </a:p>
        </p:txBody>
      </p:sp>
    </p:spTree>
    <p:extLst>
      <p:ext uri="{BB962C8B-B14F-4D97-AF65-F5344CB8AC3E}">
        <p14:creationId xmlns:p14="http://schemas.microsoft.com/office/powerpoint/2010/main" val="16659822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urface">
            <a:extLst xmlns:a="http://schemas.openxmlformats.org/drawingml/2006/main">
              <a:ext uri="{FF2B5EF4-FFF2-40B4-BE49-F238E27FC236}">
                <a16:creationId xmlns:a16="http://schemas.microsoft.com/office/drawing/2014/main" id="{5AB472D3-4A67-4A43-BBC0-E21E04E50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C08B2FA3-AD79-4A02-BA8C-09818A54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D5D8A7F0-C5F8-4D6C-8A6B-36BD69575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B54C76C9-673E-4CE5-AF7C-51B4BC92C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We do">
            <a:extLst xmlns:a="http://schemas.openxmlformats.org/drawingml/2006/main">
              <a:ext uri="{FF2B5EF4-FFF2-40B4-BE49-F238E27FC236}">
                <a16:creationId xmlns:a16="http://schemas.microsoft.com/office/drawing/2014/main" id="{17B2B33F-F653-4243-9773-1E7E7161B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We do</a:t>
            </a:r>
          </a:p>
        </p:txBody>
      </p:sp>
      <p:sp>
        <p:nvSpPr>
          <p:cNvPr id="6" name="4 min">
            <a:extLst xmlns:a="http://schemas.openxmlformats.org/drawingml/2006/main">
              <a:ext uri="{FF2B5EF4-FFF2-40B4-BE49-F238E27FC236}">
                <a16:creationId xmlns:a16="http://schemas.microsoft.com/office/drawing/2014/main" id="{51435C04-8041-4A4F-BA14-E1FEDC96F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4 min</a:t>
            </a:r>
          </a:p>
        </p:txBody>
      </p:sp>
      <p:sp>
        <p:nvSpPr>
          <p:cNvPr id="7" name="The case conference">
            <a:extLst xmlns:a="http://schemas.openxmlformats.org/drawingml/2006/main">
              <a:ext uri="{FF2B5EF4-FFF2-40B4-BE49-F238E27FC236}">
                <a16:creationId xmlns:a16="http://schemas.microsoft.com/office/drawing/2014/main" id="{33123EDA-4B26-462E-92C7-AF90F8448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The case conference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D620DAA0-4469-4852-B8AB-D8B7B6AF0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blackout-box mystery">
            <a:extLst xmlns:a="http://schemas.openxmlformats.org/drawingml/2006/main">
              <a:ext uri="{FF2B5EF4-FFF2-40B4-BE49-F238E27FC236}">
                <a16:creationId xmlns:a16="http://schemas.microsoft.com/office/drawing/2014/main" id="{E5F9F41E-BA10-498C-AEEF-F42361EAD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blackout-box mystery</a:t>
            </a:r>
          </a:p>
        </p:txBody>
      </p:sp>
      <p:sp>
        <p:nvSpPr>
          <p:cNvPr id="10" name="6 / 14">
            <a:extLst xmlns:a="http://schemas.openxmlformats.org/drawingml/2006/main">
              <a:ext uri="{FF2B5EF4-FFF2-40B4-BE49-F238E27FC236}">
                <a16:creationId xmlns:a16="http://schemas.microsoft.com/office/drawing/2014/main" id="{55186256-5A4F-412D-ACA7-6DCE87D6A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6 / 14</a:t>
            </a:r>
          </a:p>
        </p:txBody>
      </p:sp>
      <p:sp>
        <p:nvSpPr>
          <p:cNvPr id="11" name="Read cases A and B. What changed? What stayed in the box?">
            <a:extLst xmlns:a="http://schemas.openxmlformats.org/drawingml/2006/main">
              <a:ext uri="{FF2B5EF4-FFF2-40B4-BE49-F238E27FC236}">
                <a16:creationId xmlns:a16="http://schemas.microsoft.com/office/drawing/2014/main" id="{D4F1083C-6696-4743-A0E8-64B3D9FF5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95475"/>
            <a:ext cx="1112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95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Read cases A and B. What changed? What stayed in the box?</a:t>
            </a:r>
          </a:p>
        </p:txBody>
      </p:sp>
      <p:graphicFrame>
        <p:nvGraphicFramePr>
          <p:cNvPr id="26" name=""/>
          <p:cNvGraphicFramePr/>
          <p:nvPr/>
        </p:nvGraphicFramePr>
        <p:xfrm>
          <a:off xmlns:a="http://schemas.openxmlformats.org/drawingml/2006/main" x="533400" y="2295525"/>
          <a:ext xmlns:a="http://schemas.openxmlformats.org/drawingml/2006/main" cx="11125200" cy="1515904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337788"/>
                <a:gridCol w="5050199"/>
                <a:gridCol w="3737213"/>
              </a:tblGrid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Case</a:t>
                      </a:r>
                    </a:p>
                  </a:txBody>
                  <a:tcPr marL="95250" marR="95250" marT="95250" marB="95250" anchor="ctr">
                    <a:solidFill>
                      <a:srgbClr val="4D82A0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Box conditions</a:t>
                      </a:r>
                    </a:p>
                  </a:txBody>
                  <a:tcPr marL="95250" marR="95250" marT="95250" marB="95250" anchor="ctr">
                    <a:solidFill>
                      <a:srgbClr val="4D82A0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Constructed observation</a:t>
                      </a:r>
                    </a:p>
                  </a:txBody>
                  <a:tcPr marL="95250" marR="95250" marT="95250" marB="95250" anchor="ctr">
                    <a:solidFill>
                      <a:srgbClr val="4D82A0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All light openings sealed; torch off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Object not visible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B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Torch lights object; viewing opening clear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Object visible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Constructed teaching evidence">
            <a:extLst xmlns:a="http://schemas.openxmlformats.org/drawingml/2006/main">
              <a:ext uri="{FF2B5EF4-FFF2-40B4-BE49-F238E27FC236}">
                <a16:creationId xmlns:a16="http://schemas.microsoft.com/office/drawing/2014/main" id="{3BA6EDDE-5427-4FEC-A312-8CC227F39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25729"/>
            <a:ext cx="11125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Constructed teaching evidence</a:t>
            </a:r>
          </a:p>
        </p:txBody>
      </p:sp>
      <p:sp>
        <p:nvSpPr>
          <p:cNvPr id="14" name="W1. Which change explains the new view?">
            <a:extLst xmlns:a="http://schemas.openxmlformats.org/drawingml/2006/main">
              <a:ext uri="{FF2B5EF4-FFF2-40B4-BE49-F238E27FC236}">
                <a16:creationId xmlns:a16="http://schemas.microsoft.com/office/drawing/2014/main" id="{6D709F89-D0E7-45F6-AD46-DABAADB88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78154"/>
            <a:ext cx="11125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025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W1. Which change explains the new view?</a:t>
            </a:r>
          </a:p>
        </p:txBody>
      </p:sp>
    </p:spTree>
    <p:extLst>
      <p:ext uri="{BB962C8B-B14F-4D97-AF65-F5344CB8AC3E}">
        <p14:creationId xmlns:p14="http://schemas.microsoft.com/office/powerpoint/2010/main" val="7947126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urface">
            <a:extLst xmlns:a="http://schemas.openxmlformats.org/drawingml/2006/main">
              <a:ext uri="{FF2B5EF4-FFF2-40B4-BE49-F238E27FC236}">
                <a16:creationId xmlns:a16="http://schemas.microsoft.com/office/drawing/2014/main" id="{6282FF6A-C3AA-47CF-A835-5EAB5E599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F2369D47-ECD3-42A8-B892-B7717C56F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076F685A-38DD-4801-84E2-362B92D1F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F3C3E505-289F-4D1C-8CCC-238C33298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We do">
            <a:extLst xmlns:a="http://schemas.openxmlformats.org/drawingml/2006/main">
              <a:ext uri="{FF2B5EF4-FFF2-40B4-BE49-F238E27FC236}">
                <a16:creationId xmlns:a16="http://schemas.microsoft.com/office/drawing/2014/main" id="{56122E8A-AD10-44A2-AA23-C4DE78608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We do</a:t>
            </a:r>
          </a:p>
        </p:txBody>
      </p:sp>
      <p:sp>
        <p:nvSpPr>
          <p:cNvPr id="6" name="4 min">
            <a:extLst xmlns:a="http://schemas.openxmlformats.org/drawingml/2006/main">
              <a:ext uri="{FF2B5EF4-FFF2-40B4-BE49-F238E27FC236}">
                <a16:creationId xmlns:a16="http://schemas.microsoft.com/office/drawing/2014/main" id="{D84E1076-29EF-4C55-A83A-1104504DE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4 min</a:t>
            </a:r>
          </a:p>
        </p:txBody>
      </p:sp>
      <p:sp>
        <p:nvSpPr>
          <p:cNvPr id="7" name="Repair the explanation">
            <a:extLst xmlns:a="http://schemas.openxmlformats.org/drawingml/2006/main">
              <a:ext uri="{FF2B5EF4-FFF2-40B4-BE49-F238E27FC236}">
                <a16:creationId xmlns:a16="http://schemas.microsoft.com/office/drawing/2014/main" id="{E0EA2394-5CA4-4EFC-B472-3E59F820A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Repair the explanation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392AC20E-61B4-4E8E-A485-7EB59AD8A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blackout-box mystery">
            <a:extLst xmlns:a="http://schemas.openxmlformats.org/drawingml/2006/main">
              <a:ext uri="{FF2B5EF4-FFF2-40B4-BE49-F238E27FC236}">
                <a16:creationId xmlns:a16="http://schemas.microsoft.com/office/drawing/2014/main" id="{BCE546D6-D10B-485B-80D0-21513E4BA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blackout-box mystery</a:t>
            </a:r>
          </a:p>
        </p:txBody>
      </p:sp>
      <p:sp>
        <p:nvSpPr>
          <p:cNvPr id="10" name="7 / 14">
            <a:extLst xmlns:a="http://schemas.openxmlformats.org/drawingml/2006/main">
              <a:ext uri="{FF2B5EF4-FFF2-40B4-BE49-F238E27FC236}">
                <a16:creationId xmlns:a16="http://schemas.microsoft.com/office/drawing/2014/main" id="{F4ECE2D8-43D8-4D41-83E6-DCE478896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7 / 14</a:t>
            </a:r>
          </a:p>
        </p:txBody>
      </p:sp>
      <p:sp>
        <p:nvSpPr>
          <p:cNvPr id="11" name="C: a small light leak; object faintly seen.">
            <a:extLst xmlns:a="http://schemas.openxmlformats.org/drawingml/2006/main">
              <a:ext uri="{FF2B5EF4-FFF2-40B4-BE49-F238E27FC236}">
                <a16:creationId xmlns:a16="http://schemas.microsoft.com/office/drawing/2014/main" id="{A08489BA-B9E4-445B-921D-CCDB79F08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C: a small light leak; object faintly seen.</a:t>
            </a:r>
          </a:p>
        </p:txBody>
      </p:sp>
      <p:sp>
        <p:nvSpPr>
          <p:cNvPr id="12" name="D: no light at all; wait one minute.">
            <a:extLst xmlns:a="http://schemas.openxmlformats.org/drawingml/2006/main">
              <a:ext uri="{FF2B5EF4-FFF2-40B4-BE49-F238E27FC236}">
                <a16:creationId xmlns:a16="http://schemas.microsoft.com/office/drawing/2014/main" id="{641DD559-1CC0-4080-A6D5-A6E929958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3183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D: no light at all; wait one minute.</a:t>
            </a:r>
          </a:p>
        </p:txBody>
      </p:sp>
      <p:sp>
        <p:nvSpPr>
          <p:cNvPr id="13" name="Which claim needs correcting?">
            <a:extLst xmlns:a="http://schemas.openxmlformats.org/drawingml/2006/main">
              <a:ext uri="{FF2B5EF4-FFF2-40B4-BE49-F238E27FC236}">
                <a16:creationId xmlns:a16="http://schemas.microsoft.com/office/drawing/2014/main" id="{80F96D31-3FA9-47F2-84AA-FF4BA063B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7540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Which claim needs correcting?</a:t>
            </a:r>
          </a:p>
        </p:txBody>
      </p:sp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DD3ABA3B-A581-4E02-9AB9-CB858C2DF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00700"/>
            <a:ext cx="11125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15" name="surface">
            <a:extLst xmlns:a="http://schemas.openxmlformats.org/drawingml/2006/main">
              <a:ext uri="{FF2B5EF4-FFF2-40B4-BE49-F238E27FC236}">
                <a16:creationId xmlns:a16="http://schemas.microsoft.com/office/drawing/2014/main" id="{4D91C41A-9952-4BDE-8B3A-ED3DCFAFB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00700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16" name="W2. Why are C and D different?">
            <a:extLst xmlns:a="http://schemas.openxmlformats.org/drawingml/2006/main">
              <a:ext uri="{FF2B5EF4-FFF2-40B4-BE49-F238E27FC236}">
                <a16:creationId xmlns:a16="http://schemas.microsoft.com/office/drawing/2014/main" id="{8152FFBE-EFBB-4882-BF4D-47515787C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34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W2. Why are C and D different?</a:t>
            </a:r>
          </a:p>
        </p:txBody>
      </p:sp>
    </p:spTree>
    <p:extLst>
      <p:ext uri="{BB962C8B-B14F-4D97-AF65-F5344CB8AC3E}">
        <p14:creationId xmlns:p14="http://schemas.microsoft.com/office/powerpoint/2010/main" val="10606161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urface">
            <a:extLst xmlns:a="http://schemas.openxmlformats.org/drawingml/2006/main">
              <a:ext uri="{FF2B5EF4-FFF2-40B4-BE49-F238E27FC236}">
                <a16:creationId xmlns:a16="http://schemas.microsoft.com/office/drawing/2014/main" id="{534B4716-AB9F-4287-9D4A-10FCC68A8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F61A0432-62AF-4229-8F2D-D1791FF97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8E147641-9248-4A93-B741-85E16CFFB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EB27F5ED-EE5E-484D-8989-006159655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Hinge">
            <a:extLst xmlns:a="http://schemas.openxmlformats.org/drawingml/2006/main">
              <a:ext uri="{FF2B5EF4-FFF2-40B4-BE49-F238E27FC236}">
                <a16:creationId xmlns:a16="http://schemas.microsoft.com/office/drawing/2014/main" id="{8F23EED1-78BF-4708-BE83-8FABE0D37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Hinge</a:t>
            </a:r>
          </a:p>
        </p:txBody>
      </p:sp>
      <p:sp>
        <p:nvSpPr>
          <p:cNvPr id="6" name="3 min">
            <a:extLst xmlns:a="http://schemas.openxmlformats.org/drawingml/2006/main">
              <a:ext uri="{FF2B5EF4-FFF2-40B4-BE49-F238E27FC236}">
                <a16:creationId xmlns:a16="http://schemas.microsoft.com/office/drawing/2014/main" id="{97BADE99-1262-4298-A6B2-AC51754BE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3 min</a:t>
            </a:r>
          </a:p>
        </p:txBody>
      </p:sp>
      <p:sp>
        <p:nvSpPr>
          <p:cNvPr id="7" name="What makes seeing possible?">
            <a:extLst xmlns:a="http://schemas.openxmlformats.org/drawingml/2006/main">
              <a:ext uri="{FF2B5EF4-FFF2-40B4-BE49-F238E27FC236}">
                <a16:creationId xmlns:a16="http://schemas.microsoft.com/office/drawing/2014/main" id="{80B8D804-B173-45B1-BE1A-C2F9E3755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What makes seeing possible?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E027923F-225F-470A-B078-DF87C16E2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blackout-box mystery">
            <a:extLst xmlns:a="http://schemas.openxmlformats.org/drawingml/2006/main">
              <a:ext uri="{FF2B5EF4-FFF2-40B4-BE49-F238E27FC236}">
                <a16:creationId xmlns:a16="http://schemas.microsoft.com/office/drawing/2014/main" id="{D2D72724-3BB7-43F3-90D2-1CF673871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blackout-box mystery</a:t>
            </a:r>
          </a:p>
        </p:txBody>
      </p:sp>
      <p:sp>
        <p:nvSpPr>
          <p:cNvPr id="10" name="8 / 14">
            <a:extLst xmlns:a="http://schemas.openxmlformats.org/drawingml/2006/main">
              <a:ext uri="{FF2B5EF4-FFF2-40B4-BE49-F238E27FC236}">
                <a16:creationId xmlns:a16="http://schemas.microsoft.com/office/drawing/2014/main" id="{B1F8B7FC-48C8-4FDF-ABAB-A74F9CC4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8 / 14</a:t>
            </a:r>
          </a:p>
        </p:txBody>
      </p:sp>
      <p:sp>
        <p:nvSpPr>
          <p:cNvPr id="11" name="Choose the best explanation.">
            <a:extLst xmlns:a="http://schemas.openxmlformats.org/drawingml/2006/main">
              <a:ext uri="{FF2B5EF4-FFF2-40B4-BE49-F238E27FC236}">
                <a16:creationId xmlns:a16="http://schemas.microsoft.com/office/drawing/2014/main" id="{34B84426-02F1-41FE-A87C-8EFBA7BFF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11125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Choose the best explanation.</a:t>
            </a:r>
          </a:p>
        </p:txBody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EBF47342-78B6-4CF6-9AB4-879151D59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52675"/>
            <a:ext cx="11125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FCB54600-F92E-42BB-A91D-861D2BC4E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526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14" name="A">
            <a:extLst xmlns:a="http://schemas.openxmlformats.org/drawingml/2006/main">
              <a:ext uri="{FF2B5EF4-FFF2-40B4-BE49-F238E27FC236}">
                <a16:creationId xmlns:a16="http://schemas.microsoft.com/office/drawing/2014/main" id="{A5D75309-DE53-4CB9-80D9-06245805A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95550"/>
            <a:ext cx="47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A</a:t>
            </a:r>
          </a:p>
        </p:txBody>
      </p:sp>
      <p:sp>
        <p:nvSpPr>
          <p:cNvPr id="15" name="Our eyes send light onto the object.">
            <a:extLst xmlns:a="http://schemas.openxmlformats.org/drawingml/2006/main">
              <a:ext uri="{FF2B5EF4-FFF2-40B4-BE49-F238E27FC236}">
                <a16:creationId xmlns:a16="http://schemas.microsoft.com/office/drawing/2014/main" id="{6DAF7926-766A-418E-922C-059EA4FB1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495550"/>
            <a:ext cx="10144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Our eyes send light onto the object.</a:t>
            </a:r>
          </a:p>
        </p:txBody>
      </p:sp>
      <p:sp>
        <p:nvSpPr>
          <p:cNvPr id="16" name="surface">
            <a:extLst xmlns:a="http://schemas.openxmlformats.org/drawingml/2006/main">
              <a:ext uri="{FF2B5EF4-FFF2-40B4-BE49-F238E27FC236}">
                <a16:creationId xmlns:a16="http://schemas.microsoft.com/office/drawing/2014/main" id="{B6EEA799-B722-4C55-AE34-7EA30879C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33775"/>
            <a:ext cx="11125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17" name="surface">
            <a:extLst xmlns:a="http://schemas.openxmlformats.org/drawingml/2006/main">
              <a:ext uri="{FF2B5EF4-FFF2-40B4-BE49-F238E27FC236}">
                <a16:creationId xmlns:a16="http://schemas.microsoft.com/office/drawing/2014/main" id="{01E7D4C0-760C-47E9-A9FC-A90E23FD2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337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18" name="B">
            <a:extLst xmlns:a="http://schemas.openxmlformats.org/drawingml/2006/main">
              <a:ext uri="{FF2B5EF4-FFF2-40B4-BE49-F238E27FC236}">
                <a16:creationId xmlns:a16="http://schemas.microsoft.com/office/drawing/2014/main" id="{A0C02A4F-EF6D-4AA8-886E-F4BAC2E05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676650"/>
            <a:ext cx="47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B</a:t>
            </a:r>
          </a:p>
        </p:txBody>
      </p:sp>
      <p:sp>
        <p:nvSpPr>
          <p:cNvPr id="19" name="Light from the object enters our eyes.">
            <a:extLst xmlns:a="http://schemas.openxmlformats.org/drawingml/2006/main">
              <a:ext uri="{FF2B5EF4-FFF2-40B4-BE49-F238E27FC236}">
                <a16:creationId xmlns:a16="http://schemas.microsoft.com/office/drawing/2014/main" id="{DC694693-88B6-4813-AA97-43C74E1CF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676650"/>
            <a:ext cx="10144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Light from the object enters our eyes.</a:t>
            </a:r>
          </a:p>
        </p:txBody>
      </p:sp>
      <p:sp>
        <p:nvSpPr>
          <p:cNvPr id="20" name="surface">
            <a:extLst xmlns:a="http://schemas.openxmlformats.org/drawingml/2006/main">
              <a:ext uri="{FF2B5EF4-FFF2-40B4-BE49-F238E27FC236}">
                <a16:creationId xmlns:a16="http://schemas.microsoft.com/office/drawing/2014/main" id="{5B0CBEAE-5497-404E-9CD9-8C7CE07E4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14875"/>
            <a:ext cx="11125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21" name="surface">
            <a:extLst xmlns:a="http://schemas.openxmlformats.org/drawingml/2006/main">
              <a:ext uri="{FF2B5EF4-FFF2-40B4-BE49-F238E27FC236}">
                <a16:creationId xmlns:a16="http://schemas.microsoft.com/office/drawing/2014/main" id="{C653E32B-ECF5-4813-B14B-E890D350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148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2" name="C">
            <a:extLst xmlns:a="http://schemas.openxmlformats.org/drawingml/2006/main">
              <a:ext uri="{FF2B5EF4-FFF2-40B4-BE49-F238E27FC236}">
                <a16:creationId xmlns:a16="http://schemas.microsoft.com/office/drawing/2014/main" id="{C97E24AD-951C-44D6-944B-6283FED19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857750"/>
            <a:ext cx="47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C</a:t>
            </a:r>
          </a:p>
        </p:txBody>
      </p:sp>
      <p:sp>
        <p:nvSpPr>
          <p:cNvPr id="23" name="Waiting makes light appear in total darkness.">
            <a:extLst xmlns:a="http://schemas.openxmlformats.org/drawingml/2006/main">
              <a:ext uri="{FF2B5EF4-FFF2-40B4-BE49-F238E27FC236}">
                <a16:creationId xmlns:a16="http://schemas.microsoft.com/office/drawing/2014/main" id="{3D725E4B-8696-4F85-A8AE-170CBC1A9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857750"/>
            <a:ext cx="10144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Waiting makes light appear in total darkness.</a:t>
            </a:r>
          </a:p>
        </p:txBody>
      </p:sp>
    </p:spTree>
    <p:extLst>
      <p:ext uri="{BB962C8B-B14F-4D97-AF65-F5344CB8AC3E}">
        <p14:creationId xmlns:p14="http://schemas.microsoft.com/office/powerpoint/2010/main" val="180966091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055EB992-3926-4907-828D-5C29DB07F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F8E62097-45C9-4C83-8F51-9C4B87EFD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C0ABD246-85C4-4170-AB6A-29829BE5B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F5D4F8D5-7836-4FF6-A929-5D095C37B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You do">
            <a:extLst xmlns:a="http://schemas.openxmlformats.org/drawingml/2006/main">
              <a:ext uri="{FF2B5EF4-FFF2-40B4-BE49-F238E27FC236}">
                <a16:creationId xmlns:a16="http://schemas.microsoft.com/office/drawing/2014/main" id="{472DE4A5-F3D3-4301-A7E9-31AAEC6D6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You do</a:t>
            </a:r>
          </a:p>
        </p:txBody>
      </p:sp>
      <p:sp>
        <p:nvSpPr>
          <p:cNvPr id="6" name="2 min">
            <a:extLst xmlns:a="http://schemas.openxmlformats.org/drawingml/2006/main">
              <a:ext uri="{FF2B5EF4-FFF2-40B4-BE49-F238E27FC236}">
                <a16:creationId xmlns:a16="http://schemas.microsoft.com/office/drawing/2014/main" id="{C40C3575-5C33-4218-BA4E-FF73B4043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2 min</a:t>
            </a:r>
          </a:p>
        </p:txBody>
      </p:sp>
      <p:sp>
        <p:nvSpPr>
          <p:cNvPr id="7" name="Choose your investigation route">
            <a:extLst xmlns:a="http://schemas.openxmlformats.org/drawingml/2006/main">
              <a:ext uri="{FF2B5EF4-FFF2-40B4-BE49-F238E27FC236}">
                <a16:creationId xmlns:a16="http://schemas.microsoft.com/office/drawing/2014/main" id="{5962DD64-6BA0-4927-A82F-89C577C0C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Choose your investigation route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51474B9F-7B2A-4E56-B899-F348EA224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blackout-box mystery">
            <a:extLst xmlns:a="http://schemas.openxmlformats.org/drawingml/2006/main">
              <a:ext uri="{FF2B5EF4-FFF2-40B4-BE49-F238E27FC236}">
                <a16:creationId xmlns:a16="http://schemas.microsoft.com/office/drawing/2014/main" id="{61E46489-B29C-4E8A-B531-902FA7985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blackout-box mystery</a:t>
            </a:r>
          </a:p>
        </p:txBody>
      </p:sp>
      <p:sp>
        <p:nvSpPr>
          <p:cNvPr id="10" name="9 / 14">
            <a:extLst xmlns:a="http://schemas.openxmlformats.org/drawingml/2006/main">
              <a:ext uri="{FF2B5EF4-FFF2-40B4-BE49-F238E27FC236}">
                <a16:creationId xmlns:a16="http://schemas.microsoft.com/office/drawing/2014/main" id="{720668E0-0B43-4964-BC5C-A6CBC8D65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9 / 14</a:t>
            </a:r>
          </a:p>
        </p:txBody>
      </p:sp>
      <p:sp>
        <p:nvSpPr>
          <p:cNvPr id="11" name="Match the cases.">
            <a:extLst xmlns:a="http://schemas.openxmlformats.org/drawingml/2006/main">
              <a:ext uri="{FF2B5EF4-FFF2-40B4-BE49-F238E27FC236}">
                <a16:creationId xmlns:a16="http://schemas.microsoft.com/office/drawing/2014/main" id="{F01AC9D1-5F5A-4D89-B557-73D6767F9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Match the cases.</a:t>
            </a:r>
          </a:p>
        </p:txBody>
      </p:sp>
      <p:sp>
        <p:nvSpPr>
          <p:cNvPr id="12" name="Explain the light path.">
            <a:extLst xmlns:a="http://schemas.openxmlformats.org/drawingml/2006/main">
              <a:ext uri="{FF2B5EF4-FFF2-40B4-BE49-F238E27FC236}">
                <a16:creationId xmlns:a16="http://schemas.microsoft.com/office/drawing/2014/main" id="{2277F063-5BA8-48E0-99CB-3D49C7D2A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3183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Explain the light path.</a:t>
            </a:r>
          </a:p>
        </p:txBody>
      </p:sp>
      <p:sp>
        <p:nvSpPr>
          <p:cNvPr id="13" name="Diagnose a leaky box.">
            <a:extLst xmlns:a="http://schemas.openxmlformats.org/drawingml/2006/main">
              <a:ext uri="{FF2B5EF4-FFF2-40B4-BE49-F238E27FC236}">
                <a16:creationId xmlns:a16="http://schemas.microsoft.com/office/drawing/2014/main" id="{BD7460B4-BEE5-4227-8942-894D1F849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7540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Diagnose a leaky box.</a:t>
            </a:r>
          </a:p>
        </p:txBody>
      </p:sp>
    </p:spTree>
    <p:extLst>
      <p:ext uri="{BB962C8B-B14F-4D97-AF65-F5344CB8AC3E}">
        <p14:creationId xmlns:p14="http://schemas.microsoft.com/office/powerpoint/2010/main" val="51882126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5AD0865A-7A2F-442F-800E-3D97B4FEC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132237AC-6FBC-42ED-9ED7-76974B20E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2AD5D205-7D88-4C1B-AC38-9C7CAE561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22BB86AF-E4B1-401A-B28A-6308FF92E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You do">
            <a:extLst xmlns:a="http://schemas.openxmlformats.org/drawingml/2006/main">
              <a:ext uri="{FF2B5EF4-FFF2-40B4-BE49-F238E27FC236}">
                <a16:creationId xmlns:a16="http://schemas.microsoft.com/office/drawing/2014/main" id="{3ACF4049-B4D4-4DB4-B0EC-8805D22CD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You do</a:t>
            </a:r>
          </a:p>
        </p:txBody>
      </p:sp>
      <p:sp>
        <p:nvSpPr>
          <p:cNvPr id="6" name="Use the evidence">
            <a:extLst xmlns:a="http://schemas.openxmlformats.org/drawingml/2006/main">
              <a:ext uri="{FF2B5EF4-FFF2-40B4-BE49-F238E27FC236}">
                <a16:creationId xmlns:a16="http://schemas.microsoft.com/office/drawing/2014/main" id="{AF26B564-DEA4-4A2C-9B8B-1122A2864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Use the evidence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BEECC54F-8208-4347-85FC-F4A282DEC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The blackout-box mystery">
            <a:extLst xmlns:a="http://schemas.openxmlformats.org/drawingml/2006/main">
              <a:ext uri="{FF2B5EF4-FFF2-40B4-BE49-F238E27FC236}">
                <a16:creationId xmlns:a16="http://schemas.microsoft.com/office/drawing/2014/main" id="{68C48644-5CF6-4179-B2FF-925B436D9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blackout-box mystery</a:t>
            </a:r>
          </a:p>
        </p:txBody>
      </p:sp>
      <p:sp>
        <p:nvSpPr>
          <p:cNvPr id="9" name="10 / 14">
            <a:extLst xmlns:a="http://schemas.openxmlformats.org/drawingml/2006/main">
              <a:ext uri="{FF2B5EF4-FFF2-40B4-BE49-F238E27FC236}">
                <a16:creationId xmlns:a16="http://schemas.microsoft.com/office/drawing/2014/main" id="{01CCDFBF-68CA-451F-9290-3A39B11C1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10 / 14</a:t>
            </a:r>
          </a:p>
        </p:txBody>
      </p:sp>
      <p:sp>
        <p:nvSpPr>
          <p:cNvPr id="10" name="Read or point to one clue.">
            <a:extLst xmlns:a="http://schemas.openxmlformats.org/drawingml/2006/main">
              <a:ext uri="{FF2B5EF4-FFF2-40B4-BE49-F238E27FC236}">
                <a16:creationId xmlns:a16="http://schemas.microsoft.com/office/drawing/2014/main" id="{2E694E61-99B8-4115-B0CF-64081A8DD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Read or point to one clue.</a:t>
            </a:r>
          </a:p>
        </p:txBody>
      </p:sp>
      <p:sp>
        <p:nvSpPr>
          <p:cNvPr id="11" name="Record what it supports.">
            <a:extLst xmlns:a="http://schemas.openxmlformats.org/drawingml/2006/main">
              <a:ext uri="{FF2B5EF4-FFF2-40B4-BE49-F238E27FC236}">
                <a16:creationId xmlns:a16="http://schemas.microsoft.com/office/drawing/2014/main" id="{2B813EAF-F246-4839-B197-FA82B25ED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3183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Record what it supports.</a:t>
            </a:r>
          </a:p>
        </p:txBody>
      </p:sp>
      <p:sp>
        <p:nvSpPr>
          <p:cNvPr id="12" name="Keep your explanation short.">
            <a:extLst xmlns:a="http://schemas.openxmlformats.org/drawingml/2006/main">
              <a:ext uri="{FF2B5EF4-FFF2-40B4-BE49-F238E27FC236}">
                <a16:creationId xmlns:a16="http://schemas.microsoft.com/office/drawing/2014/main" id="{4A6B6085-CD34-4BBF-98E7-8CE3D9CA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7540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Keep your explanation short.</a:t>
            </a:r>
          </a:p>
        </p:txBody>
      </p:sp>
    </p:spTree>
    <p:extLst>
      <p:ext uri="{BB962C8B-B14F-4D97-AF65-F5344CB8AC3E}">
        <p14:creationId xmlns:p14="http://schemas.microsoft.com/office/powerpoint/2010/main" val="13210954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D0679EF9-E52A-440B-BC25-24EF2FCF9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17F23007-E62D-4C6D-B0A8-A015846D3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E98D41C6-21AB-409E-824F-94697B453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F2CE5857-3A98-40C7-8316-87A54A52A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You do">
            <a:extLst xmlns:a="http://schemas.openxmlformats.org/drawingml/2006/main">
              <a:ext uri="{FF2B5EF4-FFF2-40B4-BE49-F238E27FC236}">
                <a16:creationId xmlns:a16="http://schemas.microsoft.com/office/drawing/2014/main" id="{261D4362-394B-4CF5-B743-ED08C46D9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You do</a:t>
            </a:r>
          </a:p>
        </p:txBody>
      </p:sp>
      <p:sp>
        <p:nvSpPr>
          <p:cNvPr id="6" name="10 min">
            <a:extLst xmlns:a="http://schemas.openxmlformats.org/drawingml/2006/main">
              <a:ext uri="{FF2B5EF4-FFF2-40B4-BE49-F238E27FC236}">
                <a16:creationId xmlns:a16="http://schemas.microsoft.com/office/drawing/2014/main" id="{C0F0FB14-7D44-4BD6-A303-10D083DEE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10 min</a:t>
            </a:r>
          </a:p>
        </p:txBody>
      </p:sp>
      <p:sp>
        <p:nvSpPr>
          <p:cNvPr id="7" name="Make your own science record">
            <a:extLst xmlns:a="http://schemas.openxmlformats.org/drawingml/2006/main">
              <a:ext uri="{FF2B5EF4-FFF2-40B4-BE49-F238E27FC236}">
                <a16:creationId xmlns:a16="http://schemas.microsoft.com/office/drawing/2014/main" id="{0E022D6A-1B21-48CF-947A-FEAED73F3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Make your own science record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260848D5-DF8D-47BE-9B74-75F46BB7D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blackout-box mystery">
            <a:extLst xmlns:a="http://schemas.openxmlformats.org/drawingml/2006/main">
              <a:ext uri="{FF2B5EF4-FFF2-40B4-BE49-F238E27FC236}">
                <a16:creationId xmlns:a16="http://schemas.microsoft.com/office/drawing/2014/main" id="{1D970EB1-6D8B-46A7-A867-4C6F6AF9A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blackout-box mystery</a:t>
            </a:r>
          </a:p>
        </p:txBody>
      </p:sp>
      <p:sp>
        <p:nvSpPr>
          <p:cNvPr id="10" name="11 / 14">
            <a:extLst xmlns:a="http://schemas.openxmlformats.org/drawingml/2006/main">
              <a:ext uri="{FF2B5EF4-FFF2-40B4-BE49-F238E27FC236}">
                <a16:creationId xmlns:a16="http://schemas.microsoft.com/office/drawing/2014/main" id="{C12A3723-4673-469F-9842-D4483F6BB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11 / 14</a:t>
            </a:r>
          </a:p>
        </p:txBody>
      </p:sp>
      <p:sp>
        <p:nvSpPr>
          <p:cNvPr id="11" name="Complete your chosen route.">
            <a:extLst xmlns:a="http://schemas.openxmlformats.org/drawingml/2006/main">
              <a:ext uri="{FF2B5EF4-FFF2-40B4-BE49-F238E27FC236}">
                <a16:creationId xmlns:a16="http://schemas.microsoft.com/office/drawing/2014/main" id="{4BE647A0-04A5-450F-BF8F-EA3AB0968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Complete your chosen route.</a:t>
            </a:r>
          </a:p>
        </p:txBody>
      </p:sp>
      <p:sp>
        <p:nvSpPr>
          <p:cNvPr id="12" name="Use a diagram, words or speech.">
            <a:extLst xmlns:a="http://schemas.openxmlformats.org/drawingml/2006/main">
              <a:ext uri="{FF2B5EF4-FFF2-40B4-BE49-F238E27FC236}">
                <a16:creationId xmlns:a16="http://schemas.microsoft.com/office/drawing/2014/main" id="{213CB80E-2F69-495D-BA96-E9D35D1CA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3183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Use a diagram, words or speech.</a:t>
            </a:r>
          </a:p>
        </p:txBody>
      </p:sp>
      <p:sp>
        <p:nvSpPr>
          <p:cNvPr id="13" name="Check one answer with the evidence.">
            <a:extLst xmlns:a="http://schemas.openxmlformats.org/drawingml/2006/main">
              <a:ext uri="{FF2B5EF4-FFF2-40B4-BE49-F238E27FC236}">
                <a16:creationId xmlns:a16="http://schemas.microsoft.com/office/drawing/2014/main" id="{5F7A1D74-F8E7-4C47-B724-8A3194A74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7540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Check one answer with the evidence.</a:t>
            </a:r>
          </a:p>
        </p:txBody>
      </p:sp>
    </p:spTree>
    <p:extLst>
      <p:ext uri="{BB962C8B-B14F-4D97-AF65-F5344CB8AC3E}">
        <p14:creationId xmlns:p14="http://schemas.microsoft.com/office/powerpoint/2010/main" val="178175971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72C3AECE-3EFC-4514-863C-AD0DCEA85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E1B248B1-EEFA-45B6-A375-13277ABE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B1DBF0A0-978C-42D5-88A7-C950F2775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80843AC9-3408-4830-A9A4-92E12CB91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You do">
            <a:extLst xmlns:a="http://schemas.openxmlformats.org/drawingml/2006/main">
              <a:ext uri="{FF2B5EF4-FFF2-40B4-BE49-F238E27FC236}">
                <a16:creationId xmlns:a16="http://schemas.microsoft.com/office/drawing/2014/main" id="{93613609-63D3-4A09-A8B0-0E4AB048F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You do</a:t>
            </a:r>
          </a:p>
        </p:txBody>
      </p:sp>
      <p:sp>
        <p:nvSpPr>
          <p:cNvPr id="6" name="Check and improve">
            <a:extLst xmlns:a="http://schemas.openxmlformats.org/drawingml/2006/main">
              <a:ext uri="{FF2B5EF4-FFF2-40B4-BE49-F238E27FC236}">
                <a16:creationId xmlns:a16="http://schemas.microsoft.com/office/drawing/2014/main" id="{5F9912BF-E218-49CD-A064-E4356FF11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Check and improve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059C49CE-00B1-4A47-AE3A-8FBE73AAF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The blackout-box mystery">
            <a:extLst xmlns:a="http://schemas.openxmlformats.org/drawingml/2006/main">
              <a:ext uri="{FF2B5EF4-FFF2-40B4-BE49-F238E27FC236}">
                <a16:creationId xmlns:a16="http://schemas.microsoft.com/office/drawing/2014/main" id="{44F2EFA3-713C-4F26-A473-583E1CF85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blackout-box mystery</a:t>
            </a:r>
          </a:p>
        </p:txBody>
      </p:sp>
      <p:sp>
        <p:nvSpPr>
          <p:cNvPr id="9" name="12 / 14">
            <a:extLst xmlns:a="http://schemas.openxmlformats.org/drawingml/2006/main">
              <a:ext uri="{FF2B5EF4-FFF2-40B4-BE49-F238E27FC236}">
                <a16:creationId xmlns:a16="http://schemas.microsoft.com/office/drawing/2014/main" id="{AF2CA0C2-78ED-47A8-B384-BFFE8C7D8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12 / 14</a:t>
            </a:r>
          </a:p>
        </p:txBody>
      </p:sp>
      <p:sp>
        <p:nvSpPr>
          <p:cNvPr id="10" name="Does my answer match the evidence?">
            <a:extLst xmlns:a="http://schemas.openxmlformats.org/drawingml/2006/main">
              <a:ext uri="{FF2B5EF4-FFF2-40B4-BE49-F238E27FC236}">
                <a16:creationId xmlns:a16="http://schemas.microsoft.com/office/drawing/2014/main" id="{226BA189-219E-4774-BDDD-05781CC09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Does my answer match the evidence?</a:t>
            </a:r>
          </a:p>
        </p:txBody>
      </p:sp>
      <p:sp>
        <p:nvSpPr>
          <p:cNvPr id="11" name="Have I explained why?">
            <a:extLst xmlns:a="http://schemas.openxmlformats.org/drawingml/2006/main">
              <a:ext uri="{FF2B5EF4-FFF2-40B4-BE49-F238E27FC236}">
                <a16:creationId xmlns:a16="http://schemas.microsoft.com/office/drawing/2014/main" id="{39304BF6-6035-4F64-BD01-842259806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3183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Have I explained why?</a:t>
            </a:r>
          </a:p>
        </p:txBody>
      </p:sp>
      <p:sp>
        <p:nvSpPr>
          <p:cNvPr id="12" name="Improve one label or sentence.">
            <a:extLst xmlns:a="http://schemas.openxmlformats.org/drawingml/2006/main">
              <a:ext uri="{FF2B5EF4-FFF2-40B4-BE49-F238E27FC236}">
                <a16:creationId xmlns:a16="http://schemas.microsoft.com/office/drawing/2014/main" id="{29474F33-09BF-4C03-A563-49EE6F87E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7540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Improve one label or sentence.</a:t>
            </a:r>
          </a:p>
        </p:txBody>
      </p:sp>
    </p:spTree>
    <p:extLst>
      <p:ext uri="{BB962C8B-B14F-4D97-AF65-F5344CB8AC3E}">
        <p14:creationId xmlns:p14="http://schemas.microsoft.com/office/powerpoint/2010/main" val="48540771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urface">
            <a:extLst xmlns:a="http://schemas.openxmlformats.org/drawingml/2006/main">
              <a:ext uri="{FF2B5EF4-FFF2-40B4-BE49-F238E27FC236}">
                <a16:creationId xmlns:a16="http://schemas.microsoft.com/office/drawing/2014/main" id="{3715D39B-0DCB-48F1-A9C8-3B45C4C82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0BEDD1C9-8797-43E7-A533-90339167D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373F9CAF-6F86-4827-A787-CB75408A9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10820601-0705-40E0-9008-D78424395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Review">
            <a:extLst xmlns:a="http://schemas.openxmlformats.org/drawingml/2006/main">
              <a:ext uri="{FF2B5EF4-FFF2-40B4-BE49-F238E27FC236}">
                <a16:creationId xmlns:a16="http://schemas.microsoft.com/office/drawing/2014/main" id="{033C6FC4-5809-4C8F-BC6A-ED5FE7FA8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Review</a:t>
            </a:r>
          </a:p>
        </p:txBody>
      </p:sp>
      <p:sp>
        <p:nvSpPr>
          <p:cNvPr id="6" name="3 min">
            <a:extLst xmlns:a="http://schemas.openxmlformats.org/drawingml/2006/main">
              <a:ext uri="{FF2B5EF4-FFF2-40B4-BE49-F238E27FC236}">
                <a16:creationId xmlns:a16="http://schemas.microsoft.com/office/drawing/2014/main" id="{27C4AB29-C32F-44FE-BD01-1803E521E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3 min</a:t>
            </a:r>
          </a:p>
        </p:txBody>
      </p:sp>
      <p:sp>
        <p:nvSpPr>
          <p:cNvPr id="7" name="Lundy loop: improve our account">
            <a:extLst xmlns:a="http://schemas.openxmlformats.org/drawingml/2006/main">
              <a:ext uri="{FF2B5EF4-FFF2-40B4-BE49-F238E27FC236}">
                <a16:creationId xmlns:a16="http://schemas.microsoft.com/office/drawing/2014/main" id="{70FD8284-D0AE-49A0-BE27-FA36FD71C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Lundy loop: improve our account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D9E5D86F-ADC7-4992-8C80-F2C4CE9C1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blackout-box mystery">
            <a:extLst xmlns:a="http://schemas.openxmlformats.org/drawingml/2006/main">
              <a:ext uri="{FF2B5EF4-FFF2-40B4-BE49-F238E27FC236}">
                <a16:creationId xmlns:a16="http://schemas.microsoft.com/office/drawing/2014/main" id="{C6AAD6F3-E7E2-4627-B527-1648F197A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blackout-box mystery</a:t>
            </a:r>
          </a:p>
        </p:txBody>
      </p:sp>
      <p:sp>
        <p:nvSpPr>
          <p:cNvPr id="10" name="13 / 14">
            <a:extLst xmlns:a="http://schemas.openxmlformats.org/drawingml/2006/main">
              <a:ext uri="{FF2B5EF4-FFF2-40B4-BE49-F238E27FC236}">
                <a16:creationId xmlns:a16="http://schemas.microsoft.com/office/drawing/2014/main" id="{1230CAFD-5DB0-482C-9A69-1318B4C64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13 / 14</a:t>
            </a:r>
          </a:p>
        </p:txBody>
      </p:sp>
      <p:sp>
        <p:nvSpPr>
          <p:cNvPr id="11" name="Choose how to share one idea.">
            <a:extLst xmlns:a="http://schemas.openxmlformats.org/drawingml/2006/main">
              <a:ext uri="{FF2B5EF4-FFF2-40B4-BE49-F238E27FC236}">
                <a16:creationId xmlns:a16="http://schemas.microsoft.com/office/drawing/2014/main" id="{F66600BB-8748-407C-87AB-6252415F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Choose how to share one idea.</a:t>
            </a:r>
          </a:p>
        </p:txBody>
      </p:sp>
      <p:sp>
        <p:nvSpPr>
          <p:cNvPr id="12" name="Listen to another explanation.">
            <a:extLst xmlns:a="http://schemas.openxmlformats.org/drawingml/2006/main">
              <a:ext uri="{FF2B5EF4-FFF2-40B4-BE49-F238E27FC236}">
                <a16:creationId xmlns:a16="http://schemas.microsoft.com/office/drawing/2014/main" id="{3D4411EF-915A-4CEA-9A82-BFB65DB3B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3183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Listen to another explanation.</a:t>
            </a:r>
          </a:p>
        </p:txBody>
      </p:sp>
      <p:sp>
        <p:nvSpPr>
          <p:cNvPr id="13" name="Use evidence to improve our account.">
            <a:extLst xmlns:a="http://schemas.openxmlformats.org/drawingml/2006/main">
              <a:ext uri="{FF2B5EF4-FFF2-40B4-BE49-F238E27FC236}">
                <a16:creationId xmlns:a16="http://schemas.microsoft.com/office/drawing/2014/main" id="{A389A4A3-9359-4240-A430-D96C619F9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7540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Use evidence to improve our account.</a:t>
            </a:r>
          </a:p>
        </p:txBody>
      </p:sp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A5811389-B049-4062-A76B-B40808E29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00700"/>
            <a:ext cx="11125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15" name="surface">
            <a:extLst xmlns:a="http://schemas.openxmlformats.org/drawingml/2006/main">
              <a:ext uri="{FF2B5EF4-FFF2-40B4-BE49-F238E27FC236}">
                <a16:creationId xmlns:a16="http://schemas.microsoft.com/office/drawing/2014/main" id="{B333D47B-9381-44AF-9263-9530F94FF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00700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16" name="What must our explanation include?">
            <a:extLst xmlns:a="http://schemas.openxmlformats.org/drawingml/2006/main">
              <a:ext uri="{FF2B5EF4-FFF2-40B4-BE49-F238E27FC236}">
                <a16:creationId xmlns:a16="http://schemas.microsoft.com/office/drawing/2014/main" id="{4132090F-FB93-429C-8E88-3EDF5FDFA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34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What must our explanation include?</a:t>
            </a:r>
          </a:p>
        </p:txBody>
      </p:sp>
    </p:spTree>
    <p:extLst>
      <p:ext uri="{BB962C8B-B14F-4D97-AF65-F5344CB8AC3E}">
        <p14:creationId xmlns:p14="http://schemas.microsoft.com/office/powerpoint/2010/main" val="119577968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9857CF2C-9376-4DD7-AD60-02B01E93A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1D9508A2-7ADC-44DE-B213-17CB6F511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14C1DA7D-A9D1-4E15-B08A-8A3B925F0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6844FD4B-36D3-45D8-9FDA-70C2A0E5E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Exit">
            <a:extLst xmlns:a="http://schemas.openxmlformats.org/drawingml/2006/main">
              <a:ext uri="{FF2B5EF4-FFF2-40B4-BE49-F238E27FC236}">
                <a16:creationId xmlns:a16="http://schemas.microsoft.com/office/drawing/2014/main" id="{2FBE3B3E-D3BC-46CC-B793-81A1C75F9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Exit</a:t>
            </a:r>
          </a:p>
        </p:txBody>
      </p:sp>
      <p:sp>
        <p:nvSpPr>
          <p:cNvPr id="6" name="2 min">
            <a:extLst xmlns:a="http://schemas.openxmlformats.org/drawingml/2006/main">
              <a:ext uri="{FF2B5EF4-FFF2-40B4-BE49-F238E27FC236}">
                <a16:creationId xmlns:a16="http://schemas.microsoft.com/office/drawing/2014/main" id="{3AC458BE-DA56-481B-BE15-252E5E269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2 min</a:t>
            </a:r>
          </a:p>
        </p:txBody>
      </p:sp>
      <p:sp>
        <p:nvSpPr>
          <p:cNvPr id="7" name="Three quick checks">
            <a:extLst xmlns:a="http://schemas.openxmlformats.org/drawingml/2006/main">
              <a:ext uri="{FF2B5EF4-FFF2-40B4-BE49-F238E27FC236}">
                <a16:creationId xmlns:a16="http://schemas.microsoft.com/office/drawing/2014/main" id="{1F23C0C2-0D1E-4666-A92C-C0D77BE0A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Three quick checks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5D796E7B-EB77-45D5-BC76-ECAF42358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blackout-box mystery">
            <a:extLst xmlns:a="http://schemas.openxmlformats.org/drawingml/2006/main">
              <a:ext uri="{FF2B5EF4-FFF2-40B4-BE49-F238E27FC236}">
                <a16:creationId xmlns:a16="http://schemas.microsoft.com/office/drawing/2014/main" id="{9840CA0C-19B7-41BD-A49E-4040758C4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blackout-box mystery</a:t>
            </a:r>
          </a:p>
        </p:txBody>
      </p:sp>
      <p:sp>
        <p:nvSpPr>
          <p:cNvPr id="10" name="14 / 14">
            <a:extLst xmlns:a="http://schemas.openxmlformats.org/drawingml/2006/main">
              <a:ext uri="{FF2B5EF4-FFF2-40B4-BE49-F238E27FC236}">
                <a16:creationId xmlns:a16="http://schemas.microsoft.com/office/drawing/2014/main" id="{831998D4-B1BB-487B-8E0B-D1D973A67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14 / 14</a:t>
            </a:r>
          </a:p>
        </p:txBody>
      </p:sp>
      <p:sp>
        <p:nvSpPr>
          <p:cNvPr id="11" name="E1. What do we need in order to see?">
            <a:extLst xmlns:a="http://schemas.openxmlformats.org/drawingml/2006/main">
              <a:ext uri="{FF2B5EF4-FFF2-40B4-BE49-F238E27FC236}">
                <a16:creationId xmlns:a16="http://schemas.microsoft.com/office/drawing/2014/main" id="{88220108-CBAF-4AB2-83C6-2BF87BB01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E1. What do we need in order to see?</a:t>
            </a:r>
          </a:p>
        </p:txBody>
      </p:sp>
      <p:sp>
        <p:nvSpPr>
          <p:cNvPr id="12" name="E2. Does light enter or leave the eye when we see?">
            <a:extLst xmlns:a="http://schemas.openxmlformats.org/drawingml/2006/main">
              <a:ext uri="{FF2B5EF4-FFF2-40B4-BE49-F238E27FC236}">
                <a16:creationId xmlns:a16="http://schemas.microsoft.com/office/drawing/2014/main" id="{4119FC99-1A96-485E-99A7-EBDCB2012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3183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E2. Does light enter or leave the eye when we see?</a:t>
            </a:r>
          </a:p>
        </p:txBody>
      </p:sp>
      <p:sp>
        <p:nvSpPr>
          <p:cNvPr id="13" name="E3. Can we see an object with no light at all?">
            <a:extLst xmlns:a="http://schemas.openxmlformats.org/drawingml/2006/main">
              <a:ext uri="{FF2B5EF4-FFF2-40B4-BE49-F238E27FC236}">
                <a16:creationId xmlns:a16="http://schemas.microsoft.com/office/drawing/2014/main" id="{A874FE16-8DE5-4B62-B80A-B310273A9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7540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E3. Can we see an object with no light at all?</a:t>
            </a:r>
          </a:p>
        </p:txBody>
      </p:sp>
    </p:spTree>
    <p:extLst>
      <p:ext uri="{BB962C8B-B14F-4D97-AF65-F5344CB8AC3E}">
        <p14:creationId xmlns:p14="http://schemas.microsoft.com/office/powerpoint/2010/main" val="1590463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2026-09-08T23:11:28.3570000Z</dcterms:created>
  <dcterms:modified xsi:type="dcterms:W3CDTF">2026-09-08T23:11:28.3570000Z</dcterms:modified>
</coreProperties>
</file>