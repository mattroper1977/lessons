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b7e18173874a5d" /><Relationship Type="http://schemas.openxmlformats.org/officeDocument/2006/relationships/extended-properties" Target="/docProps/app.xml" Id="R84ea15ae28e5455f" /><Relationship Type="http://schemas.openxmlformats.org/officeDocument/2006/relationships/officeDocument" Target="/ppt/presentation.xml" Id="R3d623c466bca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ea707b6b554797"/>
  </p:sldMasterIdLst>
  <p:notesMasterIdLst>
    <p:notesMasterId xmlns:r="http://schemas.openxmlformats.org/officeDocument/2006/relationships" r:id="R6d60c5868af244ac"/>
  </p:notesMasterIdLst>
  <p:sldIdLst>
    <p:sldId xmlns:r="http://schemas.openxmlformats.org/officeDocument/2006/relationships" id="256" r:id="R023190e741be4460"/>
    <p:sldId xmlns:r="http://schemas.openxmlformats.org/officeDocument/2006/relationships" id="257" r:id="R38fb666c9102481a"/>
    <p:sldId xmlns:r="http://schemas.openxmlformats.org/officeDocument/2006/relationships" id="258" r:id="Rf95f546c33494679"/>
    <p:sldId xmlns:r="http://schemas.openxmlformats.org/officeDocument/2006/relationships" id="259" r:id="Ra2a04e5df9674e26"/>
    <p:sldId xmlns:r="http://schemas.openxmlformats.org/officeDocument/2006/relationships" id="260" r:id="R25eb2b54ae564775"/>
    <p:sldId xmlns:r="http://schemas.openxmlformats.org/officeDocument/2006/relationships" id="261" r:id="Ra66a7b5a191b4c9e"/>
    <p:sldId xmlns:r="http://schemas.openxmlformats.org/officeDocument/2006/relationships" id="262" r:id="R3dfc58141f7c4b6d"/>
    <p:sldId xmlns:r="http://schemas.openxmlformats.org/officeDocument/2006/relationships" id="263" r:id="R5cc2f60a255543ac"/>
    <p:sldId xmlns:r="http://schemas.openxmlformats.org/officeDocument/2006/relationships" id="264" r:id="Ra786c0e191174163"/>
    <p:sldId xmlns:r="http://schemas.openxmlformats.org/officeDocument/2006/relationships" id="265" r:id="Rbd32513031514825"/>
    <p:sldId xmlns:r="http://schemas.openxmlformats.org/officeDocument/2006/relationships" id="266" r:id="Rf2fdf171c6c84819"/>
    <p:sldId xmlns:r="http://schemas.openxmlformats.org/officeDocument/2006/relationships" id="267" r:id="R76a48c873e0245f7"/>
    <p:sldId xmlns:r="http://schemas.openxmlformats.org/officeDocument/2006/relationships" id="268" r:id="Rd055d2b73595422d"/>
    <p:sldId xmlns:r="http://schemas.openxmlformats.org/officeDocument/2006/relationships" id="269" r:id="R796a859ae51b4d50"/>
    <p:sldId xmlns:r="http://schemas.openxmlformats.org/officeDocument/2006/relationships" id="270" r:id="R17d4c927261f4cb5"/>
    <p:sldId xmlns:r="http://schemas.openxmlformats.org/officeDocument/2006/relationships" id="271" r:id="Rf7e64aacfe9a44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278e6e6b3f4c8f" /><Relationship Type="http://schemas.openxmlformats.org/officeDocument/2006/relationships/slideMaster" Target="/ppt/slideMasters/slideMaster1.xml" Id="R48ea707b6b554797" /><Relationship Type="http://schemas.openxmlformats.org/officeDocument/2006/relationships/notesMaster" Target="/ppt/notesMasters/notesMaster1.xml" Id="R6d60c5868af244ac" /><Relationship Type="http://schemas.openxmlformats.org/officeDocument/2006/relationships/presProps" Target="/ppt/presProps.xml" Id="Rea1bd49892c143f9" /><Relationship Type="http://schemas.openxmlformats.org/officeDocument/2006/relationships/tableStyles" Target="/ppt/tableStyles.xml" Id="R023709b496014a6d" /><Relationship Type="http://schemas.openxmlformats.org/officeDocument/2006/relationships/slide" Target="/ppt/slides/slide1.xml" Id="R023190e741be4460" /><Relationship Type="http://schemas.openxmlformats.org/officeDocument/2006/relationships/slide" Target="/ppt/slides/slide2.xml" Id="R38fb666c9102481a" /><Relationship Type="http://schemas.openxmlformats.org/officeDocument/2006/relationships/slide" Target="/ppt/slides/slide3.xml" Id="Rf95f546c33494679" /><Relationship Type="http://schemas.openxmlformats.org/officeDocument/2006/relationships/slide" Target="/ppt/slides/slide4.xml" Id="Ra2a04e5df9674e26" /><Relationship Type="http://schemas.openxmlformats.org/officeDocument/2006/relationships/slide" Target="/ppt/slides/slide5.xml" Id="R25eb2b54ae564775" /><Relationship Type="http://schemas.openxmlformats.org/officeDocument/2006/relationships/slide" Target="/ppt/slides/slide6.xml" Id="Ra66a7b5a191b4c9e" /><Relationship Type="http://schemas.openxmlformats.org/officeDocument/2006/relationships/slide" Target="/ppt/slides/slide7.xml" Id="R3dfc58141f7c4b6d" /><Relationship Type="http://schemas.openxmlformats.org/officeDocument/2006/relationships/slide" Target="/ppt/slides/slide8.xml" Id="R5cc2f60a255543ac" /><Relationship Type="http://schemas.openxmlformats.org/officeDocument/2006/relationships/slide" Target="/ppt/slides/slide9.xml" Id="Ra786c0e191174163" /><Relationship Type="http://schemas.openxmlformats.org/officeDocument/2006/relationships/slide" Target="/ppt/slides/slide10.xml" Id="Rbd32513031514825" /><Relationship Type="http://schemas.openxmlformats.org/officeDocument/2006/relationships/slide" Target="/ppt/slides/slide11.xml" Id="Rf2fdf171c6c84819" /><Relationship Type="http://schemas.openxmlformats.org/officeDocument/2006/relationships/slide" Target="/ppt/slides/slide12.xml" Id="R76a48c873e0245f7" /><Relationship Type="http://schemas.openxmlformats.org/officeDocument/2006/relationships/slide" Target="/ppt/slides/slide13.xml" Id="Rd055d2b73595422d" /><Relationship Type="http://schemas.openxmlformats.org/officeDocument/2006/relationships/slide" Target="/ppt/slides/slide14.xml" Id="R796a859ae51b4d50" /><Relationship Type="http://schemas.openxmlformats.org/officeDocument/2006/relationships/slide" Target="/ppt/slides/slide15.xml" Id="R17d4c927261f4cb5" /><Relationship Type="http://schemas.openxmlformats.org/officeDocument/2006/relationships/slide" Target="/ppt/slides/slide16.xml" Id="Rf7e64aacfe9a44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bf6bf374434a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102f50dae847c8" /><Relationship Type="http://schemas.openxmlformats.org/officeDocument/2006/relationships/notesMaster" Target="/ppt/notesMasters/notesMaster1.xml" Id="R6737305f44f448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bda1e69d324237" /><Relationship Type="http://schemas.openxmlformats.org/officeDocument/2006/relationships/notesMaster" Target="/ppt/notesMasters/notesMaster1.xml" Id="R4da287647741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fbf40ea1724736" /><Relationship Type="http://schemas.openxmlformats.org/officeDocument/2006/relationships/notesMaster" Target="/ppt/notesMasters/notesMaster1.xml" Id="R78a4f4f6f9914a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d19b3bd42499b" /><Relationship Type="http://schemas.openxmlformats.org/officeDocument/2006/relationships/notesMaster" Target="/ppt/notesMasters/notesMaster1.xml" Id="R9a02128277db47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14eb64a6124c43" /><Relationship Type="http://schemas.openxmlformats.org/officeDocument/2006/relationships/notesMaster" Target="/ppt/notesMasters/notesMaster1.xml" Id="R95b7db30345749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2b38ccf5d64be7" /><Relationship Type="http://schemas.openxmlformats.org/officeDocument/2006/relationships/notesMaster" Target="/ppt/notesMasters/notesMaster1.xml" Id="R3b2bdfae76de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fd3b57ed96426a" /><Relationship Type="http://schemas.openxmlformats.org/officeDocument/2006/relationships/notesMaster" Target="/ppt/notesMasters/notesMaster1.xml" Id="R96b3a45f2e134f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6c2530a8624ab0" /><Relationship Type="http://schemas.openxmlformats.org/officeDocument/2006/relationships/notesMaster" Target="/ppt/notesMasters/notesMaster1.xml" Id="Rfb3b3fe9d52841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40677f424944d1" /><Relationship Type="http://schemas.openxmlformats.org/officeDocument/2006/relationships/notesMaster" Target="/ppt/notesMasters/notesMaster1.xml" Id="Rad9bc444a7e14a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b4ed12643e40e1" /><Relationship Type="http://schemas.openxmlformats.org/officeDocument/2006/relationships/notesMaster" Target="/ppt/notesMasters/notesMaster1.xml" Id="Rc4390190ad124e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7f7c2060ed4858" /><Relationship Type="http://schemas.openxmlformats.org/officeDocument/2006/relationships/notesMaster" Target="/ppt/notesMasters/notesMaster1.xml" Id="Rf60c2d134d6846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ac5339b0304463" /><Relationship Type="http://schemas.openxmlformats.org/officeDocument/2006/relationships/notesMaster" Target="/ppt/notesMasters/notesMaster1.xml" Id="R0999b67888604d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361d01494c45d4" /><Relationship Type="http://schemas.openxmlformats.org/officeDocument/2006/relationships/notesMaster" Target="/ppt/notesMasters/notesMaster1.xml" Id="R12ca5eb858c447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3f2c2fe6e54955" /><Relationship Type="http://schemas.openxmlformats.org/officeDocument/2006/relationships/notesMaster" Target="/ppt/notesMasters/notesMaster1.xml" Id="Ra90ec4fc3d7e44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7da1af4c124f6c" /><Relationship Type="http://schemas.openxmlformats.org/officeDocument/2006/relationships/notesMaster" Target="/ppt/notesMasters/notesMaster1.xml" Id="Rab7f38acfbd64c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ab8b8c7f944a36" /><Relationship Type="http://schemas.openxmlformats.org/officeDocument/2006/relationships/notesMaster" Target="/ppt/notesMasters/notesMaster1.xml" Id="R9161fc0985d643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12A · Explore</a:t>
            </a:r>
          </a:p>
          <a:p xmlns:a="http://schemas.openxmlformats.org/drawingml/2006/main">
            <a:r>
              <a:t>Learning objective: I can identify which tested or observed rock property matters for a stated everyday job.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State the job before looking at candidate samples.</a:t>
            </a:r>
          </a:p>
          <a:p xmlns:a="http://schemas.openxmlformats.org/drawingml/2006/main">
            <a:r>
              <a:t>Choose a relevant property such as scratch resistance, water passage, shape or appearance.</a:t>
            </a:r>
          </a:p>
          <a:p xmlns:a="http://schemas.openxmlformats.org/drawingml/2006/main">
            <a:r>
              <a:t>Explain why one property helps the job and why no single property decides every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12A · Explore</a:t>
            </a:r>
          </a:p>
          <a:p xmlns:a="http://schemas.openxmlformats.org/drawingml/2006/main">
            <a:r>
              <a:t>Learning objective: I can identify which tested or observed rock property matters for a stated everyday job.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State the job before looking at candidate samples.</a:t>
            </a:r>
          </a:p>
          <a:p xmlns:a="http://schemas.openxmlformats.org/drawingml/2006/main">
            <a:r>
              <a:t>Choose a relevant property such as scratch resistance, water passage, shape or appearance.</a:t>
            </a:r>
          </a:p>
          <a:p xmlns:a="http://schemas.openxmlformats.org/drawingml/2006/main">
            <a:r>
              <a:t>Explain why one property helps the job and why no single property decides every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W11, we separated scratch resistance from water passage and used collector evidence to compare supplied samples.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what did the water-passage result measure?</a:t>
            </a:r>
          </a:p>
          <a:p xmlns:a="http://schemas.openxmlformats.org/drawingml/2006/main">
            <a:r>
              <a:t>Last lesson: why did a lower value not mean waterproof forever?</a:t>
            </a:r>
          </a:p>
          <a:p xmlns:a="http://schemas.openxmlformats.org/drawingml/2006/main">
            <a:r>
              <a:t>Last week: what did the scratch comparison tell us?</a:t>
            </a:r>
          </a:p>
          <a:p xmlns:a="http://schemas.openxmlformats.org/drawingml/2006/main">
            <a:r>
              <a:t>Lead-in: name one property that could matter for a walking surface.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ROOF brief · stop rain getting in</a:t>
            </a:r>
          </a:p>
          <a:p xmlns:a="http://schemas.openxmlformats.org/drawingml/2006/main">
            <a:r>
              <a:t>Ask what the rock must DO before you look at any sample.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PATH brief · cope with feet every day</a:t>
            </a:r>
          </a:p>
          <a:p xmlns:a="http://schemas.openxmlformats.org/drawingml/2006/main">
            <a:r>
              <a:t>A different job, a different property.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DRAINAGE brief · let water move away</a:t>
            </a:r>
          </a:p>
          <a:p xmlns:a="http://schemas.openxmlformats.org/drawingml/2006/main">
            <a:r>
              <a:t>The "worst" rock for a roof can be the best for drainage. No single property decides every job.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Agree. Every use needs the least water passage.</a:t>
            </a:r>
          </a:p>
          <a:p xmlns:a="http://schemas.openxmlformats.org/drawingml/2006/main">
            <a:r>
              <a:t>Ask what the job is; a rain barrier and a drainage layer need different water behaviour.</a:t>
            </a:r>
          </a:p>
          <a:p xmlns:a="http://schemas.openxmlformats.org/drawingml/2006/main">
            <a:r>
              <a:t>Ignore water and choose the brightest colour for every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ROOF brief · stop rain getting in</a:t>
            </a:r>
          </a:p>
          <a:p xmlns:a="http://schemas.openxmlformats.org/drawingml/2006/main">
            <a:r>
              <a:t>Ask what the rock must DO before you look at any sample.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PATH brief · cope with feet every day</a:t>
            </a:r>
          </a:p>
          <a:p xmlns:a="http://schemas.openxmlformats.org/drawingml/2006/main">
            <a:r>
              <a:t>A different job, a different property.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DRAINAGE brief · let water move away</a:t>
            </a:r>
          </a:p>
          <a:p xmlns:a="http://schemas.openxmlformats.org/drawingml/2006/main">
            <a:r>
              <a:t>The "worst" rock for a roof can be the best for drainage. No single property decides every job.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Agree. Every use needs the least water passage.</a:t>
            </a:r>
          </a:p>
          <a:p xmlns:a="http://schemas.openxmlformats.org/drawingml/2006/main">
            <a:r>
              <a:t>Ask what the job is; a rain barrier and a drainage layer need different water behaviour.</a:t>
            </a:r>
          </a:p>
          <a:p xmlns:a="http://schemas.openxmlformats.org/drawingml/2006/main">
            <a:r>
              <a:t>Ignore water and choose the brightest colour for every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ROOF brief · stop rain getting in</a:t>
            </a:r>
          </a:p>
          <a:p xmlns:a="http://schemas.openxmlformats.org/drawingml/2006/main">
            <a:r>
              <a:t>Ask what the rock must DO before you look at any sample.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PATH brief · cope with feet every day</a:t>
            </a:r>
          </a:p>
          <a:p xmlns:a="http://schemas.openxmlformats.org/drawingml/2006/main">
            <a:r>
              <a:t>A different job, a different property.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DRAINAGE brief · let water move away</a:t>
            </a:r>
          </a:p>
          <a:p xmlns:a="http://schemas.openxmlformats.org/drawingml/2006/main">
            <a:r>
              <a:t>The "worst" rock for a roof can be the best for drainage. No single property decides every job.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Agree. Every use needs the least water passage.</a:t>
            </a:r>
          </a:p>
          <a:p xmlns:a="http://schemas.openxmlformats.org/drawingml/2006/main">
            <a:r>
              <a:t>Ask what the job is; a rain barrier and a drainage layer need different water behaviour.</a:t>
            </a:r>
          </a:p>
          <a:p xmlns:a="http://schemas.openxmlformats.org/drawingml/2006/main">
            <a:r>
              <a:t>Ignore water and choose the brightest colour for every job.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PROPERTY what the material is like a feature that can be observed or tested</a:t>
            </a:r>
          </a:p>
          <a:p xmlns:a="http://schemas.openxmlformats.org/drawingml/2006/main">
            <a:r>
              <a:t>PURPOSE the job it must do the use or function a material must serve</a:t>
            </a:r>
          </a:p>
          <a:p xmlns:a="http://schemas.openxmlformats.org/drawingml/2006/main">
            <a:r>
              <a:t>SUITABLE works for this job having relevant properties for the stated purpose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JOB → PROPERTY QUESTION → EVIDENCE NEEDED. Do not choose a sample until all three boxes are clear.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Read the brief before the samples. A rain-facing cover, hard-wearing path, indoor display and drainage layer do different jobs.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each job into a property question: How much water passes? How well does the surface resist scratching? Can pieces form the needed shape? Does appearance matter here?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Match only relevant evidence. Colour does not answer water passage, and a permeability result does not prove resistance to wear.</a:t>
            </a:r>
          </a:p>
          <a:p xmlns:a="http://schemas.openxmlformats.org/drawingml/2006/main">
            <a:r>
              <a:t>Job → property matcher</a:t>
            </a:r>
          </a:p>
          <a:p xmlns:a="http://schemas.openxmlformats.org/drawingml/2006/main">
            <a:r>
              <a:t>Press a job. Then press the property that matters MOST for it. Then say why in one sentence.</a:t>
            </a:r>
          </a:p>
          <a:p xmlns:a="http://schemas.openxmlformats.org/drawingml/2006/main">
            <a:r>
              <a:t>roof cover</a:t>
            </a:r>
          </a:p>
          <a:p xmlns:a="http://schemas.openxmlformats.org/drawingml/2006/main">
            <a:r>
              <a:t>hard-wearing path</a:t>
            </a:r>
          </a:p>
          <a:p xmlns:a="http://schemas.openxmlformats.org/drawingml/2006/main">
            <a:r>
              <a:t>drainage layer</a:t>
            </a:r>
          </a:p>
          <a:p xmlns:a="http://schemas.openxmlformats.org/drawingml/2006/main">
            <a:r>
              <a:t>indoor display piece</a:t>
            </a:r>
          </a:p>
          <a:p xmlns:a="http://schemas.openxmlformats.org/drawingml/2006/main">
            <a:r>
              <a:t>water passage (low)</a:t>
            </a:r>
          </a:p>
          <a:p xmlns:a="http://schemas.openxmlformats.org/drawingml/2006/main">
            <a:r>
              <a:t>scratch resistance</a:t>
            </a:r>
          </a:p>
          <a:p xmlns:a="http://schemas.openxmlformats.org/drawingml/2006/main">
            <a:r>
              <a:t>gaps between pieces</a:t>
            </a:r>
          </a:p>
          <a:p xmlns:a="http://schemas.openxmlformats.org/drawingml/2006/main">
            <a:r>
              <a:t>colour and appearance</a:t>
            </a:r>
          </a:p>
          <a:p xmlns:a="http://schemas.openxmlformats.org/drawingml/2006/main">
            <a:r>
              <a:t>Press a job first.</a:t>
            </a:r>
          </a:p>
          <a:p xmlns:a="http://schemas.openxmlformats.org/drawingml/2006/main">
            <a:r>
              <a:t>The trap: "least permeable is best for everything"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PROPERTY what the material is like a feature that can be observed or tested</a:t>
            </a:r>
          </a:p>
          <a:p xmlns:a="http://schemas.openxmlformats.org/drawingml/2006/main">
            <a:r>
              <a:t>PURPOSE the job it must do the use or function a material must serve</a:t>
            </a:r>
          </a:p>
          <a:p xmlns:a="http://schemas.openxmlformats.org/drawingml/2006/main">
            <a:r>
              <a:t>SUITABLE works for this job having relevant properties for the stated purpose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Use the chain JOB → PROPERTY QUESTION → EVIDENCE NEEDED. Do not choose a sample until all three boxes are clear.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Read the brief before the samples. A rain-facing cover, hard-wearing path, indoor display and drainage layer do different jobs.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each job into a property question: How much water passes? How well does the surface resist scratching? Can pieces form the needed shape? Does appearance matter here?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Match only relevant evidence. Colour does not answer water passage, and a permeability result does not prove resistance to wear.</a:t>
            </a:r>
          </a:p>
          <a:p xmlns:a="http://schemas.openxmlformats.org/drawingml/2006/main">
            <a:r>
              <a:t>Job → property matcher</a:t>
            </a:r>
          </a:p>
          <a:p xmlns:a="http://schemas.openxmlformats.org/drawingml/2006/main">
            <a:r>
              <a:t>Press a job. Then press the property that matters MOST for it. Then say why in one sentence.</a:t>
            </a:r>
          </a:p>
          <a:p xmlns:a="http://schemas.openxmlformats.org/drawingml/2006/main">
            <a:r>
              <a:t>roof cover</a:t>
            </a:r>
          </a:p>
          <a:p xmlns:a="http://schemas.openxmlformats.org/drawingml/2006/main">
            <a:r>
              <a:t>hard-wearing path</a:t>
            </a:r>
          </a:p>
          <a:p xmlns:a="http://schemas.openxmlformats.org/drawingml/2006/main">
            <a:r>
              <a:t>drainage layer</a:t>
            </a:r>
          </a:p>
          <a:p xmlns:a="http://schemas.openxmlformats.org/drawingml/2006/main">
            <a:r>
              <a:t>indoor display piece</a:t>
            </a:r>
          </a:p>
          <a:p xmlns:a="http://schemas.openxmlformats.org/drawingml/2006/main">
            <a:r>
              <a:t>water passage (low)</a:t>
            </a:r>
          </a:p>
          <a:p xmlns:a="http://schemas.openxmlformats.org/drawingml/2006/main">
            <a:r>
              <a:t>scratch resistance</a:t>
            </a:r>
          </a:p>
          <a:p xmlns:a="http://schemas.openxmlformats.org/drawingml/2006/main">
            <a:r>
              <a:t>gaps between pieces</a:t>
            </a:r>
          </a:p>
          <a:p xmlns:a="http://schemas.openxmlformats.org/drawingml/2006/main">
            <a:r>
              <a:t>colour and appearance</a:t>
            </a:r>
          </a:p>
          <a:p xmlns:a="http://schemas.openxmlformats.org/drawingml/2006/main">
            <a:r>
              <a:t>Press a job first.</a:t>
            </a:r>
          </a:p>
          <a:p xmlns:a="http://schemas.openxmlformats.org/drawingml/2006/main">
            <a:r>
              <a:t>The trap: "least permeable is best for everything"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Which sample is the darkest?</a:t>
            </a:r>
          </a:p>
          <a:p xmlns:a="http://schemas.openxmlformats.org/drawingml/2006/main">
            <a:r>
              <a:t>Which prepared sample lets less water through and can form overlapping flat pieces?</a:t>
            </a:r>
          </a:p>
          <a:p xmlns:a="http://schemas.openxmlformats.org/drawingml/2006/main">
            <a:r>
              <a:t>Which sample has the longest name?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 job can need more than one property. A path may need resistance to surface wear and a suitable walking surface; a display may value pattern while still needing stability.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 direction of useful can change. Low water passage may help a rain barrier, while spaces between suitable pieces can help a drainage layer move water away.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the key property has not been observed or tested, mark needs another check. A confident guess is not a material decision.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JOB → PROPERTY QUESTION → EVIDENCE NEEDED. Do not choose a sample until all three boxes are clear.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 job can need more than one property. A path may need resistance to surface wear and a suitable walking surface; a display may value pattern while still needing stability.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 direction of useful can change. Low water passage may help a rain barrier, while spaces between suitable pieces can help a drainage layer move water away.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the key property has not been observed or tested, mark needs another check. A confident guess is not a material decision.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Use the chain JOB → PROPERTY QUESTION → EVIDENCE NEEDED. Do not choose a sample until all three boxes are clear.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brief clue to WATER CONTROL, WEAR / SURFACE, SHAPE / APPEARANCE or NEEDS ANOTHER CHECK.</a:t>
            </a:r>
          </a:p>
          <a:p xmlns:a="http://schemas.openxmlformats.org/drawingml/2006/main">
            <a:r>
              <a:t>Read the job clue. Ask what must happen or be prevented. Choose the relevant property question. Freeze two links and explain why they fit.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Rain-cover clue The material must help limit water reaching the model space below.</a:t>
            </a:r>
          </a:p>
          <a:p xmlns:a="http://schemas.openxmlformats.org/drawingml/2006/main">
            <a:r>
              <a:t>Drainage clue Water should move away through spaces in a bed of suitable rock pieces instead of pooling at the top.</a:t>
            </a:r>
          </a:p>
          <a:p xmlns:a="http://schemas.openxmlformats.org/drawingml/2006/main">
            <a:r>
              <a:t>Busy-path clue The surface faces repeated shoes and wheels in the fictional yard.</a:t>
            </a:r>
          </a:p>
          <a:p xmlns:a="http://schemas.openxmlformats.org/drawingml/2006/main">
            <a:r>
              <a:t>Walking-surface clue The brief needs a stable, even surface; a separate local safety check would assess grip and installation.</a:t>
            </a:r>
          </a:p>
          <a:p xmlns:a="http://schemas.openxmlformats.org/drawingml/2006/main">
            <a:r>
              <a:t>Overlap clue The roof model needs thin pieces that can lie flat and overlap.</a:t>
            </a:r>
          </a:p>
          <a:p xmlns:a="http://schemas.openxmlformats.org/drawingml/2006/main">
            <a:r>
              <a:t>Display clue The brief is for a stable indoor display where pattern and finish are part of the stated purpose.</a:t>
            </a:r>
          </a:p>
          <a:p xmlns:a="http://schemas.openxmlformats.org/drawingml/2006/main">
            <a:r>
              <a:t>Dark-colour claim The darkest rock must be strongest, hardest and least permeable.</a:t>
            </a:r>
          </a:p>
          <a:p xmlns:a="http://schemas.openxmlformats.org/drawingml/2006/main">
            <a:r>
              <a:t>Hardest-is-best claim The sample with the faintest scratch mark should be used for every job, even without water or shape evidence.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WATER CONTROL</a:t>
            </a:r>
          </a:p>
          <a:p xmlns:a="http://schemas.openxmlformats.org/drawingml/2006/main">
            <a:r>
              <a:t>WEAR / SURFACE</a:t>
            </a:r>
          </a:p>
          <a:p xmlns:a="http://schemas.openxmlformats.org/drawingml/2006/main">
            <a:r>
              <a:t>SHAPE / APPEARANCE</a:t>
            </a:r>
          </a:p>
          <a:p xmlns:a="http://schemas.openxmlformats.org/drawingml/2006/main">
            <a:r>
              <a:t>NEEDS ANOTHER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Rock-job glitch: the least permeable or hardest sample is best for every purpose.</a:t>
            </a:r>
          </a:p>
          <a:p xmlns:a="http://schemas.openxmlformats.org/drawingml/2006/main">
            <a:r>
              <a:t>Keep it: one winning property settles every job.</a:t>
            </a:r>
          </a:p>
          <a:p xmlns:a="http://schemas.openxmlformats.org/drawingml/2006/main">
            <a:r>
              <a:t>Repair it: start with the purpose and choose the property evidence that answers that job.</a:t>
            </a:r>
          </a:p>
          <a:p xmlns:a="http://schemas.openxmlformats.org/drawingml/2006/main">
            <a:r>
              <a:t>Repair it: replace tests with colour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Route each brief clue to WATER CONTROL, WEAR / SURFACE, SHAPE / APPEARANCE or NEEDS ANOTHER CHECK.</a:t>
            </a:r>
          </a:p>
          <a:p xmlns:a="http://schemas.openxmlformats.org/drawingml/2006/main">
            <a:r>
              <a:t>Read the job clue. Ask what must happen or be prevented. Choose the relevant property question. Freeze two links and explain why they fit.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Rain-cover clue The material must help limit water reaching the model space below.</a:t>
            </a:r>
          </a:p>
          <a:p xmlns:a="http://schemas.openxmlformats.org/drawingml/2006/main">
            <a:r>
              <a:t>Drainage clue Water should move away through spaces in a bed of suitable rock pieces instead of pooling at the top.</a:t>
            </a:r>
          </a:p>
          <a:p xmlns:a="http://schemas.openxmlformats.org/drawingml/2006/main">
            <a:r>
              <a:t>Busy-path clue The surface faces repeated shoes and wheels in the fictional yard.</a:t>
            </a:r>
          </a:p>
          <a:p xmlns:a="http://schemas.openxmlformats.org/drawingml/2006/main">
            <a:r>
              <a:t>Walking-surface clue The brief needs a stable, even surface; a separate local safety check would assess grip and installation.</a:t>
            </a:r>
          </a:p>
          <a:p xmlns:a="http://schemas.openxmlformats.org/drawingml/2006/main">
            <a:r>
              <a:t>Overlap clue The roof model needs thin pieces that can lie flat and overlap.</a:t>
            </a:r>
          </a:p>
          <a:p xmlns:a="http://schemas.openxmlformats.org/drawingml/2006/main">
            <a:r>
              <a:t>Display clue The brief is for a stable indoor display where pattern and finish are part of the stated purpose.</a:t>
            </a:r>
          </a:p>
          <a:p xmlns:a="http://schemas.openxmlformats.org/drawingml/2006/main">
            <a:r>
              <a:t>Dark-colour claim The darkest rock must be strongest, hardest and least permeable.</a:t>
            </a:r>
          </a:p>
          <a:p xmlns:a="http://schemas.openxmlformats.org/drawingml/2006/main">
            <a:r>
              <a:t>Hardest-is-best claim The sample with the faintest scratch mark should be used for every job, even without water or shape evidence.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WATER CONTROL</a:t>
            </a:r>
          </a:p>
          <a:p xmlns:a="http://schemas.openxmlformats.org/drawingml/2006/main">
            <a:r>
              <a:t>WEAR / SURFACE</a:t>
            </a:r>
          </a:p>
          <a:p xmlns:a="http://schemas.openxmlformats.org/drawingml/2006/main">
            <a:r>
              <a:t>SHAPE / APPEARANCE</a:t>
            </a:r>
          </a:p>
          <a:p xmlns:a="http://schemas.openxmlformats.org/drawingml/2006/main">
            <a:r>
              <a:t>NEEDS ANOTHER CHECK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Rock-job glitch: the least permeable or hardest sample is best for every purpose.</a:t>
            </a:r>
          </a:p>
          <a:p xmlns:a="http://schemas.openxmlformats.org/drawingml/2006/main">
            <a:r>
              <a:t>Keep it: one winning property settles every job.</a:t>
            </a:r>
          </a:p>
          <a:p xmlns:a="http://schemas.openxmlformats.org/drawingml/2006/main">
            <a:r>
              <a:t>Repair it: start with the purpose and choose the property evidence that answers that job.</a:t>
            </a:r>
          </a:p>
          <a:p xmlns:a="http://schemas.openxmlformats.org/drawingml/2006/main">
            <a:r>
              <a:t>Repair it: replace tests with colour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Four supplied job briefs, W10 scratch and W11 water evidence icons, property-question grid and pencil or communication aid.</a:t>
            </a:r>
          </a:p>
          <a:p xmlns:a="http://schemas.openxmlformats.org/drawingml/2006/main">
            <a:r>
              <a:t>Same outcome: I can identify which tested or observed rock property matters for a stated everyday job.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job-property lab and save the frozen question chain locally; no account, upload or live website is needed.</a:t>
            </a:r>
          </a:p>
          <a:p xmlns:a="http://schemas.openxmlformats.org/drawingml/2006/main">
            <a:r>
              <a:t>Same evidence: Four job-property questions, two because explanations, one needs-another-check decision and one model limit.</a:t>
            </a:r>
          </a:p>
          <a:p xmlns:a="http://schemas.openxmlformats.org/drawingml/2006/main">
            <a:r>
              <a:t>Equipment / setup Four supplied job briefs, W10 scratch and W11 water evidence icons, property-question grid and pencil or communication aid.</a:t>
            </a:r>
          </a:p>
          <a:p xmlns:a="http://schemas.openxmlformats.org/drawingml/2006/main">
            <a:r>
              <a:t>Safety / sensory Use cards or pre-screened lightweight samples on trays. No real construction, site access, heavy lifting, scratching, wetting, breaking, tasting, smelling or collecting is required.</a:t>
            </a:r>
          </a:p>
          <a:p xmlns:a="http://schemas.openxmlformats.org/drawingml/2006/main">
            <a:r>
              <a:t>Offline parity Use the embedded job-property lab and save the frozen question chain locally; no account, upload or live website is needed.</a:t>
            </a:r>
          </a:p>
          <a:p xmlns:a="http://schemas.openxmlformats.org/drawingml/2006/main">
            <a:r>
              <a:t>No-equipment/access route: Use one large job picture at a time and fixed property choices. An adult scribes the pupil's exact because link.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all four briefs, naming the relevant property evidence and one missing check for each.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Keep separate columns for job, property question and evidence needed.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Four supplied job briefs, W10 scratch and W11 water evidence icons, property-question grid and pencil or communication aid.</a:t>
            </a:r>
          </a:p>
          <a:p xmlns:a="http://schemas.openxmlformats.org/drawingml/2006/main">
            <a:r>
              <a:t>Same outcome: I can identify which tested or observed rock property matters for a stated everyday job.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embedded job-property lab and save the frozen question chain locally; no account, upload or live website is needed.</a:t>
            </a:r>
          </a:p>
          <a:p xmlns:a="http://schemas.openxmlformats.org/drawingml/2006/main">
            <a:r>
              <a:t>Same evidence: Four job-property questions, two because explanations, one needs-another-check decision and one model limit.</a:t>
            </a:r>
          </a:p>
          <a:p xmlns:a="http://schemas.openxmlformats.org/drawingml/2006/main">
            <a:r>
              <a:t>Equipment / setup Four supplied job briefs, W10 scratch and W11 water evidence icons, property-question grid and pencil or communication aid.</a:t>
            </a:r>
          </a:p>
          <a:p xmlns:a="http://schemas.openxmlformats.org/drawingml/2006/main">
            <a:r>
              <a:t>Safety / sensory Use cards or pre-screened lightweight samples on trays. No real construction, site access, heavy lifting, scratching, wetting, breaking, tasting, smelling or collecting is required.</a:t>
            </a:r>
          </a:p>
          <a:p xmlns:a="http://schemas.openxmlformats.org/drawingml/2006/main">
            <a:r>
              <a:t>Offline parity Use the embedded job-property lab and save the frozen question chain locally; no account, upload or live website is needed.</a:t>
            </a:r>
          </a:p>
          <a:p xmlns:a="http://schemas.openxmlformats.org/drawingml/2006/main">
            <a:r>
              <a:t>No-equipment/access route: Use one large job picture at a time and fixed property choices. An adult scribes the pupil's exact because link.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Complete all four briefs, naming the relevant property evidence and one missing check for each.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Keep separate columns for job, property question and evidence needed.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SCI_B_W12A_Rock_Jobs_Which_Property_Matters_Explore.html.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briefs simplify real design. Cost, thickness, treatment, strength, installation, safety and local standards also matter; classroom evidence cannot approve real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which property matters for one job and why another property does not answer it.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SCI_B_W12A_Rock_Jobs_Which_Property_Matters_Explore.html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40d3d37e8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ca8da22d547bd" /><Relationship Type="http://schemas.openxmlformats.org/officeDocument/2006/relationships/slideLayout" Target="/ppt/slideLayouts/slideLayout1.xml" Id="Rf7f4510dec1e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4510dec1e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6d5f3109a4585" /><Relationship Type="http://schemas.openxmlformats.org/officeDocument/2006/relationships/hyperlink" Target="SCI_B_W12A_Rock_Jobs_Which_Property_Matters_Explore.html" TargetMode="External" Id="Rc37b835459154f22" /><Relationship Type="http://schemas.openxmlformats.org/officeDocument/2006/relationships/notesSlide" Target="/ppt/notesSlides/notesSlide1.xml" Id="R45feb1da03534a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ff30b1ff424c" /><Relationship Type="http://schemas.openxmlformats.org/officeDocument/2006/relationships/notesSlide" Target="/ppt/notesSlides/notesSlide2.xml" Id="Re7818ff95fd645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3f89e47a540b4" /><Relationship Type="http://schemas.openxmlformats.org/officeDocument/2006/relationships/notesSlide" Target="/ppt/notesSlides/notesSlide3.xml" Id="Ra860cf88b5b547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361e2abe5476f" /><Relationship Type="http://schemas.openxmlformats.org/officeDocument/2006/relationships/notesSlide" Target="/ppt/notesSlides/notesSlide4.xml" Id="Re3138a51a781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2e21ef2a7441a" /><Relationship Type="http://schemas.openxmlformats.org/officeDocument/2006/relationships/notesSlide" Target="/ppt/notesSlides/notesSlide5.xml" Id="Rbb8e42e01f2d4b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aa600a7f94876" /><Relationship Type="http://schemas.openxmlformats.org/officeDocument/2006/relationships/image" Target="/ppt/media/image.png" Id="R0fa02e7e7d6c4d02" /><Relationship Type="http://schemas.openxmlformats.org/officeDocument/2006/relationships/image" Target="/ppt/media/image2.png" Id="R271b311d34914c93" /><Relationship Type="http://schemas.openxmlformats.org/officeDocument/2006/relationships/image" Target="/ppt/media/image3.png" Id="Rde2e119c68b54c21" /><Relationship Type="http://schemas.openxmlformats.org/officeDocument/2006/relationships/notesSlide" Target="/ppt/notesSlides/notesSlide6.xml" Id="R5edb92dbdc7c49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14fb048814f6b" /><Relationship Type="http://schemas.openxmlformats.org/officeDocument/2006/relationships/notesSlide" Target="/ppt/notesSlides/notesSlide7.xml" Id="R316b7b84bcb6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4ae51ff0c4e4f" /><Relationship Type="http://schemas.openxmlformats.org/officeDocument/2006/relationships/notesSlide" Target="/ppt/notesSlides/notesSlide8.xml" Id="Re7084425074944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154a9c6cd4526" /><Relationship Type="http://schemas.openxmlformats.org/officeDocument/2006/relationships/notesSlide" Target="/ppt/notesSlides/notesSlide9.xml" Id="Rd277910519e64a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e61e388694b54" /><Relationship Type="http://schemas.openxmlformats.org/officeDocument/2006/relationships/notesSlide" Target="/ppt/notesSlides/notesSlide10.xml" Id="R548e6b20ff3d4d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9a956dd46445d" /><Relationship Type="http://schemas.openxmlformats.org/officeDocument/2006/relationships/notesSlide" Target="/ppt/notesSlides/notesSlide11.xml" Id="Rd4263e5d56194e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0d4614e8d42ee" /><Relationship Type="http://schemas.openxmlformats.org/officeDocument/2006/relationships/notesSlide" Target="/ppt/notesSlides/notesSlide12.xml" Id="R0f413e0f38a14e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04dda50a743e2" /><Relationship Type="http://schemas.openxmlformats.org/officeDocument/2006/relationships/notesSlide" Target="/ppt/notesSlides/notesSlide13.xml" Id="Rf781702813f148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d62df684442dc" /><Relationship Type="http://schemas.openxmlformats.org/officeDocument/2006/relationships/notesSlide" Target="/ppt/notesSlides/notesSlide14.xml" Id="R0946bd641f5744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8e64caa25404e" /><Relationship Type="http://schemas.openxmlformats.org/officeDocument/2006/relationships/notesSlide" Target="/ppt/notesSlides/notesSlide15.xml" Id="R36ba274e3e3641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d1f136c2457c" /><Relationship Type="http://schemas.openxmlformats.org/officeDocument/2006/relationships/notesSlide" Target="/ppt/notesSlides/notesSlide16.xml" Id="Rcdf092b0b8a944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DA6755-0F42-43AD-90D1-2626D499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39011E8-D943-4F1A-AEEF-57FEF67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92CCE9E-5CAE-432B-9D86-F3F22E5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98D7D6-8BCD-4F85-9979-EE693EA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 Jobs: Which Property Matters?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0596EBC-3231-4275-8844-40157EA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D4C44053-DCCD-4770-A5D5-86AFEB07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identify which tested or observed rock property matters for a stated everyday job.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1107728-B675-46E4-938F-02C7F1D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DED86789-5E20-4CA9-A4B6-E9DD50DF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JOB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710CD421-8DCC-4238-9A9E-BA66A8BA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must the material do?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4BA7B5E7-092B-494F-B64F-D3D6491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5B9AC2C0-6601-4BC2-9590-B693A1DE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F388DAE-87AE-460D-B689-A45382E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can we observe or test?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B8447EA6-E00D-408E-8865-9ADCCB7D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B21FA3C3-7A89-46D9-A419-6AA92C17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A45B9780-60D6-4B22-96BA-BEA912B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connect the evidence to purpose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4AAA1554-8EB2-4499-86C5-8AE5D45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c37b835459154f22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FCC71391-ED4F-4B8D-A7B4-E392F0B6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D51F3626-367B-47C5-B3F5-7C62F4D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490773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DE85E19-5051-44D7-9B61-D168C15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7541793-5508-4C46-8BBE-7CADCF20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0BF6B05-D331-4D56-B767-0139261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FB2C59-2073-4F04-B00C-F84A3C0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6A738D1-6E39-49E3-8B47-989B1F3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DB45AE8-B086-4EC9-885F-F4DE8E9F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the job before looking at candidate samples.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F03B525-DFE9-45A4-909E-1C1C264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a relevant property such as scratch resistance, water passage, shape or appearance.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9B4E2B6-2858-4B8B-A4C1-5F0F362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one property helps the job and why no single property decides every use.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99DB590-956A-4512-BCE6-8C7020BF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88B7C1B-11F3-400A-B75A-E733CD4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725389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B73C411-2C0A-4617-817F-C021D979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602E121-0525-4574-898E-0F8F5E82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FF32FDC-1562-4B3F-85F8-97E3B2D2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6E859D-63E4-4D61-957A-AFA962E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55C6174-67A9-4F50-9E1B-1490175D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5944C1A-9805-42D3-BBE0-0C2648F2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what did the water-passage result measure?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CF72B47-1536-4030-BBF7-0C95D3D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did a lower value not mean waterproof forever?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66F5ED7-3037-47D8-8DA3-8AE4EDC0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what did the scratch comparison tell us?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1E34B4F-EC9C-47E9-B105-51E3A04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name one property that could matter for a walking surface.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BEBF355-3363-49C1-AD05-E91F9BBD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8792BD6-D480-4C33-9EA9-6C56096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3711127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3617366-7B5F-412F-AD33-8E167ED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EA6B93D-2975-4CFB-8758-337E1E6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CAABA19-8D09-45F0-9E4A-27EE4D2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11FBAF-E53E-4963-804A-5A7B96E5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pupil says, ‘The least permeable sample must be best for every rock job.’ Which first idea would you test?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96B590C-67B7-400E-8F41-E9E2939D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37BBF27-1FC7-48C3-8EB6-AF5A0003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87D8B31-1EA4-4E8C-A401-BF04F143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Agree. Every use needs the least water passage.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38783B6-7B0A-462F-A4DB-92609BA0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Ask what the job is; a rain barrier and a drainage layer need different water behaviour.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AA5D739-CCA3-4CC7-8968-1B7EC2C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Ignore water and choose the brightest colour for every job.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95965C9-A7C6-4D36-8297-4D064646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DB711262-5D35-4B32-8592-0A11F5D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476709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9FFEF92-87E1-421C-8828-A4E8A0B0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5C957B4-E3BB-4AEE-87E0-D32AAE1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0E72BB-2BE7-4065-BFBA-119D6E6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14E3E0-CCD9-4FB7-AB28-1585AB6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791FB93-78DC-4CE5-B125-7B595552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A2474F6-FF96-426E-9471-FB4D5D0E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Roof-cover brief: help stop rain reaching the space below.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1BBEEE-7DBD-42A4-A084-FDD6488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Hard-wearing path brief: cope with repeated contact and provide a suitable surface.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A19C7C6-2BCC-4107-BDC9-ABCAFC32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Drainage-layer brief: allow water to move away through spaces between suitable rock pieces.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2B53143-8B09-4A5B-86B3-46131AA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C06EDDC-D80D-4B0D-B0E3-A05A9069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9591591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03687BB-D50B-4804-B176-0834DBBA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B4E2A00-0D3D-4C5B-B5FE-4612A4C3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3F6929C-3C19-4435-B702-C29BFA5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F69FEE-8B7B-48D0-BA7B-7C76496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DAFC1C4-910A-4E9F-9AE6-62741B8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02e7e7d6c4d02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2C20EA0-84AE-4713-A5C5-CA63FD6F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roof job card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b311d34914c93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6BF2A2E7-CB6D-4A4F-9576-35C90DA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path job card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e119c68b54c21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2BDF7267-3344-4AA7-A8B9-359BC13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drainage job card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0CD7CBAE-198C-47F5-B990-6D603AB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99C8B934-CCCF-4E64-A83A-6E2E2C7C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856792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F99E1C1-8B3B-403C-A899-915C561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01F6C87-5B29-49C9-9EBA-2DD177A5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BDFDAFF-24EA-4462-92F3-7A1C11C3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7D255B-C22C-48A3-9FB2-37FBDA03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0BB291B-9DC4-44FE-A498-76B2456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DD99F7B-926B-4A30-99E6-EA62ED64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property — what the material is like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9585556-BED1-42E9-95CF-1BAA597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purpose — the job it must do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E02517D-9D1E-47F6-9CA6-045E6B1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suitable — works for this job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67DC98F-6EEB-424C-9F1A-64BDFCF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4F970B3-DD11-46E1-8F76-F8FF0F37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7510936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ABF2748-522E-4BBE-BBFB-495F53F7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13B3E9C-D97B-4C83-B9C1-656E55A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14E4189-C896-4DE2-B741-683EF9D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306777-17A5-4ED8-9B71-6892B30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3D83F09-653C-4F03-89BD-17501CED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B254B8D-6ED4-44B3-A304-BEB9819C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brief before the samples. A rain-facing cover, hard-wearing path, indoor display and drainage layer do different jobs.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2091F62-C827-4A53-8EC6-4D3CAD08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each job into a property question: How much water passes? How well does the surface resist scratching? Can pieces form the needed shape? Does appearance matter here?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B52AA9C-977B-4E55-94CD-64FF2DE8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Match only relevant evidence. Colour does not answer water passage, and a permeability result does not prove resistance to wear.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CCF1317-2FC3-495B-BC6F-F6DEE67F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3333DC2-A64B-4A68-B471-9D632BBE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901589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B98F24F-C76D-42BB-9163-61A1499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733E693-0727-4753-B376-52974B4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CA6731C-29D7-4F5E-9711-3177AF86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E44869-2AFA-46E3-92B7-A4C4E90D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property question is most relevant to a rain-facing roof-cover model?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2288A9-B8AD-4DA4-9319-A666E31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A5A387F-51D4-4A25-A5FC-CD7FEC5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Which sample is the darkest?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6001AE3-6812-489E-8A18-BD35D011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Which prepared sample lets less water through and can form overlapping flat pieces?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A1CC1C0-4532-4924-AD88-CB86F4E2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Which sample has the longest name?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F521F07-72F4-457A-A304-349D740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D39A96-0746-4745-962B-F20A2E80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174F7C5-2511-4779-9E64-214C0296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496434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0A687A5-94B3-43C6-8C1C-AC9C7B0B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E70229B-DD35-4C0F-8272-3827B6D9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BD07930-F1A8-4D0A-A4CE-CDD3DC16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824F3E-0F77-45F1-A7E8-2581903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308CDAA-E957-444A-81A0-04C052B6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68658CF-970F-45F2-B3FB-E0C6A161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job can need more than one property. A path may need resistance to surface wear and a suitable walking surface; a display may value pattern while still needing stability.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573BF22-5039-4653-8739-3649EEC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The direction of useful can change. Low water passage may help a rain barrier, while spaces between suitable pieces can help a drainage layer move water away.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F7925F4-C17A-419A-8165-B80B569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If the key property has not been observed or tested, mark needs another check. A confident guess is not a material decision.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491BD47-0FF8-4DC6-9072-B49EC830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2A39AFB-91DF-48D0-B82D-FF65F810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641106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18C2566-1A0E-4DCB-8250-6AD3A269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FF93436-8077-4ED0-B4A3-CDCA0BD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FC6C4E6-8933-48BA-9761-A65A61C6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2F6E91-58AE-4016-BBC0-52B777E9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FFC9F2B-62D4-46C2-8AD1-ED6A9C0F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9046CC9-1450-45DF-93FD-1D8B1FAC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Rock-job glitch: the least permeable or hardest sample is best for every purpose.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79E1373-450F-496F-9C57-6321C617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winning property settles every job.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4361ABF-F699-453D-BB9C-3E9F7FF6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start with the purpose and choose the property evidence that answers that job.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9489FFE-A1EE-4F20-B4BE-23A6C89A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replace tests with colour preference.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D1C0FC83-835D-4448-85B3-9755DC17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CA65753-D241-4AA2-B3D8-9882032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268341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EC6664B-BF4C-4A97-B1A7-2725EDB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DA44407-09DE-4734-93D1-F730DBF4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FC7954F-9545-44BD-A39D-98B812D5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F438DD-6599-45DA-A866-9AB76E26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Job-to-property question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EC51200-9785-4C6B-AB0D-5C54C495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26D0EB7-43D2-41D5-9795-7AF100D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Route each brief clue to WATER CONTROL, WEAR / SURFACE, SHAPE / APPEARANCE or NEEDS ANOTHER CHECK.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4CA6007-9C5C-4040-8093-8355E463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the job clue.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DCA3619-90EE-4D3D-9859-222E0F86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Ask what must happen or be prevented.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4540447-5FA7-466A-B2C4-561AE94B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the relevant property question.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459A162-8AD7-4BD4-BB51-FDB98C03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two links and explain why they fit.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DAD022C-A030-4228-97EB-C139636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6B2CC56-8FFB-4A1A-9A35-77C31F3A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1AF9A9F1-F147-433B-9F4D-6AE4FE5C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8543553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98F596F5-A146-428E-9A51-0A0D19C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5E8AC7B-BE27-42D5-8A01-D2CB401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19C9994-5D9B-43A7-87AA-C74F6B4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62161E-F750-41F9-99E4-C6B9021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4F53FF2-5D10-4CC9-941F-59E03E41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E6F6AEC-7BB3-415C-994E-9E9D29DA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WATER CONTROL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A327343-C809-4FBB-8154-B7FF7496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WEAR / SURFACE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672B0B2-890A-4D0F-8DCB-60CB3477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SHAPE / APPEARANCE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D95E481-E039-4BAE-B51C-2EF567D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NEEDS ANOTHER CHECK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CA416FA-8EDC-40FC-A643-07379BDB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Say: The job needs __. The property question is __ because __. We still need to check __.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7A95409B-B1CC-4A6B-9DE4-36986F7A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9C4E8C16-F54C-4259-AE5D-339F3EF4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593029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D977EBD-5FD5-4763-902E-6C694663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D3A2F47-B8CF-483C-BFAA-7CE0111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49949F-F20C-40AB-9087-675949C2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D738CC-57E7-4663-8C3D-7B60FC32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DC1F1D2-6633-43AD-9EAF-22904DF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B855511-7B1F-474A-BF5D-A95EB43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Create property-question cards for four everyday rock jobs before any candidate sample is chosen.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5B4F424-31C4-4D6E-82E7-B2C8A49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Four job-property questions, two because explanations, one needs-another-check decision and one model limit.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9C9FEF4-8900-4146-AB3B-2E6C03FF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2C3B0EF-7BE7-4B2D-A4EC-3E8C19B8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6146542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6ECF1B7B-5508-4862-A784-A52ADBEA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0108996-95C5-4513-A270-CBE3199D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C487D4F-2685-46AC-8FF6-FA145C8E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57215F-B34D-44ED-87E6-49E6A0D5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518772-62BA-4299-9D96-83D40223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38EFEE8-2417-4A74-9AF3-4BEECB5B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Match one key property picture to three clear jobs and complete one because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92D33C5-EE9F-4262-9891-3DE8E56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Complete all four briefs, naming the relevant property evidence and one missing check for each.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9C1452C-EF41-493F-B354-784CC1EC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Explain a two-property trade-off and why opposite permeability behaviour can suit different water jobs.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D501003-6E2F-4395-B7F8-9A05CD9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B9995CB-18C5-4597-9C0B-D9FA81FF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5923824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98E408-4D53-4C48-A665-A2F2EE6E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B6DCF2C-F665-4878-ADF9-A5B604AB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FC72116-B58D-4431-B07D-AFD632F4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F53A8A-5512-419D-BF53-D22CAA6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2F2E568-A71B-47AD-BE21-95C987A4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633B5D2-3325-4957-8663-A17B3E7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which property matters for one job and why another property does not answer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A8407D3-0FE2-4FB5-A380-C0C9939B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04BC4841-1320-4503-947A-CA91FFB4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6D72E89-121A-4753-89BD-6F337343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547505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2026-09-08T09:10:05.3760000Z</dcterms:created>
  <dcterms:modified xsi:type="dcterms:W3CDTF">2026-09-08T09:10:05.3760000Z</dcterms:modified>
</coreProperties>
</file>