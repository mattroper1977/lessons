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8c44e6acc4414d" /><Relationship Type="http://schemas.openxmlformats.org/officeDocument/2006/relationships/extended-properties" Target="/docProps/app.xml" Id="Rb9acb1dbf3b74ea7" /><Relationship Type="http://schemas.openxmlformats.org/officeDocument/2006/relationships/officeDocument" Target="/ppt/presentation.xml" Id="Rf139b377bf4443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6eb04f2c56436b"/>
  </p:sldMasterIdLst>
  <p:notesMasterIdLst>
    <p:notesMasterId xmlns:r="http://schemas.openxmlformats.org/officeDocument/2006/relationships" r:id="Rfb566515fd104e94"/>
  </p:notesMasterIdLst>
  <p:sldIdLst>
    <p:sldId xmlns:r="http://schemas.openxmlformats.org/officeDocument/2006/relationships" id="256" r:id="R562dfd55ef5e4cfd"/>
    <p:sldId xmlns:r="http://schemas.openxmlformats.org/officeDocument/2006/relationships" id="257" r:id="R092b8f0c933e45ed"/>
    <p:sldId xmlns:r="http://schemas.openxmlformats.org/officeDocument/2006/relationships" id="258" r:id="Rd2a9edcb12e2498c"/>
    <p:sldId xmlns:r="http://schemas.openxmlformats.org/officeDocument/2006/relationships" id="259" r:id="R8266bf3bc6704ca4"/>
    <p:sldId xmlns:r="http://schemas.openxmlformats.org/officeDocument/2006/relationships" id="260" r:id="Rdd7a429253864283"/>
    <p:sldId xmlns:r="http://schemas.openxmlformats.org/officeDocument/2006/relationships" id="261" r:id="R29e5d5dd27a74fd2"/>
    <p:sldId xmlns:r="http://schemas.openxmlformats.org/officeDocument/2006/relationships" id="262" r:id="Rd0cb0c2674304513"/>
    <p:sldId xmlns:r="http://schemas.openxmlformats.org/officeDocument/2006/relationships" id="263" r:id="R26cae56a50e84f51"/>
    <p:sldId xmlns:r="http://schemas.openxmlformats.org/officeDocument/2006/relationships" id="264" r:id="R2451f4682bb94ac9"/>
    <p:sldId xmlns:r="http://schemas.openxmlformats.org/officeDocument/2006/relationships" id="265" r:id="R8ef331ece0694fd6"/>
    <p:sldId xmlns:r="http://schemas.openxmlformats.org/officeDocument/2006/relationships" id="266" r:id="R02b7b86596ed4466"/>
    <p:sldId xmlns:r="http://schemas.openxmlformats.org/officeDocument/2006/relationships" id="267" r:id="R67f4f6283f014791"/>
    <p:sldId xmlns:r="http://schemas.openxmlformats.org/officeDocument/2006/relationships" id="268" r:id="R70cfeb1920264ade"/>
    <p:sldId xmlns:r="http://schemas.openxmlformats.org/officeDocument/2006/relationships" id="269" r:id="Rd97550583edc4171"/>
    <p:sldId xmlns:r="http://schemas.openxmlformats.org/officeDocument/2006/relationships" id="270" r:id="Re6bb74dce2924a3a"/>
    <p:sldId xmlns:r="http://schemas.openxmlformats.org/officeDocument/2006/relationships" id="271" r:id="R7f91b57828d84d4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e6d28f7cbd4ff5" /><Relationship Type="http://schemas.openxmlformats.org/officeDocument/2006/relationships/slideMaster" Target="/ppt/slideMasters/slideMaster1.xml" Id="Rfc6eb04f2c56436b" /><Relationship Type="http://schemas.openxmlformats.org/officeDocument/2006/relationships/notesMaster" Target="/ppt/notesMasters/notesMaster1.xml" Id="Rfb566515fd104e94" /><Relationship Type="http://schemas.openxmlformats.org/officeDocument/2006/relationships/presProps" Target="/ppt/presProps.xml" Id="R1b696c44cfe7474b" /><Relationship Type="http://schemas.openxmlformats.org/officeDocument/2006/relationships/tableStyles" Target="/ppt/tableStyles.xml" Id="R4d24710e20394d15" /><Relationship Type="http://schemas.openxmlformats.org/officeDocument/2006/relationships/slide" Target="/ppt/slides/slide1.xml" Id="R562dfd55ef5e4cfd" /><Relationship Type="http://schemas.openxmlformats.org/officeDocument/2006/relationships/slide" Target="/ppt/slides/slide2.xml" Id="R092b8f0c933e45ed" /><Relationship Type="http://schemas.openxmlformats.org/officeDocument/2006/relationships/slide" Target="/ppt/slides/slide3.xml" Id="Rd2a9edcb12e2498c" /><Relationship Type="http://schemas.openxmlformats.org/officeDocument/2006/relationships/slide" Target="/ppt/slides/slide4.xml" Id="R8266bf3bc6704ca4" /><Relationship Type="http://schemas.openxmlformats.org/officeDocument/2006/relationships/slide" Target="/ppt/slides/slide5.xml" Id="Rdd7a429253864283" /><Relationship Type="http://schemas.openxmlformats.org/officeDocument/2006/relationships/slide" Target="/ppt/slides/slide6.xml" Id="R29e5d5dd27a74fd2" /><Relationship Type="http://schemas.openxmlformats.org/officeDocument/2006/relationships/slide" Target="/ppt/slides/slide7.xml" Id="Rd0cb0c2674304513" /><Relationship Type="http://schemas.openxmlformats.org/officeDocument/2006/relationships/slide" Target="/ppt/slides/slide8.xml" Id="R26cae56a50e84f51" /><Relationship Type="http://schemas.openxmlformats.org/officeDocument/2006/relationships/slide" Target="/ppt/slides/slide9.xml" Id="R2451f4682bb94ac9" /><Relationship Type="http://schemas.openxmlformats.org/officeDocument/2006/relationships/slide" Target="/ppt/slides/slide10.xml" Id="R8ef331ece0694fd6" /><Relationship Type="http://schemas.openxmlformats.org/officeDocument/2006/relationships/slide" Target="/ppt/slides/slide11.xml" Id="R02b7b86596ed4466" /><Relationship Type="http://schemas.openxmlformats.org/officeDocument/2006/relationships/slide" Target="/ppt/slides/slide12.xml" Id="R67f4f6283f014791" /><Relationship Type="http://schemas.openxmlformats.org/officeDocument/2006/relationships/slide" Target="/ppt/slides/slide13.xml" Id="R70cfeb1920264ade" /><Relationship Type="http://schemas.openxmlformats.org/officeDocument/2006/relationships/slide" Target="/ppt/slides/slide14.xml" Id="Rd97550583edc4171" /><Relationship Type="http://schemas.openxmlformats.org/officeDocument/2006/relationships/slide" Target="/ppt/slides/slide15.xml" Id="Re6bb74dce2924a3a" /><Relationship Type="http://schemas.openxmlformats.org/officeDocument/2006/relationships/slide" Target="/ppt/slides/slide16.xml" Id="R7f91b57828d84d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5f4216d81242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a866034cc94e3f" /><Relationship Type="http://schemas.openxmlformats.org/officeDocument/2006/relationships/notesMaster" Target="/ppt/notesMasters/notesMaster1.xml" Id="R97529ac4fed143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af1c56b6004309" /><Relationship Type="http://schemas.openxmlformats.org/officeDocument/2006/relationships/notesMaster" Target="/ppt/notesMasters/notesMaster1.xml" Id="R7ad5d5019e8a42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b594ff314e4abe" /><Relationship Type="http://schemas.openxmlformats.org/officeDocument/2006/relationships/notesMaster" Target="/ppt/notesMasters/notesMaster1.xml" Id="R81316b86de5747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ec97768acaf46af" /><Relationship Type="http://schemas.openxmlformats.org/officeDocument/2006/relationships/notesMaster" Target="/ppt/notesMasters/notesMaster1.xml" Id="Rd8cc4ba4e74d412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e2a29da0d845eb" /><Relationship Type="http://schemas.openxmlformats.org/officeDocument/2006/relationships/notesMaster" Target="/ppt/notesMasters/notesMaster1.xml" Id="R8f73d55eea9f4f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18362258e3b48bc" /><Relationship Type="http://schemas.openxmlformats.org/officeDocument/2006/relationships/notesMaster" Target="/ppt/notesMasters/notesMaster1.xml" Id="R25dcea52d7014df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1ac5c94d9043a9" /><Relationship Type="http://schemas.openxmlformats.org/officeDocument/2006/relationships/notesMaster" Target="/ppt/notesMasters/notesMaster1.xml" Id="R6a0ac9f0e6ca406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f86ba83bd344ddf" /><Relationship Type="http://schemas.openxmlformats.org/officeDocument/2006/relationships/notesMaster" Target="/ppt/notesMasters/notesMaster1.xml" Id="R1f80f2f100fa4f2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a151dfcb7eb4f92" /><Relationship Type="http://schemas.openxmlformats.org/officeDocument/2006/relationships/notesMaster" Target="/ppt/notesMasters/notesMaster1.xml" Id="Rba045246ba3d467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49172a0379c467e" /><Relationship Type="http://schemas.openxmlformats.org/officeDocument/2006/relationships/notesMaster" Target="/ppt/notesMasters/notesMaster1.xml" Id="R2ec54415479541b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299b629a0124b20" /><Relationship Type="http://schemas.openxmlformats.org/officeDocument/2006/relationships/notesMaster" Target="/ppt/notesMasters/notesMaster1.xml" Id="R2e15d73c92eb4c5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82ec9c10de34761" /><Relationship Type="http://schemas.openxmlformats.org/officeDocument/2006/relationships/notesMaster" Target="/ppt/notesMasters/notesMaster1.xml" Id="Rf9a2e8c00737446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8cea4d7269343f4" /><Relationship Type="http://schemas.openxmlformats.org/officeDocument/2006/relationships/notesMaster" Target="/ppt/notesMasters/notesMaster1.xml" Id="Rae8e6bd452c9412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ae00d2a0acb4988" /><Relationship Type="http://schemas.openxmlformats.org/officeDocument/2006/relationships/notesMaster" Target="/ppt/notesMasters/notesMaster1.xml" Id="R44c9aaff571f43e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2c493c7e7e24ddb" /><Relationship Type="http://schemas.openxmlformats.org/officeDocument/2006/relationships/notesMaster" Target="/ppt/notesMasters/notesMaster1.xml" Id="R1ef2c5aa85f14d2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e3fdfdca8624d22" /><Relationship Type="http://schemas.openxmlformats.org/officeDocument/2006/relationships/notesMaster" Target="/ppt/notesMasters/notesMaster1.xml" Id="R2ff65e8383684a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SCI_B_W13B_Method_Pilot_Test_The_Test_Do.html.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setup, safety and sensory notes before pupils 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predictable Space and keep the learning goal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 successful pilot only shows that the procedure can be followed and recorded under practice conditions. It does not prove the final samples will produce a pattern or answer the investigation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BUILD · Science · Week 13B · Do</a:t>
            </a:r>
          </a:p>
          <a:p xmlns:a="http://schemas.openxmlformats.org/drawingml/2006/main">
            <a:r>
              <a:t>Learning objective: I can carry out or direct a small method pilot, identify a procedural problem and revise the plan ready for W14.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Follow the pilot checklist using one practice route, not final A/B comparison samples.</a:t>
            </a:r>
          </a:p>
          <a:p xmlns:a="http://schemas.openxmlformats.org/drawingml/2006/main">
            <a:r>
              <a:t>Record a method observation or fault without turning the pilot value into a rock conclusion.</a:t>
            </a:r>
          </a:p>
          <a:p xmlns:a="http://schemas.openxmlformats.org/drawingml/2006/main">
            <a:r>
              <a:t>Make one precise revision and issue an honest ready, repair or digital-route decision for W14.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SCI_B_W13B_Method_Pilot_Test_The_Test_Do.html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SCI_B_W13B_Method_Pilot_Test_The_Test_Do.html.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setup, safety and sensory notes before pupils 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predictable Space and keep the learning goal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 successful pilot only shows that the procedure can be followed and recorded under practice conditions. It does not prove the final samples will produce a pattern or answer the investigation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BUILD · Science · Week 13B · Do</a:t>
            </a:r>
          </a:p>
          <a:p xmlns:a="http://schemas.openxmlformats.org/drawingml/2006/main">
            <a:r>
              <a:t>Learning objective: I can carry out or direct a small method pilot, identify a procedural problem and revise the plan ready for W14.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Follow the pilot checklist using one practice route, not final A/B comparison samples.</a:t>
            </a:r>
          </a:p>
          <a:p xmlns:a="http://schemas.openxmlformats.org/drawingml/2006/main">
            <a:r>
              <a:t>Record a method observation or fault without turning the pilot value into a rock conclusion.</a:t>
            </a:r>
          </a:p>
          <a:p xmlns:a="http://schemas.openxmlformats.org/drawingml/2006/main">
            <a:r>
              <a:t>Make one precise revision and issue an honest ready, repair or digital-route decision for W14.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SCI_B_W13B_Method_Pilot_Test_The_Test_Do.html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SCI_B_W13B_Method_Pilot_Test_The_Test_Do.html. Arrival: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Wait, regulate and retrieve through the lightest workable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recall is inaccessible, point to one retrieval sentence; do not teach today’s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 successful pilot only shows that the procedure can be followed and recorded under practice conditions. It does not prove the final samples will produce a pattern or answer the investigation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 only what has already been taught</a:t>
            </a:r>
          </a:p>
          <a:p xmlns:a="http://schemas.openxmlformats.org/drawingml/2006/main">
            <a:r>
              <a:t>In Explore, the W14 plan changed only final sample code, measured collected water and kept volume, time, area, thickness and apparatus controlled.</a:t>
            </a:r>
          </a:p>
          <a:p xmlns:a="http://schemas.openxmlformats.org/drawingml/2006/main">
            <a:r>
              <a:t>Prior week: point to or describe one useful model.</a:t>
            </a:r>
          </a:p>
          <a:p xmlns:a="http://schemas.openxmlformats.org/drawingml/2006/main">
            <a:r>
              <a:t>Older learning: what makes an observation useful as evidence?</a:t>
            </a:r>
          </a:p>
          <a:p xmlns:a="http://schemas.openxmlformats.org/drawingml/2006/main">
            <a:r>
              <a:t>Lead-in: what do you notice in today’s first picture?</a:t>
            </a:r>
          </a:p>
          <a:p xmlns:a="http://schemas.openxmlformats.org/drawingml/2006/main">
            <a:r>
              <a:t>New to this class, absent, or not sure? Everything needed is in the retrieval box above. Read it, point to it or ask a familiar adult to read it exactly.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Last lesson: what is the difference between pilot and final investigation?</a:t>
            </a:r>
          </a:p>
          <a:p xmlns:a="http://schemas.openxmlformats.org/drawingml/2006/main">
            <a:r>
              <a:t>Last lesson: name one control the pilot should check.</a:t>
            </a:r>
          </a:p>
          <a:p xmlns:a="http://schemas.openxmlformats.org/drawingml/2006/main">
            <a:r>
              <a:t>Last week: why must final A/B result cells stay blank today?</a:t>
            </a:r>
          </a:p>
          <a:p xmlns:a="http://schemas.openxmlformats.org/drawingml/2006/main">
            <a:r>
              <a:t>Lead-in: what makes a method revision precise enough for another person to follow?</a:t>
            </a:r>
          </a:p>
          <a:p xmlns:a="http://schemas.openxmlformats.org/drawingml/2006/main">
            <a:r>
              <a:t>Read-aloud route: a familiar adult may read the task exactly while the text remains visible. No device voice or media permission is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SCI_B_W13B_Method_Pilot_Test_The_Test_Do.html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SCI_B_W13B_Method_Pilot_Test_The_Test_Do.html.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 successful pilot only shows that the procedure can be followed and recorded under practice conditions. It does not prove the final samples will produce a pattern or answer the investigation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PILOT · one practice run</a:t>
            </a:r>
          </a:p>
          <a:p xmlns:a="http://schemas.openxmlformats.org/drawingml/2006/main">
            <a:r>
              <a:t>Test the METHOD, not the rock. The number from a pilot is not a result.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FIND the fault</a:t>
            </a:r>
          </a:p>
          <a:p xmlns:a="http://schemas.openxmlformats.org/drawingml/2006/main">
            <a:r>
              <a:t>Water ran down the edge. The seal failed. That is a method fault.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REPAIR, then decide</a:t>
            </a:r>
          </a:p>
          <a:p xmlns:a="http://schemas.openxmlformats.org/drawingml/2006/main">
            <a:r>
              <a:t>Fix the method, not the number. Then say: ready, repair, or digital route.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Use the tray water to decide the practice rock is highly permeable.</a:t>
            </a:r>
          </a:p>
          <a:p xmlns:a="http://schemas.openxmlformats.org/drawingml/2006/main">
            <a:r>
              <a:t>Record the edge leak as a method fault, revise the seal check and pilot the repaired method again or use the fixed route.</a:t>
            </a:r>
          </a:p>
          <a:p xmlns:a="http://schemas.openxmlformats.org/drawingml/2006/main">
            <a:r>
              <a:t>Hide the leak and copy the expected value so the method looks ready.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SCI_B_W13B_Method_Pilot_Test_The_Test_Do.html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SCI_B_W13B_Method_Pilot_Test_The_Test_Do.html.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 successful pilot only shows that the procedure can be followed and recorded under practice conditions. It does not prove the final samples will produce a pattern or answer the investigation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PILOT · one practice run</a:t>
            </a:r>
          </a:p>
          <a:p xmlns:a="http://schemas.openxmlformats.org/drawingml/2006/main">
            <a:r>
              <a:t>Test the METHOD, not the rock. The number from a pilot is not a result.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FIND the fault</a:t>
            </a:r>
          </a:p>
          <a:p xmlns:a="http://schemas.openxmlformats.org/drawingml/2006/main">
            <a:r>
              <a:t>Water ran down the edge. The seal failed. That is a method fault.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REPAIR, then decide</a:t>
            </a:r>
          </a:p>
          <a:p xmlns:a="http://schemas.openxmlformats.org/drawingml/2006/main">
            <a:r>
              <a:t>Fix the method, not the number. Then say: ready, repair, or digital route.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Use the tray water to decide the practice rock is highly permeable.</a:t>
            </a:r>
          </a:p>
          <a:p xmlns:a="http://schemas.openxmlformats.org/drawingml/2006/main">
            <a:r>
              <a:t>Record the edge leak as a method fault, revise the seal check and pilot the repaired method again or use the fixed route.</a:t>
            </a:r>
          </a:p>
          <a:p xmlns:a="http://schemas.openxmlformats.org/drawingml/2006/main">
            <a:r>
              <a:t>Hide the leak and copy the expected value so the method looks ready.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SCI_B_W13B_Method_Pilot_Test_The_Test_Do.html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SCI_B_W13B_Method_Pilot_Test_The_Test_Do.html.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 successful pilot only shows that the procedure can be followed and recorded under practice conditions. It does not prove the final samples will produce a pattern or answer the investigation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PILOT · one practice run</a:t>
            </a:r>
          </a:p>
          <a:p xmlns:a="http://schemas.openxmlformats.org/drawingml/2006/main">
            <a:r>
              <a:t>Test the METHOD, not the rock. The number from a pilot is not a result.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FIND the fault</a:t>
            </a:r>
          </a:p>
          <a:p xmlns:a="http://schemas.openxmlformats.org/drawingml/2006/main">
            <a:r>
              <a:t>Water ran down the edge. The seal failed. That is a method fault.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REPAIR, then decide</a:t>
            </a:r>
          </a:p>
          <a:p xmlns:a="http://schemas.openxmlformats.org/drawingml/2006/main">
            <a:r>
              <a:t>Fix the method, not the number. Then say: ready, repair, or digital route.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Use the tray water to decide the practice rock is highly permeable.</a:t>
            </a:r>
          </a:p>
          <a:p xmlns:a="http://schemas.openxmlformats.org/drawingml/2006/main">
            <a:r>
              <a:t>Record the edge leak as a method fault, revise the seal check and pilot the repaired method again or use the fixed route.</a:t>
            </a:r>
          </a:p>
          <a:p xmlns:a="http://schemas.openxmlformats.org/drawingml/2006/main">
            <a:r>
              <a:t>Hide the leak and copy the expected value so the method looks ready.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SCI_B_W13B_Method_Pilot_Test_The_Test_Do.html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SCI_B_W13B_Method_Pilot_Test_The_Test_Do.html.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 successful pilot only shows that the procedure can be followed and recorded under practice conditions. It does not prove the final samples will produce a pattern or answer the investigation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PILOT small practice run a trial used to test and improve a method before the full investigation</a:t>
            </a:r>
          </a:p>
          <a:p xmlns:a="http://schemas.openxmlformats.org/drawingml/2006/main">
            <a:r>
              <a:t>FAULT a problem in the method something that prevents the procedure or record from working as intended</a:t>
            </a:r>
          </a:p>
          <a:p xmlns:a="http://schemas.openxmlformats.org/drawingml/2006/main">
            <a:r>
              <a:t>REVISE change the plan clearly to improve a method by making a specific evidence-based change</a:t>
            </a:r>
          </a:p>
          <a:p xmlns:a="http://schemas.openxmlformats.org/drawingml/2006/main">
            <a:r>
              <a:t>Two method cards side by side</a:t>
            </a:r>
          </a:p>
          <a:p xmlns:a="http://schemas.openxmlformats.org/drawingml/2006/main">
            <a:r>
              <a:t>1</a:t>
            </a:r>
          </a:p>
          <a:p xmlns:a="http://schemas.openxmlformats.org/drawingml/2006/main">
            <a:r>
              <a:t>V1 with a red leak flag</a:t>
            </a:r>
          </a:p>
          <a:p xmlns:a="http://schemas.openxmlformats.org/drawingml/2006/main">
            <a:r>
              <a:t>2</a:t>
            </a:r>
          </a:p>
          <a:p xmlns:a="http://schemas.openxmlformats.org/drawingml/2006/main">
            <a:r>
              <a:t>V2 with a seal-check step, clear mL heading and W14-ready gate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Use: The pilot showed __. This affects the method because __. We revised __ to __. For W14, the route is __.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A successful pilot only shows that the procedure can be followed and recorded under practice conditions. It does not prove the final samples will produce a pattern or answer the investigation question.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Keep final Samples A and B out of the pilot. Use one clearly labelled practice sample or the fixed pilot log so today cannot become the full comparison.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Follow the checklist: stable tray, seal check, 5 mL, timer ready, 120 seconds, collector in mL, stop rule and clear recording box.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Record procedure evidence such as seal held, timer clear or unit missing. The pilot value is not used to decide which final rock is more permeable.</a:t>
            </a:r>
          </a:p>
          <a:p xmlns:a="http://schemas.openxmlformats.org/drawingml/2006/main">
            <a:r>
              <a:t>Fault finder · what went wrong in the pilot?</a:t>
            </a:r>
          </a:p>
          <a:p xmlns:a="http://schemas.openxmlformats.org/drawingml/2006/main">
            <a:r>
              <a:t>Each card is something a team saw. Press it, then press what it means.</a:t>
            </a:r>
          </a:p>
          <a:p xmlns:a="http://schemas.openxmlformats.org/drawingml/2006/main">
            <a:r>
              <a:t>water ran down the outside edge</a:t>
            </a:r>
          </a:p>
          <a:p xmlns:a="http://schemas.openxmlformats.org/drawingml/2006/main">
            <a:r>
              <a:t>the timer was started after pouring finished</a:t>
            </a:r>
          </a:p>
          <a:p xmlns:a="http://schemas.openxmlformats.org/drawingml/2006/main">
            <a:r>
              <a:t>collector was not level, water pooled on one side</a:t>
            </a:r>
          </a:p>
          <a:p xmlns:a="http://schemas.openxmlformats.org/drawingml/2006/main">
            <a:r>
              <a:t>the top of the sample looked wet</a:t>
            </a:r>
          </a:p>
          <a:p xmlns:a="http://schemas.openxmlformats.org/drawingml/2006/main">
            <a:r>
              <a:t>5 mL poured for Team A, 10 mL for Team B</a:t>
            </a:r>
          </a:p>
          <a:p xmlns:a="http://schemas.openxmlformats.org/drawingml/2006/main">
            <a:r>
              <a:t>collector read 0 mL after 120 s</a:t>
            </a:r>
          </a:p>
          <a:p xmlns:a="http://schemas.openxmlformats.org/drawingml/2006/main">
            <a:r>
              <a:t>method fault — repair it</a:t>
            </a:r>
          </a:p>
          <a:p xmlns:a="http://schemas.openxmlformats.org/drawingml/2006/main">
            <a:r>
              <a:t>not a fault — record it</a:t>
            </a:r>
          </a:p>
          <a:p xmlns:a="http://schemas.openxmlformats.org/drawingml/2006/main">
            <a:r>
              <a:t>Press a card.</a:t>
            </a:r>
          </a:p>
          <a:p xmlns:a="http://schemas.openxmlformats.org/drawingml/2006/main">
            <a:r>
              <a:t>READY</a:t>
            </a:r>
          </a:p>
          <a:p xmlns:a="http://schemas.openxmlformats.org/drawingml/2006/main">
            <a:r>
              <a:t>REPAIR</a:t>
            </a:r>
          </a:p>
          <a:p xmlns:a="http://schemas.openxmlformats.org/drawingml/2006/main">
            <a:r>
              <a:t>DIGITAL ROUTE</a:t>
            </a:r>
          </a:p>
          <a:p xmlns:a="http://schemas.openxmlformats.org/drawingml/2006/main">
            <a:r>
              <a:t>Decision for next lesson: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SCI_B_W13B_Method_Pilot_Test_The_Test_Do.html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SCI_B_W13B_Method_Pilot_Test_The_Test_Do.html.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 successful pilot only shows that the procedure can be followed and recorded under practice conditions. It does not prove the final samples will produce a pattern or answer the investigation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PILOT small practice run a trial used to test and improve a method before the full investigation</a:t>
            </a:r>
          </a:p>
          <a:p xmlns:a="http://schemas.openxmlformats.org/drawingml/2006/main">
            <a:r>
              <a:t>FAULT a problem in the method something that prevents the procedure or record from working as intended</a:t>
            </a:r>
          </a:p>
          <a:p xmlns:a="http://schemas.openxmlformats.org/drawingml/2006/main">
            <a:r>
              <a:t>REVISE change the plan clearly to improve a method by making a specific evidence-based change</a:t>
            </a:r>
          </a:p>
          <a:p xmlns:a="http://schemas.openxmlformats.org/drawingml/2006/main">
            <a:r>
              <a:t>Two method cards side by side</a:t>
            </a:r>
          </a:p>
          <a:p xmlns:a="http://schemas.openxmlformats.org/drawingml/2006/main">
            <a:r>
              <a:t>1</a:t>
            </a:r>
          </a:p>
          <a:p xmlns:a="http://schemas.openxmlformats.org/drawingml/2006/main">
            <a:r>
              <a:t>V1 with a red leak flag</a:t>
            </a:r>
          </a:p>
          <a:p xmlns:a="http://schemas.openxmlformats.org/drawingml/2006/main">
            <a:r>
              <a:t>2</a:t>
            </a:r>
          </a:p>
          <a:p xmlns:a="http://schemas.openxmlformats.org/drawingml/2006/main">
            <a:r>
              <a:t>V2 with a seal-check step, clear mL heading and W14-ready gate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Use: The pilot showed __. This affects the method because __. We revised __ to __. For W14, the route is __.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A successful pilot only shows that the procedure can be followed and recorded under practice conditions. It does not prove the final samples will produce a pattern or answer the investigation question.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Keep final Samples A and B out of the pilot. Use one clearly labelled practice sample or the fixed pilot log so today cannot become the full comparison.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Follow the checklist: stable tray, seal check, 5 mL, timer ready, 120 seconds, collector in mL, stop rule and clear recording box.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Record procedure evidence such as seal held, timer clear or unit missing. The pilot value is not used to decide which final rock is more permeable.</a:t>
            </a:r>
          </a:p>
          <a:p xmlns:a="http://schemas.openxmlformats.org/drawingml/2006/main">
            <a:r>
              <a:t>Fault finder · what went wrong in the pilot?</a:t>
            </a:r>
          </a:p>
          <a:p xmlns:a="http://schemas.openxmlformats.org/drawingml/2006/main">
            <a:r>
              <a:t>Each card is something a team saw. Press it, then press what it means.</a:t>
            </a:r>
          </a:p>
          <a:p xmlns:a="http://schemas.openxmlformats.org/drawingml/2006/main">
            <a:r>
              <a:t>water ran down the outside edge</a:t>
            </a:r>
          </a:p>
          <a:p xmlns:a="http://schemas.openxmlformats.org/drawingml/2006/main">
            <a:r>
              <a:t>the timer was started after pouring finished</a:t>
            </a:r>
          </a:p>
          <a:p xmlns:a="http://schemas.openxmlformats.org/drawingml/2006/main">
            <a:r>
              <a:t>collector was not level, water pooled on one side</a:t>
            </a:r>
          </a:p>
          <a:p xmlns:a="http://schemas.openxmlformats.org/drawingml/2006/main">
            <a:r>
              <a:t>the top of the sample looked wet</a:t>
            </a:r>
          </a:p>
          <a:p xmlns:a="http://schemas.openxmlformats.org/drawingml/2006/main">
            <a:r>
              <a:t>5 mL poured for Team A, 10 mL for Team B</a:t>
            </a:r>
          </a:p>
          <a:p xmlns:a="http://schemas.openxmlformats.org/drawingml/2006/main">
            <a:r>
              <a:t>collector read 0 mL after 120 s</a:t>
            </a:r>
          </a:p>
          <a:p xmlns:a="http://schemas.openxmlformats.org/drawingml/2006/main">
            <a:r>
              <a:t>method fault — repair it</a:t>
            </a:r>
          </a:p>
          <a:p xmlns:a="http://schemas.openxmlformats.org/drawingml/2006/main">
            <a:r>
              <a:t>not a fault — record it</a:t>
            </a:r>
          </a:p>
          <a:p xmlns:a="http://schemas.openxmlformats.org/drawingml/2006/main">
            <a:r>
              <a:t>Press a card.</a:t>
            </a:r>
          </a:p>
          <a:p xmlns:a="http://schemas.openxmlformats.org/drawingml/2006/main">
            <a:r>
              <a:t>READY</a:t>
            </a:r>
          </a:p>
          <a:p xmlns:a="http://schemas.openxmlformats.org/drawingml/2006/main">
            <a:r>
              <a:t>REPAIR</a:t>
            </a:r>
          </a:p>
          <a:p xmlns:a="http://schemas.openxmlformats.org/drawingml/2006/main">
            <a:r>
              <a:t>DIGITAL ROUTE</a:t>
            </a:r>
          </a:p>
          <a:p xmlns:a="http://schemas.openxmlformats.org/drawingml/2006/main">
            <a:r>
              <a:t>Decision for next lesson: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SCI_B_W13B_Method_Pilot_Test_The_Test_Do.html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SCI_B_W13B_Method_Pilot_Test_The_Test_Do.html. We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Scan every response mode. Do not infer understanding from handwriting or confidence.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Secure: transfer. Mixed: contrast. Misconception: counterexample then a fresh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 successful pilot only shows that the procedure can be followed and recorded under practice conditions. It does not prove the final samples will produce a pattern or answer the investigation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Everyone commits before explanation.</a:t>
            </a:r>
          </a:p>
          <a:p xmlns:a="http://schemas.openxmlformats.org/drawingml/2006/main">
            <a:r>
              <a:t>Use a button, point, say/sign or let an adult operate the chosen button. A retry is information, not a penalty.</a:t>
            </a:r>
          </a:p>
          <a:p xmlns:a="http://schemas.openxmlformats.org/drawingml/2006/main">
            <a:r>
              <a:t>Audience move:</a:t>
            </a:r>
          </a:p>
          <a:p xmlns:a="http://schemas.openxmlformats.org/drawingml/2006/main">
            <a:r>
              <a:t>A leak occurs, so record ‘practice rock is permeable’ and start W14.</a:t>
            </a:r>
          </a:p>
          <a:p xmlns:a="http://schemas.openxmlformats.org/drawingml/2006/main">
            <a:r>
              <a:t>A leak occurs, so add ‘press and inspect the seal before adding 5 mL’; rerun the practice route and keep final A/B results blank.</a:t>
            </a:r>
          </a:p>
          <a:p xmlns:a="http://schemas.openxmlformats.org/drawingml/2006/main">
            <a:r>
              <a:t>A leak occurs, so change the sample, water volume and time together until a neat value appears.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SCI_B_W13B_Method_Pilot_Test_The_Test_Do.html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SCI_B_W13B_Method_Pilot_Test_The_Test_Do.html. I do 2: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complete evidence-to-explanation sentence, then pause.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science words; change density, modality or adult role before changing the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 successful pilot only shows that the procedure can be followed and recorded under practice conditions. It does not prove the final samples will produce a pattern or answer the investigation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Connection: the model is useful when its visible pattern is translated into a scientific explanation.</a:t>
            </a:r>
          </a:p>
          <a:p xmlns:a="http://schemas.openxmlformats.org/drawingml/2006/main">
            <a:r>
              <a:t>Connection 1</a:t>
            </a:r>
          </a:p>
          <a:p xmlns:a="http://schemas.openxmlformats.org/drawingml/2006/main">
            <a:r>
              <a:t>Compare method version 1 with version 2. Highlight the exact changed instruction, such as check the seal all the way around before adding water.</a:t>
            </a:r>
          </a:p>
          <a:p xmlns:a="http://schemas.openxmlformats.org/drawingml/2006/main">
            <a:r>
              <a:t>Connection 2</a:t>
            </a:r>
          </a:p>
          <a:p xmlns:a="http://schemas.openxmlformats.org/drawingml/2006/main">
            <a:r>
              <a:t>Run a readiness check: can another person identify the practice sample, volume, time, unit, collector, stop rule and blank final table without asking what you meant?</a:t>
            </a:r>
          </a:p>
          <a:p xmlns:a="http://schemas.openxmlformats.org/drawingml/2006/main">
            <a:r>
              <a:t>Connection 3</a:t>
            </a:r>
          </a:p>
          <a:p xmlns:a="http://schemas.openxmlformats.org/drawingml/2006/main">
            <a:r>
              <a:t>Issue one decision: READY FOR W14, REPAIR THEN REVIEW or USE FIXED DIGITAL/DATA ROUTE. None of these decisions includes a final permeability conclusion.</a:t>
            </a:r>
          </a:p>
          <a:p xmlns:a="http://schemas.openxmlformats.org/drawingml/2006/main">
            <a:r>
              <a:t>MODEL STRENGTH</a:t>
            </a:r>
          </a:p>
          <a:p xmlns:a="http://schemas.openxmlformats.org/drawingml/2006/main">
            <a:r>
              <a:t>Use: The pilot showed __. This affects the method because __. We revised __ to __. For W14, the route is __.</a:t>
            </a:r>
          </a:p>
          <a:p xmlns:a="http://schemas.openxmlformats.org/drawingml/2006/main">
            <a:r>
              <a:t>MODEL LIMIT</a:t>
            </a:r>
          </a:p>
          <a:p xmlns:a="http://schemas.openxmlformats.org/drawingml/2006/main">
            <a:r>
              <a:t>A successful pilot only shows that the procedure can be followed and recorded under practice conditions. It does not prove the final samples will produce a pattern or answer the investigation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SCI_B_W13B_Method_Pilot_Test_The_Test_Do.html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SCI_B_W13B_Method_Pilot_Test_The_Test_Do.html. I do 2: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complete evidence-to-explanation sentence, then pause.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science words; change density, modality or adult role before changing the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 successful pilot only shows that the procedure can be followed and recorded under practice conditions. It does not prove the final samples will produce a pattern or answer the investigation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Connection: the model is useful when its visible pattern is translated into a scientific explanation.</a:t>
            </a:r>
          </a:p>
          <a:p xmlns:a="http://schemas.openxmlformats.org/drawingml/2006/main">
            <a:r>
              <a:t>Connection 1</a:t>
            </a:r>
          </a:p>
          <a:p xmlns:a="http://schemas.openxmlformats.org/drawingml/2006/main">
            <a:r>
              <a:t>Compare method version 1 with version 2. Highlight the exact changed instruction, such as check the seal all the way around before adding water.</a:t>
            </a:r>
          </a:p>
          <a:p xmlns:a="http://schemas.openxmlformats.org/drawingml/2006/main">
            <a:r>
              <a:t>Connection 2</a:t>
            </a:r>
          </a:p>
          <a:p xmlns:a="http://schemas.openxmlformats.org/drawingml/2006/main">
            <a:r>
              <a:t>Run a readiness check: can another person identify the practice sample, volume, time, unit, collector, stop rule and blank final table without asking what you meant?</a:t>
            </a:r>
          </a:p>
          <a:p xmlns:a="http://schemas.openxmlformats.org/drawingml/2006/main">
            <a:r>
              <a:t>Connection 3</a:t>
            </a:r>
          </a:p>
          <a:p xmlns:a="http://schemas.openxmlformats.org/drawingml/2006/main">
            <a:r>
              <a:t>Issue one decision: READY FOR W14, REPAIR THEN REVIEW or USE FIXED DIGITAL/DATA ROUTE. None of these decisions includes a final permeability conclusion.</a:t>
            </a:r>
          </a:p>
          <a:p xmlns:a="http://schemas.openxmlformats.org/drawingml/2006/main">
            <a:r>
              <a:t>MODEL STRENGTH</a:t>
            </a:r>
          </a:p>
          <a:p xmlns:a="http://schemas.openxmlformats.org/drawingml/2006/main">
            <a:r>
              <a:t>Use: The pilot showed __. This affects the method because __. We revised __ to __. For W14, the route is __.</a:t>
            </a:r>
          </a:p>
          <a:p xmlns:a="http://schemas.openxmlformats.org/drawingml/2006/main">
            <a:r>
              <a:t>MODEL LIMIT</a:t>
            </a:r>
          </a:p>
          <a:p xmlns:a="http://schemas.openxmlformats.org/drawingml/2006/main">
            <a:r>
              <a:t>A successful pilot only shows that the procedure can be followed and recorded under practice conditions. It does not prove the final samples will produce a pattern or answer the investigation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SCI_B_W13B_Method_Pilot_Test_The_Test_Do.html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SCI_B_W13B_Method_Pilot_Test_The_Test_Do.html.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 successful pilot only shows that the procedure can be followed and recorded under practice conditions. It does not prove the final samples will produce a pattern or answer the investigation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Route each pilot note to KEEP, REPAIR or W14 READINESS. Do not route any card to a final rock conclusion.</a:t>
            </a:r>
          </a:p>
          <a:p xmlns:a="http://schemas.openxmlformats.org/drawingml/2006/main">
            <a:r>
              <a:t>Read the practice observation. Decide whether the method feature works or needs repair. Choose the precise revised instruction. Freeze a readiness chain and state what remains for W14.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Practice label The pilot piece is clearly marked PRACTICE P and stored separately from final Samples A and B.</a:t>
            </a:r>
          </a:p>
          <a:p xmlns:a="http://schemas.openxmlformats.org/drawingml/2006/main">
            <a:r>
              <a:t>Volume step The method states add exactly 5 mL using the marked needle-free tool.</a:t>
            </a:r>
          </a:p>
          <a:p xmlns:a="http://schemas.openxmlformats.org/drawingml/2006/main">
            <a:r>
              <a:t>Pilot fault P1 One millilitre runs around the collar edge into the tray before the timer ends.</a:t>
            </a:r>
          </a:p>
          <a:p xmlns:a="http://schemas.openxmlformats.org/drawingml/2006/main">
            <a:r>
              <a:t>Table fault The collector column is headed Amount but gives no unit.</a:t>
            </a:r>
          </a:p>
          <a:p xmlns:a="http://schemas.openxmlformats.org/drawingml/2006/main">
            <a:r>
              <a:t>Timing fault The instruction says wait a while and two pupils choose different end points.</a:t>
            </a:r>
          </a:p>
          <a:p xmlns:a="http://schemas.openxmlformats.org/drawingml/2006/main">
            <a:r>
              <a:t>Ready decision Practice P2 holds its seal, follows 5 mL and 120 seconds, records mL clearly and triggers no safety stop.</a:t>
            </a:r>
          </a:p>
          <a:p xmlns:a="http://schemas.openxmlformats.org/drawingml/2006/main">
            <a:r>
              <a:t>Repair then review The second practice still leaks or gives an unreadable collector value.</a:t>
            </a:r>
          </a:p>
          <a:p xmlns:a="http://schemas.openxmlformats.org/drawingml/2006/main">
            <a:r>
              <a:t>Fixed-route decision A stable, measurable physical setup is unavailable, so the approved W14 route uses the supplied repeated data and the same reasoning table.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KEEP IN METHOD V2</a:t>
            </a:r>
          </a:p>
          <a:p xmlns:a="http://schemas.openxmlformats.org/drawingml/2006/main">
            <a:r>
              <a:t>REPAIR THE METHOD</a:t>
            </a:r>
          </a:p>
          <a:p xmlns:a="http://schemas.openxmlformats.org/drawingml/2006/main">
            <a:r>
              <a:t>W14 READINESS DECISION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Pilot glitch: the first practice value proves which final rock will be most permeable.</a:t>
            </a:r>
          </a:p>
          <a:p xmlns:a="http://schemas.openxmlformats.org/drawingml/2006/main">
            <a:r>
              <a:t>Keep it: one practice reading answers the final A/B question.</a:t>
            </a:r>
          </a:p>
          <a:p xmlns:a="http://schemas.openxmlformats.org/drawingml/2006/main">
            <a:r>
              <a:t>Repair it: the pilot tests instructions and equipment; final matched A/B repeats in W14 address the science question.</a:t>
            </a:r>
          </a:p>
          <a:p xmlns:a="http://schemas.openxmlformats.org/drawingml/2006/main">
            <a:r>
              <a:t>Repair it: hide every fault so the method can be called ready.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SCI_B_W13B_Method_Pilot_Test_The_Test_Do.html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SCI_B_W13B_Method_Pilot_Test_The_Test_Do.html.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 successful pilot only shows that the procedure can be followed and recorded under practice conditions. It does not prove the final samples will produce a pattern or answer the investigation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Route each pilot note to KEEP, REPAIR or W14 READINESS. Do not route any card to a final rock conclusion.</a:t>
            </a:r>
          </a:p>
          <a:p xmlns:a="http://schemas.openxmlformats.org/drawingml/2006/main">
            <a:r>
              <a:t>Read the practice observation. Decide whether the method feature works or needs repair. Choose the precise revised instruction. Freeze a readiness chain and state what remains for W14.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Practice label The pilot piece is clearly marked PRACTICE P and stored separately from final Samples A and B.</a:t>
            </a:r>
          </a:p>
          <a:p xmlns:a="http://schemas.openxmlformats.org/drawingml/2006/main">
            <a:r>
              <a:t>Volume step The method states add exactly 5 mL using the marked needle-free tool.</a:t>
            </a:r>
          </a:p>
          <a:p xmlns:a="http://schemas.openxmlformats.org/drawingml/2006/main">
            <a:r>
              <a:t>Pilot fault P1 One millilitre runs around the collar edge into the tray before the timer ends.</a:t>
            </a:r>
          </a:p>
          <a:p xmlns:a="http://schemas.openxmlformats.org/drawingml/2006/main">
            <a:r>
              <a:t>Table fault The collector column is headed Amount but gives no unit.</a:t>
            </a:r>
          </a:p>
          <a:p xmlns:a="http://schemas.openxmlformats.org/drawingml/2006/main">
            <a:r>
              <a:t>Timing fault The instruction says wait a while and two pupils choose different end points.</a:t>
            </a:r>
          </a:p>
          <a:p xmlns:a="http://schemas.openxmlformats.org/drawingml/2006/main">
            <a:r>
              <a:t>Ready decision Practice P2 holds its seal, follows 5 mL and 120 seconds, records mL clearly and triggers no safety stop.</a:t>
            </a:r>
          </a:p>
          <a:p xmlns:a="http://schemas.openxmlformats.org/drawingml/2006/main">
            <a:r>
              <a:t>Repair then review The second practice still leaks or gives an unreadable collector value.</a:t>
            </a:r>
          </a:p>
          <a:p xmlns:a="http://schemas.openxmlformats.org/drawingml/2006/main">
            <a:r>
              <a:t>Fixed-route decision A stable, measurable physical setup is unavailable, so the approved W14 route uses the supplied repeated data and the same reasoning table.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KEEP IN METHOD V2</a:t>
            </a:r>
          </a:p>
          <a:p xmlns:a="http://schemas.openxmlformats.org/drawingml/2006/main">
            <a:r>
              <a:t>REPAIR THE METHOD</a:t>
            </a:r>
          </a:p>
          <a:p xmlns:a="http://schemas.openxmlformats.org/drawingml/2006/main">
            <a:r>
              <a:t>W14 READINESS DECISION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Pilot glitch: the first practice value proves which final rock will be most permeable.</a:t>
            </a:r>
          </a:p>
          <a:p xmlns:a="http://schemas.openxmlformats.org/drawingml/2006/main">
            <a:r>
              <a:t>Keep it: one practice reading answers the final A/B question.</a:t>
            </a:r>
          </a:p>
          <a:p xmlns:a="http://schemas.openxmlformats.org/drawingml/2006/main">
            <a:r>
              <a:t>Repair it: the pilot tests instructions and equipment; final matched A/B repeats in W14 address the science question.</a:t>
            </a:r>
          </a:p>
          <a:p xmlns:a="http://schemas.openxmlformats.org/drawingml/2006/main">
            <a:r>
              <a:t>Repair it: hide every fault so the method can be called ready.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SCI_B_W13B_Method_Pilot_Test_The_Test_Do.html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SCI_B_W13B_Method_Pilot_Test_The_Test_Do.html. Independent: 15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independence. Accept equivalent evidence routes and scribe exact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 only as much as needed; fade as soon as the pupil continues.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 successful pilot only shows that the procedure can be followed and recorded under practice conditions. It does not prove the final samples will produce a pattern or answer the investigation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 route</a:t>
            </a:r>
          </a:p>
          <a:p xmlns:a="http://schemas.openxmlformats.org/drawingml/2006/main">
            <a:r>
              <a:t>One clearly labelled staff-prepared practice rig or fixed pilot log; stable tray; 5 mL needle-free tool; 120-second timer; collector; wipes; method V1/V2 sheet; readiness card.</a:t>
            </a:r>
          </a:p>
          <a:p xmlns:a="http://schemas.openxmlformats.org/drawingml/2006/main">
            <a:r>
              <a:t>Same outcome: I can carry out or direct a small method pilot, identify a procedural problem and revise the plan ready for W14.</a:t>
            </a:r>
          </a:p>
          <a:p xmlns:a="http://schemas.openxmlformats.org/drawingml/2006/main">
            <a:r>
              <a:t>Offline digital / director route</a:t>
            </a:r>
          </a:p>
          <a:p xmlns:a="http://schemas.openxmlformats.org/drawingml/2006/main">
            <a:r>
              <a:t>Use fixed pilot P1/P2 records: P1 edge leak and missing unit; V2 adds seal check and mL heading; P2 seal holds. Make the same revision and readiness decision.</a:t>
            </a:r>
          </a:p>
          <a:p xmlns:a="http://schemas.openxmlformats.org/drawingml/2006/main">
            <a:r>
              <a:t>Same evidence: Pilot checklist, one procedure observation or fault, method V1 and visibly revised V2, safety/access decision, W14 readiness card and a statement of what the pilot cannot conclude.</a:t>
            </a:r>
          </a:p>
          <a:p xmlns:a="http://schemas.openxmlformats.org/drawingml/2006/main">
            <a:r>
              <a:t>Equipment / setup One clearly labelled staff-prepared practice rig or fixed pilot log; stable tray; 5 mL needle-free tool; 120-second timer; collector; wipes; method V1/V2 sheet; readiness card.</a:t>
            </a:r>
          </a:p>
          <a:p xmlns:a="http://schemas.openxmlformats.org/drawingml/2006/main">
            <a:r>
              <a:t>Safety / sensory Only staff build and approve a practice rig. No final A/B samples are used. No hammering, chipping, scratching, licking, tasting, smelling or dust blowing. Stop for leaks, instability, damage, flaking, dust or unclear measurement. The fixed pilot-log/director route is full participation.</a:t>
            </a:r>
          </a:p>
          <a:p xmlns:a="http://schemas.openxmlformats.org/drawingml/2006/main">
            <a:r>
              <a:t>Offline parity Use fixed pilot P1/P2 records: P1 edge leak and missing unit; V2 adds seal check and mL heading; P2 seal holds. Make the same revision and readiness decision.</a:t>
            </a:r>
          </a:p>
          <a:p xmlns:a="http://schemas.openxmlformats.org/drawingml/2006/main">
            <a:r>
              <a:t>No-equipment/access route: Use printed pilot cards and method V1/V2 strips. An adult moves or scribes exactly as directed; no water or rock handling is required.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Complete the pilot log, justify one precise revision and issue an evidence-based readiness decision.</a:t>
            </a:r>
          </a:p>
          <a:p xmlns:a="http://schemas.openxmlformats.org/drawingml/2006/main">
            <a:r>
              <a:t>Scaffold</a:t>
            </a:r>
          </a:p>
          <a:p xmlns:a="http://schemas.openxmlformats.org/drawingml/2006/main">
            <a:r>
              <a:t>Keep method observation, revision and readiness in separate boxes; leave final conclusion blank.</a:t>
            </a:r>
          </a:p>
          <a:p xmlns:a="http://schemas.openxmlformats.org/drawingml/2006/main">
            <a:r>
              <a:t>Evidence gate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SCI_B_W13B_Method_Pilot_Test_The_Test_Do.html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SCI_B_W13B_Method_Pilot_Test_The_Test_Do.html. Independent: 15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independence. Accept equivalent evidence routes and scribe exact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 only as much as needed; fade as soon as the pupil continues.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 successful pilot only shows that the procedure can be followed and recorded under practice conditions. It does not prove the final samples will produce a pattern or answer the investigation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 route</a:t>
            </a:r>
          </a:p>
          <a:p xmlns:a="http://schemas.openxmlformats.org/drawingml/2006/main">
            <a:r>
              <a:t>One clearly labelled staff-prepared practice rig or fixed pilot log; stable tray; 5 mL needle-free tool; 120-second timer; collector; wipes; method V1/V2 sheet; readiness card.</a:t>
            </a:r>
          </a:p>
          <a:p xmlns:a="http://schemas.openxmlformats.org/drawingml/2006/main">
            <a:r>
              <a:t>Same outcome: I can carry out or direct a small method pilot, identify a procedural problem and revise the plan ready for W14.</a:t>
            </a:r>
          </a:p>
          <a:p xmlns:a="http://schemas.openxmlformats.org/drawingml/2006/main">
            <a:r>
              <a:t>Offline digital / director route</a:t>
            </a:r>
          </a:p>
          <a:p xmlns:a="http://schemas.openxmlformats.org/drawingml/2006/main">
            <a:r>
              <a:t>Use fixed pilot P1/P2 records: P1 edge leak and missing unit; V2 adds seal check and mL heading; P2 seal holds. Make the same revision and readiness decision.</a:t>
            </a:r>
          </a:p>
          <a:p xmlns:a="http://schemas.openxmlformats.org/drawingml/2006/main">
            <a:r>
              <a:t>Same evidence: Pilot checklist, one procedure observation or fault, method V1 and visibly revised V2, safety/access decision, W14 readiness card and a statement of what the pilot cannot conclude.</a:t>
            </a:r>
          </a:p>
          <a:p xmlns:a="http://schemas.openxmlformats.org/drawingml/2006/main">
            <a:r>
              <a:t>Equipment / setup One clearly labelled staff-prepared practice rig or fixed pilot log; stable tray; 5 mL needle-free tool; 120-second timer; collector; wipes; method V1/V2 sheet; readiness card.</a:t>
            </a:r>
          </a:p>
          <a:p xmlns:a="http://schemas.openxmlformats.org/drawingml/2006/main">
            <a:r>
              <a:t>Safety / sensory Only staff build and approve a practice rig. No final A/B samples are used. No hammering, chipping, scratching, licking, tasting, smelling or dust blowing. Stop for leaks, instability, damage, flaking, dust or unclear measurement. The fixed pilot-log/director route is full participation.</a:t>
            </a:r>
          </a:p>
          <a:p xmlns:a="http://schemas.openxmlformats.org/drawingml/2006/main">
            <a:r>
              <a:t>Offline parity Use fixed pilot P1/P2 records: P1 edge leak and missing unit; V2 adds seal check and mL heading; P2 seal holds. Make the same revision and readiness decision.</a:t>
            </a:r>
          </a:p>
          <a:p xmlns:a="http://schemas.openxmlformats.org/drawingml/2006/main">
            <a:r>
              <a:t>No-equipment/access route: Use printed pilot cards and method V1/V2 strips. An adult moves or scribes exactly as directed; no water or rock handling is required.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Complete the pilot log, justify one precise revision and issue an evidence-based readiness decision.</a:t>
            </a:r>
          </a:p>
          <a:p xmlns:a="http://schemas.openxmlformats.org/drawingml/2006/main">
            <a:r>
              <a:t>Scaffold</a:t>
            </a:r>
          </a:p>
          <a:p xmlns:a="http://schemas.openxmlformats.org/drawingml/2006/main">
            <a:r>
              <a:t>Keep method observation, revision and readiness in separate boxes; leave final conclusion blank.</a:t>
            </a:r>
          </a:p>
          <a:p xmlns:a="http://schemas.openxmlformats.org/drawingml/2006/main">
            <a:r>
              <a:t>Evidence gate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SCI_B_W13B_Method_Pilot_Test_The_Test_Do.html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SCI_B_W13B_Method_Pilot_Test_The_Test_Do.html. Exit: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Genuinely receive one final response and name back the Science heard or seen.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Choose one visible next move; written closure is optional when Voice and Audience are observable.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 successful pilot only shows that the procedure can be followed and recorded under practice conditions. It does not prove the final samples will produce a pattern or answer the investigation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Standard</a:t>
            </a:r>
          </a:p>
          <a:p xmlns:a="http://schemas.openxmlformats.org/drawingml/2006/main">
            <a:r>
              <a:t>Describe the method fault, revision and readiness decision without giving a rock conclusion.</a:t>
            </a:r>
          </a:p>
          <a:p xmlns:a="http://schemas.openxmlformats.org/drawingml/2006/main">
            <a:r>
              <a:t>Adult Audience</a:t>
            </a:r>
          </a:p>
          <a:p xmlns:a="http://schemas.openxmlformats.org/drawingml/2006/main">
            <a:r>
              <a:t>The familiar adult genuinely receives the pupil response, then says back the Science they heard or saw. The adult does not add a score or rewrite the pupil.</a:t>
            </a:r>
          </a:p>
          <a:p xmlns:a="http://schemas.openxmlformats.org/drawingml/2006/main">
            <a:r>
              <a:t>Optional exact record of what I said or showed:</a:t>
            </a:r>
          </a:p>
          <a:p xmlns:a="http://schemas.openxmlformats.org/drawingml/2006/main">
            <a:r>
              <a:t>One next teaching move after the adult listened: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SCI_B_W13B_Method_Pilot_Test_The_Test_Do.html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583b39b5cc4c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8c54a0821942d1" /><Relationship Type="http://schemas.openxmlformats.org/officeDocument/2006/relationships/slideLayout" Target="/ppt/slideLayouts/slideLayout1.xml" Id="R98d7a0a4b9074d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d7a0a4b9074d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de087d0ea344e8" /><Relationship Type="http://schemas.openxmlformats.org/officeDocument/2006/relationships/hyperlink" Target="SCI_B_W13B_Method_Pilot_Test_The_Test_Do.html" TargetMode="External" Id="R6c3b2e1d7d304d86" /><Relationship Type="http://schemas.openxmlformats.org/officeDocument/2006/relationships/notesSlide" Target="/ppt/notesSlides/notesSlide1.xml" Id="Ra8060b0ab2354f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4b1b734844458d" /><Relationship Type="http://schemas.openxmlformats.org/officeDocument/2006/relationships/notesSlide" Target="/ppt/notesSlides/notesSlide2.xml" Id="R717e046a02304c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6a6490a04144e8" /><Relationship Type="http://schemas.openxmlformats.org/officeDocument/2006/relationships/notesSlide" Target="/ppt/notesSlides/notesSlide3.xml" Id="Rab1d6f8c0ac3475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b8a7ff023c40c3" /><Relationship Type="http://schemas.openxmlformats.org/officeDocument/2006/relationships/notesSlide" Target="/ppt/notesSlides/notesSlide4.xml" Id="R045b9f06525843c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3f1b9d5a3f4bf0" /><Relationship Type="http://schemas.openxmlformats.org/officeDocument/2006/relationships/notesSlide" Target="/ppt/notesSlides/notesSlide5.xml" Id="Rc7d6ff1866d841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926fd0c73844c0" /><Relationship Type="http://schemas.openxmlformats.org/officeDocument/2006/relationships/image" Target="/ppt/media/image.png" Id="R57e0138e24c54218" /><Relationship Type="http://schemas.openxmlformats.org/officeDocument/2006/relationships/image" Target="/ppt/media/image2.png" Id="Rb124d8455aac479f" /><Relationship Type="http://schemas.openxmlformats.org/officeDocument/2006/relationships/image" Target="/ppt/media/image3.png" Id="Rdde75eca02f44513" /><Relationship Type="http://schemas.openxmlformats.org/officeDocument/2006/relationships/notesSlide" Target="/ppt/notesSlides/notesSlide6.xml" Id="R68a6a412973f4b6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3ea7d9eb7e4da0" /><Relationship Type="http://schemas.openxmlformats.org/officeDocument/2006/relationships/notesSlide" Target="/ppt/notesSlides/notesSlide7.xml" Id="Rd5bd3fe2edf14f7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269f78a3a243ef" /><Relationship Type="http://schemas.openxmlformats.org/officeDocument/2006/relationships/notesSlide" Target="/ppt/notesSlides/notesSlide8.xml" Id="R8a520d919c014c9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dec9c348d3415c" /><Relationship Type="http://schemas.openxmlformats.org/officeDocument/2006/relationships/notesSlide" Target="/ppt/notesSlides/notesSlide9.xml" Id="R29a658772f4a43e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9dedf6396741b8" /><Relationship Type="http://schemas.openxmlformats.org/officeDocument/2006/relationships/notesSlide" Target="/ppt/notesSlides/notesSlide10.xml" Id="Rb8bef31d264e43f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99a87a9e834508" /><Relationship Type="http://schemas.openxmlformats.org/officeDocument/2006/relationships/notesSlide" Target="/ppt/notesSlides/notesSlide11.xml" Id="Rbc58c758ea3a44c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7aa3d2ef2e43cb" /><Relationship Type="http://schemas.openxmlformats.org/officeDocument/2006/relationships/notesSlide" Target="/ppt/notesSlides/notesSlide12.xml" Id="R0ca14c090a5040f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2aba9c90814340" /><Relationship Type="http://schemas.openxmlformats.org/officeDocument/2006/relationships/notesSlide" Target="/ppt/notesSlides/notesSlide13.xml" Id="Rac63b97dbfa8490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75366cfb954877" /><Relationship Type="http://schemas.openxmlformats.org/officeDocument/2006/relationships/notesSlide" Target="/ppt/notesSlides/notesSlide14.xml" Id="Rf987389a152d41b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0315d471e1403d" /><Relationship Type="http://schemas.openxmlformats.org/officeDocument/2006/relationships/notesSlide" Target="/ppt/notesSlides/notesSlide15.xml" Id="R70cab53e3c804cf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afed50e48a4c5a" /><Relationship Type="http://schemas.openxmlformats.org/officeDocument/2006/relationships/notesSlide" Target="/ppt/notesSlides/notesSlide16.xml" Id="Rd62b32288b8644e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hase edge">
            <a:extLst xmlns:a="http://schemas.openxmlformats.org/drawingml/2006/main">
              <a:ext uri="{FF2B5EF4-FFF2-40B4-BE49-F238E27FC236}">
                <a16:creationId xmlns:a16="http://schemas.microsoft.com/office/drawing/2014/main" id="{3F14F25C-1928-4B62-8753-35A83B08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8EC4A507-1C1C-4B78-A216-738620B9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1B5F03BD-54E3-467C-BDFF-6F5A2434F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0E02F05-C486-4E48-8DF3-62D8ED0F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Method Pilot: Test the Test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04648B0B-B4A5-4062-BB9B-62366BF71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objective 0">
            <a:extLst xmlns:a="http://schemas.openxmlformats.org/drawingml/2006/main">
              <a:ext uri="{FF2B5EF4-FFF2-40B4-BE49-F238E27FC236}">
                <a16:creationId xmlns:a16="http://schemas.microsoft.com/office/drawing/2014/main" id="{EEF5C82D-49FB-4A1F-8D6E-431BBDB7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1225"/>
            <a:ext cx="5924550" cy="1125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I can carry out or direct a small method pilot, identify a procedural problem and revise the plan ready for W14.</a:t>
            </a:r>
          </a:p>
        </p:txBody>
      </p:sp>
      <p:sp>
        <p:nvSpPr>
          <p:cNvPr id="7" name="learning move 0">
            <a:extLst xmlns:a="http://schemas.openxmlformats.org/drawingml/2006/main">
              <a:ext uri="{FF2B5EF4-FFF2-40B4-BE49-F238E27FC236}">
                <a16:creationId xmlns:a16="http://schemas.microsoft.com/office/drawing/2014/main" id="{8DCED3AD-1B16-4B29-A752-60185FC7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05050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8" name="move 0">
            <a:extLst xmlns:a="http://schemas.openxmlformats.org/drawingml/2006/main">
              <a:ext uri="{FF2B5EF4-FFF2-40B4-BE49-F238E27FC236}">
                <a16:creationId xmlns:a16="http://schemas.microsoft.com/office/drawing/2014/main" id="{BE2208EC-B443-43B9-B05E-8F7C5A6E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2887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PILOT</a:t>
            </a:r>
          </a:p>
        </p:txBody>
      </p:sp>
      <p:sp>
        <p:nvSpPr>
          <p:cNvPr id="9" name="move detail 0">
            <a:extLst xmlns:a="http://schemas.openxmlformats.org/drawingml/2006/main">
              <a:ext uri="{FF2B5EF4-FFF2-40B4-BE49-F238E27FC236}">
                <a16:creationId xmlns:a16="http://schemas.microsoft.com/office/drawing/2014/main" id="{8BABAA1A-CCAC-4CCE-BC54-6BF0099F5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7177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test one practice procedure</a:t>
            </a:r>
          </a:p>
        </p:txBody>
      </p:sp>
      <p:sp>
        <p:nvSpPr>
          <p:cNvPr id="10" name="learning move 1">
            <a:extLst xmlns:a="http://schemas.openxmlformats.org/drawingml/2006/main">
              <a:ext uri="{FF2B5EF4-FFF2-40B4-BE49-F238E27FC236}">
                <a16:creationId xmlns:a16="http://schemas.microsoft.com/office/drawing/2014/main" id="{D318F818-6062-496F-9AA9-97BF3E959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48025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11" name="move 1">
            <a:extLst xmlns:a="http://schemas.openxmlformats.org/drawingml/2006/main">
              <a:ext uri="{FF2B5EF4-FFF2-40B4-BE49-F238E27FC236}">
                <a16:creationId xmlns:a16="http://schemas.microsoft.com/office/drawing/2014/main" id="{37DBB7B3-01DA-468B-BB04-9D928043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718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REPAIR</a:t>
            </a:r>
          </a:p>
        </p:txBody>
      </p:sp>
      <p:sp>
        <p:nvSpPr>
          <p:cNvPr id="12" name="move detail 1">
            <a:extLst xmlns:a="http://schemas.openxmlformats.org/drawingml/2006/main">
              <a:ext uri="{FF2B5EF4-FFF2-40B4-BE49-F238E27FC236}">
                <a16:creationId xmlns:a16="http://schemas.microsoft.com/office/drawing/2014/main" id="{DF49F740-6E71-4767-B3A6-6545F281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147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fix the method, not the result</a:t>
            </a:r>
          </a:p>
        </p:txBody>
      </p:sp>
      <p:sp>
        <p:nvSpPr>
          <p:cNvPr id="13" name="learning move 2">
            <a:extLst xmlns:a="http://schemas.openxmlformats.org/drawingml/2006/main">
              <a:ext uri="{FF2B5EF4-FFF2-40B4-BE49-F238E27FC236}">
                <a16:creationId xmlns:a16="http://schemas.microsoft.com/office/drawing/2014/main" id="{F9D26107-283E-490B-BF18-4B2CEB30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91000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14" name="move 2">
            <a:extLst xmlns:a="http://schemas.openxmlformats.org/drawingml/2006/main">
              <a:ext uri="{FF2B5EF4-FFF2-40B4-BE49-F238E27FC236}">
                <a16:creationId xmlns:a16="http://schemas.microsoft.com/office/drawing/2014/main" id="{83FAE6F0-5F65-4F95-9306-46E68CA6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1482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15" name="move detail 2">
            <a:extLst xmlns:a="http://schemas.openxmlformats.org/drawingml/2006/main">
              <a:ext uri="{FF2B5EF4-FFF2-40B4-BE49-F238E27FC236}">
                <a16:creationId xmlns:a16="http://schemas.microsoft.com/office/drawing/2014/main" id="{031148C9-5724-4355-BD00-2F0E5B79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5772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approve a route for W14</a:t>
            </a:r>
          </a:p>
        </p:txBody>
      </p:sp>
      <p:sp>
        <p:nvSpPr>
          <p:cNvPr id="16" name="HTML link">
            <a:extLst xmlns:a="http://schemas.openxmlformats.org/drawingml/2006/main">
              <a:ext uri="{FF2B5EF4-FFF2-40B4-BE49-F238E27FC236}">
                <a16:creationId xmlns:a16="http://schemas.microsoft.com/office/drawing/2014/main" id="{173E6F71-6FE5-412F-87C4-395AD00A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95925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E7A9B"/>
                </a:solidFill>
                <a:latin typeface="Arial"/>
                <a:ea typeface="Arial"/>
                <a:cs typeface="Arial"/>
                <a:hlinkClick xmlns:r="http://schemas.openxmlformats.org/officeDocument/2006/relationships" r:id="R6c3b2e1d7d304d86"/>
              </a:rPr>
              <a:t>Open the original interactive lesson</a:t>
            </a:r>
          </a:p>
        </p:txBody>
      </p:sp>
      <p:sp>
        <p:nvSpPr>
          <p:cNvPr id="17" name="time">
            <a:extLst xmlns:a="http://schemas.openxmlformats.org/drawingml/2006/main">
              <a:ext uri="{FF2B5EF4-FFF2-40B4-BE49-F238E27FC236}">
                <a16:creationId xmlns:a16="http://schemas.microsoft.com/office/drawing/2014/main" id="{D0DB292B-A635-4F39-88B7-CBEABB60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18" name="number">
            <a:extLst xmlns:a="http://schemas.openxmlformats.org/drawingml/2006/main">
              <a:ext uri="{FF2B5EF4-FFF2-40B4-BE49-F238E27FC236}">
                <a16:creationId xmlns:a16="http://schemas.microsoft.com/office/drawing/2014/main" id="{1C52F47F-A183-47D6-9832-D20C01CA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 / 16</a:t>
            </a:r>
          </a:p>
        </p:txBody>
      </p:sp>
    </p:spTree>
    <p:extLst>
      <p:ext uri="{BB962C8B-B14F-4D97-AF65-F5344CB8AC3E}">
        <p14:creationId xmlns:p14="http://schemas.microsoft.com/office/powerpoint/2010/main" val="13279719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8A8E3DD5-573A-4C71-919E-788C6FB6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AD2568E5-81D1-46EF-B960-AF1A8546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6C2252EC-FDD5-4543-A2C9-70FBE541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2E039EB-8245-4BCC-91B0-89CBA83F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What success looks like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E2FAF77B-F228-4A46-8482-49E92482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6A463DE3-7C2F-4323-B02A-3428B151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Follow the pilot checklist using one practice route, not final A/B comparison samples.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EB3C168C-EE32-4614-BDC7-4CD0F89C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Record a method observation or fault without turning the pilot value into a rock conclusion.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003373A9-E357-4D98-A8DB-52A67819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Make one precise revision and issue an honest ready, repair or digital-route decision for W14.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D1C110ED-D31D-46BA-A92A-A919BAFA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68ED9CA0-CE7F-4975-83AB-24636BB3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2 / 16</a:t>
            </a:r>
          </a:p>
        </p:txBody>
      </p:sp>
    </p:spTree>
    <p:extLst>
      <p:ext uri="{BB962C8B-B14F-4D97-AF65-F5344CB8AC3E}">
        <p14:creationId xmlns:p14="http://schemas.microsoft.com/office/powerpoint/2010/main" val="17359572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ED673847-2553-44DF-8378-89756549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D5649C91-D46A-4779-998F-3D528EBD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8E540882-AC33-4BBF-BDE6-EB2A70BA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71B7DD1-E88A-402C-BE91-8BC68F19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Retrieve and reconnect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570889D3-635D-458F-A492-D8B4CCC5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F8B540A5-96E3-492C-8378-DA8B9282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Last lesson: what is the difference between pilot and final investigation?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0BD0C4A0-6F70-42E4-AABB-7FBFE0EE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Last lesson: name one control the pilot should check.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41B319FA-1F85-448E-8842-B4682A6C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Last week: why must final A/B result cells stay blank today?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057CC92B-AF6F-472C-A8B1-6D430C5F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Lead-in: what makes a method revision precise enough for another person to follow?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89E0538E-47F6-4073-AD30-CD4639CA3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ARRIVAL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1CC421CB-D797-4C66-9A94-03DEB35B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3 / 16</a:t>
            </a:r>
          </a:p>
        </p:txBody>
      </p:sp>
    </p:spTree>
    <p:extLst>
      <p:ext uri="{BB962C8B-B14F-4D97-AF65-F5344CB8AC3E}">
        <p14:creationId xmlns:p14="http://schemas.microsoft.com/office/powerpoint/2010/main" val="16444563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4779536A-8C93-4131-99FF-6278B5C3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8C414CA7-28C2-4647-AEEF-163CAA61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DEAF4D3A-C54A-47B8-BFFF-1FB1ED09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F34DB96-83C6-406B-818F-1F4F8B672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Pilot P1 uses one practice sample. One millilitre leaks around the collar edge. What should happen next?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B304092F-E701-4F02-8C31-0A0FF789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1DC3B272-42FB-46AE-8613-D27BC5B7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Think first. Point, say, sign or write your choice. Give one reason.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E8C4C25B-6DDF-44C6-A9BA-26B32F49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Use the tray water to decide the practice rock is highly permeable.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8DEBD1E4-3219-4AFB-85D9-F33FC383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Record the edge leak as a method fault, revise the seal check and pilot the repaired method again or use the fixed route.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F71F9B2F-DC37-48A9-BF7F-698E0CA0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Hide the leak and copy the expected value so the method looks ready.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92EF959A-3883-4183-8D79-A4ACB8674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451D529C-1917-48ED-A459-A04FD867E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 / 16</a:t>
            </a:r>
          </a:p>
        </p:txBody>
      </p:sp>
    </p:spTree>
    <p:extLst>
      <p:ext uri="{BB962C8B-B14F-4D97-AF65-F5344CB8AC3E}">
        <p14:creationId xmlns:p14="http://schemas.microsoft.com/office/powerpoint/2010/main" val="5610035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FC13A1FC-9A19-472D-A413-5239C500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014C6301-BD45-474E-AA40-9AF7F85F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B1329AEA-69AD-4787-A251-1E24A4CC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B058940-2C81-48C2-A8F6-DCBE4615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Look closely · what is the evidence?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79CB80DF-4D64-4CAF-B02E-8520167F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271C9283-6E4F-4EC8-87DD-FA50B309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Pilot purpose: check whether the procedure produces a valid record.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F86916D3-8C55-49E2-8ED9-9A098867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Fault observed: water bypassed the practice sample at the edge.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22A29603-037E-4ABD-B986-A72ECFE8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Revision target: make the seal-check step clear before any W14 final trial.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2BFA9CE0-F028-4DC2-80E5-20220D90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AB3C185A-8B46-44C1-B719-4345DF7D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5 / 16</a:t>
            </a:r>
          </a:p>
        </p:txBody>
      </p:sp>
    </p:spTree>
    <p:extLst>
      <p:ext uri="{BB962C8B-B14F-4D97-AF65-F5344CB8AC3E}">
        <p14:creationId xmlns:p14="http://schemas.microsoft.com/office/powerpoint/2010/main" val="12275374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1D276674-0CE7-499F-A2A3-E09E9686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935AE2E9-6A05-477B-86CD-263705D3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BDA26FF8-AFC3-4E86-86F9-D6F0759D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6041A8F-F655-42BA-BF2D-A9BD8761F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Look closely · what is the evidence?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61D2276B-5805-482A-A0C8-C8F362F2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e0138e24c54218"/>
          <a:stretch xmlns:a="http://schemas.openxmlformats.org/drawingml/2006/main"/>
        </p:blipFill>
        <p:spPr>
          <a:xfrm xmlns:a="http://schemas.openxmlformats.org/drawingml/2006/main">
            <a:off x="800100" y="2836863"/>
            <a:ext cx="3378200" cy="1689100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71AC9AEA-BF44-4C01-9B8E-80595461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 practice run on the bench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24d8455aac479f"/>
          <a:stretch xmlns:a="http://schemas.openxmlformats.org/drawingml/2006/main"/>
        </p:blipFill>
        <p:spPr>
          <a:xfrm xmlns:a="http://schemas.openxmlformats.org/drawingml/2006/main">
            <a:off x="4406900" y="2836863"/>
            <a:ext cx="3378200" cy="1689100"/>
          </a:xfrm>
          <a:prstGeom xmlns:a="http://schemas.openxmlformats.org/drawingml/2006/main" prst="rect">
            <a:avLst/>
          </a:prstGeom>
        </p:spPr>
      </p:pic>
      <p:sp>
        <p:nvSpPr>
          <p:cNvPr id="9" name="visual caption 1">
            <a:extLst xmlns:a="http://schemas.openxmlformats.org/drawingml/2006/main">
              <a:ext uri="{FF2B5EF4-FFF2-40B4-BE49-F238E27FC236}">
                <a16:creationId xmlns:a16="http://schemas.microsoft.com/office/drawing/2014/main" id="{3BC888AA-A520-4C12-A543-25D734E1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An edge leak during the pilot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e75eca02f44513"/>
          <a:stretch xmlns:a="http://schemas.openxmlformats.org/drawingml/2006/main"/>
        </p:blipFill>
        <p:spPr>
          <a:xfrm xmlns:a="http://schemas.openxmlformats.org/drawingml/2006/main">
            <a:off x="8013700" y="2836863"/>
            <a:ext cx="3378200" cy="1689100"/>
          </a:xfrm>
          <a:prstGeom xmlns:a="http://schemas.openxmlformats.org/drawingml/2006/main" prst="rect">
            <a:avLst/>
          </a:prstGeom>
        </p:spPr>
      </p:pic>
      <p:sp>
        <p:nvSpPr>
          <p:cNvPr id="11" name="visual caption 2">
            <a:extLst xmlns:a="http://schemas.openxmlformats.org/drawingml/2006/main">
              <a:ext uri="{FF2B5EF4-FFF2-40B4-BE49-F238E27FC236}">
                <a16:creationId xmlns:a16="http://schemas.microsoft.com/office/drawing/2014/main" id="{B0E95518-93AE-41DB-8070-BAD0D3CB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Three readiness decisions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A0C794FC-3297-48A9-B734-CAB71BD5C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B530DC45-F8CD-44FC-8C5A-D95946C5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6 / 16</a:t>
            </a:r>
          </a:p>
        </p:txBody>
      </p:sp>
    </p:spTree>
    <p:extLst>
      <p:ext uri="{BB962C8B-B14F-4D97-AF65-F5344CB8AC3E}">
        <p14:creationId xmlns:p14="http://schemas.microsoft.com/office/powerpoint/2010/main" val="17231705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D85CC3F2-E10F-4F54-A1BF-7C2E698A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D7B19A04-413C-4A84-A171-A6BBFBB8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482EA810-1216-4CE7-9C48-EBE76017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3189A37-E7E6-4AAE-86F2-DDE682BC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Words we will use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0D817DB6-730C-4A35-8195-644D118E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BFFEF995-720F-46F8-8151-5FE61454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pilot — small practice run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A9411179-1B1F-40A9-A6F2-3DA7AE4B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fault — a problem in the method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165EEBDB-0E83-4B1B-8C1B-E05A88D3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revise — change the plan clearly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9DD68538-4F56-4482-ABC3-DB9BDDE4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93BE49A9-11FC-4419-A687-16A45B49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7 / 16</a:t>
            </a:r>
          </a:p>
        </p:txBody>
      </p:sp>
    </p:spTree>
    <p:extLst>
      <p:ext uri="{BB962C8B-B14F-4D97-AF65-F5344CB8AC3E}">
        <p14:creationId xmlns:p14="http://schemas.microsoft.com/office/powerpoint/2010/main" val="14675599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B689A6C2-FB82-4EEC-9BA0-208C49E5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07C549A7-6DB9-4F13-9D9D-1ADAA357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428D419A-87A1-4D98-8E4A-2BAC2B8D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B073081-B1A2-4165-A8F6-20AC1AEA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Watch the model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2B6EBDA9-C7D9-4FAE-90F7-444B5D2B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C6E4DF36-95A0-42D7-84D8-C980E0B56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Keep final Samples A and B out of the pilot. Use one clearly labelled practice sample or the fixed pilot log so today cannot become the full comparison.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131DAFC3-59A6-42BA-A10C-45E5C8CD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Follow the checklist: stable tray, seal check, 5 mL, timer ready, 120 seconds, collector in mL, stop rule and clear recording box.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4EA66AD6-9FFD-49F8-892C-82AFD991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8622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Record procedure evidence such as seal held, timer clear or unit missing. The pilot value is not used to decide which final rock is more permeable.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50190594-EF60-4092-9099-3037F714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59447E0E-2AEC-483B-8E78-756BE963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8 / 16</a:t>
            </a:r>
          </a:p>
        </p:txBody>
      </p:sp>
    </p:spTree>
    <p:extLst>
      <p:ext uri="{BB962C8B-B14F-4D97-AF65-F5344CB8AC3E}">
        <p14:creationId xmlns:p14="http://schemas.microsoft.com/office/powerpoint/2010/main" val="3419653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6A6BF141-BD4E-42D4-A0CA-C183886C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575E234A-C870-42E9-90BA-73B8DE11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88995541-1FF6-4B81-9A79-C60B9ED4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B305A26-1D20-4375-825B-E5D0FA14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Which pilot response improves the future investigation without creating a false conclusion?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A8F85D3E-ECD1-4178-814F-32E9B7FA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62ABEDC5-9EB2-4536-B35D-AA7BDD7C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A leak occurs, so record ‘practice rock is permeable’ and start W14.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1CDC3059-128C-4F78-BB95-C897230F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A leak occurs, so add ‘choose and inspect the seal before adding 5 mL’; rerun the practice route and keep final A/B results blank.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59CCDFB5-F507-435F-91E1-D2F2F672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A leak occurs, so change the sample, water volume and time together until a neat value appears.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E096467A-640B-4336-B0AE-6C234BA2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Commit to an answer. Show the evidence you used. Listen, then revise if needed.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21A990A3-600A-4043-8F40-56AF48FA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69C04D61-5F19-4F8E-9DB9-95CA1199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9 / 16</a:t>
            </a:r>
          </a:p>
        </p:txBody>
      </p:sp>
    </p:spTree>
    <p:extLst>
      <p:ext uri="{BB962C8B-B14F-4D97-AF65-F5344CB8AC3E}">
        <p14:creationId xmlns:p14="http://schemas.microsoft.com/office/powerpoint/2010/main" val="10383726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3264E83D-32C1-4977-A17D-B36E70DB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94A2BC91-DC64-465C-A898-9E0D7541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3D371C6B-7208-4BC2-9C99-B9E94B81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73C5B5C-1B5B-4DAF-AA87-429C9CD7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Build the explanation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5BAE6500-6899-4B46-B277-91C82A03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3BE55444-BEFD-4A94-9BB1-0675E948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Compare method version 1 with version 2. Highlight the exact changed instruction, such as check the seal all the way around before adding water.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250E0FDD-7D4B-46AA-9591-1CB748418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Run a readiness check: can another person identify the practice sample, volume, time, unit, collector, stop rule and blank final table without asking what you meant?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AF6A15DA-6728-4092-9A7F-A67D5D54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86225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Issue one decision: READY FOR W14, REPAIR THEN REVIEW or USE FIXED DIGITAL/DATA ROUTE. None of these decisions includes a final permeability conclusion.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4933FC1C-02C6-470D-8D4E-B8885BE2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3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ACD09AB9-E4F4-4DF3-A0BF-AA24D574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10 / 16</a:t>
            </a:r>
          </a:p>
        </p:txBody>
      </p:sp>
    </p:spTree>
    <p:extLst>
      <p:ext uri="{BB962C8B-B14F-4D97-AF65-F5344CB8AC3E}">
        <p14:creationId xmlns:p14="http://schemas.microsoft.com/office/powerpoint/2010/main" val="14747729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09A805D5-387F-489A-A198-3027FA61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B314F713-A4E1-4479-AAF5-DD4E2254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E9098B0D-96B1-432B-B71B-56770595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CCA2A70-75D3-49B2-806D-72E740DA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Find and repair the misconception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096B49D9-77B4-4C93-82AB-58E57A3F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98D87F19-FAFB-472E-B104-681B25F7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Pilot glitch: the first practice value proves which final rock will be most permeable.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9564293B-ABA3-4691-AA37-0AF498CE9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Keep it: one practice reading answers the final A/B question.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724093CA-ECA5-4745-B303-43E03F8B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Repair it: the pilot tests instructions and equipment; final matched A/B repeats in W14 address the science question.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27EC51E0-C905-4473-A245-F46E06D36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Repair it: hide every fault so the method can be called ready.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7C8BE282-9D67-4A89-9BA4-9F0074F2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F856F978-6ECC-4D17-883F-5791AB94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11 / 16</a:t>
            </a:r>
          </a:p>
        </p:txBody>
      </p:sp>
    </p:spTree>
    <p:extLst>
      <p:ext uri="{BB962C8B-B14F-4D97-AF65-F5344CB8AC3E}">
        <p14:creationId xmlns:p14="http://schemas.microsoft.com/office/powerpoint/2010/main" val="39301221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86288B58-5C04-4015-A124-F178EC2B7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B06F6F52-A81D-455B-9B52-A086B0F9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C1AC4B14-679E-44E7-894F-8334DD47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99789B8-B4E6-48E9-9FFB-9DA476DD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Pilot fault-and-revision desk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B3A150AF-CC58-4FA4-A5EA-662D00BF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46F01338-76D1-4042-8F99-5B038C58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Route each pilot note to KEEP, REPAIR or W14 READINESS. Do not route any card to a final rock conclusion.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D64F0FCA-6AAA-42BC-844D-29DFE4C6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Read the practice observation.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C5AE7394-D584-4E30-A555-C12D07D3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Decide whether the method feature works or needs repair.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E80A10EE-9FCB-4509-9B14-0D431103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Choose the precise revised instruction.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2251E19D-34B7-400E-A1B9-B53B8A72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338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Freeze a readiness chain and state what remains for W14.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C018A4BD-640A-4E26-95D9-C011FB6A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910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the numbered cards in your pupil pack. Take turns to choose, justify and check. You may direct a partner to move a card.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39B7AC3F-5492-45C4-BABB-F1239164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DDDFF418-225C-43F3-837A-EEBC9FAB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12 / 16</a:t>
            </a:r>
          </a:p>
        </p:txBody>
      </p:sp>
    </p:spTree>
    <p:extLst>
      <p:ext uri="{BB962C8B-B14F-4D97-AF65-F5344CB8AC3E}">
        <p14:creationId xmlns:p14="http://schemas.microsoft.com/office/powerpoint/2010/main" val="80423574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36F68349-A38B-42CD-8D14-E0C40470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366F565D-FCE0-4079-AB5A-A6CA47BD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2AD6FAC6-B455-4FC5-825F-78DE150F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FC72A21-504B-427C-A201-9B8AE309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Choose a group · defend your placement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6396A424-EEE6-419C-A2DE-E195FA0F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47229BE2-5E4E-4C49-9F54-DBD09DD9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KEEP IN METHOD V2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0F72DF23-0963-4EEC-8B33-62025870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REPAIR THE METHOD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5F545505-CD16-40E5-BDB8-0CF315BE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W14 READINESS DECISION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EF665471-74AF-452A-9D7F-DA87ADE8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State: The pilot found __. We revised __. The W14 route is ready / needs review because __. The pilot cannot tell us __.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5174D24A-2169-4EDB-A852-196D3296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450F691C-B748-47FA-87FC-522D6F24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13 / 16</a:t>
            </a:r>
          </a:p>
        </p:txBody>
      </p:sp>
    </p:spTree>
    <p:extLst>
      <p:ext uri="{BB962C8B-B14F-4D97-AF65-F5344CB8AC3E}">
        <p14:creationId xmlns:p14="http://schemas.microsoft.com/office/powerpoint/2010/main" val="162823646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DADBD3F1-D735-44E7-88D1-0DAAE74D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E0123456-9031-4735-B649-1F5B5D98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6857B12E-586B-4F51-A945-1A04E33C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9E8CE88-6933-4378-BB6E-71FEE3F1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Your independent mission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ABE35F14-FE6A-47D6-9DE1-7E07D507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84912B63-2857-4D87-ADDD-4108449E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Carry out or analyse one practice pilot, record a method fault or successful check, revise the method and issue a W14 readiness decision without a final rock conclusion.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7DB00D0F-A1F1-4974-98FF-CCCB5B66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Record: Pilot checklist, one procedure observation or fault, method V1 and visibly revised V2, safety/access decision, W14 readiness card and a statement of what the pilot cannot conclude.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BA0A98C3-2204-4C2D-955B-7CEFA93F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15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FE132BD1-822C-4F0C-BDC5-C16EA4FD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14 / 16</a:t>
            </a:r>
          </a:p>
        </p:txBody>
      </p:sp>
    </p:spTree>
    <p:extLst>
      <p:ext uri="{BB962C8B-B14F-4D97-AF65-F5344CB8AC3E}">
        <p14:creationId xmlns:p14="http://schemas.microsoft.com/office/powerpoint/2010/main" val="110385180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75F003DD-B846-4CA3-8382-CD12EDE9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D58EC57F-6961-4F7A-BAD3-899D7D52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80D94704-3A58-4D29-8F72-BE44B600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C3A41AF-6C87-42AF-BD2B-1C49888F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Choose your support and challenge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9C6276BD-D388-45B9-8276-D3D54F9D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13647571-C0D5-428B-A760-BE5646F6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Supported: Sequence the practice steps, choose one fault card and one matching repair, then select ready, review or fixed route for W14.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6CCA3ED9-C9B2-44EE-AD11-3BC49673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Standard: Complete the pilot log, justify one precise revision and issue an evidence-based readiness decision.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2BCC30D9-F76F-4BD2-B1F9-85E9F774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Stretch: Evaluate whether the revision fixes the identified fault without creating a new variable, then specify the W14 approval conditions.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C13D2C39-A06C-48B0-A4BB-FBF8AB25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15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70690F79-2206-4BA6-86A9-64BD7EBA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15 / 16</a:t>
            </a:r>
          </a:p>
        </p:txBody>
      </p:sp>
    </p:spTree>
    <p:extLst>
      <p:ext uri="{BB962C8B-B14F-4D97-AF65-F5344CB8AC3E}">
        <p14:creationId xmlns:p14="http://schemas.microsoft.com/office/powerpoint/2010/main" val="165714214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3CA6631E-F213-408F-B40E-B3B0B375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F9F71670-EDAF-490D-8845-60A8236D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43A50F87-6415-416F-BCB8-43FE40B2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A3E67BD-8279-4F3E-A0BA-7C658604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Show what you know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70AD6CE9-7867-4218-B225-1F3ED437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9749F876-E89B-4F51-B150-41429535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Describe the method fault, revision and readiness decision without giving a rock conclusion.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FD12EA09-FA74-4B31-BB8E-8E3135DB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Point to, read or explain the evidence you made. Choose one next step after the adult has listened.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E0F82B42-78A5-4C40-8B5A-EAF5E5EE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EXIT · 4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CCF925FA-53BD-40A2-9CC5-94800A14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16 / 16</a:t>
            </a:r>
          </a:p>
        </p:txBody>
      </p:sp>
    </p:spTree>
    <p:extLst>
      <p:ext uri="{BB962C8B-B14F-4D97-AF65-F5344CB8AC3E}">
        <p14:creationId xmlns:p14="http://schemas.microsoft.com/office/powerpoint/2010/main" val="2155561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2026-09-08T09:10:06.3680000Z</dcterms:created>
  <dcterms:modified xsi:type="dcterms:W3CDTF">2026-09-08T09:10:06.3680000Z</dcterms:modified>
</coreProperties>
</file>