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2280a312c48a1" /><Relationship Type="http://schemas.openxmlformats.org/officeDocument/2006/relationships/extended-properties" Target="/docProps/app.xml" Id="Rda20f8dc2e5c49ef" /><Relationship Type="http://schemas.openxmlformats.org/officeDocument/2006/relationships/officeDocument" Target="/ppt/presentation.xml" Id="R24134ac8c97a4d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661d83d3440e0"/>
  </p:sldMasterIdLst>
  <p:notesMasterIdLst>
    <p:notesMasterId xmlns:r="http://schemas.openxmlformats.org/officeDocument/2006/relationships" r:id="R4831afad0337466e"/>
  </p:notesMasterIdLst>
  <p:sldIdLst>
    <p:sldId xmlns:r="http://schemas.openxmlformats.org/officeDocument/2006/relationships" id="256" r:id="R117fe94c7d0a45af"/>
    <p:sldId xmlns:r="http://schemas.openxmlformats.org/officeDocument/2006/relationships" id="257" r:id="Rb7f378aff426460a"/>
    <p:sldId xmlns:r="http://schemas.openxmlformats.org/officeDocument/2006/relationships" id="258" r:id="R9cfdfb0586f14bea"/>
    <p:sldId xmlns:r="http://schemas.openxmlformats.org/officeDocument/2006/relationships" id="259" r:id="Rdd9eda1be5be4498"/>
    <p:sldId xmlns:r="http://schemas.openxmlformats.org/officeDocument/2006/relationships" id="260" r:id="R185ef219e4334999"/>
    <p:sldId xmlns:r="http://schemas.openxmlformats.org/officeDocument/2006/relationships" id="261" r:id="R9eb9d97259874a98"/>
    <p:sldId xmlns:r="http://schemas.openxmlformats.org/officeDocument/2006/relationships" id="262" r:id="Re4264c35371e4cd9"/>
    <p:sldId xmlns:r="http://schemas.openxmlformats.org/officeDocument/2006/relationships" id="263" r:id="R07eb7bffdbbc4030"/>
    <p:sldId xmlns:r="http://schemas.openxmlformats.org/officeDocument/2006/relationships" id="264" r:id="R1e04806e206b41bb"/>
    <p:sldId xmlns:r="http://schemas.openxmlformats.org/officeDocument/2006/relationships" id="265" r:id="R1bcc9f46777840ae"/>
    <p:sldId xmlns:r="http://schemas.openxmlformats.org/officeDocument/2006/relationships" id="266" r:id="Rabfaf719f1b74b44"/>
    <p:sldId xmlns:r="http://schemas.openxmlformats.org/officeDocument/2006/relationships" id="267" r:id="R16c391e63f034c81"/>
    <p:sldId xmlns:r="http://schemas.openxmlformats.org/officeDocument/2006/relationships" id="268" r:id="R8cd8c8f4cf244cb2"/>
    <p:sldId xmlns:r="http://schemas.openxmlformats.org/officeDocument/2006/relationships" id="269" r:id="Rf6603ba4d94e49c8"/>
    <p:sldId xmlns:r="http://schemas.openxmlformats.org/officeDocument/2006/relationships" id="270" r:id="Ra5dc9d3d9d994c35"/>
    <p:sldId xmlns:r="http://schemas.openxmlformats.org/officeDocument/2006/relationships" id="271" r:id="Rec17dbda317642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2f0e44f28943fe" /><Relationship Type="http://schemas.openxmlformats.org/officeDocument/2006/relationships/slideMaster" Target="/ppt/slideMasters/slideMaster1.xml" Id="Re30661d83d3440e0" /><Relationship Type="http://schemas.openxmlformats.org/officeDocument/2006/relationships/notesMaster" Target="/ppt/notesMasters/notesMaster1.xml" Id="R4831afad0337466e" /><Relationship Type="http://schemas.openxmlformats.org/officeDocument/2006/relationships/presProps" Target="/ppt/presProps.xml" Id="Rb206bcf4000e460a" /><Relationship Type="http://schemas.openxmlformats.org/officeDocument/2006/relationships/tableStyles" Target="/ppt/tableStyles.xml" Id="Rfb80e749d91d41a7" /><Relationship Type="http://schemas.openxmlformats.org/officeDocument/2006/relationships/slide" Target="/ppt/slides/slide1.xml" Id="R117fe94c7d0a45af" /><Relationship Type="http://schemas.openxmlformats.org/officeDocument/2006/relationships/slide" Target="/ppt/slides/slide2.xml" Id="Rb7f378aff426460a" /><Relationship Type="http://schemas.openxmlformats.org/officeDocument/2006/relationships/slide" Target="/ppt/slides/slide3.xml" Id="R9cfdfb0586f14bea" /><Relationship Type="http://schemas.openxmlformats.org/officeDocument/2006/relationships/slide" Target="/ppt/slides/slide4.xml" Id="Rdd9eda1be5be4498" /><Relationship Type="http://schemas.openxmlformats.org/officeDocument/2006/relationships/slide" Target="/ppt/slides/slide5.xml" Id="R185ef219e4334999" /><Relationship Type="http://schemas.openxmlformats.org/officeDocument/2006/relationships/slide" Target="/ppt/slides/slide6.xml" Id="R9eb9d97259874a98" /><Relationship Type="http://schemas.openxmlformats.org/officeDocument/2006/relationships/slide" Target="/ppt/slides/slide7.xml" Id="Re4264c35371e4cd9" /><Relationship Type="http://schemas.openxmlformats.org/officeDocument/2006/relationships/slide" Target="/ppt/slides/slide8.xml" Id="R07eb7bffdbbc4030" /><Relationship Type="http://schemas.openxmlformats.org/officeDocument/2006/relationships/slide" Target="/ppt/slides/slide9.xml" Id="R1e04806e206b41bb" /><Relationship Type="http://schemas.openxmlformats.org/officeDocument/2006/relationships/slide" Target="/ppt/slides/slide10.xml" Id="R1bcc9f46777840ae" /><Relationship Type="http://schemas.openxmlformats.org/officeDocument/2006/relationships/slide" Target="/ppt/slides/slide11.xml" Id="Rabfaf719f1b74b44" /><Relationship Type="http://schemas.openxmlformats.org/officeDocument/2006/relationships/slide" Target="/ppt/slides/slide12.xml" Id="R16c391e63f034c81" /><Relationship Type="http://schemas.openxmlformats.org/officeDocument/2006/relationships/slide" Target="/ppt/slides/slide13.xml" Id="R8cd8c8f4cf244cb2" /><Relationship Type="http://schemas.openxmlformats.org/officeDocument/2006/relationships/slide" Target="/ppt/slides/slide14.xml" Id="Rf6603ba4d94e49c8" /><Relationship Type="http://schemas.openxmlformats.org/officeDocument/2006/relationships/slide" Target="/ppt/slides/slide15.xml" Id="Ra5dc9d3d9d994c35" /><Relationship Type="http://schemas.openxmlformats.org/officeDocument/2006/relationships/slide" Target="/ppt/slides/slide16.xml" Id="Rec17dbda317642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36ebe0e62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c93fc72c894d3f" /><Relationship Type="http://schemas.openxmlformats.org/officeDocument/2006/relationships/notesMaster" Target="/ppt/notesMasters/notesMaster1.xml" Id="R3f674ac9c1a044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b22257f81426d" /><Relationship Type="http://schemas.openxmlformats.org/officeDocument/2006/relationships/notesMaster" Target="/ppt/notesMasters/notesMaster1.xml" Id="Ra269dde6f5a148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38b5a3a4641e5" /><Relationship Type="http://schemas.openxmlformats.org/officeDocument/2006/relationships/notesMaster" Target="/ppt/notesMasters/notesMaster1.xml" Id="R5df4969e6833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571bef9b014572" /><Relationship Type="http://schemas.openxmlformats.org/officeDocument/2006/relationships/notesMaster" Target="/ppt/notesMasters/notesMaster1.xml" Id="Rb634880037da45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e440fc00ed445d" /><Relationship Type="http://schemas.openxmlformats.org/officeDocument/2006/relationships/notesMaster" Target="/ppt/notesMasters/notesMaster1.xml" Id="Rba0bb5a4660a4c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39d6cb86f24dbb" /><Relationship Type="http://schemas.openxmlformats.org/officeDocument/2006/relationships/notesMaster" Target="/ppt/notesMasters/notesMaster1.xml" Id="R869e594b6b1b45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75fdf378534d31" /><Relationship Type="http://schemas.openxmlformats.org/officeDocument/2006/relationships/notesMaster" Target="/ppt/notesMasters/notesMaster1.xml" Id="Rcf00cbd17bb740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03cb25d59e47d9" /><Relationship Type="http://schemas.openxmlformats.org/officeDocument/2006/relationships/notesMaster" Target="/ppt/notesMasters/notesMaster1.xml" Id="Rc8538866eb5f4e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c760aaa1f437a" /><Relationship Type="http://schemas.openxmlformats.org/officeDocument/2006/relationships/notesMaster" Target="/ppt/notesMasters/notesMaster1.xml" Id="R0624dc4ffc5b47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8da76713134376" /><Relationship Type="http://schemas.openxmlformats.org/officeDocument/2006/relationships/notesMaster" Target="/ppt/notesMasters/notesMaster1.xml" Id="Ra5b28841a34e4d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86ff9f46c941a4" /><Relationship Type="http://schemas.openxmlformats.org/officeDocument/2006/relationships/notesMaster" Target="/ppt/notesMasters/notesMaster1.xml" Id="R73e164c218644b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dd20b4c371437b" /><Relationship Type="http://schemas.openxmlformats.org/officeDocument/2006/relationships/notesMaster" Target="/ppt/notesMasters/notesMaster1.xml" Id="R51c8b047d1044b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28398db7d24611" /><Relationship Type="http://schemas.openxmlformats.org/officeDocument/2006/relationships/notesMaster" Target="/ppt/notesMasters/notesMaster1.xml" Id="R1ac99530e3b74c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dbb918e3304cad" /><Relationship Type="http://schemas.openxmlformats.org/officeDocument/2006/relationships/notesMaster" Target="/ppt/notesMasters/notesMaster1.xml" Id="Rfa88b536ee0048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38ad265ce34464" /><Relationship Type="http://schemas.openxmlformats.org/officeDocument/2006/relationships/notesMaster" Target="/ppt/notesMasters/notesMaster1.xml" Id="Rc6cf764378654c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7e009829cd42a3" /><Relationship Type="http://schemas.openxmlformats.org/officeDocument/2006/relationships/notesMaster" Target="/ppt/notesMasters/notesMaster1.xml" Id="Rc3e28d7abb25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10A · Explore</a:t>
            </a:r>
          </a:p>
          <a:p xmlns:a="http://schemas.openxmlformats.org/drawingml/2006/main">
            <a:r>
              <a:t>Learning objective: I can research one solar system focus using suitable sources, accurate notes and a clear source record.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Ask a focused research question about the solar system.</a:t>
            </a:r>
          </a:p>
          <a:p xmlns:a="http://schemas.openxmlformats.org/drawingml/2006/main">
            <a:r>
              <a:t>Select useful information and paraphrase it accurately.</a:t>
            </a:r>
          </a:p>
          <a:p xmlns:a="http://schemas.openxmlformats.org/drawingml/2006/main">
            <a:r>
              <a:t>Record where each fact came from and flag claims that need checking.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10A · Explore</a:t>
            </a:r>
          </a:p>
          <a:p xmlns:a="http://schemas.openxmlformats.org/drawingml/2006/main">
            <a:r>
              <a:t>Learning objective: I can research one solar system focus using suitable sources, accurate notes and a clear source record.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Ask a focused research question about the solar system.</a:t>
            </a:r>
          </a:p>
          <a:p xmlns:a="http://schemas.openxmlformats.org/drawingml/2006/main">
            <a:r>
              <a:t>Select useful information and paraphrase it accurately.</a:t>
            </a:r>
          </a:p>
          <a:p xmlns:a="http://schemas.openxmlformats.org/drawingml/2006/main">
            <a:r>
              <a:t>Record where each fact came from and flag claims that need checking.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Last week, conclusions became stronger when several observations supported the same shape claim.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why were three views stronger than one?</a:t>
            </a:r>
          </a:p>
          <a:p xmlns:a="http://schemas.openxmlformats.org/drawingml/2006/main">
            <a:r>
              <a:t>Last week: state one model limitation from the shape lab.</a:t>
            </a:r>
          </a:p>
          <a:p xmlns:a="http://schemas.openxmlformats.org/drawingml/2006/main">
            <a:r>
              <a:t>Earlier space learning: state one fact about a planet and how you know it.</a:t>
            </a:r>
          </a:p>
          <a:p xmlns:a="http://schemas.openxmlformats.org/drawingml/2006/main">
            <a:r>
              <a:t>Lead-in: what makes a research question focused enough to answer?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Question first</a:t>
            </a:r>
          </a:p>
          <a:p xmlns:a="http://schemas.openxmlformats.org/drawingml/2006/main">
            <a:r>
              <a:t>Decide exactly what you need before you open anything.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Source check</a:t>
            </a:r>
          </a:p>
          <a:p xmlns:a="http://schemas.openxmlformats.org/drawingml/2006/main">
            <a:r>
              <a:t>Who made it? When? Does it answer your question?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Note carefully</a:t>
            </a:r>
          </a:p>
          <a:p xmlns:a="http://schemas.openxmlformats.org/drawingml/2006/main">
            <a:r>
              <a:t>Own words. Keep the number and unit. Record the source.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shortest statement, because it is quickest to copy.</a:t>
            </a:r>
          </a:p>
          <a:p xmlns:a="http://schemas.openxmlformats.org/drawingml/2006/main">
            <a:r>
              <a:t>A relevant statement from a named, suitable source that can be checked.</a:t>
            </a:r>
          </a:p>
          <a:p xmlns:a="http://schemas.openxmlformats.org/drawingml/2006/main">
            <a:r>
              <a:t>The statement on the brightest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Question first</a:t>
            </a:r>
          </a:p>
          <a:p xmlns:a="http://schemas.openxmlformats.org/drawingml/2006/main">
            <a:r>
              <a:t>Decide exactly what you need before you open anything.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Source check</a:t>
            </a:r>
          </a:p>
          <a:p xmlns:a="http://schemas.openxmlformats.org/drawingml/2006/main">
            <a:r>
              <a:t>Who made it? When? Does it answer your question?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Note carefully</a:t>
            </a:r>
          </a:p>
          <a:p xmlns:a="http://schemas.openxmlformats.org/drawingml/2006/main">
            <a:r>
              <a:t>Own words. Keep the number and unit. Record the source.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shortest statement, because it is quickest to copy.</a:t>
            </a:r>
          </a:p>
          <a:p xmlns:a="http://schemas.openxmlformats.org/drawingml/2006/main">
            <a:r>
              <a:t>A relevant statement from a named, suitable source that can be checked.</a:t>
            </a:r>
          </a:p>
          <a:p xmlns:a="http://schemas.openxmlformats.org/drawingml/2006/main">
            <a:r>
              <a:t>The statement on the brightest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Question first</a:t>
            </a:r>
          </a:p>
          <a:p xmlns:a="http://schemas.openxmlformats.org/drawingml/2006/main">
            <a:r>
              <a:t>Decide exactly what you need before you open anything.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Source check</a:t>
            </a:r>
          </a:p>
          <a:p xmlns:a="http://schemas.openxmlformats.org/drawingml/2006/main">
            <a:r>
              <a:t>Who made it? When? Does it answer your question?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Note carefully</a:t>
            </a:r>
          </a:p>
          <a:p xmlns:a="http://schemas.openxmlformats.org/drawingml/2006/main">
            <a:r>
              <a:t>Own words. Keep the number and unit. Record the source.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shortest statement, because it is quickest to copy.</a:t>
            </a:r>
          </a:p>
          <a:p xmlns:a="http://schemas.openxmlformats.org/drawingml/2006/main">
            <a:r>
              <a:t>A relevant statement from a named, suitable source that can be checked.</a:t>
            </a:r>
          </a:p>
          <a:p xmlns:a="http://schemas.openxmlformats.org/drawingml/2006/main">
            <a:r>
              <a:t>The statement on the brightest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where information came from the person, organisation, text or media that supplied information</a:t>
            </a:r>
          </a:p>
          <a:p xmlns:a="http://schemas.openxmlformats.org/drawingml/2006/main">
            <a:r>
              <a:t>CREDIBLE reasonable to trust from a suitable named source that gives evidence we can check</a:t>
            </a:r>
          </a:p>
          <a:p xmlns:a="http://schemas.openxmlformats.org/drawingml/2006/main">
            <a:r>
              <a:t>PARAPHRASE same meaning, your words to express information accurately in a new wording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note frame: My question is __. The source states __. In my own words __. Source __. Check status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Turn a broad topic into one answerable question, such as: How long does Mars take to orbit the Sun?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Check whether a source names a science organisation or author, answers the question and gives information you can compare with another source.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Mark each candidate claim keep, check or reject. A professional-looking page is not evidence by itself.</a:t>
            </a:r>
          </a:p>
          <a:p xmlns:a="http://schemas.openxmlformats.org/drawingml/2006/main">
            <a:r>
              <a:t>Source sorter · keep, check or reject</a:t>
            </a:r>
          </a:p>
          <a:p xmlns:a="http://schemas.openxmlformats.org/drawingml/2006/main">
            <a:r>
              <a:t>Question: how long is a day on Jupiter? Press a source, then your verdict.</a:t>
            </a:r>
          </a:p>
          <a:p xmlns:a="http://schemas.openxmlformats.org/drawingml/2006/main">
            <a:r>
              <a:t>Source A · Space agency page · author: named agency · updated 2024 "Jupiter is the largest planet; a day lasts about 10 hours."</a:t>
            </a:r>
          </a:p>
          <a:p xmlns:a="http://schemas.openxmlformats.org/drawingml/2006/main">
            <a:r>
              <a:t>Source B · Video comment · no author · no date "Jupiter is made of rock and you could stand on it."</a:t>
            </a:r>
          </a:p>
          <a:p xmlns:a="http://schemas.openxmlformats.org/drawingml/2006/main">
            <a:r>
              <a:t>Source C · Encyclopedia entry · author: named editor · 2019 "Jupiter has a Great Red Spot, a storm bigger than Earth."</a:t>
            </a:r>
          </a:p>
          <a:p xmlns:a="http://schemas.openxmlformats.org/drawingml/2006/main">
            <a:r>
              <a:t>keep</a:t>
            </a:r>
          </a:p>
          <a:p xmlns:a="http://schemas.openxmlformats.org/drawingml/2006/main">
            <a:r>
              <a:t>reject</a:t>
            </a:r>
          </a:p>
          <a:p xmlns:a="http://schemas.openxmlformats.org/drawingml/2006/main">
            <a:r>
              <a:t>Press a source.</a:t>
            </a:r>
          </a:p>
          <a:p xmlns:a="http://schemas.openxmlformats.org/drawingml/2006/main">
            <a:r>
              <a:t>Fact check for staff: Jupiter's rotation period is just under 10 hours; it is a gas giant with no solid surface to stand on; the Great Red Spot is a storm larger than Earth.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where information came from the person, organisation, text or media that supplied information</a:t>
            </a:r>
          </a:p>
          <a:p xmlns:a="http://schemas.openxmlformats.org/drawingml/2006/main">
            <a:r>
              <a:t>CREDIBLE reasonable to trust from a suitable named source that gives evidence we can check</a:t>
            </a:r>
          </a:p>
          <a:p xmlns:a="http://schemas.openxmlformats.org/drawingml/2006/main">
            <a:r>
              <a:t>PARAPHRASE same meaning, your words to express information accurately in a new wording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note frame: My question is __. The source states __. In my own words __. Source __. Check status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Turn a broad topic into one answerable question, such as: How long does Mars take to orbit the Sun?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Check whether a source names a science organisation or author, answers the question and gives information you can compare with another source.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Mark each candidate claim keep, check or reject. A professional-looking page is not evidence by itself.</a:t>
            </a:r>
          </a:p>
          <a:p xmlns:a="http://schemas.openxmlformats.org/drawingml/2006/main">
            <a:r>
              <a:t>Source sorter · keep, check or reject</a:t>
            </a:r>
          </a:p>
          <a:p xmlns:a="http://schemas.openxmlformats.org/drawingml/2006/main">
            <a:r>
              <a:t>Question: how long is a day on Jupiter? Press a source, then your verdict.</a:t>
            </a:r>
          </a:p>
          <a:p xmlns:a="http://schemas.openxmlformats.org/drawingml/2006/main">
            <a:r>
              <a:t>Source A · Space agency page · author: named agency · updated 2024 "Jupiter is the largest planet; a day lasts about 10 hours."</a:t>
            </a:r>
          </a:p>
          <a:p xmlns:a="http://schemas.openxmlformats.org/drawingml/2006/main">
            <a:r>
              <a:t>Source B · Video comment · no author · no date "Jupiter is made of rock and you could stand on it."</a:t>
            </a:r>
          </a:p>
          <a:p xmlns:a="http://schemas.openxmlformats.org/drawingml/2006/main">
            <a:r>
              <a:t>Source C · Encyclopedia entry · author: named editor · 2019 "Jupiter has a Great Red Spot, a storm bigger than Earth."</a:t>
            </a:r>
          </a:p>
          <a:p xmlns:a="http://schemas.openxmlformats.org/drawingml/2006/main">
            <a:r>
              <a:t>keep</a:t>
            </a:r>
          </a:p>
          <a:p xmlns:a="http://schemas.openxmlformats.org/drawingml/2006/main">
            <a:r>
              <a:t>reject</a:t>
            </a:r>
          </a:p>
          <a:p xmlns:a="http://schemas.openxmlformats.org/drawingml/2006/main">
            <a:r>
              <a:t>Press a source.</a:t>
            </a:r>
          </a:p>
          <a:p xmlns:a="http://schemas.openxmlformats.org/drawingml/2006/main">
            <a:r>
              <a:t>Fact check for staff: Jupiter's rotation period is just under 10 hours; it is a gas giant with no solid surface to stand on; the Great Red Spot is a storm larger than Earth.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‘Mars is cool!!!’ copied from an unnamed post.</a:t>
            </a:r>
          </a:p>
          <a:p xmlns:a="http://schemas.openxmlformats.org/drawingml/2006/main">
            <a:r>
              <a:t>‘Mars takes about 687 Earth days to orbit the Sun’ paraphrased, with the checked source recorded.</a:t>
            </a:r>
          </a:p>
          <a:p xmlns:a="http://schemas.openxmlformats.org/drawingml/2006/main">
            <a:r>
              <a:t>A full paragraph pasted from the first search result with no source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Read one short source statement, look away, then write the key meaning in fewer words.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Compare the note with the source: keep number, unit and relationship accurate; repair any changed meaning.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Add the source code and a check status. If two cards differ, record the difference rather than hiding it.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note frame: My question is __. The source states __. In my own words __. Source __. Check status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Read one short source statement, look away, then write the key meaning in fewer words.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Compare the note with the source: keep number, unit and relationship accurate; repair any changed meaning.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Add the source code and a check status. If two cards differ, record the difference rather than hiding it.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note frame: My question is __. The source states __. In my own words __. Source __. Check status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research item to keep, check or reject, then freeze the decisions you can justify.</a:t>
            </a:r>
          </a:p>
          <a:p xmlns:a="http://schemas.openxmlformats.org/drawingml/2006/main">
            <a:r>
              <a:t>Read one source-and-note card. Commit it to keep, check or reject. Use feedback to repair the decision. Freeze at least two decisions and explain the rule used.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Named science source The note answers the question, keeps the value and unit, uses the pupil's own words and records the source code.</a:t>
            </a:r>
          </a:p>
          <a:p xmlns:a="http://schemas.openxmlformats.org/drawingml/2006/main">
            <a:r>
              <a:t>Old page, changing claim A named source answers the question, but the claim concerns a current spacecraft and the page date is missing.</a:t>
            </a:r>
          </a:p>
          <a:p xmlns:a="http://schemas.openxmlformats.org/drawingml/2006/main">
            <a:r>
              <a:t>Unnamed dramatic post It says Saturn is made of solid gold, gives no evidence and names no responsible author or organisation.</a:t>
            </a:r>
          </a:p>
          <a:p xmlns:a="http://schemas.openxmlformats.org/drawingml/2006/main">
            <a:r>
              <a:t>Accurate but copied A useful paragraph from a named source is pasted word for word and the source is not recorded in the notes.</a:t>
            </a:r>
          </a:p>
          <a:p xmlns:a="http://schemas.openxmlformats.org/drawingml/2006/main">
            <a:r>
              <a:t>Reliable but off-topic A trusted weather source explains today's rain but the research question is about Neptune's orbit.</a:t>
            </a:r>
          </a:p>
          <a:p xmlns:a="http://schemas.openxmlformats.org/drawingml/2006/main">
            <a:r>
              <a:t>Cross-checked fact Two suitable sources agree on the fact; the note preserves the value and unit and lists both source labels.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Keep for the record</a:t>
            </a:r>
          </a:p>
          <a:p xmlns:a="http://schemas.openxmlformats.org/drawingml/2006/main">
            <a:r>
              <a:t>Reject for this question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Research glitch: copy a full paragraph because the source is accurate.</a:t>
            </a:r>
          </a:p>
          <a:p xmlns:a="http://schemas.openxmlformats.org/drawingml/2006/main">
            <a:r>
              <a:t>Keep it: accuracy makes copying acceptable.</a:t>
            </a:r>
          </a:p>
          <a:p xmlns:a="http://schemas.openxmlformats.org/drawingml/2006/main">
            <a:r>
              <a:t>Repair it: paraphrase the needed meaning accurately and record the source.</a:t>
            </a:r>
          </a:p>
          <a:p xmlns:a="http://schemas.openxmlformats.org/drawingml/2006/main">
            <a:r>
              <a:t>Repair it: remove the source so the wording looks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research item to keep, check or reject, then freeze the decisions you can justify.</a:t>
            </a:r>
          </a:p>
          <a:p xmlns:a="http://schemas.openxmlformats.org/drawingml/2006/main">
            <a:r>
              <a:t>Read one source-and-note card. Commit it to keep, check or reject. Use feedback to repair the decision. Freeze at least two decisions and explain the rule used.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Named science source The note answers the question, keeps the value and unit, uses the pupil's own words and records the source code.</a:t>
            </a:r>
          </a:p>
          <a:p xmlns:a="http://schemas.openxmlformats.org/drawingml/2006/main">
            <a:r>
              <a:t>Old page, changing claim A named source answers the question, but the claim concerns a current spacecraft and the page date is missing.</a:t>
            </a:r>
          </a:p>
          <a:p xmlns:a="http://schemas.openxmlformats.org/drawingml/2006/main">
            <a:r>
              <a:t>Unnamed dramatic post It says Saturn is made of solid gold, gives no evidence and names no responsible author or organisation.</a:t>
            </a:r>
          </a:p>
          <a:p xmlns:a="http://schemas.openxmlformats.org/drawingml/2006/main">
            <a:r>
              <a:t>Accurate but copied A useful paragraph from a named source is pasted word for word and the source is not recorded in the notes.</a:t>
            </a:r>
          </a:p>
          <a:p xmlns:a="http://schemas.openxmlformats.org/drawingml/2006/main">
            <a:r>
              <a:t>Reliable but off-topic A trusted weather source explains today's rain but the research question is about Neptune's orbit.</a:t>
            </a:r>
          </a:p>
          <a:p xmlns:a="http://schemas.openxmlformats.org/drawingml/2006/main">
            <a:r>
              <a:t>Cross-checked fact Two suitable sources agree on the fact; the note preserves the value and unit and lists both source labels.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Keep for the record</a:t>
            </a:r>
          </a:p>
          <a:p xmlns:a="http://schemas.openxmlformats.org/drawingml/2006/main">
            <a:r>
              <a:t>Reject for this question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Research glitch: copy a full paragraph because the source is accurate.</a:t>
            </a:r>
          </a:p>
          <a:p xmlns:a="http://schemas.openxmlformats.org/drawingml/2006/main">
            <a:r>
              <a:t>Keep it: accuracy makes copying acceptable.</a:t>
            </a:r>
          </a:p>
          <a:p xmlns:a="http://schemas.openxmlformats.org/drawingml/2006/main">
            <a:r>
              <a:t>Repair it: paraphrase the needed meaning accurately and record the source.</a:t>
            </a:r>
          </a:p>
          <a:p xmlns:a="http://schemas.openxmlformats.org/drawingml/2006/main">
            <a:r>
              <a:t>Repair it: remove the source so the wording looks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The nine local dated source cards in this lesson, a paper or local-page note grid and pencil or school device.</a:t>
            </a:r>
          </a:p>
          <a:p xmlns:a="http://schemas.openxmlformats.org/drawingml/2006/main">
            <a:r>
              <a:t>Same outcome: I can research one solar system focus using suitable sources, accurate notes and a clear source record.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source cards stored inside this lesson page; no web access is needed. Type notes locally and record each source code.</a:t>
            </a:r>
          </a:p>
          <a:p xmlns:a="http://schemas.openxmlformats.org/drawingml/2006/main">
            <a:r>
              <a:t>Same evidence: One chosen question, three accurate own-word facts, at least two source codes, one agreement check and one card to check or leave out.</a:t>
            </a:r>
          </a:p>
          <a:p xmlns:a="http://schemas.openxmlformats.org/drawingml/2006/main">
            <a:r>
              <a:t>Equipment / setup The nine local dated source cards in this lesson, a paper or local-page note grid and pencil or school device.</a:t>
            </a:r>
          </a:p>
          <a:p xmlns:a="http://schemas.openxmlformats.org/drawingml/2006/main">
            <a:r>
              <a:t>Safety / sensory No website, account or personal information is needed. Use the local lesson page or printed cards and follow school device routines.</a:t>
            </a:r>
          </a:p>
          <a:p xmlns:a="http://schemas.openxmlformats.org/drawingml/2006/main">
            <a:r>
              <a:t>Offline parity Use the source cards stored inside this lesson page; no web access is needed. Type notes locally and record each source code.</a:t>
            </a:r>
          </a:p>
          <a:p xmlns:a="http://schemas.openxmlformats.org/drawingml/2006/main">
            <a:r>
              <a:t>No-equipment/access route: Use the same nine dated source cards printed from the lesson. Write or scribe the notes on paper.</a:t>
            </a:r>
          </a:p>
          <a:p xmlns:a="http://schemas.openxmlformats.org/drawingml/2006/main">
            <a:r>
              <a:t>Open embedded local source bank · 9 dated cards</a:t>
            </a:r>
          </a:p>
          <a:p xmlns:a="http://schemas.openxmlformats.org/drawingml/2006/main">
            <a:r>
              <a:t>What are Saturn's rings made of?</a:t>
            </a:r>
          </a:p>
          <a:p xmlns:a="http://schemas.openxmlformats.org/drawingml/2006/main">
            <a:r>
              <a:t>SAT-A · Pack checked 27 August 2026</a:t>
            </a:r>
          </a:p>
          <a:p xmlns:a="http://schemas.openxmlformats.org/drawingml/2006/main">
            <a:r>
              <a:t>NASA Science · local adapted fact card</a:t>
            </a:r>
          </a:p>
          <a:p xmlns:a="http://schemas.openxmlformats.org/drawingml/2006/main">
            <a:r>
              <a:t>Saturn's rings contain billions of separate pieces of ice and rock. The pieces range from tiny grains to much larger chunks.</a:t>
            </a:r>
          </a:p>
          <a:p xmlns:a="http://schemas.openxmlformats.org/drawingml/2006/main">
            <a:r>
              <a:t>SAT-B · Pack checked 27 August 2026</a:t>
            </a:r>
          </a:p>
          <a:p xmlns:a="http://schemas.openxmlformats.org/drawingml/2006/main">
            <a:r>
              <a:t>European Space Agency Education · local adapted fact card</a:t>
            </a:r>
          </a:p>
          <a:p xmlns:a="http://schemas.openxmlformats.org/drawingml/2006/main">
            <a:r>
              <a:t>Water ice makes up much of Saturn's bright rings. Dust and rocky material are mixed with the ice.</a:t>
            </a:r>
          </a:p>
          <a:p xmlns:a="http://schemas.openxmlformats.org/drawingml/2006/main">
            <a:r>
              <a:t>SAT-C · Pack checked 27 August 2026</a:t>
            </a:r>
          </a:p>
          <a:p xmlns:a="http://schemas.openxmlformats.org/drawingml/2006/main">
            <a:r>
              <a:t>Royal Museums Greenwich Education · local adapted fact card</a:t>
            </a:r>
          </a:p>
          <a:p xmlns:a="http://schemas.openxmlformats.org/drawingml/2006/main">
            <a:r>
              <a:t>Saturn's rings are many narrow ringlets, not one solid sheet. Icy pieces reflect sunlight, helping the rings look bright.</a:t>
            </a:r>
          </a:p>
          <a:p xmlns:a="http://schemas.openxmlformats.org/drawingml/2006/main">
            <a:r>
              <a:t>Why does Mars look red?</a:t>
            </a:r>
          </a:p>
          <a:p xmlns:a="http://schemas.openxmlformats.org/drawingml/2006/main">
            <a:r>
              <a:t>MAR-A · Pack checked 27 August 2026</a:t>
            </a:r>
          </a:p>
          <a:p xmlns:a="http://schemas.openxmlformats.org/drawingml/2006/main">
            <a:r>
              <a:t>NASA Science · local adapted fact card</a:t>
            </a:r>
          </a:p>
          <a:p xmlns:a="http://schemas.openxmlformats.org/drawingml/2006/main">
            <a:r>
              <a:t>Iron minerals in Martian rock and soil reacted with oxygen over time. The iron oxide produced is like rust and gives much of the surface a red colour.</a:t>
            </a:r>
          </a:p>
          <a:p xmlns:a="http://schemas.openxmlformats.org/drawingml/2006/main">
            <a:r>
              <a:t>MAR-B · Pack checked 27 August 2026</a:t>
            </a:r>
          </a:p>
          <a:p xmlns:a="http://schemas.openxmlformats.org/drawingml/2006/main">
            <a:r>
              <a:t>European Space Agency Education · local adapted fact card</a:t>
            </a:r>
          </a:p>
          <a:p xmlns:a="http://schemas.openxmlformats.org/drawingml/2006/main">
            <a:r>
              <a:t>Fine dust rich in iron oxides covers much of Mars. Winds can lift this red dust into the thin atmosphere.</a:t>
            </a:r>
          </a:p>
          <a:p xmlns:a="http://schemas.openxmlformats.org/drawingml/2006/main">
            <a:r>
              <a:t>MAR-C · Pack checked 27 August 2026</a:t>
            </a:r>
          </a:p>
          <a:p xmlns:a="http://schemas.openxmlformats.org/drawingml/2006/main">
            <a:r>
              <a:t>Royal Museums Greenwich Education · local adapted fact card</a:t>
            </a:r>
          </a:p>
          <a:p xmlns:a="http://schemas.openxmlformats.org/drawingml/2006/main">
            <a:r>
              <a:t>From Earth, Mars has a red-orange appearance. Iron oxide in its surface dust is the main reason for this colour.</a:t>
            </a:r>
          </a:p>
          <a:p xmlns:a="http://schemas.openxmlformats.org/drawingml/2006/main">
            <a:r>
              <a:t>How long do Earth and Mars take to orbit the Sun?</a:t>
            </a:r>
          </a:p>
          <a:p xmlns:a="http://schemas.openxmlformats.org/drawingml/2006/main">
            <a:r>
              <a:t>ORB-A · Pack checked 27 August 2026</a:t>
            </a:r>
          </a:p>
          <a:p xmlns:a="http://schemas.openxmlformats.org/drawingml/2006/main">
            <a:r>
              <a:t>NASA Science · local adapted fact card</a:t>
            </a:r>
          </a:p>
          <a:p xmlns:a="http://schemas.openxmlformats.org/drawingml/2006/main">
            <a:r>
              <a:t>Earth takes about 365.25 Earth days to orbit the Sun. Mars takes about 687 Earth days.</a:t>
            </a:r>
          </a:p>
          <a:p xmlns:a="http://schemas.openxmlformats.org/drawingml/2006/main">
            <a:r>
              <a:t>ORB-B · Pack checked 27 August 2026</a:t>
            </a:r>
          </a:p>
          <a:p xmlns:a="http://schemas.openxmlformats.org/drawingml/2006/main">
            <a:r>
              <a:t>European Space Agency Education · local adapted fact card</a:t>
            </a:r>
          </a:p>
          <a:p xmlns:a="http://schemas.openxmlformats.org/drawingml/2006/main">
            <a:r>
              <a:t>Mars is farther from the Sun than Earth and its orbit takes longer. One Martian year is nearly two Earth years.</a:t>
            </a:r>
          </a:p>
          <a:p xmlns:a="http://schemas.openxmlformats.org/drawingml/2006/main">
            <a:r>
              <a:t>ORB-C · Pack checked 27 August 2026</a:t>
            </a:r>
          </a:p>
          <a:p xmlns:a="http://schemas.openxmlformats.org/drawingml/2006/main">
            <a:r>
              <a:t>Royal Museums Greenwich Education · local adapted fact card</a:t>
            </a:r>
          </a:p>
          <a:p xmlns:a="http://schemas.openxmlformats.org/drawingml/2006/main">
            <a:r>
              <a:t>Earth is the third planet and Mars is the fourth. A Mars year lasts about 687 Earth days, compared with about 365 days for Earth.</a:t>
            </a:r>
          </a:p>
          <a:p xmlns:a="http://schemas.openxmlformats.org/drawingml/2006/main">
            <a:r>
              <a:t>Open print-friendly local source cards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Choose one question, compare its three local cards and prepare three facts in your own words.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Record source code, key meaning, own-word note and use/check/leave-out choice in separate boxes.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The nine local dated source cards in this lesson, a paper or local-page note grid and pencil or school device.</a:t>
            </a:r>
          </a:p>
          <a:p xmlns:a="http://schemas.openxmlformats.org/drawingml/2006/main">
            <a:r>
              <a:t>Same outcome: I can research one solar system focus using suitable sources, accurate notes and a clear source record.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source cards stored inside this lesson page; no web access is needed. Type notes locally and record each source code.</a:t>
            </a:r>
          </a:p>
          <a:p xmlns:a="http://schemas.openxmlformats.org/drawingml/2006/main">
            <a:r>
              <a:t>Same evidence: One chosen question, three accurate own-word facts, at least two source codes, one agreement check and one card to check or leave out.</a:t>
            </a:r>
          </a:p>
          <a:p xmlns:a="http://schemas.openxmlformats.org/drawingml/2006/main">
            <a:r>
              <a:t>Equipment / setup The nine local dated source cards in this lesson, a paper or local-page note grid and pencil or school device.</a:t>
            </a:r>
          </a:p>
          <a:p xmlns:a="http://schemas.openxmlformats.org/drawingml/2006/main">
            <a:r>
              <a:t>Safety / sensory No website, account or personal information is needed. Use the local lesson page or printed cards and follow school device routines.</a:t>
            </a:r>
          </a:p>
          <a:p xmlns:a="http://schemas.openxmlformats.org/drawingml/2006/main">
            <a:r>
              <a:t>Offline parity Use the source cards stored inside this lesson page; no web access is needed. Type notes locally and record each source code.</a:t>
            </a:r>
          </a:p>
          <a:p xmlns:a="http://schemas.openxmlformats.org/drawingml/2006/main">
            <a:r>
              <a:t>No-equipment/access route: Use the same nine dated source cards printed from the lesson. Write or scribe the notes on paper.</a:t>
            </a:r>
          </a:p>
          <a:p xmlns:a="http://schemas.openxmlformats.org/drawingml/2006/main">
            <a:r>
              <a:t>Open embedded local source bank · 9 dated cards</a:t>
            </a:r>
          </a:p>
          <a:p xmlns:a="http://schemas.openxmlformats.org/drawingml/2006/main">
            <a:r>
              <a:t>What are Saturn's rings made of?</a:t>
            </a:r>
          </a:p>
          <a:p xmlns:a="http://schemas.openxmlformats.org/drawingml/2006/main">
            <a:r>
              <a:t>SAT-A · Pack checked 27 August 2026</a:t>
            </a:r>
          </a:p>
          <a:p xmlns:a="http://schemas.openxmlformats.org/drawingml/2006/main">
            <a:r>
              <a:t>NASA Science · local adapted fact card</a:t>
            </a:r>
          </a:p>
          <a:p xmlns:a="http://schemas.openxmlformats.org/drawingml/2006/main">
            <a:r>
              <a:t>Saturn's rings contain billions of separate pieces of ice and rock. The pieces range from tiny grains to much larger chunks.</a:t>
            </a:r>
          </a:p>
          <a:p xmlns:a="http://schemas.openxmlformats.org/drawingml/2006/main">
            <a:r>
              <a:t>SAT-B · Pack checked 27 August 2026</a:t>
            </a:r>
          </a:p>
          <a:p xmlns:a="http://schemas.openxmlformats.org/drawingml/2006/main">
            <a:r>
              <a:t>European Space Agency Education · local adapted fact card</a:t>
            </a:r>
          </a:p>
          <a:p xmlns:a="http://schemas.openxmlformats.org/drawingml/2006/main">
            <a:r>
              <a:t>Water ice makes up much of Saturn's bright rings. Dust and rocky material are mixed with the ice.</a:t>
            </a:r>
          </a:p>
          <a:p xmlns:a="http://schemas.openxmlformats.org/drawingml/2006/main">
            <a:r>
              <a:t>SAT-C · Pack checked 27 August 2026</a:t>
            </a:r>
          </a:p>
          <a:p xmlns:a="http://schemas.openxmlformats.org/drawingml/2006/main">
            <a:r>
              <a:t>Royal Museums Greenwich Education · local adapted fact card</a:t>
            </a:r>
          </a:p>
          <a:p xmlns:a="http://schemas.openxmlformats.org/drawingml/2006/main">
            <a:r>
              <a:t>Saturn's rings are many narrow ringlets, not one solid sheet. Icy pieces reflect sunlight, helping the rings look bright.</a:t>
            </a:r>
          </a:p>
          <a:p xmlns:a="http://schemas.openxmlformats.org/drawingml/2006/main">
            <a:r>
              <a:t>Why does Mars look red?</a:t>
            </a:r>
          </a:p>
          <a:p xmlns:a="http://schemas.openxmlformats.org/drawingml/2006/main">
            <a:r>
              <a:t>MAR-A · Pack checked 27 August 2026</a:t>
            </a:r>
          </a:p>
          <a:p xmlns:a="http://schemas.openxmlformats.org/drawingml/2006/main">
            <a:r>
              <a:t>NASA Science · local adapted fact card</a:t>
            </a:r>
          </a:p>
          <a:p xmlns:a="http://schemas.openxmlformats.org/drawingml/2006/main">
            <a:r>
              <a:t>Iron minerals in Martian rock and soil reacted with oxygen over time. The iron oxide produced is like rust and gives much of the surface a red colour.</a:t>
            </a:r>
          </a:p>
          <a:p xmlns:a="http://schemas.openxmlformats.org/drawingml/2006/main">
            <a:r>
              <a:t>MAR-B · Pack checked 27 August 2026</a:t>
            </a:r>
          </a:p>
          <a:p xmlns:a="http://schemas.openxmlformats.org/drawingml/2006/main">
            <a:r>
              <a:t>European Space Agency Education · local adapted fact card</a:t>
            </a:r>
          </a:p>
          <a:p xmlns:a="http://schemas.openxmlformats.org/drawingml/2006/main">
            <a:r>
              <a:t>Fine dust rich in iron oxides covers much of Mars. Winds can lift this red dust into the thin atmosphere.</a:t>
            </a:r>
          </a:p>
          <a:p xmlns:a="http://schemas.openxmlformats.org/drawingml/2006/main">
            <a:r>
              <a:t>MAR-C · Pack checked 27 August 2026</a:t>
            </a:r>
          </a:p>
          <a:p xmlns:a="http://schemas.openxmlformats.org/drawingml/2006/main">
            <a:r>
              <a:t>Royal Museums Greenwich Education · local adapted fact card</a:t>
            </a:r>
          </a:p>
          <a:p xmlns:a="http://schemas.openxmlformats.org/drawingml/2006/main">
            <a:r>
              <a:t>From Earth, Mars has a red-orange appearance. Iron oxide in its surface dust is the main reason for this colour.</a:t>
            </a:r>
          </a:p>
          <a:p xmlns:a="http://schemas.openxmlformats.org/drawingml/2006/main">
            <a:r>
              <a:t>How long do Earth and Mars take to orbit the Sun?</a:t>
            </a:r>
          </a:p>
          <a:p xmlns:a="http://schemas.openxmlformats.org/drawingml/2006/main">
            <a:r>
              <a:t>ORB-A · Pack checked 27 August 2026</a:t>
            </a:r>
          </a:p>
          <a:p xmlns:a="http://schemas.openxmlformats.org/drawingml/2006/main">
            <a:r>
              <a:t>NASA Science · local adapted fact card</a:t>
            </a:r>
          </a:p>
          <a:p xmlns:a="http://schemas.openxmlformats.org/drawingml/2006/main">
            <a:r>
              <a:t>Earth takes about 365.25 Earth days to orbit the Sun. Mars takes about 687 Earth days.</a:t>
            </a:r>
          </a:p>
          <a:p xmlns:a="http://schemas.openxmlformats.org/drawingml/2006/main">
            <a:r>
              <a:t>ORB-B · Pack checked 27 August 2026</a:t>
            </a:r>
          </a:p>
          <a:p xmlns:a="http://schemas.openxmlformats.org/drawingml/2006/main">
            <a:r>
              <a:t>European Space Agency Education · local adapted fact card</a:t>
            </a:r>
          </a:p>
          <a:p xmlns:a="http://schemas.openxmlformats.org/drawingml/2006/main">
            <a:r>
              <a:t>Mars is farther from the Sun than Earth and its orbit takes longer. One Martian year is nearly two Earth years.</a:t>
            </a:r>
          </a:p>
          <a:p xmlns:a="http://schemas.openxmlformats.org/drawingml/2006/main">
            <a:r>
              <a:t>ORB-C · Pack checked 27 August 2026</a:t>
            </a:r>
          </a:p>
          <a:p xmlns:a="http://schemas.openxmlformats.org/drawingml/2006/main">
            <a:r>
              <a:t>Royal Museums Greenwich Education · local adapted fact card</a:t>
            </a:r>
          </a:p>
          <a:p xmlns:a="http://schemas.openxmlformats.org/drawingml/2006/main">
            <a:r>
              <a:t>Earth is the third planet and Mars is the fourth. A Mars year lasts about 687 Earth days, compared with about 365 days for Earth.</a:t>
            </a:r>
          </a:p>
          <a:p xmlns:a="http://schemas.openxmlformats.org/drawingml/2006/main">
            <a:r>
              <a:t>Open print-friendly local source cards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Choose one question, compare its three local cards and prepare three facts in your own words.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Record source code, key meaning, own-word note and use/check/leave-out choice in separate boxes.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SCI_G_W10A_Solar_System_Research_Explore.html.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Checking a source helps, but it does not guarantee that every statement is right. Facts may be shortened, updated or given with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why one chosen note is ready for a presentation and one other item is not.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SCI_G_W10A_Solar_System_Research_Explore.html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5726b3cbf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19d9201f3424d" /><Relationship Type="http://schemas.openxmlformats.org/officeDocument/2006/relationships/slideLayout" Target="/ppt/slideLayouts/slideLayout1.xml" Id="Ra05b4645fed249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5b4645fed249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a6878dfa4de2" /><Relationship Type="http://schemas.openxmlformats.org/officeDocument/2006/relationships/hyperlink" Target="SCI_G_W10A_Solar_System_Research_Explore.html" TargetMode="External" Id="R5bfefbb55f7c45db" /><Relationship Type="http://schemas.openxmlformats.org/officeDocument/2006/relationships/notesSlide" Target="/ppt/notesSlides/notesSlide1.xml" Id="R04b2cda09f67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7eb1bc586445e" /><Relationship Type="http://schemas.openxmlformats.org/officeDocument/2006/relationships/notesSlide" Target="/ppt/notesSlides/notesSlide2.xml" Id="Rbd47b523a5b4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cfc86858d410e" /><Relationship Type="http://schemas.openxmlformats.org/officeDocument/2006/relationships/notesSlide" Target="/ppt/notesSlides/notesSlide3.xml" Id="Rccefbe92f977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6207ecd374386" /><Relationship Type="http://schemas.openxmlformats.org/officeDocument/2006/relationships/notesSlide" Target="/ppt/notesSlides/notesSlide4.xml" Id="Rc8ba136bcde7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ba75d3a474051" /><Relationship Type="http://schemas.openxmlformats.org/officeDocument/2006/relationships/notesSlide" Target="/ppt/notesSlides/notesSlide5.xml" Id="R79b00227ded045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c9a46431a45ee" /><Relationship Type="http://schemas.openxmlformats.org/officeDocument/2006/relationships/image" Target="/ppt/media/image.png" Id="R627244a030fd474d" /><Relationship Type="http://schemas.openxmlformats.org/officeDocument/2006/relationships/image" Target="/ppt/media/image2.png" Id="R9606c796b6644ec2" /><Relationship Type="http://schemas.openxmlformats.org/officeDocument/2006/relationships/image" Target="/ppt/media/image3.png" Id="R847c7141b4784f12" /><Relationship Type="http://schemas.openxmlformats.org/officeDocument/2006/relationships/notesSlide" Target="/ppt/notesSlides/notesSlide6.xml" Id="R630607a37dcd41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3ace553434462" /><Relationship Type="http://schemas.openxmlformats.org/officeDocument/2006/relationships/notesSlide" Target="/ppt/notesSlides/notesSlide7.xml" Id="Rba9272bc59fb48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362dddba04594" /><Relationship Type="http://schemas.openxmlformats.org/officeDocument/2006/relationships/notesSlide" Target="/ppt/notesSlides/notesSlide8.xml" Id="Rff8fe74b2a8c4b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64264ad7c423e" /><Relationship Type="http://schemas.openxmlformats.org/officeDocument/2006/relationships/notesSlide" Target="/ppt/notesSlides/notesSlide9.xml" Id="Rdedf1f85f14f47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9ea03ef6c4b1e" /><Relationship Type="http://schemas.openxmlformats.org/officeDocument/2006/relationships/notesSlide" Target="/ppt/notesSlides/notesSlide10.xml" Id="R3930d5c4ab50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02b838804592" /><Relationship Type="http://schemas.openxmlformats.org/officeDocument/2006/relationships/notesSlide" Target="/ppt/notesSlides/notesSlide11.xml" Id="R1edd8ec0d39a47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6e2bd40404b7a" /><Relationship Type="http://schemas.openxmlformats.org/officeDocument/2006/relationships/notesSlide" Target="/ppt/notesSlides/notesSlide12.xml" Id="Rec8539ec879443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bc8ecbe3648cc" /><Relationship Type="http://schemas.openxmlformats.org/officeDocument/2006/relationships/notesSlide" Target="/ppt/notesSlides/notesSlide13.xml" Id="Rb094a19d87ed4c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291b5b86401b" /><Relationship Type="http://schemas.openxmlformats.org/officeDocument/2006/relationships/notesSlide" Target="/ppt/notesSlides/notesSlide14.xml" Id="R6cd333fd389447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e41dc41e0427e" /><Relationship Type="http://schemas.openxmlformats.org/officeDocument/2006/relationships/notesSlide" Target="/ppt/notesSlides/notesSlide15.xml" Id="Rd3683ac0a3a043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0375f35634c40" /><Relationship Type="http://schemas.openxmlformats.org/officeDocument/2006/relationships/notesSlide" Target="/ppt/notesSlides/notesSlide16.xml" Id="R3a8058bcb6d4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6EFEE197-ABA6-48B7-B61B-A7568CF0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D564187-4D2C-4AE3-A971-10763E5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8152732-1DF5-4788-A7B7-990D6D1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CD1431-5011-4093-A90B-7914022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Solar System Research: Evidence Desk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1CFC85D-07E2-4E91-BEB9-3067049B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ED37916-BF2F-4C81-9C17-F7C079C8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research one Solar System focus using suitable sources, accurate notes and a clear source record.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3A0C2A5F-06FD-441B-B133-1404D4F2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12D1C32D-1521-4E11-9442-96F48F3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focused question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1E3D3419-C535-4109-B241-2C2D697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2E96BA00-F5BB-472D-895D-C15E792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0483ED5A-457B-443F-AFB0-2066B8B6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Accurate notes in your own words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5B7EE17C-BAB3-4397-BAFF-07701383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306DD2B5-0AAF-422D-AC67-BA33085D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1E51C436-2964-43CB-979F-E11072AA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source record another person can check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116AA827-0BAB-44B5-A255-7DB5E5E6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9B72B8D0-216D-4E5B-B685-42569250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5bfefbb55f7c45db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4FDC65E6-1F11-4C08-9497-AB3B9D26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5B63EEC2-DEC4-4B18-818C-7C95BA3A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122113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E81099B-580D-42D0-B9C1-3229583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A6B22FE-DF5E-48C0-8493-54CF3DA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8B15F7D-5778-4710-8CFD-C5F0D09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C7EB27-CB59-40F2-B5FA-89BDDF9E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CE00FAC-9626-4903-9CF8-35373E7D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AE5C9B9-C08F-44D9-9286-2D1F852B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Ask a focused research question about the Solar System.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D0FD794-41FE-49ED-8FB4-8A2F5988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Select useful information and paraphrase it accurately.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F978E8A-E84F-48C2-9D32-82F4D256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where each fact came from and flag claims that need checking.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7AF3068-5B93-4012-8869-75FE3504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D2FBEAD-479B-4186-808C-EAAC92E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710062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5F63D1E-C46C-466A-BD43-E021BF4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EA6F395-BD90-47F1-BD72-9550E3AF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D76D6EB-4788-4530-8D25-BBD90FF9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ED680F-0067-4165-A60A-F5A56FC8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B058853-F74A-4C2B-8CD9-E2768B1F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37AB750-5E83-416D-BD74-C7590B46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were three views stronger than one?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4D5B7EF-9553-4854-9EC3-88CB06E8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state one model limitation from the shape lab.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525295D-B045-47D4-A034-85121FE3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Earlier space learning: state one fact about a planet and how you know it.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4930B4D-4C4C-49B4-A0F3-EB2A5FC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makes a research question focused enough to answer?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B7D4636-DFB2-4199-9B91-DB028801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B88AAA3-AEE0-4E6F-88F2-25F8E03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646710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59DA827-FE97-4374-8315-ACF3959D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82DCAFD-1C58-4053-A37D-3186A011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217ED40-DC57-4047-B84F-5158A21F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B4C196-5BB9-4CDD-A021-E82FDF7C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 find three different statements about Jupiter. Which would you use first? Commit before the source check.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A0B162-4433-4BC5-89CA-94611F9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2497C0F-854C-48C8-B641-43AF5009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563572E-EDB4-48A5-A30E-C921E8E0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shortest statement, because it is quickest to copy.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F6C6930-745A-4898-BB98-47C9783B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relevant statement from a named, suitable source that can be checked.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D04A155-F862-447F-BC52-E752A93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statement on the brightest page.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F2C48F1-ACCC-44B4-9180-8364C5FF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E9B0024-3493-4726-89E7-FB0F01B8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586468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3A0C1D4-5B4C-48BC-885A-6BE8AC2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6B90A9E-DE33-492C-B833-258E099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044DF9A-5B3D-4C2E-B40B-B92F7307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C9F6AE-CDFC-45D9-955D-08E5CB0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91281F1-FE2B-46ED-B677-0AF48F6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7E3646B-8D2E-46BC-B43E-E515536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Question first: decide exactly what you need to find out.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E71DE74-7C12-439A-8A60-D2BAAA5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Source check: identify author or organisation, relevance and date where available.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530C7B4-4408-4534-B796-FBF2679B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Note carefully: preserve meaning, use your own words and record the source.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C119D00-1FC1-4DC8-B5DC-9A408EF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1FF63A5-BF53-4DB8-A570-55F3C73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2114958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0E94AD1-02A7-4CF6-9484-76E94C5B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E1998E8-2111-4465-A92B-6062AF0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707639C-20F1-49FB-B2EE-3900F054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B8400F-92F0-46FF-AD6B-4DAF11F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4C616DF-FB54-4AAD-94DB-7E58219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244a030fd474d"/>
          <a:stretch xmlns:a="http://schemas.openxmlformats.org/drawingml/2006/main"/>
        </p:blipFill>
        <p:spPr>
          <a:xfrm xmlns:a="http://schemas.openxmlformats.org/drawingml/2006/main">
            <a:off x="8001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B97002D-C943-4C4E-A1D3-173A666B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Question first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6c796b6644ec2"/>
          <a:stretch xmlns:a="http://schemas.openxmlformats.org/drawingml/2006/main"/>
        </p:blipFill>
        <p:spPr>
          <a:xfrm xmlns:a="http://schemas.openxmlformats.org/drawingml/2006/main">
            <a:off x="44069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EA4AA590-844C-4904-8627-493663D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 source cards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c7141b4784f12"/>
          <a:stretch xmlns:a="http://schemas.openxmlformats.org/drawingml/2006/main"/>
        </p:blipFill>
        <p:spPr>
          <a:xfrm xmlns:a="http://schemas.openxmlformats.org/drawingml/2006/main">
            <a:off x="80137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81DBCB8E-4FD8-4813-81A9-7B1ACCEA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note in own words with its source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00BA34B8-CFA2-4E73-8027-1CFE6586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B0FFC04-61C5-4251-AD6E-D0E37BA7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653887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F963D7D-93B4-40B6-9B8B-84318699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CEE4C1D-FBA3-4213-9022-5A82F57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4BCF57F-8B8A-4178-9ECC-0230066F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4154DB-E7C5-4E4F-8502-4DE208E6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BBBA2D0-EDC1-4466-9597-20A4050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F7FBB29-A3F9-436A-B339-B1CD84E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source — where information came from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518E5C3-B3CA-4857-9EBE-6E9D1D3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credible — reasonable to trust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44D4F00-1A53-4870-AC02-C5DD20A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paraphrase — same meaning, your words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D97147C-A2DC-4ADB-BC3A-E90741C6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8E25F46-791B-4F93-B7E0-8891C92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431163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7C66922-73CC-4DBD-8D03-86AA1861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24E1296-9153-40B7-AC40-5FE01FCD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2591199-0935-4413-8118-28158DD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9181D4-E3C1-4EEA-B0E8-313753F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7ECDEEE-DB97-4C0D-97BD-3F6D2FA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95E4F4E-4040-44FF-A4B9-3046AFCD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Turn a broad topic into one answerable question, such as: How long does Mars take to orbit the Sun?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BBA7046-BE9A-4F6B-93AA-90591B65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whether a source names a science organisation or author, answers the question and gives information you can compare with another source.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BFFC33A-FA37-4AED-A998-469C17F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Mark each candidate claim keep, check or reject. A professional-looking page is not evidence by itself.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0D9ACB6-E8EC-4ABB-A9B2-E8319B09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690D3DD-D952-46C2-9192-D120DBED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78652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0B1D7F8-8323-4D4E-977B-D83BEE9E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6B4D1C0-BDD9-4372-967B-1092972B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4EAEC58-9A17-4D28-8F7A-2A4CF216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0E3D53-8C42-4B38-939C-91A898AC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note is ready to use in a Solar System research record?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68302A2-ECCF-4001-82BD-8206D398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D7541C9-1347-431F-9344-FBAB7829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‘Mars is cool!!!’ copied from an unnamed post.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5B546FD-C4CD-4997-BCC0-1697D560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‘Mars takes about 687 Earth days to orbit the Sun’ paraphrased, with the checked source recorded.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0302287-2CBB-4EDF-A9FE-629FF00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 full paragraph pasted from the first search result with no source name.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4F0B15F-6E06-4770-B45D-1666E8E6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24B207E-76E5-4E22-B874-6B4089A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56284C7-A96D-4622-B6BA-B23FD47E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768094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E086403-02E5-47C2-BB77-3DE0714D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CF7B3CE-FF67-44F5-8194-0A799945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7AE957B-CAAA-456E-879C-974A9BF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50DF84-6E9B-4627-ABF3-C42064D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1AB6B8F-22E8-4E8F-9897-E72CFA8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CA4A6AE-C861-458A-A7CC-AC36E70E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one short source statement, look away, then write the key meaning in fewer words.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A2DE9F1-A876-4995-A1DD-03BBE0B7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the note with the source: keep number, unit and relationship accurate; repair any changed meaning.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70FAFBB-41D8-445C-8C79-4B7EA360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the source code and a check status. If two cards differ, record the difference rather than hiding it.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256F5C3-146B-4FDB-AAAC-BE84F7B5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3978926-EA95-4625-A0D7-CE808E9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2191227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4574E26-E386-45B5-AD72-AF66369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F585085-7541-4368-9FBF-14952E9C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4342B5E-277B-406F-9847-96C00045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61116F-523B-41FC-B10E-A1C8F3D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BD08D86-0FF4-493E-9ED2-8272624E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131DBCA-6393-4858-9688-E395A2D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Research glitch: copy a full paragraph because the source is accurate.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D65B1D0-51EB-443E-9CE3-9C075100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accuracy makes copying acceptable.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78EA11E-5478-4460-A4C0-36709A0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paraphrase the needed meaning accurately and record the source.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B9FB239-913F-4E33-901D-D2E9AD8E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remove the source so the wording looks original.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C3DE3C7-475D-4FB3-904B-C8656586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739A357-99E7-4FDE-B3DF-9501F8A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2116052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293376B-E21F-46B2-BCC3-22E674B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EDA1B27-365B-4A4F-BC5F-3A057B3B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A944CA0-AB4E-4E31-8558-01CA467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79E927-6216-40C0-A97E-B1086B2D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Solar System evidence desk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E3A7C00-569F-49BA-8CA6-B2261CCC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4C0E75F-1833-4440-A906-9ADCB4E3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research item to keep, check or reject, then freeze the decisions you can justify.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B28C8A6-F84D-4E46-8ED5-5234668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one source-and-note card.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DB65467-9905-4A81-8A2B-DCC25016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keep, check or reject.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91F7CBB-59ED-4220-A54D-364F2A1C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feedback to repair the decision.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9351066-87A4-4208-958A-06F9FE2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at least two decisions and explain the rule used.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DF69644-B371-457B-8DA8-BC2F5E8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70214253-847D-4283-89A1-3DC15EFA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B2C378D-2373-4602-8A2C-A7777CA2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324222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D7CA77-437D-436E-AC40-D8CCE7EF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121F85A-20EF-4B03-AB7E-CE54C4D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0622D60-EB32-4F29-9A32-64092B9E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1F7DF2-7EB3-42DA-AF56-EBFC1FA2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B209E28-7EF2-43C0-9C67-A63865F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06A7E4C-4331-49B2-8139-4B84AB95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for the record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E0C7FA7-A074-4C13-B499-A79330F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before use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51A9EB5-B347-48F4-BAB8-BB5EB46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Reject for this question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B9A6575-829C-4331-AE62-B5A12D03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one decision rule and show how a frozen card meets or fails it.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AE24208-792D-4E8F-9235-290A22B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92207DB-2B48-41FA-A40A-253C78F5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755226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A00963E-61A0-4B29-9C4E-52D06FCF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56DDCDC-4763-46F0-89E6-90190E44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B51B03-4825-46A1-9937-0B1E772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B5D8B9-F06F-4FA5-AB29-9314B3F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D6DA56A-FBCD-40FF-854D-DBC70E36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EC2C321-25F2-4090-9F3A-A85C8CF8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one local Solar System question and prepare a three-fact research record for the next lesson.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F733045-B391-4320-862B-6FB53016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One chosen question, three accurate own-word facts, at least two source codes, one agreement check and one card to check or leave out.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1AF996D-8F47-496F-8BFE-1B6A1188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0D19FCD-BEBE-49E4-A6C7-FC6F3CB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2092090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1BAA060-ED8E-4F31-AD3F-6DB82D49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F069B2A-2329-49DA-984C-D12B8A9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D8BFF19-7840-4DD3-9C49-49F64D18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AACD01-6A8A-479A-9E0F-6C44199A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ABBC79-CADB-4D51-8E26-12BA232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5D69764-2ECC-47FD-89F2-AB9E277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Choose one question and use its three local cards to complete three short source-note rows.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9F8AD5E-29CC-4DDE-B60A-05BAD04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Choose one question, compare its three local cards and prepare three facts in your own words.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3ED18D0-1F43-47A7-93F9-52CD922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Research a question with a comparison or explanation, cross-check claims and note any uncertainty or disagreement.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9F21011-E4AF-4E35-839B-BD07B2AA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58C7D8D-ADF0-4E41-96B7-5D58CF15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21104645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EFE93C0-989F-41ED-9978-F8E1840A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95241AD-9368-409E-BC2E-F9FCC4E8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6D4259C-FF18-426B-9AB8-7BB02AF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E5D136-7A5C-47DE-81BD-8FEFE2C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5F3F1B9-8A62-4E72-9AC5-0C40887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ABB30D5-217D-42D9-AA14-1A3542F1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why one chosen note is ready for a presentation and one other item is not.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F8B870B-4E50-4ED9-A383-C9B5691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D60A22C-EE63-4DE0-8178-C40ED4B9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DB7D533-BF76-45B4-B94F-226774C1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285344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2026-09-08T08:54:11.3460000Z</dcterms:created>
  <dcterms:modified xsi:type="dcterms:W3CDTF">2026-09-08T08:54:11.3460000Z</dcterms:modified>
</coreProperties>
</file>