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bec0d3d6ba4e34" /><Relationship Type="http://schemas.openxmlformats.org/officeDocument/2006/relationships/extended-properties" Target="/docProps/app.xml" Id="Rfa3edaaec86c43f5" /><Relationship Type="http://schemas.openxmlformats.org/officeDocument/2006/relationships/officeDocument" Target="/ppt/presentation.xml" Id="R1e89060b2e43435d" /></Relationships>
</file>

<file path=ppt/presentation.xml><?xml version="1.0" encoding="utf-8"?>
<p:presentation xmlns:p="http://schemas.openxmlformats.org/presentationml/2006/main">
  <p:sldMasterIdLst>
    <p:sldMasterId xmlns:r="http://schemas.openxmlformats.org/officeDocument/2006/relationships" id="2147483648" r:id="Rd5f7a33dc20f4e34"/>
  </p:sldMasterIdLst>
  <p:notesMasterIdLst>
    <p:notesMasterId xmlns:r="http://schemas.openxmlformats.org/officeDocument/2006/relationships" r:id="R14b53cdb0c1d4d89"/>
  </p:notesMasterIdLst>
  <p:sldIdLst>
    <p:sldId xmlns:r="http://schemas.openxmlformats.org/officeDocument/2006/relationships" id="256" r:id="R0dbca7136c1c4529"/>
    <p:sldId xmlns:r="http://schemas.openxmlformats.org/officeDocument/2006/relationships" id="257" r:id="R6eb31f2f78534416"/>
    <p:sldId xmlns:r="http://schemas.openxmlformats.org/officeDocument/2006/relationships" id="258" r:id="R0dfd1c396462433a"/>
    <p:sldId xmlns:r="http://schemas.openxmlformats.org/officeDocument/2006/relationships" id="259" r:id="Rda00d021e19a440b"/>
    <p:sldId xmlns:r="http://schemas.openxmlformats.org/officeDocument/2006/relationships" id="260" r:id="R8df5e9f8bb284e69"/>
    <p:sldId xmlns:r="http://schemas.openxmlformats.org/officeDocument/2006/relationships" id="261" r:id="R7d4224cea9c74d44"/>
    <p:sldId xmlns:r="http://schemas.openxmlformats.org/officeDocument/2006/relationships" id="262" r:id="R94e9c23f50ca4af0"/>
    <p:sldId xmlns:r="http://schemas.openxmlformats.org/officeDocument/2006/relationships" id="263" r:id="R6a43229608364fe6"/>
    <p:sldId xmlns:r="http://schemas.openxmlformats.org/officeDocument/2006/relationships" id="264" r:id="R16f7b8a3de284fa6"/>
    <p:sldId xmlns:r="http://schemas.openxmlformats.org/officeDocument/2006/relationships" id="265" r:id="Rac1a94a0e9a849da"/>
    <p:sldId xmlns:r="http://schemas.openxmlformats.org/officeDocument/2006/relationships" id="266" r:id="R7a82a95449d948a3"/>
    <p:sldId xmlns:r="http://schemas.openxmlformats.org/officeDocument/2006/relationships" id="267" r:id="R7cd88ec524ed42e5"/>
    <p:sldId xmlns:r="http://schemas.openxmlformats.org/officeDocument/2006/relationships" id="268" r:id="Rcc3ae610f0344738"/>
    <p:sldId xmlns:r="http://schemas.openxmlformats.org/officeDocument/2006/relationships" id="269" r:id="Rfa0d022a28924c57"/>
    <p:sldId xmlns:r="http://schemas.openxmlformats.org/officeDocument/2006/relationships" id="270" r:id="R2f288e93a55047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bffe53122c47d3" /><Relationship Type="http://schemas.openxmlformats.org/officeDocument/2006/relationships/slideMaster" Target="/ppt/slideMasters/slideMaster1.xml" Id="Rd5f7a33dc20f4e34" /><Relationship Type="http://schemas.openxmlformats.org/officeDocument/2006/relationships/notesMaster" Target="/ppt/notesMasters/notesMaster1.xml" Id="R14b53cdb0c1d4d89" /><Relationship Type="http://schemas.openxmlformats.org/officeDocument/2006/relationships/presProps" Target="/ppt/presProps.xml" Id="R2d1b66cb947d47d7" /><Relationship Type="http://schemas.openxmlformats.org/officeDocument/2006/relationships/tableStyles" Target="/ppt/tableStyles.xml" Id="R71da4dafa6444c50" /><Relationship Type="http://schemas.openxmlformats.org/officeDocument/2006/relationships/slide" Target="/ppt/slides/slide1.xml" Id="R0dbca7136c1c4529" /><Relationship Type="http://schemas.openxmlformats.org/officeDocument/2006/relationships/slide" Target="/ppt/slides/slide2.xml" Id="R6eb31f2f78534416" /><Relationship Type="http://schemas.openxmlformats.org/officeDocument/2006/relationships/slide" Target="/ppt/slides/slide3.xml" Id="R0dfd1c396462433a" /><Relationship Type="http://schemas.openxmlformats.org/officeDocument/2006/relationships/slide" Target="/ppt/slides/slide4.xml" Id="Rda00d021e19a440b" /><Relationship Type="http://schemas.openxmlformats.org/officeDocument/2006/relationships/slide" Target="/ppt/slides/slide5.xml" Id="R8df5e9f8bb284e69" /><Relationship Type="http://schemas.openxmlformats.org/officeDocument/2006/relationships/slide" Target="/ppt/slides/slide6.xml" Id="R7d4224cea9c74d44" /><Relationship Type="http://schemas.openxmlformats.org/officeDocument/2006/relationships/slide" Target="/ppt/slides/slide7.xml" Id="R94e9c23f50ca4af0" /><Relationship Type="http://schemas.openxmlformats.org/officeDocument/2006/relationships/slide" Target="/ppt/slides/slide8.xml" Id="R6a43229608364fe6" /><Relationship Type="http://schemas.openxmlformats.org/officeDocument/2006/relationships/slide" Target="/ppt/slides/slide9.xml" Id="R16f7b8a3de284fa6" /><Relationship Type="http://schemas.openxmlformats.org/officeDocument/2006/relationships/slide" Target="/ppt/slides/slide10.xml" Id="Rac1a94a0e9a849da" /><Relationship Type="http://schemas.openxmlformats.org/officeDocument/2006/relationships/slide" Target="/ppt/slides/slide11.xml" Id="R7a82a95449d948a3" /><Relationship Type="http://schemas.openxmlformats.org/officeDocument/2006/relationships/slide" Target="/ppt/slides/slide12.xml" Id="R7cd88ec524ed42e5" /><Relationship Type="http://schemas.openxmlformats.org/officeDocument/2006/relationships/slide" Target="/ppt/slides/slide13.xml" Id="Rcc3ae610f0344738" /><Relationship Type="http://schemas.openxmlformats.org/officeDocument/2006/relationships/slide" Target="/ppt/slides/slide14.xml" Id="Rfa0d022a28924c57" /><Relationship Type="http://schemas.openxmlformats.org/officeDocument/2006/relationships/slide" Target="/ppt/slides/slide15.xml" Id="R2f288e93a55047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083c0d7be548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4cf904cf944a03" /><Relationship Type="http://schemas.openxmlformats.org/officeDocument/2006/relationships/notesMaster" Target="/ppt/notesMasters/notesMaster1.xml" Id="R2b63bda7bca24f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db52d002524358" /><Relationship Type="http://schemas.openxmlformats.org/officeDocument/2006/relationships/notesMaster" Target="/ppt/notesMasters/notesMaster1.xml" Id="Rdec1e5af6ccc4b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4bc5672ba54453" /><Relationship Type="http://schemas.openxmlformats.org/officeDocument/2006/relationships/notesMaster" Target="/ppt/notesMasters/notesMaster1.xml" Id="Rd1717852b4ee4a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32524d840e47a1" /><Relationship Type="http://schemas.openxmlformats.org/officeDocument/2006/relationships/notesMaster" Target="/ppt/notesMasters/notesMaster1.xml" Id="Re2f5fb6313dc4d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fda567e233498b" /><Relationship Type="http://schemas.openxmlformats.org/officeDocument/2006/relationships/notesMaster" Target="/ppt/notesMasters/notesMaster1.xml" Id="Rf6dd66823f2941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6453aedb544874" /><Relationship Type="http://schemas.openxmlformats.org/officeDocument/2006/relationships/notesMaster" Target="/ppt/notesMasters/notesMaster1.xml" Id="Rd76498595b274b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8fea7b055b4fbc" /><Relationship Type="http://schemas.openxmlformats.org/officeDocument/2006/relationships/notesMaster" Target="/ppt/notesMasters/notesMaster1.xml" Id="R7f8cf20c276246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b8c46382d64833" /><Relationship Type="http://schemas.openxmlformats.org/officeDocument/2006/relationships/notesMaster" Target="/ppt/notesMasters/notesMaster1.xml" Id="Reb688b4a949a44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7aafc981ae406e" /><Relationship Type="http://schemas.openxmlformats.org/officeDocument/2006/relationships/notesMaster" Target="/ppt/notesMasters/notesMaster1.xml" Id="R8b1e45ca50eb41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196b2aad204c47" /><Relationship Type="http://schemas.openxmlformats.org/officeDocument/2006/relationships/notesMaster" Target="/ppt/notesMasters/notesMaster1.xml" Id="R9299313f120b46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2be532e0f0485d" /><Relationship Type="http://schemas.openxmlformats.org/officeDocument/2006/relationships/notesMaster" Target="/ppt/notesMasters/notesMaster1.xml" Id="R51d9339dd28845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49799d80f6436b" /><Relationship Type="http://schemas.openxmlformats.org/officeDocument/2006/relationships/notesMaster" Target="/ppt/notesMasters/notesMaster1.xml" Id="Rdbeb07972e1b4ea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c7969b3c5b4767" /><Relationship Type="http://schemas.openxmlformats.org/officeDocument/2006/relationships/notesMaster" Target="/ppt/notesMasters/notesMaster1.xml" Id="R245506d8a89145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93f10f4a534c56" /><Relationship Type="http://schemas.openxmlformats.org/officeDocument/2006/relationships/notesMaster" Target="/ppt/notesMasters/notesMaster1.xml" Id="R711b9cb9ac01472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2a22ec7d4c34b32" /><Relationship Type="http://schemas.openxmlformats.org/officeDocument/2006/relationships/notesMaster" Target="/ppt/notesMasters/notesMaster1.xml" Id="R7eeb51fe6a6348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Start with target choice. The learner controls a process model, not real heating equipment.</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Yes. Evaporation changes liquid to gas at a surface; condensation changes gas to liquid. Evaporation can occur below the boiling temperature.</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8 minutes.</a:t>
            </a:r>
          </a:p>
          <a:p xmlns:a="http://schemas.openxmlformats.org/drawingml/2006/main">
            <a:r>
              <a:t/>
            </a:r>
          </a:p>
          <a:p xmlns:a="http://schemas.openxmlformats.org/drawingml/2006/main">
            <a:r>
              <a:t>Think aloud: I look at solubility, not just appearance. The ordinary filter catches sand grains but does not remove dissolved salt. The diagram is schematic; blue liquid below still contains salt.</a:t>
            </a:r>
          </a:p>
          <a:p xmlns:a="http://schemas.openxmlformats.org/drawingml/2006/main">
            <a:r>
              <a:t/>
            </a:r>
          </a:p>
          <a:p xmlns:a="http://schemas.openxmlformats.org/drawingml/2006/main">
            <a:r>
              <a:t>DIAGRAM DESCRIPTION</a:t>
            </a:r>
          </a:p>
          <a:p xmlns:a="http://schemas.openxmlformats.org/drawingml/2006/main">
            <a:r>
              <a:t>A schematic funnel and filter paper retain sand above the filter. Salt solution passes through and is collected below. Labels distinguish sand residue and filtrate still containing dissolved salt. Purple symbols represent dissolved salt; the larger brown grains represent retained sand.</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I do time. Model the target statement first: I need salt. Then trace the water leaving and salt remaining. No heating is requested; evaporation can occur over time at room temperature.</a:t>
            </a:r>
          </a:p>
          <a:p xmlns:a="http://schemas.openxmlformats.org/drawingml/2006/main">
            <a:r>
              <a:t/>
            </a:r>
          </a:p>
          <a:p xmlns:a="http://schemas.openxmlformats.org/drawingml/2006/main">
            <a:r>
              <a:t>DIAGRAM DESCRIPTION</a:t>
            </a:r>
          </a:p>
          <a:p xmlns:a="http://schemas.openxmlformats.org/drawingml/2006/main">
            <a:r>
              <a:t>A process model shows salt solution at left and salt remaining in a dish at right after water has evaporated into surrounding air. Water is not collected by this open process.</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I do time. The combined processes are the basis of distillation; naming distillation is optional. This is not a build diagram and does not certify drinking-water safety.</a:t>
            </a:r>
          </a:p>
          <a:p xmlns:a="http://schemas.openxmlformats.org/drawingml/2006/main">
            <a:r>
              <a:t/>
            </a:r>
          </a:p>
          <a:p xmlns:a="http://schemas.openxmlformats.org/drawingml/2006/main">
            <a:r>
              <a:t>DIAGRAM DESCRIPTION</a:t>
            </a:r>
          </a:p>
          <a:p xmlns:a="http://schemas.openxmlformats.org/drawingml/2006/main">
            <a:r>
              <a:t>A simplified scientific sequence: Salt solution; Water evaporates;</a:t>
            </a:r>
          </a:p>
          <a:p xmlns:a="http://schemas.openxmlformats.org/drawingml/2006/main">
            <a:r>
              <a:t>salt remains; Vapour cools</a:t>
            </a:r>
          </a:p>
          <a:p xmlns:a="http://schemas.openxmlformats.org/drawingml/2006/main">
            <a:r>
              <a:t>and condenses. Capture the vapour and collect the liquid water.</a:t>
            </a:r>
          </a:p>
          <a:p xmlns:a="http://schemas.openxmlformats.org/drawingml/2006/main">
            <a:r>
              <a:t>Process schematic only; not an apparatus-building guide.</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8 minutes.</a:t>
            </a:r>
          </a:p>
          <a:p xmlns:a="http://schemas.openxmlformats.org/drawingml/2006/main">
            <a:r>
              <a:t/>
            </a:r>
          </a:p>
          <a:p xmlns:a="http://schemas.openxmlformats.org/drawingml/2006/main">
            <a:r>
              <a:t>A: filter to collect sand. B: evaporate water to leave salt. C: capture water vapour and condense it to collect water. Ask pupils to account for both components.</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Filter first: sand remains as residue and saltwater passes through as filtrate. Evaporate water from the filtrate to collect salt. Sand may need washing and drying for cleaner recovery; added wash water must be included when accounting for the mixture.</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Ordinary filtration does not reliably remove dissolved substances or microbes. Do not drink the mixtures. A clear liquid is not proven pure or safe.</a:t>
            </a:r>
          </a:p>
          <a:p xmlns:a="http://schemas.openxmlformats.org/drawingml/2006/main">
            <a:r>
              <a:t/>
            </a:r>
          </a:p>
          <a:p xmlns:a="http://schemas.openxmlformats.org/drawingml/2006/main">
            <a:r>
              <a:t>REVEAL / MODEL ANSWER</a:t>
            </a:r>
          </a:p>
          <a:p xmlns:a="http://schemas.openxmlformats.org/drawingml/2006/main">
            <a:r>
              <a:t>Ordinary filtration can leave dissolved substances in the liquid. Appearance does not prove purity or safety.</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A chooses the wrong target. B correctly captures and condenses water vapour. C fails because ordinary filtration does not remove dissolved salt.</a:t>
            </a:r>
          </a:p>
          <a:p xmlns:a="http://schemas.openxmlformats.org/drawingml/2006/main">
            <a:r>
              <a:t/>
            </a:r>
          </a:p>
          <a:p xmlns:a="http://schemas.openxmlformats.org/drawingml/2006/main">
            <a:r>
              <a:t>A. Let water evaporate into the room and keep the salt.</a:t>
            </a:r>
          </a:p>
          <a:p xmlns:a="http://schemas.openxmlformats.org/drawingml/2006/main">
            <a:r>
              <a:t>That recovers salt while losing the target water.</a:t>
            </a:r>
          </a:p>
          <a:p xmlns:a="http://schemas.openxmlformats.org/drawingml/2006/main">
            <a:r>
              <a:t/>
            </a:r>
          </a:p>
          <a:p xmlns:a="http://schemas.openxmlformats.org/drawingml/2006/main">
            <a:r>
              <a:t>B. Capture water vapour and condense it into a collecting container.</a:t>
            </a:r>
          </a:p>
          <a:p xmlns:a="http://schemas.openxmlformats.org/drawingml/2006/main">
            <a:r>
              <a:t>Correct. The target water is collected again as liquid.</a:t>
            </a:r>
          </a:p>
          <a:p xmlns:a="http://schemas.openxmlformats.org/drawingml/2006/main">
            <a:r>
              <a:t/>
            </a:r>
          </a:p>
          <a:p xmlns:a="http://schemas.openxmlformats.org/drawingml/2006/main">
            <a:r>
              <a:t>C. Filter once and assume all dissolved salt is trapped.</a:t>
            </a:r>
          </a:p>
          <a:p xmlns:a="http://schemas.openxmlformats.org/drawingml/2006/main">
            <a:r>
              <a:t>Dissolved salt passes through ordinary filter paper.</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10 minutes.</a:t>
            </a:r>
          </a:p>
          <a:p xmlns:a="http://schemas.openxmlformats.org/drawingml/2006/main">
            <a:r>
              <a:t/>
            </a:r>
          </a:p>
          <a:p xmlns:a="http://schemas.openxmlformats.org/drawingml/2006/main">
            <a:r>
              <a:t>10 minutes across the three You do slides. Supply shared page 1 and one selected route page. All routes target the stated science objective; a labelled drawing or independent dictated explanation is valid.</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You do time. Ask pupils which evidence supports their explanation. Read prompts or scribe without supplying the scientific conclusion.</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You do time. Use the route-specific worked answers to identify one precise next step.</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4 minutes across Review. Offer partner or private teacher feedback. Ask for one specific revision linked to evidence; no public ranking.</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Lundy cycle: invite written, spoken or pointed suggestions. Select one feasible question and explain how the pupil contribution changes the next example or investigation.</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Insoluble sand is caught by the filter. Removing water by evaporation leaves salt. Capture vapour and condense it to collect water. E4 asks why clear filtered liquid is not necessarily pure or safe.</a:t>
            </a:r>
          </a:p>
          <a:p xmlns:a="http://schemas.openxmlformats.org/drawingml/2006/main">
            <a:r>
              <a:t/>
            </a:r>
          </a:p>
          <a:p xmlns:a="http://schemas.openxmlformats.org/drawingml/2006/main">
            <a:r>
              <a:t>LESSON REFERENCES</a:t>
            </a:r>
          </a:p>
          <a:p xmlns:a="http://schemas.openxmlformats.org/drawingml/2006/main">
            <a:r>
              <a:t>Royal Society of Chemistry: Separation techniques</a:t>
            </a:r>
          </a:p>
          <a:p xmlns:a="http://schemas.openxmlformats.org/drawingml/2006/main">
            <a:r>
              <a:t>https://edu.rsc.org/cpd/separation-techniques/3009787.article</a:t>
            </a:r>
          </a:p>
          <a:p xmlns:a="http://schemas.openxmlformats.org/drawingml/2006/main">
            <a:r>
              <a:t>Checked September 2026. Filtration, evaporation and separation misconceptions. Classroom activities are original and include a complete paper route.</a:t>
            </a:r>
          </a:p>
          <a:p xmlns:a="http://schemas.openxmlformats.org/drawingml/2006/main">
            <a:r>
              <a:t/>
            </a:r>
          </a:p>
          <a:p xmlns:a="http://schemas.openxmlformats.org/drawingml/2006/main">
            <a:r>
              <a:t>Royal Society of Chemistry: Separating sand and salt</a:t>
            </a:r>
          </a:p>
          <a:p xmlns:a="http://schemas.openxmlformats.org/drawingml/2006/main">
            <a:r>
              <a:t>https://edu.rsc.org/experiments/separating-sand-and-salt-by-filtering-and-evaporation/386.article</a:t>
            </a:r>
          </a:p>
          <a:p xmlns:a="http://schemas.openxmlformats.org/drawingml/2006/main">
            <a:r>
              <a:t>Checked September 2026 through primary search extract. Solubility, filtration and evaporation; this pack does not reproduce the heated practical.</a:t>
            </a:r>
          </a:p>
          <a:p xmlns:a="http://schemas.openxmlformats.org/drawingml/2006/main">
            <a:r>
              <a:t/>
            </a:r>
          </a:p>
          <a:p xmlns:a="http://schemas.openxmlformats.org/drawingml/2006/main">
            <a:r>
              <a:t>Royal Society of Chemistry: Evaporation, filtration and crystallisation</a:t>
            </a:r>
          </a:p>
          <a:p xmlns:a="http://schemas.openxmlformats.org/drawingml/2006/main">
            <a:r>
              <a:t>https://edu.rsc.org/cpd/evaporation-filtration-and-crystallisation-teaching-practical-science/3009017.article</a:t>
            </a:r>
          </a:p>
          <a:p xmlns:a="http://schemas.openxmlformats.org/drawingml/2006/main">
            <a:r>
              <a:t>Checked September 2026. Separation teaching and target-dependent methods. This resource supplies a non-heated paper alternative.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75291ae60043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3a77140f0a49f1" /><Relationship Type="http://schemas.openxmlformats.org/officeDocument/2006/relationships/slideLayout" Target="/ppt/slideLayouts/slideLayout1.xml" Id="Rb3c15ffeb4c544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c15ffeb4c544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8e774940fe475d" /><Relationship Type="http://schemas.openxmlformats.org/officeDocument/2006/relationships/notesSlide" Target="/ppt/notesSlides/notesSlide1.xml" Id="Rcc54333adeb24e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5d4c517c23c4fd5" /><Relationship Type="http://schemas.openxmlformats.org/officeDocument/2006/relationships/notesSlide" Target="/ppt/notesSlides/notesSlide2.xml" Id="R7b4dabaa5d4043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784b620867475c" /><Relationship Type="http://schemas.openxmlformats.org/officeDocument/2006/relationships/notesSlide" Target="/ppt/notesSlides/notesSlide3.xml" Id="Rdbd0ad38e7724c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73b6fa48294bae" /><Relationship Type="http://schemas.openxmlformats.org/officeDocument/2006/relationships/notesSlide" Target="/ppt/notesSlides/notesSlide4.xml" Id="R1b752be53b2942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94a2791f13480b" /><Relationship Type="http://schemas.openxmlformats.org/officeDocument/2006/relationships/notesSlide" Target="/ppt/notesSlides/notesSlide5.xml" Id="Rbf0c6dded07540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c42fe79c244bb6" /><Relationship Type="http://schemas.openxmlformats.org/officeDocument/2006/relationships/notesSlide" Target="/ppt/notesSlides/notesSlide6.xml" Id="Rd19d30e0945944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1e1f3848d54a69" /><Relationship Type="http://schemas.openxmlformats.org/officeDocument/2006/relationships/notesSlide" Target="/ppt/notesSlides/notesSlide7.xml" Id="Rfd184c174b5545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9c5434453dc4908" /><Relationship Type="http://schemas.openxmlformats.org/officeDocument/2006/relationships/notesSlide" Target="/ppt/notesSlides/notesSlide8.xml" Id="Re013e2a9a75848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b89f728c91f4615" /><Relationship Type="http://schemas.openxmlformats.org/officeDocument/2006/relationships/notesSlide" Target="/ppt/notesSlides/notesSlide9.xml" Id="Rb917d61fbff14c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2a01cd84314e1c" /><Relationship Type="http://schemas.openxmlformats.org/officeDocument/2006/relationships/notesSlide" Target="/ppt/notesSlides/notesSlide10.xml" Id="R388053b32c2e4b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72d79e64725420a" /><Relationship Type="http://schemas.openxmlformats.org/officeDocument/2006/relationships/notesSlide" Target="/ppt/notesSlides/notesSlide11.xml" Id="Rd4e4c53de1264b0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3c19d04d4204c6c" /><Relationship Type="http://schemas.openxmlformats.org/officeDocument/2006/relationships/notesSlide" Target="/ppt/notesSlides/notesSlide12.xml" Id="R933bcb2b286244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b12b8c0b8c4a3d" /><Relationship Type="http://schemas.openxmlformats.org/officeDocument/2006/relationships/notesSlide" Target="/ppt/notesSlides/notesSlide13.xml" Id="Re70322c0d1c745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3d919735470448d" /><Relationship Type="http://schemas.openxmlformats.org/officeDocument/2006/relationships/notesSlide" Target="/ppt/notesSlides/notesSlide14.xml" Id="R2648781d77204d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8c099b595e84981" /><Relationship Type="http://schemas.openxmlformats.org/officeDocument/2006/relationships/notesSlide" Target="/ppt/notesSlides/notesSlide15.xml" Id="Ra55081d6aad04c6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urface">
            <a:extLst xmlns:a="http://schemas.openxmlformats.org/drawingml/2006/main">
              <a:ext uri="{FF2B5EF4-FFF2-40B4-BE49-F238E27FC236}">
                <a16:creationId xmlns:a16="http://schemas.microsoft.com/office/drawing/2014/main" id="{FA8AF828-5F23-4F51-BF2B-2FE7A721E34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AD06711-5FBF-47D9-AE60-7EDCB75454FE}"/>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C24FDC9-469B-40D0-8375-7D5BE627FBC9}"/>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8A3B9DCF-F55E-4683-A288-E1B744FF518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Opening">
            <a:extLst xmlns:a="http://schemas.openxmlformats.org/drawingml/2006/main">
              <a:ext uri="{FF2B5EF4-FFF2-40B4-BE49-F238E27FC236}">
                <a16:creationId xmlns:a16="http://schemas.microsoft.com/office/drawing/2014/main" id="{7BD98686-09CA-4D1F-B2CB-7F002B4F3312}"/>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E3F62C99-F5D7-47F3-A8EC-D97A318BA380}"/>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Same mixture, different mission">
            <a:extLst xmlns:a="http://schemas.openxmlformats.org/drawingml/2006/main">
              <a:ext uri="{FF2B5EF4-FFF2-40B4-BE49-F238E27FC236}">
                <a16:creationId xmlns:a16="http://schemas.microsoft.com/office/drawing/2014/main" id="{8670A9DB-6D7C-4AC8-BC08-59B7B795390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Same mixture, different mission</a:t>
            </a:r>
          </a:p>
        </p:txBody>
      </p:sp>
      <p:sp>
        <p:nvSpPr>
          <p:cNvPr id="8" name="surface">
            <a:extLst xmlns:a="http://schemas.openxmlformats.org/drawingml/2006/main">
              <a:ext uri="{FF2B5EF4-FFF2-40B4-BE49-F238E27FC236}">
                <a16:creationId xmlns:a16="http://schemas.microsoft.com/office/drawing/2014/main" id="{1745A2C2-06AA-4211-9F89-F4E7FA347452}"/>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methods workshop">
            <a:extLst xmlns:a="http://schemas.openxmlformats.org/drawingml/2006/main">
              <a:ext uri="{FF2B5EF4-FFF2-40B4-BE49-F238E27FC236}">
                <a16:creationId xmlns:a16="http://schemas.microsoft.com/office/drawing/2014/main" id="{459C0A3B-8E16-47A1-8FA3-3C44FD53708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10" name="1 / 15">
            <a:extLst xmlns:a="http://schemas.openxmlformats.org/drawingml/2006/main">
              <a:ext uri="{FF2B5EF4-FFF2-40B4-BE49-F238E27FC236}">
                <a16:creationId xmlns:a16="http://schemas.microsoft.com/office/drawing/2014/main" id="{1648B983-AC7A-489B-9799-64A37F2271E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15</a:t>
            </a:r>
          </a:p>
        </p:txBody>
      </p:sp>
      <p:sp>
        <p:nvSpPr>
          <p:cNvPr id="11" name="surface">
            <a:extLst xmlns:a="http://schemas.openxmlformats.org/drawingml/2006/main">
              <a:ext uri="{FF2B5EF4-FFF2-40B4-BE49-F238E27FC236}">
                <a16:creationId xmlns:a16="http://schemas.microsoft.com/office/drawing/2014/main" id="{C583683A-2317-4A49-A308-25C87E679395}"/>
              </a:ext>
            </a:extLst>
          </p:cNvPr>
          <p:cNvSpPr>
            <a:spLocks xmlns:a="http://schemas.openxmlformats.org/drawingml/2006/main" noGrp="1"/>
          </p:cNvSpPr>
          <p:nvPr/>
        </p:nvSpPr>
        <p:spPr>
          <a:xfrm xmlns:a="http://schemas.openxmlformats.org/drawingml/2006/main">
            <a:off x="533400" y="1885950"/>
            <a:ext cx="11125200" cy="1247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0DE84F64-F3AF-49ED-A71C-A4090ED46DDA}"/>
              </a:ext>
            </a:extLst>
          </p:cNvPr>
          <p:cNvSpPr>
            <a:spLocks xmlns:a="http://schemas.openxmlformats.org/drawingml/2006/main" noGrp="1"/>
          </p:cNvSpPr>
          <p:nvPr/>
        </p:nvSpPr>
        <p:spPr>
          <a:xfrm xmlns:a="http://schemas.openxmlformats.org/drawingml/2006/main">
            <a:off x="533400" y="1885950"/>
            <a:ext cx="66675" cy="1247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B1A0A20C-A2BC-4732-8A1E-C1FBA167F4D1}"/>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3F7D6E"/>
                </a:solidFill>
                <a:latin typeface="Nimbus Sans"/>
                <a:ea typeface="Nimbus Sans"/>
                <a:cs typeface="Nimbus Sans"/>
              </a:defRPr>
            </a:pPr>
            <a:r>
              <a:rPr sz="1650" b="1">
                <a:solidFill>
                  <a:srgbClr val="3F7D6E"/>
                </a:solidFill>
                <a:latin typeface="Nimbus Sans"/>
                <a:ea typeface="Nimbus Sans"/>
                <a:cs typeface="Nimbus Sans"/>
              </a:rPr>
              <a:t>Learning intention</a:t>
            </a:r>
          </a:p>
        </p:txBody>
      </p:sp>
      <p:sp>
        <p:nvSpPr>
          <p:cNvPr id="14" name="Choose and justify filtration, evaporation or evaporation with c">
            <a:extLst xmlns:a="http://schemas.openxmlformats.org/drawingml/2006/main">
              <a:ext uri="{FF2B5EF4-FFF2-40B4-BE49-F238E27FC236}">
                <a16:creationId xmlns:a16="http://schemas.microsoft.com/office/drawing/2014/main" id="{7BF39180-75CE-4825-8F81-1D261C191509}"/>
              </a:ext>
            </a:extLst>
          </p:cNvPr>
          <p:cNvSpPr>
            <a:spLocks xmlns:a="http://schemas.openxmlformats.org/drawingml/2006/main" noGrp="1"/>
          </p:cNvSpPr>
          <p:nvPr/>
        </p:nvSpPr>
        <p:spPr>
          <a:xfrm xmlns:a="http://schemas.openxmlformats.org/drawingml/2006/main">
            <a:off x="762000" y="23622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Choose and justify filtration, evaporation or evaporation with condensation for</a:t>
            </a:r>
          </a:p>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a stated recovery target.</a:t>
            </a:r>
          </a:p>
        </p:txBody>
      </p:sp>
      <p:sp>
        <p:nvSpPr>
          <p:cNvPr id="15" name="Two teams receive saltwater.">
            <a:extLst xmlns:a="http://schemas.openxmlformats.org/drawingml/2006/main">
              <a:ext uri="{FF2B5EF4-FFF2-40B4-BE49-F238E27FC236}">
                <a16:creationId xmlns:a16="http://schemas.microsoft.com/office/drawing/2014/main" id="{D76F15E8-9F1E-4811-8704-2A8B7FC2EB6E}"/>
              </a:ext>
            </a:extLst>
          </p:cNvPr>
          <p:cNvSpPr>
            <a:spLocks xmlns:a="http://schemas.openxmlformats.org/drawingml/2006/main" noGrp="1"/>
          </p:cNvSpPr>
          <p:nvPr/>
        </p:nvSpPr>
        <p:spPr>
          <a:xfrm xmlns:a="http://schemas.openxmlformats.org/drawingml/2006/main">
            <a:off x="762000" y="33623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Two teams receive saltwater.</a:t>
            </a:r>
          </a:p>
        </p:txBody>
      </p:sp>
      <p:sp>
        <p:nvSpPr>
          <p:cNvPr id="16" name="One wants salt; one wants water.">
            <a:extLst xmlns:a="http://schemas.openxmlformats.org/drawingml/2006/main">
              <a:ext uri="{FF2B5EF4-FFF2-40B4-BE49-F238E27FC236}">
                <a16:creationId xmlns:a16="http://schemas.microsoft.com/office/drawing/2014/main" id="{7DCCF5F7-34D5-4635-A145-591D260F978F}"/>
              </a:ext>
            </a:extLst>
          </p:cNvPr>
          <p:cNvSpPr>
            <a:spLocks xmlns:a="http://schemas.openxmlformats.org/drawingml/2006/main" noGrp="1"/>
          </p:cNvSpPr>
          <p:nvPr/>
        </p:nvSpPr>
        <p:spPr>
          <a:xfrm xmlns:a="http://schemas.openxmlformats.org/drawingml/2006/main">
            <a:off x="762000" y="39157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One wants salt; one wants water.</a:t>
            </a:r>
          </a:p>
        </p:txBody>
      </p:sp>
      <p:sp>
        <p:nvSpPr>
          <p:cNvPr id="17" name="Should their methods be identical?">
            <a:extLst xmlns:a="http://schemas.openxmlformats.org/drawingml/2006/main">
              <a:ext uri="{FF2B5EF4-FFF2-40B4-BE49-F238E27FC236}">
                <a16:creationId xmlns:a16="http://schemas.microsoft.com/office/drawing/2014/main" id="{19F891C8-37C0-41EB-81B7-982844734042}"/>
              </a:ext>
            </a:extLst>
          </p:cNvPr>
          <p:cNvSpPr>
            <a:spLocks xmlns:a="http://schemas.openxmlformats.org/drawingml/2006/main" noGrp="1"/>
          </p:cNvSpPr>
          <p:nvPr/>
        </p:nvSpPr>
        <p:spPr>
          <a:xfrm xmlns:a="http://schemas.openxmlformats.org/drawingml/2006/main">
            <a:off x="762000" y="44691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Should their methods be identical?</a:t>
            </a:r>
          </a:p>
        </p:txBody>
      </p:sp>
    </p:spTree>
    <p:extLst>
      <p:ext uri="{BB962C8B-B14F-4D97-AF65-F5344CB8AC3E}">
        <p14:creationId xmlns:p14="http://schemas.microsoft.com/office/powerpoint/2010/main" val="3440917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36EA123B-2608-4A7A-B0FF-CE098CD89E3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F868C8E-1675-44BC-8729-99D2608C0AD1}"/>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749B47E-F230-4CC0-970E-56F385A7E26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48929615-40C9-45C3-BA39-0DDDB20DCD2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trieval">
            <a:extLst xmlns:a="http://schemas.openxmlformats.org/drawingml/2006/main">
              <a:ext uri="{FF2B5EF4-FFF2-40B4-BE49-F238E27FC236}">
                <a16:creationId xmlns:a16="http://schemas.microsoft.com/office/drawing/2014/main" id="{BB99AF1E-9F09-43FE-B2F7-C583BB2864B7}"/>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5368039C-CBD2-4AB0-A27E-14D18775B0E3}"/>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Recover the mixture ideas">
            <a:extLst xmlns:a="http://schemas.openxmlformats.org/drawingml/2006/main">
              <a:ext uri="{FF2B5EF4-FFF2-40B4-BE49-F238E27FC236}">
                <a16:creationId xmlns:a16="http://schemas.microsoft.com/office/drawing/2014/main" id="{3FA20B60-7AC8-4D76-B5D3-9F7E56546171}"/>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Recover the mixture ideas</a:t>
            </a:r>
          </a:p>
        </p:txBody>
      </p:sp>
      <p:sp>
        <p:nvSpPr>
          <p:cNvPr id="8" name="surface">
            <a:extLst xmlns:a="http://schemas.openxmlformats.org/drawingml/2006/main">
              <a:ext uri="{FF2B5EF4-FFF2-40B4-BE49-F238E27FC236}">
                <a16:creationId xmlns:a16="http://schemas.microsoft.com/office/drawing/2014/main" id="{2CA86E59-2533-4A83-99B8-DD17F70CD48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methods workshop">
            <a:extLst xmlns:a="http://schemas.openxmlformats.org/drawingml/2006/main">
              <a:ext uri="{FF2B5EF4-FFF2-40B4-BE49-F238E27FC236}">
                <a16:creationId xmlns:a16="http://schemas.microsoft.com/office/drawing/2014/main" id="{ED086671-3757-4952-9C1B-754A72E6640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10" name="2 / 15">
            <a:extLst xmlns:a="http://schemas.openxmlformats.org/drawingml/2006/main">
              <a:ext uri="{FF2B5EF4-FFF2-40B4-BE49-F238E27FC236}">
                <a16:creationId xmlns:a16="http://schemas.microsoft.com/office/drawing/2014/main" id="{55035EF6-1AF3-49F8-A37E-1AC58E60F0E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15</a:t>
            </a:r>
          </a:p>
        </p:txBody>
      </p:sp>
      <p:sp>
        <p:nvSpPr>
          <p:cNvPr id="11" name="R1. Is dissolved salt still present?">
            <a:extLst xmlns:a="http://schemas.openxmlformats.org/drawingml/2006/main">
              <a:ext uri="{FF2B5EF4-FFF2-40B4-BE49-F238E27FC236}">
                <a16:creationId xmlns:a16="http://schemas.microsoft.com/office/drawing/2014/main" id="{87673F3F-306D-4EF2-B14A-695D65201A31}"/>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R1. Is dissolved salt still present?</a:t>
            </a:r>
          </a:p>
        </p:txBody>
      </p:sp>
      <p:sp>
        <p:nvSpPr>
          <p:cNvPr id="12" name="R2. What does evaporation change?">
            <a:extLst xmlns:a="http://schemas.openxmlformats.org/drawingml/2006/main">
              <a:ext uri="{FF2B5EF4-FFF2-40B4-BE49-F238E27FC236}">
                <a16:creationId xmlns:a16="http://schemas.microsoft.com/office/drawing/2014/main" id="{C2201E5D-372B-42D8-B0EA-E18A5C2A7D23}"/>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R2. What does evaporation change?</a:t>
            </a:r>
          </a:p>
        </p:txBody>
      </p:sp>
      <p:sp>
        <p:nvSpPr>
          <p:cNvPr id="13" name="R3. What is condensation?">
            <a:extLst xmlns:a="http://schemas.openxmlformats.org/drawingml/2006/main">
              <a:ext uri="{FF2B5EF4-FFF2-40B4-BE49-F238E27FC236}">
                <a16:creationId xmlns:a16="http://schemas.microsoft.com/office/drawing/2014/main" id="{23759986-B4AF-4251-BBD0-39AC78CDD1D0}"/>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R3. What is condensation?</a:t>
            </a:r>
          </a:p>
        </p:txBody>
      </p:sp>
    </p:spTree>
    <p:extLst>
      <p:ext uri="{BB962C8B-B14F-4D97-AF65-F5344CB8AC3E}">
        <p14:creationId xmlns:p14="http://schemas.microsoft.com/office/powerpoint/2010/main" val="11322905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surface">
            <a:extLst xmlns:a="http://schemas.openxmlformats.org/drawingml/2006/main">
              <a:ext uri="{FF2B5EF4-FFF2-40B4-BE49-F238E27FC236}">
                <a16:creationId xmlns:a16="http://schemas.microsoft.com/office/drawing/2014/main" id="{1DC72F57-5003-4D9F-B20E-E82C4D75B57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3A69789-7AC3-4861-83BC-21088F5D77F1}"/>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6C97242-02E3-4501-8C2D-4C7C3EFE53D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90F48F09-87E5-46D8-93A4-EF073E42E80F}"/>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5EC306AB-3397-41D5-8AEB-9C699E43E70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8 min">
            <a:extLst xmlns:a="http://schemas.openxmlformats.org/drawingml/2006/main">
              <a:ext uri="{FF2B5EF4-FFF2-40B4-BE49-F238E27FC236}">
                <a16:creationId xmlns:a16="http://schemas.microsoft.com/office/drawing/2014/main" id="{71E2783C-5F93-4D49-8040-ECA689D4D120}"/>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8 min</a:t>
            </a:r>
          </a:p>
        </p:txBody>
      </p:sp>
      <p:sp>
        <p:nvSpPr>
          <p:cNvPr id="7" name="I decide what the filter can retain">
            <a:extLst xmlns:a="http://schemas.openxmlformats.org/drawingml/2006/main">
              <a:ext uri="{FF2B5EF4-FFF2-40B4-BE49-F238E27FC236}">
                <a16:creationId xmlns:a16="http://schemas.microsoft.com/office/drawing/2014/main" id="{9C29B3AF-D6B4-4E82-B448-C859AD1929E8}"/>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decide what the filter can retain</a:t>
            </a:r>
          </a:p>
        </p:txBody>
      </p:sp>
      <p:sp>
        <p:nvSpPr>
          <p:cNvPr id="8" name="surface">
            <a:extLst xmlns:a="http://schemas.openxmlformats.org/drawingml/2006/main">
              <a:ext uri="{FF2B5EF4-FFF2-40B4-BE49-F238E27FC236}">
                <a16:creationId xmlns:a16="http://schemas.microsoft.com/office/drawing/2014/main" id="{F20CB7E0-8AE0-44D2-A62E-EAE21DAAE1E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methods workshop">
            <a:extLst xmlns:a="http://schemas.openxmlformats.org/drawingml/2006/main">
              <a:ext uri="{FF2B5EF4-FFF2-40B4-BE49-F238E27FC236}">
                <a16:creationId xmlns:a16="http://schemas.microsoft.com/office/drawing/2014/main" id="{202E1508-C8EB-4EA9-A0B5-35F3580EBA0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10" name="3 / 15">
            <a:extLst xmlns:a="http://schemas.openxmlformats.org/drawingml/2006/main">
              <a:ext uri="{FF2B5EF4-FFF2-40B4-BE49-F238E27FC236}">
                <a16:creationId xmlns:a16="http://schemas.microsoft.com/office/drawing/2014/main" id="{320FC8AD-CBBC-4E85-BC52-94BBA1A673B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15</a:t>
            </a:r>
          </a:p>
        </p:txBody>
      </p:sp>
      <p:sp>
        <p:nvSpPr>
          <p:cNvPr id="11" name="Diagram label: A filter retains sand, not dissolved salt">
            <a:extLst xmlns:a="http://schemas.openxmlformats.org/drawingml/2006/main">
              <a:ext uri="{FF2B5EF4-FFF2-40B4-BE49-F238E27FC236}">
                <a16:creationId xmlns:a16="http://schemas.microsoft.com/office/drawing/2014/main" id="{D3EA99A1-ED2C-4FC9-B08C-0959DE812993}"/>
              </a:ext>
            </a:extLst>
          </p:cNvPr>
          <p:cNvSpPr>
            <a:spLocks xmlns:a="http://schemas.openxmlformats.org/drawingml/2006/main" noGrp="1"/>
          </p:cNvSpPr>
          <p:nvPr/>
        </p:nvSpPr>
        <p:spPr>
          <a:xfrm xmlns:a="http://schemas.openxmlformats.org/drawingml/2006/main">
            <a:off x="2661217" y="1982255"/>
            <a:ext cx="6869566" cy="4106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823" b="1">
                <a:solidFill>
                  <a:srgbClr val="1F2937"/>
                </a:solidFill>
                <a:latin typeface="Nimbus Sans"/>
                <a:ea typeface="Nimbus Sans"/>
                <a:cs typeface="Nimbus Sans"/>
              </a:defRPr>
            </a:pPr>
            <a:r>
              <a:rPr sz="1823" b="1">
                <a:solidFill>
                  <a:srgbClr val="1F2937"/>
                </a:solidFill>
                <a:latin typeface="Nimbus Sans"/>
                <a:ea typeface="Nimbus Sans"/>
                <a:cs typeface="Nimbus Sans"/>
              </a:rPr>
              <a:t>A filter retains sand, not dissolved salt</a:t>
            </a:r>
          </a:p>
        </p:txBody>
      </p:sp>
      <p:sp>
        <p:nvSpPr>
          <p:cNvPr id="12" name="Diagram line">
            <a:extLst xmlns:a="http://schemas.openxmlformats.org/drawingml/2006/main">
              <a:ext uri="{FF2B5EF4-FFF2-40B4-BE49-F238E27FC236}">
                <a16:creationId xmlns:a16="http://schemas.microsoft.com/office/drawing/2014/main" id="{EAE7F406-10AA-42AF-A110-53D6294F11BD}"/>
              </a:ext>
            </a:extLst>
          </p:cNvPr>
          <p:cNvSpPr>
            <a:spLocks xmlns:a="http://schemas.openxmlformats.org/drawingml/2006/main" noGrp="1"/>
          </p:cNvSpPr>
          <p:nvPr/>
        </p:nvSpPr>
        <p:spPr>
          <a:xfrm xmlns:a="http://schemas.openxmlformats.org/drawingml/2006/main" flipH="0" flipV="0">
            <a:off x="4901293" y="2743880"/>
            <a:ext cx="970700" cy="1418715"/>
          </a:xfrm>
          <a:prstGeom xmlns:a="http://schemas.openxmlformats.org/drawingml/2006/main" prst="line">
            <a:avLst/>
          </a:prstGeom>
          <a:noFill xmlns:a="http://schemas.openxmlformats.org/drawingml/2006/main"/>
          <a:ln xmlns:a="http://schemas.openxmlformats.org/drawingml/2006/main" w="37335">
            <a:solidFill>
              <a:srgbClr val="1F2937"/>
            </a:solidFill>
          </a:ln>
        </p:spPr>
      </p:sp>
      <p:sp>
        <p:nvSpPr>
          <p:cNvPr id="13" name="Diagram line">
            <a:extLst xmlns:a="http://schemas.openxmlformats.org/drawingml/2006/main">
              <a:ext uri="{FF2B5EF4-FFF2-40B4-BE49-F238E27FC236}">
                <a16:creationId xmlns:a16="http://schemas.microsoft.com/office/drawing/2014/main" id="{063F23C1-D927-4AB0-8F5B-03691550FFF6}"/>
              </a:ext>
            </a:extLst>
          </p:cNvPr>
          <p:cNvSpPr>
            <a:spLocks xmlns:a="http://schemas.openxmlformats.org/drawingml/2006/main" noGrp="1"/>
          </p:cNvSpPr>
          <p:nvPr/>
        </p:nvSpPr>
        <p:spPr>
          <a:xfrm xmlns:a="http://schemas.openxmlformats.org/drawingml/2006/main" flipH="0" flipV="1">
            <a:off x="5871992" y="2743880"/>
            <a:ext cx="970700" cy="1418715"/>
          </a:xfrm>
          <a:prstGeom xmlns:a="http://schemas.openxmlformats.org/drawingml/2006/main" prst="line">
            <a:avLst/>
          </a:prstGeom>
          <a:noFill xmlns:a="http://schemas.openxmlformats.org/drawingml/2006/main"/>
          <a:ln xmlns:a="http://schemas.openxmlformats.org/drawingml/2006/main" w="37335">
            <a:solidFill>
              <a:srgbClr val="1F2937"/>
            </a:solidFill>
          </a:ln>
        </p:spPr>
      </p:sp>
      <p:sp>
        <p:nvSpPr>
          <p:cNvPr id="14" name="Diagram line">
            <a:extLst xmlns:a="http://schemas.openxmlformats.org/drawingml/2006/main">
              <a:ext uri="{FF2B5EF4-FFF2-40B4-BE49-F238E27FC236}">
                <a16:creationId xmlns:a16="http://schemas.microsoft.com/office/drawing/2014/main" id="{BA70A782-2D42-4D10-8AA4-06962A57BB01}"/>
              </a:ext>
            </a:extLst>
          </p:cNvPr>
          <p:cNvSpPr>
            <a:spLocks xmlns:a="http://schemas.openxmlformats.org/drawingml/2006/main" noGrp="1"/>
          </p:cNvSpPr>
          <p:nvPr/>
        </p:nvSpPr>
        <p:spPr>
          <a:xfrm xmlns:a="http://schemas.openxmlformats.org/drawingml/2006/main" flipH="0" flipV="0">
            <a:off x="4901293" y="2743880"/>
            <a:ext cx="1941399" cy="953"/>
          </a:xfrm>
          <a:prstGeom xmlns:a="http://schemas.openxmlformats.org/drawingml/2006/main" prst="line">
            <a:avLst/>
          </a:prstGeom>
          <a:noFill xmlns:a="http://schemas.openxmlformats.org/drawingml/2006/main"/>
          <a:ln xmlns:a="http://schemas.openxmlformats.org/drawingml/2006/main" w="37335">
            <a:solidFill>
              <a:srgbClr val="1F2937"/>
            </a:solidFill>
          </a:ln>
        </p:spPr>
      </p:sp>
      <p:sp>
        <p:nvSpPr>
          <p:cNvPr id="15" name="Diagram line">
            <a:extLst xmlns:a="http://schemas.openxmlformats.org/drawingml/2006/main">
              <a:ext uri="{FF2B5EF4-FFF2-40B4-BE49-F238E27FC236}">
                <a16:creationId xmlns:a16="http://schemas.microsoft.com/office/drawing/2014/main" id="{E4C6D026-E0F3-43B2-A878-07622527DC23}"/>
              </a:ext>
            </a:extLst>
          </p:cNvPr>
          <p:cNvSpPr>
            <a:spLocks xmlns:a="http://schemas.openxmlformats.org/drawingml/2006/main" noGrp="1"/>
          </p:cNvSpPr>
          <p:nvPr/>
        </p:nvSpPr>
        <p:spPr>
          <a:xfrm xmlns:a="http://schemas.openxmlformats.org/drawingml/2006/main" flipH="0" flipV="0">
            <a:off x="5050631" y="2818550"/>
            <a:ext cx="821361" cy="1120038"/>
          </a:xfrm>
          <a:prstGeom xmlns:a="http://schemas.openxmlformats.org/drawingml/2006/main" prst="line">
            <a:avLst/>
          </a:prstGeom>
          <a:noFill xmlns:a="http://schemas.openxmlformats.org/drawingml/2006/main"/>
          <a:ln xmlns:a="http://schemas.openxmlformats.org/drawingml/2006/main" w="37335">
            <a:solidFill>
              <a:srgbClr val="3F7D6E"/>
            </a:solidFill>
          </a:ln>
        </p:spPr>
      </p:sp>
      <p:sp>
        <p:nvSpPr>
          <p:cNvPr id="16" name="Diagram line">
            <a:extLst xmlns:a="http://schemas.openxmlformats.org/drawingml/2006/main">
              <a:ext uri="{FF2B5EF4-FFF2-40B4-BE49-F238E27FC236}">
                <a16:creationId xmlns:a16="http://schemas.microsoft.com/office/drawing/2014/main" id="{820E614D-3287-40F9-BAE9-73F1902C01B1}"/>
              </a:ext>
            </a:extLst>
          </p:cNvPr>
          <p:cNvSpPr>
            <a:spLocks xmlns:a="http://schemas.openxmlformats.org/drawingml/2006/main" noGrp="1"/>
          </p:cNvSpPr>
          <p:nvPr/>
        </p:nvSpPr>
        <p:spPr>
          <a:xfrm xmlns:a="http://schemas.openxmlformats.org/drawingml/2006/main" flipH="0" flipV="1">
            <a:off x="5871992" y="2818550"/>
            <a:ext cx="821361" cy="1120038"/>
          </a:xfrm>
          <a:prstGeom xmlns:a="http://schemas.openxmlformats.org/drawingml/2006/main" prst="line">
            <a:avLst/>
          </a:prstGeom>
          <a:noFill xmlns:a="http://schemas.openxmlformats.org/drawingml/2006/main"/>
          <a:ln xmlns:a="http://schemas.openxmlformats.org/drawingml/2006/main" w="37335">
            <a:solidFill>
              <a:srgbClr val="3F7D6E"/>
            </a:solidFill>
          </a:ln>
        </p:spPr>
      </p:sp>
      <p:sp>
        <p:nvSpPr>
          <p:cNvPr id="17" name="Diagram line">
            <a:extLst xmlns:a="http://schemas.openxmlformats.org/drawingml/2006/main">
              <a:ext uri="{FF2B5EF4-FFF2-40B4-BE49-F238E27FC236}">
                <a16:creationId xmlns:a16="http://schemas.microsoft.com/office/drawing/2014/main" id="{D70F839B-C53D-4A43-9B45-D6FAC3AB6870}"/>
              </a:ext>
            </a:extLst>
          </p:cNvPr>
          <p:cNvSpPr>
            <a:spLocks xmlns:a="http://schemas.openxmlformats.org/drawingml/2006/main" noGrp="1"/>
          </p:cNvSpPr>
          <p:nvPr/>
        </p:nvSpPr>
        <p:spPr>
          <a:xfrm xmlns:a="http://schemas.openxmlformats.org/drawingml/2006/main" flipH="0" flipV="0">
            <a:off x="5871992" y="4162595"/>
            <a:ext cx="953" cy="298677"/>
          </a:xfrm>
          <a:prstGeom xmlns:a="http://schemas.openxmlformats.org/drawingml/2006/main" prst="line">
            <a:avLst/>
          </a:prstGeom>
          <a:noFill xmlns:a="http://schemas.openxmlformats.org/drawingml/2006/main"/>
          <a:ln xmlns:a="http://schemas.openxmlformats.org/drawingml/2006/main" w="37335">
            <a:solidFill>
              <a:srgbClr val="1F2937"/>
            </a:solidFill>
          </a:ln>
        </p:spPr>
      </p:sp>
      <p:sp>
        <p:nvSpPr>
          <p:cNvPr id="18" name="Editable scientific diagram">
            <a:extLst xmlns:a="http://schemas.openxmlformats.org/drawingml/2006/main">
              <a:ext uri="{FF2B5EF4-FFF2-40B4-BE49-F238E27FC236}">
                <a16:creationId xmlns:a16="http://schemas.microsoft.com/office/drawing/2014/main" id="{54AD9236-CA2B-43CB-B2C2-C00D123C4BB9}"/>
              </a:ext>
            </a:extLst>
          </p:cNvPr>
          <p:cNvSpPr>
            <a:spLocks xmlns:a="http://schemas.openxmlformats.org/drawingml/2006/main" noGrp="1"/>
          </p:cNvSpPr>
          <p:nvPr/>
        </p:nvSpPr>
        <p:spPr>
          <a:xfrm xmlns:a="http://schemas.openxmlformats.org/drawingml/2006/main">
            <a:off x="5573316" y="3281499"/>
            <a:ext cx="224008" cy="179206"/>
          </a:xfrm>
          <a:prstGeom xmlns:a="http://schemas.openxmlformats.org/drawingml/2006/main" prst="ellipse">
            <a:avLst/>
          </a:prstGeom>
          <a:solidFill xmlns:a="http://schemas.openxmlformats.org/drawingml/2006/main">
            <a:srgbClr val="B89873"/>
          </a:solidFill>
          <a:ln xmlns:a="http://schemas.openxmlformats.org/drawingml/2006/main" w="22401">
            <a:solidFill>
              <a:srgbClr val="C9803B"/>
            </a:solidFill>
          </a:ln>
        </p:spPr>
      </p:sp>
      <p:sp>
        <p:nvSpPr>
          <p:cNvPr id="19" name="Editable scientific diagram">
            <a:extLst xmlns:a="http://schemas.openxmlformats.org/drawingml/2006/main">
              <a:ext uri="{FF2B5EF4-FFF2-40B4-BE49-F238E27FC236}">
                <a16:creationId xmlns:a16="http://schemas.microsoft.com/office/drawing/2014/main" id="{1A4B6B03-01EE-4185-82AC-1F284FD6EB7A}"/>
              </a:ext>
            </a:extLst>
          </p:cNvPr>
          <p:cNvSpPr>
            <a:spLocks xmlns:a="http://schemas.openxmlformats.org/drawingml/2006/main" noGrp="1"/>
          </p:cNvSpPr>
          <p:nvPr/>
        </p:nvSpPr>
        <p:spPr>
          <a:xfrm xmlns:a="http://schemas.openxmlformats.org/drawingml/2006/main">
            <a:off x="5812257" y="3356168"/>
            <a:ext cx="224008" cy="179206"/>
          </a:xfrm>
          <a:prstGeom xmlns:a="http://schemas.openxmlformats.org/drawingml/2006/main" prst="ellipse">
            <a:avLst/>
          </a:prstGeom>
          <a:solidFill xmlns:a="http://schemas.openxmlformats.org/drawingml/2006/main">
            <a:srgbClr val="B89873"/>
          </a:solidFill>
          <a:ln xmlns:a="http://schemas.openxmlformats.org/drawingml/2006/main" w="22401">
            <a:solidFill>
              <a:srgbClr val="C9803B"/>
            </a:solidFill>
          </a:ln>
        </p:spPr>
      </p:sp>
      <p:sp>
        <p:nvSpPr>
          <p:cNvPr id="20" name="Editable scientific diagram">
            <a:extLst xmlns:a="http://schemas.openxmlformats.org/drawingml/2006/main">
              <a:ext uri="{FF2B5EF4-FFF2-40B4-BE49-F238E27FC236}">
                <a16:creationId xmlns:a16="http://schemas.microsoft.com/office/drawing/2014/main" id="{19CC52C1-1364-4490-921C-4175A7D0F98B}"/>
              </a:ext>
            </a:extLst>
          </p:cNvPr>
          <p:cNvSpPr>
            <a:spLocks xmlns:a="http://schemas.openxmlformats.org/drawingml/2006/main" noGrp="1"/>
          </p:cNvSpPr>
          <p:nvPr/>
        </p:nvSpPr>
        <p:spPr>
          <a:xfrm xmlns:a="http://schemas.openxmlformats.org/drawingml/2006/main">
            <a:off x="5916794" y="3147094"/>
            <a:ext cx="224008" cy="179206"/>
          </a:xfrm>
          <a:prstGeom xmlns:a="http://schemas.openxmlformats.org/drawingml/2006/main" prst="ellipse">
            <a:avLst/>
          </a:prstGeom>
          <a:solidFill xmlns:a="http://schemas.openxmlformats.org/drawingml/2006/main">
            <a:srgbClr val="B89873"/>
          </a:solidFill>
          <a:ln xmlns:a="http://schemas.openxmlformats.org/drawingml/2006/main" w="22401">
            <a:solidFill>
              <a:srgbClr val="C9803B"/>
            </a:solidFill>
          </a:ln>
        </p:spPr>
      </p:sp>
      <p:sp>
        <p:nvSpPr>
          <p:cNvPr id="21" name="Diagram line">
            <a:extLst xmlns:a="http://schemas.openxmlformats.org/drawingml/2006/main">
              <a:ext uri="{FF2B5EF4-FFF2-40B4-BE49-F238E27FC236}">
                <a16:creationId xmlns:a16="http://schemas.microsoft.com/office/drawing/2014/main" id="{69A5D9A1-747E-4B1E-82FC-4EE77352C9A7}"/>
              </a:ext>
            </a:extLst>
          </p:cNvPr>
          <p:cNvSpPr>
            <a:spLocks xmlns:a="http://schemas.openxmlformats.org/drawingml/2006/main" noGrp="1"/>
          </p:cNvSpPr>
          <p:nvPr/>
        </p:nvSpPr>
        <p:spPr>
          <a:xfrm xmlns:a="http://schemas.openxmlformats.org/drawingml/2006/main" flipH="0" flipV="0">
            <a:off x="5871992" y="4498606"/>
            <a:ext cx="953" cy="182940"/>
          </a:xfrm>
          <a:prstGeom xmlns:a="http://schemas.openxmlformats.org/drawingml/2006/main" prst="line">
            <a:avLst/>
          </a:prstGeom>
          <a:noFill xmlns:a="http://schemas.openxmlformats.org/drawingml/2006/main"/>
          <a:ln xmlns:a="http://schemas.openxmlformats.org/drawingml/2006/main" w="37335">
            <a:solidFill>
              <a:srgbClr val="4D82A0"/>
            </a:solidFill>
          </a:ln>
        </p:spPr>
      </p:sp>
      <p:sp>
        <p:nvSpPr>
          <p:cNvPr id="22" name="Diagram arrowhead">
            <a:extLst xmlns:a="http://schemas.openxmlformats.org/drawingml/2006/main">
              <a:ext uri="{FF2B5EF4-FFF2-40B4-BE49-F238E27FC236}">
                <a16:creationId xmlns:a16="http://schemas.microsoft.com/office/drawing/2014/main" id="{4814202E-0AD3-479B-808A-C879E4877BF8}"/>
              </a:ext>
            </a:extLst>
          </p:cNvPr>
          <p:cNvSpPr>
            <a:spLocks xmlns:a="http://schemas.openxmlformats.org/drawingml/2006/main" noGrp="1"/>
          </p:cNvSpPr>
          <p:nvPr/>
        </p:nvSpPr>
        <p:spPr>
          <a:xfrm xmlns:a="http://schemas.openxmlformats.org/drawingml/2006/main" rot="10800000">
            <a:off x="5819724" y="4655412"/>
            <a:ext cx="104537" cy="104537"/>
          </a:xfrm>
          <a:prstGeom xmlns:a="http://schemas.openxmlformats.org/drawingml/2006/main" prst="triangle">
            <a:avLst/>
          </a:prstGeom>
          <a:solidFill xmlns:a="http://schemas.openxmlformats.org/drawingml/2006/main">
            <a:srgbClr val="4D82A0"/>
          </a:solidFill>
          <a:ln xmlns:a="http://schemas.openxmlformats.org/drawingml/2006/main" w="0">
            <a:noFill/>
          </a:ln>
        </p:spPr>
      </p:sp>
      <p:sp>
        <p:nvSpPr>
          <p:cNvPr id="23" name="Diagram line">
            <a:extLst xmlns:a="http://schemas.openxmlformats.org/drawingml/2006/main">
              <a:ext uri="{FF2B5EF4-FFF2-40B4-BE49-F238E27FC236}">
                <a16:creationId xmlns:a16="http://schemas.microsoft.com/office/drawing/2014/main" id="{813D3C0E-AA01-445A-9393-3120A0E187E1}"/>
              </a:ext>
            </a:extLst>
          </p:cNvPr>
          <p:cNvSpPr>
            <a:spLocks xmlns:a="http://schemas.openxmlformats.org/drawingml/2006/main" noGrp="1"/>
          </p:cNvSpPr>
          <p:nvPr/>
        </p:nvSpPr>
        <p:spPr>
          <a:xfrm xmlns:a="http://schemas.openxmlformats.org/drawingml/2006/main" flipH="0" flipV="0">
            <a:off x="4863958" y="4759949"/>
            <a:ext cx="953" cy="746692"/>
          </a:xfrm>
          <a:prstGeom xmlns:a="http://schemas.openxmlformats.org/drawingml/2006/main" prst="line">
            <a:avLst/>
          </a:prstGeom>
          <a:noFill xmlns:a="http://schemas.openxmlformats.org/drawingml/2006/main"/>
          <a:ln xmlns:a="http://schemas.openxmlformats.org/drawingml/2006/main" w="37335">
            <a:solidFill>
              <a:srgbClr val="1F2937"/>
            </a:solidFill>
          </a:ln>
        </p:spPr>
      </p:sp>
      <p:sp>
        <p:nvSpPr>
          <p:cNvPr id="24" name="Diagram line">
            <a:extLst xmlns:a="http://schemas.openxmlformats.org/drawingml/2006/main">
              <a:ext uri="{FF2B5EF4-FFF2-40B4-BE49-F238E27FC236}">
                <a16:creationId xmlns:a16="http://schemas.microsoft.com/office/drawing/2014/main" id="{500B1551-E798-4B77-A80E-6149E5B84471}"/>
              </a:ext>
            </a:extLst>
          </p:cNvPr>
          <p:cNvSpPr>
            <a:spLocks xmlns:a="http://schemas.openxmlformats.org/drawingml/2006/main" noGrp="1"/>
          </p:cNvSpPr>
          <p:nvPr/>
        </p:nvSpPr>
        <p:spPr>
          <a:xfrm xmlns:a="http://schemas.openxmlformats.org/drawingml/2006/main" flipH="0" flipV="0">
            <a:off x="4863958" y="5506641"/>
            <a:ext cx="2053403" cy="953"/>
          </a:xfrm>
          <a:prstGeom xmlns:a="http://schemas.openxmlformats.org/drawingml/2006/main" prst="line">
            <a:avLst/>
          </a:prstGeom>
          <a:noFill xmlns:a="http://schemas.openxmlformats.org/drawingml/2006/main"/>
          <a:ln xmlns:a="http://schemas.openxmlformats.org/drawingml/2006/main" w="37335">
            <a:solidFill>
              <a:srgbClr val="1F2937"/>
            </a:solidFill>
          </a:ln>
        </p:spPr>
      </p:sp>
      <p:sp>
        <p:nvSpPr>
          <p:cNvPr id="25" name="Diagram line">
            <a:extLst xmlns:a="http://schemas.openxmlformats.org/drawingml/2006/main">
              <a:ext uri="{FF2B5EF4-FFF2-40B4-BE49-F238E27FC236}">
                <a16:creationId xmlns:a16="http://schemas.microsoft.com/office/drawing/2014/main" id="{3A9A295C-5D87-438E-805F-D7C9D9A3DCA1}"/>
              </a:ext>
            </a:extLst>
          </p:cNvPr>
          <p:cNvSpPr>
            <a:spLocks xmlns:a="http://schemas.openxmlformats.org/drawingml/2006/main" noGrp="1"/>
          </p:cNvSpPr>
          <p:nvPr/>
        </p:nvSpPr>
        <p:spPr>
          <a:xfrm xmlns:a="http://schemas.openxmlformats.org/drawingml/2006/main" flipH="0" flipV="1">
            <a:off x="6917361" y="4759949"/>
            <a:ext cx="953" cy="746692"/>
          </a:xfrm>
          <a:prstGeom xmlns:a="http://schemas.openxmlformats.org/drawingml/2006/main" prst="line">
            <a:avLst/>
          </a:prstGeom>
          <a:noFill xmlns:a="http://schemas.openxmlformats.org/drawingml/2006/main"/>
          <a:ln xmlns:a="http://schemas.openxmlformats.org/drawingml/2006/main" w="37335">
            <a:solidFill>
              <a:srgbClr val="1F2937"/>
            </a:solidFill>
          </a:ln>
        </p:spPr>
      </p:sp>
      <p:sp>
        <p:nvSpPr>
          <p:cNvPr id="26" name="Editable scientific diagram">
            <a:extLst xmlns:a="http://schemas.openxmlformats.org/drawingml/2006/main">
              <a:ext uri="{FF2B5EF4-FFF2-40B4-BE49-F238E27FC236}">
                <a16:creationId xmlns:a16="http://schemas.microsoft.com/office/drawing/2014/main" id="{81FB77C9-F067-4DAE-B336-8401DC80FD0D}"/>
              </a:ext>
            </a:extLst>
          </p:cNvPr>
          <p:cNvSpPr>
            <a:spLocks xmlns:a="http://schemas.openxmlformats.org/drawingml/2006/main" noGrp="1"/>
          </p:cNvSpPr>
          <p:nvPr/>
        </p:nvSpPr>
        <p:spPr>
          <a:xfrm xmlns:a="http://schemas.openxmlformats.org/drawingml/2006/main">
            <a:off x="4901293" y="5095960"/>
            <a:ext cx="1978734" cy="373346"/>
          </a:xfrm>
          <a:prstGeom xmlns:a="http://schemas.openxmlformats.org/drawingml/2006/main" prst="rect">
            <a:avLst/>
          </a:prstGeom>
          <a:solidFill xmlns:a="http://schemas.openxmlformats.org/drawingml/2006/main">
            <a:srgbClr val="D5EAF4"/>
          </a:solidFill>
          <a:ln xmlns:a="http://schemas.openxmlformats.org/drawingml/2006/main" w="22401">
            <a:solidFill>
              <a:srgbClr val="4D82A0"/>
            </a:solidFill>
          </a:ln>
        </p:spPr>
      </p:sp>
      <p:sp>
        <p:nvSpPr>
          <p:cNvPr id="27" name="Editable scientific diagram">
            <a:extLst xmlns:a="http://schemas.openxmlformats.org/drawingml/2006/main">
              <a:ext uri="{FF2B5EF4-FFF2-40B4-BE49-F238E27FC236}">
                <a16:creationId xmlns:a16="http://schemas.microsoft.com/office/drawing/2014/main" id="{1C95B031-34DB-49A1-8B05-D7FACA5D7B04}"/>
              </a:ext>
            </a:extLst>
          </p:cNvPr>
          <p:cNvSpPr>
            <a:spLocks xmlns:a="http://schemas.openxmlformats.org/drawingml/2006/main" noGrp="1"/>
          </p:cNvSpPr>
          <p:nvPr/>
        </p:nvSpPr>
        <p:spPr>
          <a:xfrm xmlns:a="http://schemas.openxmlformats.org/drawingml/2006/main">
            <a:off x="5274639" y="5207964"/>
            <a:ext cx="89603" cy="89603"/>
          </a:xfrm>
          <a:prstGeom xmlns:a="http://schemas.openxmlformats.org/drawingml/2006/main" prst="ellipse">
            <a:avLst/>
          </a:prstGeom>
          <a:solidFill xmlns:a="http://schemas.openxmlformats.org/drawingml/2006/main">
            <a:srgbClr val="9974C2"/>
          </a:solidFill>
          <a:ln xmlns:a="http://schemas.openxmlformats.org/drawingml/2006/main" w="22401">
            <a:solidFill>
              <a:srgbClr val="725293"/>
            </a:solidFill>
          </a:ln>
        </p:spPr>
      </p:sp>
      <p:sp>
        <p:nvSpPr>
          <p:cNvPr id="28" name="Editable scientific diagram">
            <a:extLst xmlns:a="http://schemas.openxmlformats.org/drawingml/2006/main">
              <a:ext uri="{FF2B5EF4-FFF2-40B4-BE49-F238E27FC236}">
                <a16:creationId xmlns:a16="http://schemas.microsoft.com/office/drawing/2014/main" id="{FDBF67CF-6758-4B06-B15D-EA03E2F59BC9}"/>
              </a:ext>
            </a:extLst>
          </p:cNvPr>
          <p:cNvSpPr>
            <a:spLocks xmlns:a="http://schemas.openxmlformats.org/drawingml/2006/main" noGrp="1"/>
          </p:cNvSpPr>
          <p:nvPr/>
        </p:nvSpPr>
        <p:spPr>
          <a:xfrm xmlns:a="http://schemas.openxmlformats.org/drawingml/2006/main">
            <a:off x="6058665" y="5275166"/>
            <a:ext cx="89603" cy="89603"/>
          </a:xfrm>
          <a:prstGeom xmlns:a="http://schemas.openxmlformats.org/drawingml/2006/main" prst="ellipse">
            <a:avLst/>
          </a:prstGeom>
          <a:solidFill xmlns:a="http://schemas.openxmlformats.org/drawingml/2006/main">
            <a:srgbClr val="9974C2"/>
          </a:solidFill>
          <a:ln xmlns:a="http://schemas.openxmlformats.org/drawingml/2006/main" w="22401">
            <a:solidFill>
              <a:srgbClr val="725293"/>
            </a:solidFill>
          </a:ln>
        </p:spPr>
      </p:sp>
      <p:sp>
        <p:nvSpPr>
          <p:cNvPr id="29" name="Diagram label: Sand residue&#10;on the filter">
            <a:extLst xmlns:a="http://schemas.openxmlformats.org/drawingml/2006/main">
              <a:ext uri="{FF2B5EF4-FFF2-40B4-BE49-F238E27FC236}">
                <a16:creationId xmlns:a16="http://schemas.microsoft.com/office/drawing/2014/main" id="{8D1778CE-7CC8-47B9-8FC7-8F93541D0B88}"/>
              </a:ext>
            </a:extLst>
          </p:cNvPr>
          <p:cNvSpPr>
            <a:spLocks xmlns:a="http://schemas.openxmlformats.org/drawingml/2006/main" noGrp="1"/>
          </p:cNvSpPr>
          <p:nvPr/>
        </p:nvSpPr>
        <p:spPr>
          <a:xfrm xmlns:a="http://schemas.openxmlformats.org/drawingml/2006/main">
            <a:off x="2773221" y="3079892"/>
            <a:ext cx="1866730" cy="746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Sand residue</a:t>
            </a:r>
          </a:p>
          <a:p xmlns:a="http://schemas.openxmlformats.org/drawingml/2006/main">
            <a:pPr algn="ctr">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on the filter</a:t>
            </a:r>
          </a:p>
        </p:txBody>
      </p:sp>
      <p:sp>
        <p:nvSpPr>
          <p:cNvPr id="30" name="Diagram line">
            <a:extLst xmlns:a="http://schemas.openxmlformats.org/drawingml/2006/main">
              <a:ext uri="{FF2B5EF4-FFF2-40B4-BE49-F238E27FC236}">
                <a16:creationId xmlns:a16="http://schemas.microsoft.com/office/drawing/2014/main" id="{73A335E4-1F1A-4B4F-82BD-F8428717575E}"/>
              </a:ext>
            </a:extLst>
          </p:cNvPr>
          <p:cNvSpPr>
            <a:spLocks xmlns:a="http://schemas.openxmlformats.org/drawingml/2006/main" noGrp="1"/>
          </p:cNvSpPr>
          <p:nvPr/>
        </p:nvSpPr>
        <p:spPr>
          <a:xfrm xmlns:a="http://schemas.openxmlformats.org/drawingml/2006/main" flipH="0" flipV="0">
            <a:off x="4617550" y="3378569"/>
            <a:ext cx="940832" cy="953"/>
          </a:xfrm>
          <a:prstGeom xmlns:a="http://schemas.openxmlformats.org/drawingml/2006/main" prst="line">
            <a:avLst/>
          </a:prstGeom>
          <a:noFill xmlns:a="http://schemas.openxmlformats.org/drawingml/2006/main"/>
          <a:ln xmlns:a="http://schemas.openxmlformats.org/drawingml/2006/main" w="37335">
            <a:solidFill>
              <a:srgbClr val="1F2937"/>
            </a:solidFill>
          </a:ln>
        </p:spPr>
      </p:sp>
      <p:sp>
        <p:nvSpPr>
          <p:cNvPr id="31" name="Diagram label: Salt and water&#10;pass through">
            <a:extLst xmlns:a="http://schemas.openxmlformats.org/drawingml/2006/main">
              <a:ext uri="{FF2B5EF4-FFF2-40B4-BE49-F238E27FC236}">
                <a16:creationId xmlns:a16="http://schemas.microsoft.com/office/drawing/2014/main" id="{A897B3B6-7E88-4DCF-86AF-203D6F330481}"/>
              </a:ext>
            </a:extLst>
          </p:cNvPr>
          <p:cNvSpPr>
            <a:spLocks xmlns:a="http://schemas.openxmlformats.org/drawingml/2006/main" noGrp="1"/>
          </p:cNvSpPr>
          <p:nvPr/>
        </p:nvSpPr>
        <p:spPr>
          <a:xfrm xmlns:a="http://schemas.openxmlformats.org/drawingml/2006/main">
            <a:off x="7328042" y="3154561"/>
            <a:ext cx="2016068" cy="746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Salt and water</a:t>
            </a:r>
          </a:p>
          <a:p xmlns:a="http://schemas.openxmlformats.org/drawingml/2006/main">
            <a:pPr algn="ctr">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pass through</a:t>
            </a:r>
          </a:p>
        </p:txBody>
      </p:sp>
      <p:sp>
        <p:nvSpPr>
          <p:cNvPr id="32" name="Diagram line">
            <a:extLst xmlns:a="http://schemas.openxmlformats.org/drawingml/2006/main">
              <a:ext uri="{FF2B5EF4-FFF2-40B4-BE49-F238E27FC236}">
                <a16:creationId xmlns:a16="http://schemas.microsoft.com/office/drawing/2014/main" id="{86BE1BEA-565D-487A-800F-6D63125D3597}"/>
              </a:ext>
            </a:extLst>
          </p:cNvPr>
          <p:cNvSpPr>
            <a:spLocks xmlns:a="http://schemas.openxmlformats.org/drawingml/2006/main" noGrp="1"/>
          </p:cNvSpPr>
          <p:nvPr/>
        </p:nvSpPr>
        <p:spPr>
          <a:xfrm xmlns:a="http://schemas.openxmlformats.org/drawingml/2006/main" flipH="0" flipV="0">
            <a:off x="6693354" y="3565242"/>
            <a:ext cx="560019" cy="953"/>
          </a:xfrm>
          <a:prstGeom xmlns:a="http://schemas.openxmlformats.org/drawingml/2006/main" prst="line">
            <a:avLst/>
          </a:prstGeom>
          <a:noFill xmlns:a="http://schemas.openxmlformats.org/drawingml/2006/main"/>
          <a:ln xmlns:a="http://schemas.openxmlformats.org/drawingml/2006/main" w="37335">
            <a:solidFill>
              <a:srgbClr val="1F2937"/>
            </a:solidFill>
          </a:ln>
        </p:spPr>
      </p:sp>
      <p:sp>
        <p:nvSpPr>
          <p:cNvPr id="33" name="Diagram label: Filtrate:&#10;salt solution">
            <a:extLst xmlns:a="http://schemas.openxmlformats.org/drawingml/2006/main">
              <a:ext uri="{FF2B5EF4-FFF2-40B4-BE49-F238E27FC236}">
                <a16:creationId xmlns:a16="http://schemas.microsoft.com/office/drawing/2014/main" id="{292A91A0-7259-448C-8CA2-1144F8EF7563}"/>
              </a:ext>
            </a:extLst>
          </p:cNvPr>
          <p:cNvSpPr>
            <a:spLocks xmlns:a="http://schemas.openxmlformats.org/drawingml/2006/main" noGrp="1"/>
          </p:cNvSpPr>
          <p:nvPr/>
        </p:nvSpPr>
        <p:spPr>
          <a:xfrm xmlns:a="http://schemas.openxmlformats.org/drawingml/2006/main">
            <a:off x="7216038" y="4812217"/>
            <a:ext cx="2128072" cy="672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Filtrate:</a:t>
            </a:r>
          </a:p>
          <a:p xmlns:a="http://schemas.openxmlformats.org/drawingml/2006/main">
            <a:pPr algn="ctr">
              <a:lnSpc>
                <a:spcPct val="108000"/>
              </a:lnSpc>
              <a:buNone/>
              <a:defRPr sz="1646" b="0">
                <a:solidFill>
                  <a:srgbClr val="1F2937"/>
                </a:solidFill>
                <a:latin typeface="Nimbus Sans"/>
                <a:ea typeface="Nimbus Sans"/>
                <a:cs typeface="Nimbus Sans"/>
              </a:defRPr>
            </a:pPr>
            <a:r>
              <a:rPr sz="1646" b="0">
                <a:solidFill>
                  <a:srgbClr val="1F2937"/>
                </a:solidFill>
                <a:latin typeface="Nimbus Sans"/>
                <a:ea typeface="Nimbus Sans"/>
                <a:cs typeface="Nimbus Sans"/>
              </a:rPr>
              <a:t>salt solution</a:t>
            </a:r>
          </a:p>
        </p:txBody>
      </p:sp>
      <p:sp>
        <p:nvSpPr>
          <p:cNvPr id="34" name="Diagram line">
            <a:extLst xmlns:a="http://schemas.openxmlformats.org/drawingml/2006/main">
              <a:ext uri="{FF2B5EF4-FFF2-40B4-BE49-F238E27FC236}">
                <a16:creationId xmlns:a16="http://schemas.microsoft.com/office/drawing/2014/main" id="{17C96F69-6655-4DC0-9324-BB6C183DA06A}"/>
              </a:ext>
            </a:extLst>
          </p:cNvPr>
          <p:cNvSpPr>
            <a:spLocks xmlns:a="http://schemas.openxmlformats.org/drawingml/2006/main" noGrp="1"/>
          </p:cNvSpPr>
          <p:nvPr/>
        </p:nvSpPr>
        <p:spPr>
          <a:xfrm xmlns:a="http://schemas.openxmlformats.org/drawingml/2006/main" flipH="0" flipV="0">
            <a:off x="6917361" y="5200497"/>
            <a:ext cx="261342" cy="953"/>
          </a:xfrm>
          <a:prstGeom xmlns:a="http://schemas.openxmlformats.org/drawingml/2006/main" prst="line">
            <a:avLst/>
          </a:prstGeom>
          <a:noFill xmlns:a="http://schemas.openxmlformats.org/drawingml/2006/main"/>
          <a:ln xmlns:a="http://schemas.openxmlformats.org/drawingml/2006/main" w="37335">
            <a:solidFill>
              <a:srgbClr val="1F2937"/>
            </a:solidFill>
          </a:ln>
        </p:spPr>
      </p:sp>
      <p:sp>
        <p:nvSpPr>
          <p:cNvPr id="35" name="Diagram label: Purple symbols: dissolved salt.&#10;Schematic only; particles and pores are not to scale.">
            <a:extLst xmlns:a="http://schemas.openxmlformats.org/drawingml/2006/main">
              <a:ext uri="{FF2B5EF4-FFF2-40B4-BE49-F238E27FC236}">
                <a16:creationId xmlns:a16="http://schemas.microsoft.com/office/drawing/2014/main" id="{3B0A8136-B016-4A6E-B889-73323C991F6E}"/>
              </a:ext>
            </a:extLst>
          </p:cNvPr>
          <p:cNvSpPr>
            <a:spLocks xmlns:a="http://schemas.openxmlformats.org/drawingml/2006/main" noGrp="1"/>
          </p:cNvSpPr>
          <p:nvPr/>
        </p:nvSpPr>
        <p:spPr>
          <a:xfrm xmlns:a="http://schemas.openxmlformats.org/drawingml/2006/main">
            <a:off x="2847890" y="5588777"/>
            <a:ext cx="6533555" cy="3658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293" b="0">
                <a:solidFill>
                  <a:srgbClr val="1F2937"/>
                </a:solidFill>
                <a:latin typeface="Nimbus Sans"/>
                <a:ea typeface="Nimbus Sans"/>
                <a:cs typeface="Nimbus Sans"/>
              </a:defRPr>
            </a:pPr>
            <a:r>
              <a:rPr sz="1293" b="0">
                <a:solidFill>
                  <a:srgbClr val="1F2937"/>
                </a:solidFill>
                <a:latin typeface="Nimbus Sans"/>
                <a:ea typeface="Nimbus Sans"/>
                <a:cs typeface="Nimbus Sans"/>
              </a:rPr>
              <a:t>Purple symbols: dissolved salt.</a:t>
            </a:r>
          </a:p>
          <a:p xmlns:a="http://schemas.openxmlformats.org/drawingml/2006/main">
            <a:pPr algn="ctr">
              <a:lnSpc>
                <a:spcPct val="108000"/>
              </a:lnSpc>
              <a:buNone/>
              <a:defRPr sz="1293" b="0">
                <a:solidFill>
                  <a:srgbClr val="1F2937"/>
                </a:solidFill>
                <a:latin typeface="Nimbus Sans"/>
                <a:ea typeface="Nimbus Sans"/>
                <a:cs typeface="Nimbus Sans"/>
              </a:defRPr>
            </a:pPr>
            <a:r>
              <a:rPr sz="1293" b="0">
                <a:solidFill>
                  <a:srgbClr val="1F2937"/>
                </a:solidFill>
                <a:latin typeface="Nimbus Sans"/>
                <a:ea typeface="Nimbus Sans"/>
                <a:cs typeface="Nimbus Sans"/>
              </a:rPr>
              <a:t>Schematic only; particles and pores are not to scale.</a:t>
            </a:r>
          </a:p>
        </p:txBody>
      </p:sp>
      <p:sp>
        <p:nvSpPr>
          <p:cNvPr id="36" name="Sand remains as residue.  Salt and water pass as filtrate.  Clea">
            <a:extLst xmlns:a="http://schemas.openxmlformats.org/drawingml/2006/main">
              <a:ext uri="{FF2B5EF4-FFF2-40B4-BE49-F238E27FC236}">
                <a16:creationId xmlns:a16="http://schemas.microsoft.com/office/drawing/2014/main" id="{67CE4918-18E9-46B2-A296-81AB0FB32372}"/>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Sand remains as residue. Salt and water pass as filtrate. Clear filtrate is not proof of pure water.</a:t>
            </a:r>
          </a:p>
        </p:txBody>
      </p:sp>
    </p:spTree>
    <p:extLst>
      <p:ext uri="{BB962C8B-B14F-4D97-AF65-F5344CB8AC3E}">
        <p14:creationId xmlns:p14="http://schemas.microsoft.com/office/powerpoint/2010/main" val="5284873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BAF30A9B-73EB-45C3-86B1-1021AFAB622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B2AE082-B884-4B4D-BD63-EF403110F9F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8EB7995F-B23C-4105-AED0-71172859A84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1A5E96F5-C0DB-467F-9227-994DE0C1335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03A569C5-271C-4813-A5CE-A2C33AF7A7C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I target the dissolved solid">
            <a:extLst xmlns:a="http://schemas.openxmlformats.org/drawingml/2006/main">
              <a:ext uri="{FF2B5EF4-FFF2-40B4-BE49-F238E27FC236}">
                <a16:creationId xmlns:a16="http://schemas.microsoft.com/office/drawing/2014/main" id="{A6B18185-89CA-4189-A2A0-3BC1329BC63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target the dissolved solid</a:t>
            </a:r>
          </a:p>
        </p:txBody>
      </p:sp>
      <p:sp>
        <p:nvSpPr>
          <p:cNvPr id="7" name="surface">
            <a:extLst xmlns:a="http://schemas.openxmlformats.org/drawingml/2006/main">
              <a:ext uri="{FF2B5EF4-FFF2-40B4-BE49-F238E27FC236}">
                <a16:creationId xmlns:a16="http://schemas.microsoft.com/office/drawing/2014/main" id="{D1EB42F7-5968-4A67-9F17-6562A92001A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methods workshop">
            <a:extLst xmlns:a="http://schemas.openxmlformats.org/drawingml/2006/main">
              <a:ext uri="{FF2B5EF4-FFF2-40B4-BE49-F238E27FC236}">
                <a16:creationId xmlns:a16="http://schemas.microsoft.com/office/drawing/2014/main" id="{9DE857E5-1F7A-413E-AAC8-60A55EAABC27}"/>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9" name="4 / 15">
            <a:extLst xmlns:a="http://schemas.openxmlformats.org/drawingml/2006/main">
              <a:ext uri="{FF2B5EF4-FFF2-40B4-BE49-F238E27FC236}">
                <a16:creationId xmlns:a16="http://schemas.microsoft.com/office/drawing/2014/main" id="{42A2DCD9-3BE6-41C8-85DA-4BD6BA17E4B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15</a:t>
            </a:r>
          </a:p>
        </p:txBody>
      </p:sp>
      <p:sp>
        <p:nvSpPr>
          <p:cNvPr id="10" name="Diagram label: Target: recover the salt">
            <a:extLst xmlns:a="http://schemas.openxmlformats.org/drawingml/2006/main">
              <a:ext uri="{FF2B5EF4-FFF2-40B4-BE49-F238E27FC236}">
                <a16:creationId xmlns:a16="http://schemas.microsoft.com/office/drawing/2014/main" id="{66AC31EA-9C3D-41F7-B063-6D1B94D6BAB3}"/>
              </a:ext>
            </a:extLst>
          </p:cNvPr>
          <p:cNvSpPr>
            <a:spLocks xmlns:a="http://schemas.openxmlformats.org/drawingml/2006/main" noGrp="1"/>
          </p:cNvSpPr>
          <p:nvPr/>
        </p:nvSpPr>
        <p:spPr>
          <a:xfrm xmlns:a="http://schemas.openxmlformats.org/drawingml/2006/main">
            <a:off x="2872468" y="1988004"/>
            <a:ext cx="6447064"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Target: recover the salt</a:t>
            </a:r>
          </a:p>
        </p:txBody>
      </p:sp>
      <p:sp>
        <p:nvSpPr>
          <p:cNvPr id="11" name="Editable scientific diagram">
            <a:extLst xmlns:a="http://schemas.openxmlformats.org/drawingml/2006/main">
              <a:ext uri="{FF2B5EF4-FFF2-40B4-BE49-F238E27FC236}">
                <a16:creationId xmlns:a16="http://schemas.microsoft.com/office/drawing/2014/main" id="{ACB8B71F-086E-44A2-82BF-1502384B1581}"/>
              </a:ext>
            </a:extLst>
          </p:cNvPr>
          <p:cNvSpPr>
            <a:spLocks xmlns:a="http://schemas.openxmlformats.org/drawingml/2006/main" noGrp="1"/>
          </p:cNvSpPr>
          <p:nvPr/>
        </p:nvSpPr>
        <p:spPr>
          <a:xfrm xmlns:a="http://schemas.openxmlformats.org/drawingml/2006/main">
            <a:off x="3152775" y="3564731"/>
            <a:ext cx="2102304" cy="1261382"/>
          </a:xfrm>
          <a:prstGeom xmlns:a="http://schemas.openxmlformats.org/drawingml/2006/main" prst="rect">
            <a:avLst/>
          </a:prstGeom>
          <a:solidFill xmlns:a="http://schemas.openxmlformats.org/drawingml/2006/main">
            <a:srgbClr val="D5EAF4"/>
          </a:solidFill>
          <a:ln xmlns:a="http://schemas.openxmlformats.org/drawingml/2006/main" w="21023">
            <a:solidFill>
              <a:srgbClr val="4D82A0"/>
            </a:solidFill>
          </a:ln>
        </p:spPr>
      </p:sp>
      <p:sp>
        <p:nvSpPr>
          <p:cNvPr id="12" name="Diagram label: Salt solution">
            <a:extLst xmlns:a="http://schemas.openxmlformats.org/drawingml/2006/main">
              <a:ext uri="{FF2B5EF4-FFF2-40B4-BE49-F238E27FC236}">
                <a16:creationId xmlns:a16="http://schemas.microsoft.com/office/drawing/2014/main" id="{D002771C-B579-4270-9B76-5730FA09B6CB}"/>
              </a:ext>
            </a:extLst>
          </p:cNvPr>
          <p:cNvSpPr>
            <a:spLocks xmlns:a="http://schemas.openxmlformats.org/drawingml/2006/main" noGrp="1"/>
          </p:cNvSpPr>
          <p:nvPr/>
        </p:nvSpPr>
        <p:spPr>
          <a:xfrm xmlns:a="http://schemas.openxmlformats.org/drawingml/2006/main">
            <a:off x="3257890" y="3004117"/>
            <a:ext cx="1892073"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55" b="0">
                <a:solidFill>
                  <a:srgbClr val="1F2937"/>
                </a:solidFill>
                <a:latin typeface="Nimbus Sans"/>
                <a:ea typeface="Nimbus Sans"/>
                <a:cs typeface="Nimbus Sans"/>
              </a:defRPr>
            </a:pPr>
            <a:r>
              <a:rPr sz="1655" b="0">
                <a:solidFill>
                  <a:srgbClr val="1F2937"/>
                </a:solidFill>
                <a:latin typeface="Nimbus Sans"/>
                <a:ea typeface="Nimbus Sans"/>
                <a:cs typeface="Nimbus Sans"/>
              </a:rPr>
              <a:t>Salt solution</a:t>
            </a:r>
          </a:p>
        </p:txBody>
      </p:sp>
      <p:sp>
        <p:nvSpPr>
          <p:cNvPr id="13" name="Diagram line">
            <a:extLst xmlns:a="http://schemas.openxmlformats.org/drawingml/2006/main">
              <a:ext uri="{FF2B5EF4-FFF2-40B4-BE49-F238E27FC236}">
                <a16:creationId xmlns:a16="http://schemas.microsoft.com/office/drawing/2014/main" id="{B69DB0A6-606F-4A1C-84CA-79877C25AA80}"/>
              </a:ext>
            </a:extLst>
          </p:cNvPr>
          <p:cNvSpPr>
            <a:spLocks xmlns:a="http://schemas.openxmlformats.org/drawingml/2006/main" noGrp="1"/>
          </p:cNvSpPr>
          <p:nvPr/>
        </p:nvSpPr>
        <p:spPr>
          <a:xfrm xmlns:a="http://schemas.openxmlformats.org/drawingml/2006/main" flipH="0" flipV="0">
            <a:off x="5465309" y="4195422"/>
            <a:ext cx="1012610" cy="953"/>
          </a:xfrm>
          <a:prstGeom xmlns:a="http://schemas.openxmlformats.org/drawingml/2006/main" prst="line">
            <a:avLst/>
          </a:prstGeom>
          <a:noFill xmlns:a="http://schemas.openxmlformats.org/drawingml/2006/main"/>
          <a:ln xmlns:a="http://schemas.openxmlformats.org/drawingml/2006/main" w="35038">
            <a:solidFill>
              <a:srgbClr val="3F7D6E"/>
            </a:solidFill>
          </a:ln>
        </p:spPr>
      </p:sp>
      <p:sp>
        <p:nvSpPr>
          <p:cNvPr id="14" name="Diagram arrowhead">
            <a:extLst xmlns:a="http://schemas.openxmlformats.org/drawingml/2006/main">
              <a:ext uri="{FF2B5EF4-FFF2-40B4-BE49-F238E27FC236}">
                <a16:creationId xmlns:a16="http://schemas.microsoft.com/office/drawing/2014/main" id="{DD3130F4-F90E-4188-B189-37BBBE81A7AF}"/>
              </a:ext>
            </a:extLst>
          </p:cNvPr>
          <p:cNvSpPr>
            <a:spLocks xmlns:a="http://schemas.openxmlformats.org/drawingml/2006/main" noGrp="1"/>
          </p:cNvSpPr>
          <p:nvPr/>
        </p:nvSpPr>
        <p:spPr>
          <a:xfrm xmlns:a="http://schemas.openxmlformats.org/drawingml/2006/main" rot="5400000">
            <a:off x="6453392" y="4146369"/>
            <a:ext cx="98108" cy="98108"/>
          </a:xfrm>
          <a:prstGeom xmlns:a="http://schemas.openxmlformats.org/drawingml/2006/main" prst="triangle">
            <a:avLst/>
          </a:prstGeom>
          <a:solidFill xmlns:a="http://schemas.openxmlformats.org/drawingml/2006/main">
            <a:srgbClr val="3F7D6E"/>
          </a:solidFill>
          <a:ln xmlns:a="http://schemas.openxmlformats.org/drawingml/2006/main" w="0">
            <a:noFill/>
          </a:ln>
        </p:spPr>
      </p:sp>
      <p:sp>
        <p:nvSpPr>
          <p:cNvPr id="15" name="Diagram line">
            <a:extLst xmlns:a="http://schemas.openxmlformats.org/drawingml/2006/main">
              <a:ext uri="{FF2B5EF4-FFF2-40B4-BE49-F238E27FC236}">
                <a16:creationId xmlns:a16="http://schemas.microsoft.com/office/drawing/2014/main" id="{3418F330-3900-4E28-B35E-15E07C544AA1}"/>
              </a:ext>
            </a:extLst>
          </p:cNvPr>
          <p:cNvSpPr>
            <a:spLocks xmlns:a="http://schemas.openxmlformats.org/drawingml/2006/main" noGrp="1"/>
          </p:cNvSpPr>
          <p:nvPr/>
        </p:nvSpPr>
        <p:spPr>
          <a:xfrm xmlns:a="http://schemas.openxmlformats.org/drawingml/2006/main" flipH="0" flipV="1">
            <a:off x="7707766" y="2937544"/>
            <a:ext cx="953" cy="627187"/>
          </a:xfrm>
          <a:prstGeom xmlns:a="http://schemas.openxmlformats.org/drawingml/2006/main" prst="line">
            <a:avLst/>
          </a:prstGeom>
          <a:noFill xmlns:a="http://schemas.openxmlformats.org/drawingml/2006/main"/>
          <a:ln xmlns:a="http://schemas.openxmlformats.org/drawingml/2006/main" w="35038">
            <a:solidFill>
              <a:srgbClr val="4D82A0"/>
            </a:solidFill>
          </a:ln>
        </p:spPr>
      </p:sp>
      <p:sp>
        <p:nvSpPr>
          <p:cNvPr id="16" name="Diagram arrowhead">
            <a:extLst xmlns:a="http://schemas.openxmlformats.org/drawingml/2006/main">
              <a:ext uri="{FF2B5EF4-FFF2-40B4-BE49-F238E27FC236}">
                <a16:creationId xmlns:a16="http://schemas.microsoft.com/office/drawing/2014/main" id="{5B885522-A0CC-4908-839D-1CA98CACDECC}"/>
              </a:ext>
            </a:extLst>
          </p:cNvPr>
          <p:cNvSpPr>
            <a:spLocks xmlns:a="http://schemas.openxmlformats.org/drawingml/2006/main" noGrp="1"/>
          </p:cNvSpPr>
          <p:nvPr/>
        </p:nvSpPr>
        <p:spPr>
          <a:xfrm xmlns:a="http://schemas.openxmlformats.org/drawingml/2006/main" rot="0">
            <a:off x="7658712" y="2863963"/>
            <a:ext cx="98108" cy="98108"/>
          </a:xfrm>
          <a:prstGeom xmlns:a="http://schemas.openxmlformats.org/drawingml/2006/main" prst="triangle">
            <a:avLst/>
          </a:prstGeom>
          <a:solidFill xmlns:a="http://schemas.openxmlformats.org/drawingml/2006/main">
            <a:srgbClr val="4D82A0"/>
          </a:solidFill>
          <a:ln xmlns:a="http://schemas.openxmlformats.org/drawingml/2006/main" w="0">
            <a:noFill/>
          </a:ln>
        </p:spPr>
      </p:sp>
      <p:sp>
        <p:nvSpPr>
          <p:cNvPr id="17" name="Diagram line">
            <a:extLst xmlns:a="http://schemas.openxmlformats.org/drawingml/2006/main">
              <a:ext uri="{FF2B5EF4-FFF2-40B4-BE49-F238E27FC236}">
                <a16:creationId xmlns:a16="http://schemas.microsoft.com/office/drawing/2014/main" id="{9AF530DF-01C3-4800-88E7-16920BB1287D}"/>
              </a:ext>
            </a:extLst>
          </p:cNvPr>
          <p:cNvSpPr>
            <a:spLocks xmlns:a="http://schemas.openxmlformats.org/drawingml/2006/main" noGrp="1"/>
          </p:cNvSpPr>
          <p:nvPr/>
        </p:nvSpPr>
        <p:spPr>
          <a:xfrm xmlns:a="http://schemas.openxmlformats.org/drawingml/2006/main" flipH="0" flipV="1">
            <a:off x="8268380" y="3035656"/>
            <a:ext cx="248977" cy="529076"/>
          </a:xfrm>
          <a:prstGeom xmlns:a="http://schemas.openxmlformats.org/drawingml/2006/main" prst="line">
            <a:avLst/>
          </a:prstGeom>
          <a:noFill xmlns:a="http://schemas.openxmlformats.org/drawingml/2006/main"/>
          <a:ln xmlns:a="http://schemas.openxmlformats.org/drawingml/2006/main" w="35038">
            <a:solidFill>
              <a:srgbClr val="4D82A0"/>
            </a:solidFill>
          </a:ln>
        </p:spPr>
      </p:sp>
      <p:sp>
        <p:nvSpPr>
          <p:cNvPr id="18" name="Diagram arrowhead">
            <a:extLst xmlns:a="http://schemas.openxmlformats.org/drawingml/2006/main">
              <a:ext uri="{FF2B5EF4-FFF2-40B4-BE49-F238E27FC236}">
                <a16:creationId xmlns:a16="http://schemas.microsoft.com/office/drawing/2014/main" id="{90DDF030-5D4C-402E-B5AC-3CF564B089B4}"/>
              </a:ext>
            </a:extLst>
          </p:cNvPr>
          <p:cNvSpPr>
            <a:spLocks xmlns:a="http://schemas.openxmlformats.org/drawingml/2006/main" noGrp="1"/>
          </p:cNvSpPr>
          <p:nvPr/>
        </p:nvSpPr>
        <p:spPr>
          <a:xfrm xmlns:a="http://schemas.openxmlformats.org/drawingml/2006/main" rot="1512067">
            <a:off x="8478747" y="2964410"/>
            <a:ext cx="98108" cy="98108"/>
          </a:xfrm>
          <a:prstGeom xmlns:a="http://schemas.openxmlformats.org/drawingml/2006/main" prst="triangle">
            <a:avLst/>
          </a:prstGeom>
          <a:solidFill xmlns:a="http://schemas.openxmlformats.org/drawingml/2006/main">
            <a:srgbClr val="4D82A0"/>
          </a:solidFill>
          <a:ln xmlns:a="http://schemas.openxmlformats.org/drawingml/2006/main" w="0">
            <a:noFill/>
          </a:ln>
        </p:spPr>
      </p:sp>
      <p:sp>
        <p:nvSpPr>
          <p:cNvPr id="19" name="Editable scientific diagram">
            <a:extLst xmlns:a="http://schemas.openxmlformats.org/drawingml/2006/main">
              <a:ext uri="{FF2B5EF4-FFF2-40B4-BE49-F238E27FC236}">
                <a16:creationId xmlns:a16="http://schemas.microsoft.com/office/drawing/2014/main" id="{BA2D1540-EB5E-4CED-8DBE-78737B331212}"/>
              </a:ext>
            </a:extLst>
          </p:cNvPr>
          <p:cNvSpPr>
            <a:spLocks xmlns:a="http://schemas.openxmlformats.org/drawingml/2006/main" noGrp="1"/>
          </p:cNvSpPr>
          <p:nvPr/>
        </p:nvSpPr>
        <p:spPr>
          <a:xfrm xmlns:a="http://schemas.openxmlformats.org/drawingml/2006/main">
            <a:off x="7006998" y="4510768"/>
            <a:ext cx="2102304" cy="315346"/>
          </a:xfrm>
          <a:prstGeom xmlns:a="http://schemas.openxmlformats.org/drawingml/2006/main" prst="rect">
            <a:avLst/>
          </a:prstGeom>
          <a:solidFill xmlns:a="http://schemas.openxmlformats.org/drawingml/2006/main">
            <a:srgbClr val="F4E7CE"/>
          </a:solidFill>
          <a:ln xmlns:a="http://schemas.openxmlformats.org/drawingml/2006/main" w="21023">
            <a:solidFill>
              <a:srgbClr val="C9803B"/>
            </a:solidFill>
          </a:ln>
        </p:spPr>
      </p:sp>
      <p:sp>
        <p:nvSpPr>
          <p:cNvPr id="20" name="Diagram label: Salt remains">
            <a:extLst xmlns:a="http://schemas.openxmlformats.org/drawingml/2006/main">
              <a:ext uri="{FF2B5EF4-FFF2-40B4-BE49-F238E27FC236}">
                <a16:creationId xmlns:a16="http://schemas.microsoft.com/office/drawing/2014/main" id="{BB57DB79-A922-46E6-97E4-53A55A785596}"/>
              </a:ext>
            </a:extLst>
          </p:cNvPr>
          <p:cNvSpPr>
            <a:spLocks xmlns:a="http://schemas.openxmlformats.org/drawingml/2006/main" noGrp="1"/>
          </p:cNvSpPr>
          <p:nvPr/>
        </p:nvSpPr>
        <p:spPr>
          <a:xfrm xmlns:a="http://schemas.openxmlformats.org/drawingml/2006/main">
            <a:off x="6831806" y="4966267"/>
            <a:ext cx="2312534"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00" b="0">
                <a:solidFill>
                  <a:srgbClr val="1F2937"/>
                </a:solidFill>
                <a:latin typeface="Nimbus Sans"/>
                <a:ea typeface="Nimbus Sans"/>
                <a:cs typeface="Nimbus Sans"/>
              </a:defRPr>
            </a:pPr>
            <a:r>
              <a:rPr sz="1600" b="0">
                <a:solidFill>
                  <a:srgbClr val="1F2937"/>
                </a:solidFill>
                <a:latin typeface="Nimbus Sans"/>
                <a:ea typeface="Nimbus Sans"/>
                <a:cs typeface="Nimbus Sans"/>
              </a:rPr>
              <a:t>Salt remains</a:t>
            </a:r>
          </a:p>
        </p:txBody>
      </p:sp>
      <p:sp>
        <p:nvSpPr>
          <p:cNvPr id="21" name="Diagram label: Water vapour&#10;leaves into the air">
            <a:extLst xmlns:a="http://schemas.openxmlformats.org/drawingml/2006/main">
              <a:ext uri="{FF2B5EF4-FFF2-40B4-BE49-F238E27FC236}">
                <a16:creationId xmlns:a16="http://schemas.microsoft.com/office/drawing/2014/main" id="{2AECA5E8-7612-4783-A8C2-C669B534A083}"/>
              </a:ext>
            </a:extLst>
          </p:cNvPr>
          <p:cNvSpPr>
            <a:spLocks xmlns:a="http://schemas.openxmlformats.org/drawingml/2006/main" noGrp="1"/>
          </p:cNvSpPr>
          <p:nvPr/>
        </p:nvSpPr>
        <p:spPr>
          <a:xfrm xmlns:a="http://schemas.openxmlformats.org/drawingml/2006/main">
            <a:off x="6866845" y="2303349"/>
            <a:ext cx="2277496" cy="455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Water vapour</a:t>
            </a:r>
          </a:p>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leaves into the air</a:t>
            </a:r>
          </a:p>
        </p:txBody>
      </p:sp>
      <p:sp>
        <p:nvSpPr>
          <p:cNvPr id="22" name="Diagram label: Open evaporation does not collect the water.">
            <a:extLst xmlns:a="http://schemas.openxmlformats.org/drawingml/2006/main">
              <a:ext uri="{FF2B5EF4-FFF2-40B4-BE49-F238E27FC236}">
                <a16:creationId xmlns:a16="http://schemas.microsoft.com/office/drawing/2014/main" id="{8F52C39F-1625-48D4-A57A-EF34502B4E7A}"/>
              </a:ext>
            </a:extLst>
          </p:cNvPr>
          <p:cNvSpPr>
            <a:spLocks xmlns:a="http://schemas.openxmlformats.org/drawingml/2006/main" noGrp="1"/>
          </p:cNvSpPr>
          <p:nvPr/>
        </p:nvSpPr>
        <p:spPr>
          <a:xfrm xmlns:a="http://schemas.openxmlformats.org/drawingml/2006/main">
            <a:off x="3047660" y="5386728"/>
            <a:ext cx="6096680"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Open evaporation does not collect the water.</a:t>
            </a:r>
          </a:p>
        </p:txBody>
      </p:sp>
      <p:sp>
        <p:nvSpPr>
          <p:cNvPr id="23" name="Removing water can leave salt behind.  Open evaporation loses wa">
            <a:extLst xmlns:a="http://schemas.openxmlformats.org/drawingml/2006/main">
              <a:ext uri="{FF2B5EF4-FFF2-40B4-BE49-F238E27FC236}">
                <a16:creationId xmlns:a16="http://schemas.microsoft.com/office/drawing/2014/main" id="{D0F2EE5C-5FD1-4A52-BF92-F91BA8A9DCE8}"/>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Removing water can leave salt behind. Open evaporation loses water into the air. This suits a salt target, not</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a collected-water target.</a:t>
            </a:r>
          </a:p>
        </p:txBody>
      </p:sp>
    </p:spTree>
    <p:extLst>
      <p:ext uri="{BB962C8B-B14F-4D97-AF65-F5344CB8AC3E}">
        <p14:creationId xmlns:p14="http://schemas.microsoft.com/office/powerpoint/2010/main" val="20090507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urface">
            <a:extLst xmlns:a="http://schemas.openxmlformats.org/drawingml/2006/main">
              <a:ext uri="{FF2B5EF4-FFF2-40B4-BE49-F238E27FC236}">
                <a16:creationId xmlns:a16="http://schemas.microsoft.com/office/drawing/2014/main" id="{51B91957-3510-4B37-8D51-DD454D97B31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C45FE46-59A7-4369-8130-FD30C7DEFD8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9136828-FAC6-47CB-93EE-8ABE673A05A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107EB556-BF95-4047-9132-61067B34D232}"/>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2BC0778D-F91C-4ACC-8FC3-82B40CE85A3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I change the plan when the target changes">
            <a:extLst xmlns:a="http://schemas.openxmlformats.org/drawingml/2006/main">
              <a:ext uri="{FF2B5EF4-FFF2-40B4-BE49-F238E27FC236}">
                <a16:creationId xmlns:a16="http://schemas.microsoft.com/office/drawing/2014/main" id="{09F1DC43-97A9-4081-8D3A-20BD2401ECFB}"/>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change the plan when the target changes</a:t>
            </a:r>
          </a:p>
        </p:txBody>
      </p:sp>
      <p:sp>
        <p:nvSpPr>
          <p:cNvPr id="7" name="surface">
            <a:extLst xmlns:a="http://schemas.openxmlformats.org/drawingml/2006/main">
              <a:ext uri="{FF2B5EF4-FFF2-40B4-BE49-F238E27FC236}">
                <a16:creationId xmlns:a16="http://schemas.microsoft.com/office/drawing/2014/main" id="{9C64A57F-AF95-4680-9D3E-BF6C5BA90C8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methods workshop">
            <a:extLst xmlns:a="http://schemas.openxmlformats.org/drawingml/2006/main">
              <a:ext uri="{FF2B5EF4-FFF2-40B4-BE49-F238E27FC236}">
                <a16:creationId xmlns:a16="http://schemas.microsoft.com/office/drawing/2014/main" id="{5A0AD930-3AA6-453E-B010-AA68F5CA0BB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9" name="5 / 15">
            <a:extLst xmlns:a="http://schemas.openxmlformats.org/drawingml/2006/main">
              <a:ext uri="{FF2B5EF4-FFF2-40B4-BE49-F238E27FC236}">
                <a16:creationId xmlns:a16="http://schemas.microsoft.com/office/drawing/2014/main" id="{00740E80-4421-4AD1-B7FC-F86D0451C34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15</a:t>
            </a:r>
          </a:p>
        </p:txBody>
      </p:sp>
      <p:sp>
        <p:nvSpPr>
          <p:cNvPr id="10" name="Diagram label: Target: recover water from saltwater">
            <a:extLst xmlns:a="http://schemas.openxmlformats.org/drawingml/2006/main">
              <a:ext uri="{FF2B5EF4-FFF2-40B4-BE49-F238E27FC236}">
                <a16:creationId xmlns:a16="http://schemas.microsoft.com/office/drawing/2014/main" id="{12AFCCB8-3DA6-439D-ADAF-6395A5BA9258}"/>
              </a:ext>
            </a:extLst>
          </p:cNvPr>
          <p:cNvSpPr>
            <a:spLocks xmlns:a="http://schemas.openxmlformats.org/drawingml/2006/main" noGrp="1"/>
          </p:cNvSpPr>
          <p:nvPr/>
        </p:nvSpPr>
        <p:spPr>
          <a:xfrm xmlns:a="http://schemas.openxmlformats.org/drawingml/2006/main">
            <a:off x="2661217" y="2034523"/>
            <a:ext cx="6869566" cy="373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881" b="1">
                <a:solidFill>
                  <a:srgbClr val="1F2937"/>
                </a:solidFill>
                <a:latin typeface="Nimbus Sans"/>
                <a:ea typeface="Nimbus Sans"/>
                <a:cs typeface="Nimbus Sans"/>
              </a:defRPr>
            </a:pPr>
            <a:r>
              <a:rPr sz="1881" b="1">
                <a:solidFill>
                  <a:srgbClr val="1F2937"/>
                </a:solidFill>
                <a:latin typeface="Nimbus Sans"/>
                <a:ea typeface="Nimbus Sans"/>
                <a:cs typeface="Nimbus Sans"/>
              </a:rPr>
              <a:t>Target: recover water from saltwater</a:t>
            </a:r>
          </a:p>
        </p:txBody>
      </p:sp>
      <p:sp>
        <p:nvSpPr>
          <p:cNvPr id="11" name="Editable scientific diagram">
            <a:extLst xmlns:a="http://schemas.openxmlformats.org/drawingml/2006/main">
              <a:ext uri="{FF2B5EF4-FFF2-40B4-BE49-F238E27FC236}">
                <a16:creationId xmlns:a16="http://schemas.microsoft.com/office/drawing/2014/main" id="{06E961DE-02E8-4C83-88BD-5C28A33CF3D7}"/>
              </a:ext>
            </a:extLst>
          </p:cNvPr>
          <p:cNvSpPr>
            <a:spLocks xmlns:a="http://schemas.openxmlformats.org/drawingml/2006/main" noGrp="1"/>
          </p:cNvSpPr>
          <p:nvPr/>
        </p:nvSpPr>
        <p:spPr>
          <a:xfrm xmlns:a="http://schemas.openxmlformats.org/drawingml/2006/main">
            <a:off x="2810555" y="3266565"/>
            <a:ext cx="2040958" cy="970700"/>
          </a:xfrm>
          <a:prstGeom xmlns:a="http://schemas.openxmlformats.org/drawingml/2006/main" prst="rect">
            <a:avLst/>
          </a:prstGeom>
          <a:solidFill xmlns:a="http://schemas.openxmlformats.org/drawingml/2006/main">
            <a:srgbClr val="EFF7F3"/>
          </a:solidFill>
          <a:ln xmlns:a="http://schemas.openxmlformats.org/drawingml/2006/main" w="22401">
            <a:solidFill>
              <a:srgbClr val="3F7D6E"/>
            </a:solidFill>
          </a:ln>
        </p:spPr>
      </p:sp>
      <p:sp>
        <p:nvSpPr>
          <p:cNvPr id="12" name="Diagram label: Salt solution">
            <a:extLst xmlns:a="http://schemas.openxmlformats.org/drawingml/2006/main">
              <a:ext uri="{FF2B5EF4-FFF2-40B4-BE49-F238E27FC236}">
                <a16:creationId xmlns:a16="http://schemas.microsoft.com/office/drawing/2014/main" id="{2AF54BC0-72C8-4702-A0E8-78FD0349FBB5}"/>
              </a:ext>
            </a:extLst>
          </p:cNvPr>
          <p:cNvSpPr>
            <a:spLocks xmlns:a="http://schemas.openxmlformats.org/drawingml/2006/main" noGrp="1"/>
          </p:cNvSpPr>
          <p:nvPr/>
        </p:nvSpPr>
        <p:spPr>
          <a:xfrm xmlns:a="http://schemas.openxmlformats.org/drawingml/2006/main">
            <a:off x="2870291" y="3415903"/>
            <a:ext cx="1921487" cy="672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87" b="0">
                <a:solidFill>
                  <a:srgbClr val="1F2937"/>
                </a:solidFill>
                <a:latin typeface="Nimbus Sans"/>
                <a:ea typeface="Nimbus Sans"/>
                <a:cs typeface="Nimbus Sans"/>
              </a:defRPr>
            </a:pPr>
            <a:r>
              <a:rPr sz="1587" b="0">
                <a:solidFill>
                  <a:srgbClr val="1F2937"/>
                </a:solidFill>
                <a:latin typeface="Nimbus Sans"/>
                <a:ea typeface="Nimbus Sans"/>
                <a:cs typeface="Nimbus Sans"/>
              </a:rPr>
              <a:t>Salt solution</a:t>
            </a:r>
          </a:p>
        </p:txBody>
      </p:sp>
      <p:sp>
        <p:nvSpPr>
          <p:cNvPr id="13" name="Diagram line">
            <a:extLst xmlns:a="http://schemas.openxmlformats.org/drawingml/2006/main">
              <a:ext uri="{FF2B5EF4-FFF2-40B4-BE49-F238E27FC236}">
                <a16:creationId xmlns:a16="http://schemas.microsoft.com/office/drawing/2014/main" id="{A2136B2F-83D1-4964-BD40-4703F2985FDD}"/>
              </a:ext>
            </a:extLst>
          </p:cNvPr>
          <p:cNvSpPr>
            <a:spLocks xmlns:a="http://schemas.openxmlformats.org/drawingml/2006/main" noGrp="1"/>
          </p:cNvSpPr>
          <p:nvPr/>
        </p:nvSpPr>
        <p:spPr>
          <a:xfrm xmlns:a="http://schemas.openxmlformats.org/drawingml/2006/main" flipH="0" flipV="0">
            <a:off x="4851513" y="3751915"/>
            <a:ext cx="145605" cy="953"/>
          </a:xfrm>
          <a:prstGeom xmlns:a="http://schemas.openxmlformats.org/drawingml/2006/main" prst="line">
            <a:avLst/>
          </a:prstGeom>
          <a:noFill xmlns:a="http://schemas.openxmlformats.org/drawingml/2006/main"/>
          <a:ln xmlns:a="http://schemas.openxmlformats.org/drawingml/2006/main" w="37335">
            <a:solidFill>
              <a:srgbClr val="1F2937"/>
            </a:solidFill>
          </a:ln>
        </p:spPr>
      </p:sp>
      <p:sp>
        <p:nvSpPr>
          <p:cNvPr id="14" name="Diagram arrowhead">
            <a:extLst xmlns:a="http://schemas.openxmlformats.org/drawingml/2006/main">
              <a:ext uri="{FF2B5EF4-FFF2-40B4-BE49-F238E27FC236}">
                <a16:creationId xmlns:a16="http://schemas.microsoft.com/office/drawing/2014/main" id="{6066774F-B443-4BB1-983C-DB0BCC01D937}"/>
              </a:ext>
            </a:extLst>
          </p:cNvPr>
          <p:cNvSpPr>
            <a:spLocks xmlns:a="http://schemas.openxmlformats.org/drawingml/2006/main" noGrp="1"/>
          </p:cNvSpPr>
          <p:nvPr/>
        </p:nvSpPr>
        <p:spPr>
          <a:xfrm xmlns:a="http://schemas.openxmlformats.org/drawingml/2006/main" rot="5400000">
            <a:off x="4970984" y="3699646"/>
            <a:ext cx="104537" cy="104537"/>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15" name="Editable scientific diagram">
            <a:extLst xmlns:a="http://schemas.openxmlformats.org/drawingml/2006/main">
              <a:ext uri="{FF2B5EF4-FFF2-40B4-BE49-F238E27FC236}">
                <a16:creationId xmlns:a16="http://schemas.microsoft.com/office/drawing/2014/main" id="{8004976E-5B53-4182-B974-E9AE41A1BDFA}"/>
              </a:ext>
            </a:extLst>
          </p:cNvPr>
          <p:cNvSpPr>
            <a:spLocks xmlns:a="http://schemas.openxmlformats.org/drawingml/2006/main" noGrp="1"/>
          </p:cNvSpPr>
          <p:nvPr/>
        </p:nvSpPr>
        <p:spPr>
          <a:xfrm xmlns:a="http://schemas.openxmlformats.org/drawingml/2006/main">
            <a:off x="5075521" y="3266565"/>
            <a:ext cx="2040958" cy="970700"/>
          </a:xfrm>
          <a:prstGeom xmlns:a="http://schemas.openxmlformats.org/drawingml/2006/main" prst="rect">
            <a:avLst/>
          </a:prstGeom>
          <a:solidFill xmlns:a="http://schemas.openxmlformats.org/drawingml/2006/main">
            <a:srgbClr val="EFF7F3"/>
          </a:solidFill>
          <a:ln xmlns:a="http://schemas.openxmlformats.org/drawingml/2006/main" w="22401">
            <a:solidFill>
              <a:srgbClr val="3F7D6E"/>
            </a:solidFill>
          </a:ln>
        </p:spPr>
      </p:sp>
      <p:sp>
        <p:nvSpPr>
          <p:cNvPr id="16" name="Diagram label: Water evaporates;&#10;salt remains">
            <a:extLst xmlns:a="http://schemas.openxmlformats.org/drawingml/2006/main">
              <a:ext uri="{FF2B5EF4-FFF2-40B4-BE49-F238E27FC236}">
                <a16:creationId xmlns:a16="http://schemas.microsoft.com/office/drawing/2014/main" id="{34DA33C8-5166-4224-9E7C-149726F73C72}"/>
              </a:ext>
            </a:extLst>
          </p:cNvPr>
          <p:cNvSpPr>
            <a:spLocks xmlns:a="http://schemas.openxmlformats.org/drawingml/2006/main" noGrp="1"/>
          </p:cNvSpPr>
          <p:nvPr/>
        </p:nvSpPr>
        <p:spPr>
          <a:xfrm xmlns:a="http://schemas.openxmlformats.org/drawingml/2006/main">
            <a:off x="5135256" y="3415903"/>
            <a:ext cx="1921487" cy="672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87" b="0">
                <a:solidFill>
                  <a:srgbClr val="1F2937"/>
                </a:solidFill>
                <a:latin typeface="Nimbus Sans"/>
                <a:ea typeface="Nimbus Sans"/>
                <a:cs typeface="Nimbus Sans"/>
              </a:defRPr>
            </a:pPr>
            <a:r>
              <a:rPr sz="1587" b="0">
                <a:solidFill>
                  <a:srgbClr val="1F2937"/>
                </a:solidFill>
                <a:latin typeface="Nimbus Sans"/>
                <a:ea typeface="Nimbus Sans"/>
                <a:cs typeface="Nimbus Sans"/>
              </a:rPr>
              <a:t>Water evaporates;</a:t>
            </a:r>
          </a:p>
          <a:p xmlns:a="http://schemas.openxmlformats.org/drawingml/2006/main">
            <a:pPr algn="ctr">
              <a:lnSpc>
                <a:spcPct val="108000"/>
              </a:lnSpc>
              <a:buNone/>
              <a:defRPr sz="1587" b="0">
                <a:solidFill>
                  <a:srgbClr val="1F2937"/>
                </a:solidFill>
                <a:latin typeface="Nimbus Sans"/>
                <a:ea typeface="Nimbus Sans"/>
                <a:cs typeface="Nimbus Sans"/>
              </a:defRPr>
            </a:pPr>
            <a:r>
              <a:rPr sz="1587" b="0">
                <a:solidFill>
                  <a:srgbClr val="1F2937"/>
                </a:solidFill>
                <a:latin typeface="Nimbus Sans"/>
                <a:ea typeface="Nimbus Sans"/>
                <a:cs typeface="Nimbus Sans"/>
              </a:rPr>
              <a:t>salt remains</a:t>
            </a:r>
          </a:p>
        </p:txBody>
      </p:sp>
      <p:sp>
        <p:nvSpPr>
          <p:cNvPr id="17" name="Diagram line">
            <a:extLst xmlns:a="http://schemas.openxmlformats.org/drawingml/2006/main">
              <a:ext uri="{FF2B5EF4-FFF2-40B4-BE49-F238E27FC236}">
                <a16:creationId xmlns:a16="http://schemas.microsoft.com/office/drawing/2014/main" id="{40C2392F-4367-4EFD-89DF-8CF72B558EB5}"/>
              </a:ext>
            </a:extLst>
          </p:cNvPr>
          <p:cNvSpPr>
            <a:spLocks xmlns:a="http://schemas.openxmlformats.org/drawingml/2006/main" noGrp="1"/>
          </p:cNvSpPr>
          <p:nvPr/>
        </p:nvSpPr>
        <p:spPr>
          <a:xfrm xmlns:a="http://schemas.openxmlformats.org/drawingml/2006/main" flipH="0" flipV="0">
            <a:off x="7116479" y="3751915"/>
            <a:ext cx="145605" cy="953"/>
          </a:xfrm>
          <a:prstGeom xmlns:a="http://schemas.openxmlformats.org/drawingml/2006/main" prst="line">
            <a:avLst/>
          </a:prstGeom>
          <a:noFill xmlns:a="http://schemas.openxmlformats.org/drawingml/2006/main"/>
          <a:ln xmlns:a="http://schemas.openxmlformats.org/drawingml/2006/main" w="37335">
            <a:solidFill>
              <a:srgbClr val="1F2937"/>
            </a:solidFill>
          </a:ln>
        </p:spPr>
      </p:sp>
      <p:sp>
        <p:nvSpPr>
          <p:cNvPr id="18" name="Diagram arrowhead">
            <a:extLst xmlns:a="http://schemas.openxmlformats.org/drawingml/2006/main">
              <a:ext uri="{FF2B5EF4-FFF2-40B4-BE49-F238E27FC236}">
                <a16:creationId xmlns:a16="http://schemas.microsoft.com/office/drawing/2014/main" id="{052C474B-32A9-479A-89E3-81607863BEDA}"/>
              </a:ext>
            </a:extLst>
          </p:cNvPr>
          <p:cNvSpPr>
            <a:spLocks xmlns:a="http://schemas.openxmlformats.org/drawingml/2006/main" noGrp="1"/>
          </p:cNvSpPr>
          <p:nvPr/>
        </p:nvSpPr>
        <p:spPr>
          <a:xfrm xmlns:a="http://schemas.openxmlformats.org/drawingml/2006/main" rot="5400000">
            <a:off x="7235950" y="3699646"/>
            <a:ext cx="104537" cy="104537"/>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19" name="Editable scientific diagram">
            <a:extLst xmlns:a="http://schemas.openxmlformats.org/drawingml/2006/main">
              <a:ext uri="{FF2B5EF4-FFF2-40B4-BE49-F238E27FC236}">
                <a16:creationId xmlns:a16="http://schemas.microsoft.com/office/drawing/2014/main" id="{EEC8B397-602D-4F68-94C8-E0394E0C3A25}"/>
              </a:ext>
            </a:extLst>
          </p:cNvPr>
          <p:cNvSpPr>
            <a:spLocks xmlns:a="http://schemas.openxmlformats.org/drawingml/2006/main" noGrp="1"/>
          </p:cNvSpPr>
          <p:nvPr/>
        </p:nvSpPr>
        <p:spPr>
          <a:xfrm xmlns:a="http://schemas.openxmlformats.org/drawingml/2006/main">
            <a:off x="7340487" y="3266565"/>
            <a:ext cx="2040958" cy="970700"/>
          </a:xfrm>
          <a:prstGeom xmlns:a="http://schemas.openxmlformats.org/drawingml/2006/main" prst="rect">
            <a:avLst/>
          </a:prstGeom>
          <a:solidFill xmlns:a="http://schemas.openxmlformats.org/drawingml/2006/main">
            <a:srgbClr val="EFF7F3"/>
          </a:solidFill>
          <a:ln xmlns:a="http://schemas.openxmlformats.org/drawingml/2006/main" w="22401">
            <a:solidFill>
              <a:srgbClr val="3F7D6E"/>
            </a:solidFill>
          </a:ln>
        </p:spPr>
      </p:sp>
      <p:sp>
        <p:nvSpPr>
          <p:cNvPr id="20" name="Diagram label: Vapour cools&#10;and condenses">
            <a:extLst xmlns:a="http://schemas.openxmlformats.org/drawingml/2006/main">
              <a:ext uri="{FF2B5EF4-FFF2-40B4-BE49-F238E27FC236}">
                <a16:creationId xmlns:a16="http://schemas.microsoft.com/office/drawing/2014/main" id="{D9293CB0-101E-4CAC-99AD-3D44C8E8CAFC}"/>
              </a:ext>
            </a:extLst>
          </p:cNvPr>
          <p:cNvSpPr>
            <a:spLocks xmlns:a="http://schemas.openxmlformats.org/drawingml/2006/main" noGrp="1"/>
          </p:cNvSpPr>
          <p:nvPr/>
        </p:nvSpPr>
        <p:spPr>
          <a:xfrm xmlns:a="http://schemas.openxmlformats.org/drawingml/2006/main">
            <a:off x="7400222" y="3415903"/>
            <a:ext cx="1921487" cy="672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87" b="0">
                <a:solidFill>
                  <a:srgbClr val="1F2937"/>
                </a:solidFill>
                <a:latin typeface="Nimbus Sans"/>
                <a:ea typeface="Nimbus Sans"/>
                <a:cs typeface="Nimbus Sans"/>
              </a:defRPr>
            </a:pPr>
            <a:r>
              <a:rPr sz="1587" b="0">
                <a:solidFill>
                  <a:srgbClr val="1F2937"/>
                </a:solidFill>
                <a:latin typeface="Nimbus Sans"/>
                <a:ea typeface="Nimbus Sans"/>
                <a:cs typeface="Nimbus Sans"/>
              </a:rPr>
              <a:t>Vapour cools</a:t>
            </a:r>
          </a:p>
          <a:p xmlns:a="http://schemas.openxmlformats.org/drawingml/2006/main">
            <a:pPr algn="ctr">
              <a:lnSpc>
                <a:spcPct val="108000"/>
              </a:lnSpc>
              <a:buNone/>
              <a:defRPr sz="1587" b="0">
                <a:solidFill>
                  <a:srgbClr val="1F2937"/>
                </a:solidFill>
                <a:latin typeface="Nimbus Sans"/>
                <a:ea typeface="Nimbus Sans"/>
                <a:cs typeface="Nimbus Sans"/>
              </a:defRPr>
            </a:pPr>
            <a:r>
              <a:rPr sz="1587" b="0">
                <a:solidFill>
                  <a:srgbClr val="1F2937"/>
                </a:solidFill>
                <a:latin typeface="Nimbus Sans"/>
                <a:ea typeface="Nimbus Sans"/>
                <a:cs typeface="Nimbus Sans"/>
              </a:rPr>
              <a:t>and condenses</a:t>
            </a:r>
          </a:p>
        </p:txBody>
      </p:sp>
      <p:sp>
        <p:nvSpPr>
          <p:cNvPr id="21" name="Diagram label: Capture the vapour and collect the liquid water.&#10;Process schematic only; not an apparatus-building guide.">
            <a:extLst xmlns:a="http://schemas.openxmlformats.org/drawingml/2006/main">
              <a:ext uri="{FF2B5EF4-FFF2-40B4-BE49-F238E27FC236}">
                <a16:creationId xmlns:a16="http://schemas.microsoft.com/office/drawing/2014/main" id="{DD3ED284-4DE3-4576-8381-28D0717AAFA6}"/>
              </a:ext>
            </a:extLst>
          </p:cNvPr>
          <p:cNvSpPr>
            <a:spLocks xmlns:a="http://schemas.openxmlformats.org/drawingml/2006/main" noGrp="1"/>
          </p:cNvSpPr>
          <p:nvPr/>
        </p:nvSpPr>
        <p:spPr>
          <a:xfrm xmlns:a="http://schemas.openxmlformats.org/drawingml/2006/main">
            <a:off x="2735886" y="4647945"/>
            <a:ext cx="6720228" cy="97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87" b="0">
                <a:solidFill>
                  <a:srgbClr val="1F2937"/>
                </a:solidFill>
                <a:latin typeface="Nimbus Sans"/>
                <a:ea typeface="Nimbus Sans"/>
                <a:cs typeface="Nimbus Sans"/>
              </a:defRPr>
            </a:pPr>
            <a:r>
              <a:rPr sz="1587" b="0">
                <a:solidFill>
                  <a:srgbClr val="1F2937"/>
                </a:solidFill>
                <a:latin typeface="Nimbus Sans"/>
                <a:ea typeface="Nimbus Sans"/>
                <a:cs typeface="Nimbus Sans"/>
              </a:rPr>
              <a:t>Capture the vapour and collect the liquid water.</a:t>
            </a:r>
          </a:p>
          <a:p xmlns:a="http://schemas.openxmlformats.org/drawingml/2006/main">
            <a:pPr algn="ctr">
              <a:lnSpc>
                <a:spcPct val="108000"/>
              </a:lnSpc>
              <a:buNone/>
              <a:defRPr sz="1587" b="0">
                <a:solidFill>
                  <a:srgbClr val="1F2937"/>
                </a:solidFill>
                <a:latin typeface="Nimbus Sans"/>
                <a:ea typeface="Nimbus Sans"/>
                <a:cs typeface="Nimbus Sans"/>
              </a:defRPr>
            </a:pPr>
            <a:r>
              <a:rPr sz="1587" b="0">
                <a:solidFill>
                  <a:srgbClr val="1F2937"/>
                </a:solidFill>
                <a:latin typeface="Nimbus Sans"/>
                <a:ea typeface="Nimbus Sans"/>
                <a:cs typeface="Nimbus Sans"/>
              </a:rPr>
              <a:t>Process schematic only; not an apparatus-building guide.</a:t>
            </a:r>
          </a:p>
        </p:txBody>
      </p:sp>
      <p:sp>
        <p:nvSpPr>
          <p:cNvPr id="22" name="To collect water, capture its vapour.  Cool the vapour so it con">
            <a:extLst xmlns:a="http://schemas.openxmlformats.org/drawingml/2006/main">
              <a:ext uri="{FF2B5EF4-FFF2-40B4-BE49-F238E27FC236}">
                <a16:creationId xmlns:a16="http://schemas.microsoft.com/office/drawing/2014/main" id="{8A7B85FC-EEF1-4C0D-9A2A-607D084B7E4F}"/>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To collect water, capture its vapour. Cool the vapour so it condenses. The collected liquid is the target.</a:t>
            </a:r>
          </a:p>
        </p:txBody>
      </p:sp>
    </p:spTree>
    <p:extLst>
      <p:ext uri="{BB962C8B-B14F-4D97-AF65-F5344CB8AC3E}">
        <p14:creationId xmlns:p14="http://schemas.microsoft.com/office/powerpoint/2010/main" val="9838537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BC51BD83-5CBF-4293-BC00-7CEFBE43C05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315E4AD8-9FC4-4E19-B8F5-84C89CCE31D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B837F74-C89E-41CE-AAFA-9B17F947D99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F6633B17-8956-4BA5-A662-EF63E89CF55A}"/>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E050DDAA-9C9C-4804-A1F5-E221535ED08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8 min">
            <a:extLst xmlns:a="http://schemas.openxmlformats.org/drawingml/2006/main">
              <a:ext uri="{FF2B5EF4-FFF2-40B4-BE49-F238E27FC236}">
                <a16:creationId xmlns:a16="http://schemas.microsoft.com/office/drawing/2014/main" id="{D4ADD551-62D3-4A84-ADCE-4927D2C243F0}"/>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8 min</a:t>
            </a:r>
          </a:p>
        </p:txBody>
      </p:sp>
      <p:sp>
        <p:nvSpPr>
          <p:cNvPr id="7" name="Recovery workshop: choose, run, explain">
            <a:extLst xmlns:a="http://schemas.openxmlformats.org/drawingml/2006/main">
              <a:ext uri="{FF2B5EF4-FFF2-40B4-BE49-F238E27FC236}">
                <a16:creationId xmlns:a16="http://schemas.microsoft.com/office/drawing/2014/main" id="{186DF973-5718-4175-928C-23850ECD254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Recovery workshop: choose, run, explain</a:t>
            </a:r>
          </a:p>
        </p:txBody>
      </p:sp>
      <p:sp>
        <p:nvSpPr>
          <p:cNvPr id="8" name="surface">
            <a:extLst xmlns:a="http://schemas.openxmlformats.org/drawingml/2006/main">
              <a:ext uri="{FF2B5EF4-FFF2-40B4-BE49-F238E27FC236}">
                <a16:creationId xmlns:a16="http://schemas.microsoft.com/office/drawing/2014/main" id="{DFB66917-CAB9-4C7A-BF98-0C5483C7E2F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methods workshop">
            <a:extLst xmlns:a="http://schemas.openxmlformats.org/drawingml/2006/main">
              <a:ext uri="{FF2B5EF4-FFF2-40B4-BE49-F238E27FC236}">
                <a16:creationId xmlns:a16="http://schemas.microsoft.com/office/drawing/2014/main" id="{90E8B189-2CE0-4CAE-9AC9-6DD3ED50EDB7}"/>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10" name="6 / 15">
            <a:extLst xmlns:a="http://schemas.openxmlformats.org/drawingml/2006/main">
              <a:ext uri="{FF2B5EF4-FFF2-40B4-BE49-F238E27FC236}">
                <a16:creationId xmlns:a16="http://schemas.microsoft.com/office/drawing/2014/main" id="{49A506C4-59BA-4247-B3B6-9771B3D8DDE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15</a:t>
            </a:r>
          </a:p>
        </p:txBody>
      </p:sp>
      <p:sp>
        <p:nvSpPr>
          <p:cNvPr id="11" name="W1. Choose methods for briefs A, B and C. Name the recovered sub">
            <a:extLst xmlns:a="http://schemas.openxmlformats.org/drawingml/2006/main">
              <a:ext uri="{FF2B5EF4-FFF2-40B4-BE49-F238E27FC236}">
                <a16:creationId xmlns:a16="http://schemas.microsoft.com/office/drawing/2014/main" id="{56E52E1E-9CC7-44A6-AF76-5C16EC20046B}"/>
              </a:ext>
            </a:extLst>
          </p:cNvPr>
          <p:cNvSpPr>
            <a:spLocks xmlns:a="http://schemas.openxmlformats.org/drawingml/2006/main" noGrp="1"/>
          </p:cNvSpPr>
          <p:nvPr/>
        </p:nvSpPr>
        <p:spPr>
          <a:xfrm xmlns:a="http://schemas.openxmlformats.org/drawingml/2006/main">
            <a:off x="533400" y="189547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W1. Choose methods for briefs A, B and C. Name the recovered substance each time. Test the</a:t>
            </a:r>
          </a:p>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process model or use paper arrows.</a:t>
            </a:r>
          </a:p>
        </p:txBody>
      </p:sp>
      <p:graphicFrame>
        <p:nvGraphicFramePr>
          <p:cNvPr id="24" name=""/>
          <p:cNvGraphicFramePr/>
          <p:nvPr/>
        </p:nvGraphicFramePr>
        <p:xfrm>
          <a:off xmlns:a="http://schemas.openxmlformats.org/drawingml/2006/main" x="533400" y="2581275"/>
          <a:ext xmlns:a="http://schemas.openxmlformats.org/drawingml/2006/main" cx="11125200" cy="2526506"/>
        </p:xfrm>
        <a:graphic xmlns:a="http://schemas.openxmlformats.org/drawingml/2006/main">
          <a:graphicData uri="http://schemas.openxmlformats.org/drawingml/2006/table">
            <a:tbl>
              <a:tblPr firstRow="1" bandRow="0"/>
              <a:tblGrid>
                <a:gridCol w="2804913"/>
                <a:gridCol w="3739884"/>
                <a:gridCol w="4580403"/>
              </a:tblGrid>
              <a:tr h="505301">
                <a:tc>
                  <a:txBody>
                    <a:bodyPr lIns="95250" tIns="95250" rIns="95250" bIns="95250"/>
                    <a:lstStyle/>
                    <a:p>
                      <a:pPr algn="l"/>
                      <a:r>
                        <a:rPr sz="2025" b="1">
                          <a:solidFill>
                            <a:srgbClr val="FFFFFF"/>
                          </a:solidFill>
                          <a:latin typeface="Nimbus Sans"/>
                          <a:ea typeface="Nimbus Sans"/>
                          <a:cs typeface="Nimbus Sans"/>
                        </a:rPr>
                        <a:t>Brief</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Mixture</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Target</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A</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Sand + water</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Sand</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B</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Saltwater</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Salt</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C</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Saltwater</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Water</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D</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Sand + saltwater</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Sand and salt separately</a:t>
                      </a:r>
                    </a:p>
                  </a:txBody>
                  <a:tcPr marL="95250" marR="95250" marT="95250" marB="95250" anchor="ctr">
                    <a:solidFill>
                      <a:srgbClr val="FFFFFF"/>
                    </a:solidFill>
                  </a:tcPr>
                </a:tc>
              </a:tr>
            </a:tbl>
          </a:graphicData>
        </a:graphic>
      </p:graphicFrame>
    </p:spTree>
    <p:extLst>
      <p:ext uri="{BB962C8B-B14F-4D97-AF65-F5344CB8AC3E}">
        <p14:creationId xmlns:p14="http://schemas.microsoft.com/office/powerpoint/2010/main" val="14140052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FDB8A851-482B-455C-AF45-C1E97FA3E86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AD2F48F-6AB8-4665-B93C-CC0EB02897C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84BC4F1-BD5D-4F52-8D49-465D2C85E484}"/>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D20E01F7-5F56-4993-ABE8-C0B261B1D14C}"/>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17760939-11DC-4142-A561-6C69D7AD148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Two targets need a sequence">
            <a:extLst xmlns:a="http://schemas.openxmlformats.org/drawingml/2006/main">
              <a:ext uri="{FF2B5EF4-FFF2-40B4-BE49-F238E27FC236}">
                <a16:creationId xmlns:a16="http://schemas.microsoft.com/office/drawing/2014/main" id="{AA27CC71-CED4-4B5D-B81F-DC41F250D2E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Two targets need a sequence</a:t>
            </a:r>
          </a:p>
        </p:txBody>
      </p:sp>
      <p:sp>
        <p:nvSpPr>
          <p:cNvPr id="7" name="surface">
            <a:extLst xmlns:a="http://schemas.openxmlformats.org/drawingml/2006/main">
              <a:ext uri="{FF2B5EF4-FFF2-40B4-BE49-F238E27FC236}">
                <a16:creationId xmlns:a16="http://schemas.microsoft.com/office/drawing/2014/main" id="{E51D7DA8-D6D6-48B5-8474-4CD9238F95B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methods workshop">
            <a:extLst xmlns:a="http://schemas.openxmlformats.org/drawingml/2006/main">
              <a:ext uri="{FF2B5EF4-FFF2-40B4-BE49-F238E27FC236}">
                <a16:creationId xmlns:a16="http://schemas.microsoft.com/office/drawing/2014/main" id="{1B7AA946-8560-47E1-9049-6E03721CB23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9" name="7 / 15">
            <a:extLst xmlns:a="http://schemas.openxmlformats.org/drawingml/2006/main">
              <a:ext uri="{FF2B5EF4-FFF2-40B4-BE49-F238E27FC236}">
                <a16:creationId xmlns:a16="http://schemas.microsoft.com/office/drawing/2014/main" id="{82BC2220-2A89-4840-801D-C8806B50DA4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15</a:t>
            </a:r>
          </a:p>
        </p:txBody>
      </p:sp>
      <p:sp>
        <p:nvSpPr>
          <p:cNvPr id="10" name="W2. Plan brief D.">
            <a:extLst xmlns:a="http://schemas.openxmlformats.org/drawingml/2006/main">
              <a:ext uri="{FF2B5EF4-FFF2-40B4-BE49-F238E27FC236}">
                <a16:creationId xmlns:a16="http://schemas.microsoft.com/office/drawing/2014/main" id="{51FFAC85-2CE8-40FB-9E3B-B5CB6D92D525}"/>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W2. Plan brief D.</a:t>
            </a:r>
          </a:p>
        </p:txBody>
      </p:sp>
      <p:sp>
        <p:nvSpPr>
          <p:cNvPr id="11" name="What must happen before salt recovery?">
            <a:extLst xmlns:a="http://schemas.openxmlformats.org/drawingml/2006/main">
              <a:ext uri="{FF2B5EF4-FFF2-40B4-BE49-F238E27FC236}">
                <a16:creationId xmlns:a16="http://schemas.microsoft.com/office/drawing/2014/main" id="{C71A63E9-2B5A-412B-A59E-DA30F0129363}"/>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What must happen before salt recovery?</a:t>
            </a:r>
          </a:p>
        </p:txBody>
      </p:sp>
      <p:sp>
        <p:nvSpPr>
          <p:cNvPr id="12" name="Identify residue and filtrate.">
            <a:extLst xmlns:a="http://schemas.openxmlformats.org/drawingml/2006/main">
              <a:ext uri="{FF2B5EF4-FFF2-40B4-BE49-F238E27FC236}">
                <a16:creationId xmlns:a16="http://schemas.microsoft.com/office/drawing/2014/main" id="{182CF22C-E08D-4C6C-A0ED-EAE0B4DA8B55}"/>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Identify residue and filtrate.</a:t>
            </a:r>
          </a:p>
        </p:txBody>
      </p:sp>
    </p:spTree>
    <p:extLst>
      <p:ext uri="{BB962C8B-B14F-4D97-AF65-F5344CB8AC3E}">
        <p14:creationId xmlns:p14="http://schemas.microsoft.com/office/powerpoint/2010/main" val="8678281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urface">
            <a:extLst xmlns:a="http://schemas.openxmlformats.org/drawingml/2006/main">
              <a:ext uri="{FF2B5EF4-FFF2-40B4-BE49-F238E27FC236}">
                <a16:creationId xmlns:a16="http://schemas.microsoft.com/office/drawing/2014/main" id="{8D270D02-6218-41FC-BAD9-0CBF3627D9E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F8D81F84-926C-44C8-9CA8-71B9816A4C0C}"/>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E339B3C-4423-46DC-ADF0-806428AD11F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477F5566-CA42-48E2-852A-98BA0B75A6F0}"/>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4FF1467E-A101-41F5-8D93-C5D074749CBA}"/>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Repair the purity claim">
            <a:extLst xmlns:a="http://schemas.openxmlformats.org/drawingml/2006/main">
              <a:ext uri="{FF2B5EF4-FFF2-40B4-BE49-F238E27FC236}">
                <a16:creationId xmlns:a16="http://schemas.microsoft.com/office/drawing/2014/main" id="{CEB3F458-9A3B-4EA0-9AD4-4693B7BF37E9}"/>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Repair the purity claim</a:t>
            </a:r>
          </a:p>
        </p:txBody>
      </p:sp>
      <p:sp>
        <p:nvSpPr>
          <p:cNvPr id="7" name="surface">
            <a:extLst xmlns:a="http://schemas.openxmlformats.org/drawingml/2006/main">
              <a:ext uri="{FF2B5EF4-FFF2-40B4-BE49-F238E27FC236}">
                <a16:creationId xmlns:a16="http://schemas.microsoft.com/office/drawing/2014/main" id="{CD07C48B-0081-4657-9604-DD73C9BDB93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methods workshop">
            <a:extLst xmlns:a="http://schemas.openxmlformats.org/drawingml/2006/main">
              <a:ext uri="{FF2B5EF4-FFF2-40B4-BE49-F238E27FC236}">
                <a16:creationId xmlns:a16="http://schemas.microsoft.com/office/drawing/2014/main" id="{A9AEC9D0-EB5A-4805-B157-A7E31E42590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9" name="8 / 15">
            <a:extLst xmlns:a="http://schemas.openxmlformats.org/drawingml/2006/main">
              <a:ext uri="{FF2B5EF4-FFF2-40B4-BE49-F238E27FC236}">
                <a16:creationId xmlns:a16="http://schemas.microsoft.com/office/drawing/2014/main" id="{A52BCD49-3E21-45DA-BBB0-C3C3DBC3FCDA}"/>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15</a:t>
            </a:r>
          </a:p>
        </p:txBody>
      </p:sp>
      <p:sp>
        <p:nvSpPr>
          <p:cNvPr id="10" name="W3. “The liquid passed a filter, so it is safe to drink.”">
            <a:extLst xmlns:a="http://schemas.openxmlformats.org/drawingml/2006/main">
              <a:ext uri="{FF2B5EF4-FFF2-40B4-BE49-F238E27FC236}">
                <a16:creationId xmlns:a16="http://schemas.microsoft.com/office/drawing/2014/main" id="{24E70DCE-BA97-40E6-BA84-7CB34EC917C1}"/>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W3. “The liquid passed a filter, so it is safe to drink.”</a:t>
            </a:r>
          </a:p>
        </p:txBody>
      </p:sp>
      <p:sp>
        <p:nvSpPr>
          <p:cNvPr id="11" name="Use the dissolved-salt evidence to challenge it.">
            <a:extLst xmlns:a="http://schemas.openxmlformats.org/drawingml/2006/main">
              <a:ext uri="{FF2B5EF4-FFF2-40B4-BE49-F238E27FC236}">
                <a16:creationId xmlns:a16="http://schemas.microsoft.com/office/drawing/2014/main" id="{50FB9E84-6304-4E5B-8C5C-0B216D6C5E45}"/>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the dissolved-salt evidence to challenge it.</a:t>
            </a:r>
          </a:p>
        </p:txBody>
      </p:sp>
    </p:spTree>
    <p:extLst>
      <p:ext uri="{BB962C8B-B14F-4D97-AF65-F5344CB8AC3E}">
        <p14:creationId xmlns:p14="http://schemas.microsoft.com/office/powerpoint/2010/main" val="20672719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CA0C7D48-8700-45F9-8CB6-20366ACD976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F54B83D2-2961-4B6F-B391-BEE35BFB08E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B2DA7AB-28CC-448D-A66F-6C7AC421A5C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1162D47B-C915-44FA-8C55-C7C7D161EDB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Hinge">
            <a:extLst xmlns:a="http://schemas.openxmlformats.org/drawingml/2006/main">
              <a:ext uri="{FF2B5EF4-FFF2-40B4-BE49-F238E27FC236}">
                <a16:creationId xmlns:a16="http://schemas.microsoft.com/office/drawing/2014/main" id="{03E6B962-934F-4D9B-B700-19E7486C022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2B8198CB-1A10-42CF-A129-F188F9CEEB1C}"/>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A team wants water from saltwater">
            <a:extLst xmlns:a="http://schemas.openxmlformats.org/drawingml/2006/main">
              <a:ext uri="{FF2B5EF4-FFF2-40B4-BE49-F238E27FC236}">
                <a16:creationId xmlns:a16="http://schemas.microsoft.com/office/drawing/2014/main" id="{72327E77-B205-4665-B3AD-5EB5861769D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team wants water from saltwater</a:t>
            </a:r>
          </a:p>
        </p:txBody>
      </p:sp>
      <p:sp>
        <p:nvSpPr>
          <p:cNvPr id="8" name="surface">
            <a:extLst xmlns:a="http://schemas.openxmlformats.org/drawingml/2006/main">
              <a:ext uri="{FF2B5EF4-FFF2-40B4-BE49-F238E27FC236}">
                <a16:creationId xmlns:a16="http://schemas.microsoft.com/office/drawing/2014/main" id="{9089BF56-70E0-4EF7-9235-4FEF2B098512}"/>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methods workshop">
            <a:extLst xmlns:a="http://schemas.openxmlformats.org/drawingml/2006/main">
              <a:ext uri="{FF2B5EF4-FFF2-40B4-BE49-F238E27FC236}">
                <a16:creationId xmlns:a16="http://schemas.microsoft.com/office/drawing/2014/main" id="{054D9FBB-D27A-425C-AD5F-096D445803E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10" name="9 / 15">
            <a:extLst xmlns:a="http://schemas.openxmlformats.org/drawingml/2006/main">
              <a:ext uri="{FF2B5EF4-FFF2-40B4-BE49-F238E27FC236}">
                <a16:creationId xmlns:a16="http://schemas.microsoft.com/office/drawing/2014/main" id="{4CCDBDDB-7912-4F2A-80AC-71B4A636BEF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15</a:t>
            </a:r>
          </a:p>
        </p:txBody>
      </p:sp>
      <p:sp>
        <p:nvSpPr>
          <p:cNvPr id="11" name="Which process plan matches that target?">
            <a:extLst xmlns:a="http://schemas.openxmlformats.org/drawingml/2006/main">
              <a:ext uri="{FF2B5EF4-FFF2-40B4-BE49-F238E27FC236}">
                <a16:creationId xmlns:a16="http://schemas.microsoft.com/office/drawing/2014/main" id="{572425E3-C775-401A-B076-1E3048B1F095}"/>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Which process plan matches that target?</a:t>
            </a:r>
          </a:p>
        </p:txBody>
      </p:sp>
      <p:sp>
        <p:nvSpPr>
          <p:cNvPr id="12" name="surface">
            <a:extLst xmlns:a="http://schemas.openxmlformats.org/drawingml/2006/main">
              <a:ext uri="{FF2B5EF4-FFF2-40B4-BE49-F238E27FC236}">
                <a16:creationId xmlns:a16="http://schemas.microsoft.com/office/drawing/2014/main" id="{C6D6B5E7-5A06-4F82-8A7B-D95CC5F6B6C6}"/>
              </a:ext>
            </a:extLst>
          </p:cNvPr>
          <p:cNvSpPr>
            <a:spLocks xmlns:a="http://schemas.openxmlformats.org/drawingml/2006/main" noGrp="1"/>
          </p:cNvSpPr>
          <p:nvPr/>
        </p:nvSpPr>
        <p:spPr>
          <a:xfrm xmlns:a="http://schemas.openxmlformats.org/drawingml/2006/main">
            <a:off x="533400" y="23526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F1D7E7F7-3785-40AA-B679-571824684049}"/>
              </a:ext>
            </a:extLst>
          </p:cNvPr>
          <p:cNvSpPr>
            <a:spLocks xmlns:a="http://schemas.openxmlformats.org/drawingml/2006/main" noGrp="1"/>
          </p:cNvSpPr>
          <p:nvPr/>
        </p:nvSpPr>
        <p:spPr>
          <a:xfrm xmlns:a="http://schemas.openxmlformats.org/drawingml/2006/main">
            <a:off x="533400" y="23526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4B9F38B5-F89E-40A2-877D-7CAE19A1F27A}"/>
              </a:ext>
            </a:extLst>
          </p:cNvPr>
          <p:cNvSpPr>
            <a:spLocks xmlns:a="http://schemas.openxmlformats.org/drawingml/2006/main" noGrp="1"/>
          </p:cNvSpPr>
          <p:nvPr/>
        </p:nvSpPr>
        <p:spPr>
          <a:xfrm xmlns:a="http://schemas.openxmlformats.org/drawingml/2006/main">
            <a:off x="733425" y="24955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Let water evaporate into the room and keep the salt.">
            <a:extLst xmlns:a="http://schemas.openxmlformats.org/drawingml/2006/main">
              <a:ext uri="{FF2B5EF4-FFF2-40B4-BE49-F238E27FC236}">
                <a16:creationId xmlns:a16="http://schemas.microsoft.com/office/drawing/2014/main" id="{9928BA73-D47A-47E4-A293-5BE7B5A5D6A7}"/>
              </a:ext>
            </a:extLst>
          </p:cNvPr>
          <p:cNvSpPr>
            <a:spLocks xmlns:a="http://schemas.openxmlformats.org/drawingml/2006/main" noGrp="1"/>
          </p:cNvSpPr>
          <p:nvPr/>
        </p:nvSpPr>
        <p:spPr>
          <a:xfrm xmlns:a="http://schemas.openxmlformats.org/drawingml/2006/main">
            <a:off x="1266825" y="24955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Let water evaporate into the room and keep the salt.</a:t>
            </a:r>
          </a:p>
        </p:txBody>
      </p:sp>
      <p:sp>
        <p:nvSpPr>
          <p:cNvPr id="16" name="surface">
            <a:extLst xmlns:a="http://schemas.openxmlformats.org/drawingml/2006/main">
              <a:ext uri="{FF2B5EF4-FFF2-40B4-BE49-F238E27FC236}">
                <a16:creationId xmlns:a16="http://schemas.microsoft.com/office/drawing/2014/main" id="{5163F68B-A79B-436E-A443-78D1509EAF08}"/>
              </a:ext>
            </a:extLst>
          </p:cNvPr>
          <p:cNvSpPr>
            <a:spLocks xmlns:a="http://schemas.openxmlformats.org/drawingml/2006/main" noGrp="1"/>
          </p:cNvSpPr>
          <p:nvPr/>
        </p:nvSpPr>
        <p:spPr>
          <a:xfrm xmlns:a="http://schemas.openxmlformats.org/drawingml/2006/main">
            <a:off x="533400" y="35337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762A664D-C214-4ECE-8E53-FB2D36831333}"/>
              </a:ext>
            </a:extLst>
          </p:cNvPr>
          <p:cNvSpPr>
            <a:spLocks xmlns:a="http://schemas.openxmlformats.org/drawingml/2006/main" noGrp="1"/>
          </p:cNvSpPr>
          <p:nvPr/>
        </p:nvSpPr>
        <p:spPr>
          <a:xfrm xmlns:a="http://schemas.openxmlformats.org/drawingml/2006/main">
            <a:off x="533400" y="35337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8B8F726D-9CEA-4DA7-A00F-8CD1B66CDD52}"/>
              </a:ext>
            </a:extLst>
          </p:cNvPr>
          <p:cNvSpPr>
            <a:spLocks xmlns:a="http://schemas.openxmlformats.org/drawingml/2006/main" noGrp="1"/>
          </p:cNvSpPr>
          <p:nvPr/>
        </p:nvSpPr>
        <p:spPr>
          <a:xfrm xmlns:a="http://schemas.openxmlformats.org/drawingml/2006/main">
            <a:off x="733425" y="36766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Capture water vapour and condense it into a collecting container">
            <a:extLst xmlns:a="http://schemas.openxmlformats.org/drawingml/2006/main">
              <a:ext uri="{FF2B5EF4-FFF2-40B4-BE49-F238E27FC236}">
                <a16:creationId xmlns:a16="http://schemas.microsoft.com/office/drawing/2014/main" id="{0F42A426-EB37-46ED-A466-D3FDEE82443D}"/>
              </a:ext>
            </a:extLst>
          </p:cNvPr>
          <p:cNvSpPr>
            <a:spLocks xmlns:a="http://schemas.openxmlformats.org/drawingml/2006/main" noGrp="1"/>
          </p:cNvSpPr>
          <p:nvPr/>
        </p:nvSpPr>
        <p:spPr>
          <a:xfrm xmlns:a="http://schemas.openxmlformats.org/drawingml/2006/main">
            <a:off x="1266825" y="36766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Capture water vapour and condense it into a collecting container.</a:t>
            </a:r>
          </a:p>
        </p:txBody>
      </p:sp>
      <p:sp>
        <p:nvSpPr>
          <p:cNvPr id="20" name="surface">
            <a:extLst xmlns:a="http://schemas.openxmlformats.org/drawingml/2006/main">
              <a:ext uri="{FF2B5EF4-FFF2-40B4-BE49-F238E27FC236}">
                <a16:creationId xmlns:a16="http://schemas.microsoft.com/office/drawing/2014/main" id="{7FC5A111-3CC5-4AF8-A8C9-F54D8CF1C95F}"/>
              </a:ext>
            </a:extLst>
          </p:cNvPr>
          <p:cNvSpPr>
            <a:spLocks xmlns:a="http://schemas.openxmlformats.org/drawingml/2006/main" noGrp="1"/>
          </p:cNvSpPr>
          <p:nvPr/>
        </p:nvSpPr>
        <p:spPr>
          <a:xfrm xmlns:a="http://schemas.openxmlformats.org/drawingml/2006/main">
            <a:off x="533400" y="47148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B39D593A-521D-4533-9099-65147915441C}"/>
              </a:ext>
            </a:extLst>
          </p:cNvPr>
          <p:cNvSpPr>
            <a:spLocks xmlns:a="http://schemas.openxmlformats.org/drawingml/2006/main" noGrp="1"/>
          </p:cNvSpPr>
          <p:nvPr/>
        </p:nvSpPr>
        <p:spPr>
          <a:xfrm xmlns:a="http://schemas.openxmlformats.org/drawingml/2006/main">
            <a:off x="533400" y="47148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EF1A6BB2-B291-4165-9F27-6B309E701E78}"/>
              </a:ext>
            </a:extLst>
          </p:cNvPr>
          <p:cNvSpPr>
            <a:spLocks xmlns:a="http://schemas.openxmlformats.org/drawingml/2006/main" noGrp="1"/>
          </p:cNvSpPr>
          <p:nvPr/>
        </p:nvSpPr>
        <p:spPr>
          <a:xfrm xmlns:a="http://schemas.openxmlformats.org/drawingml/2006/main">
            <a:off x="733425" y="48577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Filter once and assume all dissolved salt is trapped.">
            <a:extLst xmlns:a="http://schemas.openxmlformats.org/drawingml/2006/main">
              <a:ext uri="{FF2B5EF4-FFF2-40B4-BE49-F238E27FC236}">
                <a16:creationId xmlns:a16="http://schemas.microsoft.com/office/drawing/2014/main" id="{464707C6-6CB1-4D18-8315-74224E93EE5B}"/>
              </a:ext>
            </a:extLst>
          </p:cNvPr>
          <p:cNvSpPr>
            <a:spLocks xmlns:a="http://schemas.openxmlformats.org/drawingml/2006/main" noGrp="1"/>
          </p:cNvSpPr>
          <p:nvPr/>
        </p:nvSpPr>
        <p:spPr>
          <a:xfrm xmlns:a="http://schemas.openxmlformats.org/drawingml/2006/main">
            <a:off x="1266825" y="48577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Filter once and assume all dissolved salt is trapped.</a:t>
            </a:r>
          </a:p>
        </p:txBody>
      </p:sp>
    </p:spTree>
    <p:extLst>
      <p:ext uri="{BB962C8B-B14F-4D97-AF65-F5344CB8AC3E}">
        <p14:creationId xmlns:p14="http://schemas.microsoft.com/office/powerpoint/2010/main" val="7683355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3C96BB0A-4E1E-4330-9FA3-F31A8A6AC90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67C4762-6F1D-409F-84E4-F0A0AF2996C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E66C0C7-9A1A-476A-8152-37AFF1DD39E9}"/>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B58F6BFE-A38E-4927-9D69-C5AF2BC2D7C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4D11F914-AF48-44FF-8112-90E58AA24968}"/>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0 min">
            <a:extLst xmlns:a="http://schemas.openxmlformats.org/drawingml/2006/main">
              <a:ext uri="{FF2B5EF4-FFF2-40B4-BE49-F238E27FC236}">
                <a16:creationId xmlns:a16="http://schemas.microsoft.com/office/drawing/2014/main" id="{BBAF7940-BDFF-4A5E-808B-A15B0ED5243E}"/>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10 min</a:t>
            </a:r>
          </a:p>
        </p:txBody>
      </p:sp>
      <p:sp>
        <p:nvSpPr>
          <p:cNvPr id="7" name="Your independent investigation">
            <a:extLst xmlns:a="http://schemas.openxmlformats.org/drawingml/2006/main">
              <a:ext uri="{FF2B5EF4-FFF2-40B4-BE49-F238E27FC236}">
                <a16:creationId xmlns:a16="http://schemas.microsoft.com/office/drawing/2014/main" id="{2C26DD7E-6B7B-46FD-BE82-3C625891AC1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Your independent investigation</a:t>
            </a:r>
          </a:p>
        </p:txBody>
      </p:sp>
      <p:sp>
        <p:nvSpPr>
          <p:cNvPr id="8" name="surface">
            <a:extLst xmlns:a="http://schemas.openxmlformats.org/drawingml/2006/main">
              <a:ext uri="{FF2B5EF4-FFF2-40B4-BE49-F238E27FC236}">
                <a16:creationId xmlns:a16="http://schemas.microsoft.com/office/drawing/2014/main" id="{15CD2F6E-C6F3-401F-8F05-A6D01B6DE68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methods workshop">
            <a:extLst xmlns:a="http://schemas.openxmlformats.org/drawingml/2006/main">
              <a:ext uri="{FF2B5EF4-FFF2-40B4-BE49-F238E27FC236}">
                <a16:creationId xmlns:a16="http://schemas.microsoft.com/office/drawing/2014/main" id="{B8D08D49-70E6-4979-9CB7-5B207FBF32F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10" name="10 / 15">
            <a:extLst xmlns:a="http://schemas.openxmlformats.org/drawingml/2006/main">
              <a:ext uri="{FF2B5EF4-FFF2-40B4-BE49-F238E27FC236}">
                <a16:creationId xmlns:a16="http://schemas.microsoft.com/office/drawing/2014/main" id="{41F7E663-18D4-4143-98C8-52572073ACE5}"/>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15</a:t>
            </a:r>
          </a:p>
        </p:txBody>
      </p:sp>
      <p:sp>
        <p:nvSpPr>
          <p:cNvPr id="11" name="Choose one response route.">
            <a:extLst xmlns:a="http://schemas.openxmlformats.org/drawingml/2006/main">
              <a:ext uri="{FF2B5EF4-FFF2-40B4-BE49-F238E27FC236}">
                <a16:creationId xmlns:a16="http://schemas.microsoft.com/office/drawing/2014/main" id="{A0827D7D-B5F6-4A3A-8B42-8759FF5521C4}"/>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one response route.</a:t>
            </a:r>
          </a:p>
        </p:txBody>
      </p:sp>
      <p:sp>
        <p:nvSpPr>
          <p:cNvPr id="12" name="Match each mixture to its recovery target.">
            <a:extLst xmlns:a="http://schemas.openxmlformats.org/drawingml/2006/main">
              <a:ext uri="{FF2B5EF4-FFF2-40B4-BE49-F238E27FC236}">
                <a16:creationId xmlns:a16="http://schemas.microsoft.com/office/drawing/2014/main" id="{3C35565D-6F06-49CC-BFB0-F59C7AB046C2}"/>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Match each mixture to its recovery target.</a:t>
            </a:r>
          </a:p>
        </p:txBody>
      </p:sp>
      <p:sp>
        <p:nvSpPr>
          <p:cNvPr id="13" name="Explain where each component ends up.">
            <a:extLst xmlns:a="http://schemas.openxmlformats.org/drawingml/2006/main">
              <a:ext uri="{FF2B5EF4-FFF2-40B4-BE49-F238E27FC236}">
                <a16:creationId xmlns:a16="http://schemas.microsoft.com/office/drawing/2014/main" id="{8906DCD1-411A-49E7-9601-B2EC5FC53B66}"/>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Explain where each component ends up.</a:t>
            </a:r>
          </a:p>
        </p:txBody>
      </p:sp>
    </p:spTree>
    <p:extLst>
      <p:ext uri="{BB962C8B-B14F-4D97-AF65-F5344CB8AC3E}">
        <p14:creationId xmlns:p14="http://schemas.microsoft.com/office/powerpoint/2010/main" val="166868285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047C3ACA-CFD7-4ED4-85C3-BF13699EADF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2725DD1-4905-43CD-B041-03A80A656821}"/>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0EF4D4FF-25FE-4EE4-9B6B-1DC09C460E8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AB2FFEBA-F6CC-4324-961F-9BCBB8325422}"/>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ADE843B3-2E01-4071-A98B-10F65CDD96AA}"/>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Use the evidence">
            <a:extLst xmlns:a="http://schemas.openxmlformats.org/drawingml/2006/main">
              <a:ext uri="{FF2B5EF4-FFF2-40B4-BE49-F238E27FC236}">
                <a16:creationId xmlns:a16="http://schemas.microsoft.com/office/drawing/2014/main" id="{21B1F63B-E551-48B4-A1B7-C7C87332689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Use the evidence</a:t>
            </a:r>
          </a:p>
        </p:txBody>
      </p:sp>
      <p:sp>
        <p:nvSpPr>
          <p:cNvPr id="7" name="surface">
            <a:extLst xmlns:a="http://schemas.openxmlformats.org/drawingml/2006/main">
              <a:ext uri="{FF2B5EF4-FFF2-40B4-BE49-F238E27FC236}">
                <a16:creationId xmlns:a16="http://schemas.microsoft.com/office/drawing/2014/main" id="{1F323F97-27FB-4A7C-A741-CCECEA7A4AA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methods workshop">
            <a:extLst xmlns:a="http://schemas.openxmlformats.org/drawingml/2006/main">
              <a:ext uri="{FF2B5EF4-FFF2-40B4-BE49-F238E27FC236}">
                <a16:creationId xmlns:a16="http://schemas.microsoft.com/office/drawing/2014/main" id="{381BBA34-F3D3-44F6-8CF2-F7E6DB70156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9" name="11 / 15">
            <a:extLst xmlns:a="http://schemas.openxmlformats.org/drawingml/2006/main">
              <a:ext uri="{FF2B5EF4-FFF2-40B4-BE49-F238E27FC236}">
                <a16:creationId xmlns:a16="http://schemas.microsoft.com/office/drawing/2014/main" id="{FAECE8F8-3A2A-45A1-A47F-6E84471F8AE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15</a:t>
            </a:r>
          </a:p>
        </p:txBody>
      </p:sp>
      <p:sp>
        <p:nvSpPr>
          <p:cNvPr id="10" name="Name residue and filtrate when filtering.">
            <a:extLst xmlns:a="http://schemas.openxmlformats.org/drawingml/2006/main">
              <a:ext uri="{FF2B5EF4-FFF2-40B4-BE49-F238E27FC236}">
                <a16:creationId xmlns:a16="http://schemas.microsoft.com/office/drawing/2014/main" id="{C40E496D-E3DD-4EAC-991F-A443E49B5A83}"/>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Name residue and filtrate when filtering.</a:t>
            </a:r>
          </a:p>
        </p:txBody>
      </p:sp>
      <p:sp>
        <p:nvSpPr>
          <p:cNvPr id="11" name="Keep evaporation separate from collected condensation.">
            <a:extLst xmlns:a="http://schemas.openxmlformats.org/drawingml/2006/main">
              <a:ext uri="{FF2B5EF4-FFF2-40B4-BE49-F238E27FC236}">
                <a16:creationId xmlns:a16="http://schemas.microsoft.com/office/drawing/2014/main" id="{A480F79B-BB34-4EF2-AE3A-C16E959023FE}"/>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Keep evaporation separate from collected condensation.</a:t>
            </a:r>
          </a:p>
        </p:txBody>
      </p:sp>
      <p:sp>
        <p:nvSpPr>
          <p:cNvPr id="12" name="For more than one target, sequence the steps.">
            <a:extLst xmlns:a="http://schemas.openxmlformats.org/drawingml/2006/main">
              <a:ext uri="{FF2B5EF4-FFF2-40B4-BE49-F238E27FC236}">
                <a16:creationId xmlns:a16="http://schemas.microsoft.com/office/drawing/2014/main" id="{F5B79601-5F51-4600-AD9B-04F1668F50A4}"/>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For more than one target, sequence the steps.</a:t>
            </a:r>
          </a:p>
        </p:txBody>
      </p:sp>
    </p:spTree>
    <p:extLst>
      <p:ext uri="{BB962C8B-B14F-4D97-AF65-F5344CB8AC3E}">
        <p14:creationId xmlns:p14="http://schemas.microsoft.com/office/powerpoint/2010/main" val="19423100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6A726DBA-1548-4F95-9835-4F05645939A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AF080EA-B1EF-4495-B3E4-C4BD9254716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224E8BC3-ECE8-4263-A823-211C6CBDE5F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4068898D-B430-45DE-914A-A4E0EAABCEA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B9329F54-7BE5-490E-97BF-0AA3115AEC9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Check before sharing">
            <a:extLst xmlns:a="http://schemas.openxmlformats.org/drawingml/2006/main">
              <a:ext uri="{FF2B5EF4-FFF2-40B4-BE49-F238E27FC236}">
                <a16:creationId xmlns:a16="http://schemas.microsoft.com/office/drawing/2014/main" id="{1CD101C5-F100-49F1-8D73-575351E2F78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Check before sharing</a:t>
            </a:r>
          </a:p>
        </p:txBody>
      </p:sp>
      <p:sp>
        <p:nvSpPr>
          <p:cNvPr id="7" name="surface">
            <a:extLst xmlns:a="http://schemas.openxmlformats.org/drawingml/2006/main">
              <a:ext uri="{FF2B5EF4-FFF2-40B4-BE49-F238E27FC236}">
                <a16:creationId xmlns:a16="http://schemas.microsoft.com/office/drawing/2014/main" id="{98100F89-30BE-4538-9679-B7EAE0554F6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methods workshop">
            <a:extLst xmlns:a="http://schemas.openxmlformats.org/drawingml/2006/main">
              <a:ext uri="{FF2B5EF4-FFF2-40B4-BE49-F238E27FC236}">
                <a16:creationId xmlns:a16="http://schemas.microsoft.com/office/drawing/2014/main" id="{1B221D27-C129-4B9C-9926-613FD7D9AFF8}"/>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9" name="12 / 15">
            <a:extLst xmlns:a="http://schemas.openxmlformats.org/drawingml/2006/main">
              <a:ext uri="{FF2B5EF4-FFF2-40B4-BE49-F238E27FC236}">
                <a16:creationId xmlns:a16="http://schemas.microsoft.com/office/drawing/2014/main" id="{B4083215-BE2B-41BC-87D0-B3A00AA52B6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15</a:t>
            </a:r>
          </a:p>
        </p:txBody>
      </p:sp>
      <p:sp>
        <p:nvSpPr>
          <p:cNvPr id="10" name="Does my explanation answer the question?">
            <a:extLst xmlns:a="http://schemas.openxmlformats.org/drawingml/2006/main">
              <a:ext uri="{FF2B5EF4-FFF2-40B4-BE49-F238E27FC236}">
                <a16:creationId xmlns:a16="http://schemas.microsoft.com/office/drawing/2014/main" id="{E9E1BC24-BE4C-4B6F-A74B-7B1EDC12B021}"/>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Does my explanation answer the question?</a:t>
            </a:r>
          </a:p>
        </p:txBody>
      </p:sp>
      <p:sp>
        <p:nvSpPr>
          <p:cNvPr id="11" name="Have I named the evidence or process?">
            <a:extLst xmlns:a="http://schemas.openxmlformats.org/drawingml/2006/main">
              <a:ext uri="{FF2B5EF4-FFF2-40B4-BE49-F238E27FC236}">
                <a16:creationId xmlns:a16="http://schemas.microsoft.com/office/drawing/2014/main" id="{E6CD60EC-396F-4A6C-A168-6F6AF778CA2B}"/>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Have I named the evidence or process?</a:t>
            </a:r>
          </a:p>
        </p:txBody>
      </p:sp>
      <p:sp>
        <p:nvSpPr>
          <p:cNvPr id="12" name="Have I kept the conclusion within its limits?">
            <a:extLst xmlns:a="http://schemas.openxmlformats.org/drawingml/2006/main">
              <a:ext uri="{FF2B5EF4-FFF2-40B4-BE49-F238E27FC236}">
                <a16:creationId xmlns:a16="http://schemas.microsoft.com/office/drawing/2014/main" id="{03037866-9A07-4670-ADC9-69FAEEA4A06C}"/>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Have I kept the conclusion within its limits?</a:t>
            </a:r>
          </a:p>
        </p:txBody>
      </p:sp>
    </p:spTree>
    <p:extLst>
      <p:ext uri="{BB962C8B-B14F-4D97-AF65-F5344CB8AC3E}">
        <p14:creationId xmlns:p14="http://schemas.microsoft.com/office/powerpoint/2010/main" val="13894772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C8C807EE-7427-4734-A4F6-0F19E5E9D2F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24747CD5-46EC-4373-915A-07152E684991}"/>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81648C94-0ADA-47C9-A3FE-8EFCF073049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D4EF34FC-ED13-4937-92F8-73330CD2144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view">
            <a:extLst xmlns:a="http://schemas.openxmlformats.org/drawingml/2006/main">
              <a:ext uri="{FF2B5EF4-FFF2-40B4-BE49-F238E27FC236}">
                <a16:creationId xmlns:a16="http://schemas.microsoft.com/office/drawing/2014/main" id="{06445672-1FCD-4F0E-8957-7D76764C37C3}"/>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Review</a:t>
            </a:r>
          </a:p>
        </p:txBody>
      </p:sp>
      <p:sp>
        <p:nvSpPr>
          <p:cNvPr id="6" name="4 min">
            <a:extLst xmlns:a="http://schemas.openxmlformats.org/drawingml/2006/main">
              <a:ext uri="{FF2B5EF4-FFF2-40B4-BE49-F238E27FC236}">
                <a16:creationId xmlns:a16="http://schemas.microsoft.com/office/drawing/2014/main" id="{0103CC57-83E8-4CD8-9831-3B15B0A32DD4}"/>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Compare and improve">
            <a:extLst xmlns:a="http://schemas.openxmlformats.org/drawingml/2006/main">
              <a:ext uri="{FF2B5EF4-FFF2-40B4-BE49-F238E27FC236}">
                <a16:creationId xmlns:a16="http://schemas.microsoft.com/office/drawing/2014/main" id="{FFFC6448-0BA9-47DA-A859-528BD3705129}"/>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Compare and improve</a:t>
            </a:r>
          </a:p>
        </p:txBody>
      </p:sp>
      <p:sp>
        <p:nvSpPr>
          <p:cNvPr id="8" name="surface">
            <a:extLst xmlns:a="http://schemas.openxmlformats.org/drawingml/2006/main">
              <a:ext uri="{FF2B5EF4-FFF2-40B4-BE49-F238E27FC236}">
                <a16:creationId xmlns:a16="http://schemas.microsoft.com/office/drawing/2014/main" id="{568FBCC2-94E0-4194-9754-23DCBAED3202}"/>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methods workshop">
            <a:extLst xmlns:a="http://schemas.openxmlformats.org/drawingml/2006/main">
              <a:ext uri="{FF2B5EF4-FFF2-40B4-BE49-F238E27FC236}">
                <a16:creationId xmlns:a16="http://schemas.microsoft.com/office/drawing/2014/main" id="{E14AA231-BD10-41B5-BE90-37A70B3FAC3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10" name="13 / 15">
            <a:extLst xmlns:a="http://schemas.openxmlformats.org/drawingml/2006/main">
              <a:ext uri="{FF2B5EF4-FFF2-40B4-BE49-F238E27FC236}">
                <a16:creationId xmlns:a16="http://schemas.microsoft.com/office/drawing/2014/main" id="{F3A45C14-589E-4413-B3F6-AB8650ED109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15</a:t>
            </a:r>
          </a:p>
        </p:txBody>
      </p:sp>
      <p:sp>
        <p:nvSpPr>
          <p:cNvPr id="11" name="Trace one chosen route aloud or on paper.">
            <a:extLst xmlns:a="http://schemas.openxmlformats.org/drawingml/2006/main">
              <a:ext uri="{FF2B5EF4-FFF2-40B4-BE49-F238E27FC236}">
                <a16:creationId xmlns:a16="http://schemas.microsoft.com/office/drawing/2014/main" id="{72FCCBE4-5037-493E-B2B2-7F96D0A396F7}"/>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Trace one chosen route aloud or on paper.</a:t>
            </a:r>
          </a:p>
        </p:txBody>
      </p:sp>
      <p:sp>
        <p:nvSpPr>
          <p:cNvPr id="12" name="Ask where the other component goes.">
            <a:extLst xmlns:a="http://schemas.openxmlformats.org/drawingml/2006/main">
              <a:ext uri="{FF2B5EF4-FFF2-40B4-BE49-F238E27FC236}">
                <a16:creationId xmlns:a16="http://schemas.microsoft.com/office/drawing/2014/main" id="{EE784B59-16E6-421F-BABB-B4268F261FD1}"/>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Ask where the other component goes.</a:t>
            </a:r>
          </a:p>
        </p:txBody>
      </p:sp>
      <p:sp>
        <p:nvSpPr>
          <p:cNvPr id="13" name="Improve a recovery or purity claim.">
            <a:extLst xmlns:a="http://schemas.openxmlformats.org/drawingml/2006/main">
              <a:ext uri="{FF2B5EF4-FFF2-40B4-BE49-F238E27FC236}">
                <a16:creationId xmlns:a16="http://schemas.microsoft.com/office/drawing/2014/main" id="{3E9CE4C3-3E4D-4456-97CB-2D3FB9872A42}"/>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Improve a recovery or purity claim.</a:t>
            </a:r>
          </a:p>
        </p:txBody>
      </p:sp>
    </p:spTree>
    <p:extLst>
      <p:ext uri="{BB962C8B-B14F-4D97-AF65-F5344CB8AC3E}">
        <p14:creationId xmlns:p14="http://schemas.microsoft.com/office/powerpoint/2010/main" val="19080403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urface">
            <a:extLst xmlns:a="http://schemas.openxmlformats.org/drawingml/2006/main">
              <a:ext uri="{FF2B5EF4-FFF2-40B4-BE49-F238E27FC236}">
                <a16:creationId xmlns:a16="http://schemas.microsoft.com/office/drawing/2014/main" id="{559F46FD-485C-4DED-8F03-269496717EC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5852F6FE-DF60-4BC9-8C56-3792B0729D4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308DC86-7AED-411B-B48C-DA9EF1EB1621}"/>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8A746C3C-20CA-45B4-8C6F-7D720E93D77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view">
            <a:extLst xmlns:a="http://schemas.openxmlformats.org/drawingml/2006/main">
              <a:ext uri="{FF2B5EF4-FFF2-40B4-BE49-F238E27FC236}">
                <a16:creationId xmlns:a16="http://schemas.microsoft.com/office/drawing/2014/main" id="{72CE1F7E-AE90-4DFE-A4B0-F009383ABBD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Review</a:t>
            </a:r>
          </a:p>
        </p:txBody>
      </p:sp>
      <p:sp>
        <p:nvSpPr>
          <p:cNvPr id="6" name="A question worth investigating">
            <a:extLst xmlns:a="http://schemas.openxmlformats.org/drawingml/2006/main">
              <a:ext uri="{FF2B5EF4-FFF2-40B4-BE49-F238E27FC236}">
                <a16:creationId xmlns:a16="http://schemas.microsoft.com/office/drawing/2014/main" id="{F35358C9-F9ED-43EF-91BB-CD227C7DC83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question worth investigating</a:t>
            </a:r>
          </a:p>
        </p:txBody>
      </p:sp>
      <p:sp>
        <p:nvSpPr>
          <p:cNvPr id="7" name="surface">
            <a:extLst xmlns:a="http://schemas.openxmlformats.org/drawingml/2006/main">
              <a:ext uri="{FF2B5EF4-FFF2-40B4-BE49-F238E27FC236}">
                <a16:creationId xmlns:a16="http://schemas.microsoft.com/office/drawing/2014/main" id="{36CF3368-2A9A-41F6-BF63-ACD7977AE92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methods workshop">
            <a:extLst xmlns:a="http://schemas.openxmlformats.org/drawingml/2006/main">
              <a:ext uri="{FF2B5EF4-FFF2-40B4-BE49-F238E27FC236}">
                <a16:creationId xmlns:a16="http://schemas.microsoft.com/office/drawing/2014/main" id="{CFAD6B31-47EC-44C0-BB76-21ED3E145063}"/>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9" name="14 / 15">
            <a:extLst xmlns:a="http://schemas.openxmlformats.org/drawingml/2006/main">
              <a:ext uri="{FF2B5EF4-FFF2-40B4-BE49-F238E27FC236}">
                <a16:creationId xmlns:a16="http://schemas.microsoft.com/office/drawing/2014/main" id="{F734AA1F-CAB4-4060-BBCD-20F3250A1956}"/>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15</a:t>
            </a:r>
          </a:p>
        </p:txBody>
      </p:sp>
      <p:sp>
        <p:nvSpPr>
          <p:cNvPr id="10" name="Suggest one next question about this lesson’s evidence.">
            <a:extLst xmlns:a="http://schemas.openxmlformats.org/drawingml/2006/main">
              <a:ext uri="{FF2B5EF4-FFF2-40B4-BE49-F238E27FC236}">
                <a16:creationId xmlns:a16="http://schemas.microsoft.com/office/drawing/2014/main" id="{F871C6B0-FC8D-4DE3-8512-2951075D1AA5}"/>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Suggest one next question about this lesson’s evidence.</a:t>
            </a:r>
          </a:p>
        </p:txBody>
      </p:sp>
      <p:sp>
        <p:nvSpPr>
          <p:cNvPr id="11" name="Choose a question whose answer would improve our model.">
            <a:extLst xmlns:a="http://schemas.openxmlformats.org/drawingml/2006/main">
              <a:ext uri="{FF2B5EF4-FFF2-40B4-BE49-F238E27FC236}">
                <a16:creationId xmlns:a16="http://schemas.microsoft.com/office/drawing/2014/main" id="{E4B88B9B-C4D7-4156-A387-9AF6025AC12F}"/>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a question whose answer would improve our model.</a:t>
            </a:r>
          </a:p>
        </p:txBody>
      </p:sp>
    </p:spTree>
    <p:extLst>
      <p:ext uri="{BB962C8B-B14F-4D97-AF65-F5344CB8AC3E}">
        <p14:creationId xmlns:p14="http://schemas.microsoft.com/office/powerpoint/2010/main" val="11693874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9DC4B385-9D5C-4A38-9185-14B99ACCB6C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B86B6A1-6D44-4337-AA9A-FD05A7B0539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96D6059-5330-47A7-BE64-D456F098E61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214F8CED-2478-4D64-9D02-9211885CEDE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Exit">
            <a:extLst xmlns:a="http://schemas.openxmlformats.org/drawingml/2006/main">
              <a:ext uri="{FF2B5EF4-FFF2-40B4-BE49-F238E27FC236}">
                <a16:creationId xmlns:a16="http://schemas.microsoft.com/office/drawing/2014/main" id="{81605C65-A4F8-4F19-92F1-36B63B6A912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Exit</a:t>
            </a:r>
          </a:p>
        </p:txBody>
      </p:sp>
      <p:sp>
        <p:nvSpPr>
          <p:cNvPr id="6" name="2 min">
            <a:extLst xmlns:a="http://schemas.openxmlformats.org/drawingml/2006/main">
              <a:ext uri="{FF2B5EF4-FFF2-40B4-BE49-F238E27FC236}">
                <a16:creationId xmlns:a16="http://schemas.microsoft.com/office/drawing/2014/main" id="{71C28FF6-5027-42BA-A973-0074D5434F41}"/>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Show the science you can explain">
            <a:extLst xmlns:a="http://schemas.openxmlformats.org/drawingml/2006/main">
              <a:ext uri="{FF2B5EF4-FFF2-40B4-BE49-F238E27FC236}">
                <a16:creationId xmlns:a16="http://schemas.microsoft.com/office/drawing/2014/main" id="{8C47FD34-C07F-4126-9B67-819C010EC0A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Show the science you can explain</a:t>
            </a:r>
          </a:p>
        </p:txBody>
      </p:sp>
      <p:sp>
        <p:nvSpPr>
          <p:cNvPr id="8" name="surface">
            <a:extLst xmlns:a="http://schemas.openxmlformats.org/drawingml/2006/main">
              <a:ext uri="{FF2B5EF4-FFF2-40B4-BE49-F238E27FC236}">
                <a16:creationId xmlns:a16="http://schemas.microsoft.com/office/drawing/2014/main" id="{349B6AC1-9DFA-4678-846E-29B23B6C686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methods workshop">
            <a:extLst xmlns:a="http://schemas.openxmlformats.org/drawingml/2006/main">
              <a:ext uri="{FF2B5EF4-FFF2-40B4-BE49-F238E27FC236}">
                <a16:creationId xmlns:a16="http://schemas.microsoft.com/office/drawing/2014/main" id="{614592C5-C1DC-4350-BB83-F84550A2F3C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methods workshop</a:t>
            </a:r>
          </a:p>
        </p:txBody>
      </p:sp>
      <p:sp>
        <p:nvSpPr>
          <p:cNvPr id="10" name="15 / 15">
            <a:extLst xmlns:a="http://schemas.openxmlformats.org/drawingml/2006/main">
              <a:ext uri="{FF2B5EF4-FFF2-40B4-BE49-F238E27FC236}">
                <a16:creationId xmlns:a16="http://schemas.microsoft.com/office/drawing/2014/main" id="{54C224BD-1D7E-49AC-99B7-F0C11E567BC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15 / 15</a:t>
            </a:r>
          </a:p>
        </p:txBody>
      </p:sp>
      <p:sp>
        <p:nvSpPr>
          <p:cNvPr id="11" name="E1. What does ordinary filtration remove here?">
            <a:extLst xmlns:a="http://schemas.openxmlformats.org/drawingml/2006/main">
              <a:ext uri="{FF2B5EF4-FFF2-40B4-BE49-F238E27FC236}">
                <a16:creationId xmlns:a16="http://schemas.microsoft.com/office/drawing/2014/main" id="{E5E9452B-9607-4DA4-B4BB-91E09919024E}"/>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E1. What does ordinary filtration remove here?</a:t>
            </a:r>
          </a:p>
        </p:txBody>
      </p:sp>
      <p:sp>
        <p:nvSpPr>
          <p:cNvPr id="12" name="E2. How can salt be recovered from saltwater?">
            <a:extLst xmlns:a="http://schemas.openxmlformats.org/drawingml/2006/main">
              <a:ext uri="{FF2B5EF4-FFF2-40B4-BE49-F238E27FC236}">
                <a16:creationId xmlns:a16="http://schemas.microsoft.com/office/drawing/2014/main" id="{7CDDBF7E-05FE-41F5-AFB8-EFECB9C60A46}"/>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E2. How can salt be recovered from saltwater?</a:t>
            </a:r>
          </a:p>
        </p:txBody>
      </p:sp>
      <p:sp>
        <p:nvSpPr>
          <p:cNvPr id="13" name="E3. What extra process collects the water?">
            <a:extLst xmlns:a="http://schemas.openxmlformats.org/drawingml/2006/main">
              <a:ext uri="{FF2B5EF4-FFF2-40B4-BE49-F238E27FC236}">
                <a16:creationId xmlns:a16="http://schemas.microsoft.com/office/drawing/2014/main" id="{69265B22-A4CE-4D94-B550-845B1C362934}"/>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E3. What extra process collects the water?</a:t>
            </a:r>
          </a:p>
        </p:txBody>
      </p:sp>
    </p:spTree>
    <p:extLst>
      <p:ext uri="{BB962C8B-B14F-4D97-AF65-F5344CB8AC3E}">
        <p14:creationId xmlns:p14="http://schemas.microsoft.com/office/powerpoint/2010/main" val="3558129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2026-09-09T00:01:29.4800000Z</dcterms:created>
  <dcterms:modified xsi:type="dcterms:W3CDTF">2026-09-09T00:01:29.4800000Z</dcterms:modified>
</coreProperties>
</file>