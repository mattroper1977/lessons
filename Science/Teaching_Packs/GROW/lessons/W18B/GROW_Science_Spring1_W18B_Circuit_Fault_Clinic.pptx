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8806a8d1e54794" /><Relationship Type="http://schemas.openxmlformats.org/officeDocument/2006/relationships/extended-properties" Target="/docProps/app.xml" Id="R076dd84fc0eb4946" /><Relationship Type="http://schemas.openxmlformats.org/officeDocument/2006/relationships/officeDocument" Target="/ppt/presentation.xml" Id="R006c782478874a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1a4b6c54eb48e0"/>
  </p:sldMasterIdLst>
  <p:notesMasterIdLst>
    <p:notesMasterId xmlns:r="http://schemas.openxmlformats.org/officeDocument/2006/relationships" r:id="Rde0041b1a59b49ab"/>
  </p:notesMasterIdLst>
  <p:sldIdLst>
    <p:sldId xmlns:r="http://schemas.openxmlformats.org/officeDocument/2006/relationships" id="256" r:id="R81be60705b894a3f"/>
    <p:sldId xmlns:r="http://schemas.openxmlformats.org/officeDocument/2006/relationships" id="257" r:id="R081c1af60d684923"/>
    <p:sldId xmlns:r="http://schemas.openxmlformats.org/officeDocument/2006/relationships" id="258" r:id="R763d0d1085054ec0"/>
    <p:sldId xmlns:r="http://schemas.openxmlformats.org/officeDocument/2006/relationships" id="259" r:id="R75a428117a63446f"/>
    <p:sldId xmlns:r="http://schemas.openxmlformats.org/officeDocument/2006/relationships" id="260" r:id="Ra56f54dcb20f43f3"/>
    <p:sldId xmlns:r="http://schemas.openxmlformats.org/officeDocument/2006/relationships" id="261" r:id="R6f23db630f534f0e"/>
    <p:sldId xmlns:r="http://schemas.openxmlformats.org/officeDocument/2006/relationships" id="262" r:id="R219c4ef51d9448da"/>
    <p:sldId xmlns:r="http://schemas.openxmlformats.org/officeDocument/2006/relationships" id="263" r:id="R2e7fde5bca104914"/>
    <p:sldId xmlns:r="http://schemas.openxmlformats.org/officeDocument/2006/relationships" id="264" r:id="Re43deadb26bd46eb"/>
    <p:sldId xmlns:r="http://schemas.openxmlformats.org/officeDocument/2006/relationships" id="265" r:id="R56837833a68e4ed0"/>
    <p:sldId xmlns:r="http://schemas.openxmlformats.org/officeDocument/2006/relationships" id="266" r:id="Rf097d54f8842442c"/>
    <p:sldId xmlns:r="http://schemas.openxmlformats.org/officeDocument/2006/relationships" id="267" r:id="Rdd03be48a4ad4db8"/>
    <p:sldId xmlns:r="http://schemas.openxmlformats.org/officeDocument/2006/relationships" id="268" r:id="R9c0b601cbe454c00"/>
    <p:sldId xmlns:r="http://schemas.openxmlformats.org/officeDocument/2006/relationships" id="269" r:id="Raf09b9274d7747a1"/>
    <p:sldId xmlns:r="http://schemas.openxmlformats.org/officeDocument/2006/relationships" id="270" r:id="R1333dde4dc9f4f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9a1f0410e849e6" /><Relationship Type="http://schemas.openxmlformats.org/officeDocument/2006/relationships/slideMaster" Target="/ppt/slideMasters/slideMaster1.xml" Id="R671a4b6c54eb48e0" /><Relationship Type="http://schemas.openxmlformats.org/officeDocument/2006/relationships/notesMaster" Target="/ppt/notesMasters/notesMaster1.xml" Id="Rde0041b1a59b49ab" /><Relationship Type="http://schemas.openxmlformats.org/officeDocument/2006/relationships/presProps" Target="/ppt/presProps.xml" Id="R97850f54456242e8" /><Relationship Type="http://schemas.openxmlformats.org/officeDocument/2006/relationships/tableStyles" Target="/ppt/tableStyles.xml" Id="R6c621c621cbc4cc5" /><Relationship Type="http://schemas.openxmlformats.org/officeDocument/2006/relationships/slide" Target="/ppt/slides/slide1.xml" Id="R81be60705b894a3f" /><Relationship Type="http://schemas.openxmlformats.org/officeDocument/2006/relationships/slide" Target="/ppt/slides/slide2.xml" Id="R081c1af60d684923" /><Relationship Type="http://schemas.openxmlformats.org/officeDocument/2006/relationships/slide" Target="/ppt/slides/slide3.xml" Id="R763d0d1085054ec0" /><Relationship Type="http://schemas.openxmlformats.org/officeDocument/2006/relationships/slide" Target="/ppt/slides/slide4.xml" Id="R75a428117a63446f" /><Relationship Type="http://schemas.openxmlformats.org/officeDocument/2006/relationships/slide" Target="/ppt/slides/slide5.xml" Id="Ra56f54dcb20f43f3" /><Relationship Type="http://schemas.openxmlformats.org/officeDocument/2006/relationships/slide" Target="/ppt/slides/slide6.xml" Id="R6f23db630f534f0e" /><Relationship Type="http://schemas.openxmlformats.org/officeDocument/2006/relationships/slide" Target="/ppt/slides/slide7.xml" Id="R219c4ef51d9448da" /><Relationship Type="http://schemas.openxmlformats.org/officeDocument/2006/relationships/slide" Target="/ppt/slides/slide8.xml" Id="R2e7fde5bca104914" /><Relationship Type="http://schemas.openxmlformats.org/officeDocument/2006/relationships/slide" Target="/ppt/slides/slide9.xml" Id="Re43deadb26bd46eb" /><Relationship Type="http://schemas.openxmlformats.org/officeDocument/2006/relationships/slide" Target="/ppt/slides/slide10.xml" Id="R56837833a68e4ed0" /><Relationship Type="http://schemas.openxmlformats.org/officeDocument/2006/relationships/slide" Target="/ppt/slides/slide11.xml" Id="Rf097d54f8842442c" /><Relationship Type="http://schemas.openxmlformats.org/officeDocument/2006/relationships/slide" Target="/ppt/slides/slide12.xml" Id="Rdd03be48a4ad4db8" /><Relationship Type="http://schemas.openxmlformats.org/officeDocument/2006/relationships/slide" Target="/ppt/slides/slide13.xml" Id="R9c0b601cbe454c00" /><Relationship Type="http://schemas.openxmlformats.org/officeDocument/2006/relationships/slide" Target="/ppt/slides/slide14.xml" Id="Raf09b9274d7747a1" /><Relationship Type="http://schemas.openxmlformats.org/officeDocument/2006/relationships/slide" Target="/ppt/slides/slide15.xml" Id="R1333dde4dc9f4f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c36fc132d44a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bb34bdfaca4ae3" /><Relationship Type="http://schemas.openxmlformats.org/officeDocument/2006/relationships/notesMaster" Target="/ppt/notesMasters/notesMaster1.xml" Id="R289eb30dbe534b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7492e645654f5d" /><Relationship Type="http://schemas.openxmlformats.org/officeDocument/2006/relationships/notesMaster" Target="/ppt/notesMasters/notesMaster1.xml" Id="Rf20cfe4de0304f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32beb7f8714f34" /><Relationship Type="http://schemas.openxmlformats.org/officeDocument/2006/relationships/notesMaster" Target="/ppt/notesMasters/notesMaster1.xml" Id="Rcdb8057f46904f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e7576205464eba" /><Relationship Type="http://schemas.openxmlformats.org/officeDocument/2006/relationships/notesMaster" Target="/ppt/notesMasters/notesMaster1.xml" Id="R718e74398ad042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6270972ff94fce" /><Relationship Type="http://schemas.openxmlformats.org/officeDocument/2006/relationships/notesMaster" Target="/ppt/notesMasters/notesMaster1.xml" Id="R35219b75ccd747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2017386d0b49ba" /><Relationship Type="http://schemas.openxmlformats.org/officeDocument/2006/relationships/notesMaster" Target="/ppt/notesMasters/notesMaster1.xml" Id="R64d3143f2abe4a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1a8b32f5794ce3" /><Relationship Type="http://schemas.openxmlformats.org/officeDocument/2006/relationships/notesMaster" Target="/ppt/notesMasters/notesMaster1.xml" Id="R6995fd24bb1746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21217d440d4125" /><Relationship Type="http://schemas.openxmlformats.org/officeDocument/2006/relationships/notesMaster" Target="/ppt/notesMasters/notesMaster1.xml" Id="R92c37f7ee40642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2a9616a4124361" /><Relationship Type="http://schemas.openxmlformats.org/officeDocument/2006/relationships/notesMaster" Target="/ppt/notesMasters/notesMaster1.xml" Id="Rbcb7feea82ab4b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8b1cb616634e1d" /><Relationship Type="http://schemas.openxmlformats.org/officeDocument/2006/relationships/notesMaster" Target="/ppt/notesMasters/notesMaster1.xml" Id="R381a342257c640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d3c7904f8f4b23" /><Relationship Type="http://schemas.openxmlformats.org/officeDocument/2006/relationships/notesMaster" Target="/ppt/notesMasters/notesMaster1.xml" Id="Re1cba74e1ee644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6d1fcbf05341de" /><Relationship Type="http://schemas.openxmlformats.org/officeDocument/2006/relationships/notesMaster" Target="/ppt/notesMasters/notesMaster1.xml" Id="Reee80d19a87d408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276ca4a68234443" /><Relationship Type="http://schemas.openxmlformats.org/officeDocument/2006/relationships/notesMaster" Target="/ppt/notesMasters/notesMaster1.xml" Id="R3e6a16599e3e49d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da6c5e626894fcc" /><Relationship Type="http://schemas.openxmlformats.org/officeDocument/2006/relationships/notesMaster" Target="/ppt/notesMasters/notesMaster1.xml" Id="Rd76684ed6d9b4b4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2dd9ae8d94f406d" /><Relationship Type="http://schemas.openxmlformats.org/officeDocument/2006/relationships/notesMaster" Target="/ppt/notesMasters/notesMaster1.xml" Id="Rb7f89a9abf944a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the repair-clinic brief. Success is a defensible diagnosis, not fastest construction. Establish that no real appliances, mains equipment, bodies or liquids are tested.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Institute of Physics: Conductors and insulators</a:t>
            </a:r>
          </a:p>
          <a:p xmlns:a="http://schemas.openxmlformats.org/drawingml/2006/main">
            <a:r>
              <a:t>https://spark.iop.org/conductors-and-insulators</a:t>
            </a:r>
          </a:p>
          <a:p xmlns:a="http://schemas.openxmlformats.org/drawingml/2006/main">
            <a:r>
              <a:t>Checked 9 September 2026. Conductivity is not an absolute two-category boundary; low-voltage lamp results must not imply human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Institute of Physics: Electric circuits and fields guidance notes</a:t>
            </a:r>
          </a:p>
          <a:p xmlns:a="http://schemas.openxmlformats.org/drawingml/2006/main">
            <a:r>
              <a:t>https://spark.iop.org/collections/electric-circuits-and-fields-guidance-notes</a:t>
            </a:r>
          </a:p>
          <a:p xmlns:a="http://schemas.openxmlformats.org/drawingml/2006/main">
            <a:r>
              <a:t>Checked 9 September 2026. Teacher equipment checks, simple series-circuit troubleshooting and distinction between current and transferred energy. Use modern school kit guidance, not historical battery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National Grid: Conductors and insulators education resource</a:t>
            </a:r>
          </a:p>
          <a:p xmlns:a="http://schemas.openxmlformats.org/drawingml/2006/main">
            <a:r>
              <a:t>https://powerdiscoveryzone.nationalgrid.co.uk/downloads/149</a:t>
            </a:r>
          </a:p>
          <a:p xmlns:a="http://schemas.openxmlformats.org/drawingml/2006/main">
            <a:r>
              <a:t>Checked 9 September 2026. Supports a low-voltage material-gap test and graphite as a conducting non-metal. This original lesson excludes hazardous or unsuitable listed materials.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 point to components in the next diagram if names are unfamiliar. R2 no: the loop must connect both cell terminals through the lamp. R3 no: thermal concerns energy transfer due to temperature difference; electrical concerns current. This lesson investigates electrical behaviour.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Institute of Physics: Conductors and insulators</a:t>
            </a:r>
          </a:p>
          <a:p xmlns:a="http://schemas.openxmlformats.org/drawingml/2006/main">
            <a:r>
              <a:t>https://spark.iop.org/conductors-and-insulators</a:t>
            </a:r>
          </a:p>
          <a:p xmlns:a="http://schemas.openxmlformats.org/drawingml/2006/main">
            <a:r>
              <a:t>Checked 9 September 2026. Conductivity is not an absolute two-category boundary; low-voltage lamp results must not imply human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Institute of Physics: Electric circuits and fields guidance notes</a:t>
            </a:r>
          </a:p>
          <a:p xmlns:a="http://schemas.openxmlformats.org/drawingml/2006/main">
            <a:r>
              <a:t>https://spark.iop.org/collections/electric-circuits-and-fields-guidance-notes</a:t>
            </a:r>
          </a:p>
          <a:p xmlns:a="http://schemas.openxmlformats.org/drawingml/2006/main">
            <a:r>
              <a:t>Checked 9 September 2026. Teacher equipment checks, simple series-circuit troubleshooting and distinction between current and transferred energy. Use modern school kit guidance, not historical battery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National Grid: Conductors and insulators education resource</a:t>
            </a:r>
          </a:p>
          <a:p xmlns:a="http://schemas.openxmlformats.org/drawingml/2006/main">
            <a:r>
              <a:t>https://powerdiscoveryzone.nationalgrid.co.uk/downloads/149</a:t>
            </a:r>
          </a:p>
          <a:p xmlns:a="http://schemas.openxmlformats.org/drawingml/2006/main">
            <a:r>
              <a:t>Checked 9 September 2026. Supports a low-voltage material-gap test and graphite as a conducting non-metal. This original lesson excludes hazardous or unsuitable listed materials.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8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 minutes shared across three I do slides. Trace from one cell terminal, through wire, sample, lamp and closed switch to the other terminal. This is one cell, not a mains supply. The diagram has a switch shown closed. Teacher demonstrates known copper first; with valid kit it lights. Current is not used up by the lamp; electrical energy is transferred there.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A simple series test circuit with one 1.5 V cell, a matching lamp, closed switch and sample bridging the gap. The lamp remains in the loop so the sample never directly joins the cell terminals.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Institute of Physics: Conductors and insulators</a:t>
            </a:r>
          </a:p>
          <a:p xmlns:a="http://schemas.openxmlformats.org/drawingml/2006/main">
            <a:r>
              <a:t>https://spark.iop.org/conductors-and-insulators</a:t>
            </a:r>
          </a:p>
          <a:p xmlns:a="http://schemas.openxmlformats.org/drawingml/2006/main">
            <a:r>
              <a:t>Checked 9 September 2026. Conductivity is not an absolute two-category boundary; low-voltage lamp results must not imply human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Institute of Physics: Electric circuits and fields guidance notes</a:t>
            </a:r>
          </a:p>
          <a:p xmlns:a="http://schemas.openxmlformats.org/drawingml/2006/main">
            <a:r>
              <a:t>https://spark.iop.org/collections/electric-circuits-and-fields-guidance-notes</a:t>
            </a:r>
          </a:p>
          <a:p xmlns:a="http://schemas.openxmlformats.org/drawingml/2006/main">
            <a:r>
              <a:t>Checked 9 September 2026. Teacher equipment checks, simple series-circuit troubleshooting and distinction between current and transferred energy. Use modern school kit guidance, not historical battery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National Grid: Conductors and insulators education resource</a:t>
            </a:r>
          </a:p>
          <a:p xmlns:a="http://schemas.openxmlformats.org/drawingml/2006/main">
            <a:r>
              <a:t>https://powerdiscoveryzone.nationalgrid.co.uk/downloads/149</a:t>
            </a:r>
          </a:p>
          <a:p xmlns:a="http://schemas.openxmlformats.org/drawingml/2006/main">
            <a:r>
              <a:t>Checked 9 September 2026. Supports a low-voltage material-gap test and graphite as a conducting non-metal. This original lesson excludes hazardous or unsuitable listed materials.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I do time. Think aloud: I need charge to move along the inside, so copper is useful. I want to reduce unwanted contact with that conducting path, so suitable insulation covers it. The enlarged cutaway is explanatory only. A classroom result does not certify insulation for real wiring.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Simplified cutaway of a low-voltage lead: copper inner conductor provides a current path; plastic outer insulation reduces unwanted contact. This is a diagram, not an instruction to strip a 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Institute of Physics: Conductors and insulators</a:t>
            </a:r>
          </a:p>
          <a:p xmlns:a="http://schemas.openxmlformats.org/drawingml/2006/main">
            <a:r>
              <a:t>https://spark.iop.org/conductors-and-insulators</a:t>
            </a:r>
          </a:p>
          <a:p xmlns:a="http://schemas.openxmlformats.org/drawingml/2006/main">
            <a:r>
              <a:t>Checked 9 September 2026. Conductivity is not an absolute two-category boundary; low-voltage lamp results must not imply human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Institute of Physics: Electric circuits and fields guidance notes</a:t>
            </a:r>
          </a:p>
          <a:p xmlns:a="http://schemas.openxmlformats.org/drawingml/2006/main">
            <a:r>
              <a:t>https://spark.iop.org/collections/electric-circuits-and-fields-guidance-notes</a:t>
            </a:r>
          </a:p>
          <a:p xmlns:a="http://schemas.openxmlformats.org/drawingml/2006/main">
            <a:r>
              <a:t>Checked 9 September 2026. Teacher equipment checks, simple series-circuit troubleshooting and distinction between current and transferred energy. Use modern school kit guidance, not historical battery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National Grid: Conductors and insulators education resource</a:t>
            </a:r>
          </a:p>
          <a:p xmlns:a="http://schemas.openxmlformats.org/drawingml/2006/main">
            <a:r>
              <a:t>https://powerdiscoveryzone.nationalgrid.co.uk/downloads/149</a:t>
            </a:r>
          </a:p>
          <a:p xmlns:a="http://schemas.openxmlformats.org/drawingml/2006/main">
            <a:r>
              <a:t>Checked 9 September 2026. Supports a low-voltage material-gap test and graphite as a conducting non-metal. This original lesson excludes hazardous or unsuitable listed materials.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I do time. Show the contact diagram. If clips touch paint, the test has not reached the metal underneath. Do not ask pupils to scrape it. If either copper check fails, stop: repair the circuit before classifying anything. Lamp brightness is an indicator with a detection limit, not proof of exactly zero current.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Two views of a coated metal sample. Clips touching the coating have no reliable connection to the metal core; clips touching prepared exposed ends can make contact. Only the teacher uses a ready-prepared safe sample.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Institute of Physics: Conductors and insulators</a:t>
            </a:r>
          </a:p>
          <a:p xmlns:a="http://schemas.openxmlformats.org/drawingml/2006/main">
            <a:r>
              <a:t>https://spark.iop.org/conductors-and-insulators</a:t>
            </a:r>
          </a:p>
          <a:p xmlns:a="http://schemas.openxmlformats.org/drawingml/2006/main">
            <a:r>
              <a:t>Checked 9 September 2026. Conductivity is not an absolute two-category boundary; low-voltage lamp results must not imply human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Institute of Physics: Electric circuits and fields guidance notes</a:t>
            </a:r>
          </a:p>
          <a:p xmlns:a="http://schemas.openxmlformats.org/drawingml/2006/main">
            <a:r>
              <a:t>https://spark.iop.org/collections/electric-circuits-and-fields-guidance-notes</a:t>
            </a:r>
          </a:p>
          <a:p xmlns:a="http://schemas.openxmlformats.org/drawingml/2006/main">
            <a:r>
              <a:t>Checked 9 September 2026. Teacher equipment checks, simple series-circuit troubleshooting and distinction between current and transferred energy. Use modern school kit guidance, not historical battery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National Grid: Conductors and insulators education resource</a:t>
            </a:r>
          </a:p>
          <a:p xmlns:a="http://schemas.openxmlformats.org/drawingml/2006/main">
            <a:r>
              <a:t>https://powerdiscoveryzone.nationalgrid.co.uk/downloads/149</a:t>
            </a:r>
          </a:p>
          <a:p xmlns:a="http://schemas.openxmlformats.org/drawingml/2006/main">
            <a:r>
              <a:t>Checked 9 September 2026. Supports a low-voltage material-gap test and graphite as a conducting non-metal. This original lesson excludes hazardous or unsuitable listed materials.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8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 minutes shared across the We do slides. Pair roles: evidence reader and diagnostic checker; one person can work silently. Cases A copper lit, B dry plastic dark with controls pass, C foil dark but control fails, D painted metal dark with clips on paint, E bare aluminium lights. Expected categories: A/E conductor; B poor conductor or insulator in this tested circuit; C/D uncertain.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Institute of Physics: Conductors and insulators</a:t>
            </a:r>
          </a:p>
          <a:p xmlns:a="http://schemas.openxmlformats.org/drawingml/2006/main">
            <a:r>
              <a:t>https://spark.iop.org/conductors-and-insulators</a:t>
            </a:r>
          </a:p>
          <a:p xmlns:a="http://schemas.openxmlformats.org/drawingml/2006/main">
            <a:r>
              <a:t>Checked 9 September 2026. Conductivity is not an absolute two-category boundary; low-voltage lamp results must not imply human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Institute of Physics: Electric circuits and fields guidance notes</a:t>
            </a:r>
          </a:p>
          <a:p xmlns:a="http://schemas.openxmlformats.org/drawingml/2006/main">
            <a:r>
              <a:t>https://spark.iop.org/collections/electric-circuits-and-fields-guidance-notes</a:t>
            </a:r>
          </a:p>
          <a:p xmlns:a="http://schemas.openxmlformats.org/drawingml/2006/main">
            <a:r>
              <a:t>Checked 9 September 2026. Teacher equipment checks, simple series-circuit troubleshooting and distinction between current and transferred energy. Use modern school kit guidance, not historical battery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National Grid: Conductors and insulators education resource</a:t>
            </a:r>
          </a:p>
          <a:p xmlns:a="http://schemas.openxmlformats.org/drawingml/2006/main">
            <a:r>
              <a:t>https://powerdiscoveryzone.nationalgrid.co.uk/downloads/149</a:t>
            </a:r>
          </a:p>
          <a:p xmlns:a="http://schemas.openxmlformats.org/drawingml/2006/main">
            <a:r>
              <a:t>Checked 9 September 2026. Supports a low-voltage material-gap test and graphite as a conducting non-metal. This original lesson excludes hazardous or unsuitable listed materials.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We do time. C: disconnect and teacher checks cell, lamp, leads and switch, then repeat known conductor and sample. D: use a safe prepared sample with proper contact to the intended material, or mark uncertain. Do not scrape, cut, add cells or bypass the lamp. A fault clinic values the answer not enough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C: check the circuit. D: check which material the clips actually touch.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Institute of Physics: Conductors and insulators</a:t>
            </a:r>
          </a:p>
          <a:p xmlns:a="http://schemas.openxmlformats.org/drawingml/2006/main">
            <a:r>
              <a:t>https://spark.iop.org/conductors-and-insulators</a:t>
            </a:r>
          </a:p>
          <a:p xmlns:a="http://schemas.openxmlformats.org/drawingml/2006/main">
            <a:r>
              <a:t>Checked 9 September 2026. Conductivity is not an absolute two-category boundary; low-voltage lamp results must not imply human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Institute of Physics: Electric circuits and fields guidance notes</a:t>
            </a:r>
          </a:p>
          <a:p xmlns:a="http://schemas.openxmlformats.org/drawingml/2006/main">
            <a:r>
              <a:t>https://spark.iop.org/collections/electric-circuits-and-fields-guidance-notes</a:t>
            </a:r>
          </a:p>
          <a:p xmlns:a="http://schemas.openxmlformats.org/drawingml/2006/main">
            <a:r>
              <a:t>Checked 9 September 2026. Teacher equipment checks, simple series-circuit troubleshooting and distinction between current and transferred energy. Use modern school kit guidance, not historical battery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National Grid: Conductors and insulators education resource</a:t>
            </a:r>
          </a:p>
          <a:p xmlns:a="http://schemas.openxmlformats.org/drawingml/2006/main">
            <a:r>
              <a:t>https://powerdiscoveryzone.nationalgrid.co.uk/downloads/149</a:t>
            </a:r>
          </a:p>
          <a:p xmlns:a="http://schemas.openxmlformats.org/drawingml/2006/main">
            <a:r>
              <a:t>Checked 9 September 2026. Supports a low-voltage material-gap test and graphite as a conducting non-metal. This original lesson excludes hazardous or unsuitable listed materials.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We do time. All samples dry, contacts valid, same kit; these are constructed observations. Ask which two materials provide conductor evidence and which two support poor-conductor classification. The lamp does not rank copper versus aluminium quantitatively.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Institute of Physics: Conductors and insulators</a:t>
            </a:r>
          </a:p>
          <a:p xmlns:a="http://schemas.openxmlformats.org/drawingml/2006/main">
            <a:r>
              <a:t>https://spark.iop.org/conductors-and-insulators</a:t>
            </a:r>
          </a:p>
          <a:p xmlns:a="http://schemas.openxmlformats.org/drawingml/2006/main">
            <a:r>
              <a:t>Checked 9 September 2026. Conductivity is not an absolute two-category boundary; low-voltage lamp results must not imply human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Institute of Physics: Electric circuits and fields guidance notes</a:t>
            </a:r>
          </a:p>
          <a:p xmlns:a="http://schemas.openxmlformats.org/drawingml/2006/main">
            <a:r>
              <a:t>https://spark.iop.org/collections/electric-circuits-and-fields-guidance-notes</a:t>
            </a:r>
          </a:p>
          <a:p xmlns:a="http://schemas.openxmlformats.org/drawingml/2006/main">
            <a:r>
              <a:t>Checked 9 September 2026. Teacher equipment checks, simple series-circuit troubleshooting and distinction between current and transferred energy. Use modern school kit guidance, not historical battery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National Grid: Conductors and insulators education resource</a:t>
            </a:r>
          </a:p>
          <a:p xmlns:a="http://schemas.openxmlformats.org/drawingml/2006/main">
            <a:r>
              <a:t>https://powerdiscoveryzone.nationalgrid.co.uk/downloads/149</a:t>
            </a:r>
          </a:p>
          <a:p xmlns:a="http://schemas.openxmlformats.org/drawingml/2006/main">
            <a:r>
              <a:t>Checked 9 September 2026. Supports a low-voltage material-gap test and graphite as a conducting non-metal. This original lesson excludes hazardous or unsuitable listed materials.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Collect an independent choice. If A or C selected, point to the failed known conductor. If D selected, remind pupils never to raise voltage or bypass checks. Repair logic before You 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Plastic is definitely the cause.</a:t>
            </a:r>
          </a:p>
          <a:p xmlns:a="http://schemas.openxmlformats.org/drawingml/2006/main">
            <a:r>
              <a:t>No. The copper control also failed, so the circuit may be faulty.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Check the circuit, then repeat the tests.</a:t>
            </a:r>
          </a:p>
          <a:p xmlns:a="http://schemas.openxmlformats.org/drawingml/2006/main">
            <a:r>
              <a:t>Correct. Yes. A passing control is needed before interpreting the sample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C. Copper has become an insulator.</a:t>
            </a:r>
          </a:p>
          <a:p xmlns:a="http://schemas.openxmlformats.org/drawingml/2006/main">
            <a:r>
              <a:t>No. A faulty lamp, cell, lead or contact is a more relevant explanation to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D. Add many more cells to force a result.</a:t>
            </a:r>
          </a:p>
          <a:p xmlns:a="http://schemas.openxmlformats.org/drawingml/2006/main">
            <a:r>
              <a:t>No. Keep to the approved low-voltage kit and ask the teacher to check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Institute of Physics: Conductors and insulators</a:t>
            </a:r>
          </a:p>
          <a:p xmlns:a="http://schemas.openxmlformats.org/drawingml/2006/main">
            <a:r>
              <a:t>https://spark.iop.org/conductors-and-insulators</a:t>
            </a:r>
          </a:p>
          <a:p xmlns:a="http://schemas.openxmlformats.org/drawingml/2006/main">
            <a:r>
              <a:t>Checked 9 September 2026. Conductivity is not an absolute two-category boundary; low-voltage lamp results must not imply human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Institute of Physics: Electric circuits and fields guidance notes</a:t>
            </a:r>
          </a:p>
          <a:p xmlns:a="http://schemas.openxmlformats.org/drawingml/2006/main">
            <a:r>
              <a:t>https://spark.iop.org/collections/electric-circuits-and-fields-guidance-notes</a:t>
            </a:r>
          </a:p>
          <a:p xmlns:a="http://schemas.openxmlformats.org/drawingml/2006/main">
            <a:r>
              <a:t>Checked 9 September 2026. Teacher equipment checks, simple series-circuit troubleshooting and distinction between current and transferred energy. Use modern school kit guidance, not historical battery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National Grid: Conductors and insulators education resource</a:t>
            </a:r>
          </a:p>
          <a:p xmlns:a="http://schemas.openxmlformats.org/drawingml/2006/main">
            <a:r>
              <a:t>https://powerdiscoveryzone.nationalgrid.co.uk/downloads/149</a:t>
            </a:r>
          </a:p>
          <a:p xmlns:a="http://schemas.openxmlformats.org/drawingml/2006/main">
            <a:r>
              <a:t>Checked 9 September 2026. Supports a low-voltage material-gap test and graphite as a conducting non-metal. This original lesson excludes hazardous or unsuitable listed materials.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 minutes shared over three You do slides. Optional pairs may test four prepared materials within this interval: teacher supplies checked loop, then pupils change one sample with switch off, observe and record. Paper route is complete without the practical. Actual observations may differ: record them honestly and diagnose, do not overwrite them with the supplied examples.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Institute of Physics: Conductors and insulators</a:t>
            </a:r>
          </a:p>
          <a:p xmlns:a="http://schemas.openxmlformats.org/drawingml/2006/main">
            <a:r>
              <a:t>https://spark.iop.org/conductors-and-insulators</a:t>
            </a:r>
          </a:p>
          <a:p xmlns:a="http://schemas.openxmlformats.org/drawingml/2006/main">
            <a:r>
              <a:t>Checked 9 September 2026. Conductivity is not an absolute two-category boundary; low-voltage lamp results must not imply human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Institute of Physics: Electric circuits and fields guidance notes</a:t>
            </a:r>
          </a:p>
          <a:p xmlns:a="http://schemas.openxmlformats.org/drawingml/2006/main">
            <a:r>
              <a:t>https://spark.iop.org/collections/electric-circuits-and-fields-guidance-notes</a:t>
            </a:r>
          </a:p>
          <a:p xmlns:a="http://schemas.openxmlformats.org/drawingml/2006/main">
            <a:r>
              <a:t>Checked 9 September 2026. Teacher equipment checks, simple series-circuit troubleshooting and distinction between current and transferred energy. Use modern school kit guidance, not historical battery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National Grid: Conductors and insulators education resource</a:t>
            </a:r>
          </a:p>
          <a:p xmlns:a="http://schemas.openxmlformats.org/drawingml/2006/main">
            <a:r>
              <a:t>https://powerdiscoveryzone.nationalgrid.co.uk/downloads/149</a:t>
            </a:r>
          </a:p>
          <a:p xmlns:a="http://schemas.openxmlformats.org/drawingml/2006/main">
            <a:r>
              <a:t>Checked 9 September 2026. Supports a low-voltage material-gap test and graphite as a conducting non-metal. This original lesson excludes hazardous or unsuitable listed materials.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You do time. A 10-minute test is possible only with preassembled checked kit and prepared samples. Any delay: use the provided observation cards immediately. Do not add curriculum content or compromise the review to chase a working bulb.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Institute of Physics: Conductors and insulators</a:t>
            </a:r>
          </a:p>
          <a:p xmlns:a="http://schemas.openxmlformats.org/drawingml/2006/main">
            <a:r>
              <a:t>https://spark.iop.org/conductors-and-insulators</a:t>
            </a:r>
          </a:p>
          <a:p xmlns:a="http://schemas.openxmlformats.org/drawingml/2006/main">
            <a:r>
              <a:t>Checked 9 September 2026. Conductivity is not an absolute two-category boundary; low-voltage lamp results must not imply human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Institute of Physics: Electric circuits and fields guidance notes</a:t>
            </a:r>
          </a:p>
          <a:p xmlns:a="http://schemas.openxmlformats.org/drawingml/2006/main">
            <a:r>
              <a:t>https://spark.iop.org/collections/electric-circuits-and-fields-guidance-notes</a:t>
            </a:r>
          </a:p>
          <a:p xmlns:a="http://schemas.openxmlformats.org/drawingml/2006/main">
            <a:r>
              <a:t>Checked 9 September 2026. Teacher equipment checks, simple series-circuit troubleshooting and distinction between current and transferred energy. Use modern school kit guidance, not historical battery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National Grid: Conductors and insulators education resource</a:t>
            </a:r>
          </a:p>
          <a:p xmlns:a="http://schemas.openxmlformats.org/drawingml/2006/main">
            <a:r>
              <a:t>https://powerdiscoveryzone.nationalgrid.co.uk/downloads/149</a:t>
            </a:r>
          </a:p>
          <a:p xmlns:a="http://schemas.openxmlformats.org/drawingml/2006/main">
            <a:r>
              <a:t>Checked 9 September 2026. Supports a low-voltage material-gap test and graphite as a conducting non-metal. This original lesson excludes hazardous or unsuitable listed materials.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You do time. Ask for evidence and reason. Supported pupils may dictate. Stretch note: graphite with a very small meter-detected current may fail to visibly light this lamp; zero visible light is not the same as zero current. No meter practical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Institute of Physics: Conductors and insulators</a:t>
            </a:r>
          </a:p>
          <a:p xmlns:a="http://schemas.openxmlformats.org/drawingml/2006/main">
            <a:r>
              <a:t>https://spark.iop.org/conductors-and-insulators</a:t>
            </a:r>
          </a:p>
          <a:p xmlns:a="http://schemas.openxmlformats.org/drawingml/2006/main">
            <a:r>
              <a:t>Checked 9 September 2026. Conductivity is not an absolute two-category boundary; low-voltage lamp results must not imply human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Institute of Physics: Electric circuits and fields guidance notes</a:t>
            </a:r>
          </a:p>
          <a:p xmlns:a="http://schemas.openxmlformats.org/drawingml/2006/main">
            <a:r>
              <a:t>https://spark.iop.org/collections/electric-circuits-and-fields-guidance-notes</a:t>
            </a:r>
          </a:p>
          <a:p xmlns:a="http://schemas.openxmlformats.org/drawingml/2006/main">
            <a:r>
              <a:t>Checked 9 September 2026. Teacher equipment checks, simple series-circuit troubleshooting and distinction between current and transferred energy. Use modern school kit guidance, not historical battery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National Grid: Conductors and insulators education resource</a:t>
            </a:r>
          </a:p>
          <a:p xmlns:a="http://schemas.openxmlformats.org/drawingml/2006/main">
            <a:r>
              <a:t>https://powerdiscoveryzone.nationalgrid.co.uk/downloads/149</a:t>
            </a:r>
          </a:p>
          <a:p xmlns:a="http://schemas.openxmlformats.org/drawingml/2006/main">
            <a:r>
              <a:t>Checked 9 September 2026. Supports a low-voltage material-gap test and graphite as a conducting non-metal. This original lesson excludes hazardous or unsuitable listed materials.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 minutes shared across two Review slides. Expected response: a failed control means the setup cannot yet diagnose the sample. Copper inside and plastic outside meet different functions. Accept aluminium inside if evidence linked; avoid claims about suitability for all real cable manufacturing.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Institute of Physics: Conductors and insulators</a:t>
            </a:r>
          </a:p>
          <a:p xmlns:a="http://schemas.openxmlformats.org/drawingml/2006/main">
            <a:r>
              <a:t>https://spark.iop.org/conductors-and-insulators</a:t>
            </a:r>
          </a:p>
          <a:p xmlns:a="http://schemas.openxmlformats.org/drawingml/2006/main">
            <a:r>
              <a:t>Checked 9 September 2026. Conductivity is not an absolute two-category boundary; low-voltage lamp results must not imply human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Institute of Physics: Electric circuits and fields guidance notes</a:t>
            </a:r>
          </a:p>
          <a:p xmlns:a="http://schemas.openxmlformats.org/drawingml/2006/main">
            <a:r>
              <a:t>https://spark.iop.org/collections/electric-circuits-and-fields-guidance-notes</a:t>
            </a:r>
          </a:p>
          <a:p xmlns:a="http://schemas.openxmlformats.org/drawingml/2006/main">
            <a:r>
              <a:t>Checked 9 September 2026. Teacher equipment checks, simple series-circuit troubleshooting and distinction between current and transferred energy. Use modern school kit guidance, not historical battery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National Grid: Conductors and insulators education resource</a:t>
            </a:r>
          </a:p>
          <a:p xmlns:a="http://schemas.openxmlformats.org/drawingml/2006/main">
            <a:r>
              <a:t>https://powerdiscoveryzone.nationalgrid.co.uk/downloads/149</a:t>
            </a:r>
          </a:p>
          <a:p xmlns:a="http://schemas.openxmlformats.org/drawingml/2006/main">
            <a:r>
              <a:t>Checked 9 September 2026. Supports a low-voltage material-gap test and graphite as a conducting non-metal. This original lesson excludes hazardous or unsuitable listed materials.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Light Lundy loop: pupils can point, write or speak. Teacher notes the chosen improvement and explains how the next investigation will use it. Do not make a popularity vote determine a scientific fact.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Institute of Physics: Conductors and insulators</a:t>
            </a:r>
          </a:p>
          <a:p xmlns:a="http://schemas.openxmlformats.org/drawingml/2006/main">
            <a:r>
              <a:t>https://spark.iop.org/conductors-and-insulators</a:t>
            </a:r>
          </a:p>
          <a:p xmlns:a="http://schemas.openxmlformats.org/drawingml/2006/main">
            <a:r>
              <a:t>Checked 9 September 2026. Conductivity is not an absolute two-category boundary; low-voltage lamp results must not imply human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Institute of Physics: Electric circuits and fields guidance notes</a:t>
            </a:r>
          </a:p>
          <a:p xmlns:a="http://schemas.openxmlformats.org/drawingml/2006/main">
            <a:r>
              <a:t>https://spark.iop.org/collections/electric-circuits-and-fields-guidance-notes</a:t>
            </a:r>
          </a:p>
          <a:p xmlns:a="http://schemas.openxmlformats.org/drawingml/2006/main">
            <a:r>
              <a:t>Checked 9 September 2026. Teacher equipment checks, simple series-circuit troubleshooting and distinction between current and transferred energy. Use modern school kit guidance, not historical battery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National Grid: Conductors and insulators education resource</a:t>
            </a:r>
          </a:p>
          <a:p xmlns:a="http://schemas.openxmlformats.org/drawingml/2006/main">
            <a:r>
              <a:t>https://powerdiscoveryzone.nationalgrid.co.uk/downloads/149</a:t>
            </a:r>
          </a:p>
          <a:p xmlns:a="http://schemas.openxmlformats.org/drawingml/2006/main">
            <a:r>
              <a:t>Checked 9 September 2026. Supports a low-voltage material-gap test and graphite as a conducting non-metal. This original lesson excludes hazardous or unsuitable listed materials.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E1 current needs a connected conducting path through this loop. E2 confirms kit works throughout; failed checks invalidate the classification. E3 copper/aluminium inside, appropriate plastic insulation outside, with jobs explained. Ask one transfer question next lesson if response is only a material 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Institute of Physics: Conductors and insulators</a:t>
            </a:r>
          </a:p>
          <a:p xmlns:a="http://schemas.openxmlformats.org/drawingml/2006/main">
            <a:r>
              <a:t>https://spark.iop.org/conductors-and-insulators</a:t>
            </a:r>
          </a:p>
          <a:p xmlns:a="http://schemas.openxmlformats.org/drawingml/2006/main">
            <a:r>
              <a:t>Checked 9 September 2026. Conductivity is not an absolute two-category boundary; low-voltage lamp results must not imply human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Institute of Physics: Electric circuits and fields guidance notes</a:t>
            </a:r>
          </a:p>
          <a:p xmlns:a="http://schemas.openxmlformats.org/drawingml/2006/main">
            <a:r>
              <a:t>https://spark.iop.org/collections/electric-circuits-and-fields-guidance-notes</a:t>
            </a:r>
          </a:p>
          <a:p xmlns:a="http://schemas.openxmlformats.org/drawingml/2006/main">
            <a:r>
              <a:t>Checked 9 September 2026. Teacher equipment checks, simple series-circuit troubleshooting and distinction between current and transferred energy. Use modern school kit guidance, not historical battery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National Grid: Conductors and insulators education resource</a:t>
            </a:r>
          </a:p>
          <a:p xmlns:a="http://schemas.openxmlformats.org/drawingml/2006/main">
            <a:r>
              <a:t>https://powerdiscoveryzone.nationalgrid.co.uk/downloads/149</a:t>
            </a:r>
          </a:p>
          <a:p xmlns:a="http://schemas.openxmlformats.org/drawingml/2006/main">
            <a:r>
              <a:t>Checked 9 September 2026. Supports a low-voltage material-gap test and graphite as a conducting non-metal. This original lesson excludes hazardous or unsuitable listed materials.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7ca841f7724f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d235e9b1d14edc" /><Relationship Type="http://schemas.openxmlformats.org/officeDocument/2006/relationships/slideLayout" Target="/ppt/slideLayouts/slideLayout1.xml" Id="R58037a8de85a48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037a8de85a48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250358be34eb2" /><Relationship Type="http://schemas.openxmlformats.org/officeDocument/2006/relationships/notesSlide" Target="/ppt/notesSlides/notesSlide1.xml" Id="R0fcbd354252d41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d2a281da3c428c" /><Relationship Type="http://schemas.openxmlformats.org/officeDocument/2006/relationships/notesSlide" Target="/ppt/notesSlides/notesSlide2.xml" Id="R05a9b34358ad4c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2a114bb934de2" /><Relationship Type="http://schemas.openxmlformats.org/officeDocument/2006/relationships/notesSlide" Target="/ppt/notesSlides/notesSlide3.xml" Id="R86791c8a25b947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afcf6063b40c5" /><Relationship Type="http://schemas.openxmlformats.org/officeDocument/2006/relationships/notesSlide" Target="/ppt/notesSlides/notesSlide4.xml" Id="R9274cfb106b348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d6974e45d43dd" /><Relationship Type="http://schemas.openxmlformats.org/officeDocument/2006/relationships/notesSlide" Target="/ppt/notesSlides/notesSlide5.xml" Id="R869b35133f2e43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65aad0d31409f" /><Relationship Type="http://schemas.openxmlformats.org/officeDocument/2006/relationships/notesSlide" Target="/ppt/notesSlides/notesSlide6.xml" Id="R35d0c57aef6749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189aff63645c4" /><Relationship Type="http://schemas.openxmlformats.org/officeDocument/2006/relationships/notesSlide" Target="/ppt/notesSlides/notesSlide7.xml" Id="Rba16cb90ae1148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d04b98ab047fd" /><Relationship Type="http://schemas.openxmlformats.org/officeDocument/2006/relationships/notesSlide" Target="/ppt/notesSlides/notesSlide8.xml" Id="R2e511dc179844c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03f96f52448ca" /><Relationship Type="http://schemas.openxmlformats.org/officeDocument/2006/relationships/notesSlide" Target="/ppt/notesSlides/notesSlide9.xml" Id="R83ef50f5c73c41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d29c85ffb4474" /><Relationship Type="http://schemas.openxmlformats.org/officeDocument/2006/relationships/notesSlide" Target="/ppt/notesSlides/notesSlide10.xml" Id="Refa344ae603c40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155a45bf14595" /><Relationship Type="http://schemas.openxmlformats.org/officeDocument/2006/relationships/notesSlide" Target="/ppt/notesSlides/notesSlide11.xml" Id="Rcd977e6094a64d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17933e0134f39" /><Relationship Type="http://schemas.openxmlformats.org/officeDocument/2006/relationships/notesSlide" Target="/ppt/notesSlides/notesSlide12.xml" Id="Rcf3c2fee3db44cf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f2bbbf5aa4aa9" /><Relationship Type="http://schemas.openxmlformats.org/officeDocument/2006/relationships/notesSlide" Target="/ppt/notesSlides/notesSlide13.xml" Id="Rf7940f7108e5431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238f0ae4142cb" /><Relationship Type="http://schemas.openxmlformats.org/officeDocument/2006/relationships/notesSlide" Target="/ppt/notesSlides/notesSlide14.xml" Id="R5b9ad7d6f63d4a0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a2ab962034150" /><Relationship Type="http://schemas.openxmlformats.org/officeDocument/2006/relationships/notesSlide" Target="/ppt/notesSlides/notesSlide15.xml" Id="R65236b47dfd04d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urface">
            <a:extLst xmlns:a="http://schemas.openxmlformats.org/drawingml/2006/main">
              <a:ext uri="{FF2B5EF4-FFF2-40B4-BE49-F238E27FC236}">
                <a16:creationId xmlns:a16="http://schemas.microsoft.com/office/drawing/2014/main" id="{F68B2923-F9AE-49F7-B250-1C27C830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3BCECEA1-30A5-44C7-91F9-9C5EDE07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2BF9C0D-3238-4746-AE6F-964480EF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6423D037-68F3-422F-B672-31A10C87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Opening">
            <a:extLst xmlns:a="http://schemas.openxmlformats.org/drawingml/2006/main">
              <a:ext uri="{FF2B5EF4-FFF2-40B4-BE49-F238E27FC236}">
                <a16:creationId xmlns:a16="http://schemas.microsoft.com/office/drawing/2014/main" id="{026A9EEB-AE3B-485F-BD7C-D0AD2F19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Opening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EFA01A20-B5FE-41A2-834D-56C499D8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You are the circuit fault team">
            <a:extLst xmlns:a="http://schemas.openxmlformats.org/drawingml/2006/main">
              <a:ext uri="{FF2B5EF4-FFF2-40B4-BE49-F238E27FC236}">
                <a16:creationId xmlns:a16="http://schemas.microsoft.com/office/drawing/2014/main" id="{A76ED068-0C88-45D9-8D16-53CBF335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You are the circuit fault team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C49DA7B4-41AE-4BB1-983E-8CBE2288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Circuit fault clinic">
            <a:extLst xmlns:a="http://schemas.openxmlformats.org/drawingml/2006/main">
              <a:ext uri="{FF2B5EF4-FFF2-40B4-BE49-F238E27FC236}">
                <a16:creationId xmlns:a16="http://schemas.microsoft.com/office/drawing/2014/main" id="{D50F944E-FCE5-4126-ACF4-3950FF39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Circuit fault clinic</a:t>
            </a:r>
          </a:p>
        </p:txBody>
      </p:sp>
      <p:sp>
        <p:nvSpPr>
          <p:cNvPr id="10" name="1 / 15">
            <a:extLst xmlns:a="http://schemas.openxmlformats.org/drawingml/2006/main">
              <a:ext uri="{FF2B5EF4-FFF2-40B4-BE49-F238E27FC236}">
                <a16:creationId xmlns:a16="http://schemas.microsoft.com/office/drawing/2014/main" id="{32660DA5-9CE2-48DD-8230-B6FBAB65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 / 15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BEB8E9B2-FA09-4EBC-8604-FEEAB2D4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312906C8-AF87-4317-A7F7-F97BC7EE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6667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13" name="Learning intention">
            <a:extLst xmlns:a="http://schemas.openxmlformats.org/drawingml/2006/main">
              <a:ext uri="{FF2B5EF4-FFF2-40B4-BE49-F238E27FC236}">
                <a16:creationId xmlns:a16="http://schemas.microsoft.com/office/drawing/2014/main" id="{1152AE08-FCC7-4618-BF6E-B013AB78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Learning intention</a:t>
            </a:r>
          </a:p>
        </p:txBody>
      </p:sp>
      <p:sp>
        <p:nvSpPr>
          <p:cNvPr id="14" name="Use a checked low-voltage circuit to compare electrical conducto">
            <a:extLst xmlns:a="http://schemas.openxmlformats.org/drawingml/2006/main">
              <a:ext uri="{FF2B5EF4-FFF2-40B4-BE49-F238E27FC236}">
                <a16:creationId xmlns:a16="http://schemas.microsoft.com/office/drawing/2014/main" id="{E57FA08C-AD03-4F35-A521-4BD09D33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a checked low-voltage circuit to compare electrical conductors and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insulators.</a:t>
            </a:r>
          </a:p>
        </p:txBody>
      </p:sp>
      <p:sp>
        <p:nvSpPr>
          <p:cNvPr id="15" name="A lamp is dark. Is the sample the problem?">
            <a:extLst xmlns:a="http://schemas.openxmlformats.org/drawingml/2006/main">
              <a:ext uri="{FF2B5EF4-FFF2-40B4-BE49-F238E27FC236}">
                <a16:creationId xmlns:a16="http://schemas.microsoft.com/office/drawing/2014/main" id="{9DB00330-5F4D-476C-9670-9302CA94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lamp is dark. Is the sample the problem?</a:t>
            </a:r>
          </a:p>
        </p:txBody>
      </p:sp>
      <p:sp>
        <p:nvSpPr>
          <p:cNvPr id="16" name="Your job: check the evidence before classifying it.">
            <a:extLst xmlns:a="http://schemas.openxmlformats.org/drawingml/2006/main">
              <a:ext uri="{FF2B5EF4-FFF2-40B4-BE49-F238E27FC236}">
                <a16:creationId xmlns:a16="http://schemas.microsoft.com/office/drawing/2014/main" id="{6F912961-C04F-436D-A2BB-6389A763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57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Your job: check the evidence before classifying it.</a:t>
            </a:r>
          </a:p>
        </p:txBody>
      </p:sp>
      <p:sp>
        <p:nvSpPr>
          <p:cNvPr id="17" name="Use a paper investigation or supervised low-voltage kit.">
            <a:extLst xmlns:a="http://schemas.openxmlformats.org/drawingml/2006/main">
              <a:ext uri="{FF2B5EF4-FFF2-40B4-BE49-F238E27FC236}">
                <a16:creationId xmlns:a16="http://schemas.microsoft.com/office/drawing/2014/main" id="{DF1BA558-3D59-4E23-A5D3-F595AB48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691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a paper investigation or supervised low-voltage kit.</a:t>
            </a:r>
          </a:p>
        </p:txBody>
      </p:sp>
    </p:spTree>
    <p:extLst>
      <p:ext uri="{BB962C8B-B14F-4D97-AF65-F5344CB8AC3E}">
        <p14:creationId xmlns:p14="http://schemas.microsoft.com/office/powerpoint/2010/main" val="3229647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BB01B9F2-9647-4B75-B0BF-166EF821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6A22E89F-E6E0-4DE0-B8A8-409E3ABA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8753E427-6C1D-4326-B5ED-F11340E9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6FACFB3B-3A8A-4287-9A33-59FA0306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Retrieval">
            <a:extLst xmlns:a="http://schemas.openxmlformats.org/drawingml/2006/main">
              <a:ext uri="{FF2B5EF4-FFF2-40B4-BE49-F238E27FC236}">
                <a16:creationId xmlns:a16="http://schemas.microsoft.com/office/drawing/2014/main" id="{011FD1EE-7795-417C-8693-B29A4197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Retrieval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616E9B38-EE05-445B-AF6E-DDB26488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Find the missing idea">
            <a:extLst xmlns:a="http://schemas.openxmlformats.org/drawingml/2006/main">
              <a:ext uri="{FF2B5EF4-FFF2-40B4-BE49-F238E27FC236}">
                <a16:creationId xmlns:a16="http://schemas.microsoft.com/office/drawing/2014/main" id="{5DB3E4A2-0EDD-4C16-97DC-8FDB9F17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Find the missing idea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6F2AB2C7-FCF3-49B1-BAAE-F04618E4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Circuit fault clinic">
            <a:extLst xmlns:a="http://schemas.openxmlformats.org/drawingml/2006/main">
              <a:ext uri="{FF2B5EF4-FFF2-40B4-BE49-F238E27FC236}">
                <a16:creationId xmlns:a16="http://schemas.microsoft.com/office/drawing/2014/main" id="{4F39BACF-4DB6-4D36-810E-284D57B5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Circuit fault clinic</a:t>
            </a:r>
          </a:p>
        </p:txBody>
      </p:sp>
      <p:sp>
        <p:nvSpPr>
          <p:cNvPr id="10" name="2 / 15">
            <a:extLst xmlns:a="http://schemas.openxmlformats.org/drawingml/2006/main">
              <a:ext uri="{FF2B5EF4-FFF2-40B4-BE49-F238E27FC236}">
                <a16:creationId xmlns:a16="http://schemas.microsoft.com/office/drawing/2014/main" id="{4D3957A8-112D-4F72-87C4-4C63FF9E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2 / 15</a:t>
            </a:r>
          </a:p>
        </p:txBody>
      </p:sp>
      <p:sp>
        <p:nvSpPr>
          <p:cNvPr id="11" name="R1. Name a cell, lamp and wire.">
            <a:extLst xmlns:a="http://schemas.openxmlformats.org/drawingml/2006/main">
              <a:ext uri="{FF2B5EF4-FFF2-40B4-BE49-F238E27FC236}">
                <a16:creationId xmlns:a16="http://schemas.microsoft.com/office/drawing/2014/main" id="{971D52D3-53A3-4158-906B-8B66B584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R1. Name a cell, lamp and wire.</a:t>
            </a:r>
          </a:p>
        </p:txBody>
      </p:sp>
      <p:sp>
        <p:nvSpPr>
          <p:cNvPr id="12" name="R2. Does one wire from a cell to a lamp make a complete loop?">
            <a:extLst xmlns:a="http://schemas.openxmlformats.org/drawingml/2006/main">
              <a:ext uri="{FF2B5EF4-FFF2-40B4-BE49-F238E27FC236}">
                <a16:creationId xmlns:a16="http://schemas.microsoft.com/office/drawing/2014/main" id="{3CC5CF3D-E722-42A3-9F92-0C02D5BD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R2. Does one wire from a cell to a lamp make a complete loop?</a:t>
            </a:r>
          </a:p>
        </p:txBody>
      </p:sp>
      <p:sp>
        <p:nvSpPr>
          <p:cNvPr id="13" name="R3. Are thermal and electrical conductivity the same test?">
            <a:extLst xmlns:a="http://schemas.openxmlformats.org/drawingml/2006/main">
              <a:ext uri="{FF2B5EF4-FFF2-40B4-BE49-F238E27FC236}">
                <a16:creationId xmlns:a16="http://schemas.microsoft.com/office/drawing/2014/main" id="{A4805C46-4DF0-404A-A593-6B46250A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R3. Are thermal and electrical conductivity the same test?</a:t>
            </a:r>
          </a:p>
        </p:txBody>
      </p:sp>
    </p:spTree>
    <p:extLst>
      <p:ext uri="{BB962C8B-B14F-4D97-AF65-F5344CB8AC3E}">
        <p14:creationId xmlns:p14="http://schemas.microsoft.com/office/powerpoint/2010/main" val="2476929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urface">
            <a:extLst xmlns:a="http://schemas.openxmlformats.org/drawingml/2006/main">
              <a:ext uri="{FF2B5EF4-FFF2-40B4-BE49-F238E27FC236}">
                <a16:creationId xmlns:a16="http://schemas.microsoft.com/office/drawing/2014/main" id="{3EC4A8AF-EA94-4F3C-83E4-3AAEEF00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AF11F31-A3D2-40AA-9842-3F9DA574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E69BF96-157F-4D7B-8F00-F2AE420A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DE95786C-9802-4AA9-ACCD-BCB57468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B68CC8A9-5E12-4CD5-B3E6-B52B4DE6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8 min">
            <a:extLst xmlns:a="http://schemas.openxmlformats.org/drawingml/2006/main">
              <a:ext uri="{FF2B5EF4-FFF2-40B4-BE49-F238E27FC236}">
                <a16:creationId xmlns:a16="http://schemas.microsoft.com/office/drawing/2014/main" id="{4F318BE1-69D1-412B-93B5-F261437D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8 min</a:t>
            </a:r>
          </a:p>
        </p:txBody>
      </p:sp>
      <p:sp>
        <p:nvSpPr>
          <p:cNvPr id="7" name="Trace the whole loop">
            <a:extLst xmlns:a="http://schemas.openxmlformats.org/drawingml/2006/main">
              <a:ext uri="{FF2B5EF4-FFF2-40B4-BE49-F238E27FC236}">
                <a16:creationId xmlns:a16="http://schemas.microsoft.com/office/drawing/2014/main" id="{EF9E4D8E-1A4A-4DF3-A656-C632FF38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Trace the whole loop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413D2F95-3730-4E50-8688-CA094840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Circuit fault clinic">
            <a:extLst xmlns:a="http://schemas.openxmlformats.org/drawingml/2006/main">
              <a:ext uri="{FF2B5EF4-FFF2-40B4-BE49-F238E27FC236}">
                <a16:creationId xmlns:a16="http://schemas.microsoft.com/office/drawing/2014/main" id="{FF29FF55-1F5B-4C5D-AE78-FE8D153A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Circuit fault clinic</a:t>
            </a:r>
          </a:p>
        </p:txBody>
      </p:sp>
      <p:sp>
        <p:nvSpPr>
          <p:cNvPr id="10" name="3 / 15">
            <a:extLst xmlns:a="http://schemas.openxmlformats.org/drawingml/2006/main">
              <a:ext uri="{FF2B5EF4-FFF2-40B4-BE49-F238E27FC236}">
                <a16:creationId xmlns:a16="http://schemas.microsoft.com/office/drawing/2014/main" id="{778E251D-1071-47EE-8AED-54036D2F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3 / 15</a:t>
            </a:r>
          </a:p>
        </p:txBody>
      </p:sp>
      <p:sp>
        <p:nvSpPr>
          <p:cNvPr id="11" name="Diagram label: Every part must make a conducting connection">
            <a:extLst xmlns:a="http://schemas.openxmlformats.org/drawingml/2006/main">
              <a:ext uri="{FF2B5EF4-FFF2-40B4-BE49-F238E27FC236}">
                <a16:creationId xmlns:a16="http://schemas.microsoft.com/office/drawing/2014/main" id="{464EA950-151D-4B42-84AC-77CF5A2F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506" y="2023042"/>
            <a:ext cx="6376988" cy="350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Every part must make a conducting connection</a:t>
            </a:r>
          </a:p>
        </p:txBody>
      </p:sp>
      <p:sp>
        <p:nvSpPr>
          <p:cNvPr id="1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4F84BF86-948A-44D3-88B9-850D6180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73236" y="2899002"/>
            <a:ext cx="175192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046">
            <a:solidFill>
              <a:srgbClr val="1F2937"/>
            </a:solidFill>
          </a:ln>
        </p:spPr>
      </p:sp>
      <p:sp>
        <p:nvSpPr>
          <p:cNvPr id="1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67E6D7A1-2F62-4811-986B-B8F32D7D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66845" y="2899002"/>
            <a:ext cx="175192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046">
            <a:solidFill>
              <a:srgbClr val="1F2937"/>
            </a:solidFill>
          </a:ln>
        </p:spPr>
      </p:sp>
      <p:sp>
        <p:nvSpPr>
          <p:cNvPr id="1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B51135F9-8C11-4D60-9957-E731ED5D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18764" y="2899002"/>
            <a:ext cx="953" cy="7007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046">
            <a:solidFill>
              <a:srgbClr val="1F2937"/>
            </a:solidFill>
          </a:ln>
        </p:spPr>
      </p:sp>
      <p:sp>
        <p:nvSpPr>
          <p:cNvPr id="1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B58BB08D-841F-4E62-955D-6184446F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18764" y="4160384"/>
            <a:ext cx="953" cy="7007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046">
            <a:solidFill>
              <a:srgbClr val="1F2937"/>
            </a:solidFill>
          </a:ln>
        </p:spPr>
      </p:sp>
      <p:sp>
        <p:nvSpPr>
          <p:cNvPr id="1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CDB559FC-4BA0-4992-83A0-CF297A67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166077" y="4861152"/>
            <a:ext cx="245268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046">
            <a:solidFill>
              <a:srgbClr val="1F2937"/>
            </a:solidFill>
          </a:ln>
        </p:spPr>
      </p:sp>
      <p:sp>
        <p:nvSpPr>
          <p:cNvPr id="1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8413E5F2-A4F1-4CBC-B309-2BB75006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605463" y="4861152"/>
            <a:ext cx="560614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046">
            <a:solidFill>
              <a:srgbClr val="1F2937"/>
            </a:solidFill>
          </a:ln>
        </p:spPr>
      </p:sp>
      <p:sp>
        <p:nvSpPr>
          <p:cNvPr id="1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B8F3F496-9E4A-47BC-812A-994CBA69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401" y="4805090"/>
            <a:ext cx="112123" cy="1121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023">
            <a:solidFill>
              <a:srgbClr val="1F2937"/>
            </a:solidFill>
          </a:ln>
        </p:spPr>
      </p:sp>
      <p:sp>
        <p:nvSpPr>
          <p:cNvPr id="19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99867DB-C487-40F5-A011-8D230A56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0015" y="4805090"/>
            <a:ext cx="112123" cy="1121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023">
            <a:solidFill>
              <a:srgbClr val="1F2937"/>
            </a:solidFill>
          </a:ln>
        </p:spPr>
      </p:sp>
      <p:sp>
        <p:nvSpPr>
          <p:cNvPr id="2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CE9816EC-96D2-4FCD-810D-E531F065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573236" y="4861152"/>
            <a:ext cx="203222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046">
            <a:solidFill>
              <a:srgbClr val="1F2937"/>
            </a:solidFill>
          </a:ln>
        </p:spPr>
      </p:sp>
      <p:sp>
        <p:nvSpPr>
          <p:cNvPr id="21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5BADAD36-CA05-4241-99CC-6197086B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573236" y="3845038"/>
            <a:ext cx="953" cy="10161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046">
            <a:solidFill>
              <a:srgbClr val="1F2937"/>
            </a:solidFill>
          </a:ln>
        </p:spPr>
      </p:sp>
      <p:sp>
        <p:nvSpPr>
          <p:cNvPr id="2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B15CE689-527E-49B2-84A3-4081CD87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573236" y="2899002"/>
            <a:ext cx="953" cy="7358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046">
            <a:solidFill>
              <a:srgbClr val="1F2937"/>
            </a:solidFill>
          </a:ln>
        </p:spPr>
      </p:sp>
      <p:sp>
        <p:nvSpPr>
          <p:cNvPr id="2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E988C740-9C0D-4135-92A2-9DB5EA90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92929" y="3634808"/>
            <a:ext cx="560614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061">
            <a:solidFill>
              <a:srgbClr val="1F2937"/>
            </a:solidFill>
          </a:ln>
        </p:spPr>
      </p:sp>
      <p:sp>
        <p:nvSpPr>
          <p:cNvPr id="2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925A1BDA-2757-4F8E-A246-570771C4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33082" y="3845038"/>
            <a:ext cx="28030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061">
            <a:solidFill>
              <a:srgbClr val="1F2937"/>
            </a:solidFill>
          </a:ln>
        </p:spPr>
      </p:sp>
      <p:sp>
        <p:nvSpPr>
          <p:cNvPr id="25" name="Diagram label: 1.5 V cell&#10;in holder">
            <a:extLst xmlns:a="http://schemas.openxmlformats.org/drawingml/2006/main">
              <a:ext uri="{FF2B5EF4-FFF2-40B4-BE49-F238E27FC236}">
                <a16:creationId xmlns:a16="http://schemas.microsoft.com/office/drawing/2014/main" id="{C5AA56E1-6851-488E-A348-A0DC35B9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581" y="3774962"/>
            <a:ext cx="1611766" cy="525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1.5 V cell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 holder</a:t>
            </a:r>
          </a:p>
        </p:txBody>
      </p:sp>
      <p:sp>
        <p:nvSpPr>
          <p:cNvPr id="2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82D8E2E7-E19D-4F52-9C1C-B91014A9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5155" y="2723810"/>
            <a:ext cx="1541689" cy="350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0D6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27" name="Diagram label: Test sample">
            <a:extLst xmlns:a="http://schemas.openxmlformats.org/drawingml/2006/main">
              <a:ext uri="{FF2B5EF4-FFF2-40B4-BE49-F238E27FC236}">
                <a16:creationId xmlns:a16="http://schemas.microsoft.com/office/drawing/2014/main" id="{5E9BFC63-D8DF-4528-98BD-214DB782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040" y="3179309"/>
            <a:ext cx="1821996" cy="350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Test sample</a:t>
            </a:r>
          </a:p>
        </p:txBody>
      </p:sp>
      <p:sp>
        <p:nvSpPr>
          <p:cNvPr id="2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3570B2F0-4BFA-4DED-945F-D1AB07E6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8457" y="3599770"/>
            <a:ext cx="560614" cy="5606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B3"/>
          </a:solidFill>
          <a:ln xmlns:a="http://schemas.openxmlformats.org/drawingml/2006/main" w="21023">
            <a:solidFill>
              <a:srgbClr val="C9803B"/>
            </a:solidFill>
          </a:ln>
        </p:spPr>
      </p:sp>
      <p:sp>
        <p:nvSpPr>
          <p:cNvPr id="29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F3B7A1F1-5FD4-4477-8915-DBCC1BE1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22549" y="3683862"/>
            <a:ext cx="392430" cy="3924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023">
            <a:solidFill>
              <a:srgbClr val="1F2937"/>
            </a:solidFill>
          </a:ln>
        </p:spPr>
      </p:sp>
      <p:sp>
        <p:nvSpPr>
          <p:cNvPr id="3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C49C9AC-7E8E-4527-A0F7-99BEB7DE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422549" y="3683862"/>
            <a:ext cx="392430" cy="3924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023">
            <a:solidFill>
              <a:srgbClr val="1F2937"/>
            </a:solidFill>
          </a:ln>
        </p:spPr>
      </p:sp>
      <p:sp>
        <p:nvSpPr>
          <p:cNvPr id="31" name="Diagram label: Matching&#10;lamp">
            <a:extLst xmlns:a="http://schemas.openxmlformats.org/drawingml/2006/main">
              <a:ext uri="{FF2B5EF4-FFF2-40B4-BE49-F238E27FC236}">
                <a16:creationId xmlns:a16="http://schemas.microsoft.com/office/drawing/2014/main" id="{0C92B93A-1C45-4168-A519-B1C174D5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10000"/>
            <a:ext cx="1156267" cy="59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Matching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lamp</a:t>
            </a:r>
          </a:p>
        </p:txBody>
      </p:sp>
      <p:sp>
        <p:nvSpPr>
          <p:cNvPr id="32" name="Diagram label: Switch closed for test">
            <a:extLst xmlns:a="http://schemas.openxmlformats.org/drawingml/2006/main">
              <a:ext uri="{FF2B5EF4-FFF2-40B4-BE49-F238E27FC236}">
                <a16:creationId xmlns:a16="http://schemas.microsoft.com/office/drawing/2014/main" id="{A8D960A3-39CE-495A-9303-6F1733C8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887" y="5085398"/>
            <a:ext cx="2102304" cy="350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Switch closed for test</a:t>
            </a:r>
          </a:p>
        </p:txBody>
      </p:sp>
      <p:sp>
        <p:nvSpPr>
          <p:cNvPr id="33" name="Diagram label: Crocodile clips touch the sample">
            <a:extLst xmlns:a="http://schemas.openxmlformats.org/drawingml/2006/main">
              <a:ext uri="{FF2B5EF4-FFF2-40B4-BE49-F238E27FC236}">
                <a16:creationId xmlns:a16="http://schemas.microsoft.com/office/drawing/2014/main" id="{57D83D81-67CE-4389-A821-2AD29A5D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4080" y="2408464"/>
            <a:ext cx="3223532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Crocodile clips touch the sample</a:t>
            </a:r>
          </a:p>
        </p:txBody>
      </p:sp>
      <p:sp>
        <p:nvSpPr>
          <p:cNvPr id="34" name="The sample bridges a gap in the circuit.  The lamp stays in the ">
            <a:extLst xmlns:a="http://schemas.openxmlformats.org/drawingml/2006/main">
              <a:ext uri="{FF2B5EF4-FFF2-40B4-BE49-F238E27FC236}">
                <a16:creationId xmlns:a16="http://schemas.microsoft.com/office/drawing/2014/main" id="{092BFC17-3305-48B1-9111-511C6F81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sample bridges a gap in the circuit. The lamp stays in the loop. A good connection is needed at every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join.</a:t>
            </a:r>
          </a:p>
        </p:txBody>
      </p:sp>
    </p:spTree>
    <p:extLst>
      <p:ext uri="{BB962C8B-B14F-4D97-AF65-F5344CB8AC3E}">
        <p14:creationId xmlns:p14="http://schemas.microsoft.com/office/powerpoint/2010/main" val="18322231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86AEEEE5-DEB7-474A-BA71-A9379E9A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B68F0A05-FAAE-4AA6-9F50-AE69575D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6A86419-DE6F-40FB-BD5A-33539D6B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0C28167B-75D8-4B63-A479-6EFB7E7E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9EDAC383-C22E-4DC4-9920-0AAAC631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One lead needs two properties">
            <a:extLst xmlns:a="http://schemas.openxmlformats.org/drawingml/2006/main">
              <a:ext uri="{FF2B5EF4-FFF2-40B4-BE49-F238E27FC236}">
                <a16:creationId xmlns:a16="http://schemas.microsoft.com/office/drawing/2014/main" id="{4BFF809B-6728-40DC-94ED-2C05DCEF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One lead needs two properties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D97C8700-289B-4792-BCCD-AFB279FE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Circuit fault clinic">
            <a:extLst xmlns:a="http://schemas.openxmlformats.org/drawingml/2006/main">
              <a:ext uri="{FF2B5EF4-FFF2-40B4-BE49-F238E27FC236}">
                <a16:creationId xmlns:a16="http://schemas.microsoft.com/office/drawing/2014/main" id="{05007C98-81F4-40C8-994A-098B6D95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Circuit fault clinic</a:t>
            </a:r>
          </a:p>
        </p:txBody>
      </p:sp>
      <p:sp>
        <p:nvSpPr>
          <p:cNvPr id="9" name="4 / 15">
            <a:extLst xmlns:a="http://schemas.openxmlformats.org/drawingml/2006/main">
              <a:ext uri="{FF2B5EF4-FFF2-40B4-BE49-F238E27FC236}">
                <a16:creationId xmlns:a16="http://schemas.microsoft.com/office/drawing/2014/main" id="{59FE1E67-7E11-446B-AF75-B3AFF81C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4 / 15</a:t>
            </a:r>
          </a:p>
        </p:txBody>
      </p:sp>
      <p:sp>
        <p:nvSpPr>
          <p:cNvPr id="10" name="Diagram label: Choose a material for its job">
            <a:extLst xmlns:a="http://schemas.openxmlformats.org/drawingml/2006/main">
              <a:ext uri="{FF2B5EF4-FFF2-40B4-BE49-F238E27FC236}">
                <a16:creationId xmlns:a16="http://schemas.microsoft.com/office/drawing/2014/main" id="{3328692B-09C7-459B-B799-A45DA999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506" y="2023042"/>
            <a:ext cx="6306911" cy="350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7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a material for its job</a:t>
            </a:r>
          </a:p>
        </p:txBody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99F0FF3E-D0C3-4698-9412-A8F8DE2D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005" y="2899002"/>
            <a:ext cx="5115605" cy="1681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0D6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890D93E3-DA61-47E8-8DC7-D9A1909F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005" y="3459616"/>
            <a:ext cx="5115605" cy="5606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854A"/>
          </a:solidFill>
          <a:ln xmlns:a="http://schemas.openxmlformats.org/drawingml/2006/main" w="21023">
            <a:solidFill>
              <a:srgbClr val="83552F"/>
            </a:solidFill>
          </a:ln>
        </p:spPr>
      </p:sp>
      <p:sp>
        <p:nvSpPr>
          <p:cNvPr id="13" name="Diagram label: Plastic outer layer: electrical insulation">
            <a:extLst xmlns:a="http://schemas.openxmlformats.org/drawingml/2006/main">
              <a:ext uri="{FF2B5EF4-FFF2-40B4-BE49-F238E27FC236}">
                <a16:creationId xmlns:a16="http://schemas.microsoft.com/office/drawing/2014/main" id="{BECBF452-09B6-49E5-857E-A03179AF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2969079"/>
            <a:ext cx="4484914" cy="350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4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Plastic outer layer: electrical insulation</a:t>
            </a:r>
          </a:p>
        </p:txBody>
      </p:sp>
      <p:sp>
        <p:nvSpPr>
          <p:cNvPr id="14" name="Diagram label: Copper inner path: electrical conductor">
            <a:extLst xmlns:a="http://schemas.openxmlformats.org/drawingml/2006/main">
              <a:ext uri="{FF2B5EF4-FFF2-40B4-BE49-F238E27FC236}">
                <a16:creationId xmlns:a16="http://schemas.microsoft.com/office/drawing/2014/main" id="{10664615-7DBB-4FA5-828B-C03ABF7C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8504" y="3599770"/>
            <a:ext cx="4204607" cy="315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4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Copper inner path: electrical conductor</a:t>
            </a:r>
          </a:p>
        </p:txBody>
      </p:sp>
      <p:sp>
        <p:nvSpPr>
          <p:cNvPr id="1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29AD4558-61A7-451E-A8A0-A38AD9D1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48688" y="3739923"/>
            <a:ext cx="50735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046">
            <a:solidFill>
              <a:srgbClr val="C9803B"/>
            </a:solidFill>
          </a:ln>
        </p:spPr>
      </p:sp>
      <p:sp>
        <p:nvSpPr>
          <p:cNvPr id="16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48C322E1-71D0-41A5-8A08-6690FF55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026611" y="3681059"/>
            <a:ext cx="117729" cy="117729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17" name="Diagram label: Cutaway model: sizes are enlarged.&#10;Do not cut or open real electrical cables.">
            <a:extLst xmlns:a="http://schemas.openxmlformats.org/drawingml/2006/main">
              <a:ext uri="{FF2B5EF4-FFF2-40B4-BE49-F238E27FC236}">
                <a16:creationId xmlns:a16="http://schemas.microsoft.com/office/drawing/2014/main" id="{9C70FC39-CCE0-4579-9731-A6D33660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737" y="4861152"/>
            <a:ext cx="6061642" cy="525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Cutaway model: sizes are enlarged.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Do not cut or open real electrical cables.</a:t>
            </a:r>
          </a:p>
        </p:txBody>
      </p:sp>
      <p:sp>
        <p:nvSpPr>
          <p:cNvPr id="18" name="Copper provides a conducting path.  Plastic insulates the outsid">
            <a:extLst xmlns:a="http://schemas.openxmlformats.org/drawingml/2006/main">
              <a:ext uri="{FF2B5EF4-FFF2-40B4-BE49-F238E27FC236}">
                <a16:creationId xmlns:a16="http://schemas.microsoft.com/office/drawing/2014/main" id="{A4B3AB22-F961-4270-8BC5-E6A9DA73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Copper provides a conducting path. Plastic insulates the outside. Both material choices serve a different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purpose.</a:t>
            </a:r>
          </a:p>
        </p:txBody>
      </p:sp>
    </p:spTree>
    <p:extLst>
      <p:ext uri="{BB962C8B-B14F-4D97-AF65-F5344CB8AC3E}">
        <p14:creationId xmlns:p14="http://schemas.microsoft.com/office/powerpoint/2010/main" val="18199746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B973EF41-8B8C-495C-845B-ABC30E17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91B94A78-ED8A-4787-B85B-12555CA0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C7823C0-730F-4AED-84AD-5EB3DEFB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DF3306D3-BFF7-429F-8DC0-F406BB0C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52B41C84-7AD4-4E6D-83FF-A4938568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Do not trust a single dark lamp">
            <a:extLst xmlns:a="http://schemas.openxmlformats.org/drawingml/2006/main">
              <a:ext uri="{FF2B5EF4-FFF2-40B4-BE49-F238E27FC236}">
                <a16:creationId xmlns:a16="http://schemas.microsoft.com/office/drawing/2014/main" id="{5E6619A9-9B8B-4CCA-BF2F-D28F5799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Do not trust a single dark lamp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B3391CE5-DA23-4535-953B-48E41D62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Circuit fault clinic">
            <a:extLst xmlns:a="http://schemas.openxmlformats.org/drawingml/2006/main">
              <a:ext uri="{FF2B5EF4-FFF2-40B4-BE49-F238E27FC236}">
                <a16:creationId xmlns:a16="http://schemas.microsoft.com/office/drawing/2014/main" id="{BA208FDE-8AC0-46BA-A1D0-A6777B5D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Circuit fault clinic</a:t>
            </a:r>
          </a:p>
        </p:txBody>
      </p:sp>
      <p:sp>
        <p:nvSpPr>
          <p:cNvPr id="9" name="5 / 15">
            <a:extLst xmlns:a="http://schemas.openxmlformats.org/drawingml/2006/main">
              <a:ext uri="{FF2B5EF4-FFF2-40B4-BE49-F238E27FC236}">
                <a16:creationId xmlns:a16="http://schemas.microsoft.com/office/drawing/2014/main" id="{B68517E4-E9B9-4778-A6F5-195736E7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5 / 15</a:t>
            </a:r>
          </a:p>
        </p:txBody>
      </p:sp>
      <p:sp>
        <p:nvSpPr>
          <p:cNvPr id="10" name="Diagram label: Are the clips touching the material we mean?">
            <a:extLst xmlns:a="http://schemas.openxmlformats.org/drawingml/2006/main">
              <a:ext uri="{FF2B5EF4-FFF2-40B4-BE49-F238E27FC236}">
                <a16:creationId xmlns:a16="http://schemas.microsoft.com/office/drawing/2014/main" id="{D5F272CC-8737-440C-92D2-C57F2879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2034523"/>
            <a:ext cx="6720228" cy="373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81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81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Are the clips touching the material we mean?</a:t>
            </a:r>
          </a:p>
        </p:txBody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4DD250B9-DAEA-4D3F-A930-05F1E5B2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559" y="3191896"/>
            <a:ext cx="2538753" cy="8586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0D6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C64B7859-5154-40B7-9482-342CA1BD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901" y="3490572"/>
            <a:ext cx="2016068" cy="26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BCC6"/>
          </a:solidFill>
          <a:ln xmlns:a="http://schemas.openxmlformats.org/drawingml/2006/main" w="22401">
            <a:solidFill>
              <a:srgbClr val="66788A"/>
            </a:solidFill>
          </a:ln>
        </p:spPr>
      </p:sp>
      <p:sp>
        <p:nvSpPr>
          <p:cNvPr id="1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36DD023-F81F-4FF6-91A1-89230595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19913" y="2631877"/>
            <a:ext cx="953" cy="5600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4802">
            <a:solidFill>
              <a:srgbClr val="1F2937"/>
            </a:solidFill>
          </a:ln>
        </p:spPr>
      </p:sp>
      <p:sp>
        <p:nvSpPr>
          <p:cNvPr id="1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1F706B8A-2D17-4920-8857-D59AE69C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863958" y="2631877"/>
            <a:ext cx="953" cy="5600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4802">
            <a:solidFill>
              <a:srgbClr val="1F2937"/>
            </a:solidFill>
          </a:ln>
        </p:spPr>
      </p:sp>
      <p:sp>
        <p:nvSpPr>
          <p:cNvPr id="15" name="Diagram label: Clips touch coating.&#10;Metal core is not connected.&#10;Result: uncertain for the metal.">
            <a:extLst xmlns:a="http://schemas.openxmlformats.org/drawingml/2006/main">
              <a:ext uri="{FF2B5EF4-FFF2-40B4-BE49-F238E27FC236}">
                <a16:creationId xmlns:a16="http://schemas.microsoft.com/office/drawing/2014/main" id="{A03432D4-E270-47B2-92B7-E765CCBA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221" y="4349268"/>
            <a:ext cx="2912099" cy="896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Clips touch coating.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Metal core is not connected.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Result: uncertain for the metal.</a:t>
            </a:r>
          </a:p>
        </p:txBody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5950E957-D184-4CBA-B044-D2424544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019" y="3191896"/>
            <a:ext cx="2538753" cy="8586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0D6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7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4B57D2F-DC85-4BDA-9212-EA925171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011" y="3490572"/>
            <a:ext cx="2986768" cy="26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BCC6"/>
          </a:solidFill>
          <a:ln xmlns:a="http://schemas.openxmlformats.org/drawingml/2006/main" w="22401">
            <a:solidFill>
              <a:srgbClr val="66788A"/>
            </a:solidFill>
          </a:ln>
        </p:spPr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4B9C57B5-9192-40A7-9CAB-8DF16A13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06681" y="2631877"/>
            <a:ext cx="953" cy="8586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4802">
            <a:solidFill>
              <a:srgbClr val="1F2937"/>
            </a:solidFill>
          </a:ln>
        </p:spPr>
      </p:sp>
      <p:sp>
        <p:nvSpPr>
          <p:cNvPr id="19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F40775BD-A53F-4F5A-8F74-C2192B43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44110" y="2631877"/>
            <a:ext cx="953" cy="8586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4802">
            <a:solidFill>
              <a:srgbClr val="1F2937"/>
            </a:solidFill>
          </a:ln>
        </p:spPr>
      </p:sp>
      <p:sp>
        <p:nvSpPr>
          <p:cNvPr id="20" name="Diagram label: Clips touch exposed metal.&#10;Check with a known conductor.&#10;Then interpret the lamp.">
            <a:extLst xmlns:a="http://schemas.openxmlformats.org/drawingml/2006/main">
              <a:ext uri="{FF2B5EF4-FFF2-40B4-BE49-F238E27FC236}">
                <a16:creationId xmlns:a16="http://schemas.microsoft.com/office/drawing/2014/main" id="{836BA40C-F453-49C1-8CB3-44369489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6681" y="4349268"/>
            <a:ext cx="2912099" cy="896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Clips touch exposed metal.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with a known conductor.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Then interpret the lamp.</a:t>
            </a:r>
          </a:p>
        </p:txBody>
      </p:sp>
      <p:sp>
        <p:nvSpPr>
          <p:cNvPr id="21" name="Diagram label: Use prepared samples only. No scraping or cutting.">
            <a:extLst xmlns:a="http://schemas.openxmlformats.org/drawingml/2006/main">
              <a:ext uri="{FF2B5EF4-FFF2-40B4-BE49-F238E27FC236}">
                <a16:creationId xmlns:a16="http://schemas.microsoft.com/office/drawing/2014/main" id="{221294DB-C88F-494C-AF31-B97E6BCD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555" y="5431971"/>
            <a:ext cx="6570889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prepared samples only. No scraping or cutting.</a:t>
            </a:r>
          </a:p>
        </p:txBody>
      </p:sp>
      <p:sp>
        <p:nvSpPr>
          <p:cNvPr id="22" name="Check copper before the sample.  Check the sample contact, then ">
            <a:extLst xmlns:a="http://schemas.openxmlformats.org/drawingml/2006/main">
              <a:ext uri="{FF2B5EF4-FFF2-40B4-BE49-F238E27FC236}">
                <a16:creationId xmlns:a16="http://schemas.microsoft.com/office/drawing/2014/main" id="{7842ACF3-DCF6-48C5-9483-E3D74744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copper before the sample. Check the sample contact, then observe. Check copper again afterwards.</a:t>
            </a:r>
          </a:p>
        </p:txBody>
      </p:sp>
    </p:spTree>
    <p:extLst>
      <p:ext uri="{BB962C8B-B14F-4D97-AF65-F5344CB8AC3E}">
        <p14:creationId xmlns:p14="http://schemas.microsoft.com/office/powerpoint/2010/main" val="7780148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48C0CBEE-9752-40B9-B2C2-A8C08EBF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4519797-FE4D-458D-B75D-0A5A37B5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B09B598A-7A34-497F-A3AF-1BDA708C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942B92DC-5B2B-459B-BC57-3A1032EF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01534CA1-1E10-4014-BE7B-8DFE904F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8 min">
            <a:extLst xmlns:a="http://schemas.openxmlformats.org/drawingml/2006/main">
              <a:ext uri="{FF2B5EF4-FFF2-40B4-BE49-F238E27FC236}">
                <a16:creationId xmlns:a16="http://schemas.microsoft.com/office/drawing/2014/main" id="{F06CBB7E-91EC-4B6C-82E4-53BA349E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8 min</a:t>
            </a:r>
          </a:p>
        </p:txBody>
      </p:sp>
      <p:sp>
        <p:nvSpPr>
          <p:cNvPr id="7" name="Fault clinic: sort the case cards">
            <a:extLst xmlns:a="http://schemas.openxmlformats.org/drawingml/2006/main">
              <a:ext uri="{FF2B5EF4-FFF2-40B4-BE49-F238E27FC236}">
                <a16:creationId xmlns:a16="http://schemas.microsoft.com/office/drawing/2014/main" id="{DEBD3ED3-8296-41BD-ABFA-3B6CA78E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Fault clinic: sort the case cards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0B25E9A8-3860-432C-BF61-64208A2F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Circuit fault clinic">
            <a:extLst xmlns:a="http://schemas.openxmlformats.org/drawingml/2006/main">
              <a:ext uri="{FF2B5EF4-FFF2-40B4-BE49-F238E27FC236}">
                <a16:creationId xmlns:a16="http://schemas.microsoft.com/office/drawing/2014/main" id="{499F3584-C365-44F6-9F25-BC932A29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Circuit fault clinic</a:t>
            </a:r>
          </a:p>
        </p:txBody>
      </p:sp>
      <p:sp>
        <p:nvSpPr>
          <p:cNvPr id="10" name="6 / 15">
            <a:extLst xmlns:a="http://schemas.openxmlformats.org/drawingml/2006/main">
              <a:ext uri="{FF2B5EF4-FFF2-40B4-BE49-F238E27FC236}">
                <a16:creationId xmlns:a16="http://schemas.microsoft.com/office/drawing/2014/main" id="{26F45FE8-C824-46D0-8736-AA8AEA32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6 / 15</a:t>
            </a:r>
          </a:p>
        </p:txBody>
      </p:sp>
      <p:sp>
        <p:nvSpPr>
          <p:cNvPr id="11" name="Use the five cases on page 1.">
            <a:extLst xmlns:a="http://schemas.openxmlformats.org/drawingml/2006/main">
              <a:ext uri="{FF2B5EF4-FFF2-40B4-BE49-F238E27FC236}">
                <a16:creationId xmlns:a16="http://schemas.microsoft.com/office/drawing/2014/main" id="{0EC3C370-62CF-4D84-96BB-35813905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the five cases on page 1.</a:t>
            </a:r>
          </a:p>
        </p:txBody>
      </p:sp>
      <p:sp>
        <p:nvSpPr>
          <p:cNvPr id="12" name="Sort: conductor evidence / insulator evidence / uncertain.">
            <a:extLst xmlns:a="http://schemas.openxmlformats.org/drawingml/2006/main">
              <a:ext uri="{FF2B5EF4-FFF2-40B4-BE49-F238E27FC236}">
                <a16:creationId xmlns:a16="http://schemas.microsoft.com/office/drawing/2014/main" id="{264D92D5-A8FE-4D33-B6B4-DF19E3FE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Sort: conductor evidence / insulator evidence / uncertain.</a:t>
            </a:r>
          </a:p>
        </p:txBody>
      </p:sp>
      <p:sp>
        <p:nvSpPr>
          <p:cNvPr id="13" name="Give the exact clue that supports your decision.">
            <a:extLst xmlns:a="http://schemas.openxmlformats.org/drawingml/2006/main">
              <a:ext uri="{FF2B5EF4-FFF2-40B4-BE49-F238E27FC236}">
                <a16:creationId xmlns:a16="http://schemas.microsoft.com/office/drawing/2014/main" id="{2C16AEC1-CE55-4965-A5D3-4BD19BE8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Give the exact clue that supports your decision.</a:t>
            </a:r>
          </a:p>
        </p:txBody>
      </p:sp>
    </p:spTree>
    <p:extLst>
      <p:ext uri="{BB962C8B-B14F-4D97-AF65-F5344CB8AC3E}">
        <p14:creationId xmlns:p14="http://schemas.microsoft.com/office/powerpoint/2010/main" val="16091438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BC9643D5-8BAD-4637-A38D-65E0D027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DC3DDDE6-6595-47D4-A7E4-D7B385B9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12A22F7-99DC-45C1-B096-5FF8399A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23814E8B-049F-4021-96F3-C948917D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CF02E6FC-928C-4398-808E-E7E4CDC9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Repair the reasoning, not the sample">
            <a:extLst xmlns:a="http://schemas.openxmlformats.org/drawingml/2006/main">
              <a:ext uri="{FF2B5EF4-FFF2-40B4-BE49-F238E27FC236}">
                <a16:creationId xmlns:a16="http://schemas.microsoft.com/office/drawing/2014/main" id="{F4A61EDE-5C53-49A7-AE58-474F92AA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Repair the reasoning, not the sample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6FF64ACA-B79E-4317-B016-EC244C6F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Circuit fault clinic">
            <a:extLst xmlns:a="http://schemas.openxmlformats.org/drawingml/2006/main">
              <a:ext uri="{FF2B5EF4-FFF2-40B4-BE49-F238E27FC236}">
                <a16:creationId xmlns:a16="http://schemas.microsoft.com/office/drawing/2014/main" id="{78AEE75B-5E67-4D26-ADBB-00849E8B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Circuit fault clinic</a:t>
            </a:r>
          </a:p>
        </p:txBody>
      </p:sp>
      <p:sp>
        <p:nvSpPr>
          <p:cNvPr id="9" name="7 / 15">
            <a:extLst xmlns:a="http://schemas.openxmlformats.org/drawingml/2006/main">
              <a:ext uri="{FF2B5EF4-FFF2-40B4-BE49-F238E27FC236}">
                <a16:creationId xmlns:a16="http://schemas.microsoft.com/office/drawing/2014/main" id="{C723178E-C3A7-494B-B53B-5A2F378D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7 / 15</a:t>
            </a:r>
          </a:p>
        </p:txBody>
      </p:sp>
      <p:sp>
        <p:nvSpPr>
          <p:cNvPr id="10" name="C: foil dark; copper control also dark.">
            <a:extLst xmlns:a="http://schemas.openxmlformats.org/drawingml/2006/main">
              <a:ext uri="{FF2B5EF4-FFF2-40B4-BE49-F238E27FC236}">
                <a16:creationId xmlns:a16="http://schemas.microsoft.com/office/drawing/2014/main" id="{78ADE41F-6C5E-4255-91B5-554C617C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C: foil dark; copper control also dark.</a:t>
            </a:r>
          </a:p>
        </p:txBody>
      </p:sp>
      <p:sp>
        <p:nvSpPr>
          <p:cNvPr id="11" name="D: coated metal dark; clips touch the coating.">
            <a:extLst xmlns:a="http://schemas.openxmlformats.org/drawingml/2006/main">
              <a:ext uri="{FF2B5EF4-FFF2-40B4-BE49-F238E27FC236}">
                <a16:creationId xmlns:a16="http://schemas.microsoft.com/office/drawing/2014/main" id="{01ABEF88-59B7-4E23-9B25-28FF2AE4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D: coated metal dark; clips touch the coating.</a:t>
            </a:r>
          </a:p>
        </p:txBody>
      </p:sp>
      <p:sp>
        <p:nvSpPr>
          <p:cNvPr id="12" name="What should we do before making a claim?">
            <a:extLst xmlns:a="http://schemas.openxmlformats.org/drawingml/2006/main">
              <a:ext uri="{FF2B5EF4-FFF2-40B4-BE49-F238E27FC236}">
                <a16:creationId xmlns:a16="http://schemas.microsoft.com/office/drawing/2014/main" id="{8BD9BEE1-7AEC-4522-A621-8C2E6499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What should we do before making a claim?</a:t>
            </a:r>
          </a:p>
        </p:txBody>
      </p:sp>
    </p:spTree>
    <p:extLst>
      <p:ext uri="{BB962C8B-B14F-4D97-AF65-F5344CB8AC3E}">
        <p14:creationId xmlns:p14="http://schemas.microsoft.com/office/powerpoint/2010/main" val="17640120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E7C8537B-7352-4A85-AC4A-362DD100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C0A8BFCC-F8B6-4DA1-BC58-D25F455C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D211989-774E-4131-9BE1-FC3480FB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56A6B2B4-278D-4972-A9F4-859B5691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B641835F-1D96-48CB-9DDF-057EF6CF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Build the class evidence table">
            <a:extLst xmlns:a="http://schemas.openxmlformats.org/drawingml/2006/main">
              <a:ext uri="{FF2B5EF4-FFF2-40B4-BE49-F238E27FC236}">
                <a16:creationId xmlns:a16="http://schemas.microsoft.com/office/drawing/2014/main" id="{FF6990FF-26E5-48CA-B6DA-2C238BB4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Build the class evidence table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60AA7955-663C-41B6-9BC9-01A8E25E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Circuit fault clinic">
            <a:extLst xmlns:a="http://schemas.openxmlformats.org/drawingml/2006/main">
              <a:ext uri="{FF2B5EF4-FFF2-40B4-BE49-F238E27FC236}">
                <a16:creationId xmlns:a16="http://schemas.microsoft.com/office/drawing/2014/main" id="{CA493CD3-83E4-4A4D-B757-AA686460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Circuit fault clinic</a:t>
            </a:r>
          </a:p>
        </p:txBody>
      </p:sp>
      <p:sp>
        <p:nvSpPr>
          <p:cNvPr id="9" name="8 / 15">
            <a:extLst xmlns:a="http://schemas.openxmlformats.org/drawingml/2006/main">
              <a:ext uri="{FF2B5EF4-FFF2-40B4-BE49-F238E27FC236}">
                <a16:creationId xmlns:a16="http://schemas.microsoft.com/office/drawing/2014/main" id="{FAF356D2-A32D-4EA0-8DC8-DE279931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8 / 15</a:t>
            </a:r>
          </a:p>
        </p:txBody>
      </p:sp>
      <p:sp>
        <p:nvSpPr>
          <p:cNvPr id="10" name="Constructed observations from a checked 1.5 V circuit. Known cop">
            <a:extLst xmlns:a="http://schemas.openxmlformats.org/drawingml/2006/main">
              <a:ext uri="{FF2B5EF4-FFF2-40B4-BE49-F238E27FC236}">
                <a16:creationId xmlns:a16="http://schemas.microsoft.com/office/drawing/2014/main" id="{1FAC7482-6453-458C-979C-0723A6A0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Constructed observations from a checked 1.5 V circuit. Known copper lights before and after this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sequence. Use “in this test” when classifying dark results.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533400" y="2581275"/>
          <a:ext xmlns:a="http://schemas.openxmlformats.org/drawingml/2006/main" cx="11125200" cy="2526506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68452"/>
                <a:gridCol w="3921740"/>
                <a:gridCol w="3535008"/>
              </a:tblGrid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Sample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Lamp observation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Contact check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Bare copper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Lights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Valid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Bare aluminium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Lights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Valid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Dry card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No visible glow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Valid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Rigid plastic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No visible glow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Valid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Constructed sample observations; copper controls passed before a">
            <a:extLst xmlns:a="http://schemas.openxmlformats.org/drawingml/2006/main">
              <a:ext uri="{FF2B5EF4-FFF2-40B4-BE49-F238E27FC236}">
                <a16:creationId xmlns:a16="http://schemas.microsoft.com/office/drawing/2014/main" id="{3A847063-4B89-47BA-A9EC-3ACFF751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22081"/>
            <a:ext cx="1112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Constructed sample observations; copper controls passed before and after.</a:t>
            </a:r>
          </a:p>
        </p:txBody>
      </p:sp>
    </p:spTree>
    <p:extLst>
      <p:ext uri="{BB962C8B-B14F-4D97-AF65-F5344CB8AC3E}">
        <p14:creationId xmlns:p14="http://schemas.microsoft.com/office/powerpoint/2010/main" val="10481753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urface">
            <a:extLst xmlns:a="http://schemas.openxmlformats.org/drawingml/2006/main">
              <a:ext uri="{FF2B5EF4-FFF2-40B4-BE49-F238E27FC236}">
                <a16:creationId xmlns:a16="http://schemas.microsoft.com/office/drawing/2014/main" id="{81BAE831-D1B8-4066-BC34-850B5D8D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5E5E961-48C3-4416-B1E8-EEB38A7E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9FB4E6A-1639-44AE-97F4-0443CD38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DBCC34C1-F437-4053-9D47-8D80800E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Hinge">
            <a:extLst xmlns:a="http://schemas.openxmlformats.org/drawingml/2006/main">
              <a:ext uri="{FF2B5EF4-FFF2-40B4-BE49-F238E27FC236}">
                <a16:creationId xmlns:a16="http://schemas.microsoft.com/office/drawing/2014/main" id="{1D4B9F94-C3D4-4F74-90D5-9C0DC839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Hinge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1F5049AF-53F3-460E-BE1D-808D2E37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The control fails. What now?">
            <a:extLst xmlns:a="http://schemas.openxmlformats.org/drawingml/2006/main">
              <a:ext uri="{FF2B5EF4-FFF2-40B4-BE49-F238E27FC236}">
                <a16:creationId xmlns:a16="http://schemas.microsoft.com/office/drawing/2014/main" id="{2FBC9EB4-4FB6-4179-BEDD-14B2DBA6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control fails. What now?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570DB9CE-4D0C-4A02-83C1-BD7FF8E0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Circuit fault clinic">
            <a:extLst xmlns:a="http://schemas.openxmlformats.org/drawingml/2006/main">
              <a:ext uri="{FF2B5EF4-FFF2-40B4-BE49-F238E27FC236}">
                <a16:creationId xmlns:a16="http://schemas.microsoft.com/office/drawing/2014/main" id="{1BE5A632-EDB1-4893-B5E5-9C6DBFA9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Circuit fault clinic</a:t>
            </a:r>
          </a:p>
        </p:txBody>
      </p:sp>
      <p:sp>
        <p:nvSpPr>
          <p:cNvPr id="10" name="9 / 15">
            <a:extLst xmlns:a="http://schemas.openxmlformats.org/drawingml/2006/main">
              <a:ext uri="{FF2B5EF4-FFF2-40B4-BE49-F238E27FC236}">
                <a16:creationId xmlns:a16="http://schemas.microsoft.com/office/drawing/2014/main" id="{A099F37F-A647-4A26-B526-665FC8FB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9 / 15</a:t>
            </a:r>
          </a:p>
        </p:txBody>
      </p:sp>
      <p:sp>
        <p:nvSpPr>
          <p:cNvPr id="11" name="A plastic sample gives no glow. The copper control also gives no">
            <a:extLst xmlns:a="http://schemas.openxmlformats.org/drawingml/2006/main">
              <a:ext uri="{FF2B5EF4-FFF2-40B4-BE49-F238E27FC236}">
                <a16:creationId xmlns:a16="http://schemas.microsoft.com/office/drawing/2014/main" id="{DAD85F7E-A1CD-470B-A576-3F72FA42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plastic sample gives no glow. The copper control also gives no glow.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A5B8C163-4BBC-48C8-9631-489C362B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112520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47996D22-57C7-4900-BCC9-F817B4F1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715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4" name="A">
            <a:extLst xmlns:a="http://schemas.openxmlformats.org/drawingml/2006/main">
              <a:ext uri="{FF2B5EF4-FFF2-40B4-BE49-F238E27FC236}">
                <a16:creationId xmlns:a16="http://schemas.microsoft.com/office/drawing/2014/main" id="{4BA7B001-7AC3-4C71-B6FB-EB501226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95550"/>
            <a:ext cx="476250" cy="702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5" name="Plastic is definitely the cause.">
            <a:extLst xmlns:a="http://schemas.openxmlformats.org/drawingml/2006/main">
              <a:ext uri="{FF2B5EF4-FFF2-40B4-BE49-F238E27FC236}">
                <a16:creationId xmlns:a16="http://schemas.microsoft.com/office/drawing/2014/main" id="{B5A8040D-E9A7-45BB-A022-17A8981A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95550"/>
            <a:ext cx="10144125" cy="683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Plastic is definitely the cause.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467EFF64-12E0-4F68-A7C3-172F9369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9944"/>
            <a:ext cx="1112520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E447390E-172C-40F0-877B-6EAD5CB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9944"/>
            <a:ext cx="5715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8" name="B">
            <a:extLst xmlns:a="http://schemas.openxmlformats.org/drawingml/2006/main">
              <a:ext uri="{FF2B5EF4-FFF2-40B4-BE49-F238E27FC236}">
                <a16:creationId xmlns:a16="http://schemas.microsoft.com/office/drawing/2014/main" id="{D033CAA6-97A6-4558-94CD-1AA52B5D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02819"/>
            <a:ext cx="476250" cy="702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9" name="Check the circuit, then repeat the tests.">
            <a:extLst xmlns:a="http://schemas.openxmlformats.org/drawingml/2006/main">
              <a:ext uri="{FF2B5EF4-FFF2-40B4-BE49-F238E27FC236}">
                <a16:creationId xmlns:a16="http://schemas.microsoft.com/office/drawing/2014/main" id="{62167214-60B7-447C-A090-330B4F1D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502819"/>
            <a:ext cx="10144125" cy="683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the circuit, then repeat the tests.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D434C159-E5BB-46B6-A536-386918FF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7213"/>
            <a:ext cx="1112520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962A51E5-B935-4A16-A0FF-E869BF20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7213"/>
            <a:ext cx="5715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2" name="C">
            <a:extLst xmlns:a="http://schemas.openxmlformats.org/drawingml/2006/main">
              <a:ext uri="{FF2B5EF4-FFF2-40B4-BE49-F238E27FC236}">
                <a16:creationId xmlns:a16="http://schemas.microsoft.com/office/drawing/2014/main" id="{30499BBC-6107-455A-B22D-FAAF5366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510088"/>
            <a:ext cx="476250" cy="702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23" name="Copper has become an insulator.">
            <a:extLst xmlns:a="http://schemas.openxmlformats.org/drawingml/2006/main">
              <a:ext uri="{FF2B5EF4-FFF2-40B4-BE49-F238E27FC236}">
                <a16:creationId xmlns:a16="http://schemas.microsoft.com/office/drawing/2014/main" id="{A1F5701B-EBBA-4F4D-ABEE-E1446667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0088"/>
            <a:ext cx="10144125" cy="683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Copper has become an insulator.</a:t>
            </a:r>
          </a:p>
        </p:txBody>
      </p:sp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0CD1B247-215D-4335-9433-F1FC8374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74481"/>
            <a:ext cx="1112520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5" name="surface">
            <a:extLst xmlns:a="http://schemas.openxmlformats.org/drawingml/2006/main">
              <a:ext uri="{FF2B5EF4-FFF2-40B4-BE49-F238E27FC236}">
                <a16:creationId xmlns:a16="http://schemas.microsoft.com/office/drawing/2014/main" id="{7C4B282C-3029-4FC2-9EC0-6AE17BD7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74481"/>
            <a:ext cx="5715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6" name="D">
            <a:extLst xmlns:a="http://schemas.openxmlformats.org/drawingml/2006/main">
              <a:ext uri="{FF2B5EF4-FFF2-40B4-BE49-F238E27FC236}">
                <a16:creationId xmlns:a16="http://schemas.microsoft.com/office/drawing/2014/main" id="{7517242D-A414-4D10-9958-7804A89D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517356"/>
            <a:ext cx="476250" cy="702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D</a:t>
            </a:r>
          </a:p>
        </p:txBody>
      </p:sp>
      <p:sp>
        <p:nvSpPr>
          <p:cNvPr id="27" name="Add many more cells to force a result.">
            <a:extLst xmlns:a="http://schemas.openxmlformats.org/drawingml/2006/main">
              <a:ext uri="{FF2B5EF4-FFF2-40B4-BE49-F238E27FC236}">
                <a16:creationId xmlns:a16="http://schemas.microsoft.com/office/drawing/2014/main" id="{4180DC5D-4FDD-4C8E-9197-1F670CD4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517356"/>
            <a:ext cx="10144125" cy="683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Add many more cells to force a result.</a:t>
            </a:r>
          </a:p>
        </p:txBody>
      </p:sp>
    </p:spTree>
    <p:extLst>
      <p:ext uri="{BB962C8B-B14F-4D97-AF65-F5344CB8AC3E}">
        <p14:creationId xmlns:p14="http://schemas.microsoft.com/office/powerpoint/2010/main" val="19557632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9F27A6AC-192F-430B-B46A-9A6AB3FF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4FB84340-6F98-4F01-AF68-03191D11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5374139B-C547-4B1A-A730-4FD001A3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28872395-CA2B-4C07-8545-136848C5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F55C8F6B-1F44-4E74-BFC9-C6515603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0 min">
            <a:extLst xmlns:a="http://schemas.openxmlformats.org/drawingml/2006/main">
              <a:ext uri="{FF2B5EF4-FFF2-40B4-BE49-F238E27FC236}">
                <a16:creationId xmlns:a16="http://schemas.microsoft.com/office/drawing/2014/main" id="{6884513D-77A3-4887-BE04-BA11FAF0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10 min</a:t>
            </a:r>
          </a:p>
        </p:txBody>
      </p:sp>
      <p:sp>
        <p:nvSpPr>
          <p:cNvPr id="7" name="Make your diagnostic report">
            <a:extLst xmlns:a="http://schemas.openxmlformats.org/drawingml/2006/main">
              <a:ext uri="{FF2B5EF4-FFF2-40B4-BE49-F238E27FC236}">
                <a16:creationId xmlns:a16="http://schemas.microsoft.com/office/drawing/2014/main" id="{EAD51FCE-A869-4637-BBDE-5BAC892B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Make your diagnostic report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B663EBFD-422B-4FD0-B95D-ACB8A48C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Circuit fault clinic">
            <a:extLst xmlns:a="http://schemas.openxmlformats.org/drawingml/2006/main">
              <a:ext uri="{FF2B5EF4-FFF2-40B4-BE49-F238E27FC236}">
                <a16:creationId xmlns:a16="http://schemas.microsoft.com/office/drawing/2014/main" id="{79A1CB73-116D-4C59-8E83-BAC1D396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Circuit fault clinic</a:t>
            </a:r>
          </a:p>
        </p:txBody>
      </p:sp>
      <p:sp>
        <p:nvSpPr>
          <p:cNvPr id="10" name="10 / 15">
            <a:extLst xmlns:a="http://schemas.openxmlformats.org/drawingml/2006/main">
              <a:ext uri="{FF2B5EF4-FFF2-40B4-BE49-F238E27FC236}">
                <a16:creationId xmlns:a16="http://schemas.microsoft.com/office/drawing/2014/main" id="{398727C7-EE4D-43CB-8877-9ADBDF9F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10 / 15</a:t>
            </a:r>
          </a:p>
        </p:txBody>
      </p:sp>
      <p:sp>
        <p:nvSpPr>
          <p:cNvPr id="11" name="Choose one response route with page 1 beside it.">
            <a:extLst xmlns:a="http://schemas.openxmlformats.org/drawingml/2006/main">
              <a:ext uri="{FF2B5EF4-FFF2-40B4-BE49-F238E27FC236}">
                <a16:creationId xmlns:a16="http://schemas.microsoft.com/office/drawing/2014/main" id="{9C55DAA0-B5CE-49C4-92CB-A71746B7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one response route with page 1 beside it.</a:t>
            </a:r>
          </a:p>
        </p:txBody>
      </p:sp>
      <p:sp>
        <p:nvSpPr>
          <p:cNvPr id="12" name="Interpret the evidence, then design a two-layer lead.">
            <a:extLst xmlns:a="http://schemas.openxmlformats.org/drawingml/2006/main">
              <a:ext uri="{FF2B5EF4-FFF2-40B4-BE49-F238E27FC236}">
                <a16:creationId xmlns:a16="http://schemas.microsoft.com/office/drawing/2014/main" id="{2B9305CC-AB6D-4D74-8A0E-0064E3BB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Interpret the evidence, then design a two-layer lead.</a:t>
            </a:r>
          </a:p>
        </p:txBody>
      </p:sp>
      <p:sp>
        <p:nvSpPr>
          <p:cNvPr id="13" name="State one result that must remain uncertain.">
            <a:extLst xmlns:a="http://schemas.openxmlformats.org/drawingml/2006/main">
              <a:ext uri="{FF2B5EF4-FFF2-40B4-BE49-F238E27FC236}">
                <a16:creationId xmlns:a16="http://schemas.microsoft.com/office/drawing/2014/main" id="{45FAB551-1213-4A40-9F76-3A6005D0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State one result that must remain uncertain.</a:t>
            </a:r>
          </a:p>
        </p:txBody>
      </p:sp>
    </p:spTree>
    <p:extLst>
      <p:ext uri="{BB962C8B-B14F-4D97-AF65-F5344CB8AC3E}">
        <p14:creationId xmlns:p14="http://schemas.microsoft.com/office/powerpoint/2010/main" val="2378458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D7A572F3-B79C-49FE-A94F-7530CB5A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7BB9E1B4-D6DF-4498-BA47-220D0391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BCB6BF7-032B-4C56-9A33-3B8271D4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A4206FD6-E518-40B7-931E-A3E4EA2D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FABC1B29-322F-41A7-A28C-11B019B1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If using the optional kit">
            <a:extLst xmlns:a="http://schemas.openxmlformats.org/drawingml/2006/main">
              <a:ext uri="{FF2B5EF4-FFF2-40B4-BE49-F238E27FC236}">
                <a16:creationId xmlns:a16="http://schemas.microsoft.com/office/drawing/2014/main" id="{1603B106-35DE-41CF-9C46-B7EFCE7E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If using the optional kit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7FE351EF-E214-4398-8D09-271D97B4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Circuit fault clinic">
            <a:extLst xmlns:a="http://schemas.openxmlformats.org/drawingml/2006/main">
              <a:ext uri="{FF2B5EF4-FFF2-40B4-BE49-F238E27FC236}">
                <a16:creationId xmlns:a16="http://schemas.microsoft.com/office/drawing/2014/main" id="{73E16BF3-E08D-43AE-B2CE-5F723ABD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Circuit fault clinic</a:t>
            </a:r>
          </a:p>
        </p:txBody>
      </p:sp>
      <p:sp>
        <p:nvSpPr>
          <p:cNvPr id="9" name="11 / 15">
            <a:extLst xmlns:a="http://schemas.openxmlformats.org/drawingml/2006/main">
              <a:ext uri="{FF2B5EF4-FFF2-40B4-BE49-F238E27FC236}">
                <a16:creationId xmlns:a16="http://schemas.microsoft.com/office/drawing/2014/main" id="{E7827036-7D76-4EAF-849C-3C634E21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11 / 15</a:t>
            </a:r>
          </a:p>
        </p:txBody>
      </p:sp>
      <p:sp>
        <p:nvSpPr>
          <p:cNvPr id="10" name="Copper check → sample → record → copper check.">
            <a:extLst xmlns:a="http://schemas.openxmlformats.org/drawingml/2006/main">
              <a:ext uri="{FF2B5EF4-FFF2-40B4-BE49-F238E27FC236}">
                <a16:creationId xmlns:a16="http://schemas.microsoft.com/office/drawing/2014/main" id="{EC78116C-2FA9-48E5-9B64-A9716A60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Copper check → sample → record → copper check.</a:t>
            </a:r>
          </a:p>
        </p:txBody>
      </p:sp>
      <p:sp>
        <p:nvSpPr>
          <p:cNvPr id="11" name="Switch off for changes; keep the lamp in series.">
            <a:extLst xmlns:a="http://schemas.openxmlformats.org/drawingml/2006/main">
              <a:ext uri="{FF2B5EF4-FFF2-40B4-BE49-F238E27FC236}">
                <a16:creationId xmlns:a16="http://schemas.microsoft.com/office/drawing/2014/main" id="{45F96F2F-524C-42BE-899C-8EFBD088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Switch off for changes; keep the lamp in series.</a:t>
            </a:r>
          </a:p>
        </p:txBody>
      </p:sp>
      <p:sp>
        <p:nvSpPr>
          <p:cNvPr id="12" name="Unexpected result? Mark uncertain and ask the teacher.">
            <a:extLst xmlns:a="http://schemas.openxmlformats.org/drawingml/2006/main">
              <a:ext uri="{FF2B5EF4-FFF2-40B4-BE49-F238E27FC236}">
                <a16:creationId xmlns:a16="http://schemas.microsoft.com/office/drawing/2014/main" id="{76D13661-C559-4FE4-9B47-D661E1C9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Unexpected result? Mark uncertain and ask the teacher.</a:t>
            </a:r>
          </a:p>
        </p:txBody>
      </p:sp>
    </p:spTree>
    <p:extLst>
      <p:ext uri="{BB962C8B-B14F-4D97-AF65-F5344CB8AC3E}">
        <p14:creationId xmlns:p14="http://schemas.microsoft.com/office/powerpoint/2010/main" val="4328951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64451F32-115A-47FB-BB6C-8B7514AD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A63EC027-A9A4-4640-A912-7FD729E2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40817ADC-2ADE-402D-9400-CD29032F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0031BC7F-245C-426A-B61F-8B4A6F9A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C37F44CA-ED05-4C0D-BDA5-F4DF8F24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Use a scientific conclusion">
            <a:extLst xmlns:a="http://schemas.openxmlformats.org/drawingml/2006/main">
              <a:ext uri="{FF2B5EF4-FFF2-40B4-BE49-F238E27FC236}">
                <a16:creationId xmlns:a16="http://schemas.microsoft.com/office/drawing/2014/main" id="{F983F0DA-03EE-4044-893C-570CF31E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a scientific conclusion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1454483E-DE5A-422D-8D01-68A8FFB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Circuit fault clinic">
            <a:extLst xmlns:a="http://schemas.openxmlformats.org/drawingml/2006/main">
              <a:ext uri="{FF2B5EF4-FFF2-40B4-BE49-F238E27FC236}">
                <a16:creationId xmlns:a16="http://schemas.microsoft.com/office/drawing/2014/main" id="{9A4CAFC7-8813-423A-904C-9F5688D6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Circuit fault clinic</a:t>
            </a:r>
          </a:p>
        </p:txBody>
      </p:sp>
      <p:sp>
        <p:nvSpPr>
          <p:cNvPr id="9" name="12 / 15">
            <a:extLst xmlns:a="http://schemas.openxmlformats.org/drawingml/2006/main">
              <a:ext uri="{FF2B5EF4-FFF2-40B4-BE49-F238E27FC236}">
                <a16:creationId xmlns:a16="http://schemas.microsoft.com/office/drawing/2014/main" id="{051B8135-8B2B-4534-AFBF-A3F11A2A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12 / 15</a:t>
            </a:r>
          </a:p>
        </p:txBody>
      </p:sp>
      <p:sp>
        <p:nvSpPr>
          <p:cNvPr id="10" name="“The lamp lit, which supports …”">
            <a:extLst xmlns:a="http://schemas.openxmlformats.org/drawingml/2006/main">
              <a:ext uri="{FF2B5EF4-FFF2-40B4-BE49-F238E27FC236}">
                <a16:creationId xmlns:a16="http://schemas.microsoft.com/office/drawing/2014/main" id="{17CF2F08-0983-4F78-A405-B6B6F3AE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“The lamp lit, which supports …”</a:t>
            </a:r>
          </a:p>
        </p:txBody>
      </p:sp>
      <p:sp>
        <p:nvSpPr>
          <p:cNvPr id="11" name="“No glow with valid controls supports … in this test.”">
            <a:extLst xmlns:a="http://schemas.openxmlformats.org/drawingml/2006/main">
              <a:ext uri="{FF2B5EF4-FFF2-40B4-BE49-F238E27FC236}">
                <a16:creationId xmlns:a16="http://schemas.microsoft.com/office/drawing/2014/main" id="{F1CE45EA-7C6E-4FDD-80C2-F0E27DCF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“No glow with valid controls supports … in this test.”</a:t>
            </a:r>
          </a:p>
        </p:txBody>
      </p:sp>
      <p:sp>
        <p:nvSpPr>
          <p:cNvPr id="12" name="“The control failed, so I cannot yet …”">
            <a:extLst xmlns:a="http://schemas.openxmlformats.org/drawingml/2006/main">
              <a:ext uri="{FF2B5EF4-FFF2-40B4-BE49-F238E27FC236}">
                <a16:creationId xmlns:a16="http://schemas.microsoft.com/office/drawing/2014/main" id="{8256AF6F-6A30-4A03-B1B6-18413308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“The control failed, so I cannot yet …”</a:t>
            </a:r>
          </a:p>
        </p:txBody>
      </p:sp>
    </p:spTree>
    <p:extLst>
      <p:ext uri="{BB962C8B-B14F-4D97-AF65-F5344CB8AC3E}">
        <p14:creationId xmlns:p14="http://schemas.microsoft.com/office/powerpoint/2010/main" val="13725976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3F37A96E-2AEE-400D-A80A-D1AE254F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7F43DFF3-8654-497F-B3EC-CE59C980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80F1144F-3585-48C2-93D2-A8A78366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1DCC1977-8919-47C6-88FA-653ADB3F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A02281DE-421D-4402-B1EC-EBAFB6EC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41171A45-6A92-44A7-97F9-3ABEC192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Compare diagnoses">
            <a:extLst xmlns:a="http://schemas.openxmlformats.org/drawingml/2006/main">
              <a:ext uri="{FF2B5EF4-FFF2-40B4-BE49-F238E27FC236}">
                <a16:creationId xmlns:a16="http://schemas.microsoft.com/office/drawing/2014/main" id="{17C4EA54-91B1-45E9-85D1-34972C1E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Compare diagnoses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6D4A777B-4059-4428-9013-6C57406A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Circuit fault clinic">
            <a:extLst xmlns:a="http://schemas.openxmlformats.org/drawingml/2006/main">
              <a:ext uri="{FF2B5EF4-FFF2-40B4-BE49-F238E27FC236}">
                <a16:creationId xmlns:a16="http://schemas.microsoft.com/office/drawing/2014/main" id="{362C04B8-989E-4D01-A09A-5808CE5D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Circuit fault clinic</a:t>
            </a:r>
          </a:p>
        </p:txBody>
      </p:sp>
      <p:sp>
        <p:nvSpPr>
          <p:cNvPr id="10" name="13 / 15">
            <a:extLst xmlns:a="http://schemas.openxmlformats.org/drawingml/2006/main">
              <a:ext uri="{FF2B5EF4-FFF2-40B4-BE49-F238E27FC236}">
                <a16:creationId xmlns:a16="http://schemas.microsoft.com/office/drawing/2014/main" id="{CC44973D-1F42-44C0-A74F-EF8CE85A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13 / 15</a:t>
            </a:r>
          </a:p>
        </p:txBody>
      </p:sp>
      <p:sp>
        <p:nvSpPr>
          <p:cNvPr id="11" name="Which uncertain case changed your mind?">
            <a:extLst xmlns:a="http://schemas.openxmlformats.org/drawingml/2006/main">
              <a:ext uri="{FF2B5EF4-FFF2-40B4-BE49-F238E27FC236}">
                <a16:creationId xmlns:a16="http://schemas.microsoft.com/office/drawing/2014/main" id="{045A9AF4-0854-4154-B9C9-8C450AA0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uncertain case changed your mind?</a:t>
            </a:r>
          </a:p>
        </p:txBody>
      </p:sp>
      <p:sp>
        <p:nvSpPr>
          <p:cNvPr id="12" name="Explain why a good scientist may pause a conclusion.">
            <a:extLst xmlns:a="http://schemas.openxmlformats.org/drawingml/2006/main">
              <a:ext uri="{FF2B5EF4-FFF2-40B4-BE49-F238E27FC236}">
                <a16:creationId xmlns:a16="http://schemas.microsoft.com/office/drawing/2014/main" id="{6DBEEC54-4146-4762-A46F-7A5266CD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why a good scientist may pause a conclusion.</a:t>
            </a:r>
          </a:p>
        </p:txBody>
      </p:sp>
      <p:sp>
        <p:nvSpPr>
          <p:cNvPr id="13" name="Match conductor and insulation to their jobs.">
            <a:extLst xmlns:a="http://schemas.openxmlformats.org/drawingml/2006/main">
              <a:ext uri="{FF2B5EF4-FFF2-40B4-BE49-F238E27FC236}">
                <a16:creationId xmlns:a16="http://schemas.microsoft.com/office/drawing/2014/main" id="{FA96C928-A49A-4420-A418-EC05C6B3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Match conductor and insulation to their jobs.</a:t>
            </a:r>
          </a:p>
        </p:txBody>
      </p:sp>
    </p:spTree>
    <p:extLst>
      <p:ext uri="{BB962C8B-B14F-4D97-AF65-F5344CB8AC3E}">
        <p14:creationId xmlns:p14="http://schemas.microsoft.com/office/powerpoint/2010/main" val="333587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9436EFD4-52AB-446D-8AAA-4C949E60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B863534C-D3B3-4A69-8D3B-F3FC40E7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96B526E-6533-4809-8A86-BE842A25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6E2ECF4C-F3F6-43C6-A1BA-BFE4C4AA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A6318602-F2DA-44DC-B591-031C327A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Use our voice to improve the test">
            <a:extLst xmlns:a="http://schemas.openxmlformats.org/drawingml/2006/main">
              <a:ext uri="{FF2B5EF4-FFF2-40B4-BE49-F238E27FC236}">
                <a16:creationId xmlns:a16="http://schemas.microsoft.com/office/drawing/2014/main" id="{B402F9D8-D2D2-4691-83F5-7988455D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our voice to improve the test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539C6228-EFE5-4176-BA14-0331787D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Circuit fault clinic">
            <a:extLst xmlns:a="http://schemas.openxmlformats.org/drawingml/2006/main">
              <a:ext uri="{FF2B5EF4-FFF2-40B4-BE49-F238E27FC236}">
                <a16:creationId xmlns:a16="http://schemas.microsoft.com/office/drawing/2014/main" id="{57E51D34-020A-434C-9302-77822F8A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Circuit fault clinic</a:t>
            </a:r>
          </a:p>
        </p:txBody>
      </p:sp>
      <p:sp>
        <p:nvSpPr>
          <p:cNvPr id="9" name="14 / 15">
            <a:extLst xmlns:a="http://schemas.openxmlformats.org/drawingml/2006/main">
              <a:ext uri="{FF2B5EF4-FFF2-40B4-BE49-F238E27FC236}">
                <a16:creationId xmlns:a16="http://schemas.microsoft.com/office/drawing/2014/main" id="{6AE1B1CB-DF24-48FA-B3BE-2D1120AA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14 / 15</a:t>
            </a:r>
          </a:p>
        </p:txBody>
      </p:sp>
      <p:sp>
        <p:nvSpPr>
          <p:cNvPr id="10" name="Choose the class’s most useful next improvement.">
            <a:extLst xmlns:a="http://schemas.openxmlformats.org/drawingml/2006/main">
              <a:ext uri="{FF2B5EF4-FFF2-40B4-BE49-F238E27FC236}">
                <a16:creationId xmlns:a16="http://schemas.microsoft.com/office/drawing/2014/main" id="{255ADA57-9226-4CE9-815E-F3422BCC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the class’s most useful next improvement.</a:t>
            </a:r>
          </a:p>
        </p:txBody>
      </p:sp>
      <p:sp>
        <p:nvSpPr>
          <p:cNvPr id="11" name="Options: clearer contacts, repeated checks, clearer recording.">
            <a:extLst xmlns:a="http://schemas.openxmlformats.org/drawingml/2006/main">
              <a:ext uri="{FF2B5EF4-FFF2-40B4-BE49-F238E27FC236}">
                <a16:creationId xmlns:a16="http://schemas.microsoft.com/office/drawing/2014/main" id="{01EAE318-23B0-4767-B077-291AD06E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Options: clearer contacts, repeated checks, clearer recording.</a:t>
            </a:r>
          </a:p>
        </p:txBody>
      </p:sp>
      <p:sp>
        <p:nvSpPr>
          <p:cNvPr id="12" name="Explain how your choice improves the evidence.">
            <a:extLst xmlns:a="http://schemas.openxmlformats.org/drawingml/2006/main">
              <a:ext uri="{FF2B5EF4-FFF2-40B4-BE49-F238E27FC236}">
                <a16:creationId xmlns:a16="http://schemas.microsoft.com/office/drawing/2014/main" id="{7BC81A0B-59F1-4A7B-8635-57D0C1F2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how your choice improves the evidence.</a:t>
            </a:r>
          </a:p>
        </p:txBody>
      </p:sp>
    </p:spTree>
    <p:extLst>
      <p:ext uri="{BB962C8B-B14F-4D97-AF65-F5344CB8AC3E}">
        <p14:creationId xmlns:p14="http://schemas.microsoft.com/office/powerpoint/2010/main" val="10292812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E7BA919F-222F-41A9-A434-D5E37DC2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4C4D210B-5311-4CD4-A15D-67B39A2D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66FD20D-7D27-43B6-A569-62E06365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55EE7A5C-6A63-4525-8292-D13D3A90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7B4279B5-D64B-4D7D-88D1-A827870E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020DBE1B-2A0A-4015-8B3D-BB17EE8A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Exit diagnosis">
            <a:extLst xmlns:a="http://schemas.openxmlformats.org/drawingml/2006/main">
              <a:ext uri="{FF2B5EF4-FFF2-40B4-BE49-F238E27FC236}">
                <a16:creationId xmlns:a16="http://schemas.microsoft.com/office/drawing/2014/main" id="{588628F5-2049-4338-95F4-E0655762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Exit diagnosis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1F1F577F-DEB6-4ACC-8B83-C56C3EED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Circuit fault clinic">
            <a:extLst xmlns:a="http://schemas.openxmlformats.org/drawingml/2006/main">
              <a:ext uri="{FF2B5EF4-FFF2-40B4-BE49-F238E27FC236}">
                <a16:creationId xmlns:a16="http://schemas.microsoft.com/office/drawing/2014/main" id="{930135F1-79EA-4958-8EF5-24A0E547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Circuit fault clinic</a:t>
            </a:r>
          </a:p>
        </p:txBody>
      </p:sp>
      <p:sp>
        <p:nvSpPr>
          <p:cNvPr id="10" name="15 / 15">
            <a:extLst xmlns:a="http://schemas.openxmlformats.org/drawingml/2006/main">
              <a:ext uri="{FF2B5EF4-FFF2-40B4-BE49-F238E27FC236}">
                <a16:creationId xmlns:a16="http://schemas.microsoft.com/office/drawing/2014/main" id="{85878A9D-417A-4F4B-9875-1219F494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15 / 15</a:t>
            </a:r>
          </a:p>
        </p:txBody>
      </p:sp>
      <p:sp>
        <p:nvSpPr>
          <p:cNvPr id="11" name="E1. Why must the circuit be a complete loop?">
            <a:extLst xmlns:a="http://schemas.openxmlformats.org/drawingml/2006/main">
              <a:ext uri="{FF2B5EF4-FFF2-40B4-BE49-F238E27FC236}">
                <a16:creationId xmlns:a16="http://schemas.microsoft.com/office/drawing/2014/main" id="{A0951D9E-B612-47BF-834A-50EBFBBE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E1. Why must the circuit be a complete loop?</a:t>
            </a:r>
          </a:p>
        </p:txBody>
      </p:sp>
      <p:sp>
        <p:nvSpPr>
          <p:cNvPr id="12" name="E2. Why check copper before and after a sample?">
            <a:extLst xmlns:a="http://schemas.openxmlformats.org/drawingml/2006/main">
              <a:ext uri="{FF2B5EF4-FFF2-40B4-BE49-F238E27FC236}">
                <a16:creationId xmlns:a16="http://schemas.microsoft.com/office/drawing/2014/main" id="{01D13A5F-D925-48C9-BEB0-64FB414A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E2. Why check copper before and after a sample?</a:t>
            </a:r>
          </a:p>
        </p:txBody>
      </p:sp>
      <p:sp>
        <p:nvSpPr>
          <p:cNvPr id="13" name="E3. Choose inside and outside materials for a lead.">
            <a:extLst xmlns:a="http://schemas.openxmlformats.org/drawingml/2006/main">
              <a:ext uri="{FF2B5EF4-FFF2-40B4-BE49-F238E27FC236}">
                <a16:creationId xmlns:a16="http://schemas.microsoft.com/office/drawing/2014/main" id="{1576A048-455D-4A34-BCC7-8317BB36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E3. Choose inside and outside materials for a lead.</a:t>
            </a:r>
          </a:p>
        </p:txBody>
      </p:sp>
    </p:spTree>
    <p:extLst>
      <p:ext uri="{BB962C8B-B14F-4D97-AF65-F5344CB8AC3E}">
        <p14:creationId xmlns:p14="http://schemas.microsoft.com/office/powerpoint/2010/main" val="16858774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2026-09-08T22:38:23.0660000Z</dcterms:created>
  <dcterms:modified xsi:type="dcterms:W3CDTF">2026-09-08T22:38:23.0660000Z</dcterms:modified>
</coreProperties>
</file>