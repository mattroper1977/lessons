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273fc8ccf94bfb" /><Relationship Type="http://schemas.openxmlformats.org/officeDocument/2006/relationships/extended-properties" Target="/docProps/app.xml" Id="Rd3a99ecebb3a4daf" /><Relationship Type="http://schemas.openxmlformats.org/officeDocument/2006/relationships/officeDocument" Target="/ppt/presentation.xml" Id="Rf63b068a55a84c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252e8ef7fe40c0"/>
  </p:sldMasterIdLst>
  <p:notesMasterIdLst>
    <p:notesMasterId xmlns:r="http://schemas.openxmlformats.org/officeDocument/2006/relationships" r:id="R94396af335d74b7b"/>
  </p:notesMasterIdLst>
  <p:sldIdLst>
    <p:sldId xmlns:r="http://schemas.openxmlformats.org/officeDocument/2006/relationships" id="256" r:id="Rf5b9d5304de24e0a"/>
    <p:sldId xmlns:r="http://schemas.openxmlformats.org/officeDocument/2006/relationships" id="257" r:id="R28dbe9cb606d4b48"/>
    <p:sldId xmlns:r="http://schemas.openxmlformats.org/officeDocument/2006/relationships" id="258" r:id="R90f804d324354ad1"/>
    <p:sldId xmlns:r="http://schemas.openxmlformats.org/officeDocument/2006/relationships" id="259" r:id="R012e901c73b844ad"/>
    <p:sldId xmlns:r="http://schemas.openxmlformats.org/officeDocument/2006/relationships" id="260" r:id="Re0943c80bd8e436c"/>
    <p:sldId xmlns:r="http://schemas.openxmlformats.org/officeDocument/2006/relationships" id="261" r:id="R71745c599a7d4715"/>
    <p:sldId xmlns:r="http://schemas.openxmlformats.org/officeDocument/2006/relationships" id="262" r:id="R92d62e3fa89d4207"/>
    <p:sldId xmlns:r="http://schemas.openxmlformats.org/officeDocument/2006/relationships" id="263" r:id="Rfdc87bfba8534700"/>
    <p:sldId xmlns:r="http://schemas.openxmlformats.org/officeDocument/2006/relationships" id="264" r:id="Re863958616aa4a1b"/>
    <p:sldId xmlns:r="http://schemas.openxmlformats.org/officeDocument/2006/relationships" id="265" r:id="R328ec6dd06054e04"/>
    <p:sldId xmlns:r="http://schemas.openxmlformats.org/officeDocument/2006/relationships" id="266" r:id="R6eb4e162582645b4"/>
    <p:sldId xmlns:r="http://schemas.openxmlformats.org/officeDocument/2006/relationships" id="267" r:id="R47b3424d0bbf4e63"/>
    <p:sldId xmlns:r="http://schemas.openxmlformats.org/officeDocument/2006/relationships" id="268" r:id="R1b530d384a0a42af"/>
    <p:sldId xmlns:r="http://schemas.openxmlformats.org/officeDocument/2006/relationships" id="269" r:id="R4b6b0a6f50684497"/>
    <p:sldId xmlns:r="http://schemas.openxmlformats.org/officeDocument/2006/relationships" id="270" r:id="Re9cf6037d4584f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8a92eaecbe4af9" /><Relationship Type="http://schemas.openxmlformats.org/officeDocument/2006/relationships/slideMaster" Target="/ppt/slideMasters/slideMaster1.xml" Id="R65252e8ef7fe40c0" /><Relationship Type="http://schemas.openxmlformats.org/officeDocument/2006/relationships/notesMaster" Target="/ppt/notesMasters/notesMaster1.xml" Id="R94396af335d74b7b" /><Relationship Type="http://schemas.openxmlformats.org/officeDocument/2006/relationships/presProps" Target="/ppt/presProps.xml" Id="Rc241ecccb1fa4ff1" /><Relationship Type="http://schemas.openxmlformats.org/officeDocument/2006/relationships/tableStyles" Target="/ppt/tableStyles.xml" Id="Reb3023075b6e42d9" /><Relationship Type="http://schemas.openxmlformats.org/officeDocument/2006/relationships/slide" Target="/ppt/slides/slide1.xml" Id="Rf5b9d5304de24e0a" /><Relationship Type="http://schemas.openxmlformats.org/officeDocument/2006/relationships/slide" Target="/ppt/slides/slide2.xml" Id="R28dbe9cb606d4b48" /><Relationship Type="http://schemas.openxmlformats.org/officeDocument/2006/relationships/slide" Target="/ppt/slides/slide3.xml" Id="R90f804d324354ad1" /><Relationship Type="http://schemas.openxmlformats.org/officeDocument/2006/relationships/slide" Target="/ppt/slides/slide4.xml" Id="R012e901c73b844ad" /><Relationship Type="http://schemas.openxmlformats.org/officeDocument/2006/relationships/slide" Target="/ppt/slides/slide5.xml" Id="Re0943c80bd8e436c" /><Relationship Type="http://schemas.openxmlformats.org/officeDocument/2006/relationships/slide" Target="/ppt/slides/slide6.xml" Id="R71745c599a7d4715" /><Relationship Type="http://schemas.openxmlformats.org/officeDocument/2006/relationships/slide" Target="/ppt/slides/slide7.xml" Id="R92d62e3fa89d4207" /><Relationship Type="http://schemas.openxmlformats.org/officeDocument/2006/relationships/slide" Target="/ppt/slides/slide8.xml" Id="Rfdc87bfba8534700" /><Relationship Type="http://schemas.openxmlformats.org/officeDocument/2006/relationships/slide" Target="/ppt/slides/slide9.xml" Id="Re863958616aa4a1b" /><Relationship Type="http://schemas.openxmlformats.org/officeDocument/2006/relationships/slide" Target="/ppt/slides/slide10.xml" Id="R328ec6dd06054e04" /><Relationship Type="http://schemas.openxmlformats.org/officeDocument/2006/relationships/slide" Target="/ppt/slides/slide11.xml" Id="R6eb4e162582645b4" /><Relationship Type="http://schemas.openxmlformats.org/officeDocument/2006/relationships/slide" Target="/ppt/slides/slide12.xml" Id="R47b3424d0bbf4e63" /><Relationship Type="http://schemas.openxmlformats.org/officeDocument/2006/relationships/slide" Target="/ppt/slides/slide13.xml" Id="R1b530d384a0a42af" /><Relationship Type="http://schemas.openxmlformats.org/officeDocument/2006/relationships/slide" Target="/ppt/slides/slide14.xml" Id="R4b6b0a6f50684497" /><Relationship Type="http://schemas.openxmlformats.org/officeDocument/2006/relationships/slide" Target="/ppt/slides/slide15.xml" Id="Re9cf6037d4584f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a48dcb7dec44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7bff9dafba44d9" /><Relationship Type="http://schemas.openxmlformats.org/officeDocument/2006/relationships/notesMaster" Target="/ppt/notesMasters/notesMaster1.xml" Id="Rbf30792c5f3b4e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ea6df1c1384be1" /><Relationship Type="http://schemas.openxmlformats.org/officeDocument/2006/relationships/notesMaster" Target="/ppt/notesMasters/notesMaster1.xml" Id="Rb4473a46634c4f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8c345e77d4454f" /><Relationship Type="http://schemas.openxmlformats.org/officeDocument/2006/relationships/notesMaster" Target="/ppt/notesMasters/notesMaster1.xml" Id="Rc9ea6976dd984e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1f5675a3c649ad" /><Relationship Type="http://schemas.openxmlformats.org/officeDocument/2006/relationships/notesMaster" Target="/ppt/notesMasters/notesMaster1.xml" Id="R934a15ed7bfb4e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3c19205332450e" /><Relationship Type="http://schemas.openxmlformats.org/officeDocument/2006/relationships/notesMaster" Target="/ppt/notesMasters/notesMaster1.xml" Id="R3e6c6efa3d954f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1888fa91ac425e" /><Relationship Type="http://schemas.openxmlformats.org/officeDocument/2006/relationships/notesMaster" Target="/ppt/notesMasters/notesMaster1.xml" Id="Raf1e4e39c6604e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7cbed30dd44743" /><Relationship Type="http://schemas.openxmlformats.org/officeDocument/2006/relationships/notesMaster" Target="/ppt/notesMasters/notesMaster1.xml" Id="R824811b8394a46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b93c45c7f041e7" /><Relationship Type="http://schemas.openxmlformats.org/officeDocument/2006/relationships/notesMaster" Target="/ppt/notesMasters/notesMaster1.xml" Id="R47643d87e32e42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9741e723dd4122" /><Relationship Type="http://schemas.openxmlformats.org/officeDocument/2006/relationships/notesMaster" Target="/ppt/notesMasters/notesMaster1.xml" Id="R79aa20ca6aa442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eb50ccfe414121" /><Relationship Type="http://schemas.openxmlformats.org/officeDocument/2006/relationships/notesMaster" Target="/ppt/notesMasters/notesMaster1.xml" Id="R8b6979918aaa4e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8f54689e014101" /><Relationship Type="http://schemas.openxmlformats.org/officeDocument/2006/relationships/notesMaster" Target="/ppt/notesMasters/notesMaster1.xml" Id="R3ef141c33d8b49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450fb74c6a4ab5" /><Relationship Type="http://schemas.openxmlformats.org/officeDocument/2006/relationships/notesMaster" Target="/ppt/notesMasters/notesMaster1.xml" Id="Rae392abcfe0e44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54c98457d241be" /><Relationship Type="http://schemas.openxmlformats.org/officeDocument/2006/relationships/notesMaster" Target="/ppt/notesMasters/notesMaster1.xml" Id="R3cd1c9acabca4c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65aff175df4873" /><Relationship Type="http://schemas.openxmlformats.org/officeDocument/2006/relationships/notesMaster" Target="/ppt/notesMasters/notesMaster1.xml" Id="Rd79210dd923443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986bab27e64aee" /><Relationship Type="http://schemas.openxmlformats.org/officeDocument/2006/relationships/notesMaster" Target="/ppt/notesMasters/notesMaster1.xml" Id="Rff02b3bb03f741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Invite a tentative response. No need to know the platypus in advance: the shared card supplies the needed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 reproduce; R2 monarch, common frog or another accurate example; R3 no, the next generation starts with new offspring.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I compare the presence of a pupa, not whether the animal is attractive or large. The frog route includes a larva and major change, but no pupa. Time spans and detailed anatomy are omitted.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Clockwise sequence: Eggs in pond; Tadpole</a:t>
            </a:r>
          </a:p>
          <a:p xmlns:a="http://schemas.openxmlformats.org/drawingml/2006/main">
            <a:r>
              <a:t>larva; Froglet</a:t>
            </a:r>
          </a:p>
          <a:p xmlns:a="http://schemas.openxmlformats.org/drawingml/2006/main">
            <a:r>
              <a:t>four legs;</a:t>
            </a:r>
          </a:p>
          <a:p xmlns:a="http://schemas.openxmlformats.org/drawingml/2006/main">
            <a:r>
              <a:t>tail shrinking; Adult frog</a:t>
            </a:r>
          </a:p>
          <a:p xmlns:a="http://schemas.openxmlformats.org/drawingml/2006/main">
            <a:r>
              <a:t>can reproduce. Adults produce the next generation of eggs.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Think aloud: I use a matching question: Is a pupa present? For the monarch, yes; for common frog, no. This is a justified difference. Do not generalise the monarch route to every insect.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Clockwise sequence: Egg on milkweed; Caterpillar</a:t>
            </a:r>
          </a:p>
          <a:p xmlns:a="http://schemas.openxmlformats.org/drawingml/2006/main">
            <a:r>
              <a:t>larva; Chrysalis</a:t>
            </a:r>
          </a:p>
          <a:p xmlns:a="http://schemas.openxmlformats.org/drawingml/2006/main">
            <a:r>
              <a:t>pupa; Adult monarch</a:t>
            </a:r>
          </a:p>
          <a:p xmlns:a="http://schemas.openxmlformats.org/drawingml/2006/main">
            <a:r>
              <a:t>can reproduce. A pupa is present here; it is not a stage in every insect.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Explain a counterexample as one real case that breaks the rule. Mammal classification does not depend solely on live birth. Compare named species; do not infer every detail about all mammals from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Parallel comparisons of platypus and robin: both lay eggs, but platypus young receive milk and robin chicks receive food from parents. No arrow connects the animal groups.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 group by pupa: M yes; F/P/R no. Then milk feeding: P yes; F/M/R no. All four share egg-laying. Accept desk sorting, pointing or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Both lay eggs and have larvae; monarch has pupa whereas frog does not. Do not accept merely different colours or sizes unsupported by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Platypus, frog or monarch disproves claim; platypus specifically demonstrates an egg-laying mammal. Four examples do not describe all species. Reveal after pupil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The platypus lays eggs and is a mammal. That one case breaks the “all birds”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false identical cycles. B correct feature-based comparison. C false all mammals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Frog and monarch have identical life cycles because both lay eggs.</a:t>
            </a:r>
          </a:p>
          <a:p xmlns:a="http://schemas.openxmlformats.org/drawingml/2006/main">
            <a:r>
              <a:t>Shared eggs do not erase differences such as the pupa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Frog and monarch both have larvae, but only the monarch has a pupa.</a:t>
            </a:r>
          </a:p>
          <a:p xmlns:a="http://schemas.openxmlformats.org/drawingml/2006/main">
            <a:r>
              <a:t>Correct. The same stages are compared using both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A platypus cannot be a mammal because it lays eggs.</a:t>
            </a:r>
          </a:p>
          <a:p xmlns:a="http://schemas.openxmlformats.org/drawingml/2006/main">
            <a:r>
              <a:t>The platypus is an egg-laying mammal and its young receive milk.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across the three You do slides. Supply shared page 1 and one selected route page. All routes target the stated science objective; a labelled drawing or independent dictated explanation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Ask pupils which evidence supports their explanation. Read prompts or scribe without supplying the scientific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Use the route-specific worked answers to identify one precise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minutes across Review. Offer partner or private teacher feedback. Ask for one specific revision linked to evidence; no public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 cycle: invite written, spoken or pointed suggestions. Select one feasible question and explain how the pupil contribution changes the next example or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Eggs/larvae shared; pupa only monarch; any named non-bird egg-layer with accurate reason. E4 on page asks about the next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Froglife: Common frog</a:t>
            </a:r>
          </a:p>
          <a:p xmlns:a="http://schemas.openxmlformats.org/drawingml/2006/main">
            <a:r>
              <a:t>https://www.froglife.org/info-advice/amphibians-and-reptiles/common-frog-2/</a:t>
            </a:r>
          </a:p>
          <a:p xmlns:a="http://schemas.openxmlformats.org/drawingml/2006/main">
            <a:r>
              <a:t>Checked September 2026. Common-frog eggs, tadpoles and adult life history. Activities and diagrams are original.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Monarch Joint Venture: Life cycle</a:t>
            </a:r>
          </a:p>
          <a:p xmlns:a="http://schemas.openxmlformats.org/drawingml/2006/main">
            <a:r>
              <a:t>https://monarchjointventure.org/monarch-biology/life-cycle</a:t>
            </a:r>
          </a:p>
          <a:p xmlns:a="http://schemas.openxmlformats.org/drawingml/2006/main">
            <a:r>
              <a:t>Checked September 2026. Named monarch sequence: egg, larva, pupa, adult; not a rule for all insects.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Australian Museum: Platypus</a:t>
            </a:r>
          </a:p>
          <a:p xmlns:a="http://schemas.openxmlformats.org/drawingml/2006/main">
            <a:r>
              <a:t>https://australian.museum/learn/animals/mammals/platypus/</a:t>
            </a:r>
          </a:p>
          <a:p xmlns:a="http://schemas.openxmlformats.org/drawingml/2006/main">
            <a:r>
              <a:t>Checked September 2026. Egg-laying mammal; young receive milk. This is a counterexample to all mammals giving live birth.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RSPB: Robin</a:t>
            </a:r>
          </a:p>
          <a:p xmlns:a="http://schemas.openxmlformats.org/drawingml/2006/main">
            <a:r>
              <a:t>https://www.rspb.org.uk/birds-and-wildlife/robin</a:t>
            </a:r>
          </a:p>
          <a:p xmlns:a="http://schemas.openxmlformats.org/drawingml/2006/main">
            <a:r>
              <a:t>Checked September 2026. Eggs, nest and young robin development; no nest disturbance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3affd44bf47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6cd924dd524d9c" /><Relationship Type="http://schemas.openxmlformats.org/officeDocument/2006/relationships/slideLayout" Target="/ppt/slideLayouts/slideLayout1.xml" Id="R9f10123ed1174a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10123ed1174a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b7cb68c854b4d" /><Relationship Type="http://schemas.openxmlformats.org/officeDocument/2006/relationships/notesSlide" Target="/ppt/notesSlides/notesSlide1.xml" Id="Rabfdc5ac64c541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719ee1fc3473f" /><Relationship Type="http://schemas.openxmlformats.org/officeDocument/2006/relationships/notesSlide" Target="/ppt/notesSlides/notesSlide2.xml" Id="R4ae8f0a3400145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2749eac8f4b49" /><Relationship Type="http://schemas.openxmlformats.org/officeDocument/2006/relationships/notesSlide" Target="/ppt/notesSlides/notesSlide3.xml" Id="Re38ad38093a449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4d751f1444df6" /><Relationship Type="http://schemas.openxmlformats.org/officeDocument/2006/relationships/notesSlide" Target="/ppt/notesSlides/notesSlide4.xml" Id="Rd0d351b1fe0244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8ba9a907c4ba9" /><Relationship Type="http://schemas.openxmlformats.org/officeDocument/2006/relationships/notesSlide" Target="/ppt/notesSlides/notesSlide5.xml" Id="Re73f210267584e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f9236efb147e6" /><Relationship Type="http://schemas.openxmlformats.org/officeDocument/2006/relationships/notesSlide" Target="/ppt/notesSlides/notesSlide6.xml" Id="R5811dea327ae4a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f21a781ed4532" /><Relationship Type="http://schemas.openxmlformats.org/officeDocument/2006/relationships/notesSlide" Target="/ppt/notesSlides/notesSlide7.xml" Id="R933ef4f7d7e643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3999dea5f4022" /><Relationship Type="http://schemas.openxmlformats.org/officeDocument/2006/relationships/notesSlide" Target="/ppt/notesSlides/notesSlide8.xml" Id="R153b3416397f4e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d14c8c1904d84" /><Relationship Type="http://schemas.openxmlformats.org/officeDocument/2006/relationships/notesSlide" Target="/ppt/notesSlides/notesSlide9.xml" Id="Rf4da2641e1f449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4f232fe5840f0" /><Relationship Type="http://schemas.openxmlformats.org/officeDocument/2006/relationships/notesSlide" Target="/ppt/notesSlides/notesSlide10.xml" Id="Rd15a407a341d42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89ae0734424da7" /><Relationship Type="http://schemas.openxmlformats.org/officeDocument/2006/relationships/notesSlide" Target="/ppt/notesSlides/notesSlide11.xml" Id="Re8a464ec3ab04e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50a4164b042e7" /><Relationship Type="http://schemas.openxmlformats.org/officeDocument/2006/relationships/notesSlide" Target="/ppt/notesSlides/notesSlide12.xml" Id="Rd4f579058a5544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1688d1c244fae" /><Relationship Type="http://schemas.openxmlformats.org/officeDocument/2006/relationships/notesSlide" Target="/ppt/notesSlides/notesSlide13.xml" Id="Rccd8cbe748be47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28e11b9ba4837" /><Relationship Type="http://schemas.openxmlformats.org/officeDocument/2006/relationships/notesSlide" Target="/ppt/notesSlides/notesSlide14.xml" Id="R4da4c3f528bd46f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191a613614a26" /><Relationship Type="http://schemas.openxmlformats.org/officeDocument/2006/relationships/notesSlide" Target="/ppt/notesSlides/notesSlide15.xml" Id="Rfc4ef97462c045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B1302CB0-9A8D-49BD-BF99-2F429E5A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461A2F3-966B-4DEA-A7A2-11E6044B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8C78999-2B58-4955-9042-324FED0B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D7364EA-18E5-4218-B39B-638386AC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C37465A7-68F7-4D0E-98AA-0178DD4E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9007551-1B1C-4CC9-8A79-CA548F8E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Four cases, one comparison challenge">
            <a:extLst xmlns:a="http://schemas.openxmlformats.org/drawingml/2006/main">
              <a:ext uri="{FF2B5EF4-FFF2-40B4-BE49-F238E27FC236}">
                <a16:creationId xmlns:a16="http://schemas.microsoft.com/office/drawing/2014/main" id="{1C387405-FD58-4253-B9F1-EEB6A02E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Four cases, one comparison challenge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478CEF6-1CC6-43D3-A4F1-02740901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F7430E24-88F0-4F51-A44E-D4E85676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189B3044-D4AE-4BB7-B898-27A7DB16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9204A571-2D2B-4896-AB96-99AA71ED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A5F851BD-A18A-4DAF-9AF6-0E114E68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89D5B1B9-59C6-4BA1-8A07-EB1CA53F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Compare named animal life cycles using similarities, differences">
            <a:extLst xmlns:a="http://schemas.openxmlformats.org/drawingml/2006/main">
              <a:ext uri="{FF2B5EF4-FFF2-40B4-BE49-F238E27FC236}">
                <a16:creationId xmlns:a16="http://schemas.microsoft.com/office/drawing/2014/main" id="{DE69024B-C719-4AC9-B41A-BC1F43B3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named animal life cycles using similarities, differences and a valid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counterexample.</a:t>
            </a:r>
          </a:p>
        </p:txBody>
      </p:sp>
      <p:sp>
        <p:nvSpPr>
          <p:cNvPr id="15" name="All four animals lay eggs.">
            <a:extLst xmlns:a="http://schemas.openxmlformats.org/drawingml/2006/main">
              <a:ext uri="{FF2B5EF4-FFF2-40B4-BE49-F238E27FC236}">
                <a16:creationId xmlns:a16="http://schemas.microsoft.com/office/drawing/2014/main" id="{983C3DB3-0A23-47F1-BD1C-39F68FFA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All four animals lay eggs.</a:t>
            </a:r>
          </a:p>
        </p:txBody>
      </p:sp>
      <p:sp>
        <p:nvSpPr>
          <p:cNvPr id="16" name="Does that make all four birds?">
            <a:extLst xmlns:a="http://schemas.openxmlformats.org/drawingml/2006/main">
              <a:ext uri="{FF2B5EF4-FFF2-40B4-BE49-F238E27FC236}">
                <a16:creationId xmlns:a16="http://schemas.microsoft.com/office/drawing/2014/main" id="{DDCE2D87-8C21-4C74-9664-E5A43FCE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that make all four birds?</a:t>
            </a:r>
          </a:p>
        </p:txBody>
      </p:sp>
      <p:sp>
        <p:nvSpPr>
          <p:cNvPr id="17" name="Your job is to test the claim with evidence.">
            <a:extLst xmlns:a="http://schemas.openxmlformats.org/drawingml/2006/main">
              <a:ext uri="{FF2B5EF4-FFF2-40B4-BE49-F238E27FC236}">
                <a16:creationId xmlns:a16="http://schemas.microsoft.com/office/drawing/2014/main" id="{74B51C04-F14F-4FF3-91B4-BAC725AA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691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job is to test the claim with evidence.</a:t>
            </a:r>
          </a:p>
        </p:txBody>
      </p:sp>
    </p:spTree>
    <p:extLst>
      <p:ext uri="{BB962C8B-B14F-4D97-AF65-F5344CB8AC3E}">
        <p14:creationId xmlns:p14="http://schemas.microsoft.com/office/powerpoint/2010/main" val="1675158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61C02DCF-7860-419C-B5BF-DC840F83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A6818BF-30F0-4E95-8142-7DA1ADF6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39C752E-7482-411B-A16D-1A3D93D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4A766925-1ABB-4F58-9C82-F8EAB984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F734BB9E-AE7C-461E-8108-D1AF4702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EE4576A-1282-4B76-B87B-F8F260AE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Use the stage words carefully">
            <a:extLst xmlns:a="http://schemas.openxmlformats.org/drawingml/2006/main">
              <a:ext uri="{FF2B5EF4-FFF2-40B4-BE49-F238E27FC236}">
                <a16:creationId xmlns:a16="http://schemas.microsoft.com/office/drawing/2014/main" id="{6DB322D9-E409-42EF-B096-6B66F02F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stage words carefully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7ED0ABC-D849-4B5C-8359-3C916642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8329FE19-BA22-4E1E-8B23-DF20F680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D0FEFFB7-31D5-46B0-87CB-90008361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does an adult animal become able to do?">
            <a:extLst xmlns:a="http://schemas.openxmlformats.org/drawingml/2006/main">
              <a:ext uri="{FF2B5EF4-FFF2-40B4-BE49-F238E27FC236}">
                <a16:creationId xmlns:a16="http://schemas.microsoft.com/office/drawing/2014/main" id="{D02E5778-9DF4-4DCC-A21C-D012C1D4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does an adult animal become able to do?</a:t>
            </a:r>
          </a:p>
        </p:txBody>
      </p:sp>
      <p:sp>
        <p:nvSpPr>
          <p:cNvPr id="12" name="R2. Name an animal with a larva stage.">
            <a:extLst xmlns:a="http://schemas.openxmlformats.org/drawingml/2006/main">
              <a:ext uri="{FF2B5EF4-FFF2-40B4-BE49-F238E27FC236}">
                <a16:creationId xmlns:a16="http://schemas.microsoft.com/office/drawing/2014/main" id="{E5EE93D5-645C-463C-828D-B7A64C9E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Name an animal with a larva stage.</a:t>
            </a:r>
          </a:p>
        </p:txBody>
      </p:sp>
      <p:sp>
        <p:nvSpPr>
          <p:cNvPr id="13" name="R3. Does one individual turn back into an egg?">
            <a:extLst xmlns:a="http://schemas.openxmlformats.org/drawingml/2006/main">
              <a:ext uri="{FF2B5EF4-FFF2-40B4-BE49-F238E27FC236}">
                <a16:creationId xmlns:a16="http://schemas.microsoft.com/office/drawing/2014/main" id="{BED0697B-EF9A-4005-BDFA-058AF1BE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Does one individual turn back into an egg?</a:t>
            </a:r>
          </a:p>
        </p:txBody>
      </p:sp>
    </p:spTree>
    <p:extLst>
      <p:ext uri="{BB962C8B-B14F-4D97-AF65-F5344CB8AC3E}">
        <p14:creationId xmlns:p14="http://schemas.microsoft.com/office/powerpoint/2010/main" val="1822379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5577B302-3058-4FFA-AB79-D2C04A59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B2C6AC1-A7DC-49B8-A70E-7B7E6AE3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6073F10-02B7-410D-92FA-C4EFD80E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3BA0936C-5922-46F8-A189-7BD89DAB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27AE3C9F-AC16-4013-B40F-4C95EFB6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26A6EC5D-6BFF-4EBE-B756-00F54A51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choose a feature, then compare">
            <a:extLst xmlns:a="http://schemas.openxmlformats.org/drawingml/2006/main">
              <a:ext uri="{FF2B5EF4-FFF2-40B4-BE49-F238E27FC236}">
                <a16:creationId xmlns:a16="http://schemas.microsoft.com/office/drawing/2014/main" id="{BCD26D2B-2DED-48DB-BF05-29D5034F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choose a feature, then compare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D6FCD51-5ECA-4FDA-8C6A-D33E9498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88BC728C-E8F9-47B9-85B6-2F48970C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C5035757-515B-4AC5-A2D7-8949D7B7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Common frog: major changes in body form">
            <a:extLst xmlns:a="http://schemas.openxmlformats.org/drawingml/2006/main">
              <a:ext uri="{FF2B5EF4-FFF2-40B4-BE49-F238E27FC236}">
                <a16:creationId xmlns:a16="http://schemas.microsoft.com/office/drawing/2014/main" id="{55C350B6-43F6-4864-AB4D-127C819B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2012122"/>
            <a:ext cx="6869566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81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Common frog: major changes in body form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7C10A0E-7A7B-4090-8C81-AB9EDF97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2669211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3" name="Diagram label: Eggs in pond">
            <a:extLst xmlns:a="http://schemas.openxmlformats.org/drawingml/2006/main">
              <a:ext uri="{FF2B5EF4-FFF2-40B4-BE49-F238E27FC236}">
                <a16:creationId xmlns:a16="http://schemas.microsoft.com/office/drawing/2014/main" id="{36F3C976-F5CB-499F-84FB-E07F4216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2788682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Eggs in pond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5860B26-04E0-4AE5-8785-1093C97E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2669211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Diagram label: Tadpole&#10;larva">
            <a:extLst xmlns:a="http://schemas.openxmlformats.org/drawingml/2006/main">
              <a:ext uri="{FF2B5EF4-FFF2-40B4-BE49-F238E27FC236}">
                <a16:creationId xmlns:a16="http://schemas.microsoft.com/office/drawing/2014/main" id="{A80DDF7C-8E11-44E2-B7C0-8FDD4FE6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030" y="2788682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Tadpole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larva</a:t>
            </a:r>
          </a:p>
        </p:txBody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6F238A1-5577-4787-9ACF-BEBF63EC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7361" y="4386603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7" name="Diagram label: Froglet&#10;four legs;&#10;tail shrinking">
            <a:extLst xmlns:a="http://schemas.openxmlformats.org/drawingml/2006/main">
              <a:ext uri="{FF2B5EF4-FFF2-40B4-BE49-F238E27FC236}">
                <a16:creationId xmlns:a16="http://schemas.microsoft.com/office/drawing/2014/main" id="{FA329A77-B70A-4C53-BC02-6844FD2F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030" y="4431404"/>
            <a:ext cx="2165407" cy="746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Froglet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four legs;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tail shrinking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69A6523-2B0B-4204-8ED5-C68444CF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9894" y="4386603"/>
            <a:ext cx="2314745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9" name="Diagram label: Adult frog&#10;can reproduce">
            <a:extLst xmlns:a="http://schemas.openxmlformats.org/drawingml/2006/main">
              <a:ext uri="{FF2B5EF4-FFF2-40B4-BE49-F238E27FC236}">
                <a16:creationId xmlns:a16="http://schemas.microsoft.com/office/drawing/2014/main" id="{46E94C89-EF94-4930-B622-1AF1F03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563" y="4506073"/>
            <a:ext cx="2165407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Adult frog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reproduce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70A0389-5956-4DDD-A5B0-630E5CE4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74639" y="3079892"/>
            <a:ext cx="156432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1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BAFF20B-2EC5-49A0-AA2F-0E8CDA21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12824" y="3027623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BEE525F-6EDC-4F72-8F20-156EDAC0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74734" y="3490572"/>
            <a:ext cx="953" cy="817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3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08B55F38-3C93-44FE-BE1C-1FD0C32E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022465" y="4282066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2CED9D4-428A-422B-8F5E-3D34D7B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53041" y="4797283"/>
            <a:ext cx="156432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C9DEB7A-DB93-41DA-A365-70F5C017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274639" y="4745015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AB89186-4FDC-4D92-84A1-D4B9A7C1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17266" y="3568975"/>
            <a:ext cx="953" cy="8176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27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840A4698-CB68-401C-920B-CC5CA00A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4998" y="3490572"/>
            <a:ext cx="104537" cy="104537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8" name="Diagram label: Adults produce the next generation of eggs.">
            <a:extLst xmlns:a="http://schemas.openxmlformats.org/drawingml/2006/main">
              <a:ext uri="{FF2B5EF4-FFF2-40B4-BE49-F238E27FC236}">
                <a16:creationId xmlns:a16="http://schemas.microsoft.com/office/drawing/2014/main" id="{74AF75DD-3D2C-4E4F-8490-40261180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3221" y="5417038"/>
            <a:ext cx="6645558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Adults produce the next generation of eggs.</a:t>
            </a:r>
          </a:p>
        </p:txBody>
      </p:sp>
      <p:sp>
        <p:nvSpPr>
          <p:cNvPr id="29" name="I follow the common-frog stages.  A tadpole and adult differ in ">
            <a:extLst xmlns:a="http://schemas.openxmlformats.org/drawingml/2006/main">
              <a:ext uri="{FF2B5EF4-FFF2-40B4-BE49-F238E27FC236}">
                <a16:creationId xmlns:a16="http://schemas.microsoft.com/office/drawing/2014/main" id="{7C614019-A9DA-4864-9BC4-5E283284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follow the common-frog stages. A tadpole and adult differ in body form. I look for a pupa; none is present.</a:t>
            </a:r>
          </a:p>
        </p:txBody>
      </p:sp>
    </p:spTree>
    <p:extLst>
      <p:ext uri="{BB962C8B-B14F-4D97-AF65-F5344CB8AC3E}">
        <p14:creationId xmlns:p14="http://schemas.microsoft.com/office/powerpoint/2010/main" val="38955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urface">
            <a:extLst xmlns:a="http://schemas.openxmlformats.org/drawingml/2006/main">
              <a:ext uri="{FF2B5EF4-FFF2-40B4-BE49-F238E27FC236}">
                <a16:creationId xmlns:a16="http://schemas.microsoft.com/office/drawing/2014/main" id="{EA29B078-4538-40E6-9EA9-CA9FC40C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6CA704C-8E7C-4A20-BFD9-9D51AB40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63E8B5CF-2D3A-4AC3-8F18-AB886022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E279335-2AA8-48D0-AECF-F1D0240B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324BA89-2E5F-40E8-A885-FCCD9AE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use the same feature for the monarch">
            <a:extLst xmlns:a="http://schemas.openxmlformats.org/drawingml/2006/main">
              <a:ext uri="{FF2B5EF4-FFF2-40B4-BE49-F238E27FC236}">
                <a16:creationId xmlns:a16="http://schemas.microsoft.com/office/drawing/2014/main" id="{5F6D4B16-98DF-415C-B3E5-A261FC5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use the same feature for the monarch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D9E70B65-9E6F-4FED-94B9-9E4CEDBA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D9DD0322-2E11-4DE1-A80B-D4318036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EC4F4F05-71CC-46C2-8C5A-9558BD0B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Monarch: a different developmental route">
            <a:extLst xmlns:a="http://schemas.openxmlformats.org/drawingml/2006/main">
              <a:ext uri="{FF2B5EF4-FFF2-40B4-BE49-F238E27FC236}">
                <a16:creationId xmlns:a16="http://schemas.microsoft.com/office/drawing/2014/main" id="{C14580BE-C0B1-41A8-88B4-45A2E872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02019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Monarch: a different developmental route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1A832C8-347E-49F9-BF79-CEB4086A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18695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Diagram label: Egg on milkweed">
            <a:extLst xmlns:a="http://schemas.openxmlformats.org/drawingml/2006/main">
              <a:ext uri="{FF2B5EF4-FFF2-40B4-BE49-F238E27FC236}">
                <a16:creationId xmlns:a16="http://schemas.microsoft.com/office/drawing/2014/main" id="{0887EC6A-66AF-4A94-81E5-18340E9E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2730818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Egg on milkweed</a:t>
            </a:r>
          </a:p>
        </p:txBody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9637F6F-27C8-4617-B81C-0E0A61CD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2618695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4" name="Diagram label: Caterpillar&#10;larva">
            <a:extLst xmlns:a="http://schemas.openxmlformats.org/drawingml/2006/main">
              <a:ext uri="{FF2B5EF4-FFF2-40B4-BE49-F238E27FC236}">
                <a16:creationId xmlns:a16="http://schemas.microsoft.com/office/drawing/2014/main" id="{BEC6839B-B55D-49C5-9367-E9CDDC93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921" y="2730818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Caterpillar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larva</a:t>
            </a:r>
          </a:p>
        </p:txBody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C6981C3-1A96-4B37-A133-2C419831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6845" y="4230461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6" name="Diagram label: Chrysalis&#10;pupa">
            <a:extLst xmlns:a="http://schemas.openxmlformats.org/drawingml/2006/main">
              <a:ext uri="{FF2B5EF4-FFF2-40B4-BE49-F238E27FC236}">
                <a16:creationId xmlns:a16="http://schemas.microsoft.com/office/drawing/2014/main" id="{DA0B7614-C493-47A7-8F39-F365D681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6921" y="4342584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Chrysalis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pupa</a:t>
            </a:r>
          </a:p>
        </p:txBody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D8B2993-27E2-4F4D-A75A-69BA8F70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30461"/>
            <a:ext cx="2172380" cy="7708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8" name="Diagram label: Adult monarch&#10;can reproduce">
            <a:extLst xmlns:a="http://schemas.openxmlformats.org/drawingml/2006/main">
              <a:ext uri="{FF2B5EF4-FFF2-40B4-BE49-F238E27FC236}">
                <a16:creationId xmlns:a16="http://schemas.microsoft.com/office/drawing/2014/main" id="{A67EB3B8-93DD-43AF-8F79-E6CF266E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4342584"/>
            <a:ext cx="2032227" cy="560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Adult monarch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reproduce</a:t>
            </a:r>
          </a:p>
        </p:txBody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8C6FD48-C116-4427-A93C-D1B64F1D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25155" y="3004117"/>
            <a:ext cx="146810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0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41921E25-263A-499E-B745-86BBD842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68737" y="295506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637D286-6A18-407A-8613-6EEFDB55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035" y="3389539"/>
            <a:ext cx="953" cy="767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2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52B88C92-58E7-45ED-9E77-8586E6A5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903981" y="4132353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40F877D-1D29-4205-B719-4530E4CB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398736" y="4615883"/>
            <a:ext cx="1468109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4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AD07D712-187D-42FF-AEE8-599837C0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325155" y="4566829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92BF7DE-837A-4854-B6F3-0FFD0335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238965" y="3463120"/>
            <a:ext cx="953" cy="7673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26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327F2CFD-9AE9-42F8-9B8D-9E6CBB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9911" y="3389539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7" name="Diagram label: A pupa is present here; it is not a stage in every insect.">
            <a:extLst xmlns:a="http://schemas.openxmlformats.org/drawingml/2006/main">
              <a:ext uri="{FF2B5EF4-FFF2-40B4-BE49-F238E27FC236}">
                <a16:creationId xmlns:a16="http://schemas.microsoft.com/office/drawing/2014/main" id="{75574F32-579A-4572-904D-3EF7C486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7583" y="5197520"/>
            <a:ext cx="623683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pupa is present here; it is not a stage in every insect.</a:t>
            </a:r>
          </a:p>
        </p:txBody>
      </p:sp>
      <p:sp>
        <p:nvSpPr>
          <p:cNvPr id="28" name="Both routes include eggs and a larva.  Only this monarch route h">
            <a:extLst xmlns:a="http://schemas.openxmlformats.org/drawingml/2006/main">
              <a:ext uri="{FF2B5EF4-FFF2-40B4-BE49-F238E27FC236}">
                <a16:creationId xmlns:a16="http://schemas.microsoft.com/office/drawing/2014/main" id="{9483C67C-9E8F-496E-A2EA-F1C8A315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Both routes include eggs and a larva. Only this monarch route has a pupa. A shared stage does not make the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whole cycle identical.</a:t>
            </a:r>
          </a:p>
        </p:txBody>
      </p:sp>
    </p:spTree>
    <p:extLst>
      <p:ext uri="{BB962C8B-B14F-4D97-AF65-F5344CB8AC3E}">
        <p14:creationId xmlns:p14="http://schemas.microsoft.com/office/powerpoint/2010/main" val="1522701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53120B37-CACA-41AE-8467-DB7ED2C1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90579FE0-DEB0-4F9C-AB9F-1D3B93FC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9214C70-1D32-4DD4-A86C-08A9D3B1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15F74FC-C131-413D-8596-F26C9A57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1B0EEF98-4BE8-4481-8F96-0D076DDB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test an “all” claim">
            <a:extLst xmlns:a="http://schemas.openxmlformats.org/drawingml/2006/main">
              <a:ext uri="{FF2B5EF4-FFF2-40B4-BE49-F238E27FC236}">
                <a16:creationId xmlns:a16="http://schemas.microsoft.com/office/drawing/2014/main" id="{1D57959F-1020-47F6-B423-66B1E19F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test an “all” claim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0EFFA59C-5706-494F-8632-55A285AB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AA417773-44B0-40F6-A804-FF5A3F8E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14ECE51B-B86E-441E-9C6A-7F412624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Compare one feature at a time">
            <a:extLst xmlns:a="http://schemas.openxmlformats.org/drawingml/2006/main">
              <a:ext uri="{FF2B5EF4-FFF2-40B4-BE49-F238E27FC236}">
                <a16:creationId xmlns:a16="http://schemas.microsoft.com/office/drawing/2014/main" id="{4B1050D1-ECE3-4C97-A0C2-1287DAA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4204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one feature at a time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E61B1A6-0919-42A0-BDD6-61FC6400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98" y="2723810"/>
            <a:ext cx="2803071" cy="2102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FBDD2CE9-882D-42AB-9880-20AE37BF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230" y="2723810"/>
            <a:ext cx="2803071" cy="2102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Diagram label: Platypus: mammal">
            <a:extLst xmlns:a="http://schemas.openxmlformats.org/drawingml/2006/main">
              <a:ext uri="{FF2B5EF4-FFF2-40B4-BE49-F238E27FC236}">
                <a16:creationId xmlns:a16="http://schemas.microsoft.com/office/drawing/2014/main" id="{68A8426E-4BD7-4A96-A774-79E92B7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2863963"/>
            <a:ext cx="2522764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Platypus: mammal</a:t>
            </a:r>
          </a:p>
        </p:txBody>
      </p:sp>
      <p:sp>
        <p:nvSpPr>
          <p:cNvPr id="14" name="Diagram label: Robin: bird">
            <a:extLst xmlns:a="http://schemas.openxmlformats.org/drawingml/2006/main">
              <a:ext uri="{FF2B5EF4-FFF2-40B4-BE49-F238E27FC236}">
                <a16:creationId xmlns:a16="http://schemas.microsoft.com/office/drawing/2014/main" id="{26FBB74E-7255-4A28-807F-FA60CFB3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384" y="2863963"/>
            <a:ext cx="2522764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5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Robin: bird</a:t>
            </a:r>
          </a:p>
        </p:txBody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D819D04-D0F4-4B83-BB6C-208474DC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24578"/>
            <a:ext cx="560614" cy="385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AD6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0841971-A31E-4D65-B845-2264223B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7382" y="3424578"/>
            <a:ext cx="560614" cy="3854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AD6"/>
          </a:solidFill>
          <a:ln xmlns:a="http://schemas.openxmlformats.org/drawingml/2006/main" w="21023">
            <a:solidFill>
              <a:srgbClr val="C9803B"/>
            </a:solidFill>
          </a:ln>
        </p:spPr>
      </p:sp>
      <p:sp>
        <p:nvSpPr>
          <p:cNvPr id="17" name="Diagram label: Eggs in a burrow&#10;Young receive milk">
            <a:extLst xmlns:a="http://schemas.openxmlformats.org/drawingml/2006/main">
              <a:ext uri="{FF2B5EF4-FFF2-40B4-BE49-F238E27FC236}">
                <a16:creationId xmlns:a16="http://schemas.microsoft.com/office/drawing/2014/main" id="{22D3D39D-C7B8-41BD-87CD-978147B6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4020230"/>
            <a:ext cx="2522764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Eggs in a burrow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Young receive milk</a:t>
            </a:r>
          </a:p>
        </p:txBody>
      </p:sp>
      <p:sp>
        <p:nvSpPr>
          <p:cNvPr id="18" name="Diagram label: Eggs in a nest&#10;Chicks receive food">
            <a:extLst xmlns:a="http://schemas.openxmlformats.org/drawingml/2006/main">
              <a:ext uri="{FF2B5EF4-FFF2-40B4-BE49-F238E27FC236}">
                <a16:creationId xmlns:a16="http://schemas.microsoft.com/office/drawing/2014/main" id="{07F559CF-0000-4348-859A-680E853B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384" y="4020230"/>
            <a:ext cx="2522764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Eggs in a nest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Chicks receive food</a:t>
            </a:r>
          </a:p>
        </p:txBody>
      </p:sp>
      <p:sp>
        <p:nvSpPr>
          <p:cNvPr id="19" name="Diagram label: Same egg-laying feature; different animal groups.">
            <a:extLst xmlns:a="http://schemas.openxmlformats.org/drawingml/2006/main">
              <a:ext uri="{FF2B5EF4-FFF2-40B4-BE49-F238E27FC236}">
                <a16:creationId xmlns:a16="http://schemas.microsoft.com/office/drawing/2014/main" id="{34714FD3-55AE-4A6C-B912-EE2686B6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0" y="5141459"/>
            <a:ext cx="6096680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egg-laying feature; different animal groups.</a:t>
            </a:r>
          </a:p>
        </p:txBody>
      </p:sp>
      <p:sp>
        <p:nvSpPr>
          <p:cNvPr id="20" name="Platypus and robin both lay eggs.  Platypus young receive milk; ">
            <a:extLst xmlns:a="http://schemas.openxmlformats.org/drawingml/2006/main">
              <a:ext uri="{FF2B5EF4-FFF2-40B4-BE49-F238E27FC236}">
                <a16:creationId xmlns:a16="http://schemas.microsoft.com/office/drawing/2014/main" id="{F2EDE83B-7EE8-417B-9553-04A7DD33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Platypus and robin both lay eggs. Platypus young receive milk; robin chicks do not. The platypus disproves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“all egg-layers are birds”.</a:t>
            </a:r>
          </a:p>
        </p:txBody>
      </p:sp>
    </p:spTree>
    <p:extLst>
      <p:ext uri="{BB962C8B-B14F-4D97-AF65-F5344CB8AC3E}">
        <p14:creationId xmlns:p14="http://schemas.microsoft.com/office/powerpoint/2010/main" val="15913472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F96F1B2-1907-474B-92BA-DAB42B3D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294EF81-DB6E-426B-ACB7-5DDF6514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4EF3F40-C45C-4877-8362-B20E4A9B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5B8608E-6467-4B0F-B46A-D3EE093B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74FB367A-65B7-4A68-8FD6-E80E9875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E863BD65-6BB0-49AC-8563-CDA25EA2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Comparison bureau: shared-feature sort">
            <a:extLst xmlns:a="http://schemas.openxmlformats.org/drawingml/2006/main">
              <a:ext uri="{FF2B5EF4-FFF2-40B4-BE49-F238E27FC236}">
                <a16:creationId xmlns:a16="http://schemas.microsoft.com/office/drawing/2014/main" id="{C237D826-EB86-4C5C-A03D-455961F7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Comparison bureau: shared-feature sort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92A95B5F-C2F1-4A62-A737-1DA0A1DE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8B6179EC-0682-4B55-9BD0-C31ADB1F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E0A625F4-425E-4961-B41F-5E7137D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Use cards F, M, P and R. W1. Group them by one feature, then reg">
            <a:extLst xmlns:a="http://schemas.openxmlformats.org/drawingml/2006/main">
              <a:ext uri="{FF2B5EF4-FFF2-40B4-BE49-F238E27FC236}">
                <a16:creationId xmlns:a16="http://schemas.microsoft.com/office/drawing/2014/main" id="{511937C0-F243-43DE-AEB8-37CA497C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cards F, M, P and R. W1. Group them by one feature, then regroup. Explain why the groups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changed.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0212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450080"/>
                <a:gridCol w="6675120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Feature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Question to use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Egg location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Where are eggs laid?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Pupa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Is this stage in the route?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Milk feeding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Do young receive milk?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50739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CC6E21EA-BECA-4B53-9B89-EEA6FFB5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DB61A56-7066-4897-9385-3B638615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CF4672A-DBCA-44B4-B720-DC7D29E6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D12FDB9-4622-443F-8229-73980AB9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88B4850D-1A9A-4B13-A585-84030154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Build a precise comparison">
            <a:extLst xmlns:a="http://schemas.openxmlformats.org/drawingml/2006/main">
              <a:ext uri="{FF2B5EF4-FFF2-40B4-BE49-F238E27FC236}">
                <a16:creationId xmlns:a16="http://schemas.microsoft.com/office/drawing/2014/main" id="{27B6BB53-1E3D-4358-9C29-D3F594F3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a precise comparison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BEF15B5-3FE1-4E62-86CA-0B4F847C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600BBC42-6A3A-4A12-9926-73B73F4D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F97ACD61-16E3-4CAB-BEB8-A421D37A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W2. Compare common frog with monarch.">
            <a:extLst xmlns:a="http://schemas.openxmlformats.org/drawingml/2006/main">
              <a:ext uri="{FF2B5EF4-FFF2-40B4-BE49-F238E27FC236}">
                <a16:creationId xmlns:a16="http://schemas.microsoft.com/office/drawing/2014/main" id="{E58E64B2-6B16-4504-8DCB-BA8E37C1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Compare common frog with monarch.</a:t>
            </a:r>
          </a:p>
        </p:txBody>
      </p:sp>
      <p:sp>
        <p:nvSpPr>
          <p:cNvPr id="11" name="Give one similarity and one difference.">
            <a:extLst xmlns:a="http://schemas.openxmlformats.org/drawingml/2006/main">
              <a:ext uri="{FF2B5EF4-FFF2-40B4-BE49-F238E27FC236}">
                <a16:creationId xmlns:a16="http://schemas.microsoft.com/office/drawing/2014/main" id="{BF372F6A-7E85-4DEF-8CA3-CFFFD0CD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Give one similarity and one difference.</a:t>
            </a:r>
          </a:p>
        </p:txBody>
      </p:sp>
      <p:sp>
        <p:nvSpPr>
          <p:cNvPr id="12" name="Use “both”, “whereas” or a labelled pair.">
            <a:extLst xmlns:a="http://schemas.openxmlformats.org/drawingml/2006/main">
              <a:ext uri="{FF2B5EF4-FFF2-40B4-BE49-F238E27FC236}">
                <a16:creationId xmlns:a16="http://schemas.microsoft.com/office/drawing/2014/main" id="{BDB596FE-CEFC-471A-90C6-A5B1CF1C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“both”, “whereas” or a labelled pair.</a:t>
            </a:r>
          </a:p>
        </p:txBody>
      </p:sp>
    </p:spTree>
    <p:extLst>
      <p:ext uri="{BB962C8B-B14F-4D97-AF65-F5344CB8AC3E}">
        <p14:creationId xmlns:p14="http://schemas.microsoft.com/office/powerpoint/2010/main" val="1307986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9DEC71A-3DEC-4713-A73F-26A042B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F1A0E48-7D03-444B-AD80-BC77FB3F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35EE893-F3C3-4E57-87C1-913340A8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9B2C5F3-5757-4ADC-8811-55D7B94E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A620B303-18B3-44EB-8EAB-C92429E2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The claim challenge">
            <a:extLst xmlns:a="http://schemas.openxmlformats.org/drawingml/2006/main">
              <a:ext uri="{FF2B5EF4-FFF2-40B4-BE49-F238E27FC236}">
                <a16:creationId xmlns:a16="http://schemas.microsoft.com/office/drawing/2014/main" id="{B2A06D73-E5DF-4B15-A6A2-B173933E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claim challenge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BDC42545-32E5-4A79-B721-7C5195CB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2AB8C0D2-D681-465E-9958-13A76B9E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E23A4D0F-3A41-47C6-8406-7CBDEF26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W3. “All egg-layers are birds.”">
            <a:extLst xmlns:a="http://schemas.openxmlformats.org/drawingml/2006/main">
              <a:ext uri="{FF2B5EF4-FFF2-40B4-BE49-F238E27FC236}">
                <a16:creationId xmlns:a16="http://schemas.microsoft.com/office/drawing/2014/main" id="{434BF0B6-2D08-4727-AFE3-A2CF208F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“All egg-layers are birds.”</a:t>
            </a:r>
          </a:p>
        </p:txBody>
      </p:sp>
      <p:sp>
        <p:nvSpPr>
          <p:cNvPr id="11" name="Select a counterexample and explain it.">
            <a:extLst xmlns:a="http://schemas.openxmlformats.org/drawingml/2006/main">
              <a:ext uri="{FF2B5EF4-FFF2-40B4-BE49-F238E27FC236}">
                <a16:creationId xmlns:a16="http://schemas.microsoft.com/office/drawing/2014/main" id="{E282712D-B536-4927-A192-EAA6E269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Select a counterexample and explain it.</a:t>
            </a:r>
          </a:p>
        </p:txBody>
      </p:sp>
      <p:sp>
        <p:nvSpPr>
          <p:cNvPr id="12" name="Can four species describe every animal?">
            <a:extLst xmlns:a="http://schemas.openxmlformats.org/drawingml/2006/main">
              <a:ext uri="{FF2B5EF4-FFF2-40B4-BE49-F238E27FC236}">
                <a16:creationId xmlns:a16="http://schemas.microsoft.com/office/drawing/2014/main" id="{2059EA6E-59CC-4B80-9204-840626F1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four species describe every animal?</a:t>
            </a:r>
          </a:p>
        </p:txBody>
      </p:sp>
    </p:spTree>
    <p:extLst>
      <p:ext uri="{BB962C8B-B14F-4D97-AF65-F5344CB8AC3E}">
        <p14:creationId xmlns:p14="http://schemas.microsoft.com/office/powerpoint/2010/main" val="200241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0A942F5D-611C-45AD-B01A-4790A51E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5752D1E-AF98-4A93-98E0-82E1D28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FAAF886-5B22-4523-B6E4-C66323C2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808E24F9-B985-4E7F-87AC-C249A39B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1BD9B95B-CF60-460E-AA8B-60A8AE1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47DB76C2-F657-4989-8FC5-1D18D41B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Which comparison uses evidence fairly?">
            <a:extLst xmlns:a="http://schemas.openxmlformats.org/drawingml/2006/main">
              <a:ext uri="{FF2B5EF4-FFF2-40B4-BE49-F238E27FC236}">
                <a16:creationId xmlns:a16="http://schemas.microsoft.com/office/drawing/2014/main" id="{3A4F24A4-4CAC-4E44-81F9-F6C4D1E7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comparison uses evidence fairly?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46907DD-6AB7-4E77-8E5A-0E2268F8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70140008-03C6-411B-85A7-244D15F0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D809FC39-B3B4-49F4-BB8F-FB4E9F19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Choose the statement that the cards support.">
            <a:extLst xmlns:a="http://schemas.openxmlformats.org/drawingml/2006/main">
              <a:ext uri="{FF2B5EF4-FFF2-40B4-BE49-F238E27FC236}">
                <a16:creationId xmlns:a16="http://schemas.microsoft.com/office/drawing/2014/main" id="{10248F9B-981A-46C4-8513-7800218E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the statement that the cards support.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94DCB783-D3E7-46CD-86F9-238A5E85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075FCD74-2C78-42EF-9841-638B3C9D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92CA2658-811E-45BA-8A6E-F4454E4B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Frog and monarch have identical life cycles because both lay egg">
            <a:extLst xmlns:a="http://schemas.openxmlformats.org/drawingml/2006/main">
              <a:ext uri="{FF2B5EF4-FFF2-40B4-BE49-F238E27FC236}">
                <a16:creationId xmlns:a16="http://schemas.microsoft.com/office/drawing/2014/main" id="{257E81E3-5568-4A10-8B7D-382D3054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Frog and monarch have identical life cycles because both lay eggs.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A6D975F3-3124-49CA-A4EF-B73A1D1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F0C8898C-ADDB-4697-9E29-A95DDC79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7C2C7024-6740-426F-8DA9-BE7B74C0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Frog and monarch both have larvae, but only the monarch has a pu">
            <a:extLst xmlns:a="http://schemas.openxmlformats.org/drawingml/2006/main">
              <a:ext uri="{FF2B5EF4-FFF2-40B4-BE49-F238E27FC236}">
                <a16:creationId xmlns:a16="http://schemas.microsoft.com/office/drawing/2014/main" id="{0CC9AFEE-3C4B-4323-816B-EF1D857C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Frog and monarch both have larvae, but only the monarch has a pupa.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076A5689-E70A-4D64-B25D-7337F86D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4050C576-BA06-4019-8D23-A8F74722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2A1B3169-191B-4043-8F3C-30CF49A4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A platypus cannot be a mammal because it lays eggs.">
            <a:extLst xmlns:a="http://schemas.openxmlformats.org/drawingml/2006/main">
              <a:ext uri="{FF2B5EF4-FFF2-40B4-BE49-F238E27FC236}">
                <a16:creationId xmlns:a16="http://schemas.microsoft.com/office/drawing/2014/main" id="{DD98FA70-63FF-4B2D-BD88-06EB2619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platypus cannot be a mammal because it lays eggs.</a:t>
            </a:r>
          </a:p>
        </p:txBody>
      </p:sp>
    </p:spTree>
    <p:extLst>
      <p:ext uri="{BB962C8B-B14F-4D97-AF65-F5344CB8AC3E}">
        <p14:creationId xmlns:p14="http://schemas.microsoft.com/office/powerpoint/2010/main" val="3133464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7B744FBA-8195-4D4A-A283-AE1BF532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1F2AEED-76EE-469D-A925-0EF441E5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C8CE035-3F96-4C7B-9C88-A95A3BB9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196B4AD0-95BD-4074-A330-ABA2619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FF19F077-5E11-48E2-BBD9-258642E6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E832032E-40E1-404F-88B7-86E30AE6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Your independent investigation">
            <a:extLst xmlns:a="http://schemas.openxmlformats.org/drawingml/2006/main">
              <a:ext uri="{FF2B5EF4-FFF2-40B4-BE49-F238E27FC236}">
                <a16:creationId xmlns:a16="http://schemas.microsoft.com/office/drawing/2014/main" id="{AEB7D65A-BEC7-466F-A117-FDF18644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independent investigation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DB988AD-CC6A-417D-9765-60FB7074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5A87109B-609E-42E8-AE17-528CA13C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E5203149-0862-4FF3-A50F-BA987842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one response route.">
            <a:extLst xmlns:a="http://schemas.openxmlformats.org/drawingml/2006/main">
              <a:ext uri="{FF2B5EF4-FFF2-40B4-BE49-F238E27FC236}">
                <a16:creationId xmlns:a16="http://schemas.microsoft.com/office/drawing/2014/main" id="{F5A39AC2-1C8D-4998-91F6-F412B0A1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response route.</a:t>
            </a:r>
          </a:p>
        </p:txBody>
      </p:sp>
      <p:sp>
        <p:nvSpPr>
          <p:cNvPr id="12" name="Build an evidence-based comparison.">
            <a:extLst xmlns:a="http://schemas.openxmlformats.org/drawingml/2006/main">
              <a:ext uri="{FF2B5EF4-FFF2-40B4-BE49-F238E27FC236}">
                <a16:creationId xmlns:a16="http://schemas.microsoft.com/office/drawing/2014/main" id="{35DD4C03-C13B-42BC-8E63-5C225571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Build an evidence-based comparison.</a:t>
            </a:r>
          </a:p>
        </p:txBody>
      </p:sp>
      <p:sp>
        <p:nvSpPr>
          <p:cNvPr id="13" name="Test one broad claim with a named case.">
            <a:extLst xmlns:a="http://schemas.openxmlformats.org/drawingml/2006/main">
              <a:ext uri="{FF2B5EF4-FFF2-40B4-BE49-F238E27FC236}">
                <a16:creationId xmlns:a16="http://schemas.microsoft.com/office/drawing/2014/main" id="{6A991119-B018-47A3-82D2-0429A0B5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Test one broad claim with a named case.</a:t>
            </a:r>
          </a:p>
        </p:txBody>
      </p:sp>
    </p:spTree>
    <p:extLst>
      <p:ext uri="{BB962C8B-B14F-4D97-AF65-F5344CB8AC3E}">
        <p14:creationId xmlns:p14="http://schemas.microsoft.com/office/powerpoint/2010/main" val="21035212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DC8B588-18B8-404A-A076-4475A609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B8B05EC-548D-4340-9515-7C6A2038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79A054C-ACF9-4825-9B92-E9D8176B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D340AA8-B33A-4094-8E3A-ED9F1839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F04EE0D0-8EA6-4871-94BA-80814C68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e evidence">
            <a:extLst xmlns:a="http://schemas.openxmlformats.org/drawingml/2006/main">
              <a:ext uri="{FF2B5EF4-FFF2-40B4-BE49-F238E27FC236}">
                <a16:creationId xmlns:a16="http://schemas.microsoft.com/office/drawing/2014/main" id="{6367BE2E-3EB0-4D7B-B8A4-29D5255F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54782A6-8A52-47A0-8C0F-31649482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229FAD42-B27C-4A70-A8C4-123524B4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9ADF78DA-049F-4965-8267-77883456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Use the same feature for both animals.">
            <a:extLst xmlns:a="http://schemas.openxmlformats.org/drawingml/2006/main">
              <a:ext uri="{FF2B5EF4-FFF2-40B4-BE49-F238E27FC236}">
                <a16:creationId xmlns:a16="http://schemas.microsoft.com/office/drawing/2014/main" id="{E27F7EDD-D101-4EE8-A701-03339A1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same feature for both animals.</a:t>
            </a:r>
          </a:p>
        </p:txBody>
      </p:sp>
      <p:sp>
        <p:nvSpPr>
          <p:cNvPr id="11" name="Name your species and evidence card.">
            <a:extLst xmlns:a="http://schemas.openxmlformats.org/drawingml/2006/main">
              <a:ext uri="{FF2B5EF4-FFF2-40B4-BE49-F238E27FC236}">
                <a16:creationId xmlns:a16="http://schemas.microsoft.com/office/drawing/2014/main" id="{EEA63DFC-FE3C-46CD-8D46-F7229FA5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your species and evidence card.</a:t>
            </a:r>
          </a:p>
        </p:txBody>
      </p:sp>
      <p:sp>
        <p:nvSpPr>
          <p:cNvPr id="12" name="Distinguish “these examples” from “all animals”.">
            <a:extLst xmlns:a="http://schemas.openxmlformats.org/drawingml/2006/main">
              <a:ext uri="{FF2B5EF4-FFF2-40B4-BE49-F238E27FC236}">
                <a16:creationId xmlns:a16="http://schemas.microsoft.com/office/drawing/2014/main" id="{F323D7E4-5918-435C-83B4-9E5270F0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Distinguish “these examples” from “all animals”.</a:t>
            </a:r>
          </a:p>
        </p:txBody>
      </p:sp>
    </p:spTree>
    <p:extLst>
      <p:ext uri="{BB962C8B-B14F-4D97-AF65-F5344CB8AC3E}">
        <p14:creationId xmlns:p14="http://schemas.microsoft.com/office/powerpoint/2010/main" val="17617792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BD193DCA-45D7-4BF1-BAB8-57F2A92C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BEEBAC54-C07D-448E-A51D-53707668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1AE4265-7CE6-4835-8F58-AB72B09E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5B9AE02E-2F62-4892-A87E-2C212F54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A9AEEC47-F7DF-428B-BFBD-5E3C039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before sharing">
            <a:extLst xmlns:a="http://schemas.openxmlformats.org/drawingml/2006/main">
              <a:ext uri="{FF2B5EF4-FFF2-40B4-BE49-F238E27FC236}">
                <a16:creationId xmlns:a16="http://schemas.microsoft.com/office/drawing/2014/main" id="{E322CCD7-D953-46D0-B66F-534B26D6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before sharing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909535A-62C9-4158-B716-970BD026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11684D84-114E-4463-B47E-93D0ABDF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99FAD704-7C39-44DB-A12D-53B4AF08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Does my explanation answer the question?">
            <a:extLst xmlns:a="http://schemas.openxmlformats.org/drawingml/2006/main">
              <a:ext uri="{FF2B5EF4-FFF2-40B4-BE49-F238E27FC236}">
                <a16:creationId xmlns:a16="http://schemas.microsoft.com/office/drawing/2014/main" id="{2AF4EA96-5DBC-4C41-BF99-D61B7623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explanation answer the question?</a:t>
            </a:r>
          </a:p>
        </p:txBody>
      </p:sp>
      <p:sp>
        <p:nvSpPr>
          <p:cNvPr id="11" name="Have I named the evidence or process?">
            <a:extLst xmlns:a="http://schemas.openxmlformats.org/drawingml/2006/main">
              <a:ext uri="{FF2B5EF4-FFF2-40B4-BE49-F238E27FC236}">
                <a16:creationId xmlns:a16="http://schemas.microsoft.com/office/drawing/2014/main" id="{3DB3AC61-F3EC-4591-BE70-0C3237BA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named the evidence or process?</a:t>
            </a:r>
          </a:p>
        </p:txBody>
      </p:sp>
      <p:sp>
        <p:nvSpPr>
          <p:cNvPr id="12" name="Have I kept the conclusion within its limits?">
            <a:extLst xmlns:a="http://schemas.openxmlformats.org/drawingml/2006/main">
              <a:ext uri="{FF2B5EF4-FFF2-40B4-BE49-F238E27FC236}">
                <a16:creationId xmlns:a16="http://schemas.microsoft.com/office/drawing/2014/main" id="{B6BFF17F-CB63-416C-B2F2-531A2A6B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kept the conclusion within its limits?</a:t>
            </a:r>
          </a:p>
        </p:txBody>
      </p:sp>
    </p:spTree>
    <p:extLst>
      <p:ext uri="{BB962C8B-B14F-4D97-AF65-F5344CB8AC3E}">
        <p14:creationId xmlns:p14="http://schemas.microsoft.com/office/powerpoint/2010/main" val="9853192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C3F3B5CC-4B89-4D9C-AB76-E3D6D6DE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4E068F7-71BC-4754-AFDB-EAD99AE6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2F2EAB4-644E-413D-9C0B-30FFF35D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3257E63A-AB3A-47B0-8D07-736B1CE5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E990C297-99C0-42C1-8114-54D648B8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F8F5B440-5348-4585-98AF-8308C62B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Compare and improve">
            <a:extLst xmlns:a="http://schemas.openxmlformats.org/drawingml/2006/main">
              <a:ext uri="{FF2B5EF4-FFF2-40B4-BE49-F238E27FC236}">
                <a16:creationId xmlns:a16="http://schemas.microsoft.com/office/drawing/2014/main" id="{10E3ABF5-06D2-4A2D-8ADB-895DF8EA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and improve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2B86429-A3F9-45ED-972C-8B1E8C88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6DA32909-4985-4074-9B3F-31C98360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CD1E8645-D381-402D-B638-DB771EF1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Show a precise similarity or difference.">
            <a:extLst xmlns:a="http://schemas.openxmlformats.org/drawingml/2006/main">
              <a:ext uri="{FF2B5EF4-FFF2-40B4-BE49-F238E27FC236}">
                <a16:creationId xmlns:a16="http://schemas.microsoft.com/office/drawing/2014/main" id="{92F5E8B7-52FF-4156-A055-3AC77169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a precise similarity or difference.</a:t>
            </a:r>
          </a:p>
        </p:txBody>
      </p:sp>
      <p:sp>
        <p:nvSpPr>
          <p:cNvPr id="12" name="Check the named evidence.">
            <a:extLst xmlns:a="http://schemas.openxmlformats.org/drawingml/2006/main">
              <a:ext uri="{FF2B5EF4-FFF2-40B4-BE49-F238E27FC236}">
                <a16:creationId xmlns:a16="http://schemas.microsoft.com/office/drawing/2014/main" id="{B62790D1-2939-487D-A548-B20863E7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the named evidence.</a:t>
            </a:r>
          </a:p>
        </p:txBody>
      </p:sp>
      <p:sp>
        <p:nvSpPr>
          <p:cNvPr id="13" name="Improve one broad or vague statement.">
            <a:extLst xmlns:a="http://schemas.openxmlformats.org/drawingml/2006/main">
              <a:ext uri="{FF2B5EF4-FFF2-40B4-BE49-F238E27FC236}">
                <a16:creationId xmlns:a16="http://schemas.microsoft.com/office/drawing/2014/main" id="{6BA71C5E-BF25-416F-AB19-2594FA3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one broad or vague statement.</a:t>
            </a:r>
          </a:p>
        </p:txBody>
      </p:sp>
    </p:spTree>
    <p:extLst>
      <p:ext uri="{BB962C8B-B14F-4D97-AF65-F5344CB8AC3E}">
        <p14:creationId xmlns:p14="http://schemas.microsoft.com/office/powerpoint/2010/main" val="5886842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442E5BE-4BC6-4A5D-83FA-15A69235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F3B79EF-465B-4040-9E67-4F450D4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5112230-983D-418B-BA55-C6830C92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B07F9A22-4A93-458E-BC47-372E2997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47CFE9B3-4ED9-40A4-9E2A-BB18BAF4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A question worth investigating">
            <a:extLst xmlns:a="http://schemas.openxmlformats.org/drawingml/2006/main">
              <a:ext uri="{FF2B5EF4-FFF2-40B4-BE49-F238E27FC236}">
                <a16:creationId xmlns:a16="http://schemas.microsoft.com/office/drawing/2014/main" id="{1DFE6E88-DDB4-47F6-A492-0A33B7B3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question worth investigating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9E81A209-4DF8-4700-B561-30162319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CDF77031-1FEB-49E1-BFF9-59141C73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77777105-6E93-4B57-8695-4EF82F4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Suggest one next question about this lesson’s evidence.">
            <a:extLst xmlns:a="http://schemas.openxmlformats.org/drawingml/2006/main">
              <a:ext uri="{FF2B5EF4-FFF2-40B4-BE49-F238E27FC236}">
                <a16:creationId xmlns:a16="http://schemas.microsoft.com/office/drawing/2014/main" id="{4B3287B3-EDA5-4BED-9103-4B03B8C3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Suggest one next question about this lesson’s evidence.</a:t>
            </a:r>
          </a:p>
        </p:txBody>
      </p:sp>
      <p:sp>
        <p:nvSpPr>
          <p:cNvPr id="11" name="Choose a question whose answer would improve our model.">
            <a:extLst xmlns:a="http://schemas.openxmlformats.org/drawingml/2006/main">
              <a:ext uri="{FF2B5EF4-FFF2-40B4-BE49-F238E27FC236}">
                <a16:creationId xmlns:a16="http://schemas.microsoft.com/office/drawing/2014/main" id="{943F66B4-D7CD-4EE8-92BC-16A0EE06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question whose answer would improve our model.</a:t>
            </a:r>
          </a:p>
        </p:txBody>
      </p:sp>
    </p:spTree>
    <p:extLst>
      <p:ext uri="{BB962C8B-B14F-4D97-AF65-F5344CB8AC3E}">
        <p14:creationId xmlns:p14="http://schemas.microsoft.com/office/powerpoint/2010/main" val="10553867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FE73ED1-B252-476C-AC7E-813DC708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5FEF28F-BDD7-4325-80E4-6648EBC7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5632EF8-14E5-4FDD-90D4-D9973077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FC30985-D8B0-449E-89CF-E65F017B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BD134E36-FC4A-4A17-9FE2-CA1FF63B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E03E0FB7-9234-4410-916C-6D73A115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Show the science you can explain">
            <a:extLst xmlns:a="http://schemas.openxmlformats.org/drawingml/2006/main">
              <a:ext uri="{FF2B5EF4-FFF2-40B4-BE49-F238E27FC236}">
                <a16:creationId xmlns:a16="http://schemas.microsoft.com/office/drawing/2014/main" id="{FC8206DF-991C-4600-A41E-8E61CA0B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the science you can explain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68E5CF2-6564-4B84-97C9-5152DD19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life-cycle comparison bureau">
            <a:extLst xmlns:a="http://schemas.openxmlformats.org/drawingml/2006/main">
              <a:ext uri="{FF2B5EF4-FFF2-40B4-BE49-F238E27FC236}">
                <a16:creationId xmlns:a16="http://schemas.microsoft.com/office/drawing/2014/main" id="{999C59B8-1643-4B29-89E8-DBE9B609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life-cycle comparison bureau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C2CC9A5E-A6AE-42D5-B5C9-0CA1CB23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Give a frog–monarch similarity.">
            <a:extLst xmlns:a="http://schemas.openxmlformats.org/drawingml/2006/main">
              <a:ext uri="{FF2B5EF4-FFF2-40B4-BE49-F238E27FC236}">
                <a16:creationId xmlns:a16="http://schemas.microsoft.com/office/drawing/2014/main" id="{87669141-E9CF-486C-B605-C723C9FF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Give a frog–monarch similarity.</a:t>
            </a:r>
          </a:p>
        </p:txBody>
      </p:sp>
      <p:sp>
        <p:nvSpPr>
          <p:cNvPr id="12" name="E2. Give one difference in stages.">
            <a:extLst xmlns:a="http://schemas.openxmlformats.org/drawingml/2006/main">
              <a:ext uri="{FF2B5EF4-FFF2-40B4-BE49-F238E27FC236}">
                <a16:creationId xmlns:a16="http://schemas.microsoft.com/office/drawing/2014/main" id="{5465B804-28B1-465B-A0B4-99D0D01C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Give one difference in stages.</a:t>
            </a:r>
          </a:p>
        </p:txBody>
      </p:sp>
      <p:sp>
        <p:nvSpPr>
          <p:cNvPr id="13" name="E3. Explain a counterexample to “all egg-layers are birds”.">
            <a:extLst xmlns:a="http://schemas.openxmlformats.org/drawingml/2006/main">
              <a:ext uri="{FF2B5EF4-FFF2-40B4-BE49-F238E27FC236}">
                <a16:creationId xmlns:a16="http://schemas.microsoft.com/office/drawing/2014/main" id="{8E7461D0-8A06-4E85-80C6-1E31C824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Explain a counterexample to “all egg-layers are birds”.</a:t>
            </a:r>
          </a:p>
        </p:txBody>
      </p:sp>
    </p:spTree>
    <p:extLst>
      <p:ext uri="{BB962C8B-B14F-4D97-AF65-F5344CB8AC3E}">
        <p14:creationId xmlns:p14="http://schemas.microsoft.com/office/powerpoint/2010/main" val="1261962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2026-09-08T23:59:25.0440000Z</dcterms:created>
  <dcterms:modified xsi:type="dcterms:W3CDTF">2026-09-08T23:59:25.0440000Z</dcterms:modified>
</coreProperties>
</file>