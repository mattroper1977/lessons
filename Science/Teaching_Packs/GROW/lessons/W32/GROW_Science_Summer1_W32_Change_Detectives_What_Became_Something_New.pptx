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3f47b53f664260" /><Relationship Type="http://schemas.openxmlformats.org/officeDocument/2006/relationships/extended-properties" Target="/docProps/app.xml" Id="R52852dcdc5614413" /><Relationship Type="http://schemas.openxmlformats.org/officeDocument/2006/relationships/officeDocument" Target="/ppt/presentation.xml" Id="Rbe0966940dea49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7defc409f94ffc"/>
  </p:sldMasterIdLst>
  <p:notesMasterIdLst>
    <p:notesMasterId xmlns:r="http://schemas.openxmlformats.org/officeDocument/2006/relationships" r:id="R5a06878d434148cf"/>
  </p:notesMasterIdLst>
  <p:sldIdLst>
    <p:sldId xmlns:r="http://schemas.openxmlformats.org/officeDocument/2006/relationships" id="256" r:id="Rd62f5b979b7349db"/>
    <p:sldId xmlns:r="http://schemas.openxmlformats.org/officeDocument/2006/relationships" id="257" r:id="Rab08e28626794b81"/>
    <p:sldId xmlns:r="http://schemas.openxmlformats.org/officeDocument/2006/relationships" id="258" r:id="R0339104460c94ffc"/>
    <p:sldId xmlns:r="http://schemas.openxmlformats.org/officeDocument/2006/relationships" id="259" r:id="R131a906ef8984599"/>
    <p:sldId xmlns:r="http://schemas.openxmlformats.org/officeDocument/2006/relationships" id="260" r:id="Rba0c4708f56e49e2"/>
    <p:sldId xmlns:r="http://schemas.openxmlformats.org/officeDocument/2006/relationships" id="261" r:id="Re8ea7d2199b542b5"/>
    <p:sldId xmlns:r="http://schemas.openxmlformats.org/officeDocument/2006/relationships" id="262" r:id="Rebca38bfa0fa4008"/>
    <p:sldId xmlns:r="http://schemas.openxmlformats.org/officeDocument/2006/relationships" id="263" r:id="R109268072a564623"/>
    <p:sldId xmlns:r="http://schemas.openxmlformats.org/officeDocument/2006/relationships" id="264" r:id="Rbaaf4ff01d6c4638"/>
    <p:sldId xmlns:r="http://schemas.openxmlformats.org/officeDocument/2006/relationships" id="265" r:id="R48bc9e0b343e4c8e"/>
    <p:sldId xmlns:r="http://schemas.openxmlformats.org/officeDocument/2006/relationships" id="266" r:id="R5f3eaa733c6d4ee3"/>
    <p:sldId xmlns:r="http://schemas.openxmlformats.org/officeDocument/2006/relationships" id="267" r:id="Rf6833cc98bf3444a"/>
    <p:sldId xmlns:r="http://schemas.openxmlformats.org/officeDocument/2006/relationships" id="268" r:id="Rfde2a38e2a544b8a"/>
    <p:sldId xmlns:r="http://schemas.openxmlformats.org/officeDocument/2006/relationships" id="269" r:id="R11fde8a0253a4512"/>
    <p:sldId xmlns:r="http://schemas.openxmlformats.org/officeDocument/2006/relationships" id="270" r:id="R5289459ee32c45a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0fbad2e43e4ec4" /><Relationship Type="http://schemas.openxmlformats.org/officeDocument/2006/relationships/slideMaster" Target="/ppt/slideMasters/slideMaster1.xml" Id="Rba7defc409f94ffc" /><Relationship Type="http://schemas.openxmlformats.org/officeDocument/2006/relationships/notesMaster" Target="/ppt/notesMasters/notesMaster1.xml" Id="R5a06878d434148cf" /><Relationship Type="http://schemas.openxmlformats.org/officeDocument/2006/relationships/presProps" Target="/ppt/presProps.xml" Id="R6d50bd6aa5e54ee1" /><Relationship Type="http://schemas.openxmlformats.org/officeDocument/2006/relationships/tableStyles" Target="/ppt/tableStyles.xml" Id="R1a922e706b334fb6" /><Relationship Type="http://schemas.openxmlformats.org/officeDocument/2006/relationships/slide" Target="/ppt/slides/slide1.xml" Id="Rd62f5b979b7349db" /><Relationship Type="http://schemas.openxmlformats.org/officeDocument/2006/relationships/slide" Target="/ppt/slides/slide2.xml" Id="Rab08e28626794b81" /><Relationship Type="http://schemas.openxmlformats.org/officeDocument/2006/relationships/slide" Target="/ppt/slides/slide3.xml" Id="R0339104460c94ffc" /><Relationship Type="http://schemas.openxmlformats.org/officeDocument/2006/relationships/slide" Target="/ppt/slides/slide4.xml" Id="R131a906ef8984599" /><Relationship Type="http://schemas.openxmlformats.org/officeDocument/2006/relationships/slide" Target="/ppt/slides/slide5.xml" Id="Rba0c4708f56e49e2" /><Relationship Type="http://schemas.openxmlformats.org/officeDocument/2006/relationships/slide" Target="/ppt/slides/slide6.xml" Id="Re8ea7d2199b542b5" /><Relationship Type="http://schemas.openxmlformats.org/officeDocument/2006/relationships/slide" Target="/ppt/slides/slide7.xml" Id="Rebca38bfa0fa4008" /><Relationship Type="http://schemas.openxmlformats.org/officeDocument/2006/relationships/slide" Target="/ppt/slides/slide8.xml" Id="R109268072a564623" /><Relationship Type="http://schemas.openxmlformats.org/officeDocument/2006/relationships/slide" Target="/ppt/slides/slide9.xml" Id="Rbaaf4ff01d6c4638" /><Relationship Type="http://schemas.openxmlformats.org/officeDocument/2006/relationships/slide" Target="/ppt/slides/slide10.xml" Id="R48bc9e0b343e4c8e" /><Relationship Type="http://schemas.openxmlformats.org/officeDocument/2006/relationships/slide" Target="/ppt/slides/slide11.xml" Id="R5f3eaa733c6d4ee3" /><Relationship Type="http://schemas.openxmlformats.org/officeDocument/2006/relationships/slide" Target="/ppt/slides/slide12.xml" Id="Rf6833cc98bf3444a" /><Relationship Type="http://schemas.openxmlformats.org/officeDocument/2006/relationships/slide" Target="/ppt/slides/slide13.xml" Id="Rfde2a38e2a544b8a" /><Relationship Type="http://schemas.openxmlformats.org/officeDocument/2006/relationships/slide" Target="/ppt/slides/slide14.xml" Id="R11fde8a0253a4512" /><Relationship Type="http://schemas.openxmlformats.org/officeDocument/2006/relationships/slide" Target="/ppt/slides/slide15.xml" Id="R5289459ee32c45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8f8de0f98342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03a2c604774922" /><Relationship Type="http://schemas.openxmlformats.org/officeDocument/2006/relationships/notesMaster" Target="/ppt/notesMasters/notesMaster1.xml" Id="Rbfac378cac9f45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8e4dc35cd04a89" /><Relationship Type="http://schemas.openxmlformats.org/officeDocument/2006/relationships/notesMaster" Target="/ppt/notesMasters/notesMaster1.xml" Id="Rc1afc3eae04f4a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6959515982413c" /><Relationship Type="http://schemas.openxmlformats.org/officeDocument/2006/relationships/notesMaster" Target="/ppt/notesMasters/notesMaster1.xml" Id="R75b397bc0ded4b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6ec22a18ae4f44" /><Relationship Type="http://schemas.openxmlformats.org/officeDocument/2006/relationships/notesMaster" Target="/ppt/notesMasters/notesMaster1.xml" Id="R8ddf7d9d34c84f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a0788a59bf4d87" /><Relationship Type="http://schemas.openxmlformats.org/officeDocument/2006/relationships/notesMaster" Target="/ppt/notesMasters/notesMaster1.xml" Id="Refd7fca1586346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0faf79d65b04df1" /><Relationship Type="http://schemas.openxmlformats.org/officeDocument/2006/relationships/notesMaster" Target="/ppt/notesMasters/notesMaster1.xml" Id="R43198e8a8e9b47a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bd549e32244c87" /><Relationship Type="http://schemas.openxmlformats.org/officeDocument/2006/relationships/notesMaster" Target="/ppt/notesMasters/notesMaster1.xml" Id="R8dd5a112f1fd40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20876df3be4e6f" /><Relationship Type="http://schemas.openxmlformats.org/officeDocument/2006/relationships/notesMaster" Target="/ppt/notesMasters/notesMaster1.xml" Id="Ra0a704353e60420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ffe2a0ccf14690" /><Relationship Type="http://schemas.openxmlformats.org/officeDocument/2006/relationships/notesMaster" Target="/ppt/notesMasters/notesMaster1.xml" Id="R3f4c1f6477b8480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19b2d5996f74d27" /><Relationship Type="http://schemas.openxmlformats.org/officeDocument/2006/relationships/notesMaster" Target="/ppt/notesMasters/notesMaster1.xml" Id="Rcea3dcdacbdd463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80e7d125c84412a" /><Relationship Type="http://schemas.openxmlformats.org/officeDocument/2006/relationships/notesMaster" Target="/ppt/notesMasters/notesMaster1.xml" Id="R62841d8f9c5049f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37990418927459c" /><Relationship Type="http://schemas.openxmlformats.org/officeDocument/2006/relationships/notesMaster" Target="/ppt/notesMasters/notesMaster1.xml" Id="R3b3756362c624d2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2e6855282a84597" /><Relationship Type="http://schemas.openxmlformats.org/officeDocument/2006/relationships/notesMaster" Target="/ppt/notesMasters/notesMaster1.xml" Id="Rdb6d7d2fb90144d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fa09558ee044b4f" /><Relationship Type="http://schemas.openxmlformats.org/officeDocument/2006/relationships/notesMaster" Target="/ppt/notesMasters/notesMaster1.xml" Id="R014ce9bf9717412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2feeaf980d249f1" /><Relationship Type="http://schemas.openxmlformats.org/officeDocument/2006/relationships/notesMaster" Target="/ppt/notesMasters/notesMaster1.xml" Id="R4a87a3b4681b4f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Frame a desk evidence investigation. Do not classify by dramatic appearance. Point to the difference between an object and the substance it is made from.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ACS: What is a chemical reaction?</a:t>
            </a:r>
          </a:p>
          <a:p xmlns:a="http://schemas.openxmlformats.org/drawingml/2006/main">
            <a:r>
              <a:t>https://www.acs.org/middleschoolchemistry/lessonplans/chapter6/lesson1.html</a:t>
            </a:r>
          </a:p>
          <a:p xmlns:a="http://schemas.openxmlformats.org/drawingml/2006/main">
            <a:r>
              <a:t>Checked September 2026. New substances, combustion products and conservation of atoms; our card investigation and diagrams are original. No source practical is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Chemistry 2e: Physical and chemical properties</a:t>
            </a:r>
          </a:p>
          <a:p xmlns:a="http://schemas.openxmlformats.org/drawingml/2006/main">
            <a:r>
              <a:t>https://openstax.org/books/chemistry-2e/pages/1-3-physical-and-chemical-properties</a:t>
            </a:r>
          </a:p>
          <a:p xmlns:a="http://schemas.openxmlformats.org/drawingml/2006/main">
            <a:r>
              <a:t>Checked September 2026. Physical versus chemical change, including corrosion; terminology is adapted to the GROW scheme.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DfE: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September 2026. Upper-KS2 changes of materials and new-material outcomes; no accreditation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 cool below freezing point. R2 no; it remains in solution and can be recovered. R3 no; state changes retain substance identity. Use responses to recap the preceding recovery lesson briefly.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ACS: What is a chemical reaction?</a:t>
            </a:r>
          </a:p>
          <a:p xmlns:a="http://schemas.openxmlformats.org/drawingml/2006/main">
            <a:r>
              <a:t>https://www.acs.org/middleschoolchemistry/lessonplans/chapter6/lesson1.html</a:t>
            </a:r>
          </a:p>
          <a:p xmlns:a="http://schemas.openxmlformats.org/drawingml/2006/main">
            <a:r>
              <a:t>Checked September 2026. New substances, combustion products and conservation of atoms; our card investigation and diagrams are original. No source practical is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Chemistry 2e: Physical and chemical properties</a:t>
            </a:r>
          </a:p>
          <a:p xmlns:a="http://schemas.openxmlformats.org/drawingml/2006/main">
            <a:r>
              <a:t>https://openstax.org/books/chemistry-2e/pages/1-3-physical-and-chemical-properties</a:t>
            </a:r>
          </a:p>
          <a:p xmlns:a="http://schemas.openxmlformats.org/drawingml/2006/main">
            <a:r>
              <a:t>Checked September 2026. Physical versus chemical change, including corrosion; terminology is adapted to the GROW scheme.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DfE: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September 2026. Upper-KS2 changes of materials and new-material outcomes; no accreditation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8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Think aloud: I can freeze melted ice; the substance is water throughout. A torn paper sheet is hard to restore, yet tearing has not by itself created a new substance. This is why “hard to undo” alone is an unreliable chemical test. Do not teach all physical changes as reversible.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Two separate questions distinguish reversibility from substance identity. Melting ice can be reversed by cooling and makes no new substance; tearing paper is difficult to reverse but also makes no new substance.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ACS: What is a chemical reaction?</a:t>
            </a:r>
          </a:p>
          <a:p xmlns:a="http://schemas.openxmlformats.org/drawingml/2006/main">
            <a:r>
              <a:t>https://www.acs.org/middleschoolchemistry/lessonplans/chapter6/lesson1.html</a:t>
            </a:r>
          </a:p>
          <a:p xmlns:a="http://schemas.openxmlformats.org/drawingml/2006/main">
            <a:r>
              <a:t>Checked September 2026. New substances, combustion products and conservation of atoms; our card investigation and diagrams are original. No source practical is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Chemistry 2e: Physical and chemical properties</a:t>
            </a:r>
          </a:p>
          <a:p xmlns:a="http://schemas.openxmlformats.org/drawingml/2006/main">
            <a:r>
              <a:t>https://openstax.org/books/chemistry-2e/pages/1-3-physical-and-chemical-properties</a:t>
            </a:r>
          </a:p>
          <a:p xmlns:a="http://schemas.openxmlformats.org/drawingml/2006/main">
            <a:r>
              <a:t>Checked September 2026. Physical versus chemical change, including corrosion; terminology is adapted to the GROW scheme.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DfE: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September 2026. Upper-KS2 changes of materials and new-material outcomes; no accreditation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I do time. Use the word model as a relationship, not a particle picture or balanced equation. Rust is a mixture of iron oxides/hydroxides, often simplified as hydrated iron oxide; that name is not required. Ordinary rusting needs both oxygen and water. Salt can accelerate it but is not essential.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A word model shows iron and oxygen with water forming rust; this is not a balanced equation and the shapes are labels, not particles.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ACS: What is a chemical reaction?</a:t>
            </a:r>
          </a:p>
          <a:p xmlns:a="http://schemas.openxmlformats.org/drawingml/2006/main">
            <a:r>
              <a:t>https://www.acs.org/middleschoolchemistry/lessonplans/chapter6/lesson1.html</a:t>
            </a:r>
          </a:p>
          <a:p xmlns:a="http://schemas.openxmlformats.org/drawingml/2006/main">
            <a:r>
              <a:t>Checked September 2026. New substances, combustion products and conservation of atoms; our card investigation and diagrams are original. No source practical is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Chemistry 2e: Physical and chemical properties</a:t>
            </a:r>
          </a:p>
          <a:p xmlns:a="http://schemas.openxmlformats.org/drawingml/2006/main">
            <a:r>
              <a:t>https://openstax.org/books/chemistry-2e/pages/1-3-physical-and-chemical-properties</a:t>
            </a:r>
          </a:p>
          <a:p xmlns:a="http://schemas.openxmlformats.org/drawingml/2006/main">
            <a:r>
              <a:t>Checked September 2026. Physical versus chemical change, including corrosion; terminology is adapted to the GROW scheme.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DfE: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September 2026. Upper-KS2 changes of materials and new-material outcomes; no accreditation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I do time. Solid wax melts; liquid wax is drawn up a wick and vaporises before reacting. The top and bottom panels represent different changes, not a single arrow joining liquid wax directly to products. Complete combustion gives carbon dioxide and water; incomplete combustion can also produce soot and other products. No live demonstration.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A top row shows reversible wax melting and solidifying. A separate bottom row shows wax vapour plus oxygen forming carbon dioxide and water; these chemical products are not turned back into wax by cooling.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ACS: What is a chemical reaction?</a:t>
            </a:r>
          </a:p>
          <a:p xmlns:a="http://schemas.openxmlformats.org/drawingml/2006/main">
            <a:r>
              <a:t>https://www.acs.org/middleschoolchemistry/lessonplans/chapter6/lesson1.html</a:t>
            </a:r>
          </a:p>
          <a:p xmlns:a="http://schemas.openxmlformats.org/drawingml/2006/main">
            <a:r>
              <a:t>Checked September 2026. New substances, combustion products and conservation of atoms; our card investigation and diagrams are original. No source practical is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Chemistry 2e: Physical and chemical properties</a:t>
            </a:r>
          </a:p>
          <a:p xmlns:a="http://schemas.openxmlformats.org/drawingml/2006/main">
            <a:r>
              <a:t>https://openstax.org/books/chemistry-2e/pages/1-3-physical-and-chemical-properties</a:t>
            </a:r>
          </a:p>
          <a:p xmlns:a="http://schemas.openxmlformats.org/drawingml/2006/main">
            <a:r>
              <a:t>Checked September 2026. Physical versus chemical change, including corrosion; terminology is adapted to the GROW scheme.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DfE: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September 2026. Upper-KS2 changes of materials and new-material outcomes; no accreditation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8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3 minutes of We do: A/B physical; C/D chemical. For B explain same paper even though sheet restoration is difficult. C has analysis evidence; D identifies products. Each pupil commits a sort by pointing or noting letters before feedback.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ACS: What is a chemical reaction?</a:t>
            </a:r>
          </a:p>
          <a:p xmlns:a="http://schemas.openxmlformats.org/drawingml/2006/main">
            <a:r>
              <a:t>https://www.acs.org/middleschoolchemistry/lessonplans/chapter6/lesson1.html</a:t>
            </a:r>
          </a:p>
          <a:p xmlns:a="http://schemas.openxmlformats.org/drawingml/2006/main">
            <a:r>
              <a:t>Checked September 2026. New substances, combustion products and conservation of atoms; our card investigation and diagrams are original. No source practical is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Chemistry 2e: Physical and chemical properties</a:t>
            </a:r>
          </a:p>
          <a:p xmlns:a="http://schemas.openxmlformats.org/drawingml/2006/main">
            <a:r>
              <a:t>https://openstax.org/books/chemistry-2e/pages/1-3-physical-and-chemical-properties</a:t>
            </a:r>
          </a:p>
          <a:p xmlns:a="http://schemas.openxmlformats.org/drawingml/2006/main">
            <a:r>
              <a:t>Checked September 2026. Physical versus chemical change, including corrosion; terminology is adapted to the GROW scheme.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DfE: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September 2026. Upper-KS2 changes of materials and new-material outcomes; no accreditation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2 minutes: torn paper is a counterexample. Better question: has evidence shown a new substance formed? C rust and D burning support it. A visual change is a clue, not sufficient proof of a chemical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ACS: What is a chemical reaction?</a:t>
            </a:r>
          </a:p>
          <a:p xmlns:a="http://schemas.openxmlformats.org/drawingml/2006/main">
            <a:r>
              <a:t>https://www.acs.org/middleschoolchemistry/lessonplans/chapter6/lesson1.html</a:t>
            </a:r>
          </a:p>
          <a:p xmlns:a="http://schemas.openxmlformats.org/drawingml/2006/main">
            <a:r>
              <a:t>Checked September 2026. New substances, combustion products and conservation of atoms; our card investigation and diagrams are original. No source practical is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Chemistry 2e: Physical and chemical properties</a:t>
            </a:r>
          </a:p>
          <a:p xmlns:a="http://schemas.openxmlformats.org/drawingml/2006/main">
            <a:r>
              <a:t>https://openstax.org/books/chemistry-2e/pages/1-3-physical-and-chemical-properties</a:t>
            </a:r>
          </a:p>
          <a:p xmlns:a="http://schemas.openxmlformats.org/drawingml/2006/main">
            <a:r>
              <a:t>Checked September 2026. Physical versus chemical change, including corrosion; terminology is adapted to the GROW scheme.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DfE: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September 2026. Upper-KS2 changes of materials and new-material outcomes; no accreditation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3 minutes: E-A physical melting; E-B chemical burning. Cooling can solidify remaining liquid wax. Burnt wax reacts with oxygen, making products including gases; atoms do not vanish.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/ MODEL ANSWER</a:t>
            </a:r>
          </a:p>
          <a:p xmlns:a="http://schemas.openxmlformats.org/drawingml/2006/main">
            <a:r>
              <a:t>Melting: state change. Burning: new substances, including gases.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ACS: What is a chemical reaction?</a:t>
            </a:r>
          </a:p>
          <a:p xmlns:a="http://schemas.openxmlformats.org/drawingml/2006/main">
            <a:r>
              <a:t>https://www.acs.org/middleschoolchemistry/lessonplans/chapter6/lesson1.html</a:t>
            </a:r>
          </a:p>
          <a:p xmlns:a="http://schemas.openxmlformats.org/drawingml/2006/main">
            <a:r>
              <a:t>Checked September 2026. New substances, combustion products and conservation of atoms; our card investigation and diagrams are original. No source practical is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Chemistry 2e: Physical and chemical properties</a:t>
            </a:r>
          </a:p>
          <a:p xmlns:a="http://schemas.openxmlformats.org/drawingml/2006/main">
            <a:r>
              <a:t>https://openstax.org/books/chemistry-2e/pages/1-3-physical-and-chemical-properties</a:t>
            </a:r>
          </a:p>
          <a:p xmlns:a="http://schemas.openxmlformats.org/drawingml/2006/main">
            <a:r>
              <a:t>Checked September 2026. Physical versus chemical change, including corrosion; terminology is adapted to the GROW scheme.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DfE: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September 2026. Upper-KS2 changes of materials and new-material outcomes; no accreditation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incorrect: shape can change physically. B correct: new-substance evidence. C incorrect: physical changes can be difficult to undo. If uncertain, return to torn paper and rusty iron, asking about substance identity.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A. It has a different shape.</a:t>
            </a:r>
          </a:p>
          <a:p xmlns:a="http://schemas.openxmlformats.org/drawingml/2006/main">
            <a:r>
              <a:t>A shape change can leave the substance unchanged.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B. Tests identify a new substance.</a:t>
            </a:r>
          </a:p>
          <a:p xmlns:a="http://schemas.openxmlformats.org/drawingml/2006/main">
            <a:r>
              <a:t>Correct. Formation of a new substance defines a chemical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C. It is awkward to put back.</a:t>
            </a:r>
          </a:p>
          <a:p xmlns:a="http://schemas.openxmlformats.org/drawingml/2006/main">
            <a:r>
              <a:t>Torn paper can be awkward to restore without a chemical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ACS: What is a chemical reaction?</a:t>
            </a:r>
          </a:p>
          <a:p xmlns:a="http://schemas.openxmlformats.org/drawingml/2006/main">
            <a:r>
              <a:t>https://www.acs.org/middleschoolchemistry/lessonplans/chapter6/lesson1.html</a:t>
            </a:r>
          </a:p>
          <a:p xmlns:a="http://schemas.openxmlformats.org/drawingml/2006/main">
            <a:r>
              <a:t>Checked September 2026. New substances, combustion products and conservation of atoms; our card investigation and diagrams are original. No source practical is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Chemistry 2e: Physical and chemical properties</a:t>
            </a:r>
          </a:p>
          <a:p xmlns:a="http://schemas.openxmlformats.org/drawingml/2006/main">
            <a:r>
              <a:t>https://openstax.org/books/chemistry-2e/pages/1-3-physical-and-chemical-properties</a:t>
            </a:r>
          </a:p>
          <a:p xmlns:a="http://schemas.openxmlformats.org/drawingml/2006/main">
            <a:r>
              <a:t>Checked September 2026. Physical versus chemical change, including corrosion; terminology is adapted to the GROW scheme.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DfE: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September 2026. Upper-KS2 changes of materials and new-material outcomes; no accreditation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Independent 10 minutes over three slides. Select support from hinge evidence. Offer the evidence sheet on all routes. Adult may read questions but must not provide classification or causal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ACS: What is a chemical reaction?</a:t>
            </a:r>
          </a:p>
          <a:p xmlns:a="http://schemas.openxmlformats.org/drawingml/2006/main">
            <a:r>
              <a:t>https://www.acs.org/middleschoolchemistry/lessonplans/chapter6/lesson1.html</a:t>
            </a:r>
          </a:p>
          <a:p xmlns:a="http://schemas.openxmlformats.org/drawingml/2006/main">
            <a:r>
              <a:t>Checked September 2026. New substances, combustion products and conservation of atoms; our card investigation and diagrams are original. No source practical is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Chemistry 2e: Physical and chemical properties</a:t>
            </a:r>
          </a:p>
          <a:p xmlns:a="http://schemas.openxmlformats.org/drawingml/2006/main">
            <a:r>
              <a:t>https://openstax.org/books/chemistry-2e/pages/1-3-physical-and-chemical-properties</a:t>
            </a:r>
          </a:p>
          <a:p xmlns:a="http://schemas.openxmlformats.org/drawingml/2006/main">
            <a:r>
              <a:t>Checked September 2026. Physical versus chemical change, including corrosion; terminology is adapted to the GROW scheme.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DfE: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September 2026. Upper-KS2 changes of materials and new-material outcomes; no accreditation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You do time. Prompt the type of explanation without naming answers. Pupils can use labels and arrows instead of a paragraph.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ACS: What is a chemical reaction?</a:t>
            </a:r>
          </a:p>
          <a:p xmlns:a="http://schemas.openxmlformats.org/drawingml/2006/main">
            <a:r>
              <a:t>https://www.acs.org/middleschoolchemistry/lessonplans/chapter6/lesson1.html</a:t>
            </a:r>
          </a:p>
          <a:p xmlns:a="http://schemas.openxmlformats.org/drawingml/2006/main">
            <a:r>
              <a:t>Checked September 2026. New substances, combustion products and conservation of atoms; our card investigation and diagrams are original. No source practical is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Chemistry 2e: Physical and chemical properties</a:t>
            </a:r>
          </a:p>
          <a:p xmlns:a="http://schemas.openxmlformats.org/drawingml/2006/main">
            <a:r>
              <a:t>https://openstax.org/books/chemistry-2e/pages/1-3-physical-and-chemical-properties</a:t>
            </a:r>
          </a:p>
          <a:p xmlns:a="http://schemas.openxmlformats.org/drawingml/2006/main">
            <a:r>
              <a:t>Checked September 2026. Physical versus chemical change, including corrosion; terminology is adapted to the GROW scheme.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DfE: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September 2026. Upper-KS2 changes of materials and new-material outcomes; no accreditation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You do time. Check task access only; do not read model answers until the independent attempt is complete.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ACS: What is a chemical reaction?</a:t>
            </a:r>
          </a:p>
          <a:p xmlns:a="http://schemas.openxmlformats.org/drawingml/2006/main">
            <a:r>
              <a:t>https://www.acs.org/middleschoolchemistry/lessonplans/chapter6/lesson1.html</a:t>
            </a:r>
          </a:p>
          <a:p xmlns:a="http://schemas.openxmlformats.org/drawingml/2006/main">
            <a:r>
              <a:t>Checked September 2026. New substances, combustion products and conservation of atoms; our card investigation and diagrams are original. No source practical is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Chemistry 2e: Physical and chemical properties</a:t>
            </a:r>
          </a:p>
          <a:p xmlns:a="http://schemas.openxmlformats.org/drawingml/2006/main">
            <a:r>
              <a:t>https://openstax.org/books/chemistry-2e/pages/1-3-physical-and-chemical-properties</a:t>
            </a:r>
          </a:p>
          <a:p xmlns:a="http://schemas.openxmlformats.org/drawingml/2006/main">
            <a:r>
              <a:t>Checked September 2026. Physical versus chemical change, including corrosion; terminology is adapted to the GROW scheme.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DfE: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September 2026. Upper-KS2 changes of materials and new-material outcomes; no accreditation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4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Review after collecting independent evidence. Accept scientific meaning rather than prescribed wording. A correctly classified case without a reason is partial, not secure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ACS: What is a chemical reaction?</a:t>
            </a:r>
          </a:p>
          <a:p xmlns:a="http://schemas.openxmlformats.org/drawingml/2006/main">
            <a:r>
              <a:t>https://www.acs.org/middleschoolchemistry/lessonplans/chapter6/lesson1.html</a:t>
            </a:r>
          </a:p>
          <a:p xmlns:a="http://schemas.openxmlformats.org/drawingml/2006/main">
            <a:r>
              <a:t>Checked September 2026. New substances, combustion products and conservation of atoms; our card investigation and diagrams are original. No source practical is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Chemistry 2e: Physical and chemical properties</a:t>
            </a:r>
          </a:p>
          <a:p xmlns:a="http://schemas.openxmlformats.org/drawingml/2006/main">
            <a:r>
              <a:t>https://openstax.org/books/chemistry-2e/pages/1-3-physical-and-chemical-properties</a:t>
            </a:r>
          </a:p>
          <a:p xmlns:a="http://schemas.openxmlformats.org/drawingml/2006/main">
            <a:r>
              <a:t>Checked September 2026. Physical versus chemical change, including corrosion; terminology is adapted to the GROW scheme.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DfE: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September 2026. Upper-KS2 changes of materials and new-material outcomes; no accreditation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Lundy pupil voice: collect suggestions, select one improvement, and explain how pupil reasoning affected the teacher’s next explanation. Passing or submitting a written suggestion is valid.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ACS: What is a chemical reaction?</a:t>
            </a:r>
          </a:p>
          <a:p xmlns:a="http://schemas.openxmlformats.org/drawingml/2006/main">
            <a:r>
              <a:t>https://www.acs.org/middleschoolchemistry/lessonplans/chapter6/lesson1.html</a:t>
            </a:r>
          </a:p>
          <a:p xmlns:a="http://schemas.openxmlformats.org/drawingml/2006/main">
            <a:r>
              <a:t>Checked September 2026. New substances, combustion products and conservation of atoms; our card investigation and diagrams are original. No source practical is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Chemistry 2e: Physical and chemical properties</a:t>
            </a:r>
          </a:p>
          <a:p xmlns:a="http://schemas.openxmlformats.org/drawingml/2006/main">
            <a:r>
              <a:t>https://openstax.org/books/chemistry-2e/pages/1-3-physical-and-chemical-properties</a:t>
            </a:r>
          </a:p>
          <a:p xmlns:a="http://schemas.openxmlformats.org/drawingml/2006/main">
            <a:r>
              <a:t>Checked September 2026. Physical versus chemical change, including corrosion; terminology is adapted to the GROW scheme.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DfE: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September 2026. Upper-KS2 changes of materials and new-material outcomes; no accreditation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E1 new rust material forms from iron with oxygen/water. E2 no new substance just from tearing. E3 reaction forms new products, unlike state change. Collect before revealing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ACS: What is a chemical reaction?</a:t>
            </a:r>
          </a:p>
          <a:p xmlns:a="http://schemas.openxmlformats.org/drawingml/2006/main">
            <a:r>
              <a:t>https://www.acs.org/middleschoolchemistry/lessonplans/chapter6/lesson1.html</a:t>
            </a:r>
          </a:p>
          <a:p xmlns:a="http://schemas.openxmlformats.org/drawingml/2006/main">
            <a:r>
              <a:t>Checked September 2026. New substances, combustion products and conservation of atoms; our card investigation and diagrams are original. No source practical is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Chemistry 2e: Physical and chemical properties</a:t>
            </a:r>
          </a:p>
          <a:p xmlns:a="http://schemas.openxmlformats.org/drawingml/2006/main">
            <a:r>
              <a:t>https://openstax.org/books/chemistry-2e/pages/1-3-physical-and-chemical-properties</a:t>
            </a:r>
          </a:p>
          <a:p xmlns:a="http://schemas.openxmlformats.org/drawingml/2006/main">
            <a:r>
              <a:t>Checked September 2026. Physical versus chemical change, including corrosion; terminology is adapted to the GROW scheme.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DfE: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September 2026. Upper-KS2 changes of materials and new-material outcomes; no accreditation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fe542ca7fe4b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3c41f4dbce4a66" /><Relationship Type="http://schemas.openxmlformats.org/officeDocument/2006/relationships/slideLayout" Target="/ppt/slideLayouts/slideLayout1.xml" Id="R7143a7fa602b4f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43a7fa602b4f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c8401aa74c4e25" /><Relationship Type="http://schemas.openxmlformats.org/officeDocument/2006/relationships/notesSlide" Target="/ppt/notesSlides/notesSlide1.xml" Id="R2a1fc723d93542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98522df09f4d6e" /><Relationship Type="http://schemas.openxmlformats.org/officeDocument/2006/relationships/notesSlide" Target="/ppt/notesSlides/notesSlide2.xml" Id="R44e8b14caf374c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ca0f09d9144484" /><Relationship Type="http://schemas.openxmlformats.org/officeDocument/2006/relationships/notesSlide" Target="/ppt/notesSlides/notesSlide3.xml" Id="R4ee3e471bdc44f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95de40b99f42c2" /><Relationship Type="http://schemas.openxmlformats.org/officeDocument/2006/relationships/notesSlide" Target="/ppt/notesSlides/notesSlide4.xml" Id="R8e8b180e597b48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fd5c937c34c3d" /><Relationship Type="http://schemas.openxmlformats.org/officeDocument/2006/relationships/notesSlide" Target="/ppt/notesSlides/notesSlide5.xml" Id="Red92752a226a48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8545c9e8224e5b" /><Relationship Type="http://schemas.openxmlformats.org/officeDocument/2006/relationships/notesSlide" Target="/ppt/notesSlides/notesSlide6.xml" Id="Rdf3bc9350b7d450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cbdd1c60d24226" /><Relationship Type="http://schemas.openxmlformats.org/officeDocument/2006/relationships/notesSlide" Target="/ppt/notesSlides/notesSlide7.xml" Id="Re9cb7c0e0922421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3b06e2567743e9" /><Relationship Type="http://schemas.openxmlformats.org/officeDocument/2006/relationships/notesSlide" Target="/ppt/notesSlides/notesSlide8.xml" Id="R3ed9d37940d4409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995dcd33544216" /><Relationship Type="http://schemas.openxmlformats.org/officeDocument/2006/relationships/notesSlide" Target="/ppt/notesSlides/notesSlide9.xml" Id="R50e094eb313c48c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3d98db9b44bce" /><Relationship Type="http://schemas.openxmlformats.org/officeDocument/2006/relationships/notesSlide" Target="/ppt/notesSlides/notesSlide10.xml" Id="Rd3145d09e69f41d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2dc29c124440eb" /><Relationship Type="http://schemas.openxmlformats.org/officeDocument/2006/relationships/notesSlide" Target="/ppt/notesSlides/notesSlide11.xml" Id="Rfd15ed67d4cd48f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c12165e22a47cc" /><Relationship Type="http://schemas.openxmlformats.org/officeDocument/2006/relationships/notesSlide" Target="/ppt/notesSlides/notesSlide12.xml" Id="R555bb8e0f35d4ae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0577e8893c4683" /><Relationship Type="http://schemas.openxmlformats.org/officeDocument/2006/relationships/notesSlide" Target="/ppt/notesSlides/notesSlide13.xml" Id="R6bb7642015f44da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699efe98c740bb" /><Relationship Type="http://schemas.openxmlformats.org/officeDocument/2006/relationships/notesSlide" Target="/ppt/notesSlides/notesSlide14.xml" Id="R8c8de11874c345c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3c61bb06db4565" /><Relationship Type="http://schemas.openxmlformats.org/officeDocument/2006/relationships/notesSlide" Target="/ppt/notesSlides/notesSlide15.xml" Id="R54fb9269759941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DF465E9F-E787-40B0-83F5-24479134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3E9CDC1A-C2AD-45DE-9467-0FB0AAF0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054BA05D-1DB1-47E6-90EC-CCBD05E4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8B4B9BB9-8FDF-4BF9-9357-13F25261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Opening">
            <a:extLst xmlns:a="http://schemas.openxmlformats.org/drawingml/2006/main">
              <a:ext uri="{FF2B5EF4-FFF2-40B4-BE49-F238E27FC236}">
                <a16:creationId xmlns:a16="http://schemas.microsoft.com/office/drawing/2014/main" id="{502AEB84-8147-4B48-8A7D-215443C2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Opening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AB7E9393-0F38-423F-A68E-A126E42A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The workshop has mixed up its labels">
            <a:extLst xmlns:a="http://schemas.openxmlformats.org/drawingml/2006/main">
              <a:ext uri="{FF2B5EF4-FFF2-40B4-BE49-F238E27FC236}">
                <a16:creationId xmlns:a16="http://schemas.microsoft.com/office/drawing/2014/main" id="{AB9DD6BD-98AD-41A1-B3F0-BED7B131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workshop has mixed up its labels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F70600A7-A95A-4C6F-BAC4-B7F47D93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Change detectives: what became something new?">
            <a:extLst xmlns:a="http://schemas.openxmlformats.org/drawingml/2006/main">
              <a:ext uri="{FF2B5EF4-FFF2-40B4-BE49-F238E27FC236}">
                <a16:creationId xmlns:a16="http://schemas.microsoft.com/office/drawing/2014/main" id="{2DBE3912-8789-46B8-A73F-3431D878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Change detectives: what became something new?</a:t>
            </a:r>
          </a:p>
        </p:txBody>
      </p:sp>
      <p:sp>
        <p:nvSpPr>
          <p:cNvPr id="10" name="1 / 15">
            <a:extLst xmlns:a="http://schemas.openxmlformats.org/drawingml/2006/main">
              <a:ext uri="{FF2B5EF4-FFF2-40B4-BE49-F238E27FC236}">
                <a16:creationId xmlns:a16="http://schemas.microsoft.com/office/drawing/2014/main" id="{C2FDDB27-900F-4E33-AF31-FAC37F5C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 / 15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3BD4D834-075A-4A85-9EA5-9AD83AAF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1112520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8FA85F51-ED14-4B34-B846-F3FF6420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66675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13" name="Learning intention">
            <a:extLst xmlns:a="http://schemas.openxmlformats.org/drawingml/2006/main">
              <a:ext uri="{FF2B5EF4-FFF2-40B4-BE49-F238E27FC236}">
                <a16:creationId xmlns:a16="http://schemas.microsoft.com/office/drawing/2014/main" id="{8F5576BB-041D-45D2-A2E0-F8E31169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Learning intention</a:t>
            </a:r>
          </a:p>
        </p:txBody>
      </p:sp>
      <p:sp>
        <p:nvSpPr>
          <p:cNvPr id="14" name="Describe burning and rusting as changes that form new materials,">
            <a:extLst xmlns:a="http://schemas.openxmlformats.org/drawingml/2006/main">
              <a:ext uri="{FF2B5EF4-FFF2-40B4-BE49-F238E27FC236}">
                <a16:creationId xmlns:a16="http://schemas.microsoft.com/office/drawing/2014/main" id="{371D81BC-33D0-4E46-BC50-C4E06DBA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1057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Describe burning and rusting as changes that form new materials, and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distinguish them from a change of state.</a:t>
            </a:r>
          </a:p>
        </p:txBody>
      </p:sp>
      <p:sp>
        <p:nvSpPr>
          <p:cNvPr id="15" name="A torn ticket and a rusty bracket both look different.">
            <a:extLst xmlns:a="http://schemas.openxmlformats.org/drawingml/2006/main">
              <a:ext uri="{FF2B5EF4-FFF2-40B4-BE49-F238E27FC236}">
                <a16:creationId xmlns:a16="http://schemas.microsoft.com/office/drawing/2014/main" id="{3DDC9CB2-1C94-4F79-BD22-D7CE10B9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torn ticket and a rusty bracket both look different.</a:t>
            </a:r>
          </a:p>
        </p:txBody>
      </p:sp>
      <p:sp>
        <p:nvSpPr>
          <p:cNvPr id="16" name="Did both become a new substance?">
            <a:extLst xmlns:a="http://schemas.openxmlformats.org/drawingml/2006/main">
              <a:ext uri="{FF2B5EF4-FFF2-40B4-BE49-F238E27FC236}">
                <a16:creationId xmlns:a16="http://schemas.microsoft.com/office/drawing/2014/main" id="{BC2AD727-D1F2-493F-BE7A-CC6C495D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157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Did both become a new substance?</a:t>
            </a:r>
          </a:p>
        </p:txBody>
      </p:sp>
    </p:spTree>
    <p:extLst>
      <p:ext uri="{BB962C8B-B14F-4D97-AF65-F5344CB8AC3E}">
        <p14:creationId xmlns:p14="http://schemas.microsoft.com/office/powerpoint/2010/main" val="6017939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0A211371-037D-40F0-B571-DE84C01A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B9C32500-3D71-4856-8A86-FB1A73F4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2220C9CE-EE8E-4B8B-867F-FACD8E09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6931D7F5-EC2C-48E6-89A7-DB6B882D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Retrieval">
            <a:extLst xmlns:a="http://schemas.openxmlformats.org/drawingml/2006/main">
              <a:ext uri="{FF2B5EF4-FFF2-40B4-BE49-F238E27FC236}">
                <a16:creationId xmlns:a16="http://schemas.microsoft.com/office/drawing/2014/main" id="{1C077DE7-BB22-459A-961C-AAC9FDBC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Retrieval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7BDECCB8-8669-4416-85A5-8F7DED40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Three things we can recover">
            <a:extLst xmlns:a="http://schemas.openxmlformats.org/drawingml/2006/main">
              <a:ext uri="{FF2B5EF4-FFF2-40B4-BE49-F238E27FC236}">
                <a16:creationId xmlns:a16="http://schemas.microsoft.com/office/drawing/2014/main" id="{11123707-AA58-4C6C-8943-FC0BCCA7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Three things we can recover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E55D4BBA-DA47-46EB-A8FC-00890296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Change detectives: what became something new?">
            <a:extLst xmlns:a="http://schemas.openxmlformats.org/drawingml/2006/main">
              <a:ext uri="{FF2B5EF4-FFF2-40B4-BE49-F238E27FC236}">
                <a16:creationId xmlns:a16="http://schemas.microsoft.com/office/drawing/2014/main" id="{B9B046AD-01B2-41F6-AE09-E7B14BC8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Change detectives: what became something new?</a:t>
            </a:r>
          </a:p>
        </p:txBody>
      </p:sp>
      <p:sp>
        <p:nvSpPr>
          <p:cNvPr id="10" name="2 / 15">
            <a:extLst xmlns:a="http://schemas.openxmlformats.org/drawingml/2006/main">
              <a:ext uri="{FF2B5EF4-FFF2-40B4-BE49-F238E27FC236}">
                <a16:creationId xmlns:a16="http://schemas.microsoft.com/office/drawing/2014/main" id="{9581F5F0-C3A3-4700-93EF-0D4637C2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2 / 15</a:t>
            </a:r>
          </a:p>
        </p:txBody>
      </p:sp>
      <p:sp>
        <p:nvSpPr>
          <p:cNvPr id="11" name="R1. How could liquid water become ice?">
            <a:extLst xmlns:a="http://schemas.openxmlformats.org/drawingml/2006/main">
              <a:ext uri="{FF2B5EF4-FFF2-40B4-BE49-F238E27FC236}">
                <a16:creationId xmlns:a16="http://schemas.microsoft.com/office/drawing/2014/main" id="{9E0ADD86-D8FF-4E08-8171-6E198D0E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R1. How could liquid water become ice?</a:t>
            </a:r>
          </a:p>
        </p:txBody>
      </p:sp>
      <p:sp>
        <p:nvSpPr>
          <p:cNvPr id="12" name="R2. Does dissolved salt stop existing?">
            <a:extLst xmlns:a="http://schemas.openxmlformats.org/drawingml/2006/main">
              <a:ext uri="{FF2B5EF4-FFF2-40B4-BE49-F238E27FC236}">
                <a16:creationId xmlns:a16="http://schemas.microsoft.com/office/drawing/2014/main" id="{29D2283A-FF85-4E4F-833A-EF2AED0F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R2. Does dissolved salt stop existing?</a:t>
            </a:r>
          </a:p>
        </p:txBody>
      </p:sp>
      <p:sp>
        <p:nvSpPr>
          <p:cNvPr id="13" name="R3. Does melting always make a new substance?">
            <a:extLst xmlns:a="http://schemas.openxmlformats.org/drawingml/2006/main">
              <a:ext uri="{FF2B5EF4-FFF2-40B4-BE49-F238E27FC236}">
                <a16:creationId xmlns:a16="http://schemas.microsoft.com/office/drawing/2014/main" id="{2463E26B-EAF0-4822-8DC6-7C9D9C75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R3. Does melting always make a new substance?</a:t>
            </a:r>
          </a:p>
        </p:txBody>
      </p:sp>
    </p:spTree>
    <p:extLst>
      <p:ext uri="{BB962C8B-B14F-4D97-AF65-F5344CB8AC3E}">
        <p14:creationId xmlns:p14="http://schemas.microsoft.com/office/powerpoint/2010/main" val="2996214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D25C3512-CBDD-4FFF-82B2-5BD069DA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DF695E7E-4A05-4863-ADB9-84EE3398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EAD4CB97-BB75-4E0E-95FF-44339C51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13DDFD65-C24A-4CBF-ACF6-AC11445E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3A7DB83A-539D-481F-812D-FFB7BFAB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8 min">
            <a:extLst xmlns:a="http://schemas.openxmlformats.org/drawingml/2006/main">
              <a:ext uri="{FF2B5EF4-FFF2-40B4-BE49-F238E27FC236}">
                <a16:creationId xmlns:a16="http://schemas.microsoft.com/office/drawing/2014/main" id="{86B1C4BA-6E90-4AE3-AA34-7C69D8D4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8 min</a:t>
            </a:r>
          </a:p>
        </p:txBody>
      </p:sp>
      <p:sp>
        <p:nvSpPr>
          <p:cNvPr id="7" name="I ask two different questions">
            <a:extLst xmlns:a="http://schemas.openxmlformats.org/drawingml/2006/main">
              <a:ext uri="{FF2B5EF4-FFF2-40B4-BE49-F238E27FC236}">
                <a16:creationId xmlns:a16="http://schemas.microsoft.com/office/drawing/2014/main" id="{D64FA978-053C-43F5-991D-70A02D0F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ask two different questions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022E7B6F-4323-4153-9625-B1D558A3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Change detectives: what became something new?">
            <a:extLst xmlns:a="http://schemas.openxmlformats.org/drawingml/2006/main">
              <a:ext uri="{FF2B5EF4-FFF2-40B4-BE49-F238E27FC236}">
                <a16:creationId xmlns:a16="http://schemas.microsoft.com/office/drawing/2014/main" id="{AC6ECFF4-2BF2-429F-883C-AF141B0E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Change detectives: what became something new?</a:t>
            </a:r>
          </a:p>
        </p:txBody>
      </p:sp>
      <p:sp>
        <p:nvSpPr>
          <p:cNvPr id="10" name="3 / 15">
            <a:extLst xmlns:a="http://schemas.openxmlformats.org/drawingml/2006/main">
              <a:ext uri="{FF2B5EF4-FFF2-40B4-BE49-F238E27FC236}">
                <a16:creationId xmlns:a16="http://schemas.microsoft.com/office/drawing/2014/main" id="{E8791F6D-971C-4DD1-B58E-F3D65C7B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3 / 15</a:t>
            </a:r>
          </a:p>
        </p:txBody>
      </p:sp>
      <p:sp>
        <p:nvSpPr>
          <p:cNvPr id="11" name="Diagram label: Can we undo it? Did it make a new substance?">
            <a:extLst xmlns:a="http://schemas.openxmlformats.org/drawingml/2006/main">
              <a:ext uri="{FF2B5EF4-FFF2-40B4-BE49-F238E27FC236}">
                <a16:creationId xmlns:a16="http://schemas.microsoft.com/office/drawing/2014/main" id="{7A1FB097-28B5-4C32-BFE8-323A370D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468" y="2023042"/>
            <a:ext cx="6447064" cy="3854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5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Can we undo it? Did it make a new substance?</a:t>
            </a:r>
          </a:p>
        </p:txBody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0B86EFE3-223A-487F-A2B4-A81184D2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2545" y="2688771"/>
            <a:ext cx="2873148" cy="20322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13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F9E4CDC6-2361-4D74-957E-BEB5EE89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6307" y="2688771"/>
            <a:ext cx="2873148" cy="20322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14" name="Diagram label: ICE → LIQUID WATER">
            <a:extLst xmlns:a="http://schemas.openxmlformats.org/drawingml/2006/main">
              <a:ext uri="{FF2B5EF4-FFF2-40B4-BE49-F238E27FC236}">
                <a16:creationId xmlns:a16="http://schemas.microsoft.com/office/drawing/2014/main" id="{95425D41-B5F3-41BC-AC74-F7CA6F38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660" y="2828925"/>
            <a:ext cx="2662918" cy="350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ICE → LIQUID WATER</a:t>
            </a:r>
          </a:p>
        </p:txBody>
      </p:sp>
      <p:sp>
        <p:nvSpPr>
          <p:cNvPr id="15" name="Diagram label: PAPER → TORN PAPER">
            <a:extLst xmlns:a="http://schemas.openxmlformats.org/drawingml/2006/main">
              <a:ext uri="{FF2B5EF4-FFF2-40B4-BE49-F238E27FC236}">
                <a16:creationId xmlns:a16="http://schemas.microsoft.com/office/drawing/2014/main" id="{B5CDD486-3E09-431E-A40A-2925541E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1499" y="2828925"/>
            <a:ext cx="2522764" cy="350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PAPER → TORN PAPER</a:t>
            </a:r>
          </a:p>
        </p:txBody>
      </p:sp>
      <p:sp>
        <p:nvSpPr>
          <p:cNvPr id="16" name="Diagram label: Cooling can reverse it.&#10;The substance is still water.&#10;Physical change.">
            <a:extLst xmlns:a="http://schemas.openxmlformats.org/drawingml/2006/main">
              <a:ext uri="{FF2B5EF4-FFF2-40B4-BE49-F238E27FC236}">
                <a16:creationId xmlns:a16="http://schemas.microsoft.com/office/drawing/2014/main" id="{B8101DD0-3B6A-4028-AF10-581F76BD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737" y="3319463"/>
            <a:ext cx="2522764" cy="10511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Cooling can reverse it.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substance is still water.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Physical change.</a:t>
            </a:r>
          </a:p>
        </p:txBody>
      </p:sp>
      <p:sp>
        <p:nvSpPr>
          <p:cNvPr id="17" name="Diagram label: Hard to restore the sheet.&#10;The paper is still paper.&#10;Physical change.">
            <a:extLst xmlns:a="http://schemas.openxmlformats.org/drawingml/2006/main">
              <a:ext uri="{FF2B5EF4-FFF2-40B4-BE49-F238E27FC236}">
                <a16:creationId xmlns:a16="http://schemas.microsoft.com/office/drawing/2014/main" id="{5E40A758-C1FD-40F0-B419-CBABB6EE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1499" y="3319463"/>
            <a:ext cx="2522764" cy="10511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Hard to restore the sheet.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paper is still paper.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Physical change.</a:t>
            </a:r>
          </a:p>
        </p:txBody>
      </p:sp>
      <p:sp>
        <p:nvSpPr>
          <p:cNvPr id="18" name="Diagram label: Being hard to undo is not enough evidence&#10;that a new substance formed.">
            <a:extLst xmlns:a="http://schemas.openxmlformats.org/drawingml/2006/main">
              <a:ext uri="{FF2B5EF4-FFF2-40B4-BE49-F238E27FC236}">
                <a16:creationId xmlns:a16="http://schemas.microsoft.com/office/drawing/2014/main" id="{85308E40-7CB7-47BE-8035-BB8D85AF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7583" y="5001305"/>
            <a:ext cx="6236834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Being hard to undo is not enough evidence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that a new substance formed.</a:t>
            </a:r>
          </a:p>
        </p:txBody>
      </p:sp>
      <p:sp>
        <p:nvSpPr>
          <p:cNvPr id="19" name="Can a simple process reverse this change?  Is the material still">
            <a:extLst xmlns:a="http://schemas.openxmlformats.org/drawingml/2006/main">
              <a:ext uri="{FF2B5EF4-FFF2-40B4-BE49-F238E27FC236}">
                <a16:creationId xmlns:a16="http://schemas.microsoft.com/office/drawing/2014/main" id="{3D91074A-E490-4B19-BD6A-D005DA6E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Can a simple process reverse this change? Is the material still the same substance? I use the second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question to classify the change.</a:t>
            </a:r>
          </a:p>
        </p:txBody>
      </p:sp>
    </p:spTree>
    <p:extLst>
      <p:ext uri="{BB962C8B-B14F-4D97-AF65-F5344CB8AC3E}">
        <p14:creationId xmlns:p14="http://schemas.microsoft.com/office/powerpoint/2010/main" val="15656724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urface">
            <a:extLst xmlns:a="http://schemas.openxmlformats.org/drawingml/2006/main">
              <a:ext uri="{FF2B5EF4-FFF2-40B4-BE49-F238E27FC236}">
                <a16:creationId xmlns:a16="http://schemas.microsoft.com/office/drawing/2014/main" id="{6C521F93-5933-44B2-911A-AA8405FC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A223BB60-524E-4CBF-8E64-A2A65C19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F11AB2B8-064E-4EB1-8280-F34CEAA2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4EFDF9C7-7E5F-4295-B9DE-E19FB39C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4A25B11B-1068-4B36-9CB9-2800589F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I explain the rusty bracket">
            <a:extLst xmlns:a="http://schemas.openxmlformats.org/drawingml/2006/main">
              <a:ext uri="{FF2B5EF4-FFF2-40B4-BE49-F238E27FC236}">
                <a16:creationId xmlns:a16="http://schemas.microsoft.com/office/drawing/2014/main" id="{CD8B61BE-C4EB-4BBA-BC34-4D27F21F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explain the rusty bracket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C447AF87-B0D2-4D09-96DB-582E603E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Change detectives: what became something new?">
            <a:extLst xmlns:a="http://schemas.openxmlformats.org/drawingml/2006/main">
              <a:ext uri="{FF2B5EF4-FFF2-40B4-BE49-F238E27FC236}">
                <a16:creationId xmlns:a16="http://schemas.microsoft.com/office/drawing/2014/main" id="{B8EAACEF-FE36-425A-BB39-50F8CAAB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Change detectives: what became something new?</a:t>
            </a:r>
          </a:p>
        </p:txBody>
      </p:sp>
      <p:sp>
        <p:nvSpPr>
          <p:cNvPr id="9" name="4 / 15">
            <a:extLst xmlns:a="http://schemas.openxmlformats.org/drawingml/2006/main">
              <a:ext uri="{FF2B5EF4-FFF2-40B4-BE49-F238E27FC236}">
                <a16:creationId xmlns:a16="http://schemas.microsoft.com/office/drawing/2014/main" id="{BF4A979D-33E3-442B-9FA0-2C99349F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4 / 15</a:t>
            </a:r>
          </a:p>
        </p:txBody>
      </p:sp>
      <p:sp>
        <p:nvSpPr>
          <p:cNvPr id="10" name="Diagram label: Rusting makes new substances">
            <a:extLst xmlns:a="http://schemas.openxmlformats.org/drawingml/2006/main">
              <a:ext uri="{FF2B5EF4-FFF2-40B4-BE49-F238E27FC236}">
                <a16:creationId xmlns:a16="http://schemas.microsoft.com/office/drawing/2014/main" id="{8CC10B28-26C7-41D4-B9F9-A41F62E4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882" y="2034523"/>
            <a:ext cx="6944235" cy="448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81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81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Rusting makes new substances</a:t>
            </a:r>
          </a:p>
        </p:txBody>
      </p:sp>
      <p:sp>
        <p:nvSpPr>
          <p:cNvPr id="1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1FACB487-3372-45FF-88A9-3EECFD47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552" y="3266565"/>
            <a:ext cx="1941399" cy="1008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12" name="Diagram label: IRON&#10;starting material">
            <a:extLst xmlns:a="http://schemas.openxmlformats.org/drawingml/2006/main">
              <a:ext uri="{FF2B5EF4-FFF2-40B4-BE49-F238E27FC236}">
                <a16:creationId xmlns:a16="http://schemas.microsoft.com/office/drawing/2014/main" id="{ED98B239-5D41-4147-A63A-5778FFD8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3221" y="3490572"/>
            <a:ext cx="1792061" cy="56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0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0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IRON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70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0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starting material</a:t>
            </a:r>
          </a:p>
        </p:txBody>
      </p:sp>
      <p:sp>
        <p:nvSpPr>
          <p:cNvPr id="13" name="Diagram label: +">
            <a:extLst xmlns:a="http://schemas.openxmlformats.org/drawingml/2006/main">
              <a:ext uri="{FF2B5EF4-FFF2-40B4-BE49-F238E27FC236}">
                <a16:creationId xmlns:a16="http://schemas.microsoft.com/office/drawing/2014/main" id="{92FEE9F6-A8DE-4DB9-A68C-F19A58F5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620" y="3527907"/>
            <a:ext cx="485350" cy="448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17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17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+</a:t>
            </a:r>
          </a:p>
        </p:txBody>
      </p:sp>
      <p:sp>
        <p:nvSpPr>
          <p:cNvPr id="1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F1825380-64A9-4381-8871-DB1B9FD6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7304" y="3266565"/>
            <a:ext cx="1941399" cy="1008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15" name="Diagram label: OXYGEN&#10;and WATER">
            <a:extLst xmlns:a="http://schemas.openxmlformats.org/drawingml/2006/main">
              <a:ext uri="{FF2B5EF4-FFF2-40B4-BE49-F238E27FC236}">
                <a16:creationId xmlns:a16="http://schemas.microsoft.com/office/drawing/2014/main" id="{4CA8E112-8A3B-4D72-94C7-02A6BC8C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1973" y="3453238"/>
            <a:ext cx="1792061" cy="634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0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0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OXYGEN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70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0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and WATER</a:t>
            </a:r>
          </a:p>
        </p:txBody>
      </p:sp>
      <p:sp>
        <p:nvSpPr>
          <p:cNvPr id="16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92179DE7-DAE0-4E04-9AAC-A3F7452A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53373" y="3774315"/>
            <a:ext cx="406947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1F2937"/>
            </a:solidFill>
          </a:ln>
        </p:spPr>
      </p:sp>
      <p:sp>
        <p:nvSpPr>
          <p:cNvPr id="17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AC017B57-D5D3-466D-ADDF-54AFA80C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634185" y="3722047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</a:ln>
        </p:spPr>
      </p:sp>
      <p:sp>
        <p:nvSpPr>
          <p:cNvPr id="18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EED137E9-528D-47FB-BACE-64C25F1F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0726" y="3266565"/>
            <a:ext cx="1680057" cy="1008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DD"/>
          </a:solidFill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19" name="Diagram label: RUST&#10;new material">
            <a:extLst xmlns:a="http://schemas.openxmlformats.org/drawingml/2006/main">
              <a:ext uri="{FF2B5EF4-FFF2-40B4-BE49-F238E27FC236}">
                <a16:creationId xmlns:a16="http://schemas.microsoft.com/office/drawing/2014/main" id="{553E3E61-E5BD-422C-98B7-15AFA9E6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5395" y="3490572"/>
            <a:ext cx="1530719" cy="56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RUST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new material</a:t>
            </a:r>
          </a:p>
        </p:txBody>
      </p:sp>
      <p:sp>
        <p:nvSpPr>
          <p:cNvPr id="20" name="Diagram label: Cooling or wiping rust does not make it iron again.&#10;Word model: not a balanced chemical equation.&#10;Rusting is gradual; animation time is not real time.">
            <a:extLst xmlns:a="http://schemas.openxmlformats.org/drawingml/2006/main">
              <a:ext uri="{FF2B5EF4-FFF2-40B4-BE49-F238E27FC236}">
                <a16:creationId xmlns:a16="http://schemas.microsoft.com/office/drawing/2014/main" id="{B802D4BE-15AE-4758-BE65-BA3F7C3B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886" y="4685279"/>
            <a:ext cx="6720228" cy="97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Cooling or wiping rust does not make it iron again.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Word model: not a balanced chemical equation.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Rusting is gradual; animation time is not real time.</a:t>
            </a:r>
          </a:p>
        </p:txBody>
      </p:sp>
      <p:sp>
        <p:nvSpPr>
          <p:cNvPr id="21" name="Iron reacts with oxygen and water.  Rust is a new material.  Coo">
            <a:extLst xmlns:a="http://schemas.openxmlformats.org/drawingml/2006/main">
              <a:ext uri="{FF2B5EF4-FFF2-40B4-BE49-F238E27FC236}">
                <a16:creationId xmlns:a16="http://schemas.microsoft.com/office/drawing/2014/main" id="{871DCEDE-AD5A-4EBB-9A9E-7E96DB9D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Iron reacts with oxygen and water. Rust is a new material. Cooling does not restore the original iron.</a:t>
            </a:r>
          </a:p>
        </p:txBody>
      </p:sp>
    </p:spTree>
    <p:extLst>
      <p:ext uri="{BB962C8B-B14F-4D97-AF65-F5344CB8AC3E}">
        <p14:creationId xmlns:p14="http://schemas.microsoft.com/office/powerpoint/2010/main" val="840626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urface">
            <a:extLst xmlns:a="http://schemas.openxmlformats.org/drawingml/2006/main">
              <a:ext uri="{FF2B5EF4-FFF2-40B4-BE49-F238E27FC236}">
                <a16:creationId xmlns:a16="http://schemas.microsoft.com/office/drawing/2014/main" id="{0B9F04F6-E9CE-4CDB-A0C0-E279D4FB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4BADAAEB-59C9-48A7-9DB3-B6C45848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F63D2494-8161-409E-A6A7-A69FAC51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496EBBF1-D90C-4C9F-BA92-3DEB4015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DADDB106-4500-4584-B2D3-F00A9E15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I separate two candle processes">
            <a:extLst xmlns:a="http://schemas.openxmlformats.org/drawingml/2006/main">
              <a:ext uri="{FF2B5EF4-FFF2-40B4-BE49-F238E27FC236}">
                <a16:creationId xmlns:a16="http://schemas.microsoft.com/office/drawing/2014/main" id="{D893AE09-AF8E-4F4A-AF8B-3CCAD26D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separate two candle processes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C8409951-4F12-4CAB-93F3-3BBF50CB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Change detectives: what became something new?">
            <a:extLst xmlns:a="http://schemas.openxmlformats.org/drawingml/2006/main">
              <a:ext uri="{FF2B5EF4-FFF2-40B4-BE49-F238E27FC236}">
                <a16:creationId xmlns:a16="http://schemas.microsoft.com/office/drawing/2014/main" id="{FD975C8F-AB97-4541-BE26-B30C0E95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Change detectives: what became something new?</a:t>
            </a:r>
          </a:p>
        </p:txBody>
      </p:sp>
      <p:sp>
        <p:nvSpPr>
          <p:cNvPr id="9" name="5 / 15">
            <a:extLst xmlns:a="http://schemas.openxmlformats.org/drawingml/2006/main">
              <a:ext uri="{FF2B5EF4-FFF2-40B4-BE49-F238E27FC236}">
                <a16:creationId xmlns:a16="http://schemas.microsoft.com/office/drawing/2014/main" id="{3E032817-FED6-49F2-A4B2-E935E457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5 / 15</a:t>
            </a:r>
          </a:p>
        </p:txBody>
      </p:sp>
      <p:sp>
        <p:nvSpPr>
          <p:cNvPr id="10" name="Diagram label: Melting is different from burning">
            <a:extLst xmlns:a="http://schemas.openxmlformats.org/drawingml/2006/main">
              <a:ext uri="{FF2B5EF4-FFF2-40B4-BE49-F238E27FC236}">
                <a16:creationId xmlns:a16="http://schemas.microsoft.com/office/drawing/2014/main" id="{FE87BDE4-C2FB-4CFB-BA01-7AD491B9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468" y="1988004"/>
            <a:ext cx="6447064" cy="350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6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Melting is different from burning</a:t>
            </a:r>
          </a:p>
        </p:txBody>
      </p:sp>
      <p:sp>
        <p:nvSpPr>
          <p:cNvPr id="1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808758F8-57F3-42C5-B533-C70B7BE1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2621" y="2548618"/>
            <a:ext cx="2172380" cy="700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12" name="Diagram label: SOLID WAX">
            <a:extLst xmlns:a="http://schemas.openxmlformats.org/drawingml/2006/main">
              <a:ext uri="{FF2B5EF4-FFF2-40B4-BE49-F238E27FC236}">
                <a16:creationId xmlns:a16="http://schemas.microsoft.com/office/drawing/2014/main" id="{EE07BC8C-FF28-4FAD-B744-B627E53B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2698" y="2688771"/>
            <a:ext cx="2032227" cy="3854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SOLID WAX</a:t>
            </a:r>
          </a:p>
        </p:txBody>
      </p:sp>
      <p:sp>
        <p:nvSpPr>
          <p:cNvPr id="13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BA3065EE-27C4-4B5E-BCE4-A2A55F52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6998" y="2548618"/>
            <a:ext cx="2172380" cy="700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14" name="Diagram label: LIQUID WAX">
            <a:extLst xmlns:a="http://schemas.openxmlformats.org/drawingml/2006/main">
              <a:ext uri="{FF2B5EF4-FFF2-40B4-BE49-F238E27FC236}">
                <a16:creationId xmlns:a16="http://schemas.microsoft.com/office/drawing/2014/main" id="{0F0D9CA3-57EC-4314-85C7-1A094D37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688771"/>
            <a:ext cx="2032227" cy="3854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LIQUID WAX</a:t>
            </a:r>
          </a:p>
        </p:txBody>
      </p:sp>
      <p:sp>
        <p:nvSpPr>
          <p:cNvPr id="15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B6094443-8F7D-42C4-9C3F-6AC83CC0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55079" y="2758848"/>
            <a:ext cx="1608262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C9803B"/>
            </a:solidFill>
          </a:ln>
        </p:spPr>
      </p:sp>
      <p:sp>
        <p:nvSpPr>
          <p:cNvPr id="16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DCEBB164-68AB-43F0-978C-E9609194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838814" y="2709794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17" name="Diagram label: warming">
            <a:extLst xmlns:a="http://schemas.openxmlformats.org/drawingml/2006/main">
              <a:ext uri="{FF2B5EF4-FFF2-40B4-BE49-F238E27FC236}">
                <a16:creationId xmlns:a16="http://schemas.microsoft.com/office/drawing/2014/main" id="{9BFB9ED5-5599-43D8-8DDA-8561A4AF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117" y="2450510"/>
            <a:ext cx="1611766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warming</a:t>
            </a:r>
          </a:p>
        </p:txBody>
      </p:sp>
      <p:sp>
        <p:nvSpPr>
          <p:cNvPr id="18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5A91D82A-802C-44E7-8375-044F2C91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328659" y="3088209"/>
            <a:ext cx="1608262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4D82A0"/>
            </a:solidFill>
          </a:ln>
        </p:spPr>
      </p:sp>
      <p:sp>
        <p:nvSpPr>
          <p:cNvPr id="19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134D8677-5438-48FE-B58E-2D394FFA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5255079" y="3039155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0" name="Diagram label: cooling">
            <a:extLst xmlns:a="http://schemas.openxmlformats.org/drawingml/2006/main">
              <a:ext uri="{FF2B5EF4-FFF2-40B4-BE49-F238E27FC236}">
                <a16:creationId xmlns:a16="http://schemas.microsoft.com/office/drawing/2014/main" id="{20A4F30A-F341-4EB9-A31B-A22AC50A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117" y="3235370"/>
            <a:ext cx="1611766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cooling</a:t>
            </a:r>
          </a:p>
        </p:txBody>
      </p:sp>
      <p:sp>
        <p:nvSpPr>
          <p:cNvPr id="2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BA8FDE0B-D52B-4BBC-B007-AF08DAC1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7583" y="3880077"/>
            <a:ext cx="2522764" cy="9460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22" name="Diagram label: WAX VAPOUR&#10;+ OXYGEN">
            <a:extLst xmlns:a="http://schemas.openxmlformats.org/drawingml/2006/main">
              <a:ext uri="{FF2B5EF4-FFF2-40B4-BE49-F238E27FC236}">
                <a16:creationId xmlns:a16="http://schemas.microsoft.com/office/drawing/2014/main" id="{E90882F9-5818-48A0-852A-1CDF5980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660" y="4020230"/>
            <a:ext cx="2382611" cy="665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WAX VAPOUR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+ OXYGEN</a:t>
            </a:r>
          </a:p>
        </p:txBody>
      </p:sp>
      <p:sp>
        <p:nvSpPr>
          <p:cNvPr id="23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867653E5-DC7C-4EA7-AE1A-2C96F7FB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570424" y="4335576"/>
            <a:ext cx="83741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C9803B"/>
            </a:solidFill>
          </a:ln>
        </p:spPr>
      </p:sp>
      <p:sp>
        <p:nvSpPr>
          <p:cNvPr id="24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4EEA69D6-6435-4FCB-9F66-BC841944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383315" y="4286522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5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3A57D0E7-76EF-4BE2-9199-624C3848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1499" y="3880077"/>
            <a:ext cx="2662918" cy="9460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DD"/>
          </a:solidFill>
          <a:ln xmlns:a="http://schemas.openxmlformats.org/drawingml/2006/main" w="21023">
            <a:solidFill>
              <a:srgbClr val="C9803B"/>
            </a:solidFill>
          </a:ln>
        </p:spPr>
      </p:sp>
      <p:sp>
        <p:nvSpPr>
          <p:cNvPr id="26" name="Diagram label: CARBON DIOXIDE&#10;+ WATER">
            <a:extLst xmlns:a="http://schemas.openxmlformats.org/drawingml/2006/main">
              <a:ext uri="{FF2B5EF4-FFF2-40B4-BE49-F238E27FC236}">
                <a16:creationId xmlns:a16="http://schemas.microsoft.com/office/drawing/2014/main" id="{50AC5E12-7B69-48DF-9FFD-D0A5E521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614" y="4020230"/>
            <a:ext cx="2452688" cy="665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CARBON DIOXIDE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+ WATER</a:t>
            </a:r>
          </a:p>
        </p:txBody>
      </p:sp>
      <p:sp>
        <p:nvSpPr>
          <p:cNvPr id="27" name="Diagram label: Burning forms new substances. This word model&#10;omits incomplete-combustion products.">
            <a:extLst xmlns:a="http://schemas.openxmlformats.org/drawingml/2006/main">
              <a:ext uri="{FF2B5EF4-FFF2-40B4-BE49-F238E27FC236}">
                <a16:creationId xmlns:a16="http://schemas.microsoft.com/office/drawing/2014/main" id="{AE32C4F8-4CF6-4F61-B951-58C3A6D5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7583" y="5071382"/>
            <a:ext cx="6236834" cy="42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Burning forms new substances. This word model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omits incomplete-combustion products.</a:t>
            </a:r>
          </a:p>
        </p:txBody>
      </p:sp>
      <p:sp>
        <p:nvSpPr>
          <p:cNvPr id="28" name="Melting wax changes its state.  Burning wax vapour makes new sub">
            <a:extLst xmlns:a="http://schemas.openxmlformats.org/drawingml/2006/main">
              <a:ext uri="{FF2B5EF4-FFF2-40B4-BE49-F238E27FC236}">
                <a16:creationId xmlns:a16="http://schemas.microsoft.com/office/drawing/2014/main" id="{CEE9886C-04AE-4C5D-9D4B-71DF8EAF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Melting wax changes its state. Burning wax vapour makes new substances. Cooling reverses melting, not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burning.</a:t>
            </a:r>
          </a:p>
        </p:txBody>
      </p:sp>
    </p:spTree>
    <p:extLst>
      <p:ext uri="{BB962C8B-B14F-4D97-AF65-F5344CB8AC3E}">
        <p14:creationId xmlns:p14="http://schemas.microsoft.com/office/powerpoint/2010/main" val="17376938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1DA0C235-0DEF-48B7-825C-74BD31CB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A124E9D4-D5ED-4073-80BC-010A5354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A0C39113-E980-4D74-82BE-67E16DDE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6422F7EF-AC65-482F-8B64-D5BBEFFF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0D1DDD9C-539E-4CBA-9192-AB2765ED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8 min">
            <a:extLst xmlns:a="http://schemas.openxmlformats.org/drawingml/2006/main">
              <a:ext uri="{FF2B5EF4-FFF2-40B4-BE49-F238E27FC236}">
                <a16:creationId xmlns:a16="http://schemas.microsoft.com/office/drawing/2014/main" id="{AF8F82B4-737C-4965-B066-73FECD6A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8 min</a:t>
            </a:r>
          </a:p>
        </p:txBody>
      </p:sp>
      <p:sp>
        <p:nvSpPr>
          <p:cNvPr id="7" name="The evidence sorting board">
            <a:extLst xmlns:a="http://schemas.openxmlformats.org/drawingml/2006/main">
              <a:ext uri="{FF2B5EF4-FFF2-40B4-BE49-F238E27FC236}">
                <a16:creationId xmlns:a16="http://schemas.microsoft.com/office/drawing/2014/main" id="{6EDDC368-33CE-4B2D-B221-7D295194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evidence sorting board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7D15787B-23D7-4828-8206-5C23B31E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Change detectives: what became something new?">
            <a:extLst xmlns:a="http://schemas.openxmlformats.org/drawingml/2006/main">
              <a:ext uri="{FF2B5EF4-FFF2-40B4-BE49-F238E27FC236}">
                <a16:creationId xmlns:a16="http://schemas.microsoft.com/office/drawing/2014/main" id="{302F8732-01C1-4724-8634-5ECD96D7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Change detectives: what became something new?</a:t>
            </a:r>
          </a:p>
        </p:txBody>
      </p:sp>
      <p:sp>
        <p:nvSpPr>
          <p:cNvPr id="10" name="6 / 15">
            <a:extLst xmlns:a="http://schemas.openxmlformats.org/drawingml/2006/main">
              <a:ext uri="{FF2B5EF4-FFF2-40B4-BE49-F238E27FC236}">
                <a16:creationId xmlns:a16="http://schemas.microsoft.com/office/drawing/2014/main" id="{1029CDC7-A3D1-4D4A-9693-056CE211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6 / 15</a:t>
            </a:r>
          </a:p>
        </p:txBody>
      </p:sp>
      <p:sp>
        <p:nvSpPr>
          <p:cNvPr id="11" name="Read cards A–D on shared page 1. W1. Sort by whether new substan">
            <a:extLst xmlns:a="http://schemas.openxmlformats.org/drawingml/2006/main">
              <a:ext uri="{FF2B5EF4-FFF2-40B4-BE49-F238E27FC236}">
                <a16:creationId xmlns:a16="http://schemas.microsoft.com/office/drawing/2014/main" id="{F25171AB-BFE8-41EE-A0F5-3605B0BB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95475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Read cards A–D on shared page 1. W1. Sort by whether new substances formed. Give the evidence,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not just a letter.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533400" y="2581275"/>
          <a:ext xmlns:a="http://schemas.openxmlformats.org/drawingml/2006/main" cx="11125200" cy="2526506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161567"/>
                <a:gridCol w="6963633"/>
              </a:tblGrid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Case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Key evidence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A: ice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Water can freeze again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B: paper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Same paper, different shape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C: bracket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New rust material identified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D: wood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Ash and gases produced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4528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2FA63F68-E342-4B48-ACD8-201EAEF2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5F8C56B2-4417-47F6-A687-49A4E8D6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CE9DABE4-4086-40D1-9E9D-0F1D66C0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7C7F0E5A-218C-42C7-A428-D528B911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68BD58AA-8995-48DD-90B8-C371D8F8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Repair the workshop rule">
            <a:extLst xmlns:a="http://schemas.openxmlformats.org/drawingml/2006/main">
              <a:ext uri="{FF2B5EF4-FFF2-40B4-BE49-F238E27FC236}">
                <a16:creationId xmlns:a16="http://schemas.microsoft.com/office/drawing/2014/main" id="{2C3CD685-EB79-4393-A07F-324ED794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Repair the workshop rule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B380C675-1BCE-4CD4-A5C1-21CEA417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Change detectives: what became something new?">
            <a:extLst xmlns:a="http://schemas.openxmlformats.org/drawingml/2006/main">
              <a:ext uri="{FF2B5EF4-FFF2-40B4-BE49-F238E27FC236}">
                <a16:creationId xmlns:a16="http://schemas.microsoft.com/office/drawing/2014/main" id="{BF861597-2CBD-4CE0-A7A2-F0B3E046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Change detectives: what became something new?</a:t>
            </a:r>
          </a:p>
        </p:txBody>
      </p:sp>
      <p:sp>
        <p:nvSpPr>
          <p:cNvPr id="9" name="7 / 15">
            <a:extLst xmlns:a="http://schemas.openxmlformats.org/drawingml/2006/main">
              <a:ext uri="{FF2B5EF4-FFF2-40B4-BE49-F238E27FC236}">
                <a16:creationId xmlns:a16="http://schemas.microsoft.com/office/drawing/2014/main" id="{98F5252C-8C65-477D-A1D4-447ABFF8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7 / 15</a:t>
            </a:r>
          </a:p>
        </p:txBody>
      </p:sp>
      <p:sp>
        <p:nvSpPr>
          <p:cNvPr id="10" name="W2. Test the rule against torn paper.">
            <a:extLst xmlns:a="http://schemas.openxmlformats.org/drawingml/2006/main">
              <a:ext uri="{FF2B5EF4-FFF2-40B4-BE49-F238E27FC236}">
                <a16:creationId xmlns:a16="http://schemas.microsoft.com/office/drawing/2014/main" id="{D34ECC93-789A-49D2-9FA9-84DDA651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W2. Test the rule against torn paper.</a:t>
            </a:r>
          </a:p>
        </p:txBody>
      </p:sp>
      <p:sp>
        <p:nvSpPr>
          <p:cNvPr id="11" name="Replace it with a better decision question.">
            <a:extLst xmlns:a="http://schemas.openxmlformats.org/drawingml/2006/main">
              <a:ext uri="{FF2B5EF4-FFF2-40B4-BE49-F238E27FC236}">
                <a16:creationId xmlns:a16="http://schemas.microsoft.com/office/drawing/2014/main" id="{C3DB93F0-5044-41E3-BBA3-620D076B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Replace it with a better decision question.</a:t>
            </a:r>
          </a:p>
        </p:txBody>
      </p:sp>
      <p:sp>
        <p:nvSpPr>
          <p:cNvPr id="12" name="Which case supports your new rule?">
            <a:extLst xmlns:a="http://schemas.openxmlformats.org/drawingml/2006/main">
              <a:ext uri="{FF2B5EF4-FFF2-40B4-BE49-F238E27FC236}">
                <a16:creationId xmlns:a16="http://schemas.microsoft.com/office/drawing/2014/main" id="{61517BCB-8755-46BE-A802-E25C275C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Which case supports your new rule?</a:t>
            </a:r>
          </a:p>
        </p:txBody>
      </p:sp>
    </p:spTree>
    <p:extLst>
      <p:ext uri="{BB962C8B-B14F-4D97-AF65-F5344CB8AC3E}">
        <p14:creationId xmlns:p14="http://schemas.microsoft.com/office/powerpoint/2010/main" val="10848763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EC6BFAFB-A084-4DE8-AF1F-31FF3EBE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BEF93D65-8C34-4E19-BB34-0CFFEE1E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D4AAACA7-B664-471E-A0E7-084DE1C1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1D4D2821-1D99-40E8-AFFE-A9C1A0A1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2C98E1A4-CFC5-41D8-AFFE-AFD2802C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Two labels for one candle">
            <a:extLst xmlns:a="http://schemas.openxmlformats.org/drawingml/2006/main">
              <a:ext uri="{FF2B5EF4-FFF2-40B4-BE49-F238E27FC236}">
                <a16:creationId xmlns:a16="http://schemas.microsoft.com/office/drawing/2014/main" id="{D3CE6E92-835D-441A-A7F5-57840647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Two labels for one candle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8ECD8110-AA08-41C4-AFE8-5E85498D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Change detectives: what became something new?">
            <a:extLst xmlns:a="http://schemas.openxmlformats.org/drawingml/2006/main">
              <a:ext uri="{FF2B5EF4-FFF2-40B4-BE49-F238E27FC236}">
                <a16:creationId xmlns:a16="http://schemas.microsoft.com/office/drawing/2014/main" id="{DCCEB99A-F876-443C-915D-9AB9C274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Change detectives: what became something new?</a:t>
            </a:r>
          </a:p>
        </p:txBody>
      </p:sp>
      <p:sp>
        <p:nvSpPr>
          <p:cNvPr id="9" name="8 / 15">
            <a:extLst xmlns:a="http://schemas.openxmlformats.org/drawingml/2006/main">
              <a:ext uri="{FF2B5EF4-FFF2-40B4-BE49-F238E27FC236}">
                <a16:creationId xmlns:a16="http://schemas.microsoft.com/office/drawing/2014/main" id="{40EDBA84-9506-467D-925D-50C5852D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8 / 15</a:t>
            </a:r>
          </a:p>
        </p:txBody>
      </p:sp>
      <p:sp>
        <p:nvSpPr>
          <p:cNvPr id="10" name="W3. Label E-A and E-B separately.">
            <a:extLst xmlns:a="http://schemas.openxmlformats.org/drawingml/2006/main">
              <a:ext uri="{FF2B5EF4-FFF2-40B4-BE49-F238E27FC236}">
                <a16:creationId xmlns:a16="http://schemas.microsoft.com/office/drawing/2014/main" id="{E440AB8F-EFA3-47AC-85E3-C0CDC5F5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W3. Label E-A and E-B separately.</a:t>
            </a:r>
          </a:p>
        </p:txBody>
      </p:sp>
      <p:sp>
        <p:nvSpPr>
          <p:cNvPr id="11" name="Which part can cooling reverse?">
            <a:extLst xmlns:a="http://schemas.openxmlformats.org/drawingml/2006/main">
              <a:ext uri="{FF2B5EF4-FFF2-40B4-BE49-F238E27FC236}">
                <a16:creationId xmlns:a16="http://schemas.microsoft.com/office/drawing/2014/main" id="{DBD4DC97-BE70-44A7-B2FD-090F0746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Which part can cooling reverse?</a:t>
            </a:r>
          </a:p>
        </p:txBody>
      </p:sp>
      <p:sp>
        <p:nvSpPr>
          <p:cNvPr id="12" name="Where does the burnt wax material go?">
            <a:extLst xmlns:a="http://schemas.openxmlformats.org/drawingml/2006/main">
              <a:ext uri="{FF2B5EF4-FFF2-40B4-BE49-F238E27FC236}">
                <a16:creationId xmlns:a16="http://schemas.microsoft.com/office/drawing/2014/main" id="{D532CDE1-DC2D-454B-803C-23DAAA0D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Where does the burnt wax material go?</a:t>
            </a:r>
          </a:p>
        </p:txBody>
      </p:sp>
    </p:spTree>
    <p:extLst>
      <p:ext uri="{BB962C8B-B14F-4D97-AF65-F5344CB8AC3E}">
        <p14:creationId xmlns:p14="http://schemas.microsoft.com/office/powerpoint/2010/main" val="20744174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urface">
            <a:extLst xmlns:a="http://schemas.openxmlformats.org/drawingml/2006/main">
              <a:ext uri="{FF2B5EF4-FFF2-40B4-BE49-F238E27FC236}">
                <a16:creationId xmlns:a16="http://schemas.microsoft.com/office/drawing/2014/main" id="{514020F6-694F-4BB6-A637-8E02129B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1A30D5BF-0465-4FBD-B23A-E562D275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E6969A57-1A02-4492-AF1B-57095C38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87461669-93FB-4A7B-A3C1-35A08DFF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Hinge">
            <a:extLst xmlns:a="http://schemas.openxmlformats.org/drawingml/2006/main">
              <a:ext uri="{FF2B5EF4-FFF2-40B4-BE49-F238E27FC236}">
                <a16:creationId xmlns:a16="http://schemas.microsoft.com/office/drawing/2014/main" id="{DC97926F-2C83-4BF4-B502-0AFFADC3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Hinge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389B007C-0AD5-4248-9F55-442C1759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Which is the strongest evidence?">
            <a:extLst xmlns:a="http://schemas.openxmlformats.org/drawingml/2006/main">
              <a:ext uri="{FF2B5EF4-FFF2-40B4-BE49-F238E27FC236}">
                <a16:creationId xmlns:a16="http://schemas.microsoft.com/office/drawing/2014/main" id="{867F5385-576F-4FA8-A448-EA885D9D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Which is the strongest evidence?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7B5F8BB1-09E1-4D08-98EB-F9F4989E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Change detectives: what became something new?">
            <a:extLst xmlns:a="http://schemas.openxmlformats.org/drawingml/2006/main">
              <a:ext uri="{FF2B5EF4-FFF2-40B4-BE49-F238E27FC236}">
                <a16:creationId xmlns:a16="http://schemas.microsoft.com/office/drawing/2014/main" id="{E2644F02-EDD0-4EBC-9AB3-0D707D96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Change detectives: what became something new?</a:t>
            </a:r>
          </a:p>
        </p:txBody>
      </p:sp>
      <p:sp>
        <p:nvSpPr>
          <p:cNvPr id="10" name="9 / 15">
            <a:extLst xmlns:a="http://schemas.openxmlformats.org/drawingml/2006/main">
              <a:ext uri="{FF2B5EF4-FFF2-40B4-BE49-F238E27FC236}">
                <a16:creationId xmlns:a16="http://schemas.microsoft.com/office/drawing/2014/main" id="{BAC33F58-64D1-49FA-96CB-C6A49CB5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9 / 15</a:t>
            </a:r>
          </a:p>
        </p:txBody>
      </p:sp>
      <p:sp>
        <p:nvSpPr>
          <p:cNvPr id="11" name="A sample looks different after a change. Which fact most support">
            <a:extLst xmlns:a="http://schemas.openxmlformats.org/drawingml/2006/main">
              <a:ext uri="{FF2B5EF4-FFF2-40B4-BE49-F238E27FC236}">
                <a16:creationId xmlns:a16="http://schemas.microsoft.com/office/drawing/2014/main" id="{BCB97954-86F4-49EA-B161-49BECE7A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sample looks different after a change. Which fact most supports a chemical change?</a:t>
            </a:r>
          </a:p>
        </p:txBody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41DF0ADA-D870-46A1-83E2-CB54C560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EFED83E3-5575-45DC-8579-518D69DC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4" name="A">
            <a:extLst xmlns:a="http://schemas.openxmlformats.org/drawingml/2006/main">
              <a:ext uri="{FF2B5EF4-FFF2-40B4-BE49-F238E27FC236}">
                <a16:creationId xmlns:a16="http://schemas.microsoft.com/office/drawing/2014/main" id="{147C53BF-8FC5-44E9-82D9-F50D9C83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955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A</a:t>
            </a:r>
          </a:p>
        </p:txBody>
      </p:sp>
      <p:sp>
        <p:nvSpPr>
          <p:cNvPr id="15" name="It has a different shape.">
            <a:extLst xmlns:a="http://schemas.openxmlformats.org/drawingml/2006/main">
              <a:ext uri="{FF2B5EF4-FFF2-40B4-BE49-F238E27FC236}">
                <a16:creationId xmlns:a16="http://schemas.microsoft.com/office/drawing/2014/main" id="{48714EBD-4FB5-4AAB-8E01-936138D4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4955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It has a different shape.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D0EC24F1-CF24-45B2-8FBB-92D19655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337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18326CC5-1309-441F-8FAC-93E7701A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337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8" name="B">
            <a:extLst xmlns:a="http://schemas.openxmlformats.org/drawingml/2006/main">
              <a:ext uri="{FF2B5EF4-FFF2-40B4-BE49-F238E27FC236}">
                <a16:creationId xmlns:a16="http://schemas.microsoft.com/office/drawing/2014/main" id="{C265A2BE-7819-4B4E-B3F8-C8DCCDC0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766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</a:t>
            </a:r>
          </a:p>
        </p:txBody>
      </p:sp>
      <p:sp>
        <p:nvSpPr>
          <p:cNvPr id="19" name="Tests identify a new substance.">
            <a:extLst xmlns:a="http://schemas.openxmlformats.org/drawingml/2006/main">
              <a:ext uri="{FF2B5EF4-FFF2-40B4-BE49-F238E27FC236}">
                <a16:creationId xmlns:a16="http://schemas.microsoft.com/office/drawing/2014/main" id="{32F38300-BAB8-485F-B6F5-A80BD557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6766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Tests identify a new substance.</a:t>
            </a:r>
          </a:p>
        </p:txBody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A1E776CD-C512-428D-A0C4-261ACFFA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1" name="surface">
            <a:extLst xmlns:a="http://schemas.openxmlformats.org/drawingml/2006/main">
              <a:ext uri="{FF2B5EF4-FFF2-40B4-BE49-F238E27FC236}">
                <a16:creationId xmlns:a16="http://schemas.microsoft.com/office/drawing/2014/main" id="{C3569F53-E81B-4C80-A291-04A3BFF3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2" name="C">
            <a:extLst xmlns:a="http://schemas.openxmlformats.org/drawingml/2006/main">
              <a:ext uri="{FF2B5EF4-FFF2-40B4-BE49-F238E27FC236}">
                <a16:creationId xmlns:a16="http://schemas.microsoft.com/office/drawing/2014/main" id="{A7854B21-D9BF-429A-9C50-08F7345A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577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C</a:t>
            </a:r>
          </a:p>
        </p:txBody>
      </p:sp>
      <p:sp>
        <p:nvSpPr>
          <p:cNvPr id="23" name="It is awkward to put back.">
            <a:extLst xmlns:a="http://schemas.openxmlformats.org/drawingml/2006/main">
              <a:ext uri="{FF2B5EF4-FFF2-40B4-BE49-F238E27FC236}">
                <a16:creationId xmlns:a16="http://schemas.microsoft.com/office/drawing/2014/main" id="{298A20AF-EBD8-4337-BF6E-A68397F7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8577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It is awkward to put back.</a:t>
            </a:r>
          </a:p>
        </p:txBody>
      </p:sp>
    </p:spTree>
    <p:extLst>
      <p:ext uri="{BB962C8B-B14F-4D97-AF65-F5344CB8AC3E}">
        <p14:creationId xmlns:p14="http://schemas.microsoft.com/office/powerpoint/2010/main" val="8566110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AC9F2D70-2650-4BC4-B801-986F1208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201BD127-40B0-4E51-A259-93B045EB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44FFF882-A86B-4308-A221-2941CB72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03FC888B-12ED-44A5-936D-07B57730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213317EB-2C84-4E7F-B323-48158B41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10 min">
            <a:extLst xmlns:a="http://schemas.openxmlformats.org/drawingml/2006/main">
              <a:ext uri="{FF2B5EF4-FFF2-40B4-BE49-F238E27FC236}">
                <a16:creationId xmlns:a16="http://schemas.microsoft.com/office/drawing/2014/main" id="{6326AD98-109F-4BAA-B708-AEDA1F94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10 min</a:t>
            </a:r>
          </a:p>
        </p:txBody>
      </p:sp>
      <p:sp>
        <p:nvSpPr>
          <p:cNvPr id="7" name="Write a workshop diagnosis">
            <a:extLst xmlns:a="http://schemas.openxmlformats.org/drawingml/2006/main">
              <a:ext uri="{FF2B5EF4-FFF2-40B4-BE49-F238E27FC236}">
                <a16:creationId xmlns:a16="http://schemas.microsoft.com/office/drawing/2014/main" id="{3C0D8209-F7D3-4BA6-972F-D79B41BF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Write a workshop diagnosis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1311F989-7CA2-4195-B511-060D1F1F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Change detectives: what became something new?">
            <a:extLst xmlns:a="http://schemas.openxmlformats.org/drawingml/2006/main">
              <a:ext uri="{FF2B5EF4-FFF2-40B4-BE49-F238E27FC236}">
                <a16:creationId xmlns:a16="http://schemas.microsoft.com/office/drawing/2014/main" id="{53DC2271-F7FB-4CB2-9993-201C8171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Change detectives: what became something new?</a:t>
            </a:r>
          </a:p>
        </p:txBody>
      </p:sp>
      <p:sp>
        <p:nvSpPr>
          <p:cNvPr id="10" name="10 / 15">
            <a:extLst xmlns:a="http://schemas.openxmlformats.org/drawingml/2006/main">
              <a:ext uri="{FF2B5EF4-FFF2-40B4-BE49-F238E27FC236}">
                <a16:creationId xmlns:a16="http://schemas.microsoft.com/office/drawing/2014/main" id="{EE6F05C9-02A3-4341-AF88-08F911B1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10 / 15</a:t>
            </a:r>
          </a:p>
        </p:txBody>
      </p:sp>
      <p:sp>
        <p:nvSpPr>
          <p:cNvPr id="11" name="Choose one response route.">
            <a:extLst xmlns:a="http://schemas.openxmlformats.org/drawingml/2006/main">
              <a:ext uri="{FF2B5EF4-FFF2-40B4-BE49-F238E27FC236}">
                <a16:creationId xmlns:a16="http://schemas.microsoft.com/office/drawing/2014/main" id="{6E87806E-CC63-493E-9F01-640704CB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one response route.</a:t>
            </a:r>
          </a:p>
        </p:txBody>
      </p:sp>
      <p:sp>
        <p:nvSpPr>
          <p:cNvPr id="12" name="Classify with evidence and explain rusting or burning.">
            <a:extLst xmlns:a="http://schemas.openxmlformats.org/drawingml/2006/main">
              <a:ext uri="{FF2B5EF4-FFF2-40B4-BE49-F238E27FC236}">
                <a16:creationId xmlns:a16="http://schemas.microsoft.com/office/drawing/2014/main" id="{C61D7204-A6DF-44A3-BCAF-0947D42D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Classify with evidence and explain rusting or burning.</a:t>
            </a:r>
          </a:p>
        </p:txBody>
      </p:sp>
      <p:sp>
        <p:nvSpPr>
          <p:cNvPr id="13" name="Make a label a younger visitor can understand.">
            <a:extLst xmlns:a="http://schemas.openxmlformats.org/drawingml/2006/main">
              <a:ext uri="{FF2B5EF4-FFF2-40B4-BE49-F238E27FC236}">
                <a16:creationId xmlns:a16="http://schemas.microsoft.com/office/drawing/2014/main" id="{52EFACDC-B395-46F9-9326-0326422B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Make a label a younger visitor can understand.</a:t>
            </a:r>
          </a:p>
        </p:txBody>
      </p:sp>
    </p:spTree>
    <p:extLst>
      <p:ext uri="{BB962C8B-B14F-4D97-AF65-F5344CB8AC3E}">
        <p14:creationId xmlns:p14="http://schemas.microsoft.com/office/powerpoint/2010/main" val="6548968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11D0601D-1521-4660-8C30-21C31719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CFAF51CB-FB60-481B-8FBA-D4F22B5F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273D181C-382C-4C52-9099-4EFD23E6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D22E1FE3-D7DA-45BE-B452-F67F4F45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E80F8134-6F06-4463-B155-55ABF6BD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Use a cause, not only a description">
            <a:extLst xmlns:a="http://schemas.openxmlformats.org/drawingml/2006/main">
              <a:ext uri="{FF2B5EF4-FFF2-40B4-BE49-F238E27FC236}">
                <a16:creationId xmlns:a16="http://schemas.microsoft.com/office/drawing/2014/main" id="{B0223821-6A64-4CF3-9CD7-A26B15AB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a cause, not only a description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8A60D25B-458A-48C2-8200-5D4CB65C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Change detectives: what became something new?">
            <a:extLst xmlns:a="http://schemas.openxmlformats.org/drawingml/2006/main">
              <a:ext uri="{FF2B5EF4-FFF2-40B4-BE49-F238E27FC236}">
                <a16:creationId xmlns:a16="http://schemas.microsoft.com/office/drawing/2014/main" id="{4C17FAF7-AFD4-4829-9830-109C52D5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Change detectives: what became something new?</a:t>
            </a:r>
          </a:p>
        </p:txBody>
      </p:sp>
      <p:sp>
        <p:nvSpPr>
          <p:cNvPr id="9" name="11 / 15">
            <a:extLst xmlns:a="http://schemas.openxmlformats.org/drawingml/2006/main">
              <a:ext uri="{FF2B5EF4-FFF2-40B4-BE49-F238E27FC236}">
                <a16:creationId xmlns:a16="http://schemas.microsoft.com/office/drawing/2014/main" id="{FEB0E624-C1EB-47D4-A642-9486DDD1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11 / 15</a:t>
            </a:r>
          </a:p>
        </p:txBody>
      </p:sp>
      <p:sp>
        <p:nvSpPr>
          <p:cNvPr id="10" name="“It turned brown” describes an observation.">
            <a:extLst xmlns:a="http://schemas.openxmlformats.org/drawingml/2006/main">
              <a:ext uri="{FF2B5EF4-FFF2-40B4-BE49-F238E27FC236}">
                <a16:creationId xmlns:a16="http://schemas.microsoft.com/office/drawing/2014/main" id="{5581E0F0-0BA0-45A3-9143-3051A7FB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“It turned brown” describes an observation.</a:t>
            </a:r>
          </a:p>
        </p:txBody>
      </p:sp>
      <p:sp>
        <p:nvSpPr>
          <p:cNvPr id="11" name="What new material formed?">
            <a:extLst xmlns:a="http://schemas.openxmlformats.org/drawingml/2006/main">
              <a:ext uri="{FF2B5EF4-FFF2-40B4-BE49-F238E27FC236}">
                <a16:creationId xmlns:a16="http://schemas.microsoft.com/office/drawing/2014/main" id="{CCA64AF0-13B5-42AF-940A-4D4FDE5B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What new material formed?</a:t>
            </a:r>
          </a:p>
        </p:txBody>
      </p:sp>
      <p:sp>
        <p:nvSpPr>
          <p:cNvPr id="12" name="What reacted to produce it?">
            <a:extLst xmlns:a="http://schemas.openxmlformats.org/drawingml/2006/main">
              <a:ext uri="{FF2B5EF4-FFF2-40B4-BE49-F238E27FC236}">
                <a16:creationId xmlns:a16="http://schemas.microsoft.com/office/drawing/2014/main" id="{5BEDCFB4-ABF9-4709-B4BC-B9991373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What reacted to produce it?</a:t>
            </a:r>
          </a:p>
        </p:txBody>
      </p:sp>
    </p:spTree>
    <p:extLst>
      <p:ext uri="{BB962C8B-B14F-4D97-AF65-F5344CB8AC3E}">
        <p14:creationId xmlns:p14="http://schemas.microsoft.com/office/powerpoint/2010/main" val="3246571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131B7B16-F72B-495F-97A7-50B184FA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0175FCAD-7E54-4841-970E-FE8AA216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CF985F6E-DCB9-4FF1-8283-E2C36EC8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BE214AC2-5969-421C-BDAB-676018B9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2694834A-7267-4940-BE69-B715C568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Check the two-change trap">
            <a:extLst xmlns:a="http://schemas.openxmlformats.org/drawingml/2006/main">
              <a:ext uri="{FF2B5EF4-FFF2-40B4-BE49-F238E27FC236}">
                <a16:creationId xmlns:a16="http://schemas.microsoft.com/office/drawing/2014/main" id="{45CE625E-DA7C-4EF7-A5F5-F31D8A75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Check the two-change trap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ADC16D03-531A-41B8-94CF-7F08C418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Change detectives: what became something new?">
            <a:extLst xmlns:a="http://schemas.openxmlformats.org/drawingml/2006/main">
              <a:ext uri="{FF2B5EF4-FFF2-40B4-BE49-F238E27FC236}">
                <a16:creationId xmlns:a16="http://schemas.microsoft.com/office/drawing/2014/main" id="{C858147B-D46D-4E1E-A7EA-A82C939F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Change detectives: what became something new?</a:t>
            </a:r>
          </a:p>
        </p:txBody>
      </p:sp>
      <p:sp>
        <p:nvSpPr>
          <p:cNvPr id="9" name="12 / 15">
            <a:extLst xmlns:a="http://schemas.openxmlformats.org/drawingml/2006/main">
              <a:ext uri="{FF2B5EF4-FFF2-40B4-BE49-F238E27FC236}">
                <a16:creationId xmlns:a16="http://schemas.microsoft.com/office/drawing/2014/main" id="{59FC9740-7FF5-46A7-A96B-452B40D3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12 / 15</a:t>
            </a:r>
          </a:p>
        </p:txBody>
      </p:sp>
      <p:sp>
        <p:nvSpPr>
          <p:cNvPr id="10" name="Have you separated wax melting from burning?">
            <a:extLst xmlns:a="http://schemas.openxmlformats.org/drawingml/2006/main">
              <a:ext uri="{FF2B5EF4-FFF2-40B4-BE49-F238E27FC236}">
                <a16:creationId xmlns:a16="http://schemas.microsoft.com/office/drawing/2014/main" id="{23158BF9-7E19-4E9A-8A66-EE43605A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Have you separated wax melting from burning?</a:t>
            </a:r>
          </a:p>
        </p:txBody>
      </p:sp>
      <p:sp>
        <p:nvSpPr>
          <p:cNvPr id="11" name="Have you avoided “everything disappears”?">
            <a:extLst xmlns:a="http://schemas.openxmlformats.org/drawingml/2006/main">
              <a:ext uri="{FF2B5EF4-FFF2-40B4-BE49-F238E27FC236}">
                <a16:creationId xmlns:a16="http://schemas.microsoft.com/office/drawing/2014/main" id="{2820D1F2-9BAF-4F03-9C27-552B00E9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Have you avoided “everything disappears”?</a:t>
            </a:r>
          </a:p>
        </p:txBody>
      </p:sp>
      <p:sp>
        <p:nvSpPr>
          <p:cNvPr id="12" name="Use one accurate reason per diagnosis.">
            <a:extLst xmlns:a="http://schemas.openxmlformats.org/drawingml/2006/main">
              <a:ext uri="{FF2B5EF4-FFF2-40B4-BE49-F238E27FC236}">
                <a16:creationId xmlns:a16="http://schemas.microsoft.com/office/drawing/2014/main" id="{3DC9A894-D813-4796-B0F5-64746E8A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one accurate reason per diagnosis.</a:t>
            </a:r>
          </a:p>
        </p:txBody>
      </p:sp>
    </p:spTree>
    <p:extLst>
      <p:ext uri="{BB962C8B-B14F-4D97-AF65-F5344CB8AC3E}">
        <p14:creationId xmlns:p14="http://schemas.microsoft.com/office/powerpoint/2010/main" val="202204789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14B2779B-8149-433C-BBA0-7D62F4CA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CE7FECC5-27EA-4318-8A81-76FE238F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A590195F-5DB9-4B2E-8CD6-8F8BD637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CDB89674-31AD-4104-8D1A-20E543E7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A5F30C77-2B7C-475E-82B1-A1E7ED79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4 min">
            <a:extLst xmlns:a="http://schemas.openxmlformats.org/drawingml/2006/main">
              <a:ext uri="{FF2B5EF4-FFF2-40B4-BE49-F238E27FC236}">
                <a16:creationId xmlns:a16="http://schemas.microsoft.com/office/drawing/2014/main" id="{56927C35-B01C-4C82-A288-0D7DD3F3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4 min</a:t>
            </a:r>
          </a:p>
        </p:txBody>
      </p:sp>
      <p:sp>
        <p:nvSpPr>
          <p:cNvPr id="7" name="Audit the diagnosis">
            <a:extLst xmlns:a="http://schemas.openxmlformats.org/drawingml/2006/main">
              <a:ext uri="{FF2B5EF4-FFF2-40B4-BE49-F238E27FC236}">
                <a16:creationId xmlns:a16="http://schemas.microsoft.com/office/drawing/2014/main" id="{672008FF-8881-42CA-8E20-3E08DBD7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Audit the diagnosis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E1EEE78F-651F-45E0-9192-6A62E866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Change detectives: what became something new?">
            <a:extLst xmlns:a="http://schemas.openxmlformats.org/drawingml/2006/main">
              <a:ext uri="{FF2B5EF4-FFF2-40B4-BE49-F238E27FC236}">
                <a16:creationId xmlns:a16="http://schemas.microsoft.com/office/drawing/2014/main" id="{1E74D56E-2270-4A39-B019-49DD4879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Change detectives: what became something new?</a:t>
            </a:r>
          </a:p>
        </p:txBody>
      </p:sp>
      <p:sp>
        <p:nvSpPr>
          <p:cNvPr id="10" name="13 / 15">
            <a:extLst xmlns:a="http://schemas.openxmlformats.org/drawingml/2006/main">
              <a:ext uri="{FF2B5EF4-FFF2-40B4-BE49-F238E27FC236}">
                <a16:creationId xmlns:a16="http://schemas.microsoft.com/office/drawing/2014/main" id="{6AC39453-593D-4DFE-85DB-46AEA648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13 / 15</a:t>
            </a:r>
          </a:p>
        </p:txBody>
      </p:sp>
      <p:sp>
        <p:nvSpPr>
          <p:cNvPr id="11" name="Share privately, with a partner, or with the teacher.">
            <a:extLst xmlns:a="http://schemas.openxmlformats.org/drawingml/2006/main">
              <a:ext uri="{FF2B5EF4-FFF2-40B4-BE49-F238E27FC236}">
                <a16:creationId xmlns:a16="http://schemas.microsoft.com/office/drawing/2014/main" id="{51BE83C4-39B7-4D24-829D-20426D61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Share privately, with a partner, or with the teacher.</a:t>
            </a:r>
          </a:p>
        </p:txBody>
      </p:sp>
      <p:sp>
        <p:nvSpPr>
          <p:cNvPr id="12" name="Underline the evidence for a new substance.">
            <a:extLst xmlns:a="http://schemas.openxmlformats.org/drawingml/2006/main">
              <a:ext uri="{FF2B5EF4-FFF2-40B4-BE49-F238E27FC236}">
                <a16:creationId xmlns:a16="http://schemas.microsoft.com/office/drawing/2014/main" id="{3AFF977E-46A1-48C8-9572-0DC976A7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Underline the evidence for a new substance.</a:t>
            </a:r>
          </a:p>
        </p:txBody>
      </p:sp>
      <p:sp>
        <p:nvSpPr>
          <p:cNvPr id="13" name="Correct one misleading rule.">
            <a:extLst xmlns:a="http://schemas.openxmlformats.org/drawingml/2006/main">
              <a:ext uri="{FF2B5EF4-FFF2-40B4-BE49-F238E27FC236}">
                <a16:creationId xmlns:a16="http://schemas.microsoft.com/office/drawing/2014/main" id="{6BE8536A-00C5-409C-8D9A-3A80548D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Correct one misleading rule.</a:t>
            </a:r>
          </a:p>
        </p:txBody>
      </p:sp>
    </p:spTree>
    <p:extLst>
      <p:ext uri="{BB962C8B-B14F-4D97-AF65-F5344CB8AC3E}">
        <p14:creationId xmlns:p14="http://schemas.microsoft.com/office/powerpoint/2010/main" val="157556055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AD152DA4-C9C7-4284-85AA-EBCCE964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72630AF8-B201-4879-9BFA-E58117E8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8AD73A4F-C190-40B7-BD7A-35EC5B53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6FD05EA9-19B5-438F-88D8-AF0533F0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167B11B4-7F44-4972-887D-AC039F1F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Choose the next exhibit">
            <a:extLst xmlns:a="http://schemas.openxmlformats.org/drawingml/2006/main">
              <a:ext uri="{FF2B5EF4-FFF2-40B4-BE49-F238E27FC236}">
                <a16:creationId xmlns:a16="http://schemas.microsoft.com/office/drawing/2014/main" id="{C7D8E2E6-AC00-4A1F-8211-9F8730FD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the next exhibit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BC258A61-F401-402F-A35C-A512C2F4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Change detectives: what became something new?">
            <a:extLst xmlns:a="http://schemas.openxmlformats.org/drawingml/2006/main">
              <a:ext uri="{FF2B5EF4-FFF2-40B4-BE49-F238E27FC236}">
                <a16:creationId xmlns:a16="http://schemas.microsoft.com/office/drawing/2014/main" id="{EA571A85-ACC7-4588-8C8B-F0727CB4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Change detectives: what became something new?</a:t>
            </a:r>
          </a:p>
        </p:txBody>
      </p:sp>
      <p:sp>
        <p:nvSpPr>
          <p:cNvPr id="9" name="14 / 15">
            <a:extLst xmlns:a="http://schemas.openxmlformats.org/drawingml/2006/main">
              <a:ext uri="{FF2B5EF4-FFF2-40B4-BE49-F238E27FC236}">
                <a16:creationId xmlns:a16="http://schemas.microsoft.com/office/drawing/2014/main" id="{0E25D9C5-F00B-4E5D-80C9-6C70A05A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14 / 15</a:t>
            </a:r>
          </a:p>
        </p:txBody>
      </p:sp>
      <p:sp>
        <p:nvSpPr>
          <p:cNvPr id="10" name="Should the workshop show rusting or candle changes?">
            <a:extLst xmlns:a="http://schemas.openxmlformats.org/drawingml/2006/main">
              <a:ext uri="{FF2B5EF4-FFF2-40B4-BE49-F238E27FC236}">
                <a16:creationId xmlns:a16="http://schemas.microsoft.com/office/drawing/2014/main" id="{5FF894C4-5732-4CF1-93D8-51D1B975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Should the workshop show rusting or candle changes?</a:t>
            </a:r>
          </a:p>
        </p:txBody>
      </p:sp>
      <p:sp>
        <p:nvSpPr>
          <p:cNvPr id="11" name="Explain which would clear up a misconception.">
            <a:extLst xmlns:a="http://schemas.openxmlformats.org/drawingml/2006/main">
              <a:ext uri="{FF2B5EF4-FFF2-40B4-BE49-F238E27FC236}">
                <a16:creationId xmlns:a16="http://schemas.microsoft.com/office/drawing/2014/main" id="{07B2DB02-0FEB-484B-ADFF-2FB2FB11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Explain which would clear up a misconception.</a:t>
            </a:r>
          </a:p>
        </p:txBody>
      </p:sp>
      <p:sp>
        <p:nvSpPr>
          <p:cNvPr id="12" name="We will use one reason to improve the display.">
            <a:extLst xmlns:a="http://schemas.openxmlformats.org/drawingml/2006/main">
              <a:ext uri="{FF2B5EF4-FFF2-40B4-BE49-F238E27FC236}">
                <a16:creationId xmlns:a16="http://schemas.microsoft.com/office/drawing/2014/main" id="{2B5C0E85-77B8-4F8D-AF23-858D7B16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We will use one reason to improve the display.</a:t>
            </a:r>
          </a:p>
        </p:txBody>
      </p:sp>
    </p:spTree>
    <p:extLst>
      <p:ext uri="{BB962C8B-B14F-4D97-AF65-F5344CB8AC3E}">
        <p14:creationId xmlns:p14="http://schemas.microsoft.com/office/powerpoint/2010/main" val="124386582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DC50168D-AAA7-4AD9-A804-0FCABEF3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3F7037F1-12DA-4A31-9C6E-D92D50A8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3F670A7B-130E-481E-8600-543F6B97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5F5664E8-CDE8-4C14-9545-19C07C1E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Exit">
            <a:extLst xmlns:a="http://schemas.openxmlformats.org/drawingml/2006/main">
              <a:ext uri="{FF2B5EF4-FFF2-40B4-BE49-F238E27FC236}">
                <a16:creationId xmlns:a16="http://schemas.microsoft.com/office/drawing/2014/main" id="{A94BF3A9-4495-4C40-BB32-0F55E882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Exit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232DF90D-9C76-484A-9BA4-7DB94C2A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Leave a reliable label">
            <a:extLst xmlns:a="http://schemas.openxmlformats.org/drawingml/2006/main">
              <a:ext uri="{FF2B5EF4-FFF2-40B4-BE49-F238E27FC236}">
                <a16:creationId xmlns:a16="http://schemas.microsoft.com/office/drawing/2014/main" id="{FB4590EA-BF97-48D5-9AC9-50E1BE6C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Leave a reliable label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51678899-2A29-4034-8036-00D6C04F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Change detectives: what became something new?">
            <a:extLst xmlns:a="http://schemas.openxmlformats.org/drawingml/2006/main">
              <a:ext uri="{FF2B5EF4-FFF2-40B4-BE49-F238E27FC236}">
                <a16:creationId xmlns:a16="http://schemas.microsoft.com/office/drawing/2014/main" id="{5EB1B759-8EC4-4326-B311-1E5D05BC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Change detectives: what became something new?</a:t>
            </a:r>
          </a:p>
        </p:txBody>
      </p:sp>
      <p:sp>
        <p:nvSpPr>
          <p:cNvPr id="10" name="15 / 15">
            <a:extLst xmlns:a="http://schemas.openxmlformats.org/drawingml/2006/main">
              <a:ext uri="{FF2B5EF4-FFF2-40B4-BE49-F238E27FC236}">
                <a16:creationId xmlns:a16="http://schemas.microsoft.com/office/drawing/2014/main" id="{A552F4C1-6F2E-4507-9049-4A2E376A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15 / 15</a:t>
            </a:r>
          </a:p>
        </p:txBody>
      </p:sp>
      <p:sp>
        <p:nvSpPr>
          <p:cNvPr id="11" name="E1. Why is rusting a chemical change?">
            <a:extLst xmlns:a="http://schemas.openxmlformats.org/drawingml/2006/main">
              <a:ext uri="{FF2B5EF4-FFF2-40B4-BE49-F238E27FC236}">
                <a16:creationId xmlns:a16="http://schemas.microsoft.com/office/drawing/2014/main" id="{5B0CAA30-79BD-4CB4-BDE3-EC9031A3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E1. Why is rusting a chemical change?</a:t>
            </a:r>
          </a:p>
        </p:txBody>
      </p:sp>
      <p:sp>
        <p:nvSpPr>
          <p:cNvPr id="12" name="E2. Why can torn paper still be physical?">
            <a:extLst xmlns:a="http://schemas.openxmlformats.org/drawingml/2006/main">
              <a:ext uri="{FF2B5EF4-FFF2-40B4-BE49-F238E27FC236}">
                <a16:creationId xmlns:a16="http://schemas.microsoft.com/office/drawing/2014/main" id="{AB2E0035-6BAD-4487-A906-16349B56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E2. Why can torn paper still be physical?</a:t>
            </a:r>
          </a:p>
        </p:txBody>
      </p:sp>
      <p:sp>
        <p:nvSpPr>
          <p:cNvPr id="13" name="E3. What is different about wax burning?">
            <a:extLst xmlns:a="http://schemas.openxmlformats.org/drawingml/2006/main">
              <a:ext uri="{FF2B5EF4-FFF2-40B4-BE49-F238E27FC236}">
                <a16:creationId xmlns:a16="http://schemas.microsoft.com/office/drawing/2014/main" id="{6D43209A-468C-49A1-93F1-1EB64B64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E3. What is different about wax burning?</a:t>
            </a:r>
          </a:p>
        </p:txBody>
      </p:sp>
    </p:spTree>
    <p:extLst>
      <p:ext uri="{BB962C8B-B14F-4D97-AF65-F5344CB8AC3E}">
        <p14:creationId xmlns:p14="http://schemas.microsoft.com/office/powerpoint/2010/main" val="20716105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2026-09-08T23:48:13.2970000Z</dcterms:created>
  <dcterms:modified xsi:type="dcterms:W3CDTF">2026-09-08T23:48:13.2970000Z</dcterms:modified>
</coreProperties>
</file>