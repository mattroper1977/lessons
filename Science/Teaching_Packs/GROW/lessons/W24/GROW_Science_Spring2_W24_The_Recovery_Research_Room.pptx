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9d2a77aa2c4cad" /><Relationship Type="http://schemas.openxmlformats.org/officeDocument/2006/relationships/extended-properties" Target="/docProps/app.xml" Id="R18b024e461d94107" /><Relationship Type="http://schemas.openxmlformats.org/officeDocument/2006/relationships/officeDocument" Target="/ppt/presentation.xml" Id="Rc27d5b5525ae48b7" /></Relationships>
</file>

<file path=ppt/presentation.xml><?xml version="1.0" encoding="utf-8"?>
<p:presentation xmlns:p="http://schemas.openxmlformats.org/presentationml/2006/main">
  <p:sldMasterIdLst>
    <p:sldMasterId xmlns:r="http://schemas.openxmlformats.org/officeDocument/2006/relationships" id="2147483648" r:id="Rb2a45454eaf442e6"/>
  </p:sldMasterIdLst>
  <p:notesMasterIdLst>
    <p:notesMasterId xmlns:r="http://schemas.openxmlformats.org/officeDocument/2006/relationships" r:id="R934df56f10584641"/>
  </p:notesMasterIdLst>
  <p:sldIdLst>
    <p:sldId xmlns:r="http://schemas.openxmlformats.org/officeDocument/2006/relationships" id="256" r:id="R7d94221ad37b4e2a"/>
    <p:sldId xmlns:r="http://schemas.openxmlformats.org/officeDocument/2006/relationships" id="257" r:id="Rccfb096f51b949ea"/>
    <p:sldId xmlns:r="http://schemas.openxmlformats.org/officeDocument/2006/relationships" id="258" r:id="R2740aa12e9da422b"/>
    <p:sldId xmlns:r="http://schemas.openxmlformats.org/officeDocument/2006/relationships" id="259" r:id="Ra7b6673f5a914e5a"/>
    <p:sldId xmlns:r="http://schemas.openxmlformats.org/officeDocument/2006/relationships" id="260" r:id="R506046bc4fa24555"/>
    <p:sldId xmlns:r="http://schemas.openxmlformats.org/officeDocument/2006/relationships" id="261" r:id="Ra9d58d9714374a49"/>
    <p:sldId xmlns:r="http://schemas.openxmlformats.org/officeDocument/2006/relationships" id="262" r:id="R91096b95c05b4320"/>
    <p:sldId xmlns:r="http://schemas.openxmlformats.org/officeDocument/2006/relationships" id="263" r:id="R5d953ad34e104f00"/>
    <p:sldId xmlns:r="http://schemas.openxmlformats.org/officeDocument/2006/relationships" id="264" r:id="R525bc9da711a4eaf"/>
    <p:sldId xmlns:r="http://schemas.openxmlformats.org/officeDocument/2006/relationships" id="265" r:id="R4a7a0388d4614e2b"/>
    <p:sldId xmlns:r="http://schemas.openxmlformats.org/officeDocument/2006/relationships" id="266" r:id="R4798e0ac45b64b03"/>
    <p:sldId xmlns:r="http://schemas.openxmlformats.org/officeDocument/2006/relationships" id="267" r:id="Rbb352952b8994ad4"/>
    <p:sldId xmlns:r="http://schemas.openxmlformats.org/officeDocument/2006/relationships" id="268" r:id="R67e74ca13ecc43b7"/>
    <p:sldId xmlns:r="http://schemas.openxmlformats.org/officeDocument/2006/relationships" id="269" r:id="R79ef9b35b3bb4cee"/>
    <p:sldId xmlns:r="http://schemas.openxmlformats.org/officeDocument/2006/relationships" id="270" r:id="Rc779c805dc444c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b7292345864c63" /><Relationship Type="http://schemas.openxmlformats.org/officeDocument/2006/relationships/slideMaster" Target="/ppt/slideMasters/slideMaster1.xml" Id="Rb2a45454eaf442e6" /><Relationship Type="http://schemas.openxmlformats.org/officeDocument/2006/relationships/notesMaster" Target="/ppt/notesMasters/notesMaster1.xml" Id="R934df56f10584641" /><Relationship Type="http://schemas.openxmlformats.org/officeDocument/2006/relationships/presProps" Target="/ppt/presProps.xml" Id="R617ac3e006924d0f" /><Relationship Type="http://schemas.openxmlformats.org/officeDocument/2006/relationships/tableStyles" Target="/ppt/tableStyles.xml" Id="R34b86907fe64440c" /><Relationship Type="http://schemas.openxmlformats.org/officeDocument/2006/relationships/slide" Target="/ppt/slides/slide1.xml" Id="R7d94221ad37b4e2a" /><Relationship Type="http://schemas.openxmlformats.org/officeDocument/2006/relationships/slide" Target="/ppt/slides/slide2.xml" Id="Rccfb096f51b949ea" /><Relationship Type="http://schemas.openxmlformats.org/officeDocument/2006/relationships/slide" Target="/ppt/slides/slide3.xml" Id="R2740aa12e9da422b" /><Relationship Type="http://schemas.openxmlformats.org/officeDocument/2006/relationships/slide" Target="/ppt/slides/slide4.xml" Id="Ra7b6673f5a914e5a" /><Relationship Type="http://schemas.openxmlformats.org/officeDocument/2006/relationships/slide" Target="/ppt/slides/slide5.xml" Id="R506046bc4fa24555" /><Relationship Type="http://schemas.openxmlformats.org/officeDocument/2006/relationships/slide" Target="/ppt/slides/slide6.xml" Id="Ra9d58d9714374a49" /><Relationship Type="http://schemas.openxmlformats.org/officeDocument/2006/relationships/slide" Target="/ppt/slides/slide7.xml" Id="R91096b95c05b4320" /><Relationship Type="http://schemas.openxmlformats.org/officeDocument/2006/relationships/slide" Target="/ppt/slides/slide8.xml" Id="R5d953ad34e104f00" /><Relationship Type="http://schemas.openxmlformats.org/officeDocument/2006/relationships/slide" Target="/ppt/slides/slide9.xml" Id="R525bc9da711a4eaf" /><Relationship Type="http://schemas.openxmlformats.org/officeDocument/2006/relationships/slide" Target="/ppt/slides/slide10.xml" Id="R4a7a0388d4614e2b" /><Relationship Type="http://schemas.openxmlformats.org/officeDocument/2006/relationships/slide" Target="/ppt/slides/slide11.xml" Id="R4798e0ac45b64b03" /><Relationship Type="http://schemas.openxmlformats.org/officeDocument/2006/relationships/slide" Target="/ppt/slides/slide12.xml" Id="Rbb352952b8994ad4" /><Relationship Type="http://schemas.openxmlformats.org/officeDocument/2006/relationships/slide" Target="/ppt/slides/slide13.xml" Id="R67e74ca13ecc43b7" /><Relationship Type="http://schemas.openxmlformats.org/officeDocument/2006/relationships/slide" Target="/ppt/slides/slide14.xml" Id="R79ef9b35b3bb4cee" /><Relationship Type="http://schemas.openxmlformats.org/officeDocument/2006/relationships/slide" Target="/ppt/slides/slide15.xml" Id="Rc779c805dc444c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b3aa2e4f4448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3c0ba80aea4391" /><Relationship Type="http://schemas.openxmlformats.org/officeDocument/2006/relationships/notesMaster" Target="/ppt/notesMasters/notesMaster1.xml" Id="R286d5b9fa5db4a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b9bd9645524732" /><Relationship Type="http://schemas.openxmlformats.org/officeDocument/2006/relationships/notesMaster" Target="/ppt/notesMasters/notesMaster1.xml" Id="Reef79dfc136b41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0df10492574084" /><Relationship Type="http://schemas.openxmlformats.org/officeDocument/2006/relationships/notesMaster" Target="/ppt/notesMasters/notesMaster1.xml" Id="R8ef63bb690fb4f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7949cd08d84d98" /><Relationship Type="http://schemas.openxmlformats.org/officeDocument/2006/relationships/notesMaster" Target="/ppt/notesMasters/notesMaster1.xml" Id="R7a1f65e00fb24d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b2b560564a4917" /><Relationship Type="http://schemas.openxmlformats.org/officeDocument/2006/relationships/notesMaster" Target="/ppt/notesMasters/notesMaster1.xml" Id="R07573a15b0a549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8e423ebe02493d" /><Relationship Type="http://schemas.openxmlformats.org/officeDocument/2006/relationships/notesMaster" Target="/ppt/notesMasters/notesMaster1.xml" Id="R43d75cf3c48f42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57514e930e4ed0" /><Relationship Type="http://schemas.openxmlformats.org/officeDocument/2006/relationships/notesMaster" Target="/ppt/notesMasters/notesMaster1.xml" Id="Ra452585053164d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d5de45775d4825" /><Relationship Type="http://schemas.openxmlformats.org/officeDocument/2006/relationships/notesMaster" Target="/ppt/notesMasters/notesMaster1.xml" Id="R56d36175d7f343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7beeccbfd549e0" /><Relationship Type="http://schemas.openxmlformats.org/officeDocument/2006/relationships/notesMaster" Target="/ppt/notesMasters/notesMaster1.xml" Id="Rf7cbd67fb75a48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d39c6e827b43ea" /><Relationship Type="http://schemas.openxmlformats.org/officeDocument/2006/relationships/notesMaster" Target="/ppt/notesMasters/notesMaster1.xml" Id="R6408d7b2894845c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72db8dfdf334e0d" /><Relationship Type="http://schemas.openxmlformats.org/officeDocument/2006/relationships/notesMaster" Target="/ppt/notesMasters/notesMaster1.xml" Id="R3c0048725e4546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d7cc944c194768" /><Relationship Type="http://schemas.openxmlformats.org/officeDocument/2006/relationships/notesMaster" Target="/ppt/notesMasters/notesMaster1.xml" Id="R8f1c98ac1c0e4f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d1985c840a94d2b" /><Relationship Type="http://schemas.openxmlformats.org/officeDocument/2006/relationships/notesMaster" Target="/ppt/notesMasters/notesMaster1.xml" Id="Rcbeccca15dcc4c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511c0c5bef40a0" /><Relationship Type="http://schemas.openxmlformats.org/officeDocument/2006/relationships/notesMaster" Target="/ppt/notesMasters/notesMaster1.xml" Id="R264a2cab12a246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0ac1b2188444c5d" /><Relationship Type="http://schemas.openxmlformats.org/officeDocument/2006/relationships/notesMaster" Target="/ppt/notesMasters/notesMaster1.xml" Id="Ra133cfb83a174d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Introduce a research briefing with no real pupil data. Pupils may challenge a headline without challenging another pupil’s body or habits.</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R1: blood. R2: working muscles have increased energy needs during activity and usually need more oxygen delivery. Accept “muscles working harder”. R3: 96 beats per minute is a measurement with a unit; “fast” lacks a numerical reference.</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8 minutes.</a:t>
            </a:r>
          </a:p>
          <a:p xmlns:a="http://schemas.openxmlformats.org/drawingml/2006/main">
            <a:r>
              <a:t/>
            </a:r>
          </a:p>
          <a:p xmlns:a="http://schemas.openxmlformats.org/drawingml/2006/main">
            <a:r>
              <a:t>Think aloud: I cannot claim we measured classmates. The comparison represents one fictional person with three repeat trials. Set recovery times help comparison. The same activity and duration matter. Equal starting values were built into this dataset; real trials may have different starting values.</a:t>
            </a:r>
          </a:p>
          <a:p xmlns:a="http://schemas.openxmlformats.org/drawingml/2006/main">
            <a:r>
              <a:t/>
            </a:r>
          </a:p>
          <a:p xmlns:a="http://schemas.openxmlformats.org/drawingml/2006/main">
            <a:r>
              <a:t>DIAGRAM DESCRIPTION</a:t>
            </a:r>
          </a:p>
          <a:p xmlns:a="http://schemas.openxmlformats.org/drawingml/2006/main">
            <a:r>
              <a:t>A simplified scientific sequence: Keep the method:</a:t>
            </a:r>
          </a:p>
          <a:p xmlns:a="http://schemas.openxmlformats.org/drawingml/2006/main">
            <a:r>
              <a:t>same fictional person; Measure at set times:</a:t>
            </a:r>
          </a:p>
          <a:p xmlns:a="http://schemas.openxmlformats.org/drawingml/2006/main">
            <a:r>
              <a:t>0, 1 and 2 minutes; Compare repeats:</a:t>
            </a:r>
          </a:p>
          <a:p xmlns:a="http://schemas.openxmlformats.org/drawingml/2006/main">
            <a:r>
              <a:t>A, B and C. Constructed method: same activity and duration;</a:t>
            </a:r>
          </a:p>
          <a:p xmlns:a="http://schemas.openxmlformats.org/drawingml/2006/main">
            <a:r>
              <a:t>same room, recovery posture and recording method.</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I do time. Think aloud: 120 − 96 = 24 beats per minute, the fall during the first minute. After two minutes, 80 remains 8 above the starting 72. The graph joins sample points to show a trend, not every measurement between them. This constructed pattern is consistent with recovery; it is not clinical proof.</a:t>
            </a:r>
          </a:p>
          <a:p xmlns:a="http://schemas.openxmlformats.org/drawingml/2006/main">
            <a:r>
              <a:t/>
            </a:r>
          </a:p>
          <a:p xmlns:a="http://schemas.openxmlformats.org/drawingml/2006/main">
            <a:r>
              <a:t>DIAGRAM DESCRIPTION</a:t>
            </a:r>
          </a:p>
          <a:p xmlns:a="http://schemas.openxmlformats.org/drawingml/2006/main">
            <a:r>
              <a:t>Constructed sample line graph. Time after activity: 0 minutes, 120 beats per minute; 1 minute, 96; 2 minutes, 80. Vertical axis starts at zero. Resting value before trial: 72.</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I do time. Model the mean: the total is 360, divided by 3 trials gives 120 beats per minute. In real trials, variation may reflect biological differences or measurement differences. These constructed values illustrate that idea. Do not delete 116 or 124 simply because they differ.</a:t>
            </a:r>
          </a:p>
          <a:p xmlns:a="http://schemas.openxmlformats.org/drawingml/2006/main">
            <a:r>
              <a:t/>
            </a:r>
          </a:p>
          <a:p xmlns:a="http://schemas.openxmlformats.org/drawingml/2006/main">
            <a:r>
              <a:t>DIAGRAM DESCRIPTION</a:t>
            </a:r>
          </a:p>
          <a:p xmlns:a="http://schemas.openxmlformats.org/drawingml/2006/main">
            <a:r>
              <a:t>Three zero-baseline bars show constructed immediate rates A 120, B 116, C 124 beats per minute. The mean is 120. Different trials can vary without one automatically being wrong.</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8 minutes.</a:t>
            </a:r>
          </a:p>
          <a:p xmlns:a="http://schemas.openxmlformats.org/drawingml/2006/main">
            <a:r>
              <a:t/>
            </a:r>
          </a:p>
          <a:p xmlns:a="http://schemas.openxmlformats.org/drawingml/2006/main">
            <a:r>
              <a:t>All trials show a fall during recovery: A from 120 to 80; B from 116 to 76; C from 124 to 84 beats per minute over two minutes. Each final rate remains above the starting 72. Pupils choose a pair and explain the pattern. No physical exercise is needed.</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We do time. Source A is most directly relevant to oxygen delivery and heart-rate change. Source B provides broader activity context. Source C is an unattributed, unsupported absolute claim. The sources cannot prove that a constructed dataset came from a real trial or diagnose a person’s health.</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We do time. Only one fictional person is represented; A, B and C are repeat trials, not three people. Model: In these sample trials, rates fell towards the starting value after activity. This cannot rank health or prove fitness.</a:t>
            </a:r>
          </a:p>
          <a:p xmlns:a="http://schemas.openxmlformats.org/drawingml/2006/main">
            <a:r>
              <a:t/>
            </a:r>
          </a:p>
          <a:p xmlns:a="http://schemas.openxmlformats.org/drawingml/2006/main">
            <a:r>
              <a:t>REVEAL / MODEL ANSWER</a:t>
            </a:r>
          </a:p>
          <a:p xmlns:a="http://schemas.openxmlformats.org/drawingml/2006/main">
            <a:r>
              <a:t>In these sample trials, heart rate fell during recovery. These records cannot rank health.</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A is incorrect: these are three trials for one fictional person, not three people. B is the correct bounded pattern. C is incorrect: 80, 76 and 84 remain above 72. Revisit the labels before independent work.</a:t>
            </a:r>
          </a:p>
          <a:p xmlns:a="http://schemas.openxmlformats.org/drawingml/2006/main">
            <a:r>
              <a:t/>
            </a:r>
          </a:p>
          <a:p xmlns:a="http://schemas.openxmlformats.org/drawingml/2006/main">
            <a:r>
              <a:t>A. Person B must be healthier than person A.</a:t>
            </a:r>
          </a:p>
          <a:p xmlns:a="http://schemas.openxmlformats.org/drawingml/2006/main">
            <a:r>
              <a:t>A and B label trials, not different people. Rates alone cannot rank health.</a:t>
            </a:r>
          </a:p>
          <a:p xmlns:a="http://schemas.openxmlformats.org/drawingml/2006/main">
            <a:r>
              <a:t/>
            </a:r>
          </a:p>
          <a:p xmlns:a="http://schemas.openxmlformats.org/drawingml/2006/main">
            <a:r>
              <a:t>B. All three sample trials show heart rate falling during recovery.</a:t>
            </a:r>
          </a:p>
          <a:p xmlns:a="http://schemas.openxmlformats.org/drawingml/2006/main">
            <a:r>
              <a:t>Correct. Each trial falls from its immediate value towards its starting value.</a:t>
            </a:r>
          </a:p>
          <a:p xmlns:a="http://schemas.openxmlformats.org/drawingml/2006/main">
            <a:r>
              <a:t/>
            </a:r>
          </a:p>
          <a:p xmlns:a="http://schemas.openxmlformats.org/drawingml/2006/main">
            <a:r>
              <a:t>C. Every trial is back to 72 after two minutes.</a:t>
            </a:r>
          </a:p>
          <a:p xmlns:a="http://schemas.openxmlformats.org/drawingml/2006/main">
            <a:r>
              <a:t>The final values are 80, 76 and 84, all above 72.</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10 minutes.</a:t>
            </a:r>
          </a:p>
          <a:p xmlns:a="http://schemas.openxmlformats.org/drawingml/2006/main">
            <a:r>
              <a:t/>
            </a:r>
          </a:p>
          <a:p xmlns:a="http://schemas.openxmlformats.org/drawingml/2006/main">
            <a:r>
              <a:t>10 minutes across You do. Pupils use the supplied sources; no online access is needed. The briefing can be a paper panel, typed paragraph or dictated 60-second script.</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You do time. The supported route uses trial A and source A. The standard route compares repeats. The stretch route calculates means and evaluates controls and causal claims.</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You do time. Require a constructed-data label near any chart or table pupils create. Do not accept faster recovery as proof of better health.</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4 minutes across Review. A teacher or private check can replace peer review. Specific feedback: include values and units; distinguish a source explanation from an actual measurement.</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Lundy: collect proposals and explain which method detail would be added to the next paper dataset. Accept more repeats, longer recovery recording, standardised timing or a clearer measurement method. This does not authorise an unplanned physical trial.</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E1: for example, trial A fell from 120 to 80 beats per minute over two minutes. E2: NHLBI for the heart-rate explanation. E3: constructed data for one fictional person cannot rank health. E4 on the pupil page asks for one control and its purpose.</a:t>
            </a:r>
          </a:p>
          <a:p xmlns:a="http://schemas.openxmlformats.org/drawingml/2006/main">
            <a:r>
              <a:t/>
            </a:r>
          </a:p>
          <a:p xmlns:a="http://schemas.openxmlformats.org/drawingml/2006/main">
            <a:r>
              <a:t>LESSON REFERENCES</a:t>
            </a:r>
          </a:p>
          <a:p xmlns:a="http://schemas.openxmlformats.org/drawingml/2006/main">
            <a:r>
              <a:t>NHLBI: How the heart beats</a:t>
            </a:r>
          </a:p>
          <a:p xmlns:a="http://schemas.openxmlformats.org/drawingml/2006/main">
            <a:r>
              <a:t>https://www.nhlbi.nih.gov/health/heart/heart-beats</a:t>
            </a:r>
          </a:p>
          <a:p xmlns:a="http://schemas.openxmlformats.org/drawingml/2006/main">
            <a:r>
              <a:t>Checked September 2026. During exercise heart rate usually increases to support oxygen delivery. No adult normal-range figures are applied to pupils.</a:t>
            </a:r>
          </a:p>
          <a:p xmlns:a="http://schemas.openxmlformats.org/drawingml/2006/main">
            <a:r>
              <a:t/>
            </a:r>
          </a:p>
          <a:p xmlns:a="http://schemas.openxmlformats.org/drawingml/2006/main">
            <a:r>
              <a:t>NHS: Physical activity for children and young people</a:t>
            </a:r>
          </a:p>
          <a:p xmlns:a="http://schemas.openxmlformats.org/drawingml/2006/main">
            <a:r>
              <a:t>https://www.nhs.uk/live-well/exercise/physical-activity-guidelines-children-and-young-people/</a:t>
            </a:r>
          </a:p>
          <a:p xmlns:a="http://schemas.openxmlformats.org/drawingml/2006/main">
            <a:r>
              <a:t>Checked September 2026. General activity context; the classroom investigates supplied constructed data, not pupils’ fitness or medical status.</a:t>
            </a:r>
          </a:p>
          <a:p xmlns:a="http://schemas.openxmlformats.org/drawingml/2006/main">
            <a:r>
              <a:t/>
            </a:r>
          </a:p>
          <a:p xmlns:a="http://schemas.openxmlformats.org/drawingml/2006/main">
            <a:r>
              <a:t>Department for Education: Science programmes of study</a:t>
            </a:r>
          </a:p>
          <a:p xmlns:a="http://schemas.openxmlformats.org/drawingml/2006/main">
            <a:r>
              <a:t>https://www.gov.uk/government/publications/national-curriculum-in-england-science-programmes-of-study</a:t>
            </a:r>
          </a:p>
          <a:p xmlns:a="http://schemas.openxmlformats.org/drawingml/2006/main">
            <a:r>
              <a:t>Working-scientifically framing: evidence, reporting and conclusions. Activities are original and follow the user’s SoW.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9585a130854f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9d8a62607d4700" /><Relationship Type="http://schemas.openxmlformats.org/officeDocument/2006/relationships/slideLayout" Target="/ppt/slideLayouts/slideLayout1.xml" Id="Ra2a1e7791f3d4b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a1e7791f3d4b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176c38e998b4e95" /><Relationship Type="http://schemas.openxmlformats.org/officeDocument/2006/relationships/notesSlide" Target="/ppt/notesSlides/notesSlide1.xml" Id="R2c7a8629be8340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0460fb6eaf44f4" /><Relationship Type="http://schemas.openxmlformats.org/officeDocument/2006/relationships/notesSlide" Target="/ppt/notesSlides/notesSlide2.xml" Id="R64e454df49354d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b17e0c43e24096" /><Relationship Type="http://schemas.openxmlformats.org/officeDocument/2006/relationships/notesSlide" Target="/ppt/notesSlides/notesSlide3.xml" Id="R14be419be02748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11c954e75941ef" /><Relationship Type="http://schemas.openxmlformats.org/officeDocument/2006/relationships/notesSlide" Target="/ppt/notesSlides/notesSlide4.xml" Id="Rc9a1dac4caaf49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9a2499d0a54f4c" /><Relationship Type="http://schemas.openxmlformats.org/officeDocument/2006/relationships/notesSlide" Target="/ppt/notesSlides/notesSlide5.xml" Id="R2b572e8b937e48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f87e0ff1044b8a" /><Relationship Type="http://schemas.openxmlformats.org/officeDocument/2006/relationships/notesSlide" Target="/ppt/notesSlides/notesSlide6.xml" Id="R19f8595b887946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f5ddc8d721f4e80" /><Relationship Type="http://schemas.openxmlformats.org/officeDocument/2006/relationships/notesSlide" Target="/ppt/notesSlides/notesSlide7.xml" Id="R15851c42c2cc4b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9c1cee0dfe417d" /><Relationship Type="http://schemas.openxmlformats.org/officeDocument/2006/relationships/notesSlide" Target="/ppt/notesSlides/notesSlide8.xml" Id="R71d9ef63f49347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93dc08e0cd44c0" /><Relationship Type="http://schemas.openxmlformats.org/officeDocument/2006/relationships/notesSlide" Target="/ppt/notesSlides/notesSlide9.xml" Id="Reefdc779cac946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9c33a6120c42b0" /><Relationship Type="http://schemas.openxmlformats.org/officeDocument/2006/relationships/notesSlide" Target="/ppt/notesSlides/notesSlide10.xml" Id="Rbf55e5b96dca48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d6afcd1ff7f4761" /><Relationship Type="http://schemas.openxmlformats.org/officeDocument/2006/relationships/notesSlide" Target="/ppt/notesSlides/notesSlide11.xml" Id="Rd4eff4824edd44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7b653b71e894f38" /><Relationship Type="http://schemas.openxmlformats.org/officeDocument/2006/relationships/notesSlide" Target="/ppt/notesSlides/notesSlide12.xml" Id="R7ffcc6d64bdb49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ad6705e63f44ca0" /><Relationship Type="http://schemas.openxmlformats.org/officeDocument/2006/relationships/notesSlide" Target="/ppt/notesSlides/notesSlide13.xml" Id="R23706c14a9f3452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54f5f578afb4863" /><Relationship Type="http://schemas.openxmlformats.org/officeDocument/2006/relationships/notesSlide" Target="/ppt/notesSlides/notesSlide14.xml" Id="R0783630f1d76415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bae0a0c2f1b49dd" /><Relationship Type="http://schemas.openxmlformats.org/officeDocument/2006/relationships/notesSlide" Target="/ppt/notesSlides/notesSlide15.xml" Id="Ra10aa2dfec2b45c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C2D3297C-D116-4098-9E93-8D9752B4FB2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0C81C28A-105A-4AA9-AF5A-EDF9C061E94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CE8AD24-E245-4BF4-8DB7-9A6F044CACD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AEA9EFBB-DBD2-4DDF-BD24-716B266593B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Opening">
            <a:extLst xmlns:a="http://schemas.openxmlformats.org/drawingml/2006/main">
              <a:ext uri="{FF2B5EF4-FFF2-40B4-BE49-F238E27FC236}">
                <a16:creationId xmlns:a16="http://schemas.microsoft.com/office/drawing/2014/main" id="{A5F2C873-BEE5-4EB3-993C-E967AD927DB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C301E872-70CD-43F8-94F5-64014926CED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Can we publish this headline?">
            <a:extLst xmlns:a="http://schemas.openxmlformats.org/drawingml/2006/main">
              <a:ext uri="{FF2B5EF4-FFF2-40B4-BE49-F238E27FC236}">
                <a16:creationId xmlns:a16="http://schemas.microsoft.com/office/drawing/2014/main" id="{FB8D321B-85BD-4B6E-94CC-6016E8ACE099}"/>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Can we publish this headline?</a:t>
            </a:r>
          </a:p>
        </p:txBody>
      </p:sp>
      <p:sp>
        <p:nvSpPr>
          <p:cNvPr id="8" name="surface">
            <a:extLst xmlns:a="http://schemas.openxmlformats.org/drawingml/2006/main">
              <a:ext uri="{FF2B5EF4-FFF2-40B4-BE49-F238E27FC236}">
                <a16:creationId xmlns:a16="http://schemas.microsoft.com/office/drawing/2014/main" id="{794AF858-0681-43DA-A7C7-1004FA218C9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research room">
            <a:extLst xmlns:a="http://schemas.openxmlformats.org/drawingml/2006/main">
              <a:ext uri="{FF2B5EF4-FFF2-40B4-BE49-F238E27FC236}">
                <a16:creationId xmlns:a16="http://schemas.microsoft.com/office/drawing/2014/main" id="{197C4D1C-527A-4A1F-87A2-51B67350DDB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10" name="1 / 15">
            <a:extLst xmlns:a="http://schemas.openxmlformats.org/drawingml/2006/main">
              <a:ext uri="{FF2B5EF4-FFF2-40B4-BE49-F238E27FC236}">
                <a16:creationId xmlns:a16="http://schemas.microsoft.com/office/drawing/2014/main" id="{A6FCD25B-0A17-40CD-9BD8-AF889EE0AED5}"/>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15</a:t>
            </a:r>
          </a:p>
        </p:txBody>
      </p:sp>
      <p:sp>
        <p:nvSpPr>
          <p:cNvPr id="11" name="surface">
            <a:extLst xmlns:a="http://schemas.openxmlformats.org/drawingml/2006/main">
              <a:ext uri="{FF2B5EF4-FFF2-40B4-BE49-F238E27FC236}">
                <a16:creationId xmlns:a16="http://schemas.microsoft.com/office/drawing/2014/main" id="{02520A58-1D9E-43DE-BE25-6C773B0AA53C}"/>
              </a:ext>
            </a:extLst>
          </p:cNvPr>
          <p:cNvSpPr>
            <a:spLocks xmlns:a="http://schemas.openxmlformats.org/drawingml/2006/main" noGrp="1"/>
          </p:cNvSpPr>
          <p:nvPr/>
        </p:nvSpPr>
        <p:spPr>
          <a:xfrm xmlns:a="http://schemas.openxmlformats.org/drawingml/2006/main">
            <a:off x="533400" y="1885950"/>
            <a:ext cx="11125200" cy="1247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3F0DB51E-AF2F-4AA2-9C91-A45288E91FEF}"/>
              </a:ext>
            </a:extLst>
          </p:cNvPr>
          <p:cNvSpPr>
            <a:spLocks xmlns:a="http://schemas.openxmlformats.org/drawingml/2006/main" noGrp="1"/>
          </p:cNvSpPr>
          <p:nvPr/>
        </p:nvSpPr>
        <p:spPr>
          <a:xfrm xmlns:a="http://schemas.openxmlformats.org/drawingml/2006/main">
            <a:off x="533400" y="1885950"/>
            <a:ext cx="66675" cy="1247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B65FF4FE-560B-4492-A76F-1338BEF88986}"/>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3F7D6E"/>
                </a:solidFill>
                <a:latin typeface="Nimbus Sans"/>
                <a:ea typeface="Nimbus Sans"/>
                <a:cs typeface="Nimbus Sans"/>
              </a:defRPr>
            </a:pPr>
            <a:r>
              <a:rPr sz="1650" b="1">
                <a:solidFill>
                  <a:srgbClr val="3F7D6E"/>
                </a:solidFill>
                <a:latin typeface="Nimbus Sans"/>
                <a:ea typeface="Nimbus Sans"/>
                <a:cs typeface="Nimbus Sans"/>
              </a:rPr>
              <a:t>Learning intention</a:t>
            </a:r>
          </a:p>
        </p:txBody>
      </p:sp>
      <p:sp>
        <p:nvSpPr>
          <p:cNvPr id="14" name="Use supplied sources and repeated sample data to present a cauti">
            <a:extLst xmlns:a="http://schemas.openxmlformats.org/drawingml/2006/main">
              <a:ext uri="{FF2B5EF4-FFF2-40B4-BE49-F238E27FC236}">
                <a16:creationId xmlns:a16="http://schemas.microsoft.com/office/drawing/2014/main" id="{A71648CE-A5B7-4CCC-B569-C2683BD662C2}"/>
              </a:ext>
            </a:extLst>
          </p:cNvPr>
          <p:cNvSpPr>
            <a:spLocks xmlns:a="http://schemas.openxmlformats.org/drawingml/2006/main" noGrp="1"/>
          </p:cNvSpPr>
          <p:nvPr/>
        </p:nvSpPr>
        <p:spPr>
          <a:xfrm xmlns:a="http://schemas.openxmlformats.org/drawingml/2006/main">
            <a:off x="762000" y="23622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Use supplied sources and repeated sample data to present a cautious</a:t>
            </a:r>
          </a:p>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explanation of heart-rate recovery.</a:t>
            </a:r>
          </a:p>
        </p:txBody>
      </p:sp>
      <p:sp>
        <p:nvSpPr>
          <p:cNvPr id="15" name="“One pulse number reveals perfect health.”">
            <a:extLst xmlns:a="http://schemas.openxmlformats.org/drawingml/2006/main">
              <a:ext uri="{FF2B5EF4-FFF2-40B4-BE49-F238E27FC236}">
                <a16:creationId xmlns:a16="http://schemas.microsoft.com/office/drawing/2014/main" id="{3D830D41-285A-4490-B2DF-AF92D5FE44E5}"/>
              </a:ext>
            </a:extLst>
          </p:cNvPr>
          <p:cNvSpPr>
            <a:spLocks xmlns:a="http://schemas.openxmlformats.org/drawingml/2006/main" noGrp="1"/>
          </p:cNvSpPr>
          <p:nvPr/>
        </p:nvSpPr>
        <p:spPr>
          <a:xfrm xmlns:a="http://schemas.openxmlformats.org/drawingml/2006/main">
            <a:off x="762000" y="33623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“One pulse number reveals perfect health.”</a:t>
            </a:r>
          </a:p>
        </p:txBody>
      </p:sp>
      <p:sp>
        <p:nvSpPr>
          <p:cNvPr id="16" name="Your research team must check the evidence.">
            <a:extLst xmlns:a="http://schemas.openxmlformats.org/drawingml/2006/main">
              <a:ext uri="{FF2B5EF4-FFF2-40B4-BE49-F238E27FC236}">
                <a16:creationId xmlns:a16="http://schemas.microsoft.com/office/drawing/2014/main" id="{19492D8C-B5CC-44C3-8444-E37917225AD4}"/>
              </a:ext>
            </a:extLst>
          </p:cNvPr>
          <p:cNvSpPr>
            <a:spLocks xmlns:a="http://schemas.openxmlformats.org/drawingml/2006/main" noGrp="1"/>
          </p:cNvSpPr>
          <p:nvPr/>
        </p:nvSpPr>
        <p:spPr>
          <a:xfrm xmlns:a="http://schemas.openxmlformats.org/drawingml/2006/main">
            <a:off x="762000" y="39157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Your research team must check the evidence.</a:t>
            </a:r>
          </a:p>
        </p:txBody>
      </p:sp>
    </p:spTree>
    <p:extLst>
      <p:ext uri="{BB962C8B-B14F-4D97-AF65-F5344CB8AC3E}">
        <p14:creationId xmlns:p14="http://schemas.microsoft.com/office/powerpoint/2010/main" val="9714660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329F44DD-7A15-4385-8CA5-E223E9F6764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87EDE036-D36D-40BB-A2F7-C728CB8DB69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93D6F9E-4272-4864-94B4-AC4A798B7C59}"/>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5266B89D-3C23-45EA-A726-6FB05C405FE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trieval">
            <a:extLst xmlns:a="http://schemas.openxmlformats.org/drawingml/2006/main">
              <a:ext uri="{FF2B5EF4-FFF2-40B4-BE49-F238E27FC236}">
                <a16:creationId xmlns:a16="http://schemas.microsoft.com/office/drawing/2014/main" id="{786965BC-5F13-498F-98E1-1B7CD5DA1D42}"/>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67342209-F169-40B3-9E07-EF8776BD6DC9}"/>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Find the useful science">
            <a:extLst xmlns:a="http://schemas.openxmlformats.org/drawingml/2006/main">
              <a:ext uri="{FF2B5EF4-FFF2-40B4-BE49-F238E27FC236}">
                <a16:creationId xmlns:a16="http://schemas.microsoft.com/office/drawing/2014/main" id="{AF6CF3C5-2861-41BF-9993-B1CA56616E59}"/>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Find the useful science</a:t>
            </a:r>
          </a:p>
        </p:txBody>
      </p:sp>
      <p:sp>
        <p:nvSpPr>
          <p:cNvPr id="8" name="surface">
            <a:extLst xmlns:a="http://schemas.openxmlformats.org/drawingml/2006/main">
              <a:ext uri="{FF2B5EF4-FFF2-40B4-BE49-F238E27FC236}">
                <a16:creationId xmlns:a16="http://schemas.microsoft.com/office/drawing/2014/main" id="{BECBA422-70CA-489B-8DF0-7E0975057A4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research room">
            <a:extLst xmlns:a="http://schemas.openxmlformats.org/drawingml/2006/main">
              <a:ext uri="{FF2B5EF4-FFF2-40B4-BE49-F238E27FC236}">
                <a16:creationId xmlns:a16="http://schemas.microsoft.com/office/drawing/2014/main" id="{D1A18DA0-A561-4F44-9D84-D5AF26AB42C7}"/>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10" name="2 / 15">
            <a:extLst xmlns:a="http://schemas.openxmlformats.org/drawingml/2006/main">
              <a:ext uri="{FF2B5EF4-FFF2-40B4-BE49-F238E27FC236}">
                <a16:creationId xmlns:a16="http://schemas.microsoft.com/office/drawing/2014/main" id="{ACE0EB86-7B0E-4E8C-9424-DDC15337954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15</a:t>
            </a:r>
          </a:p>
        </p:txBody>
      </p:sp>
      <p:sp>
        <p:nvSpPr>
          <p:cNvPr id="11" name="R1. What does the heart pump?">
            <a:extLst xmlns:a="http://schemas.openxmlformats.org/drawingml/2006/main">
              <a:ext uri="{FF2B5EF4-FFF2-40B4-BE49-F238E27FC236}">
                <a16:creationId xmlns:a16="http://schemas.microsoft.com/office/drawing/2014/main" id="{EDB9267D-143E-44E4-889E-3592C04C1527}"/>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R1. What does the heart pump?</a:t>
            </a:r>
          </a:p>
        </p:txBody>
      </p:sp>
      <p:sp>
        <p:nvSpPr>
          <p:cNvPr id="12" name="R2. Why might working muscles need more oxygen?">
            <a:extLst xmlns:a="http://schemas.openxmlformats.org/drawingml/2006/main">
              <a:ext uri="{FF2B5EF4-FFF2-40B4-BE49-F238E27FC236}">
                <a16:creationId xmlns:a16="http://schemas.microsoft.com/office/drawing/2014/main" id="{5F536BCC-73B8-48F4-956A-D3A88C4FB0E5}"/>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R2. Why might working muscles need more oxygen?</a:t>
            </a:r>
          </a:p>
        </p:txBody>
      </p:sp>
      <p:sp>
        <p:nvSpPr>
          <p:cNvPr id="13" name="R3. Which is a number with a unit: “fast” or “96 beats/min”?">
            <a:extLst xmlns:a="http://schemas.openxmlformats.org/drawingml/2006/main">
              <a:ext uri="{FF2B5EF4-FFF2-40B4-BE49-F238E27FC236}">
                <a16:creationId xmlns:a16="http://schemas.microsoft.com/office/drawing/2014/main" id="{31FBB330-7232-4611-BB0C-926C78A34387}"/>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R3. Which is a number with a unit: “fast” or “96 beats/min”?</a:t>
            </a:r>
          </a:p>
        </p:txBody>
      </p:sp>
    </p:spTree>
    <p:extLst>
      <p:ext uri="{BB962C8B-B14F-4D97-AF65-F5344CB8AC3E}">
        <p14:creationId xmlns:p14="http://schemas.microsoft.com/office/powerpoint/2010/main" val="12944105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F3E73B91-B07E-4A1A-B433-E8126BD5FFA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56E451DE-9905-408F-B686-B4EB15E5BFB4}"/>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88A67925-871D-4E47-88A4-3C9D3694771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B66AA2FC-82DD-4FC6-BADF-F6C7E54A7888}"/>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ACDDC350-F618-4F3D-A3CA-F36319F9B59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8 min">
            <a:extLst xmlns:a="http://schemas.openxmlformats.org/drawingml/2006/main">
              <a:ext uri="{FF2B5EF4-FFF2-40B4-BE49-F238E27FC236}">
                <a16:creationId xmlns:a16="http://schemas.microsoft.com/office/drawing/2014/main" id="{000CA063-B80D-42CC-9289-21193BE7DB1C}"/>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8 min</a:t>
            </a:r>
          </a:p>
        </p:txBody>
      </p:sp>
      <p:sp>
        <p:nvSpPr>
          <p:cNvPr id="7" name="I check what was compared">
            <a:extLst xmlns:a="http://schemas.openxmlformats.org/drawingml/2006/main">
              <a:ext uri="{FF2B5EF4-FFF2-40B4-BE49-F238E27FC236}">
                <a16:creationId xmlns:a16="http://schemas.microsoft.com/office/drawing/2014/main" id="{DD0C6E45-DA37-4935-9370-E8C22571B66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check what was compared</a:t>
            </a:r>
          </a:p>
        </p:txBody>
      </p:sp>
      <p:sp>
        <p:nvSpPr>
          <p:cNvPr id="8" name="surface">
            <a:extLst xmlns:a="http://schemas.openxmlformats.org/drawingml/2006/main">
              <a:ext uri="{FF2B5EF4-FFF2-40B4-BE49-F238E27FC236}">
                <a16:creationId xmlns:a16="http://schemas.microsoft.com/office/drawing/2014/main" id="{6A1C7BDD-C136-4786-B172-2B1354B5547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research room">
            <a:extLst xmlns:a="http://schemas.openxmlformats.org/drawingml/2006/main">
              <a:ext uri="{FF2B5EF4-FFF2-40B4-BE49-F238E27FC236}">
                <a16:creationId xmlns:a16="http://schemas.microsoft.com/office/drawing/2014/main" id="{71B60B7A-EAD3-43A5-91F6-D4BD157024B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10" name="3 / 15">
            <a:extLst xmlns:a="http://schemas.openxmlformats.org/drawingml/2006/main">
              <a:ext uri="{FF2B5EF4-FFF2-40B4-BE49-F238E27FC236}">
                <a16:creationId xmlns:a16="http://schemas.microsoft.com/office/drawing/2014/main" id="{0BB4CF8E-7D14-43FC-8A88-7916AB29CD26}"/>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15</a:t>
            </a:r>
          </a:p>
        </p:txBody>
      </p:sp>
      <p:sp>
        <p:nvSpPr>
          <p:cNvPr id="11" name="Diagram label: A planned recovery comparison">
            <a:extLst xmlns:a="http://schemas.openxmlformats.org/drawingml/2006/main">
              <a:ext uri="{FF2B5EF4-FFF2-40B4-BE49-F238E27FC236}">
                <a16:creationId xmlns:a16="http://schemas.microsoft.com/office/drawing/2014/main" id="{F80E4391-AD5A-4F1D-ACBF-A7C6F3A390E4}"/>
              </a:ext>
            </a:extLst>
          </p:cNvPr>
          <p:cNvSpPr>
            <a:spLocks xmlns:a="http://schemas.openxmlformats.org/drawingml/2006/main" noGrp="1"/>
          </p:cNvSpPr>
          <p:nvPr/>
        </p:nvSpPr>
        <p:spPr>
          <a:xfrm xmlns:a="http://schemas.openxmlformats.org/drawingml/2006/main">
            <a:off x="2872468" y="2023042"/>
            <a:ext cx="6447064"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A planned recovery comparison</a:t>
            </a:r>
          </a:p>
        </p:txBody>
      </p:sp>
      <p:sp>
        <p:nvSpPr>
          <p:cNvPr id="12" name="Editable scientific diagram">
            <a:extLst xmlns:a="http://schemas.openxmlformats.org/drawingml/2006/main">
              <a:ext uri="{FF2B5EF4-FFF2-40B4-BE49-F238E27FC236}">
                <a16:creationId xmlns:a16="http://schemas.microsoft.com/office/drawing/2014/main" id="{07334CAF-1777-4A58-ACB1-CD7CD93F8026}"/>
              </a:ext>
            </a:extLst>
          </p:cNvPr>
          <p:cNvSpPr>
            <a:spLocks xmlns:a="http://schemas.openxmlformats.org/drawingml/2006/main" noGrp="1"/>
          </p:cNvSpPr>
          <p:nvPr/>
        </p:nvSpPr>
        <p:spPr>
          <a:xfrm xmlns:a="http://schemas.openxmlformats.org/drawingml/2006/main">
            <a:off x="3012621" y="3179309"/>
            <a:ext cx="1915432" cy="910998"/>
          </a:xfrm>
          <a:prstGeom xmlns:a="http://schemas.openxmlformats.org/drawingml/2006/main" prst="rect">
            <a:avLst/>
          </a:prstGeom>
          <a:solidFill xmlns:a="http://schemas.openxmlformats.org/drawingml/2006/main">
            <a:srgbClr val="EFF7F3"/>
          </a:solidFill>
          <a:ln xmlns:a="http://schemas.openxmlformats.org/drawingml/2006/main" w="21023">
            <a:solidFill>
              <a:srgbClr val="3F7D6E"/>
            </a:solidFill>
          </a:ln>
        </p:spPr>
      </p:sp>
      <p:sp>
        <p:nvSpPr>
          <p:cNvPr id="13" name="Diagram label: Keep the method:&#10;same fictional&#10;person">
            <a:extLst xmlns:a="http://schemas.openxmlformats.org/drawingml/2006/main">
              <a:ext uri="{FF2B5EF4-FFF2-40B4-BE49-F238E27FC236}">
                <a16:creationId xmlns:a16="http://schemas.microsoft.com/office/drawing/2014/main" id="{778CF8EA-7C45-4BC9-B1BF-C4CC75BFA9CA}"/>
              </a:ext>
            </a:extLst>
          </p:cNvPr>
          <p:cNvSpPr>
            <a:spLocks xmlns:a="http://schemas.openxmlformats.org/drawingml/2006/main" noGrp="1"/>
          </p:cNvSpPr>
          <p:nvPr/>
        </p:nvSpPr>
        <p:spPr>
          <a:xfrm xmlns:a="http://schemas.openxmlformats.org/drawingml/2006/main">
            <a:off x="3068683" y="3242378"/>
            <a:ext cx="1803309" cy="7848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Keep the method:</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same fictional</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person</a:t>
            </a:r>
          </a:p>
        </p:txBody>
      </p:sp>
      <p:sp>
        <p:nvSpPr>
          <p:cNvPr id="14" name="Diagram line">
            <a:extLst xmlns:a="http://schemas.openxmlformats.org/drawingml/2006/main">
              <a:ext uri="{FF2B5EF4-FFF2-40B4-BE49-F238E27FC236}">
                <a16:creationId xmlns:a16="http://schemas.microsoft.com/office/drawing/2014/main" id="{B40CC410-400A-4939-88AE-A1B2547D5ADC}"/>
              </a:ext>
            </a:extLst>
          </p:cNvPr>
          <p:cNvSpPr>
            <a:spLocks xmlns:a="http://schemas.openxmlformats.org/drawingml/2006/main" noGrp="1"/>
          </p:cNvSpPr>
          <p:nvPr/>
        </p:nvSpPr>
        <p:spPr>
          <a:xfrm xmlns:a="http://schemas.openxmlformats.org/drawingml/2006/main" flipH="0" flipV="0">
            <a:off x="4928054" y="3634808"/>
            <a:ext cx="136650"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5" name="Diagram arrowhead">
            <a:extLst xmlns:a="http://schemas.openxmlformats.org/drawingml/2006/main">
              <a:ext uri="{FF2B5EF4-FFF2-40B4-BE49-F238E27FC236}">
                <a16:creationId xmlns:a16="http://schemas.microsoft.com/office/drawing/2014/main" id="{EAB30B8C-C470-466C-9D5F-DA47A9E94C6C}"/>
              </a:ext>
            </a:extLst>
          </p:cNvPr>
          <p:cNvSpPr>
            <a:spLocks xmlns:a="http://schemas.openxmlformats.org/drawingml/2006/main" noGrp="1"/>
          </p:cNvSpPr>
          <p:nvPr/>
        </p:nvSpPr>
        <p:spPr>
          <a:xfrm xmlns:a="http://schemas.openxmlformats.org/drawingml/2006/main" rot="5400000">
            <a:off x="5040176" y="3585754"/>
            <a:ext cx="98108" cy="98108"/>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16" name="Editable scientific diagram">
            <a:extLst xmlns:a="http://schemas.openxmlformats.org/drawingml/2006/main">
              <a:ext uri="{FF2B5EF4-FFF2-40B4-BE49-F238E27FC236}">
                <a16:creationId xmlns:a16="http://schemas.microsoft.com/office/drawing/2014/main" id="{08EDF24D-3DF6-47B6-BD10-F64C86E56C81}"/>
              </a:ext>
            </a:extLst>
          </p:cNvPr>
          <p:cNvSpPr>
            <a:spLocks xmlns:a="http://schemas.openxmlformats.org/drawingml/2006/main" noGrp="1"/>
          </p:cNvSpPr>
          <p:nvPr/>
        </p:nvSpPr>
        <p:spPr>
          <a:xfrm xmlns:a="http://schemas.openxmlformats.org/drawingml/2006/main">
            <a:off x="5138284" y="3179309"/>
            <a:ext cx="1915432" cy="910998"/>
          </a:xfrm>
          <a:prstGeom xmlns:a="http://schemas.openxmlformats.org/drawingml/2006/main" prst="rect">
            <a:avLst/>
          </a:prstGeom>
          <a:solidFill xmlns:a="http://schemas.openxmlformats.org/drawingml/2006/main">
            <a:srgbClr val="EFF7F3"/>
          </a:solidFill>
          <a:ln xmlns:a="http://schemas.openxmlformats.org/drawingml/2006/main" w="21023">
            <a:solidFill>
              <a:srgbClr val="3F7D6E"/>
            </a:solidFill>
          </a:ln>
        </p:spPr>
      </p:sp>
      <p:sp>
        <p:nvSpPr>
          <p:cNvPr id="17" name="Diagram label: Measure at&#10;set times:&#10;0, 1 and 2 minutes">
            <a:extLst xmlns:a="http://schemas.openxmlformats.org/drawingml/2006/main">
              <a:ext uri="{FF2B5EF4-FFF2-40B4-BE49-F238E27FC236}">
                <a16:creationId xmlns:a16="http://schemas.microsoft.com/office/drawing/2014/main" id="{05D4CD38-BA3D-409F-AC4C-9E7A29A7A3A7}"/>
              </a:ext>
            </a:extLst>
          </p:cNvPr>
          <p:cNvSpPr>
            <a:spLocks xmlns:a="http://schemas.openxmlformats.org/drawingml/2006/main" noGrp="1"/>
          </p:cNvSpPr>
          <p:nvPr/>
        </p:nvSpPr>
        <p:spPr>
          <a:xfrm xmlns:a="http://schemas.openxmlformats.org/drawingml/2006/main">
            <a:off x="5194345" y="3242378"/>
            <a:ext cx="1803309" cy="7848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Measure at</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set times:</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0, 1 and 2 minutes</a:t>
            </a:r>
          </a:p>
        </p:txBody>
      </p:sp>
      <p:sp>
        <p:nvSpPr>
          <p:cNvPr id="18" name="Diagram line">
            <a:extLst xmlns:a="http://schemas.openxmlformats.org/drawingml/2006/main">
              <a:ext uri="{FF2B5EF4-FFF2-40B4-BE49-F238E27FC236}">
                <a16:creationId xmlns:a16="http://schemas.microsoft.com/office/drawing/2014/main" id="{7EB9A1E3-0217-4F59-B5A9-AEBDAAB375F6}"/>
              </a:ext>
            </a:extLst>
          </p:cNvPr>
          <p:cNvSpPr>
            <a:spLocks xmlns:a="http://schemas.openxmlformats.org/drawingml/2006/main" noGrp="1"/>
          </p:cNvSpPr>
          <p:nvPr/>
        </p:nvSpPr>
        <p:spPr>
          <a:xfrm xmlns:a="http://schemas.openxmlformats.org/drawingml/2006/main" flipH="0" flipV="0">
            <a:off x="7053716" y="3634808"/>
            <a:ext cx="136650"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9" name="Diagram arrowhead">
            <a:extLst xmlns:a="http://schemas.openxmlformats.org/drawingml/2006/main">
              <a:ext uri="{FF2B5EF4-FFF2-40B4-BE49-F238E27FC236}">
                <a16:creationId xmlns:a16="http://schemas.microsoft.com/office/drawing/2014/main" id="{69C8C5C0-D7AF-4EF5-85A1-06D487D6EADB}"/>
              </a:ext>
            </a:extLst>
          </p:cNvPr>
          <p:cNvSpPr>
            <a:spLocks xmlns:a="http://schemas.openxmlformats.org/drawingml/2006/main" noGrp="1"/>
          </p:cNvSpPr>
          <p:nvPr/>
        </p:nvSpPr>
        <p:spPr>
          <a:xfrm xmlns:a="http://schemas.openxmlformats.org/drawingml/2006/main" rot="5400000">
            <a:off x="7165839" y="3585754"/>
            <a:ext cx="98108" cy="98108"/>
          </a:xfrm>
          <a:prstGeom xmlns:a="http://schemas.openxmlformats.org/drawingml/2006/main" prst="triangle">
            <a:avLst/>
          </a:prstGeom>
          <a:solidFill xmlns:a="http://schemas.openxmlformats.org/drawingml/2006/main">
            <a:srgbClr val="1F2937"/>
          </a:solidFill>
          <a:ln xmlns:a="http://schemas.openxmlformats.org/drawingml/2006/main" w="0">
            <a:noFill/>
          </a:ln>
        </p:spPr>
      </p:sp>
      <p:sp>
        <p:nvSpPr>
          <p:cNvPr id="20" name="Editable scientific diagram">
            <a:extLst xmlns:a="http://schemas.openxmlformats.org/drawingml/2006/main">
              <a:ext uri="{FF2B5EF4-FFF2-40B4-BE49-F238E27FC236}">
                <a16:creationId xmlns:a16="http://schemas.microsoft.com/office/drawing/2014/main" id="{1482FE4C-D47A-4BC9-8E60-81A8842FBC2F}"/>
              </a:ext>
            </a:extLst>
          </p:cNvPr>
          <p:cNvSpPr>
            <a:spLocks xmlns:a="http://schemas.openxmlformats.org/drawingml/2006/main" noGrp="1"/>
          </p:cNvSpPr>
          <p:nvPr/>
        </p:nvSpPr>
        <p:spPr>
          <a:xfrm xmlns:a="http://schemas.openxmlformats.org/drawingml/2006/main">
            <a:off x="7263946" y="3179309"/>
            <a:ext cx="1915432" cy="910998"/>
          </a:xfrm>
          <a:prstGeom xmlns:a="http://schemas.openxmlformats.org/drawingml/2006/main" prst="rect">
            <a:avLst/>
          </a:prstGeom>
          <a:solidFill xmlns:a="http://schemas.openxmlformats.org/drawingml/2006/main">
            <a:srgbClr val="EFF7F3"/>
          </a:solidFill>
          <a:ln xmlns:a="http://schemas.openxmlformats.org/drawingml/2006/main" w="21023">
            <a:solidFill>
              <a:srgbClr val="3F7D6E"/>
            </a:solidFill>
          </a:ln>
        </p:spPr>
      </p:sp>
      <p:sp>
        <p:nvSpPr>
          <p:cNvPr id="21" name="Diagram label: Compare repeats:&#10;A, B and C">
            <a:extLst xmlns:a="http://schemas.openxmlformats.org/drawingml/2006/main">
              <a:ext uri="{FF2B5EF4-FFF2-40B4-BE49-F238E27FC236}">
                <a16:creationId xmlns:a16="http://schemas.microsoft.com/office/drawing/2014/main" id="{7AE6D971-2C29-4C8A-BCF7-A9CA34789A15}"/>
              </a:ext>
            </a:extLst>
          </p:cNvPr>
          <p:cNvSpPr>
            <a:spLocks xmlns:a="http://schemas.openxmlformats.org/drawingml/2006/main" noGrp="1"/>
          </p:cNvSpPr>
          <p:nvPr/>
        </p:nvSpPr>
        <p:spPr>
          <a:xfrm xmlns:a="http://schemas.openxmlformats.org/drawingml/2006/main">
            <a:off x="7320008" y="3319463"/>
            <a:ext cx="1803309" cy="6306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Compare repeats:</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A, B and C</a:t>
            </a:r>
          </a:p>
        </p:txBody>
      </p:sp>
      <p:sp>
        <p:nvSpPr>
          <p:cNvPr id="22" name="Diagram label: Constructed method: same activity and duration;&#10;same room, recovery posture and recording method.">
            <a:extLst xmlns:a="http://schemas.openxmlformats.org/drawingml/2006/main">
              <a:ext uri="{FF2B5EF4-FFF2-40B4-BE49-F238E27FC236}">
                <a16:creationId xmlns:a16="http://schemas.microsoft.com/office/drawing/2014/main" id="{581E43F1-F32F-4042-8386-93E8B26AB807}"/>
              </a:ext>
            </a:extLst>
          </p:cNvPr>
          <p:cNvSpPr>
            <a:spLocks xmlns:a="http://schemas.openxmlformats.org/drawingml/2006/main" noGrp="1"/>
          </p:cNvSpPr>
          <p:nvPr/>
        </p:nvSpPr>
        <p:spPr>
          <a:xfrm xmlns:a="http://schemas.openxmlformats.org/drawingml/2006/main">
            <a:off x="2942545" y="4475729"/>
            <a:ext cx="6306911" cy="9109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Constructed method: same activity and duration;</a:t>
            </a:r>
          </a:p>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same room, recovery posture and recording method.</a:t>
            </a:r>
          </a:p>
        </p:txBody>
      </p:sp>
      <p:sp>
        <p:nvSpPr>
          <p:cNvPr id="23" name="I read the method before the numbers.  The trials use the same p">
            <a:extLst xmlns:a="http://schemas.openxmlformats.org/drawingml/2006/main">
              <a:ext uri="{FF2B5EF4-FFF2-40B4-BE49-F238E27FC236}">
                <a16:creationId xmlns:a16="http://schemas.microsoft.com/office/drawing/2014/main" id="{350BAAEE-1C6C-4110-9202-64F988DD5F76}"/>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I read the method before the numbers. The trials use the same planned conditions. The numbers are a</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constructed classroom dataset.</a:t>
            </a:r>
          </a:p>
        </p:txBody>
      </p:sp>
    </p:spTree>
    <p:extLst>
      <p:ext uri="{BB962C8B-B14F-4D97-AF65-F5344CB8AC3E}">
        <p14:creationId xmlns:p14="http://schemas.microsoft.com/office/powerpoint/2010/main" val="10237167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surface">
            <a:extLst xmlns:a="http://schemas.openxmlformats.org/drawingml/2006/main">
              <a:ext uri="{FF2B5EF4-FFF2-40B4-BE49-F238E27FC236}">
                <a16:creationId xmlns:a16="http://schemas.microsoft.com/office/drawing/2014/main" id="{E6FFA07A-F378-4BFA-B2EF-E1FD40CEFBC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01A3973A-811A-4528-A66F-E82752DF162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6D4C2E3-E72F-4CCC-9A86-02C62553CFE3}"/>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D5C33DAF-103C-4338-89B1-742A41D62D91}"/>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B387D1AA-DFA7-439F-9116-DAB4F5E1A6C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I describe a pattern using values">
            <a:extLst xmlns:a="http://schemas.openxmlformats.org/drawingml/2006/main">
              <a:ext uri="{FF2B5EF4-FFF2-40B4-BE49-F238E27FC236}">
                <a16:creationId xmlns:a16="http://schemas.microsoft.com/office/drawing/2014/main" id="{3DB77943-9AC2-469F-8B4C-8A2A2A8B6C2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describe a pattern using values</a:t>
            </a:r>
          </a:p>
        </p:txBody>
      </p:sp>
      <p:sp>
        <p:nvSpPr>
          <p:cNvPr id="7" name="surface">
            <a:extLst xmlns:a="http://schemas.openxmlformats.org/drawingml/2006/main">
              <a:ext uri="{FF2B5EF4-FFF2-40B4-BE49-F238E27FC236}">
                <a16:creationId xmlns:a16="http://schemas.microsoft.com/office/drawing/2014/main" id="{30D14344-4BD3-4299-8583-AB9349CE6A5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recovery research room">
            <a:extLst xmlns:a="http://schemas.openxmlformats.org/drawingml/2006/main">
              <a:ext uri="{FF2B5EF4-FFF2-40B4-BE49-F238E27FC236}">
                <a16:creationId xmlns:a16="http://schemas.microsoft.com/office/drawing/2014/main" id="{2C465AEF-2C0C-4A42-B172-D5D67E2FC42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9" name="4 / 15">
            <a:extLst xmlns:a="http://schemas.openxmlformats.org/drawingml/2006/main">
              <a:ext uri="{FF2B5EF4-FFF2-40B4-BE49-F238E27FC236}">
                <a16:creationId xmlns:a16="http://schemas.microsoft.com/office/drawing/2014/main" id="{71B23D95-68AA-4DE3-9463-93376027194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15</a:t>
            </a:r>
          </a:p>
        </p:txBody>
      </p:sp>
      <p:sp>
        <p:nvSpPr>
          <p:cNvPr id="10" name="Diagram label: Trial A: a recovery pattern">
            <a:extLst xmlns:a="http://schemas.openxmlformats.org/drawingml/2006/main">
              <a:ext uri="{FF2B5EF4-FFF2-40B4-BE49-F238E27FC236}">
                <a16:creationId xmlns:a16="http://schemas.microsoft.com/office/drawing/2014/main" id="{E01FA3A8-B8AC-4A85-8719-425374CE24CC}"/>
              </a:ext>
            </a:extLst>
          </p:cNvPr>
          <p:cNvSpPr>
            <a:spLocks xmlns:a="http://schemas.openxmlformats.org/drawingml/2006/main" noGrp="1"/>
          </p:cNvSpPr>
          <p:nvPr/>
        </p:nvSpPr>
        <p:spPr>
          <a:xfrm xmlns:a="http://schemas.openxmlformats.org/drawingml/2006/main">
            <a:off x="2872468" y="1952965"/>
            <a:ext cx="6447064" cy="3854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Trial A: a recovery pattern</a:t>
            </a:r>
          </a:p>
        </p:txBody>
      </p:sp>
      <p:sp>
        <p:nvSpPr>
          <p:cNvPr id="11" name="Diagram line">
            <a:extLst xmlns:a="http://schemas.openxmlformats.org/drawingml/2006/main">
              <a:ext uri="{FF2B5EF4-FFF2-40B4-BE49-F238E27FC236}">
                <a16:creationId xmlns:a16="http://schemas.microsoft.com/office/drawing/2014/main" id="{15051E9B-FB1B-43AF-B551-50A24B24E5B8}"/>
              </a:ext>
            </a:extLst>
          </p:cNvPr>
          <p:cNvSpPr>
            <a:spLocks xmlns:a="http://schemas.openxmlformats.org/drawingml/2006/main" noGrp="1"/>
          </p:cNvSpPr>
          <p:nvPr/>
        </p:nvSpPr>
        <p:spPr>
          <a:xfrm xmlns:a="http://schemas.openxmlformats.org/drawingml/2006/main" flipH="0" flipV="0">
            <a:off x="3643313" y="4791075"/>
            <a:ext cx="5255759"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2" name="Diagram line">
            <a:extLst xmlns:a="http://schemas.openxmlformats.org/drawingml/2006/main">
              <a:ext uri="{FF2B5EF4-FFF2-40B4-BE49-F238E27FC236}">
                <a16:creationId xmlns:a16="http://schemas.microsoft.com/office/drawing/2014/main" id="{C3134F7A-0D08-4C77-AEE4-6CE34AA28D11}"/>
              </a:ext>
            </a:extLst>
          </p:cNvPr>
          <p:cNvSpPr>
            <a:spLocks xmlns:a="http://schemas.openxmlformats.org/drawingml/2006/main" noGrp="1"/>
          </p:cNvSpPr>
          <p:nvPr/>
        </p:nvSpPr>
        <p:spPr>
          <a:xfrm xmlns:a="http://schemas.openxmlformats.org/drawingml/2006/main" flipH="0" flipV="1">
            <a:off x="3643313" y="2478541"/>
            <a:ext cx="953" cy="2312534"/>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3" name="Diagram line">
            <a:extLst xmlns:a="http://schemas.openxmlformats.org/drawingml/2006/main">
              <a:ext uri="{FF2B5EF4-FFF2-40B4-BE49-F238E27FC236}">
                <a16:creationId xmlns:a16="http://schemas.microsoft.com/office/drawing/2014/main" id="{704B1570-6329-44F8-8069-E96556794C53}"/>
              </a:ext>
            </a:extLst>
          </p:cNvPr>
          <p:cNvSpPr>
            <a:spLocks xmlns:a="http://schemas.openxmlformats.org/drawingml/2006/main" noGrp="1"/>
          </p:cNvSpPr>
          <p:nvPr/>
        </p:nvSpPr>
        <p:spPr>
          <a:xfrm xmlns:a="http://schemas.openxmlformats.org/drawingml/2006/main" flipH="0" flipV="0">
            <a:off x="3573236" y="4791075"/>
            <a:ext cx="70077"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4" name="Diagram label: 0">
            <a:extLst xmlns:a="http://schemas.openxmlformats.org/drawingml/2006/main">
              <a:ext uri="{FF2B5EF4-FFF2-40B4-BE49-F238E27FC236}">
                <a16:creationId xmlns:a16="http://schemas.microsoft.com/office/drawing/2014/main" id="{973BC213-E278-489D-B928-CB53FF74FD98}"/>
              </a:ext>
            </a:extLst>
          </p:cNvPr>
          <p:cNvSpPr>
            <a:spLocks xmlns:a="http://schemas.openxmlformats.org/drawingml/2006/main" noGrp="1"/>
          </p:cNvSpPr>
          <p:nvPr/>
        </p:nvSpPr>
        <p:spPr>
          <a:xfrm xmlns:a="http://schemas.openxmlformats.org/drawingml/2006/main">
            <a:off x="3047660" y="4650921"/>
            <a:ext cx="490538"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0</a:t>
            </a:r>
          </a:p>
        </p:txBody>
      </p:sp>
      <p:sp>
        <p:nvSpPr>
          <p:cNvPr id="15" name="Diagram line">
            <a:extLst xmlns:a="http://schemas.openxmlformats.org/drawingml/2006/main">
              <a:ext uri="{FF2B5EF4-FFF2-40B4-BE49-F238E27FC236}">
                <a16:creationId xmlns:a16="http://schemas.microsoft.com/office/drawing/2014/main" id="{4E40439D-C190-49B0-A08A-676989DAE3B0}"/>
              </a:ext>
            </a:extLst>
          </p:cNvPr>
          <p:cNvSpPr>
            <a:spLocks xmlns:a="http://schemas.openxmlformats.org/drawingml/2006/main" noGrp="1"/>
          </p:cNvSpPr>
          <p:nvPr/>
        </p:nvSpPr>
        <p:spPr>
          <a:xfrm xmlns:a="http://schemas.openxmlformats.org/drawingml/2006/main" flipH="0" flipV="0">
            <a:off x="3573236" y="4118338"/>
            <a:ext cx="70077"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6" name="Diagram label: 40">
            <a:extLst xmlns:a="http://schemas.openxmlformats.org/drawingml/2006/main">
              <a:ext uri="{FF2B5EF4-FFF2-40B4-BE49-F238E27FC236}">
                <a16:creationId xmlns:a16="http://schemas.microsoft.com/office/drawing/2014/main" id="{7A467451-4885-4A35-8B15-A5D95B1B445A}"/>
              </a:ext>
            </a:extLst>
          </p:cNvPr>
          <p:cNvSpPr>
            <a:spLocks xmlns:a="http://schemas.openxmlformats.org/drawingml/2006/main" noGrp="1"/>
          </p:cNvSpPr>
          <p:nvPr/>
        </p:nvSpPr>
        <p:spPr>
          <a:xfrm xmlns:a="http://schemas.openxmlformats.org/drawingml/2006/main">
            <a:off x="3047660" y="3978184"/>
            <a:ext cx="490538"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40</a:t>
            </a:r>
          </a:p>
        </p:txBody>
      </p:sp>
      <p:sp>
        <p:nvSpPr>
          <p:cNvPr id="17" name="Diagram line">
            <a:extLst xmlns:a="http://schemas.openxmlformats.org/drawingml/2006/main">
              <a:ext uri="{FF2B5EF4-FFF2-40B4-BE49-F238E27FC236}">
                <a16:creationId xmlns:a16="http://schemas.microsoft.com/office/drawing/2014/main" id="{A5EF6452-C550-4BFE-8441-AD650B96403C}"/>
              </a:ext>
            </a:extLst>
          </p:cNvPr>
          <p:cNvSpPr>
            <a:spLocks xmlns:a="http://schemas.openxmlformats.org/drawingml/2006/main" noGrp="1"/>
          </p:cNvSpPr>
          <p:nvPr/>
        </p:nvSpPr>
        <p:spPr>
          <a:xfrm xmlns:a="http://schemas.openxmlformats.org/drawingml/2006/main" flipH="0" flipV="0">
            <a:off x="3573236" y="3445601"/>
            <a:ext cx="70077"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8" name="Diagram label: 80">
            <a:extLst xmlns:a="http://schemas.openxmlformats.org/drawingml/2006/main">
              <a:ext uri="{FF2B5EF4-FFF2-40B4-BE49-F238E27FC236}">
                <a16:creationId xmlns:a16="http://schemas.microsoft.com/office/drawing/2014/main" id="{AA4CA549-D011-4723-92BA-7D2F494F8F3D}"/>
              </a:ext>
            </a:extLst>
          </p:cNvPr>
          <p:cNvSpPr>
            <a:spLocks xmlns:a="http://schemas.openxmlformats.org/drawingml/2006/main" noGrp="1"/>
          </p:cNvSpPr>
          <p:nvPr/>
        </p:nvSpPr>
        <p:spPr>
          <a:xfrm xmlns:a="http://schemas.openxmlformats.org/drawingml/2006/main">
            <a:off x="3047660" y="3305447"/>
            <a:ext cx="490538"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80</a:t>
            </a:r>
          </a:p>
        </p:txBody>
      </p:sp>
      <p:sp>
        <p:nvSpPr>
          <p:cNvPr id="19" name="Diagram line">
            <a:extLst xmlns:a="http://schemas.openxmlformats.org/drawingml/2006/main">
              <a:ext uri="{FF2B5EF4-FFF2-40B4-BE49-F238E27FC236}">
                <a16:creationId xmlns:a16="http://schemas.microsoft.com/office/drawing/2014/main" id="{6EDA4B48-B9EB-4BC4-B0D8-D62077DB00DC}"/>
              </a:ext>
            </a:extLst>
          </p:cNvPr>
          <p:cNvSpPr>
            <a:spLocks xmlns:a="http://schemas.openxmlformats.org/drawingml/2006/main" noGrp="1"/>
          </p:cNvSpPr>
          <p:nvPr/>
        </p:nvSpPr>
        <p:spPr>
          <a:xfrm xmlns:a="http://schemas.openxmlformats.org/drawingml/2006/main" flipH="0" flipV="0">
            <a:off x="3573236" y="2772864"/>
            <a:ext cx="70077"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20" name="Diagram label: 120">
            <a:extLst xmlns:a="http://schemas.openxmlformats.org/drawingml/2006/main">
              <a:ext uri="{FF2B5EF4-FFF2-40B4-BE49-F238E27FC236}">
                <a16:creationId xmlns:a16="http://schemas.microsoft.com/office/drawing/2014/main" id="{219CA822-540E-4BCA-B208-72477ABF5557}"/>
              </a:ext>
            </a:extLst>
          </p:cNvPr>
          <p:cNvSpPr>
            <a:spLocks xmlns:a="http://schemas.openxmlformats.org/drawingml/2006/main" noGrp="1"/>
          </p:cNvSpPr>
          <p:nvPr/>
        </p:nvSpPr>
        <p:spPr>
          <a:xfrm xmlns:a="http://schemas.openxmlformats.org/drawingml/2006/main">
            <a:off x="3047660" y="2632710"/>
            <a:ext cx="490538"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120</a:t>
            </a:r>
          </a:p>
        </p:txBody>
      </p:sp>
      <p:sp>
        <p:nvSpPr>
          <p:cNvPr id="21" name="Editable scientific diagram">
            <a:extLst xmlns:a="http://schemas.openxmlformats.org/drawingml/2006/main">
              <a:ext uri="{FF2B5EF4-FFF2-40B4-BE49-F238E27FC236}">
                <a16:creationId xmlns:a16="http://schemas.microsoft.com/office/drawing/2014/main" id="{97E0FC0C-33CF-405C-8290-9F4123F0FB47}"/>
              </a:ext>
            </a:extLst>
          </p:cNvPr>
          <p:cNvSpPr>
            <a:spLocks xmlns:a="http://schemas.openxmlformats.org/drawingml/2006/main" noGrp="1"/>
          </p:cNvSpPr>
          <p:nvPr/>
        </p:nvSpPr>
        <p:spPr>
          <a:xfrm xmlns:a="http://schemas.openxmlformats.org/drawingml/2006/main">
            <a:off x="3944643" y="2723810"/>
            <a:ext cx="98108" cy="98108"/>
          </a:xfrm>
          <a:prstGeom xmlns:a="http://schemas.openxmlformats.org/drawingml/2006/main" prst="ellipse">
            <a:avLst/>
          </a:prstGeom>
          <a:solidFill xmlns:a="http://schemas.openxmlformats.org/drawingml/2006/main">
            <a:srgbClr val="3F7D6E"/>
          </a:solidFill>
          <a:ln xmlns:a="http://schemas.openxmlformats.org/drawingml/2006/main" w="21023">
            <a:solidFill>
              <a:srgbClr val="3F7D6E"/>
            </a:solidFill>
          </a:ln>
        </p:spPr>
      </p:sp>
      <p:sp>
        <p:nvSpPr>
          <p:cNvPr id="22" name="Diagram label: 120">
            <a:extLst xmlns:a="http://schemas.openxmlformats.org/drawingml/2006/main">
              <a:ext uri="{FF2B5EF4-FFF2-40B4-BE49-F238E27FC236}">
                <a16:creationId xmlns:a16="http://schemas.microsoft.com/office/drawing/2014/main" id="{30A5825F-3C48-4A7C-B23C-84F6541F6804}"/>
              </a:ext>
            </a:extLst>
          </p:cNvPr>
          <p:cNvSpPr>
            <a:spLocks xmlns:a="http://schemas.openxmlformats.org/drawingml/2006/main" noGrp="1"/>
          </p:cNvSpPr>
          <p:nvPr/>
        </p:nvSpPr>
        <p:spPr>
          <a:xfrm xmlns:a="http://schemas.openxmlformats.org/drawingml/2006/main">
            <a:off x="3573236" y="2401457"/>
            <a:ext cx="840921" cy="2943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120</a:t>
            </a:r>
          </a:p>
        </p:txBody>
      </p:sp>
      <p:sp>
        <p:nvSpPr>
          <p:cNvPr id="23" name="Diagram label: 0">
            <a:extLst xmlns:a="http://schemas.openxmlformats.org/drawingml/2006/main">
              <a:ext uri="{FF2B5EF4-FFF2-40B4-BE49-F238E27FC236}">
                <a16:creationId xmlns:a16="http://schemas.microsoft.com/office/drawing/2014/main" id="{EF7870C4-AD21-4FB1-823B-10C1FDEC2280}"/>
              </a:ext>
            </a:extLst>
          </p:cNvPr>
          <p:cNvSpPr>
            <a:spLocks xmlns:a="http://schemas.openxmlformats.org/drawingml/2006/main" noGrp="1"/>
          </p:cNvSpPr>
          <p:nvPr/>
        </p:nvSpPr>
        <p:spPr>
          <a:xfrm xmlns:a="http://schemas.openxmlformats.org/drawingml/2006/main">
            <a:off x="3678351" y="4861152"/>
            <a:ext cx="630691"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0</a:t>
            </a:r>
          </a:p>
        </p:txBody>
      </p:sp>
      <p:sp>
        <p:nvSpPr>
          <p:cNvPr id="24" name="Diagram line">
            <a:extLst xmlns:a="http://schemas.openxmlformats.org/drawingml/2006/main">
              <a:ext uri="{FF2B5EF4-FFF2-40B4-BE49-F238E27FC236}">
                <a16:creationId xmlns:a16="http://schemas.microsoft.com/office/drawing/2014/main" id="{60CC9B9E-AC9F-4A21-BF35-7D00F101870F}"/>
              </a:ext>
            </a:extLst>
          </p:cNvPr>
          <p:cNvSpPr>
            <a:spLocks xmlns:a="http://schemas.openxmlformats.org/drawingml/2006/main" noGrp="1"/>
          </p:cNvSpPr>
          <p:nvPr/>
        </p:nvSpPr>
        <p:spPr>
          <a:xfrm xmlns:a="http://schemas.openxmlformats.org/drawingml/2006/main" flipH="0" flipV="0">
            <a:off x="3993696" y="2772864"/>
            <a:ext cx="2137342" cy="403642"/>
          </a:xfrm>
          <a:prstGeom xmlns:a="http://schemas.openxmlformats.org/drawingml/2006/main" prst="line">
            <a:avLst/>
          </a:prstGeom>
          <a:noFill xmlns:a="http://schemas.openxmlformats.org/drawingml/2006/main"/>
          <a:ln xmlns:a="http://schemas.openxmlformats.org/drawingml/2006/main" w="35038">
            <a:solidFill>
              <a:srgbClr val="3F7D6E"/>
            </a:solidFill>
          </a:ln>
        </p:spPr>
      </p:sp>
      <p:sp>
        <p:nvSpPr>
          <p:cNvPr id="25" name="Editable scientific diagram">
            <a:extLst xmlns:a="http://schemas.openxmlformats.org/drawingml/2006/main">
              <a:ext uri="{FF2B5EF4-FFF2-40B4-BE49-F238E27FC236}">
                <a16:creationId xmlns:a16="http://schemas.microsoft.com/office/drawing/2014/main" id="{AFD53D3E-6768-43DF-8BE7-0799203D9681}"/>
              </a:ext>
            </a:extLst>
          </p:cNvPr>
          <p:cNvSpPr>
            <a:spLocks xmlns:a="http://schemas.openxmlformats.org/drawingml/2006/main" noGrp="1"/>
          </p:cNvSpPr>
          <p:nvPr/>
        </p:nvSpPr>
        <p:spPr>
          <a:xfrm xmlns:a="http://schemas.openxmlformats.org/drawingml/2006/main">
            <a:off x="6081985" y="3127452"/>
            <a:ext cx="98108" cy="98108"/>
          </a:xfrm>
          <a:prstGeom xmlns:a="http://schemas.openxmlformats.org/drawingml/2006/main" prst="ellipse">
            <a:avLst/>
          </a:prstGeom>
          <a:solidFill xmlns:a="http://schemas.openxmlformats.org/drawingml/2006/main">
            <a:srgbClr val="3F7D6E"/>
          </a:solidFill>
          <a:ln xmlns:a="http://schemas.openxmlformats.org/drawingml/2006/main" w="21023">
            <a:solidFill>
              <a:srgbClr val="3F7D6E"/>
            </a:solidFill>
          </a:ln>
        </p:spPr>
      </p:sp>
      <p:sp>
        <p:nvSpPr>
          <p:cNvPr id="26" name="Diagram label: 96">
            <a:extLst xmlns:a="http://schemas.openxmlformats.org/drawingml/2006/main">
              <a:ext uri="{FF2B5EF4-FFF2-40B4-BE49-F238E27FC236}">
                <a16:creationId xmlns:a16="http://schemas.microsoft.com/office/drawing/2014/main" id="{EBCE2078-9DEE-4638-9487-74343FDD4342}"/>
              </a:ext>
            </a:extLst>
          </p:cNvPr>
          <p:cNvSpPr>
            <a:spLocks xmlns:a="http://schemas.openxmlformats.org/drawingml/2006/main" noGrp="1"/>
          </p:cNvSpPr>
          <p:nvPr/>
        </p:nvSpPr>
        <p:spPr>
          <a:xfrm xmlns:a="http://schemas.openxmlformats.org/drawingml/2006/main">
            <a:off x="5710578" y="2805099"/>
            <a:ext cx="840921" cy="2943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96</a:t>
            </a:r>
          </a:p>
        </p:txBody>
      </p:sp>
      <p:sp>
        <p:nvSpPr>
          <p:cNvPr id="27" name="Diagram label: 1">
            <a:extLst xmlns:a="http://schemas.openxmlformats.org/drawingml/2006/main">
              <a:ext uri="{FF2B5EF4-FFF2-40B4-BE49-F238E27FC236}">
                <a16:creationId xmlns:a16="http://schemas.microsoft.com/office/drawing/2014/main" id="{723CAB4F-5C66-4DC0-8679-08B5BD885A24}"/>
              </a:ext>
            </a:extLst>
          </p:cNvPr>
          <p:cNvSpPr>
            <a:spLocks xmlns:a="http://schemas.openxmlformats.org/drawingml/2006/main" noGrp="1"/>
          </p:cNvSpPr>
          <p:nvPr/>
        </p:nvSpPr>
        <p:spPr>
          <a:xfrm xmlns:a="http://schemas.openxmlformats.org/drawingml/2006/main">
            <a:off x="5815693" y="4861152"/>
            <a:ext cx="630691"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1</a:t>
            </a:r>
          </a:p>
        </p:txBody>
      </p:sp>
      <p:sp>
        <p:nvSpPr>
          <p:cNvPr id="28" name="Diagram line">
            <a:extLst xmlns:a="http://schemas.openxmlformats.org/drawingml/2006/main">
              <a:ext uri="{FF2B5EF4-FFF2-40B4-BE49-F238E27FC236}">
                <a16:creationId xmlns:a16="http://schemas.microsoft.com/office/drawing/2014/main" id="{72932580-5D9E-466B-95A7-CC2A2B00EFE6}"/>
              </a:ext>
            </a:extLst>
          </p:cNvPr>
          <p:cNvSpPr>
            <a:spLocks xmlns:a="http://schemas.openxmlformats.org/drawingml/2006/main" noGrp="1"/>
          </p:cNvSpPr>
          <p:nvPr/>
        </p:nvSpPr>
        <p:spPr>
          <a:xfrm xmlns:a="http://schemas.openxmlformats.org/drawingml/2006/main" flipH="0" flipV="0">
            <a:off x="6131038" y="3176506"/>
            <a:ext cx="2137342" cy="269095"/>
          </a:xfrm>
          <a:prstGeom xmlns:a="http://schemas.openxmlformats.org/drawingml/2006/main" prst="line">
            <a:avLst/>
          </a:prstGeom>
          <a:noFill xmlns:a="http://schemas.openxmlformats.org/drawingml/2006/main"/>
          <a:ln xmlns:a="http://schemas.openxmlformats.org/drawingml/2006/main" w="35038">
            <a:solidFill>
              <a:srgbClr val="3F7D6E"/>
            </a:solidFill>
          </a:ln>
        </p:spPr>
      </p:sp>
      <p:sp>
        <p:nvSpPr>
          <p:cNvPr id="29" name="Editable scientific diagram">
            <a:extLst xmlns:a="http://schemas.openxmlformats.org/drawingml/2006/main">
              <a:ext uri="{FF2B5EF4-FFF2-40B4-BE49-F238E27FC236}">
                <a16:creationId xmlns:a16="http://schemas.microsoft.com/office/drawing/2014/main" id="{42936D0B-5BE7-4BE1-B2B2-618046EC3B25}"/>
              </a:ext>
            </a:extLst>
          </p:cNvPr>
          <p:cNvSpPr>
            <a:spLocks xmlns:a="http://schemas.openxmlformats.org/drawingml/2006/main" noGrp="1"/>
          </p:cNvSpPr>
          <p:nvPr/>
        </p:nvSpPr>
        <p:spPr>
          <a:xfrm xmlns:a="http://schemas.openxmlformats.org/drawingml/2006/main">
            <a:off x="8219327" y="3396547"/>
            <a:ext cx="98108" cy="98108"/>
          </a:xfrm>
          <a:prstGeom xmlns:a="http://schemas.openxmlformats.org/drawingml/2006/main" prst="ellipse">
            <a:avLst/>
          </a:prstGeom>
          <a:solidFill xmlns:a="http://schemas.openxmlformats.org/drawingml/2006/main">
            <a:srgbClr val="3F7D6E"/>
          </a:solidFill>
          <a:ln xmlns:a="http://schemas.openxmlformats.org/drawingml/2006/main" w="21023">
            <a:solidFill>
              <a:srgbClr val="3F7D6E"/>
            </a:solidFill>
          </a:ln>
        </p:spPr>
      </p:sp>
      <p:sp>
        <p:nvSpPr>
          <p:cNvPr id="30" name="Diagram label: 80">
            <a:extLst xmlns:a="http://schemas.openxmlformats.org/drawingml/2006/main">
              <a:ext uri="{FF2B5EF4-FFF2-40B4-BE49-F238E27FC236}">
                <a16:creationId xmlns:a16="http://schemas.microsoft.com/office/drawing/2014/main" id="{E47E9FEC-B1E8-41BC-BCB3-15797A64E313}"/>
              </a:ext>
            </a:extLst>
          </p:cNvPr>
          <p:cNvSpPr>
            <a:spLocks xmlns:a="http://schemas.openxmlformats.org/drawingml/2006/main" noGrp="1"/>
          </p:cNvSpPr>
          <p:nvPr/>
        </p:nvSpPr>
        <p:spPr>
          <a:xfrm xmlns:a="http://schemas.openxmlformats.org/drawingml/2006/main">
            <a:off x="7847920" y="3074194"/>
            <a:ext cx="840921" cy="2943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1">
                <a:solidFill>
                  <a:srgbClr val="1F2937"/>
                </a:solidFill>
                <a:latin typeface="Nimbus Sans"/>
                <a:ea typeface="Nimbus Sans"/>
                <a:cs typeface="Nimbus Sans"/>
              </a:defRPr>
            </a:pPr>
            <a:r>
              <a:rPr sz="1545" b="1">
                <a:solidFill>
                  <a:srgbClr val="1F2937"/>
                </a:solidFill>
                <a:latin typeface="Nimbus Sans"/>
                <a:ea typeface="Nimbus Sans"/>
                <a:cs typeface="Nimbus Sans"/>
              </a:rPr>
              <a:t>80</a:t>
            </a:r>
          </a:p>
        </p:txBody>
      </p:sp>
      <p:sp>
        <p:nvSpPr>
          <p:cNvPr id="31" name="Diagram label: 2">
            <a:extLst xmlns:a="http://schemas.openxmlformats.org/drawingml/2006/main">
              <a:ext uri="{FF2B5EF4-FFF2-40B4-BE49-F238E27FC236}">
                <a16:creationId xmlns:a16="http://schemas.microsoft.com/office/drawing/2014/main" id="{4CDA4E51-2B17-4D0F-9892-E00697E84891}"/>
              </a:ext>
            </a:extLst>
          </p:cNvPr>
          <p:cNvSpPr>
            <a:spLocks xmlns:a="http://schemas.openxmlformats.org/drawingml/2006/main" noGrp="1"/>
          </p:cNvSpPr>
          <p:nvPr/>
        </p:nvSpPr>
        <p:spPr>
          <a:xfrm xmlns:a="http://schemas.openxmlformats.org/drawingml/2006/main">
            <a:off x="7953035" y="4861152"/>
            <a:ext cx="630691"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0">
                <a:solidFill>
                  <a:srgbClr val="1F2937"/>
                </a:solidFill>
                <a:latin typeface="Nimbus Sans"/>
                <a:ea typeface="Nimbus Sans"/>
                <a:cs typeface="Nimbus Sans"/>
              </a:defRPr>
            </a:pPr>
            <a:r>
              <a:rPr sz="1490" b="0">
                <a:solidFill>
                  <a:srgbClr val="1F2937"/>
                </a:solidFill>
                <a:latin typeface="Nimbus Sans"/>
                <a:ea typeface="Nimbus Sans"/>
                <a:cs typeface="Nimbus Sans"/>
              </a:rPr>
              <a:t>2</a:t>
            </a:r>
          </a:p>
        </p:txBody>
      </p:sp>
      <p:sp>
        <p:nvSpPr>
          <p:cNvPr id="32" name="Diagram label: Minutes after the activity ended">
            <a:extLst xmlns:a="http://schemas.openxmlformats.org/drawingml/2006/main">
              <a:ext uri="{FF2B5EF4-FFF2-40B4-BE49-F238E27FC236}">
                <a16:creationId xmlns:a16="http://schemas.microsoft.com/office/drawing/2014/main" id="{5ACA1648-41DA-4C0F-9832-39DAEDDCD287}"/>
              </a:ext>
            </a:extLst>
          </p:cNvPr>
          <p:cNvSpPr>
            <a:spLocks xmlns:a="http://schemas.openxmlformats.org/drawingml/2006/main" noGrp="1"/>
          </p:cNvSpPr>
          <p:nvPr/>
        </p:nvSpPr>
        <p:spPr>
          <a:xfrm xmlns:a="http://schemas.openxmlformats.org/drawingml/2006/main">
            <a:off x="3783466" y="5183505"/>
            <a:ext cx="4905375"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0">
                <a:solidFill>
                  <a:srgbClr val="1F2937"/>
                </a:solidFill>
                <a:latin typeface="Nimbus Sans"/>
                <a:ea typeface="Nimbus Sans"/>
                <a:cs typeface="Nimbus Sans"/>
              </a:defRPr>
            </a:pPr>
            <a:r>
              <a:rPr sz="1435" b="0">
                <a:solidFill>
                  <a:srgbClr val="1F2937"/>
                </a:solidFill>
                <a:latin typeface="Nimbus Sans"/>
                <a:ea typeface="Nimbus Sans"/>
                <a:cs typeface="Nimbus Sans"/>
              </a:rPr>
              <a:t>Minutes after the activity ended</a:t>
            </a:r>
          </a:p>
        </p:txBody>
      </p:sp>
      <p:sp>
        <p:nvSpPr>
          <p:cNvPr id="33" name="Diagram label: Heart rate / beats per minute">
            <a:extLst xmlns:a="http://schemas.openxmlformats.org/drawingml/2006/main">
              <a:ext uri="{FF2B5EF4-FFF2-40B4-BE49-F238E27FC236}">
                <a16:creationId xmlns:a16="http://schemas.microsoft.com/office/drawing/2014/main" id="{1D709E01-9381-4627-80AB-19AAC7D215B8}"/>
              </a:ext>
            </a:extLst>
          </p:cNvPr>
          <p:cNvSpPr>
            <a:spLocks xmlns:a="http://schemas.openxmlformats.org/drawingml/2006/main" noGrp="1"/>
          </p:cNvSpPr>
          <p:nvPr/>
        </p:nvSpPr>
        <p:spPr>
          <a:xfrm xmlns:a="http://schemas.openxmlformats.org/drawingml/2006/main">
            <a:off x="4764541" y="2352403"/>
            <a:ext cx="4344761" cy="2382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Heart rate / beats per minute</a:t>
            </a:r>
          </a:p>
        </p:txBody>
      </p:sp>
      <p:sp>
        <p:nvSpPr>
          <p:cNvPr id="34" name="Diagram label: Constructed sample data. Resting value before trial A: 72.">
            <a:extLst xmlns:a="http://schemas.openxmlformats.org/drawingml/2006/main">
              <a:ext uri="{FF2B5EF4-FFF2-40B4-BE49-F238E27FC236}">
                <a16:creationId xmlns:a16="http://schemas.microsoft.com/office/drawing/2014/main" id="{7AA99222-8CC9-44AD-95C0-4F278B6F8771}"/>
              </a:ext>
            </a:extLst>
          </p:cNvPr>
          <p:cNvSpPr>
            <a:spLocks xmlns:a="http://schemas.openxmlformats.org/drawingml/2006/main" noGrp="1"/>
          </p:cNvSpPr>
          <p:nvPr/>
        </p:nvSpPr>
        <p:spPr>
          <a:xfrm xmlns:a="http://schemas.openxmlformats.org/drawingml/2006/main">
            <a:off x="2872468" y="5505858"/>
            <a:ext cx="6447064" cy="210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Constructed sample data. Resting value before trial A: 72.</a:t>
            </a:r>
          </a:p>
        </p:txBody>
      </p:sp>
      <p:sp>
        <p:nvSpPr>
          <p:cNvPr id="35" name="Trial A: 120 immediately after activity.  One minute later: 96. ">
            <a:extLst xmlns:a="http://schemas.openxmlformats.org/drawingml/2006/main">
              <a:ext uri="{FF2B5EF4-FFF2-40B4-BE49-F238E27FC236}">
                <a16:creationId xmlns:a16="http://schemas.microsoft.com/office/drawing/2014/main" id="{46FABBB5-2DEB-4341-9938-BD6FD393360A}"/>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Trial A: 120 immediately after activity. One minute later: 96. Two minutes later: 80. I say “fell towards 72”, not</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“fully recovered”.</a:t>
            </a:r>
          </a:p>
        </p:txBody>
      </p:sp>
    </p:spTree>
    <p:extLst>
      <p:ext uri="{BB962C8B-B14F-4D97-AF65-F5344CB8AC3E}">
        <p14:creationId xmlns:p14="http://schemas.microsoft.com/office/powerpoint/2010/main" val="7558304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surface">
            <a:extLst xmlns:a="http://schemas.openxmlformats.org/drawingml/2006/main">
              <a:ext uri="{FF2B5EF4-FFF2-40B4-BE49-F238E27FC236}">
                <a16:creationId xmlns:a16="http://schemas.microsoft.com/office/drawing/2014/main" id="{F71EC520-BE34-4E77-B69B-95F9B8EED9A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B058548B-3AD7-4856-9F45-ADA876CB3652}"/>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5178C3D6-56C3-49DC-8F8F-F99AEDEA3C1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B223C643-6F6B-4FD5-A375-D3E0EBCD27F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GROW SCIENCE</a:t>
            </a:r>
          </a:p>
        </p:txBody>
      </p:sp>
      <p:sp>
        <p:nvSpPr>
          <p:cNvPr id="5" name="I do">
            <a:extLst xmlns:a="http://schemas.openxmlformats.org/drawingml/2006/main">
              <a:ext uri="{FF2B5EF4-FFF2-40B4-BE49-F238E27FC236}">
                <a16:creationId xmlns:a16="http://schemas.microsoft.com/office/drawing/2014/main" id="{95ACF14D-77E2-4592-8E05-D84235734CA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I check repeats before a headline">
            <a:extLst xmlns:a="http://schemas.openxmlformats.org/drawingml/2006/main">
              <a:ext uri="{FF2B5EF4-FFF2-40B4-BE49-F238E27FC236}">
                <a16:creationId xmlns:a16="http://schemas.microsoft.com/office/drawing/2014/main" id="{185E71C9-C98B-41EC-8287-5570F243B07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 check repeats before a headline</a:t>
            </a:r>
          </a:p>
        </p:txBody>
      </p:sp>
      <p:sp>
        <p:nvSpPr>
          <p:cNvPr id="7" name="surface">
            <a:extLst xmlns:a="http://schemas.openxmlformats.org/drawingml/2006/main">
              <a:ext uri="{FF2B5EF4-FFF2-40B4-BE49-F238E27FC236}">
                <a16:creationId xmlns:a16="http://schemas.microsoft.com/office/drawing/2014/main" id="{EABAC6D5-B540-4680-B20D-D406D54B182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recovery research room">
            <a:extLst xmlns:a="http://schemas.openxmlformats.org/drawingml/2006/main">
              <a:ext uri="{FF2B5EF4-FFF2-40B4-BE49-F238E27FC236}">
                <a16:creationId xmlns:a16="http://schemas.microsoft.com/office/drawing/2014/main" id="{3750CEAF-A73A-48E9-8C07-C1DB295C9129}"/>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9" name="5 / 15">
            <a:extLst xmlns:a="http://schemas.openxmlformats.org/drawingml/2006/main">
              <a:ext uri="{FF2B5EF4-FFF2-40B4-BE49-F238E27FC236}">
                <a16:creationId xmlns:a16="http://schemas.microsoft.com/office/drawing/2014/main" id="{32F6ED5E-3EF7-4839-ACF6-6FED88875D4C}"/>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15</a:t>
            </a:r>
          </a:p>
        </p:txBody>
      </p:sp>
      <p:sp>
        <p:nvSpPr>
          <p:cNvPr id="10" name="Diagram label: Repeats: similar is not identical">
            <a:extLst xmlns:a="http://schemas.openxmlformats.org/drawingml/2006/main">
              <a:ext uri="{FF2B5EF4-FFF2-40B4-BE49-F238E27FC236}">
                <a16:creationId xmlns:a16="http://schemas.microsoft.com/office/drawing/2014/main" id="{44A26810-CB33-4E02-BB4B-2E043F947C2B}"/>
              </a:ext>
            </a:extLst>
          </p:cNvPr>
          <p:cNvSpPr>
            <a:spLocks xmlns:a="http://schemas.openxmlformats.org/drawingml/2006/main" noGrp="1"/>
          </p:cNvSpPr>
          <p:nvPr/>
        </p:nvSpPr>
        <p:spPr>
          <a:xfrm xmlns:a="http://schemas.openxmlformats.org/drawingml/2006/main">
            <a:off x="2872468" y="1973988"/>
            <a:ext cx="6447064" cy="3643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Repeats: similar is not identical</a:t>
            </a:r>
          </a:p>
        </p:txBody>
      </p:sp>
      <p:sp>
        <p:nvSpPr>
          <p:cNvPr id="11" name="Diagram line">
            <a:extLst xmlns:a="http://schemas.openxmlformats.org/drawingml/2006/main">
              <a:ext uri="{FF2B5EF4-FFF2-40B4-BE49-F238E27FC236}">
                <a16:creationId xmlns:a16="http://schemas.microsoft.com/office/drawing/2014/main" id="{2A753DFA-9851-4F7A-BC3C-AC94D8C00E14}"/>
              </a:ext>
            </a:extLst>
          </p:cNvPr>
          <p:cNvSpPr>
            <a:spLocks xmlns:a="http://schemas.openxmlformats.org/drawingml/2006/main" noGrp="1"/>
          </p:cNvSpPr>
          <p:nvPr/>
        </p:nvSpPr>
        <p:spPr>
          <a:xfrm xmlns:a="http://schemas.openxmlformats.org/drawingml/2006/main" flipH="0" flipV="0">
            <a:off x="3503159" y="4791075"/>
            <a:ext cx="5536066"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2" name="Diagram line">
            <a:extLst xmlns:a="http://schemas.openxmlformats.org/drawingml/2006/main">
              <a:ext uri="{FF2B5EF4-FFF2-40B4-BE49-F238E27FC236}">
                <a16:creationId xmlns:a16="http://schemas.microsoft.com/office/drawing/2014/main" id="{B09D7BE8-AE6D-49A3-855B-0E9077F52493}"/>
              </a:ext>
            </a:extLst>
          </p:cNvPr>
          <p:cNvSpPr>
            <a:spLocks xmlns:a="http://schemas.openxmlformats.org/drawingml/2006/main" noGrp="1"/>
          </p:cNvSpPr>
          <p:nvPr/>
        </p:nvSpPr>
        <p:spPr>
          <a:xfrm xmlns:a="http://schemas.openxmlformats.org/drawingml/2006/main" flipH="0" flipV="1">
            <a:off x="3503159" y="2548618"/>
            <a:ext cx="953" cy="2242457"/>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3" name="Diagram label: 0">
            <a:extLst xmlns:a="http://schemas.openxmlformats.org/drawingml/2006/main">
              <a:ext uri="{FF2B5EF4-FFF2-40B4-BE49-F238E27FC236}">
                <a16:creationId xmlns:a16="http://schemas.microsoft.com/office/drawing/2014/main" id="{1D476FBC-0F1F-4626-B00F-868DC0DE2318}"/>
              </a:ext>
            </a:extLst>
          </p:cNvPr>
          <p:cNvSpPr>
            <a:spLocks xmlns:a="http://schemas.openxmlformats.org/drawingml/2006/main" noGrp="1"/>
          </p:cNvSpPr>
          <p:nvPr/>
        </p:nvSpPr>
        <p:spPr>
          <a:xfrm xmlns:a="http://schemas.openxmlformats.org/drawingml/2006/main">
            <a:off x="2977583" y="4650921"/>
            <a:ext cx="455499"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0</a:t>
            </a:r>
          </a:p>
        </p:txBody>
      </p:sp>
      <p:sp>
        <p:nvSpPr>
          <p:cNvPr id="14" name="Diagram line">
            <a:extLst xmlns:a="http://schemas.openxmlformats.org/drawingml/2006/main">
              <a:ext uri="{FF2B5EF4-FFF2-40B4-BE49-F238E27FC236}">
                <a16:creationId xmlns:a16="http://schemas.microsoft.com/office/drawing/2014/main" id="{53FA3557-BCF3-467C-9009-F9AF46BE6693}"/>
              </a:ext>
            </a:extLst>
          </p:cNvPr>
          <p:cNvSpPr>
            <a:spLocks xmlns:a="http://schemas.openxmlformats.org/drawingml/2006/main" noGrp="1"/>
          </p:cNvSpPr>
          <p:nvPr/>
        </p:nvSpPr>
        <p:spPr>
          <a:xfrm xmlns:a="http://schemas.openxmlformats.org/drawingml/2006/main" flipH="0" flipV="0">
            <a:off x="3433082" y="4791075"/>
            <a:ext cx="70077"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5" name="Diagram label: 40">
            <a:extLst xmlns:a="http://schemas.openxmlformats.org/drawingml/2006/main">
              <a:ext uri="{FF2B5EF4-FFF2-40B4-BE49-F238E27FC236}">
                <a16:creationId xmlns:a16="http://schemas.microsoft.com/office/drawing/2014/main" id="{326273AE-1CAC-4161-A18D-3436D36B43A8}"/>
              </a:ext>
            </a:extLst>
          </p:cNvPr>
          <p:cNvSpPr>
            <a:spLocks xmlns:a="http://schemas.openxmlformats.org/drawingml/2006/main" noGrp="1"/>
          </p:cNvSpPr>
          <p:nvPr/>
        </p:nvSpPr>
        <p:spPr>
          <a:xfrm xmlns:a="http://schemas.openxmlformats.org/drawingml/2006/main">
            <a:off x="2977583" y="4006215"/>
            <a:ext cx="455499"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40</a:t>
            </a:r>
          </a:p>
        </p:txBody>
      </p:sp>
      <p:sp>
        <p:nvSpPr>
          <p:cNvPr id="16" name="Diagram line">
            <a:extLst xmlns:a="http://schemas.openxmlformats.org/drawingml/2006/main">
              <a:ext uri="{FF2B5EF4-FFF2-40B4-BE49-F238E27FC236}">
                <a16:creationId xmlns:a16="http://schemas.microsoft.com/office/drawing/2014/main" id="{28B80D68-5D06-4B9A-A6E1-031AD398E7CA}"/>
              </a:ext>
            </a:extLst>
          </p:cNvPr>
          <p:cNvSpPr>
            <a:spLocks xmlns:a="http://schemas.openxmlformats.org/drawingml/2006/main" noGrp="1"/>
          </p:cNvSpPr>
          <p:nvPr/>
        </p:nvSpPr>
        <p:spPr>
          <a:xfrm xmlns:a="http://schemas.openxmlformats.org/drawingml/2006/main" flipH="0" flipV="0">
            <a:off x="3433082" y="4146369"/>
            <a:ext cx="70077"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7" name="Diagram label: 80">
            <a:extLst xmlns:a="http://schemas.openxmlformats.org/drawingml/2006/main">
              <a:ext uri="{FF2B5EF4-FFF2-40B4-BE49-F238E27FC236}">
                <a16:creationId xmlns:a16="http://schemas.microsoft.com/office/drawing/2014/main" id="{CA3FECFE-ADC2-4C03-BAA3-7CA5BBFB1E5F}"/>
              </a:ext>
            </a:extLst>
          </p:cNvPr>
          <p:cNvSpPr>
            <a:spLocks xmlns:a="http://schemas.openxmlformats.org/drawingml/2006/main" noGrp="1"/>
          </p:cNvSpPr>
          <p:nvPr/>
        </p:nvSpPr>
        <p:spPr>
          <a:xfrm xmlns:a="http://schemas.openxmlformats.org/drawingml/2006/main">
            <a:off x="2977583" y="3361509"/>
            <a:ext cx="455499"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80</a:t>
            </a:r>
          </a:p>
        </p:txBody>
      </p:sp>
      <p:sp>
        <p:nvSpPr>
          <p:cNvPr id="18" name="Diagram line">
            <a:extLst xmlns:a="http://schemas.openxmlformats.org/drawingml/2006/main">
              <a:ext uri="{FF2B5EF4-FFF2-40B4-BE49-F238E27FC236}">
                <a16:creationId xmlns:a16="http://schemas.microsoft.com/office/drawing/2014/main" id="{0DC5D752-D00A-406B-8A60-6F4016FD5343}"/>
              </a:ext>
            </a:extLst>
          </p:cNvPr>
          <p:cNvSpPr>
            <a:spLocks xmlns:a="http://schemas.openxmlformats.org/drawingml/2006/main" noGrp="1"/>
          </p:cNvSpPr>
          <p:nvPr/>
        </p:nvSpPr>
        <p:spPr>
          <a:xfrm xmlns:a="http://schemas.openxmlformats.org/drawingml/2006/main" flipH="0" flipV="0">
            <a:off x="3433082" y="3501662"/>
            <a:ext cx="70077"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19" name="Diagram label: 120">
            <a:extLst xmlns:a="http://schemas.openxmlformats.org/drawingml/2006/main">
              <a:ext uri="{FF2B5EF4-FFF2-40B4-BE49-F238E27FC236}">
                <a16:creationId xmlns:a16="http://schemas.microsoft.com/office/drawing/2014/main" id="{420D8E31-0389-4BF7-823D-A62CF0F36F3C}"/>
              </a:ext>
            </a:extLst>
          </p:cNvPr>
          <p:cNvSpPr>
            <a:spLocks xmlns:a="http://schemas.openxmlformats.org/drawingml/2006/main" noGrp="1"/>
          </p:cNvSpPr>
          <p:nvPr/>
        </p:nvSpPr>
        <p:spPr>
          <a:xfrm xmlns:a="http://schemas.openxmlformats.org/drawingml/2006/main">
            <a:off x="2977583" y="2716802"/>
            <a:ext cx="455499"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120</a:t>
            </a:r>
          </a:p>
        </p:txBody>
      </p:sp>
      <p:sp>
        <p:nvSpPr>
          <p:cNvPr id="20" name="Diagram line">
            <a:extLst xmlns:a="http://schemas.openxmlformats.org/drawingml/2006/main">
              <a:ext uri="{FF2B5EF4-FFF2-40B4-BE49-F238E27FC236}">
                <a16:creationId xmlns:a16="http://schemas.microsoft.com/office/drawing/2014/main" id="{4F86C38C-1CC8-4018-BF8C-3E4259AE5B89}"/>
              </a:ext>
            </a:extLst>
          </p:cNvPr>
          <p:cNvSpPr>
            <a:spLocks xmlns:a="http://schemas.openxmlformats.org/drawingml/2006/main" noGrp="1"/>
          </p:cNvSpPr>
          <p:nvPr/>
        </p:nvSpPr>
        <p:spPr>
          <a:xfrm xmlns:a="http://schemas.openxmlformats.org/drawingml/2006/main" flipH="0" flipV="0">
            <a:off x="3433082" y="2856956"/>
            <a:ext cx="70077" cy="953"/>
          </a:xfrm>
          <a:prstGeom xmlns:a="http://schemas.openxmlformats.org/drawingml/2006/main" prst="line">
            <a:avLst/>
          </a:prstGeom>
          <a:noFill xmlns:a="http://schemas.openxmlformats.org/drawingml/2006/main"/>
          <a:ln xmlns:a="http://schemas.openxmlformats.org/drawingml/2006/main" w="35038">
            <a:solidFill>
              <a:srgbClr val="1F2937"/>
            </a:solidFill>
          </a:ln>
        </p:spPr>
      </p:sp>
      <p:sp>
        <p:nvSpPr>
          <p:cNvPr id="21" name="Editable scientific diagram">
            <a:extLst xmlns:a="http://schemas.openxmlformats.org/drawingml/2006/main">
              <a:ext uri="{FF2B5EF4-FFF2-40B4-BE49-F238E27FC236}">
                <a16:creationId xmlns:a16="http://schemas.microsoft.com/office/drawing/2014/main" id="{FD69047A-A0F2-4BD1-B2A3-B854B9E67558}"/>
              </a:ext>
            </a:extLst>
          </p:cNvPr>
          <p:cNvSpPr>
            <a:spLocks xmlns:a="http://schemas.openxmlformats.org/drawingml/2006/main" noGrp="1"/>
          </p:cNvSpPr>
          <p:nvPr/>
        </p:nvSpPr>
        <p:spPr>
          <a:xfrm xmlns:a="http://schemas.openxmlformats.org/drawingml/2006/main">
            <a:off x="4274004" y="2856956"/>
            <a:ext cx="840921" cy="1934119"/>
          </a:xfrm>
          <a:prstGeom xmlns:a="http://schemas.openxmlformats.org/drawingml/2006/main" prst="rect">
            <a:avLst/>
          </a:prstGeom>
          <a:solidFill xmlns:a="http://schemas.openxmlformats.org/drawingml/2006/main">
            <a:srgbClr val="CBE0D5"/>
          </a:solidFill>
          <a:ln xmlns:a="http://schemas.openxmlformats.org/drawingml/2006/main" w="21023">
            <a:solidFill>
              <a:srgbClr val="3F7D6E"/>
            </a:solidFill>
          </a:ln>
        </p:spPr>
      </p:sp>
      <p:sp>
        <p:nvSpPr>
          <p:cNvPr id="22" name="Diagram label: 120">
            <a:extLst xmlns:a="http://schemas.openxmlformats.org/drawingml/2006/main">
              <a:ext uri="{FF2B5EF4-FFF2-40B4-BE49-F238E27FC236}">
                <a16:creationId xmlns:a16="http://schemas.microsoft.com/office/drawing/2014/main" id="{A7D6441E-6F11-4A20-A3E4-E8E7619CD194}"/>
              </a:ext>
            </a:extLst>
          </p:cNvPr>
          <p:cNvSpPr>
            <a:spLocks xmlns:a="http://schemas.openxmlformats.org/drawingml/2006/main" noGrp="1"/>
          </p:cNvSpPr>
          <p:nvPr/>
        </p:nvSpPr>
        <p:spPr>
          <a:xfrm xmlns:a="http://schemas.openxmlformats.org/drawingml/2006/main">
            <a:off x="4168888" y="2927033"/>
            <a:ext cx="1051152" cy="2943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00" b="1">
                <a:solidFill>
                  <a:srgbClr val="1F2937"/>
                </a:solidFill>
                <a:latin typeface="Nimbus Sans"/>
                <a:ea typeface="Nimbus Sans"/>
                <a:cs typeface="Nimbus Sans"/>
              </a:defRPr>
            </a:pPr>
            <a:r>
              <a:rPr sz="1600" b="1">
                <a:solidFill>
                  <a:srgbClr val="1F2937"/>
                </a:solidFill>
                <a:latin typeface="Nimbus Sans"/>
                <a:ea typeface="Nimbus Sans"/>
                <a:cs typeface="Nimbus Sans"/>
              </a:rPr>
              <a:t>120</a:t>
            </a:r>
          </a:p>
        </p:txBody>
      </p:sp>
      <p:sp>
        <p:nvSpPr>
          <p:cNvPr id="23" name="Diagram label: A">
            <a:extLst xmlns:a="http://schemas.openxmlformats.org/drawingml/2006/main">
              <a:ext uri="{FF2B5EF4-FFF2-40B4-BE49-F238E27FC236}">
                <a16:creationId xmlns:a16="http://schemas.microsoft.com/office/drawing/2014/main" id="{5CCFB6DF-62EB-4321-8F41-2473FA46E9EA}"/>
              </a:ext>
            </a:extLst>
          </p:cNvPr>
          <p:cNvSpPr>
            <a:spLocks xmlns:a="http://schemas.openxmlformats.org/drawingml/2006/main" noGrp="1"/>
          </p:cNvSpPr>
          <p:nvPr/>
        </p:nvSpPr>
        <p:spPr>
          <a:xfrm xmlns:a="http://schemas.openxmlformats.org/drawingml/2006/main">
            <a:off x="4274004" y="4861152"/>
            <a:ext cx="840921"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0">
                <a:solidFill>
                  <a:srgbClr val="1F2937"/>
                </a:solidFill>
                <a:latin typeface="Nimbus Sans"/>
                <a:ea typeface="Nimbus Sans"/>
                <a:cs typeface="Nimbus Sans"/>
              </a:defRPr>
            </a:pPr>
            <a:r>
              <a:rPr sz="1545" b="0">
                <a:solidFill>
                  <a:srgbClr val="1F2937"/>
                </a:solidFill>
                <a:latin typeface="Nimbus Sans"/>
                <a:ea typeface="Nimbus Sans"/>
                <a:cs typeface="Nimbus Sans"/>
              </a:rPr>
              <a:t>A</a:t>
            </a:r>
          </a:p>
        </p:txBody>
      </p:sp>
      <p:sp>
        <p:nvSpPr>
          <p:cNvPr id="24" name="Editable scientific diagram">
            <a:extLst xmlns:a="http://schemas.openxmlformats.org/drawingml/2006/main">
              <a:ext uri="{FF2B5EF4-FFF2-40B4-BE49-F238E27FC236}">
                <a16:creationId xmlns:a16="http://schemas.microsoft.com/office/drawing/2014/main" id="{5C62FDD2-2B56-4F2A-918E-1EFDB6492E89}"/>
              </a:ext>
            </a:extLst>
          </p:cNvPr>
          <p:cNvSpPr>
            <a:spLocks xmlns:a="http://schemas.openxmlformats.org/drawingml/2006/main" noGrp="1"/>
          </p:cNvSpPr>
          <p:nvPr/>
        </p:nvSpPr>
        <p:spPr>
          <a:xfrm xmlns:a="http://schemas.openxmlformats.org/drawingml/2006/main">
            <a:off x="5815693" y="2921426"/>
            <a:ext cx="840921" cy="1869649"/>
          </a:xfrm>
          <a:prstGeom xmlns:a="http://schemas.openxmlformats.org/drawingml/2006/main" prst="rect">
            <a:avLst/>
          </a:prstGeom>
          <a:solidFill xmlns:a="http://schemas.openxmlformats.org/drawingml/2006/main">
            <a:srgbClr val="CBE0D5"/>
          </a:solidFill>
          <a:ln xmlns:a="http://schemas.openxmlformats.org/drawingml/2006/main" w="21023">
            <a:solidFill>
              <a:srgbClr val="3F7D6E"/>
            </a:solidFill>
          </a:ln>
        </p:spPr>
      </p:sp>
      <p:sp>
        <p:nvSpPr>
          <p:cNvPr id="25" name="Diagram label: 116">
            <a:extLst xmlns:a="http://schemas.openxmlformats.org/drawingml/2006/main">
              <a:ext uri="{FF2B5EF4-FFF2-40B4-BE49-F238E27FC236}">
                <a16:creationId xmlns:a16="http://schemas.microsoft.com/office/drawing/2014/main" id="{35BF25D0-376C-4A1C-999D-3092254F41B4}"/>
              </a:ext>
            </a:extLst>
          </p:cNvPr>
          <p:cNvSpPr>
            <a:spLocks xmlns:a="http://schemas.openxmlformats.org/drawingml/2006/main" noGrp="1"/>
          </p:cNvSpPr>
          <p:nvPr/>
        </p:nvSpPr>
        <p:spPr>
          <a:xfrm xmlns:a="http://schemas.openxmlformats.org/drawingml/2006/main">
            <a:off x="5710578" y="2991503"/>
            <a:ext cx="1051152" cy="2943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00" b="1">
                <a:solidFill>
                  <a:srgbClr val="1F2937"/>
                </a:solidFill>
                <a:latin typeface="Nimbus Sans"/>
                <a:ea typeface="Nimbus Sans"/>
                <a:cs typeface="Nimbus Sans"/>
              </a:defRPr>
            </a:pPr>
            <a:r>
              <a:rPr sz="1600" b="1">
                <a:solidFill>
                  <a:srgbClr val="1F2937"/>
                </a:solidFill>
                <a:latin typeface="Nimbus Sans"/>
                <a:ea typeface="Nimbus Sans"/>
                <a:cs typeface="Nimbus Sans"/>
              </a:rPr>
              <a:t>116</a:t>
            </a:r>
          </a:p>
        </p:txBody>
      </p:sp>
      <p:sp>
        <p:nvSpPr>
          <p:cNvPr id="26" name="Diagram label: B">
            <a:extLst xmlns:a="http://schemas.openxmlformats.org/drawingml/2006/main">
              <a:ext uri="{FF2B5EF4-FFF2-40B4-BE49-F238E27FC236}">
                <a16:creationId xmlns:a16="http://schemas.microsoft.com/office/drawing/2014/main" id="{FCCA6971-63CC-4FC5-A786-7B8CDA3F6514}"/>
              </a:ext>
            </a:extLst>
          </p:cNvPr>
          <p:cNvSpPr>
            <a:spLocks xmlns:a="http://schemas.openxmlformats.org/drawingml/2006/main" noGrp="1"/>
          </p:cNvSpPr>
          <p:nvPr/>
        </p:nvSpPr>
        <p:spPr>
          <a:xfrm xmlns:a="http://schemas.openxmlformats.org/drawingml/2006/main">
            <a:off x="5815693" y="4861152"/>
            <a:ext cx="840921"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0">
                <a:solidFill>
                  <a:srgbClr val="1F2937"/>
                </a:solidFill>
                <a:latin typeface="Nimbus Sans"/>
                <a:ea typeface="Nimbus Sans"/>
                <a:cs typeface="Nimbus Sans"/>
              </a:defRPr>
            </a:pPr>
            <a:r>
              <a:rPr sz="1545" b="0">
                <a:solidFill>
                  <a:srgbClr val="1F2937"/>
                </a:solidFill>
                <a:latin typeface="Nimbus Sans"/>
                <a:ea typeface="Nimbus Sans"/>
                <a:cs typeface="Nimbus Sans"/>
              </a:rPr>
              <a:t>B</a:t>
            </a:r>
          </a:p>
        </p:txBody>
      </p:sp>
      <p:sp>
        <p:nvSpPr>
          <p:cNvPr id="27" name="Editable scientific diagram">
            <a:extLst xmlns:a="http://schemas.openxmlformats.org/drawingml/2006/main">
              <a:ext uri="{FF2B5EF4-FFF2-40B4-BE49-F238E27FC236}">
                <a16:creationId xmlns:a16="http://schemas.microsoft.com/office/drawing/2014/main" id="{8D0061E3-1CA3-47BE-8E2C-3BC4388D8E3D}"/>
              </a:ext>
            </a:extLst>
          </p:cNvPr>
          <p:cNvSpPr>
            <a:spLocks xmlns:a="http://schemas.openxmlformats.org/drawingml/2006/main" noGrp="1"/>
          </p:cNvSpPr>
          <p:nvPr/>
        </p:nvSpPr>
        <p:spPr>
          <a:xfrm xmlns:a="http://schemas.openxmlformats.org/drawingml/2006/main">
            <a:off x="7357382" y="2792485"/>
            <a:ext cx="840921" cy="1998590"/>
          </a:xfrm>
          <a:prstGeom xmlns:a="http://schemas.openxmlformats.org/drawingml/2006/main" prst="rect">
            <a:avLst/>
          </a:prstGeom>
          <a:solidFill xmlns:a="http://schemas.openxmlformats.org/drawingml/2006/main">
            <a:srgbClr val="CBE0D5"/>
          </a:solidFill>
          <a:ln xmlns:a="http://schemas.openxmlformats.org/drawingml/2006/main" w="21023">
            <a:solidFill>
              <a:srgbClr val="3F7D6E"/>
            </a:solidFill>
          </a:ln>
        </p:spPr>
      </p:sp>
      <p:sp>
        <p:nvSpPr>
          <p:cNvPr id="28" name="Diagram label: 124">
            <a:extLst xmlns:a="http://schemas.openxmlformats.org/drawingml/2006/main">
              <a:ext uri="{FF2B5EF4-FFF2-40B4-BE49-F238E27FC236}">
                <a16:creationId xmlns:a16="http://schemas.microsoft.com/office/drawing/2014/main" id="{A7C1F9B2-A70A-4C62-9E63-779F95283F25}"/>
              </a:ext>
            </a:extLst>
          </p:cNvPr>
          <p:cNvSpPr>
            <a:spLocks xmlns:a="http://schemas.openxmlformats.org/drawingml/2006/main" noGrp="1"/>
          </p:cNvSpPr>
          <p:nvPr/>
        </p:nvSpPr>
        <p:spPr>
          <a:xfrm xmlns:a="http://schemas.openxmlformats.org/drawingml/2006/main">
            <a:off x="7252267" y="2862562"/>
            <a:ext cx="1051152" cy="2943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600" b="1">
                <a:solidFill>
                  <a:srgbClr val="1F2937"/>
                </a:solidFill>
                <a:latin typeface="Nimbus Sans"/>
                <a:ea typeface="Nimbus Sans"/>
                <a:cs typeface="Nimbus Sans"/>
              </a:defRPr>
            </a:pPr>
            <a:r>
              <a:rPr sz="1600" b="1">
                <a:solidFill>
                  <a:srgbClr val="1F2937"/>
                </a:solidFill>
                <a:latin typeface="Nimbus Sans"/>
                <a:ea typeface="Nimbus Sans"/>
                <a:cs typeface="Nimbus Sans"/>
              </a:rPr>
              <a:t>124</a:t>
            </a:r>
          </a:p>
        </p:txBody>
      </p:sp>
      <p:sp>
        <p:nvSpPr>
          <p:cNvPr id="29" name="Diagram label: C">
            <a:extLst xmlns:a="http://schemas.openxmlformats.org/drawingml/2006/main">
              <a:ext uri="{FF2B5EF4-FFF2-40B4-BE49-F238E27FC236}">
                <a16:creationId xmlns:a16="http://schemas.microsoft.com/office/drawing/2014/main" id="{5607EAC8-DE9E-4F51-9A16-D2D7F0DC5185}"/>
              </a:ext>
            </a:extLst>
          </p:cNvPr>
          <p:cNvSpPr>
            <a:spLocks xmlns:a="http://schemas.openxmlformats.org/drawingml/2006/main" noGrp="1"/>
          </p:cNvSpPr>
          <p:nvPr/>
        </p:nvSpPr>
        <p:spPr>
          <a:xfrm xmlns:a="http://schemas.openxmlformats.org/drawingml/2006/main">
            <a:off x="7357382" y="4861152"/>
            <a:ext cx="840921" cy="2803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45" b="0">
                <a:solidFill>
                  <a:srgbClr val="1F2937"/>
                </a:solidFill>
                <a:latin typeface="Nimbus Sans"/>
                <a:ea typeface="Nimbus Sans"/>
                <a:cs typeface="Nimbus Sans"/>
              </a:defRPr>
            </a:pPr>
            <a:r>
              <a:rPr sz="1545" b="0">
                <a:solidFill>
                  <a:srgbClr val="1F2937"/>
                </a:solidFill>
                <a:latin typeface="Nimbus Sans"/>
                <a:ea typeface="Nimbus Sans"/>
                <a:cs typeface="Nimbus Sans"/>
              </a:rPr>
              <a:t>C</a:t>
            </a:r>
          </a:p>
        </p:txBody>
      </p:sp>
      <p:sp>
        <p:nvSpPr>
          <p:cNvPr id="30" name="Diagram label: Immediate heart rate / beats per minute">
            <a:extLst xmlns:a="http://schemas.openxmlformats.org/drawingml/2006/main">
              <a:ext uri="{FF2B5EF4-FFF2-40B4-BE49-F238E27FC236}">
                <a16:creationId xmlns:a16="http://schemas.microsoft.com/office/drawing/2014/main" id="{099E2EAA-0951-48E4-890F-D677FD73D55D}"/>
              </a:ext>
            </a:extLst>
          </p:cNvPr>
          <p:cNvSpPr>
            <a:spLocks xmlns:a="http://schemas.openxmlformats.org/drawingml/2006/main" noGrp="1"/>
          </p:cNvSpPr>
          <p:nvPr/>
        </p:nvSpPr>
        <p:spPr>
          <a:xfrm xmlns:a="http://schemas.openxmlformats.org/drawingml/2006/main">
            <a:off x="3608274" y="2373426"/>
            <a:ext cx="5255759"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Immediate heart rate / beats per minute</a:t>
            </a:r>
          </a:p>
        </p:txBody>
      </p:sp>
      <p:sp>
        <p:nvSpPr>
          <p:cNvPr id="31" name="Diagram label: Constructed sample repeats. Same planned method.&#10;Mean = (120 + 116 + 124) ÷ 3 = 120.">
            <a:extLst xmlns:a="http://schemas.openxmlformats.org/drawingml/2006/main">
              <a:ext uri="{FF2B5EF4-FFF2-40B4-BE49-F238E27FC236}">
                <a16:creationId xmlns:a16="http://schemas.microsoft.com/office/drawing/2014/main" id="{06007559-D1D3-41A4-AA4A-D2DB14EB7BC5}"/>
              </a:ext>
            </a:extLst>
          </p:cNvPr>
          <p:cNvSpPr>
            <a:spLocks xmlns:a="http://schemas.openxmlformats.org/drawingml/2006/main" noGrp="1"/>
          </p:cNvSpPr>
          <p:nvPr/>
        </p:nvSpPr>
        <p:spPr>
          <a:xfrm xmlns:a="http://schemas.openxmlformats.org/drawingml/2006/main">
            <a:off x="3012621" y="5211536"/>
            <a:ext cx="6166757" cy="4554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Constructed sample repeats. Same planned method.</a:t>
            </a:r>
          </a:p>
          <a:p xmlns:a="http://schemas.openxmlformats.org/drawingml/2006/main">
            <a:pPr algn="ctr">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Mean = (120 + 116 + 124) ÷ 3 = 120.</a:t>
            </a:r>
          </a:p>
        </p:txBody>
      </p:sp>
      <p:sp>
        <p:nvSpPr>
          <p:cNvPr id="32" name="Immediate values vary: 120, 116, 124.  Similar repeats strengthe">
            <a:extLst xmlns:a="http://schemas.openxmlformats.org/drawingml/2006/main">
              <a:ext uri="{FF2B5EF4-FFF2-40B4-BE49-F238E27FC236}">
                <a16:creationId xmlns:a16="http://schemas.microsoft.com/office/drawing/2014/main" id="{2F83E695-6E5B-4E9C-A1DB-E118B84D3457}"/>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Immediate values vary: 120, 116, 124. Similar repeats strengthen a pattern description. A mean summarises;</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it does not diagnose health.</a:t>
            </a:r>
          </a:p>
        </p:txBody>
      </p:sp>
    </p:spTree>
    <p:extLst>
      <p:ext uri="{BB962C8B-B14F-4D97-AF65-F5344CB8AC3E}">
        <p14:creationId xmlns:p14="http://schemas.microsoft.com/office/powerpoint/2010/main" val="16190041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62D03E38-74B8-4F41-9CB5-6951C6AAB754}"/>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36B5F651-C346-486F-910B-63FD09C8C0C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7A5176D-6AA9-4F36-B5B9-7E0430BB23F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D5506D72-3510-4CC5-9C66-A5D564653C4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833DDB68-0CF2-4C90-8421-5C7B7753EDB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8 min">
            <a:extLst xmlns:a="http://schemas.openxmlformats.org/drawingml/2006/main">
              <a:ext uri="{FF2B5EF4-FFF2-40B4-BE49-F238E27FC236}">
                <a16:creationId xmlns:a16="http://schemas.microsoft.com/office/drawing/2014/main" id="{B7375C77-995C-4290-9C6A-92C91C47EA4D}"/>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8 min</a:t>
            </a:r>
          </a:p>
        </p:txBody>
      </p:sp>
      <p:sp>
        <p:nvSpPr>
          <p:cNvPr id="7" name="Evidence desk: find the pattern">
            <a:extLst xmlns:a="http://schemas.openxmlformats.org/drawingml/2006/main">
              <a:ext uri="{FF2B5EF4-FFF2-40B4-BE49-F238E27FC236}">
                <a16:creationId xmlns:a16="http://schemas.microsoft.com/office/drawing/2014/main" id="{521294A9-940D-4D6A-9440-83C14E128C9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Evidence desk: find the pattern</a:t>
            </a:r>
          </a:p>
        </p:txBody>
      </p:sp>
      <p:sp>
        <p:nvSpPr>
          <p:cNvPr id="8" name="surface">
            <a:extLst xmlns:a="http://schemas.openxmlformats.org/drawingml/2006/main">
              <a:ext uri="{FF2B5EF4-FFF2-40B4-BE49-F238E27FC236}">
                <a16:creationId xmlns:a16="http://schemas.microsoft.com/office/drawing/2014/main" id="{2D5E5066-C7F7-4AE5-B2B2-189B8BD2392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research room">
            <a:extLst xmlns:a="http://schemas.openxmlformats.org/drawingml/2006/main">
              <a:ext uri="{FF2B5EF4-FFF2-40B4-BE49-F238E27FC236}">
                <a16:creationId xmlns:a16="http://schemas.microsoft.com/office/drawing/2014/main" id="{3B01AE49-3B47-4DAC-8986-5DD544B9D3E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10" name="6 / 15">
            <a:extLst xmlns:a="http://schemas.openxmlformats.org/drawingml/2006/main">
              <a:ext uri="{FF2B5EF4-FFF2-40B4-BE49-F238E27FC236}">
                <a16:creationId xmlns:a16="http://schemas.microsoft.com/office/drawing/2014/main" id="{633A1342-7617-459D-A19F-1CBEEA3C635C}"/>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15</a:t>
            </a:r>
          </a:p>
        </p:txBody>
      </p:sp>
      <p:sp>
        <p:nvSpPr>
          <p:cNvPr id="11" name="Use the table and source cards on page 1. W1. Describe the patte">
            <a:extLst xmlns:a="http://schemas.openxmlformats.org/drawingml/2006/main">
              <a:ext uri="{FF2B5EF4-FFF2-40B4-BE49-F238E27FC236}">
                <a16:creationId xmlns:a16="http://schemas.microsoft.com/office/drawing/2014/main" id="{43DBDD93-AA8E-44A1-8465-65AA754F2709}"/>
              </a:ext>
            </a:extLst>
          </p:cNvPr>
          <p:cNvSpPr>
            <a:spLocks xmlns:a="http://schemas.openxmlformats.org/drawingml/2006/main" noGrp="1"/>
          </p:cNvSpPr>
          <p:nvPr/>
        </p:nvSpPr>
        <p:spPr>
          <a:xfrm xmlns:a="http://schemas.openxmlformats.org/drawingml/2006/main">
            <a:off x="533400" y="189547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Use the table and source cards on page 1. W1. Describe the pattern in all three trials. Use two</a:t>
            </a:r>
          </a:p>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values and name the units.</a:t>
            </a:r>
          </a:p>
        </p:txBody>
      </p:sp>
      <p:graphicFrame>
        <p:nvGraphicFramePr>
          <p:cNvPr id="25" name=""/>
          <p:cNvGraphicFramePr/>
          <p:nvPr/>
        </p:nvGraphicFramePr>
        <p:xfrm>
          <a:off xmlns:a="http://schemas.openxmlformats.org/drawingml/2006/main" x="533400" y="2581275"/>
          <a:ext xmlns:a="http://schemas.openxmlformats.org/drawingml/2006/main" cx="11125200" cy="2526506"/>
        </p:xfrm>
        <a:graphic xmlns:a="http://schemas.openxmlformats.org/drawingml/2006/main">
          <a:graphicData uri="http://schemas.openxmlformats.org/drawingml/2006/table">
            <a:tbl>
              <a:tblPr firstRow="1" bandRow="0"/>
              <a:tblGrid>
                <a:gridCol w="3973286"/>
                <a:gridCol w="2383971"/>
                <a:gridCol w="2383971"/>
                <a:gridCol w="2383971"/>
              </a:tblGrid>
              <a:tr h="505301">
                <a:tc>
                  <a:txBody>
                    <a:bodyPr lIns="95250" tIns="95250" rIns="95250" bIns="95250"/>
                    <a:lstStyle/>
                    <a:p>
                      <a:pPr algn="l"/>
                      <a:r>
                        <a:rPr sz="2025" b="1">
                          <a:solidFill>
                            <a:srgbClr val="FFFFFF"/>
                          </a:solidFill>
                          <a:latin typeface="Nimbus Sans"/>
                          <a:ea typeface="Nimbus Sans"/>
                          <a:cs typeface="Nimbus Sans"/>
                        </a:rPr>
                        <a:t>Measurement</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A</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B</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C</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Before activity</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72</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72</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72</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Immediately after (0 min)</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120</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116</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124</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After 1 min recovery</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96</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92</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100</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After 2 min recovery</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80</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76</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84</a:t>
                      </a:r>
                    </a:p>
                  </a:txBody>
                  <a:tcPr marL="95250" marR="95250" marT="95250" marB="95250" anchor="ctr">
                    <a:solidFill>
                      <a:srgbClr val="FFFFFF"/>
                    </a:solidFill>
                  </a:tcPr>
                </a:tc>
              </a:tr>
            </a:tbl>
          </a:graphicData>
        </a:graphic>
      </p:graphicFrame>
      <p:sp>
        <p:nvSpPr>
          <p:cNvPr id="13" name="Constructed sample data only. All rates are beats per minute.">
            <a:extLst xmlns:a="http://schemas.openxmlformats.org/drawingml/2006/main">
              <a:ext uri="{FF2B5EF4-FFF2-40B4-BE49-F238E27FC236}">
                <a16:creationId xmlns:a16="http://schemas.microsoft.com/office/drawing/2014/main" id="{64F8EB48-21F1-4C3A-8192-744EA4CC8F56}"/>
              </a:ext>
            </a:extLst>
          </p:cNvPr>
          <p:cNvSpPr>
            <a:spLocks xmlns:a="http://schemas.openxmlformats.org/drawingml/2006/main" noGrp="1"/>
          </p:cNvSpPr>
          <p:nvPr/>
        </p:nvSpPr>
        <p:spPr>
          <a:xfrm xmlns:a="http://schemas.openxmlformats.org/drawingml/2006/main">
            <a:off x="533400" y="5222081"/>
            <a:ext cx="1112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sample data only. All rates are beats per minute.</a:t>
            </a:r>
          </a:p>
        </p:txBody>
      </p:sp>
    </p:spTree>
    <p:extLst>
      <p:ext uri="{BB962C8B-B14F-4D97-AF65-F5344CB8AC3E}">
        <p14:creationId xmlns:p14="http://schemas.microsoft.com/office/powerpoint/2010/main" val="19551507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DF653A13-5C71-483E-A462-F29AD831091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51BD56BE-786A-499E-A28F-FE5F2047BE63}"/>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0C0D688-CCE9-4979-9551-E04CD807A03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A6DD4124-5864-4224-A0D6-E4F68CA30402}"/>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92989D1B-C1B3-4F97-B520-36A76410E559}"/>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Which source helps explain it?">
            <a:extLst xmlns:a="http://schemas.openxmlformats.org/drawingml/2006/main">
              <a:ext uri="{FF2B5EF4-FFF2-40B4-BE49-F238E27FC236}">
                <a16:creationId xmlns:a16="http://schemas.microsoft.com/office/drawing/2014/main" id="{B9488AA9-4DB0-465E-B9FD-207C02E5FCA8}"/>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Which source helps explain it?</a:t>
            </a:r>
          </a:p>
        </p:txBody>
      </p:sp>
      <p:sp>
        <p:nvSpPr>
          <p:cNvPr id="7" name="surface">
            <a:extLst xmlns:a="http://schemas.openxmlformats.org/drawingml/2006/main">
              <a:ext uri="{FF2B5EF4-FFF2-40B4-BE49-F238E27FC236}">
                <a16:creationId xmlns:a16="http://schemas.microsoft.com/office/drawing/2014/main" id="{5691F2F6-F2AD-4AB3-8A12-EC6C7416830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recovery research room">
            <a:extLst xmlns:a="http://schemas.openxmlformats.org/drawingml/2006/main">
              <a:ext uri="{FF2B5EF4-FFF2-40B4-BE49-F238E27FC236}">
                <a16:creationId xmlns:a16="http://schemas.microsoft.com/office/drawing/2014/main" id="{CE2F834E-E52F-4CEC-8844-DB770DCE6C85}"/>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9" name="7 / 15">
            <a:extLst xmlns:a="http://schemas.openxmlformats.org/drawingml/2006/main">
              <a:ext uri="{FF2B5EF4-FFF2-40B4-BE49-F238E27FC236}">
                <a16:creationId xmlns:a16="http://schemas.microsoft.com/office/drawing/2014/main" id="{4BA67255-0C37-49F1-A84B-E948B928652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15</a:t>
            </a:r>
          </a:p>
        </p:txBody>
      </p:sp>
      <p:sp>
        <p:nvSpPr>
          <p:cNvPr id="10" name="W2. Compare source A, B and C.">
            <a:extLst xmlns:a="http://schemas.openxmlformats.org/drawingml/2006/main">
              <a:ext uri="{FF2B5EF4-FFF2-40B4-BE49-F238E27FC236}">
                <a16:creationId xmlns:a16="http://schemas.microsoft.com/office/drawing/2014/main" id="{EEC881C6-CA73-4F6A-83EE-CCDDE68C077A}"/>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W2. Compare source A, B and C.</a:t>
            </a:r>
          </a:p>
        </p:txBody>
      </p:sp>
      <p:sp>
        <p:nvSpPr>
          <p:cNvPr id="11" name="Choose one most directly relevant to heart-rate change.">
            <a:extLst xmlns:a="http://schemas.openxmlformats.org/drawingml/2006/main">
              <a:ext uri="{FF2B5EF4-FFF2-40B4-BE49-F238E27FC236}">
                <a16:creationId xmlns:a16="http://schemas.microsoft.com/office/drawing/2014/main" id="{A1DE62A4-A04D-4243-B9F8-4C4A7F63F592}"/>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one most directly relevant to heart-rate change.</a:t>
            </a:r>
          </a:p>
        </p:txBody>
      </p:sp>
      <p:sp>
        <p:nvSpPr>
          <p:cNvPr id="12" name="Explain what the source cannot establish.">
            <a:extLst xmlns:a="http://schemas.openxmlformats.org/drawingml/2006/main">
              <a:ext uri="{FF2B5EF4-FFF2-40B4-BE49-F238E27FC236}">
                <a16:creationId xmlns:a16="http://schemas.microsoft.com/office/drawing/2014/main" id="{F2F17AD4-0E91-45FB-B6CB-484806A84B83}"/>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Explain what the source cannot establish.</a:t>
            </a:r>
          </a:p>
        </p:txBody>
      </p:sp>
    </p:spTree>
    <p:extLst>
      <p:ext uri="{BB962C8B-B14F-4D97-AF65-F5344CB8AC3E}">
        <p14:creationId xmlns:p14="http://schemas.microsoft.com/office/powerpoint/2010/main" val="7166787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urface">
            <a:extLst xmlns:a="http://schemas.openxmlformats.org/drawingml/2006/main">
              <a:ext uri="{FF2B5EF4-FFF2-40B4-BE49-F238E27FC236}">
                <a16:creationId xmlns:a16="http://schemas.microsoft.com/office/drawing/2014/main" id="{57FB606B-3D63-487B-ACE5-E42D82136EC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D2934C5-3F32-4589-9CDA-8143272D0792}"/>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7B8BFAA-50CC-4A08-8F87-5B693E94935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9333AFEA-89F3-401B-93B6-F27F9D914A0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We do">
            <a:extLst xmlns:a="http://schemas.openxmlformats.org/drawingml/2006/main">
              <a:ext uri="{FF2B5EF4-FFF2-40B4-BE49-F238E27FC236}">
                <a16:creationId xmlns:a16="http://schemas.microsoft.com/office/drawing/2014/main" id="{9FEAA204-3557-4919-88B8-E20CD705F6C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Write a better research headline">
            <a:extLst xmlns:a="http://schemas.openxmlformats.org/drawingml/2006/main">
              <a:ext uri="{FF2B5EF4-FFF2-40B4-BE49-F238E27FC236}">
                <a16:creationId xmlns:a16="http://schemas.microsoft.com/office/drawing/2014/main" id="{06426017-759B-4331-890D-4BA03E4D56D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Write a better research headline</a:t>
            </a:r>
          </a:p>
        </p:txBody>
      </p:sp>
      <p:sp>
        <p:nvSpPr>
          <p:cNvPr id="7" name="surface">
            <a:extLst xmlns:a="http://schemas.openxmlformats.org/drawingml/2006/main">
              <a:ext uri="{FF2B5EF4-FFF2-40B4-BE49-F238E27FC236}">
                <a16:creationId xmlns:a16="http://schemas.microsoft.com/office/drawing/2014/main" id="{3D4C35D1-E53E-4793-826A-936A975370B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recovery research room">
            <a:extLst xmlns:a="http://schemas.openxmlformats.org/drawingml/2006/main">
              <a:ext uri="{FF2B5EF4-FFF2-40B4-BE49-F238E27FC236}">
                <a16:creationId xmlns:a16="http://schemas.microsoft.com/office/drawing/2014/main" id="{318A2164-C107-4254-9357-913CB199474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9" name="8 / 15">
            <a:extLst xmlns:a="http://schemas.openxmlformats.org/drawingml/2006/main">
              <a:ext uri="{FF2B5EF4-FFF2-40B4-BE49-F238E27FC236}">
                <a16:creationId xmlns:a16="http://schemas.microsoft.com/office/drawing/2014/main" id="{B3FA53B6-2AFE-495B-BC2A-EE8F1EBCEA49}"/>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15</a:t>
            </a:r>
          </a:p>
        </p:txBody>
      </p:sp>
      <p:sp>
        <p:nvSpPr>
          <p:cNvPr id="10" name="W3. Repair: “The fastest recovery proves the healthiest person.”">
            <a:extLst xmlns:a="http://schemas.openxmlformats.org/drawingml/2006/main">
              <a:ext uri="{FF2B5EF4-FFF2-40B4-BE49-F238E27FC236}">
                <a16:creationId xmlns:a16="http://schemas.microsoft.com/office/drawing/2014/main" id="{6C84248E-42E0-4344-B315-840866D654FE}"/>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W3. Repair: “The fastest recovery proves the healthiest person.”</a:t>
            </a:r>
          </a:p>
        </p:txBody>
      </p:sp>
      <p:sp>
        <p:nvSpPr>
          <p:cNvPr id="11" name="Use “in these sample trials” and a limitation.">
            <a:extLst xmlns:a="http://schemas.openxmlformats.org/drawingml/2006/main">
              <a:ext uri="{FF2B5EF4-FFF2-40B4-BE49-F238E27FC236}">
                <a16:creationId xmlns:a16="http://schemas.microsoft.com/office/drawing/2014/main" id="{3DCDA0E6-BA99-464C-B949-646111C43E6D}"/>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Use “in these sample trials” and a limitation.</a:t>
            </a:r>
          </a:p>
        </p:txBody>
      </p:sp>
    </p:spTree>
    <p:extLst>
      <p:ext uri="{BB962C8B-B14F-4D97-AF65-F5344CB8AC3E}">
        <p14:creationId xmlns:p14="http://schemas.microsoft.com/office/powerpoint/2010/main" val="16863243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DB3C0617-A6E6-43D1-9D60-C1C53A70736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5C844D1-7258-4DC1-A682-1A8D138FD67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16BB7A9-C4CF-454C-A95D-249528B99651}"/>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8AE15DEB-C336-471D-802D-D6C518C18FB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GROW SCIENCE</a:t>
            </a:r>
          </a:p>
        </p:txBody>
      </p:sp>
      <p:sp>
        <p:nvSpPr>
          <p:cNvPr id="5" name="Hinge">
            <a:extLst xmlns:a="http://schemas.openxmlformats.org/drawingml/2006/main">
              <a:ext uri="{FF2B5EF4-FFF2-40B4-BE49-F238E27FC236}">
                <a16:creationId xmlns:a16="http://schemas.microsoft.com/office/drawing/2014/main" id="{D3642B26-918C-44C0-87F2-47F25CDAA8E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0633B70E-75AB-42E2-B23E-AA3E20E7BE9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A, B and C are three trials">
            <a:extLst xmlns:a="http://schemas.openxmlformats.org/drawingml/2006/main">
              <a:ext uri="{FF2B5EF4-FFF2-40B4-BE49-F238E27FC236}">
                <a16:creationId xmlns:a16="http://schemas.microsoft.com/office/drawing/2014/main" id="{2DB95C4C-AC7D-4D89-98BD-3E293E75286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 B and C are three trials</a:t>
            </a:r>
          </a:p>
        </p:txBody>
      </p:sp>
      <p:sp>
        <p:nvSpPr>
          <p:cNvPr id="8" name="surface">
            <a:extLst xmlns:a="http://schemas.openxmlformats.org/drawingml/2006/main">
              <a:ext uri="{FF2B5EF4-FFF2-40B4-BE49-F238E27FC236}">
                <a16:creationId xmlns:a16="http://schemas.microsoft.com/office/drawing/2014/main" id="{343C5A48-0B55-471E-8602-EA877FB7C41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research room">
            <a:extLst xmlns:a="http://schemas.openxmlformats.org/drawingml/2006/main">
              <a:ext uri="{FF2B5EF4-FFF2-40B4-BE49-F238E27FC236}">
                <a16:creationId xmlns:a16="http://schemas.microsoft.com/office/drawing/2014/main" id="{EA2F450B-1661-4EF5-AA8F-6FE32CDAB24A}"/>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10" name="9 / 15">
            <a:extLst xmlns:a="http://schemas.openxmlformats.org/drawingml/2006/main">
              <a:ext uri="{FF2B5EF4-FFF2-40B4-BE49-F238E27FC236}">
                <a16:creationId xmlns:a16="http://schemas.microsoft.com/office/drawing/2014/main" id="{5001FFD4-3085-4510-941B-E534E7A51AF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15</a:t>
            </a:r>
          </a:p>
        </p:txBody>
      </p:sp>
      <p:sp>
        <p:nvSpPr>
          <p:cNvPr id="11" name="Which conclusion matches the dataset?">
            <a:extLst xmlns:a="http://schemas.openxmlformats.org/drawingml/2006/main">
              <a:ext uri="{FF2B5EF4-FFF2-40B4-BE49-F238E27FC236}">
                <a16:creationId xmlns:a16="http://schemas.microsoft.com/office/drawing/2014/main" id="{DF43C1B3-A995-416D-BF3E-1D5D5ABDCD11}"/>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Which conclusion matches the dataset?</a:t>
            </a:r>
          </a:p>
        </p:txBody>
      </p:sp>
      <p:sp>
        <p:nvSpPr>
          <p:cNvPr id="12" name="surface">
            <a:extLst xmlns:a="http://schemas.openxmlformats.org/drawingml/2006/main">
              <a:ext uri="{FF2B5EF4-FFF2-40B4-BE49-F238E27FC236}">
                <a16:creationId xmlns:a16="http://schemas.microsoft.com/office/drawing/2014/main" id="{4593D3D9-2C29-4466-A3F7-4DCE45911A0D}"/>
              </a:ext>
            </a:extLst>
          </p:cNvPr>
          <p:cNvSpPr>
            <a:spLocks xmlns:a="http://schemas.openxmlformats.org/drawingml/2006/main" noGrp="1"/>
          </p:cNvSpPr>
          <p:nvPr/>
        </p:nvSpPr>
        <p:spPr>
          <a:xfrm xmlns:a="http://schemas.openxmlformats.org/drawingml/2006/main">
            <a:off x="533400" y="23526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FA9D9A55-CE4C-4F88-89CD-BB4BD09E9E2E}"/>
              </a:ext>
            </a:extLst>
          </p:cNvPr>
          <p:cNvSpPr>
            <a:spLocks xmlns:a="http://schemas.openxmlformats.org/drawingml/2006/main" noGrp="1"/>
          </p:cNvSpPr>
          <p:nvPr/>
        </p:nvSpPr>
        <p:spPr>
          <a:xfrm xmlns:a="http://schemas.openxmlformats.org/drawingml/2006/main">
            <a:off x="533400" y="23526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0C142B4F-5957-4B42-9F5C-8987975DF773}"/>
              </a:ext>
            </a:extLst>
          </p:cNvPr>
          <p:cNvSpPr>
            <a:spLocks xmlns:a="http://schemas.openxmlformats.org/drawingml/2006/main" noGrp="1"/>
          </p:cNvSpPr>
          <p:nvPr/>
        </p:nvSpPr>
        <p:spPr>
          <a:xfrm xmlns:a="http://schemas.openxmlformats.org/drawingml/2006/main">
            <a:off x="733425" y="24955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Person B must be healthier than person A.">
            <a:extLst xmlns:a="http://schemas.openxmlformats.org/drawingml/2006/main">
              <a:ext uri="{FF2B5EF4-FFF2-40B4-BE49-F238E27FC236}">
                <a16:creationId xmlns:a16="http://schemas.microsoft.com/office/drawing/2014/main" id="{A725E16C-34B8-43F4-99FD-79DDCC507CEF}"/>
              </a:ext>
            </a:extLst>
          </p:cNvPr>
          <p:cNvSpPr>
            <a:spLocks xmlns:a="http://schemas.openxmlformats.org/drawingml/2006/main" noGrp="1"/>
          </p:cNvSpPr>
          <p:nvPr/>
        </p:nvSpPr>
        <p:spPr>
          <a:xfrm xmlns:a="http://schemas.openxmlformats.org/drawingml/2006/main">
            <a:off x="1266825" y="24955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Person B must be healthier than person A.</a:t>
            </a:r>
          </a:p>
        </p:txBody>
      </p:sp>
      <p:sp>
        <p:nvSpPr>
          <p:cNvPr id="16" name="surface">
            <a:extLst xmlns:a="http://schemas.openxmlformats.org/drawingml/2006/main">
              <a:ext uri="{FF2B5EF4-FFF2-40B4-BE49-F238E27FC236}">
                <a16:creationId xmlns:a16="http://schemas.microsoft.com/office/drawing/2014/main" id="{AF6C5036-822F-4DAD-8372-45E43FA1647C}"/>
              </a:ext>
            </a:extLst>
          </p:cNvPr>
          <p:cNvSpPr>
            <a:spLocks xmlns:a="http://schemas.openxmlformats.org/drawingml/2006/main" noGrp="1"/>
          </p:cNvSpPr>
          <p:nvPr/>
        </p:nvSpPr>
        <p:spPr>
          <a:xfrm xmlns:a="http://schemas.openxmlformats.org/drawingml/2006/main">
            <a:off x="533400" y="35337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ACAC135C-6D4D-4F9D-9C9A-DB118D9DE3B5}"/>
              </a:ext>
            </a:extLst>
          </p:cNvPr>
          <p:cNvSpPr>
            <a:spLocks xmlns:a="http://schemas.openxmlformats.org/drawingml/2006/main" noGrp="1"/>
          </p:cNvSpPr>
          <p:nvPr/>
        </p:nvSpPr>
        <p:spPr>
          <a:xfrm xmlns:a="http://schemas.openxmlformats.org/drawingml/2006/main">
            <a:off x="533400" y="35337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FABAC5EF-73AB-47F1-9D91-6E19A894CB2D}"/>
              </a:ext>
            </a:extLst>
          </p:cNvPr>
          <p:cNvSpPr>
            <a:spLocks xmlns:a="http://schemas.openxmlformats.org/drawingml/2006/main" noGrp="1"/>
          </p:cNvSpPr>
          <p:nvPr/>
        </p:nvSpPr>
        <p:spPr>
          <a:xfrm xmlns:a="http://schemas.openxmlformats.org/drawingml/2006/main">
            <a:off x="733425" y="36766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All three sample trials show heart rate falling during recovery.">
            <a:extLst xmlns:a="http://schemas.openxmlformats.org/drawingml/2006/main">
              <a:ext uri="{FF2B5EF4-FFF2-40B4-BE49-F238E27FC236}">
                <a16:creationId xmlns:a16="http://schemas.microsoft.com/office/drawing/2014/main" id="{13D5DC67-4747-4B65-B431-CBC270D1E07C}"/>
              </a:ext>
            </a:extLst>
          </p:cNvPr>
          <p:cNvSpPr>
            <a:spLocks xmlns:a="http://schemas.openxmlformats.org/drawingml/2006/main" noGrp="1"/>
          </p:cNvSpPr>
          <p:nvPr/>
        </p:nvSpPr>
        <p:spPr>
          <a:xfrm xmlns:a="http://schemas.openxmlformats.org/drawingml/2006/main">
            <a:off x="1266825" y="36766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All three sample trials show heart rate falling during recovery.</a:t>
            </a:r>
          </a:p>
        </p:txBody>
      </p:sp>
      <p:sp>
        <p:nvSpPr>
          <p:cNvPr id="20" name="surface">
            <a:extLst xmlns:a="http://schemas.openxmlformats.org/drawingml/2006/main">
              <a:ext uri="{FF2B5EF4-FFF2-40B4-BE49-F238E27FC236}">
                <a16:creationId xmlns:a16="http://schemas.microsoft.com/office/drawing/2014/main" id="{CE0E7EAA-166A-460A-8521-AD50BCBC0E67}"/>
              </a:ext>
            </a:extLst>
          </p:cNvPr>
          <p:cNvSpPr>
            <a:spLocks xmlns:a="http://schemas.openxmlformats.org/drawingml/2006/main" noGrp="1"/>
          </p:cNvSpPr>
          <p:nvPr/>
        </p:nvSpPr>
        <p:spPr>
          <a:xfrm xmlns:a="http://schemas.openxmlformats.org/drawingml/2006/main">
            <a:off x="533400" y="47148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0C00F89B-8723-4D9B-B2E3-8D8BE515C6E8}"/>
              </a:ext>
            </a:extLst>
          </p:cNvPr>
          <p:cNvSpPr>
            <a:spLocks xmlns:a="http://schemas.openxmlformats.org/drawingml/2006/main" noGrp="1"/>
          </p:cNvSpPr>
          <p:nvPr/>
        </p:nvSpPr>
        <p:spPr>
          <a:xfrm xmlns:a="http://schemas.openxmlformats.org/drawingml/2006/main">
            <a:off x="533400" y="47148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7EA47D21-3415-43A6-BB2A-9E4C93590E1A}"/>
              </a:ext>
            </a:extLst>
          </p:cNvPr>
          <p:cNvSpPr>
            <a:spLocks xmlns:a="http://schemas.openxmlformats.org/drawingml/2006/main" noGrp="1"/>
          </p:cNvSpPr>
          <p:nvPr/>
        </p:nvSpPr>
        <p:spPr>
          <a:xfrm xmlns:a="http://schemas.openxmlformats.org/drawingml/2006/main">
            <a:off x="733425" y="48577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Every trial is back to 72 after two minutes.">
            <a:extLst xmlns:a="http://schemas.openxmlformats.org/drawingml/2006/main">
              <a:ext uri="{FF2B5EF4-FFF2-40B4-BE49-F238E27FC236}">
                <a16:creationId xmlns:a16="http://schemas.microsoft.com/office/drawing/2014/main" id="{B73E23FC-F5E9-46C6-8B16-5D53006CCB5A}"/>
              </a:ext>
            </a:extLst>
          </p:cNvPr>
          <p:cNvSpPr>
            <a:spLocks xmlns:a="http://schemas.openxmlformats.org/drawingml/2006/main" noGrp="1"/>
          </p:cNvSpPr>
          <p:nvPr/>
        </p:nvSpPr>
        <p:spPr>
          <a:xfrm xmlns:a="http://schemas.openxmlformats.org/drawingml/2006/main">
            <a:off x="1266825" y="48577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Every trial is back to 72 after two minutes.</a:t>
            </a:r>
          </a:p>
        </p:txBody>
      </p:sp>
    </p:spTree>
    <p:extLst>
      <p:ext uri="{BB962C8B-B14F-4D97-AF65-F5344CB8AC3E}">
        <p14:creationId xmlns:p14="http://schemas.microsoft.com/office/powerpoint/2010/main" val="6753251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03AC8B55-0DF8-4340-BC3E-8C3C81C5B80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C7896229-754F-4EC1-BA39-418ADD1FE0F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93B3267-2D80-478E-805D-06BE58FF037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AE64635F-5D30-4BF1-A193-E729A94CAC8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E3F577F1-A331-4DC3-A0B4-4D8CFEB42619}"/>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0 min">
            <a:extLst xmlns:a="http://schemas.openxmlformats.org/drawingml/2006/main">
              <a:ext uri="{FF2B5EF4-FFF2-40B4-BE49-F238E27FC236}">
                <a16:creationId xmlns:a16="http://schemas.microsoft.com/office/drawing/2014/main" id="{B0BB111E-984A-47FF-ABD9-096DD46017B5}"/>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10 min</a:t>
            </a:r>
          </a:p>
        </p:txBody>
      </p:sp>
      <p:sp>
        <p:nvSpPr>
          <p:cNvPr id="7" name="Prepare the research briefing">
            <a:extLst xmlns:a="http://schemas.openxmlformats.org/drawingml/2006/main">
              <a:ext uri="{FF2B5EF4-FFF2-40B4-BE49-F238E27FC236}">
                <a16:creationId xmlns:a16="http://schemas.microsoft.com/office/drawing/2014/main" id="{717B5097-EE48-4AB3-A51F-B626FB28E1B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Prepare the research briefing</a:t>
            </a:r>
          </a:p>
        </p:txBody>
      </p:sp>
      <p:sp>
        <p:nvSpPr>
          <p:cNvPr id="8" name="surface">
            <a:extLst xmlns:a="http://schemas.openxmlformats.org/drawingml/2006/main">
              <a:ext uri="{FF2B5EF4-FFF2-40B4-BE49-F238E27FC236}">
                <a16:creationId xmlns:a16="http://schemas.microsoft.com/office/drawing/2014/main" id="{3AD2D78E-2FDB-4593-B9BB-B1A029A89E7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research room">
            <a:extLst xmlns:a="http://schemas.openxmlformats.org/drawingml/2006/main">
              <a:ext uri="{FF2B5EF4-FFF2-40B4-BE49-F238E27FC236}">
                <a16:creationId xmlns:a16="http://schemas.microsoft.com/office/drawing/2014/main" id="{02506854-E11A-4E8B-BFEB-0B8425441A1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10" name="10 / 15">
            <a:extLst xmlns:a="http://schemas.openxmlformats.org/drawingml/2006/main">
              <a:ext uri="{FF2B5EF4-FFF2-40B4-BE49-F238E27FC236}">
                <a16:creationId xmlns:a16="http://schemas.microsoft.com/office/drawing/2014/main" id="{075DD901-65F0-4682-8BFC-27F46F838399}"/>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15</a:t>
            </a:r>
          </a:p>
        </p:txBody>
      </p:sp>
      <p:sp>
        <p:nvSpPr>
          <p:cNvPr id="11" name="Choose one response route.">
            <a:extLst xmlns:a="http://schemas.openxmlformats.org/drawingml/2006/main">
              <a:ext uri="{FF2B5EF4-FFF2-40B4-BE49-F238E27FC236}">
                <a16:creationId xmlns:a16="http://schemas.microsoft.com/office/drawing/2014/main" id="{CC903A92-8821-4837-943E-5C4C181EB043}"/>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one response route.</a:t>
            </a:r>
          </a:p>
        </p:txBody>
      </p:sp>
      <p:sp>
        <p:nvSpPr>
          <p:cNvPr id="12" name="Include claim, evidence, explanation and limit.">
            <a:extLst xmlns:a="http://schemas.openxmlformats.org/drawingml/2006/main">
              <a:ext uri="{FF2B5EF4-FFF2-40B4-BE49-F238E27FC236}">
                <a16:creationId xmlns:a16="http://schemas.microsoft.com/office/drawing/2014/main" id="{C02E76EE-E9B2-4B21-A325-6FE33B131547}"/>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Include claim, evidence, explanation and limit.</a:t>
            </a:r>
          </a:p>
        </p:txBody>
      </p:sp>
      <p:sp>
        <p:nvSpPr>
          <p:cNvPr id="13" name="Credit source A or B by organisation.">
            <a:extLst xmlns:a="http://schemas.openxmlformats.org/drawingml/2006/main">
              <a:ext uri="{FF2B5EF4-FFF2-40B4-BE49-F238E27FC236}">
                <a16:creationId xmlns:a16="http://schemas.microsoft.com/office/drawing/2014/main" id="{F17617FE-9C8D-49E3-B7E9-6A6DB3AED09B}"/>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Credit source A or B by organisation.</a:t>
            </a:r>
          </a:p>
        </p:txBody>
      </p:sp>
    </p:spTree>
    <p:extLst>
      <p:ext uri="{BB962C8B-B14F-4D97-AF65-F5344CB8AC3E}">
        <p14:creationId xmlns:p14="http://schemas.microsoft.com/office/powerpoint/2010/main" val="18976403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B57F22AF-D7C5-4A98-B6CD-209C5687E4E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267EEFD9-59B9-46F7-97ED-B05F829CA2A6}"/>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15F506D-C29C-4326-90B4-BB9637D181B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F62D195C-564F-4C48-BC2F-B78D768E0978}"/>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95F3BA8B-5DCA-468D-9FD6-A5A864A2D548}"/>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Use the reporting frame">
            <a:extLst xmlns:a="http://schemas.openxmlformats.org/drawingml/2006/main">
              <a:ext uri="{FF2B5EF4-FFF2-40B4-BE49-F238E27FC236}">
                <a16:creationId xmlns:a16="http://schemas.microsoft.com/office/drawing/2014/main" id="{84FCD3B7-805C-4ED5-A590-4C50CE59E675}"/>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Use the reporting frame</a:t>
            </a:r>
          </a:p>
        </p:txBody>
      </p:sp>
      <p:sp>
        <p:nvSpPr>
          <p:cNvPr id="7" name="surface">
            <a:extLst xmlns:a="http://schemas.openxmlformats.org/drawingml/2006/main">
              <a:ext uri="{FF2B5EF4-FFF2-40B4-BE49-F238E27FC236}">
                <a16:creationId xmlns:a16="http://schemas.microsoft.com/office/drawing/2014/main" id="{49D76C4E-AAE9-41B5-B3ED-170DCFDC2D3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recovery research room">
            <a:extLst xmlns:a="http://schemas.openxmlformats.org/drawingml/2006/main">
              <a:ext uri="{FF2B5EF4-FFF2-40B4-BE49-F238E27FC236}">
                <a16:creationId xmlns:a16="http://schemas.microsoft.com/office/drawing/2014/main" id="{A6F38B42-4CDF-41CF-8AA0-F1E9865E1B7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9" name="11 / 15">
            <a:extLst xmlns:a="http://schemas.openxmlformats.org/drawingml/2006/main">
              <a:ext uri="{FF2B5EF4-FFF2-40B4-BE49-F238E27FC236}">
                <a16:creationId xmlns:a16="http://schemas.microsoft.com/office/drawing/2014/main" id="{3CA87F00-C8ED-4CC9-8993-95AEBF619EC6}"/>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15</a:t>
            </a:r>
          </a:p>
        </p:txBody>
      </p:sp>
      <p:sp>
        <p:nvSpPr>
          <p:cNvPr id="10" name="“The sample data show …”">
            <a:extLst xmlns:a="http://schemas.openxmlformats.org/drawingml/2006/main">
              <a:ext uri="{FF2B5EF4-FFF2-40B4-BE49-F238E27FC236}">
                <a16:creationId xmlns:a16="http://schemas.microsoft.com/office/drawing/2014/main" id="{4D544794-F693-48E3-8E36-B4CFBAD4C0AC}"/>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“The sample data show …”</a:t>
            </a:r>
          </a:p>
        </p:txBody>
      </p:sp>
      <p:sp>
        <p:nvSpPr>
          <p:cNvPr id="11" name="“For example … beats per minute.”">
            <a:extLst xmlns:a="http://schemas.openxmlformats.org/drawingml/2006/main">
              <a:ext uri="{FF2B5EF4-FFF2-40B4-BE49-F238E27FC236}">
                <a16:creationId xmlns:a16="http://schemas.microsoft.com/office/drawing/2014/main" id="{1CC16AEE-A977-483B-96E1-ECEB1CD63192}"/>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“For example … beats per minute.”</a:t>
            </a:r>
          </a:p>
        </p:txBody>
      </p:sp>
      <p:sp>
        <p:nvSpPr>
          <p:cNvPr id="12" name="“NHLBI explains … ; we cannot conclude …”">
            <a:extLst xmlns:a="http://schemas.openxmlformats.org/drawingml/2006/main">
              <a:ext uri="{FF2B5EF4-FFF2-40B4-BE49-F238E27FC236}">
                <a16:creationId xmlns:a16="http://schemas.microsoft.com/office/drawing/2014/main" id="{21860C0D-B6A6-4599-A682-A5CC8EFA7FD8}"/>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“NHLBI explains … ; we cannot conclude …”</a:t>
            </a:r>
          </a:p>
        </p:txBody>
      </p:sp>
    </p:spTree>
    <p:extLst>
      <p:ext uri="{BB962C8B-B14F-4D97-AF65-F5344CB8AC3E}">
        <p14:creationId xmlns:p14="http://schemas.microsoft.com/office/powerpoint/2010/main" val="7187396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C0A5CAFE-734F-4B98-9ACA-E6CCA28FDED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DF2A5623-BBE2-44BF-BCA7-F7325C10B5C6}"/>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E861536-B021-4994-AE0A-BF89976057B3}"/>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861AD8CB-0C19-42B3-944D-9366D09F3F6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GROW SCIENCE</a:t>
            </a:r>
          </a:p>
        </p:txBody>
      </p:sp>
      <p:sp>
        <p:nvSpPr>
          <p:cNvPr id="5" name="You do">
            <a:extLst xmlns:a="http://schemas.openxmlformats.org/drawingml/2006/main">
              <a:ext uri="{FF2B5EF4-FFF2-40B4-BE49-F238E27FC236}">
                <a16:creationId xmlns:a16="http://schemas.microsoft.com/office/drawing/2014/main" id="{EF8CA825-E02A-410B-904A-AB9C2737921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Check your headline">
            <a:extLst xmlns:a="http://schemas.openxmlformats.org/drawingml/2006/main">
              <a:ext uri="{FF2B5EF4-FFF2-40B4-BE49-F238E27FC236}">
                <a16:creationId xmlns:a16="http://schemas.microsoft.com/office/drawing/2014/main" id="{5D4BBFA7-6D36-4716-ADE8-38465E20F749}"/>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Check your headline</a:t>
            </a:r>
          </a:p>
        </p:txBody>
      </p:sp>
      <p:sp>
        <p:nvSpPr>
          <p:cNvPr id="7" name="surface">
            <a:extLst xmlns:a="http://schemas.openxmlformats.org/drawingml/2006/main">
              <a:ext uri="{FF2B5EF4-FFF2-40B4-BE49-F238E27FC236}">
                <a16:creationId xmlns:a16="http://schemas.microsoft.com/office/drawing/2014/main" id="{56A265E5-4C62-49BB-9DF7-D1783F96726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recovery research room">
            <a:extLst xmlns:a="http://schemas.openxmlformats.org/drawingml/2006/main">
              <a:ext uri="{FF2B5EF4-FFF2-40B4-BE49-F238E27FC236}">
                <a16:creationId xmlns:a16="http://schemas.microsoft.com/office/drawing/2014/main" id="{494159EA-BCF3-4ABF-A579-E89C98F5D4A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9" name="12 / 15">
            <a:extLst xmlns:a="http://schemas.openxmlformats.org/drawingml/2006/main">
              <a:ext uri="{FF2B5EF4-FFF2-40B4-BE49-F238E27FC236}">
                <a16:creationId xmlns:a16="http://schemas.microsoft.com/office/drawing/2014/main" id="{10200808-0A44-4704-9189-1AC1FD7EC03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15</a:t>
            </a:r>
          </a:p>
        </p:txBody>
      </p:sp>
      <p:sp>
        <p:nvSpPr>
          <p:cNvPr id="10" name="Are A, B and C labelled as trials?">
            <a:extLst xmlns:a="http://schemas.openxmlformats.org/drawingml/2006/main">
              <a:ext uri="{FF2B5EF4-FFF2-40B4-BE49-F238E27FC236}">
                <a16:creationId xmlns:a16="http://schemas.microsoft.com/office/drawing/2014/main" id="{E6F68868-96B5-4C4B-A2D7-1A829A081A5B}"/>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Are A, B and C labelled as trials?</a:t>
            </a:r>
          </a:p>
        </p:txBody>
      </p:sp>
      <p:sp>
        <p:nvSpPr>
          <p:cNvPr id="11" name="Have I kept units and sample-data label?">
            <a:extLst xmlns:a="http://schemas.openxmlformats.org/drawingml/2006/main">
              <a:ext uri="{FF2B5EF4-FFF2-40B4-BE49-F238E27FC236}">
                <a16:creationId xmlns:a16="http://schemas.microsoft.com/office/drawing/2014/main" id="{C87984AB-EC05-4504-800F-3DD762E4CB2A}"/>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Have I kept units and sample-data label?</a:t>
            </a:r>
          </a:p>
        </p:txBody>
      </p:sp>
      <p:sp>
        <p:nvSpPr>
          <p:cNvPr id="12" name="Have I avoided a diagnosis or fitness ranking?">
            <a:extLst xmlns:a="http://schemas.openxmlformats.org/drawingml/2006/main">
              <a:ext uri="{FF2B5EF4-FFF2-40B4-BE49-F238E27FC236}">
                <a16:creationId xmlns:a16="http://schemas.microsoft.com/office/drawing/2014/main" id="{7D21F76B-A50B-4BD7-8B42-00A21E8FB1B0}"/>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Have I avoided a diagnosis or fitness ranking?</a:t>
            </a:r>
          </a:p>
        </p:txBody>
      </p:sp>
    </p:spTree>
    <p:extLst>
      <p:ext uri="{BB962C8B-B14F-4D97-AF65-F5344CB8AC3E}">
        <p14:creationId xmlns:p14="http://schemas.microsoft.com/office/powerpoint/2010/main" val="111343544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BA13DEDF-5474-45A5-9CBE-92532D0DE29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016FC90A-D137-4288-8320-E5801077C1B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E8D74D6-3C85-4191-982C-0A0F2D9C304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3E502967-B5B2-448D-B9FF-8E0F211DA86F}"/>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view">
            <a:extLst xmlns:a="http://schemas.openxmlformats.org/drawingml/2006/main">
              <a:ext uri="{FF2B5EF4-FFF2-40B4-BE49-F238E27FC236}">
                <a16:creationId xmlns:a16="http://schemas.microsoft.com/office/drawing/2014/main" id="{24199D07-5B62-404F-BF6C-3C45F26BCB8C}"/>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Review</a:t>
            </a:r>
          </a:p>
        </p:txBody>
      </p:sp>
      <p:sp>
        <p:nvSpPr>
          <p:cNvPr id="6" name="4 min">
            <a:extLst xmlns:a="http://schemas.openxmlformats.org/drawingml/2006/main">
              <a:ext uri="{FF2B5EF4-FFF2-40B4-BE49-F238E27FC236}">
                <a16:creationId xmlns:a16="http://schemas.microsoft.com/office/drawing/2014/main" id="{B18ACF04-E4CE-48F2-BC3D-794C7DCFA603}"/>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Research editor check">
            <a:extLst xmlns:a="http://schemas.openxmlformats.org/drawingml/2006/main">
              <a:ext uri="{FF2B5EF4-FFF2-40B4-BE49-F238E27FC236}">
                <a16:creationId xmlns:a16="http://schemas.microsoft.com/office/drawing/2014/main" id="{9C13E598-EC56-4475-BC69-8C5C50738D71}"/>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Research editor check</a:t>
            </a:r>
          </a:p>
        </p:txBody>
      </p:sp>
      <p:sp>
        <p:nvSpPr>
          <p:cNvPr id="8" name="surface">
            <a:extLst xmlns:a="http://schemas.openxmlformats.org/drawingml/2006/main">
              <a:ext uri="{FF2B5EF4-FFF2-40B4-BE49-F238E27FC236}">
                <a16:creationId xmlns:a16="http://schemas.microsoft.com/office/drawing/2014/main" id="{358B7406-C8CB-422E-8378-5FF22B46A79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research room">
            <a:extLst xmlns:a="http://schemas.openxmlformats.org/drawingml/2006/main">
              <a:ext uri="{FF2B5EF4-FFF2-40B4-BE49-F238E27FC236}">
                <a16:creationId xmlns:a16="http://schemas.microsoft.com/office/drawing/2014/main" id="{30B1F228-AA9A-4438-80B9-9A13E188340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10" name="13 / 15">
            <a:extLst xmlns:a="http://schemas.openxmlformats.org/drawingml/2006/main">
              <a:ext uri="{FF2B5EF4-FFF2-40B4-BE49-F238E27FC236}">
                <a16:creationId xmlns:a16="http://schemas.microsoft.com/office/drawing/2014/main" id="{0891ED13-DEF3-41AA-825B-053BE3CF460B}"/>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15</a:t>
            </a:r>
          </a:p>
        </p:txBody>
      </p:sp>
      <p:sp>
        <p:nvSpPr>
          <p:cNvPr id="11" name="Show one claim and its numerical evidence.">
            <a:extLst xmlns:a="http://schemas.openxmlformats.org/drawingml/2006/main">
              <a:ext uri="{FF2B5EF4-FFF2-40B4-BE49-F238E27FC236}">
                <a16:creationId xmlns:a16="http://schemas.microsoft.com/office/drawing/2014/main" id="{A432BC9C-B910-462A-A6AF-C648CD2AA362}"/>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Show one claim and its numerical evidence.</a:t>
            </a:r>
          </a:p>
        </p:txBody>
      </p:sp>
      <p:sp>
        <p:nvSpPr>
          <p:cNvPr id="12" name="Ask whether the limit is clear.">
            <a:extLst xmlns:a="http://schemas.openxmlformats.org/drawingml/2006/main">
              <a:ext uri="{FF2B5EF4-FFF2-40B4-BE49-F238E27FC236}">
                <a16:creationId xmlns:a16="http://schemas.microsoft.com/office/drawing/2014/main" id="{9BB5C586-5F9E-44A1-A481-C4B9E4D078C0}"/>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Ask whether the limit is clear.</a:t>
            </a:r>
          </a:p>
        </p:txBody>
      </p:sp>
      <p:sp>
        <p:nvSpPr>
          <p:cNvPr id="13" name="Improve the headline before sharing.">
            <a:extLst xmlns:a="http://schemas.openxmlformats.org/drawingml/2006/main">
              <a:ext uri="{FF2B5EF4-FFF2-40B4-BE49-F238E27FC236}">
                <a16:creationId xmlns:a16="http://schemas.microsoft.com/office/drawing/2014/main" id="{881CF783-F7EC-46AC-A0EB-57ADAC5EE3CB}"/>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Improve the headline before sharing.</a:t>
            </a:r>
          </a:p>
        </p:txBody>
      </p:sp>
    </p:spTree>
    <p:extLst>
      <p:ext uri="{BB962C8B-B14F-4D97-AF65-F5344CB8AC3E}">
        <p14:creationId xmlns:p14="http://schemas.microsoft.com/office/powerpoint/2010/main" val="39496831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urface">
            <a:extLst xmlns:a="http://schemas.openxmlformats.org/drawingml/2006/main">
              <a:ext uri="{FF2B5EF4-FFF2-40B4-BE49-F238E27FC236}">
                <a16:creationId xmlns:a16="http://schemas.microsoft.com/office/drawing/2014/main" id="{2B92EF3E-3042-4E42-B385-9E119230B03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190B54C-0C5E-47D1-A44F-C3D8C5AC9AD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249F7C0-EB3B-494E-B52B-06160D3FCC0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82BE3684-40FA-4802-922A-44E57470C28A}"/>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Review">
            <a:extLst xmlns:a="http://schemas.openxmlformats.org/drawingml/2006/main">
              <a:ext uri="{FF2B5EF4-FFF2-40B4-BE49-F238E27FC236}">
                <a16:creationId xmlns:a16="http://schemas.microsoft.com/office/drawing/2014/main" id="{8B86E18C-94F0-4096-B5B1-4A8739C8819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Review</a:t>
            </a:r>
          </a:p>
        </p:txBody>
      </p:sp>
      <p:sp>
        <p:nvSpPr>
          <p:cNvPr id="6" name="Choose the next evidence question">
            <a:extLst xmlns:a="http://schemas.openxmlformats.org/drawingml/2006/main">
              <a:ext uri="{FF2B5EF4-FFF2-40B4-BE49-F238E27FC236}">
                <a16:creationId xmlns:a16="http://schemas.microsoft.com/office/drawing/2014/main" id="{F3BFF2DD-5A36-40AB-863F-8447ED1C729B}"/>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Choose the next evidence question</a:t>
            </a:r>
          </a:p>
        </p:txBody>
      </p:sp>
      <p:sp>
        <p:nvSpPr>
          <p:cNvPr id="7" name="surface">
            <a:extLst xmlns:a="http://schemas.openxmlformats.org/drawingml/2006/main">
              <a:ext uri="{FF2B5EF4-FFF2-40B4-BE49-F238E27FC236}">
                <a16:creationId xmlns:a16="http://schemas.microsoft.com/office/drawing/2014/main" id="{3551F0E3-8883-4A26-AF31-1D22527D1A7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The recovery research room">
            <a:extLst xmlns:a="http://schemas.openxmlformats.org/drawingml/2006/main">
              <a:ext uri="{FF2B5EF4-FFF2-40B4-BE49-F238E27FC236}">
                <a16:creationId xmlns:a16="http://schemas.microsoft.com/office/drawing/2014/main" id="{0EC762D3-7E20-4A43-960F-C6DAED38185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9" name="14 / 15">
            <a:extLst xmlns:a="http://schemas.openxmlformats.org/drawingml/2006/main">
              <a:ext uri="{FF2B5EF4-FFF2-40B4-BE49-F238E27FC236}">
                <a16:creationId xmlns:a16="http://schemas.microsoft.com/office/drawing/2014/main" id="{B5B3E5E6-44B6-4389-A29A-7815A66C94E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15</a:t>
            </a:r>
          </a:p>
        </p:txBody>
      </p:sp>
      <p:sp>
        <p:nvSpPr>
          <p:cNvPr id="10" name="Which would help: more repeats or an unsupported advert?">
            <a:extLst xmlns:a="http://schemas.openxmlformats.org/drawingml/2006/main">
              <a:ext uri="{FF2B5EF4-FFF2-40B4-BE49-F238E27FC236}">
                <a16:creationId xmlns:a16="http://schemas.microsoft.com/office/drawing/2014/main" id="{FBBEC756-1C50-4D09-B4C2-E7785F0D8C2E}"/>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Which would help: more repeats or an unsupported advert?</a:t>
            </a:r>
          </a:p>
        </p:txBody>
      </p:sp>
      <p:sp>
        <p:nvSpPr>
          <p:cNvPr id="11" name="Propose one precise improvement to the method.">
            <a:extLst xmlns:a="http://schemas.openxmlformats.org/drawingml/2006/main">
              <a:ext uri="{FF2B5EF4-FFF2-40B4-BE49-F238E27FC236}">
                <a16:creationId xmlns:a16="http://schemas.microsoft.com/office/drawing/2014/main" id="{4BA04EC6-3E7F-4F78-B084-CE7BF1BF889C}"/>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Propose one precise improvement to the method.</a:t>
            </a:r>
          </a:p>
        </p:txBody>
      </p:sp>
    </p:spTree>
    <p:extLst>
      <p:ext uri="{BB962C8B-B14F-4D97-AF65-F5344CB8AC3E}">
        <p14:creationId xmlns:p14="http://schemas.microsoft.com/office/powerpoint/2010/main" val="21214700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649AAEC3-ED86-432B-8AD5-1E22D62D7EE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37ECD699-1F7A-417C-9106-3C1497DDC0F3}"/>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18503CB5-43B1-4305-9E02-97D0F5931459}"/>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3F7D6E"/>
          </a:solidFill>
          <a:ln xmlns:a="http://schemas.openxmlformats.org/drawingml/2006/main" w="0">
            <a:noFill/>
          </a:ln>
        </p:spPr>
      </p:sp>
      <p:sp>
        <p:nvSpPr>
          <p:cNvPr id="4" name="GROW SCIENCE">
            <a:extLst xmlns:a="http://schemas.openxmlformats.org/drawingml/2006/main">
              <a:ext uri="{FF2B5EF4-FFF2-40B4-BE49-F238E27FC236}">
                <a16:creationId xmlns:a16="http://schemas.microsoft.com/office/drawing/2014/main" id="{09276FE3-40AB-44B4-AEA0-948766FD9DF1}"/>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GROW SCIENCE</a:t>
            </a:r>
          </a:p>
        </p:txBody>
      </p:sp>
      <p:sp>
        <p:nvSpPr>
          <p:cNvPr id="5" name="Exit">
            <a:extLst xmlns:a="http://schemas.openxmlformats.org/drawingml/2006/main">
              <a:ext uri="{FF2B5EF4-FFF2-40B4-BE49-F238E27FC236}">
                <a16:creationId xmlns:a16="http://schemas.microsoft.com/office/drawing/2014/main" id="{9D7D1909-7AA4-4B5E-88CA-6A4C94209602}"/>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3F7D6E"/>
                </a:solidFill>
                <a:latin typeface="Nimbus Sans"/>
                <a:ea typeface="Nimbus Sans"/>
                <a:cs typeface="Nimbus Sans"/>
              </a:defRPr>
            </a:pPr>
            <a:r>
              <a:rPr sz="1800" b="1">
                <a:solidFill>
                  <a:srgbClr val="3F7D6E"/>
                </a:solidFill>
                <a:latin typeface="Nimbus Sans"/>
                <a:ea typeface="Nimbus Sans"/>
                <a:cs typeface="Nimbus Sans"/>
              </a:rPr>
              <a:t>Exit</a:t>
            </a:r>
          </a:p>
        </p:txBody>
      </p:sp>
      <p:sp>
        <p:nvSpPr>
          <p:cNvPr id="6" name="2 min">
            <a:extLst xmlns:a="http://schemas.openxmlformats.org/drawingml/2006/main">
              <a:ext uri="{FF2B5EF4-FFF2-40B4-BE49-F238E27FC236}">
                <a16:creationId xmlns:a16="http://schemas.microsoft.com/office/drawing/2014/main" id="{0FA25B15-4A0B-477F-94FC-69A9F4C6FA75}"/>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An honest research result">
            <a:extLst xmlns:a="http://schemas.openxmlformats.org/drawingml/2006/main">
              <a:ext uri="{FF2B5EF4-FFF2-40B4-BE49-F238E27FC236}">
                <a16:creationId xmlns:a16="http://schemas.microsoft.com/office/drawing/2014/main" id="{60BBC319-DDF6-4F6D-BE3D-065841990619}"/>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An honest research result</a:t>
            </a:r>
          </a:p>
        </p:txBody>
      </p:sp>
      <p:sp>
        <p:nvSpPr>
          <p:cNvPr id="8" name="surface">
            <a:extLst xmlns:a="http://schemas.openxmlformats.org/drawingml/2006/main">
              <a:ext uri="{FF2B5EF4-FFF2-40B4-BE49-F238E27FC236}">
                <a16:creationId xmlns:a16="http://schemas.microsoft.com/office/drawing/2014/main" id="{64438CCA-C1A4-44ED-994B-BC3C602C473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The recovery research room">
            <a:extLst xmlns:a="http://schemas.openxmlformats.org/drawingml/2006/main">
              <a:ext uri="{FF2B5EF4-FFF2-40B4-BE49-F238E27FC236}">
                <a16:creationId xmlns:a16="http://schemas.microsoft.com/office/drawing/2014/main" id="{B13EBF02-BD89-4B9F-995D-3F29C4E9242B}"/>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The recovery research room</a:t>
            </a:r>
          </a:p>
        </p:txBody>
      </p:sp>
      <p:sp>
        <p:nvSpPr>
          <p:cNvPr id="10" name="15 / 15">
            <a:extLst xmlns:a="http://schemas.openxmlformats.org/drawingml/2006/main">
              <a:ext uri="{FF2B5EF4-FFF2-40B4-BE49-F238E27FC236}">
                <a16:creationId xmlns:a16="http://schemas.microsoft.com/office/drawing/2014/main" id="{7E99DAC5-4F3E-4635-AD20-C212511A192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15 / 15</a:t>
            </a:r>
          </a:p>
        </p:txBody>
      </p:sp>
      <p:sp>
        <p:nvSpPr>
          <p:cNvPr id="11" name="E1. Give one pattern with two values.">
            <a:extLst xmlns:a="http://schemas.openxmlformats.org/drawingml/2006/main">
              <a:ext uri="{FF2B5EF4-FFF2-40B4-BE49-F238E27FC236}">
                <a16:creationId xmlns:a16="http://schemas.microsoft.com/office/drawing/2014/main" id="{03A01C95-82A2-4EC2-9E6C-4D69F2B0A47D}"/>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E1. Give one pattern with two values.</a:t>
            </a:r>
          </a:p>
        </p:txBody>
      </p:sp>
      <p:sp>
        <p:nvSpPr>
          <p:cNvPr id="12" name="E2. Name the relevant source organisation.">
            <a:extLst xmlns:a="http://schemas.openxmlformats.org/drawingml/2006/main">
              <a:ext uri="{FF2B5EF4-FFF2-40B4-BE49-F238E27FC236}">
                <a16:creationId xmlns:a16="http://schemas.microsoft.com/office/drawing/2014/main" id="{C8B051A8-FE71-4DA9-BF72-D057552EDDA2}"/>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E2. Name the relevant source organisation.</a:t>
            </a:r>
          </a:p>
        </p:txBody>
      </p:sp>
      <p:sp>
        <p:nvSpPr>
          <p:cNvPr id="13" name="E3. Give one limit to the conclusion.">
            <a:extLst xmlns:a="http://schemas.openxmlformats.org/drawingml/2006/main">
              <a:ext uri="{FF2B5EF4-FFF2-40B4-BE49-F238E27FC236}">
                <a16:creationId xmlns:a16="http://schemas.microsoft.com/office/drawing/2014/main" id="{F61CFE2A-BE01-474E-B2F4-C578525C19F9}"/>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E3. Give one limit to the conclusion.</a:t>
            </a:r>
          </a:p>
        </p:txBody>
      </p:sp>
    </p:spTree>
    <p:extLst>
      <p:ext uri="{BB962C8B-B14F-4D97-AF65-F5344CB8AC3E}">
        <p14:creationId xmlns:p14="http://schemas.microsoft.com/office/powerpoint/2010/main" val="2582524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2026-09-08T23:14:58.7440000Z</dcterms:created>
  <dcterms:modified xsi:type="dcterms:W3CDTF">2026-09-08T23:14:58.7440000Z</dcterms:modified>
</coreProperties>
</file>