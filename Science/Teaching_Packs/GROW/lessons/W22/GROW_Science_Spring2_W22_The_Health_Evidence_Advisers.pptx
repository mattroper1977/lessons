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057029e565436f" /><Relationship Type="http://schemas.openxmlformats.org/officeDocument/2006/relationships/extended-properties" Target="/docProps/app.xml" Id="Rba5d81ba6c9a4fee" /><Relationship Type="http://schemas.openxmlformats.org/officeDocument/2006/relationships/officeDocument" Target="/ppt/presentation.xml" Id="R851a5a8d728a40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7c41d08e914fa5"/>
  </p:sldMasterIdLst>
  <p:notesMasterIdLst>
    <p:notesMasterId xmlns:r="http://schemas.openxmlformats.org/officeDocument/2006/relationships" r:id="R75482db617a14dcb"/>
  </p:notesMasterIdLst>
  <p:sldIdLst>
    <p:sldId xmlns:r="http://schemas.openxmlformats.org/officeDocument/2006/relationships" id="256" r:id="R13db67b0be93400f"/>
    <p:sldId xmlns:r="http://schemas.openxmlformats.org/officeDocument/2006/relationships" id="257" r:id="R87786dc72f1042cf"/>
    <p:sldId xmlns:r="http://schemas.openxmlformats.org/officeDocument/2006/relationships" id="258" r:id="R22c352c716294db7"/>
    <p:sldId xmlns:r="http://schemas.openxmlformats.org/officeDocument/2006/relationships" id="259" r:id="R38c5a48e8ace4483"/>
    <p:sldId xmlns:r="http://schemas.openxmlformats.org/officeDocument/2006/relationships" id="260" r:id="R16d8fe9e8554419e"/>
    <p:sldId xmlns:r="http://schemas.openxmlformats.org/officeDocument/2006/relationships" id="261" r:id="Reb653e7b2feb4e82"/>
    <p:sldId xmlns:r="http://schemas.openxmlformats.org/officeDocument/2006/relationships" id="262" r:id="R5bc0262d2740428c"/>
    <p:sldId xmlns:r="http://schemas.openxmlformats.org/officeDocument/2006/relationships" id="263" r:id="Rcaf65a4b7abc4f23"/>
    <p:sldId xmlns:r="http://schemas.openxmlformats.org/officeDocument/2006/relationships" id="264" r:id="R834b25291e2048e8"/>
    <p:sldId xmlns:r="http://schemas.openxmlformats.org/officeDocument/2006/relationships" id="265" r:id="R481622faa0054519"/>
    <p:sldId xmlns:r="http://schemas.openxmlformats.org/officeDocument/2006/relationships" id="266" r:id="Rdcb8878086d54eff"/>
    <p:sldId xmlns:r="http://schemas.openxmlformats.org/officeDocument/2006/relationships" id="267" r:id="Rc9ba3581c18f4bf6"/>
    <p:sldId xmlns:r="http://schemas.openxmlformats.org/officeDocument/2006/relationships" id="268" r:id="Rd6c61e1ea485411b"/>
    <p:sldId xmlns:r="http://schemas.openxmlformats.org/officeDocument/2006/relationships" id="269" r:id="R3d8cb2984ba04764"/>
    <p:sldId xmlns:r="http://schemas.openxmlformats.org/officeDocument/2006/relationships" id="270" r:id="R9d87b7f3e3ce4b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5bc6dbdc6745b2" /><Relationship Type="http://schemas.openxmlformats.org/officeDocument/2006/relationships/slideMaster" Target="/ppt/slideMasters/slideMaster1.xml" Id="Rbb7c41d08e914fa5" /><Relationship Type="http://schemas.openxmlformats.org/officeDocument/2006/relationships/notesMaster" Target="/ppt/notesMasters/notesMaster1.xml" Id="R75482db617a14dcb" /><Relationship Type="http://schemas.openxmlformats.org/officeDocument/2006/relationships/presProps" Target="/ppt/presProps.xml" Id="R914e86bb41a54259" /><Relationship Type="http://schemas.openxmlformats.org/officeDocument/2006/relationships/tableStyles" Target="/ppt/tableStyles.xml" Id="R2acf46e52446431d" /><Relationship Type="http://schemas.openxmlformats.org/officeDocument/2006/relationships/slide" Target="/ppt/slides/slide1.xml" Id="R13db67b0be93400f" /><Relationship Type="http://schemas.openxmlformats.org/officeDocument/2006/relationships/slide" Target="/ppt/slides/slide2.xml" Id="R87786dc72f1042cf" /><Relationship Type="http://schemas.openxmlformats.org/officeDocument/2006/relationships/slide" Target="/ppt/slides/slide3.xml" Id="R22c352c716294db7" /><Relationship Type="http://schemas.openxmlformats.org/officeDocument/2006/relationships/slide" Target="/ppt/slides/slide4.xml" Id="R38c5a48e8ace4483" /><Relationship Type="http://schemas.openxmlformats.org/officeDocument/2006/relationships/slide" Target="/ppt/slides/slide5.xml" Id="R16d8fe9e8554419e" /><Relationship Type="http://schemas.openxmlformats.org/officeDocument/2006/relationships/slide" Target="/ppt/slides/slide6.xml" Id="Reb653e7b2feb4e82" /><Relationship Type="http://schemas.openxmlformats.org/officeDocument/2006/relationships/slide" Target="/ppt/slides/slide7.xml" Id="R5bc0262d2740428c" /><Relationship Type="http://schemas.openxmlformats.org/officeDocument/2006/relationships/slide" Target="/ppt/slides/slide8.xml" Id="Rcaf65a4b7abc4f23" /><Relationship Type="http://schemas.openxmlformats.org/officeDocument/2006/relationships/slide" Target="/ppt/slides/slide9.xml" Id="R834b25291e2048e8" /><Relationship Type="http://schemas.openxmlformats.org/officeDocument/2006/relationships/slide" Target="/ppt/slides/slide10.xml" Id="R481622faa0054519" /><Relationship Type="http://schemas.openxmlformats.org/officeDocument/2006/relationships/slide" Target="/ppt/slides/slide11.xml" Id="Rdcb8878086d54eff" /><Relationship Type="http://schemas.openxmlformats.org/officeDocument/2006/relationships/slide" Target="/ppt/slides/slide12.xml" Id="Rc9ba3581c18f4bf6" /><Relationship Type="http://schemas.openxmlformats.org/officeDocument/2006/relationships/slide" Target="/ppt/slides/slide13.xml" Id="Rd6c61e1ea485411b" /><Relationship Type="http://schemas.openxmlformats.org/officeDocument/2006/relationships/slide" Target="/ppt/slides/slide14.xml" Id="R3d8cb2984ba04764" /><Relationship Type="http://schemas.openxmlformats.org/officeDocument/2006/relationships/slide" Target="/ppt/slides/slide15.xml" Id="R9d87b7f3e3ce4b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02ba7663d74b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a4233f5c2c46f0" /><Relationship Type="http://schemas.openxmlformats.org/officeDocument/2006/relationships/notesMaster" Target="/ppt/notesMasters/notesMaster1.xml" Id="R77aeb54c781549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3aa78c19e0446f" /><Relationship Type="http://schemas.openxmlformats.org/officeDocument/2006/relationships/notesMaster" Target="/ppt/notesMasters/notesMaster1.xml" Id="R176e0a8b971f47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1541e7379e4216" /><Relationship Type="http://schemas.openxmlformats.org/officeDocument/2006/relationships/notesMaster" Target="/ppt/notesMasters/notesMaster1.xml" Id="Rffdfefcf1fb14c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fcb353021f421d" /><Relationship Type="http://schemas.openxmlformats.org/officeDocument/2006/relationships/notesMaster" Target="/ppt/notesMasters/notesMaster1.xml" Id="R8fb7a41480b749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0dd2c8d519432e" /><Relationship Type="http://schemas.openxmlformats.org/officeDocument/2006/relationships/notesMaster" Target="/ppt/notesMasters/notesMaster1.xml" Id="R9b5f97a771ce45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2b7b64b9f14bf0" /><Relationship Type="http://schemas.openxmlformats.org/officeDocument/2006/relationships/notesMaster" Target="/ppt/notesMasters/notesMaster1.xml" Id="Rae4fb96691554b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a6961c9e3b4b26" /><Relationship Type="http://schemas.openxmlformats.org/officeDocument/2006/relationships/notesMaster" Target="/ppt/notesMasters/notesMaster1.xml" Id="R9822e8bb842e45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6d380ef7f134a50" /><Relationship Type="http://schemas.openxmlformats.org/officeDocument/2006/relationships/notesMaster" Target="/ppt/notesMasters/notesMaster1.xml" Id="R0ac10f6bc83548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f4d15de81047e7" /><Relationship Type="http://schemas.openxmlformats.org/officeDocument/2006/relationships/notesMaster" Target="/ppt/notesMasters/notesMaster1.xml" Id="R4910220c18ea438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2001236bca44b00" /><Relationship Type="http://schemas.openxmlformats.org/officeDocument/2006/relationships/notesMaster" Target="/ppt/notesMasters/notesMaster1.xml" Id="R7638a4fdfc6a48f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deef7cfc30044a8" /><Relationship Type="http://schemas.openxmlformats.org/officeDocument/2006/relationships/notesMaster" Target="/ppt/notesMasters/notesMaster1.xml" Id="R721054dda18948e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1fa1a4326444204" /><Relationship Type="http://schemas.openxmlformats.org/officeDocument/2006/relationships/notesMaster" Target="/ppt/notesMasters/notesMaster1.xml" Id="R5fbdded3b32b4ba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1c442eb81864faa" /><Relationship Type="http://schemas.openxmlformats.org/officeDocument/2006/relationships/notesMaster" Target="/ppt/notesMasters/notesMaster1.xml" Id="R30e87274e9d64bf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2ab6ccac4304fd6" /><Relationship Type="http://schemas.openxmlformats.org/officeDocument/2006/relationships/notesMaster" Target="/ppt/notesMasters/notesMaster1.xml" Id="Rf17efb21cfad4e3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1a27de8f3ea4c2e" /><Relationship Type="http://schemas.openxmlformats.org/officeDocument/2006/relationships/notesMaster" Target="/ppt/notesMasters/notesMaster1.xml" Id="R32a570cd2b694f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there is no pupil health questionnaire. Pupils advise the imaginary club, not themselves or classmates.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NHS: The Eatwell Guide</a:t>
            </a:r>
          </a:p>
          <a:p xmlns:a="http://schemas.openxmlformats.org/drawingml/2006/main">
            <a:r>
              <a:t>https://www.nhs.uk/live-well/eat-well/food-guidelines-and-food-labels/the-eatwell-guide/</a:t>
            </a:r>
          </a:p>
          <a:p xmlns:a="http://schemas.openxmlformats.org/drawingml/2006/main">
            <a:r>
              <a:t>Checked September 2026. Varied eating patterns and different food groups; no food scoring, calorie prescription or individual diet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Physical activity for children and young people</a:t>
            </a:r>
          </a:p>
          <a:p xmlns:a="http://schemas.openxmlformats.org/drawingml/2006/main">
            <a:r>
              <a:t>https://www.nhs.uk/live-well/exercise/physical-activity-guidelines-children-and-young-people/</a:t>
            </a:r>
          </a:p>
          <a:p xmlns:a="http://schemas.openxmlformats.org/drawingml/2006/main">
            <a:r>
              <a:t>Checked September 2026. Accessible activity supports health; no compulsory exercise or pupil fitness assessment.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Noncommunicable diseases</a:t>
            </a:r>
          </a:p>
          <a:p xmlns:a="http://schemas.openxmlformats.org/drawingml/2006/main">
            <a:r>
              <a:t>https://www.who.int/news-room/fact-sheets/detail/noncommunicable-diseases</a:t>
            </a:r>
          </a:p>
          <a:p xmlns:a="http://schemas.openxmlformats.org/drawingml/2006/main">
            <a:r>
              <a:t>Checked September 2026. Tobacco smoke, alcohol and other influences affect disease risk, not individual certainty or blame.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Medicines A to Z</a:t>
            </a:r>
          </a:p>
          <a:p xmlns:a="http://schemas.openxmlformats.org/drawingml/2006/main">
            <a:r>
              <a:t>https://www.nhs.uk/medicines/</a:t>
            </a:r>
          </a:p>
          <a:p xmlns:a="http://schemas.openxmlformats.org/drawingml/2006/main">
            <a:r>
              <a:t>Checked September 2026. Medicine information includes purpose, correct use and side effects. This lesson gives no medicine changes or dosage advice.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Sleep and tiredness</a:t>
            </a:r>
          </a:p>
          <a:p xmlns:a="http://schemas.openxmlformats.org/drawingml/2006/main">
            <a:r>
              <a:t>https://www.nhs.uk/live-well/sleep-and-tiredness/</a:t>
            </a:r>
          </a:p>
          <a:p xmlns:a="http://schemas.openxmlformats.org/drawingml/2006/main">
            <a:r>
              <a:t>Checked September 2026. Sleep supports functioning; fictional routine design, no personal sleep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 blood; R2 carbohydrate, protein, fat, vitamins, minerals or water. R3 no. Do not classify individual foods as good or bad.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NHS: The Eatwell Guide</a:t>
            </a:r>
          </a:p>
          <a:p xmlns:a="http://schemas.openxmlformats.org/drawingml/2006/main">
            <a:r>
              <a:t>https://www.nhs.uk/live-well/eat-well/food-guidelines-and-food-labels/the-eatwell-guide/</a:t>
            </a:r>
          </a:p>
          <a:p xmlns:a="http://schemas.openxmlformats.org/drawingml/2006/main">
            <a:r>
              <a:t>Checked September 2026. Varied eating patterns and different food groups; no food scoring, calorie prescription or individual diet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Physical activity for children and young people</a:t>
            </a:r>
          </a:p>
          <a:p xmlns:a="http://schemas.openxmlformats.org/drawingml/2006/main">
            <a:r>
              <a:t>https://www.nhs.uk/live-well/exercise/physical-activity-guidelines-children-and-young-people/</a:t>
            </a:r>
          </a:p>
          <a:p xmlns:a="http://schemas.openxmlformats.org/drawingml/2006/main">
            <a:r>
              <a:t>Checked September 2026. Accessible activity supports health; no compulsory exercise or pupil fitness assessment.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Noncommunicable diseases</a:t>
            </a:r>
          </a:p>
          <a:p xmlns:a="http://schemas.openxmlformats.org/drawingml/2006/main">
            <a:r>
              <a:t>https://www.who.int/news-room/fact-sheets/detail/noncommunicable-diseases</a:t>
            </a:r>
          </a:p>
          <a:p xmlns:a="http://schemas.openxmlformats.org/drawingml/2006/main">
            <a:r>
              <a:t>Checked September 2026. Tobacco smoke, alcohol and other influences affect disease risk, not individual certainty or blame.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Medicines A to Z</a:t>
            </a:r>
          </a:p>
          <a:p xmlns:a="http://schemas.openxmlformats.org/drawingml/2006/main">
            <a:r>
              <a:t>https://www.nhs.uk/medicines/</a:t>
            </a:r>
          </a:p>
          <a:p xmlns:a="http://schemas.openxmlformats.org/drawingml/2006/main">
            <a:r>
              <a:t>Checked September 2026. Medicine information includes purpose, correct use and side effects. This lesson gives no medicine changes or dosage advice.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Sleep and tiredness</a:t>
            </a:r>
          </a:p>
          <a:p xmlns:a="http://schemas.openxmlformats.org/drawingml/2006/main">
            <a:r>
              <a:t>https://www.nhs.uk/live-well/sleep-and-tiredness/</a:t>
            </a:r>
          </a:p>
          <a:p xmlns:a="http://schemas.openxmlformats.org/drawingml/2006/main">
            <a:r>
              <a:t>Checked September 2026. Sleep supports functioning; fictional routine design, no personal sleep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8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Think aloud: I use “varied pattern” because bodies need different substances. Food access, allergies and culture matter. The diagram gives selected examples; foods contain mixtures of nutrients, and individual needs vary.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Three parallel food-group examples show overlapping nutrient contributions: starchy foods provide carbohydrate, protein foods supply amino acids, and fruit or vegetables supply fibre and other nutrients. No transformation between groups is implied.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NHS: The Eatwell Guide</a:t>
            </a:r>
          </a:p>
          <a:p xmlns:a="http://schemas.openxmlformats.org/drawingml/2006/main">
            <a:r>
              <a:t>https://www.nhs.uk/live-well/eat-well/food-guidelines-and-food-labels/the-eatwell-guide/</a:t>
            </a:r>
          </a:p>
          <a:p xmlns:a="http://schemas.openxmlformats.org/drawingml/2006/main">
            <a:r>
              <a:t>Checked September 2026. Varied eating patterns and different food groups; no food scoring, calorie prescription or individual diet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Physical activity for children and young people</a:t>
            </a:r>
          </a:p>
          <a:p xmlns:a="http://schemas.openxmlformats.org/drawingml/2006/main">
            <a:r>
              <a:t>https://www.nhs.uk/live-well/exercise/physical-activity-guidelines-children-and-young-people/</a:t>
            </a:r>
          </a:p>
          <a:p xmlns:a="http://schemas.openxmlformats.org/drawingml/2006/main">
            <a:r>
              <a:t>Checked September 2026. Accessible activity supports health; no compulsory exercise or pupil fitness assessment.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Noncommunicable diseases</a:t>
            </a:r>
          </a:p>
          <a:p xmlns:a="http://schemas.openxmlformats.org/drawingml/2006/main">
            <a:r>
              <a:t>https://www.who.int/news-room/fact-sheets/detail/noncommunicable-diseases</a:t>
            </a:r>
          </a:p>
          <a:p xmlns:a="http://schemas.openxmlformats.org/drawingml/2006/main">
            <a:r>
              <a:t>Checked September 2026. Tobacco smoke, alcohol and other influences affect disease risk, not individual certainty or blame.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Medicines A to Z</a:t>
            </a:r>
          </a:p>
          <a:p xmlns:a="http://schemas.openxmlformats.org/drawingml/2006/main">
            <a:r>
              <a:t>https://www.nhs.uk/medicines/</a:t>
            </a:r>
          </a:p>
          <a:p xmlns:a="http://schemas.openxmlformats.org/drawingml/2006/main">
            <a:r>
              <a:t>Checked September 2026. Medicine information includes purpose, correct use and side effects. This lesson gives no medicine changes or dosage advice.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Sleep and tiredness</a:t>
            </a:r>
          </a:p>
          <a:p xmlns:a="http://schemas.openxmlformats.org/drawingml/2006/main">
            <a:r>
              <a:t>https://www.nhs.uk/live-well/sleep-and-tiredness/</a:t>
            </a:r>
          </a:p>
          <a:p xmlns:a="http://schemas.openxmlformats.org/drawingml/2006/main">
            <a:r>
              <a:t>Checked September 2026. Sleep supports functioning; fictional routine design, no personal sleep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I do time. Distinguish an immediate response from longer-term support. Say can support, not guarantees health or proves fitness. Movement may be seated, wheeled or otherwise adapted; this lesson requires none.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A simplified scientific sequence: Working muscles</a:t>
            </a:r>
          </a:p>
          <a:p xmlns:a="http://schemas.openxmlformats.org/drawingml/2006/main">
            <a:r>
              <a:t>need more energy; Heart and breathing</a:t>
            </a:r>
          </a:p>
          <a:p xmlns:a="http://schemas.openxmlformats.org/drawingml/2006/main">
            <a:r>
              <a:t>usually speed up; More oxygen</a:t>
            </a:r>
          </a:p>
          <a:p xmlns:a="http://schemas.openxmlformats.org/drawingml/2006/main">
            <a:r>
              <a:t>reaches muscles. Activity can be adapted. Our lesson tests claims</a:t>
            </a:r>
          </a:p>
          <a:p xmlns:a="http://schemas.openxmlformats.org/drawingml/2006/main">
            <a:r>
              <a:t>on paper; nobody must exercise for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NHS: The Eatwell Guide</a:t>
            </a:r>
          </a:p>
          <a:p xmlns:a="http://schemas.openxmlformats.org/drawingml/2006/main">
            <a:r>
              <a:t>https://www.nhs.uk/live-well/eat-well/food-guidelines-and-food-labels/the-eatwell-guide/</a:t>
            </a:r>
          </a:p>
          <a:p xmlns:a="http://schemas.openxmlformats.org/drawingml/2006/main">
            <a:r>
              <a:t>Checked September 2026. Varied eating patterns and different food groups; no food scoring, calorie prescription or individual diet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Physical activity for children and young people</a:t>
            </a:r>
          </a:p>
          <a:p xmlns:a="http://schemas.openxmlformats.org/drawingml/2006/main">
            <a:r>
              <a:t>https://www.nhs.uk/live-well/exercise/physical-activity-guidelines-children-and-young-people/</a:t>
            </a:r>
          </a:p>
          <a:p xmlns:a="http://schemas.openxmlformats.org/drawingml/2006/main">
            <a:r>
              <a:t>Checked September 2026. Accessible activity supports health; no compulsory exercise or pupil fitness assessment.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Noncommunicable diseases</a:t>
            </a:r>
          </a:p>
          <a:p xmlns:a="http://schemas.openxmlformats.org/drawingml/2006/main">
            <a:r>
              <a:t>https://www.who.int/news-room/fact-sheets/detail/noncommunicable-diseases</a:t>
            </a:r>
          </a:p>
          <a:p xmlns:a="http://schemas.openxmlformats.org/drawingml/2006/main">
            <a:r>
              <a:t>Checked September 2026. Tobacco smoke, alcohol and other influences affect disease risk, not individual certainty or blame.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Medicines A to Z</a:t>
            </a:r>
          </a:p>
          <a:p xmlns:a="http://schemas.openxmlformats.org/drawingml/2006/main">
            <a:r>
              <a:t>https://www.nhs.uk/medicines/</a:t>
            </a:r>
          </a:p>
          <a:p xmlns:a="http://schemas.openxmlformats.org/drawingml/2006/main">
            <a:r>
              <a:t>Checked September 2026. Medicine information includes purpose, correct use and side effects. This lesson gives no medicine changes or dosage advice.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Sleep and tiredness</a:t>
            </a:r>
          </a:p>
          <a:p xmlns:a="http://schemas.openxmlformats.org/drawingml/2006/main">
            <a:r>
              <a:t>https://www.nhs.uk/live-well/sleep-and-tiredness/</a:t>
            </a:r>
          </a:p>
          <a:p xmlns:a="http://schemas.openxmlformats.org/drawingml/2006/main">
            <a:r>
              <a:t>Checked September 2026. Sleep supports functioning; fictional routine design, no personal sleep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I do time. Model: “All drugs are bad” is too broad. Medicines can help treat a condition when used as directed. A lesson cannot tell someone to stop treatment. Smoke and harmful alcohol use have risks; discussing risks does not judge people.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Three parallel considerations for medicine use: intended benefit, correct directions and possible side effects. These are not a causal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NHS: The Eatwell Guide</a:t>
            </a:r>
          </a:p>
          <a:p xmlns:a="http://schemas.openxmlformats.org/drawingml/2006/main">
            <a:r>
              <a:t>https://www.nhs.uk/live-well/eat-well/food-guidelines-and-food-labels/the-eatwell-guide/</a:t>
            </a:r>
          </a:p>
          <a:p xmlns:a="http://schemas.openxmlformats.org/drawingml/2006/main">
            <a:r>
              <a:t>Checked September 2026. Varied eating patterns and different food groups; no food scoring, calorie prescription or individual diet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Physical activity for children and young people</a:t>
            </a:r>
          </a:p>
          <a:p xmlns:a="http://schemas.openxmlformats.org/drawingml/2006/main">
            <a:r>
              <a:t>https://www.nhs.uk/live-well/exercise/physical-activity-guidelines-children-and-young-people/</a:t>
            </a:r>
          </a:p>
          <a:p xmlns:a="http://schemas.openxmlformats.org/drawingml/2006/main">
            <a:r>
              <a:t>Checked September 2026. Accessible activity supports health; no compulsory exercise or pupil fitness assessment.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Noncommunicable diseases</a:t>
            </a:r>
          </a:p>
          <a:p xmlns:a="http://schemas.openxmlformats.org/drawingml/2006/main">
            <a:r>
              <a:t>https://www.who.int/news-room/fact-sheets/detail/noncommunicable-diseases</a:t>
            </a:r>
          </a:p>
          <a:p xmlns:a="http://schemas.openxmlformats.org/drawingml/2006/main">
            <a:r>
              <a:t>Checked September 2026. Tobacco smoke, alcohol and other influences affect disease risk, not individual certainty or blame.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Medicines A to Z</a:t>
            </a:r>
          </a:p>
          <a:p xmlns:a="http://schemas.openxmlformats.org/drawingml/2006/main">
            <a:r>
              <a:t>https://www.nhs.uk/medicines/</a:t>
            </a:r>
          </a:p>
          <a:p xmlns:a="http://schemas.openxmlformats.org/drawingml/2006/main">
            <a:r>
              <a:t>Checked September 2026. Medicine information includes purpose, correct use and side effects. This lesson gives no medicine changes or dosage advice.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Sleep and tiredness</a:t>
            </a:r>
          </a:p>
          <a:p xmlns:a="http://schemas.openxmlformats.org/drawingml/2006/main">
            <a:r>
              <a:t>https://www.nhs.uk/live-well/sleep-and-tiredness/</a:t>
            </a:r>
          </a:p>
          <a:p xmlns:a="http://schemas.openxmlformats.org/drawingml/2006/main">
            <a:r>
              <a:t>Checked September 2026. Sleep supports functioning; fictional routine design, no personal sleep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8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P/Q/R can be kept with access conditions; S reject as unsafe unqualified advice. Cards supply all facts. Invite teams or private written adjudication.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NHS: The Eatwell Guide</a:t>
            </a:r>
          </a:p>
          <a:p xmlns:a="http://schemas.openxmlformats.org/drawingml/2006/main">
            <a:r>
              <a:t>https://www.nhs.uk/live-well/eat-well/food-guidelines-and-food-labels/the-eatwell-guide/</a:t>
            </a:r>
          </a:p>
          <a:p xmlns:a="http://schemas.openxmlformats.org/drawingml/2006/main">
            <a:r>
              <a:t>Checked September 2026. Varied eating patterns and different food groups; no food scoring, calorie prescription or individual diet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Physical activity for children and young people</a:t>
            </a:r>
          </a:p>
          <a:p xmlns:a="http://schemas.openxmlformats.org/drawingml/2006/main">
            <a:r>
              <a:t>https://www.nhs.uk/live-well/exercise/physical-activity-guidelines-children-and-young-people/</a:t>
            </a:r>
          </a:p>
          <a:p xmlns:a="http://schemas.openxmlformats.org/drawingml/2006/main">
            <a:r>
              <a:t>Checked September 2026. Accessible activity supports health; no compulsory exercise or pupil fitness assessment.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Noncommunicable diseases</a:t>
            </a:r>
          </a:p>
          <a:p xmlns:a="http://schemas.openxmlformats.org/drawingml/2006/main">
            <a:r>
              <a:t>https://www.who.int/news-room/fact-sheets/detail/noncommunicable-diseases</a:t>
            </a:r>
          </a:p>
          <a:p xmlns:a="http://schemas.openxmlformats.org/drawingml/2006/main">
            <a:r>
              <a:t>Checked September 2026. Tobacco smoke, alcohol and other influences affect disease risk, not individual certainty or blame.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Medicines A to Z</a:t>
            </a:r>
          </a:p>
          <a:p xmlns:a="http://schemas.openxmlformats.org/drawingml/2006/main">
            <a:r>
              <a:t>https://www.nhs.uk/medicines/</a:t>
            </a:r>
          </a:p>
          <a:p xmlns:a="http://schemas.openxmlformats.org/drawingml/2006/main">
            <a:r>
              <a:t>Checked September 2026. Medicine information includes purpose, correct use and side effects. This lesson gives no medicine changes or dosage advice.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Sleep and tiredness</a:t>
            </a:r>
          </a:p>
          <a:p xmlns:a="http://schemas.openxmlformats.org/drawingml/2006/main">
            <a:r>
              <a:t>https://www.nhs.uk/live-well/sleep-and-tiredness/</a:t>
            </a:r>
          </a:p>
          <a:p xmlns:a="http://schemas.openxmlformats.org/drawingml/2006/main">
            <a:r>
              <a:t>Checked September 2026. Sleep supports functioning; fictional routine design, no personal sleep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We do time. P+Q, P+R or Q+R can all work if justified. Example P+Q: varied nutrients plus suitable movement; allergy-aware cards and quiet/seated options. There is no single healthiest person or compulsory activity.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NHS: The Eatwell Guide</a:t>
            </a:r>
          </a:p>
          <a:p xmlns:a="http://schemas.openxmlformats.org/drawingml/2006/main">
            <a:r>
              <a:t>https://www.nhs.uk/live-well/eat-well/food-guidelines-and-food-labels/the-eatwell-guide/</a:t>
            </a:r>
          </a:p>
          <a:p xmlns:a="http://schemas.openxmlformats.org/drawingml/2006/main">
            <a:r>
              <a:t>Checked September 2026. Varied eating patterns and different food groups; no food scoring, calorie prescription or individual diet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Physical activity for children and young people</a:t>
            </a:r>
          </a:p>
          <a:p xmlns:a="http://schemas.openxmlformats.org/drawingml/2006/main">
            <a:r>
              <a:t>https://www.nhs.uk/live-well/exercise/physical-activity-guidelines-children-and-young-people/</a:t>
            </a:r>
          </a:p>
          <a:p xmlns:a="http://schemas.openxmlformats.org/drawingml/2006/main">
            <a:r>
              <a:t>Checked September 2026. Accessible activity supports health; no compulsory exercise or pupil fitness assessment.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Noncommunicable diseases</a:t>
            </a:r>
          </a:p>
          <a:p xmlns:a="http://schemas.openxmlformats.org/drawingml/2006/main">
            <a:r>
              <a:t>https://www.who.int/news-room/fact-sheets/detail/noncommunicable-diseases</a:t>
            </a:r>
          </a:p>
          <a:p xmlns:a="http://schemas.openxmlformats.org/drawingml/2006/main">
            <a:r>
              <a:t>Checked September 2026. Tobacco smoke, alcohol and other influences affect disease risk, not individual certainty or blame.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Medicines A to Z</a:t>
            </a:r>
          </a:p>
          <a:p xmlns:a="http://schemas.openxmlformats.org/drawingml/2006/main">
            <a:r>
              <a:t>https://www.nhs.uk/medicines/</a:t>
            </a:r>
          </a:p>
          <a:p xmlns:a="http://schemas.openxmlformats.org/drawingml/2006/main">
            <a:r>
              <a:t>Checked September 2026. Medicine information includes purpose, correct use and side effects. This lesson gives no medicine changes or dosage advice.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Sleep and tiredness</a:t>
            </a:r>
          </a:p>
          <a:p xmlns:a="http://schemas.openxmlformats.org/drawingml/2006/main">
            <a:r>
              <a:t>https://www.nhs.uk/live-well/sleep-and-tiredness/</a:t>
            </a:r>
          </a:p>
          <a:p xmlns:a="http://schemas.openxmlformats.org/drawingml/2006/main">
            <a:r>
              <a:t>Checked September 2026. Sleep supports functioning; fictional routine design, no personal sleep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We do time. Model after pupils: Our varied, accessible plan can support health, but many influences affect illness and no plan guarantees nobody becomes ill. No blame for illness.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This plan can support health. It cannot guarantee an individual outcome.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NHS: The Eatwell Guide</a:t>
            </a:r>
          </a:p>
          <a:p xmlns:a="http://schemas.openxmlformats.org/drawingml/2006/main">
            <a:r>
              <a:t>https://www.nhs.uk/live-well/eat-well/food-guidelines-and-food-labels/the-eatwell-guide/</a:t>
            </a:r>
          </a:p>
          <a:p xmlns:a="http://schemas.openxmlformats.org/drawingml/2006/main">
            <a:r>
              <a:t>Checked September 2026. Varied eating patterns and different food groups; no food scoring, calorie prescription or individual diet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Physical activity for children and young people</a:t>
            </a:r>
          </a:p>
          <a:p xmlns:a="http://schemas.openxmlformats.org/drawingml/2006/main">
            <a:r>
              <a:t>https://www.nhs.uk/live-well/exercise/physical-activity-guidelines-children-and-young-people/</a:t>
            </a:r>
          </a:p>
          <a:p xmlns:a="http://schemas.openxmlformats.org/drawingml/2006/main">
            <a:r>
              <a:t>Checked September 2026. Accessible activity supports health; no compulsory exercise or pupil fitness assessment.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Noncommunicable diseases</a:t>
            </a:r>
          </a:p>
          <a:p xmlns:a="http://schemas.openxmlformats.org/drawingml/2006/main">
            <a:r>
              <a:t>https://www.who.int/news-room/fact-sheets/detail/noncommunicable-diseases</a:t>
            </a:r>
          </a:p>
          <a:p xmlns:a="http://schemas.openxmlformats.org/drawingml/2006/main">
            <a:r>
              <a:t>Checked September 2026. Tobacco smoke, alcohol and other influences affect disease risk, not individual certainty or blame.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Medicines A to Z</a:t>
            </a:r>
          </a:p>
          <a:p xmlns:a="http://schemas.openxmlformats.org/drawingml/2006/main">
            <a:r>
              <a:t>https://www.nhs.uk/medicines/</a:t>
            </a:r>
          </a:p>
          <a:p xmlns:a="http://schemas.openxmlformats.org/drawingml/2006/main">
            <a:r>
              <a:t>Checked September 2026. Medicine information includes purpose, correct use and side effects. This lesson gives no medicine changes or dosage advice.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Sleep and tiredness</a:t>
            </a:r>
          </a:p>
          <a:p xmlns:a="http://schemas.openxmlformats.org/drawingml/2006/main">
            <a:r>
              <a:t>https://www.nhs.uk/live-well/sleep-and-tiredness/</a:t>
            </a:r>
          </a:p>
          <a:p xmlns:a="http://schemas.openxmlformats.org/drawingml/2006/main">
            <a:r>
              <a:t>Checked September 2026. Sleep supports functioning; fictional routine design, no personal sleep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unsafe and overgeneralised. B correct. C falsely guarantees no risk. Revisit benefits/directions/side effects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A. Everyone should stop taking it.</a:t>
            </a:r>
          </a:p>
          <a:p xmlns:a="http://schemas.openxmlformats.org/drawingml/2006/main">
            <a:r>
              <a:t>A class cannot direct someone to stop treatment. Ask a pharmacist or prescriber.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B. It may help when used as directed; ask a professional about concerns.</a:t>
            </a:r>
          </a:p>
          <a:p xmlns:a="http://schemas.openxmlformats.org/drawingml/2006/main">
            <a:r>
              <a:t>Correct. This recognises intended benefits, directions and possible risks.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C. If it is a medicine, it can never cause harm.</a:t>
            </a:r>
          </a:p>
          <a:p xmlns:a="http://schemas.openxmlformats.org/drawingml/2006/main">
            <a:r>
              <a:t>Medicines can have side effects and incorrect use can cause harm.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NHS: The Eatwell Guide</a:t>
            </a:r>
          </a:p>
          <a:p xmlns:a="http://schemas.openxmlformats.org/drawingml/2006/main">
            <a:r>
              <a:t>https://www.nhs.uk/live-well/eat-well/food-guidelines-and-food-labels/the-eatwell-guide/</a:t>
            </a:r>
          </a:p>
          <a:p xmlns:a="http://schemas.openxmlformats.org/drawingml/2006/main">
            <a:r>
              <a:t>Checked September 2026. Varied eating patterns and different food groups; no food scoring, calorie prescription or individual diet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Physical activity for children and young people</a:t>
            </a:r>
          </a:p>
          <a:p xmlns:a="http://schemas.openxmlformats.org/drawingml/2006/main">
            <a:r>
              <a:t>https://www.nhs.uk/live-well/exercise/physical-activity-guidelines-children-and-young-people/</a:t>
            </a:r>
          </a:p>
          <a:p xmlns:a="http://schemas.openxmlformats.org/drawingml/2006/main">
            <a:r>
              <a:t>Checked September 2026. Accessible activity supports health; no compulsory exercise or pupil fitness assessment.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Noncommunicable diseases</a:t>
            </a:r>
          </a:p>
          <a:p xmlns:a="http://schemas.openxmlformats.org/drawingml/2006/main">
            <a:r>
              <a:t>https://www.who.int/news-room/fact-sheets/detail/noncommunicable-diseases</a:t>
            </a:r>
          </a:p>
          <a:p xmlns:a="http://schemas.openxmlformats.org/drawingml/2006/main">
            <a:r>
              <a:t>Checked September 2026. Tobacco smoke, alcohol and other influences affect disease risk, not individual certainty or blame.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Medicines A to Z</a:t>
            </a:r>
          </a:p>
          <a:p xmlns:a="http://schemas.openxmlformats.org/drawingml/2006/main">
            <a:r>
              <a:t>https://www.nhs.uk/medicines/</a:t>
            </a:r>
          </a:p>
          <a:p xmlns:a="http://schemas.openxmlformats.org/drawingml/2006/main">
            <a:r>
              <a:t>Checked September 2026. Medicine information includes purpose, correct use and side effects. This lesson gives no medicine changes or dosage advice.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Sleep and tiredness</a:t>
            </a:r>
          </a:p>
          <a:p xmlns:a="http://schemas.openxmlformats.org/drawingml/2006/main">
            <a:r>
              <a:t>https://www.nhs.uk/live-well/sleep-and-tiredness/</a:t>
            </a:r>
          </a:p>
          <a:p xmlns:a="http://schemas.openxmlformats.org/drawingml/2006/main">
            <a:r>
              <a:t>Checked September 2026. Sleep supports functioning; fictional routine design, no personal sleep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 minutes across You do. All routes cover diet, activity and drug/routine effects. A dictated recommendation is valid.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NHS: The Eatwell Guide</a:t>
            </a:r>
          </a:p>
          <a:p xmlns:a="http://schemas.openxmlformats.org/drawingml/2006/main">
            <a:r>
              <a:t>https://www.nhs.uk/live-well/eat-well/food-guidelines-and-food-labels/the-eatwell-guide/</a:t>
            </a:r>
          </a:p>
          <a:p xmlns:a="http://schemas.openxmlformats.org/drawingml/2006/main">
            <a:r>
              <a:t>Checked September 2026. Varied eating patterns and different food groups; no food scoring, calorie prescription or individual diet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Physical activity for children and young people</a:t>
            </a:r>
          </a:p>
          <a:p xmlns:a="http://schemas.openxmlformats.org/drawingml/2006/main">
            <a:r>
              <a:t>https://www.nhs.uk/live-well/exercise/physical-activity-guidelines-children-and-young-people/</a:t>
            </a:r>
          </a:p>
          <a:p xmlns:a="http://schemas.openxmlformats.org/drawingml/2006/main">
            <a:r>
              <a:t>Checked September 2026. Accessible activity supports health; no compulsory exercise or pupil fitness assessment.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Noncommunicable diseases</a:t>
            </a:r>
          </a:p>
          <a:p xmlns:a="http://schemas.openxmlformats.org/drawingml/2006/main">
            <a:r>
              <a:t>https://www.who.int/news-room/fact-sheets/detail/noncommunicable-diseases</a:t>
            </a:r>
          </a:p>
          <a:p xmlns:a="http://schemas.openxmlformats.org/drawingml/2006/main">
            <a:r>
              <a:t>Checked September 2026. Tobacco smoke, alcohol and other influences affect disease risk, not individual certainty or blame.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Medicines A to Z</a:t>
            </a:r>
          </a:p>
          <a:p xmlns:a="http://schemas.openxmlformats.org/drawingml/2006/main">
            <a:r>
              <a:t>https://www.nhs.uk/medicines/</a:t>
            </a:r>
          </a:p>
          <a:p xmlns:a="http://schemas.openxmlformats.org/drawingml/2006/main">
            <a:r>
              <a:t>Checked September 2026. Medicine information includes purpose, correct use and side effects. This lesson gives no medicine changes or dosage advice.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Sleep and tiredness</a:t>
            </a:r>
          </a:p>
          <a:p xmlns:a="http://schemas.openxmlformats.org/drawingml/2006/main">
            <a:r>
              <a:t>https://www.nhs.uk/live-well/sleep-and-tiredness/</a:t>
            </a:r>
          </a:p>
          <a:p xmlns:a="http://schemas.openxmlformats.org/drawingml/2006/main">
            <a:r>
              <a:t>Checked September 2026. Sleep supports functioning; fictional routine design, no personal sleep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time. Ask for a specific physiological or functional effect rather than “it is healthy”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NHS: The Eatwell Guide</a:t>
            </a:r>
          </a:p>
          <a:p xmlns:a="http://schemas.openxmlformats.org/drawingml/2006/main">
            <a:r>
              <a:t>https://www.nhs.uk/live-well/eat-well/food-guidelines-and-food-labels/the-eatwell-guide/</a:t>
            </a:r>
          </a:p>
          <a:p xmlns:a="http://schemas.openxmlformats.org/drawingml/2006/main">
            <a:r>
              <a:t>Checked September 2026. Varied eating patterns and different food groups; no food scoring, calorie prescription or individual diet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Physical activity for children and young people</a:t>
            </a:r>
          </a:p>
          <a:p xmlns:a="http://schemas.openxmlformats.org/drawingml/2006/main">
            <a:r>
              <a:t>https://www.nhs.uk/live-well/exercise/physical-activity-guidelines-children-and-young-people/</a:t>
            </a:r>
          </a:p>
          <a:p xmlns:a="http://schemas.openxmlformats.org/drawingml/2006/main">
            <a:r>
              <a:t>Checked September 2026. Accessible activity supports health; no compulsory exercise or pupil fitness assessment.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Noncommunicable diseases</a:t>
            </a:r>
          </a:p>
          <a:p xmlns:a="http://schemas.openxmlformats.org/drawingml/2006/main">
            <a:r>
              <a:t>https://www.who.int/news-room/fact-sheets/detail/noncommunicable-diseases</a:t>
            </a:r>
          </a:p>
          <a:p xmlns:a="http://schemas.openxmlformats.org/drawingml/2006/main">
            <a:r>
              <a:t>Checked September 2026. Tobacco smoke, alcohol and other influences affect disease risk, not individual certainty or blame.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Medicines A to Z</a:t>
            </a:r>
          </a:p>
          <a:p xmlns:a="http://schemas.openxmlformats.org/drawingml/2006/main">
            <a:r>
              <a:t>https://www.nhs.uk/medicines/</a:t>
            </a:r>
          </a:p>
          <a:p xmlns:a="http://schemas.openxmlformats.org/drawingml/2006/main">
            <a:r>
              <a:t>Checked September 2026. Medicine information includes purpose, correct use and side effects. This lesson gives no medicine changes or dosage advice.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Sleep and tiredness</a:t>
            </a:r>
          </a:p>
          <a:p xmlns:a="http://schemas.openxmlformats.org/drawingml/2006/main">
            <a:r>
              <a:t>https://www.nhs.uk/live-well/sleep-and-tiredness/</a:t>
            </a:r>
          </a:p>
          <a:p xmlns:a="http://schemas.openxmlformats.org/drawingml/2006/main">
            <a:r>
              <a:t>Checked September 2026. Sleep supports functioning; fictional routine design, no personal sleep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time. No calorie targets, body measurements or weight goals. Replace guarantees with bounded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NHS: The Eatwell Guide</a:t>
            </a:r>
          </a:p>
          <a:p xmlns:a="http://schemas.openxmlformats.org/drawingml/2006/main">
            <a:r>
              <a:t>https://www.nhs.uk/live-well/eat-well/food-guidelines-and-food-labels/the-eatwell-guide/</a:t>
            </a:r>
          </a:p>
          <a:p xmlns:a="http://schemas.openxmlformats.org/drawingml/2006/main">
            <a:r>
              <a:t>Checked September 2026. Varied eating patterns and different food groups; no food scoring, calorie prescription or individual diet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Physical activity for children and young people</a:t>
            </a:r>
          </a:p>
          <a:p xmlns:a="http://schemas.openxmlformats.org/drawingml/2006/main">
            <a:r>
              <a:t>https://www.nhs.uk/live-well/exercise/physical-activity-guidelines-children-and-young-people/</a:t>
            </a:r>
          </a:p>
          <a:p xmlns:a="http://schemas.openxmlformats.org/drawingml/2006/main">
            <a:r>
              <a:t>Checked September 2026. Accessible activity supports health; no compulsory exercise or pupil fitness assessment.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Noncommunicable diseases</a:t>
            </a:r>
          </a:p>
          <a:p xmlns:a="http://schemas.openxmlformats.org/drawingml/2006/main">
            <a:r>
              <a:t>https://www.who.int/news-room/fact-sheets/detail/noncommunicable-diseases</a:t>
            </a:r>
          </a:p>
          <a:p xmlns:a="http://schemas.openxmlformats.org/drawingml/2006/main">
            <a:r>
              <a:t>Checked September 2026. Tobacco smoke, alcohol and other influences affect disease risk, not individual certainty or blame.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Medicines A to Z</a:t>
            </a:r>
          </a:p>
          <a:p xmlns:a="http://schemas.openxmlformats.org/drawingml/2006/main">
            <a:r>
              <a:t>https://www.nhs.uk/medicines/</a:t>
            </a:r>
          </a:p>
          <a:p xmlns:a="http://schemas.openxmlformats.org/drawingml/2006/main">
            <a:r>
              <a:t>Checked September 2026. Medicine information includes purpose, correct use and side effects. This lesson gives no medicine changes or dosage advice.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Sleep and tiredness</a:t>
            </a:r>
          </a:p>
          <a:p xmlns:a="http://schemas.openxmlformats.org/drawingml/2006/main">
            <a:r>
              <a:t>https://www.nhs.uk/live-well/sleep-and-tiredness/</a:t>
            </a:r>
          </a:p>
          <a:p xmlns:a="http://schemas.openxmlformats.org/drawingml/2006/main">
            <a:r>
              <a:t>Checked September 2026. Sleep supports functioning; fictional routine design, no personal sleep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 minutes across Review. Evidence can be spoken privately. Separate a source supporting a broad health relation from proof of an individual outcome.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NHS: The Eatwell Guide</a:t>
            </a:r>
          </a:p>
          <a:p xmlns:a="http://schemas.openxmlformats.org/drawingml/2006/main">
            <a:r>
              <a:t>https://www.nhs.uk/live-well/eat-well/food-guidelines-and-food-labels/the-eatwell-guide/</a:t>
            </a:r>
          </a:p>
          <a:p xmlns:a="http://schemas.openxmlformats.org/drawingml/2006/main">
            <a:r>
              <a:t>Checked September 2026. Varied eating patterns and different food groups; no food scoring, calorie prescription or individual diet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Physical activity for children and young people</a:t>
            </a:r>
          </a:p>
          <a:p xmlns:a="http://schemas.openxmlformats.org/drawingml/2006/main">
            <a:r>
              <a:t>https://www.nhs.uk/live-well/exercise/physical-activity-guidelines-children-and-young-people/</a:t>
            </a:r>
          </a:p>
          <a:p xmlns:a="http://schemas.openxmlformats.org/drawingml/2006/main">
            <a:r>
              <a:t>Checked September 2026. Accessible activity supports health; no compulsory exercise or pupil fitness assessment.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Noncommunicable diseases</a:t>
            </a:r>
          </a:p>
          <a:p xmlns:a="http://schemas.openxmlformats.org/drawingml/2006/main">
            <a:r>
              <a:t>https://www.who.int/news-room/fact-sheets/detail/noncommunicable-diseases</a:t>
            </a:r>
          </a:p>
          <a:p xmlns:a="http://schemas.openxmlformats.org/drawingml/2006/main">
            <a:r>
              <a:t>Checked September 2026. Tobacco smoke, alcohol and other influences affect disease risk, not individual certainty or blame.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Medicines A to Z</a:t>
            </a:r>
          </a:p>
          <a:p xmlns:a="http://schemas.openxmlformats.org/drawingml/2006/main">
            <a:r>
              <a:t>https://www.nhs.uk/medicines/</a:t>
            </a:r>
          </a:p>
          <a:p xmlns:a="http://schemas.openxmlformats.org/drawingml/2006/main">
            <a:r>
              <a:t>Checked September 2026. Medicine information includes purpose, correct use and side effects. This lesson gives no medicine changes or dosage advice.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Sleep and tiredness</a:t>
            </a:r>
          </a:p>
          <a:p xmlns:a="http://schemas.openxmlformats.org/drawingml/2006/main">
            <a:r>
              <a:t>https://www.nhs.uk/live-well/sleep-and-tiredness/</a:t>
            </a:r>
          </a:p>
          <a:p xmlns:a="http://schemas.openxmlformats.org/drawingml/2006/main">
            <a:r>
              <a:t>Checked September 2026. Sleep supports functioning; fictional routine design, no personal sleep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Lundy: teacher adopts a justified accessible option and explains how pupils’ input changed the plan. No vote about whose body or lifestyle is better.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NHS: The Eatwell Guide</a:t>
            </a:r>
          </a:p>
          <a:p xmlns:a="http://schemas.openxmlformats.org/drawingml/2006/main">
            <a:r>
              <a:t>https://www.nhs.uk/live-well/eat-well/food-guidelines-and-food-labels/the-eatwell-guide/</a:t>
            </a:r>
          </a:p>
          <a:p xmlns:a="http://schemas.openxmlformats.org/drawingml/2006/main">
            <a:r>
              <a:t>Checked September 2026. Varied eating patterns and different food groups; no food scoring, calorie prescription or individual diet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Physical activity for children and young people</a:t>
            </a:r>
          </a:p>
          <a:p xmlns:a="http://schemas.openxmlformats.org/drawingml/2006/main">
            <a:r>
              <a:t>https://www.nhs.uk/live-well/exercise/physical-activity-guidelines-children-and-young-people/</a:t>
            </a:r>
          </a:p>
          <a:p xmlns:a="http://schemas.openxmlformats.org/drawingml/2006/main">
            <a:r>
              <a:t>Checked September 2026. Accessible activity supports health; no compulsory exercise or pupil fitness assessment.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Noncommunicable diseases</a:t>
            </a:r>
          </a:p>
          <a:p xmlns:a="http://schemas.openxmlformats.org/drawingml/2006/main">
            <a:r>
              <a:t>https://www.who.int/news-room/fact-sheets/detail/noncommunicable-diseases</a:t>
            </a:r>
          </a:p>
          <a:p xmlns:a="http://schemas.openxmlformats.org/drawingml/2006/main">
            <a:r>
              <a:t>Checked September 2026. Tobacco smoke, alcohol and other influences affect disease risk, not individual certainty or blame.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Medicines A to Z</a:t>
            </a:r>
          </a:p>
          <a:p xmlns:a="http://schemas.openxmlformats.org/drawingml/2006/main">
            <a:r>
              <a:t>https://www.nhs.uk/medicines/</a:t>
            </a:r>
          </a:p>
          <a:p xmlns:a="http://schemas.openxmlformats.org/drawingml/2006/main">
            <a:r>
              <a:t>Checked September 2026. Medicine information includes purpose, correct use and side effects. This lesson gives no medicine changes or dosage advice.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Sleep and tiredness</a:t>
            </a:r>
          </a:p>
          <a:p xmlns:a="http://schemas.openxmlformats.org/drawingml/2006/main">
            <a:r>
              <a:t>https://www.nhs.uk/live-well/sleep-and-tiredness/</a:t>
            </a:r>
          </a:p>
          <a:p xmlns:a="http://schemas.openxmlformats.org/drawingml/2006/main">
            <a:r>
              <a:t>Checked September 2026. Sleep supports functioning; fictional routine design, no personal sleep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Diet supplies different nutrients; activity can support heart/muscles/bones or increase oxygen delivery during movement; take medicines as directed and ask professional about concerns. E4 on page: can support does not guarantee.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NHS: The Eatwell Guide</a:t>
            </a:r>
          </a:p>
          <a:p xmlns:a="http://schemas.openxmlformats.org/drawingml/2006/main">
            <a:r>
              <a:t>https://www.nhs.uk/live-well/eat-well/food-guidelines-and-food-labels/the-eatwell-guide/</a:t>
            </a:r>
          </a:p>
          <a:p xmlns:a="http://schemas.openxmlformats.org/drawingml/2006/main">
            <a:r>
              <a:t>Checked September 2026. Varied eating patterns and different food groups; no food scoring, calorie prescription or individual diet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Physical activity for children and young people</a:t>
            </a:r>
          </a:p>
          <a:p xmlns:a="http://schemas.openxmlformats.org/drawingml/2006/main">
            <a:r>
              <a:t>https://www.nhs.uk/live-well/exercise/physical-activity-guidelines-children-and-young-people/</a:t>
            </a:r>
          </a:p>
          <a:p xmlns:a="http://schemas.openxmlformats.org/drawingml/2006/main">
            <a:r>
              <a:t>Checked September 2026. Accessible activity supports health; no compulsory exercise or pupil fitness assessment.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Noncommunicable diseases</a:t>
            </a:r>
          </a:p>
          <a:p xmlns:a="http://schemas.openxmlformats.org/drawingml/2006/main">
            <a:r>
              <a:t>https://www.who.int/news-room/fact-sheets/detail/noncommunicable-diseases</a:t>
            </a:r>
          </a:p>
          <a:p xmlns:a="http://schemas.openxmlformats.org/drawingml/2006/main">
            <a:r>
              <a:t>Checked September 2026. Tobacco smoke, alcohol and other influences affect disease risk, not individual certainty or blame.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Medicines A to Z</a:t>
            </a:r>
          </a:p>
          <a:p xmlns:a="http://schemas.openxmlformats.org/drawingml/2006/main">
            <a:r>
              <a:t>https://www.nhs.uk/medicines/</a:t>
            </a:r>
          </a:p>
          <a:p xmlns:a="http://schemas.openxmlformats.org/drawingml/2006/main">
            <a:r>
              <a:t>Checked September 2026. Medicine information includes purpose, correct use and side effects. This lesson gives no medicine changes or dosage advice.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Sleep and tiredness</a:t>
            </a:r>
          </a:p>
          <a:p xmlns:a="http://schemas.openxmlformats.org/drawingml/2006/main">
            <a:r>
              <a:t>https://www.nhs.uk/live-well/sleep-and-tiredness/</a:t>
            </a:r>
          </a:p>
          <a:p xmlns:a="http://schemas.openxmlformats.org/drawingml/2006/main">
            <a:r>
              <a:t>Checked September 2026. Sleep supports functioning; fictional routine design, no personal sleep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23692a9e2d4b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5f270d0a4f4d62" /><Relationship Type="http://schemas.openxmlformats.org/officeDocument/2006/relationships/slideLayout" Target="/ppt/slideLayouts/slideLayout1.xml" Id="R434c7ab870f24a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4c7ab870f24a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c7fc8e99cc4a8b" /><Relationship Type="http://schemas.openxmlformats.org/officeDocument/2006/relationships/notesSlide" Target="/ppt/notesSlides/notesSlide1.xml" Id="Rc900b446604b42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200a4ad894030" /><Relationship Type="http://schemas.openxmlformats.org/officeDocument/2006/relationships/notesSlide" Target="/ppt/notesSlides/notesSlide2.xml" Id="R303f4070c45c48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e09b2b94f44b9" /><Relationship Type="http://schemas.openxmlformats.org/officeDocument/2006/relationships/notesSlide" Target="/ppt/notesSlides/notesSlide3.xml" Id="Rbb656c12533748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beb8d68664c5e" /><Relationship Type="http://schemas.openxmlformats.org/officeDocument/2006/relationships/notesSlide" Target="/ppt/notesSlides/notesSlide4.xml" Id="Rf6be643b97bf43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278e697c04b73" /><Relationship Type="http://schemas.openxmlformats.org/officeDocument/2006/relationships/notesSlide" Target="/ppt/notesSlides/notesSlide5.xml" Id="Red4e0ca61b9642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b5e72822e1434d" /><Relationship Type="http://schemas.openxmlformats.org/officeDocument/2006/relationships/notesSlide" Target="/ppt/notesSlides/notesSlide6.xml" Id="Rd459a604439842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e4632241d742de" /><Relationship Type="http://schemas.openxmlformats.org/officeDocument/2006/relationships/notesSlide" Target="/ppt/notesSlides/notesSlide7.xml" Id="Rb2d89874877f4f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23f95030d64ec2" /><Relationship Type="http://schemas.openxmlformats.org/officeDocument/2006/relationships/notesSlide" Target="/ppt/notesSlides/notesSlide8.xml" Id="Rfe6804a2e1b54b5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2f17af6ac74568" /><Relationship Type="http://schemas.openxmlformats.org/officeDocument/2006/relationships/notesSlide" Target="/ppt/notesSlides/notesSlide9.xml" Id="Rbe43d517a54a449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64be2d0764f2a" /><Relationship Type="http://schemas.openxmlformats.org/officeDocument/2006/relationships/notesSlide" Target="/ppt/notesSlides/notesSlide10.xml" Id="R0c1b96d72fab496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63e7153970463b" /><Relationship Type="http://schemas.openxmlformats.org/officeDocument/2006/relationships/notesSlide" Target="/ppt/notesSlides/notesSlide11.xml" Id="R6b1cba6b795945a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8a36b54a75480f" /><Relationship Type="http://schemas.openxmlformats.org/officeDocument/2006/relationships/notesSlide" Target="/ppt/notesSlides/notesSlide12.xml" Id="Rb56783b91af44e7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8e07dbf6524b5b" /><Relationship Type="http://schemas.openxmlformats.org/officeDocument/2006/relationships/notesSlide" Target="/ppt/notesSlides/notesSlide13.xml" Id="R075de7dd5df446b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d88b22dbcb47bd" /><Relationship Type="http://schemas.openxmlformats.org/officeDocument/2006/relationships/notesSlide" Target="/ppt/notesSlides/notesSlide14.xml" Id="Rbcc65794a17e4c0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ffb4de882e49c5" /><Relationship Type="http://schemas.openxmlformats.org/officeDocument/2006/relationships/notesSlide" Target="/ppt/notesSlides/notesSlide15.xml" Id="R0afd59d38bee4a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FDE7D6D2-A128-4D56-935D-1333044E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38B665B5-2D2C-46E1-8F6B-A98B9C68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C0911E5B-8CA1-46AC-A951-5BF8C022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B73D5866-742E-4326-839C-DBBD0990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Opening">
            <a:extLst xmlns:a="http://schemas.openxmlformats.org/drawingml/2006/main">
              <a:ext uri="{FF2B5EF4-FFF2-40B4-BE49-F238E27FC236}">
                <a16:creationId xmlns:a16="http://schemas.microsoft.com/office/drawing/2014/main" id="{B5246477-0276-4E8B-9B29-5878AAB3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Opening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F73105A3-5E08-41D9-AE0E-5B2391EA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A club asks for scientific advice">
            <a:extLst xmlns:a="http://schemas.openxmlformats.org/drawingml/2006/main">
              <a:ext uri="{FF2B5EF4-FFF2-40B4-BE49-F238E27FC236}">
                <a16:creationId xmlns:a16="http://schemas.microsoft.com/office/drawing/2014/main" id="{6C336422-2027-45A2-9E7E-1EC95551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club asks for scientific advice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3A7F52F2-BBAA-461B-A964-7433FCF7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health evidence advisers">
            <a:extLst xmlns:a="http://schemas.openxmlformats.org/drawingml/2006/main">
              <a:ext uri="{FF2B5EF4-FFF2-40B4-BE49-F238E27FC236}">
                <a16:creationId xmlns:a16="http://schemas.microsoft.com/office/drawing/2014/main" id="{5335CC23-B3D3-4AA3-B890-E1075AA4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health evidence advisers</a:t>
            </a:r>
          </a:p>
        </p:txBody>
      </p:sp>
      <p:sp>
        <p:nvSpPr>
          <p:cNvPr id="10" name="1 / 15">
            <a:extLst xmlns:a="http://schemas.openxmlformats.org/drawingml/2006/main">
              <a:ext uri="{FF2B5EF4-FFF2-40B4-BE49-F238E27FC236}">
                <a16:creationId xmlns:a16="http://schemas.microsoft.com/office/drawing/2014/main" id="{2BF4A4D8-081D-4B4E-9072-02800DBC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 / 15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943A9431-751B-4B8B-B67D-0FD8F4E9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111252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6B1BCF12-69B8-4894-BBC2-4705C34E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66675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13" name="Learning intention">
            <a:extLst xmlns:a="http://schemas.openxmlformats.org/drawingml/2006/main">
              <a:ext uri="{FF2B5EF4-FFF2-40B4-BE49-F238E27FC236}">
                <a16:creationId xmlns:a16="http://schemas.microsoft.com/office/drawing/2014/main" id="{F82DBC9E-E637-4637-BAF8-069618A5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Learning intention</a:t>
            </a:r>
          </a:p>
        </p:txBody>
      </p:sp>
      <p:sp>
        <p:nvSpPr>
          <p:cNvPr id="14" name="Explain how diet, activity, drugs and daily routines can affect ">
            <a:extLst xmlns:a="http://schemas.openxmlformats.org/drawingml/2006/main">
              <a:ext uri="{FF2B5EF4-FFF2-40B4-BE49-F238E27FC236}">
                <a16:creationId xmlns:a16="http://schemas.microsoft.com/office/drawing/2014/main" id="{C6C05340-B275-4465-891F-039C2F79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Explain how diet, activity, drugs and daily routines can affect the body using 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fictional club plan.</a:t>
            </a:r>
          </a:p>
        </p:txBody>
      </p:sp>
      <p:sp>
        <p:nvSpPr>
          <p:cNvPr id="15" name="A fictional club wants a plan that supports bodies.">
            <a:extLst xmlns:a="http://schemas.openxmlformats.org/drawingml/2006/main">
              <a:ext uri="{FF2B5EF4-FFF2-40B4-BE49-F238E27FC236}">
                <a16:creationId xmlns:a16="http://schemas.microsoft.com/office/drawing/2014/main" id="{E2E0B8BE-7C49-4187-AB6B-B980187F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fictional club wants a plan that supports bodies.</a:t>
            </a:r>
          </a:p>
        </p:txBody>
      </p:sp>
      <p:sp>
        <p:nvSpPr>
          <p:cNvPr id="16" name="Which ideas have evidence and respect different needs?">
            <a:extLst xmlns:a="http://schemas.openxmlformats.org/drawingml/2006/main">
              <a:ext uri="{FF2B5EF4-FFF2-40B4-BE49-F238E27FC236}">
                <a16:creationId xmlns:a16="http://schemas.microsoft.com/office/drawing/2014/main" id="{24B76D27-D8E4-4CFF-87DE-36FDFD73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57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Which ideas have evidence and respect different needs?</a:t>
            </a:r>
          </a:p>
        </p:txBody>
      </p:sp>
    </p:spTree>
    <p:extLst>
      <p:ext uri="{BB962C8B-B14F-4D97-AF65-F5344CB8AC3E}">
        <p14:creationId xmlns:p14="http://schemas.microsoft.com/office/powerpoint/2010/main" val="4343128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124EF83E-BB58-49D3-85B6-F40C5EAC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390554F2-15FE-4F93-B324-4941D55A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B67868CF-3E9E-42DE-9859-32A4F52F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3B1FA7BC-41E7-4F79-A05D-32780ED2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Retrieval">
            <a:extLst xmlns:a="http://schemas.openxmlformats.org/drawingml/2006/main">
              <a:ext uri="{FF2B5EF4-FFF2-40B4-BE49-F238E27FC236}">
                <a16:creationId xmlns:a16="http://schemas.microsoft.com/office/drawing/2014/main" id="{D23BCA75-AB48-4DAF-8C24-FC30DA79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Retrieval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93696834-F15C-4546-B786-BFDA2AC3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Useful substances, useful evidence">
            <a:extLst xmlns:a="http://schemas.openxmlformats.org/drawingml/2006/main">
              <a:ext uri="{FF2B5EF4-FFF2-40B4-BE49-F238E27FC236}">
                <a16:creationId xmlns:a16="http://schemas.microsoft.com/office/drawing/2014/main" id="{B119035E-66C5-40E0-812E-AE2A0E39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Useful substances, useful evidence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DDD01776-D6F9-4DE7-91B0-D211E186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health evidence advisers">
            <a:extLst xmlns:a="http://schemas.openxmlformats.org/drawingml/2006/main">
              <a:ext uri="{FF2B5EF4-FFF2-40B4-BE49-F238E27FC236}">
                <a16:creationId xmlns:a16="http://schemas.microsoft.com/office/drawing/2014/main" id="{A6B783E4-5831-47B6-B4CB-7B66A57D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health evidence advisers</a:t>
            </a:r>
          </a:p>
        </p:txBody>
      </p:sp>
      <p:sp>
        <p:nvSpPr>
          <p:cNvPr id="10" name="2 / 15">
            <a:extLst xmlns:a="http://schemas.openxmlformats.org/drawingml/2006/main">
              <a:ext uri="{FF2B5EF4-FFF2-40B4-BE49-F238E27FC236}">
                <a16:creationId xmlns:a16="http://schemas.microsoft.com/office/drawing/2014/main" id="{B7CC65F6-61A3-4039-9D70-166B1008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2 / 15</a:t>
            </a:r>
          </a:p>
        </p:txBody>
      </p:sp>
      <p:sp>
        <p:nvSpPr>
          <p:cNvPr id="11" name="R1. What carries oxygen around the body?">
            <a:extLst xmlns:a="http://schemas.openxmlformats.org/drawingml/2006/main">
              <a:ext uri="{FF2B5EF4-FFF2-40B4-BE49-F238E27FC236}">
                <a16:creationId xmlns:a16="http://schemas.microsoft.com/office/drawing/2014/main" id="{F7B3EFA2-3888-468D-A4E7-C0BB5DB3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R1. What carries oxygen around the body?</a:t>
            </a:r>
          </a:p>
        </p:txBody>
      </p:sp>
      <p:sp>
        <p:nvSpPr>
          <p:cNvPr id="12" name="R2. Name a nutrient or food substance the body uses.">
            <a:extLst xmlns:a="http://schemas.openxmlformats.org/drawingml/2006/main">
              <a:ext uri="{FF2B5EF4-FFF2-40B4-BE49-F238E27FC236}">
                <a16:creationId xmlns:a16="http://schemas.microsoft.com/office/drawing/2014/main" id="{66ADAE86-B836-4E89-836A-FBA6D982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R2. Name a nutrient or food substance the body uses.</a:t>
            </a:r>
          </a:p>
        </p:txBody>
      </p:sp>
      <p:sp>
        <p:nvSpPr>
          <p:cNvPr id="13" name="R3. Does “can help” mean “always guarantees”?">
            <a:extLst xmlns:a="http://schemas.openxmlformats.org/drawingml/2006/main">
              <a:ext uri="{FF2B5EF4-FFF2-40B4-BE49-F238E27FC236}">
                <a16:creationId xmlns:a16="http://schemas.microsoft.com/office/drawing/2014/main" id="{419E3301-CEAE-4855-BDF3-9DF1E323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R3. Does “can help” mean “always guarantees”?</a:t>
            </a:r>
          </a:p>
        </p:txBody>
      </p:sp>
    </p:spTree>
    <p:extLst>
      <p:ext uri="{BB962C8B-B14F-4D97-AF65-F5344CB8AC3E}">
        <p14:creationId xmlns:p14="http://schemas.microsoft.com/office/powerpoint/2010/main" val="11495430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8BEB00D6-2152-4D8A-974F-E97345F8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66965127-4785-4EFB-B84D-3FCAF406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B042AB2E-BA3F-4B96-8D43-DCE41DC1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C6C90629-9633-4547-839F-DEC29253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7A6E5A26-5F8B-43EF-A242-9B73FAC4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8 min">
            <a:extLst xmlns:a="http://schemas.openxmlformats.org/drawingml/2006/main">
              <a:ext uri="{FF2B5EF4-FFF2-40B4-BE49-F238E27FC236}">
                <a16:creationId xmlns:a16="http://schemas.microsoft.com/office/drawing/2014/main" id="{F8F18851-9AEF-4E4D-B150-F6C2DC22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8 min</a:t>
            </a:r>
          </a:p>
        </p:txBody>
      </p:sp>
      <p:sp>
        <p:nvSpPr>
          <p:cNvPr id="7" name="I connect a factor to a body effect">
            <a:extLst xmlns:a="http://schemas.openxmlformats.org/drawingml/2006/main">
              <a:ext uri="{FF2B5EF4-FFF2-40B4-BE49-F238E27FC236}">
                <a16:creationId xmlns:a16="http://schemas.microsoft.com/office/drawing/2014/main" id="{E7C76507-36B6-4A2F-B5A9-0D613ED0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connect a factor to a body effect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877DD452-1637-4412-91CA-EE1757CC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health evidence advisers">
            <a:extLst xmlns:a="http://schemas.openxmlformats.org/drawingml/2006/main">
              <a:ext uri="{FF2B5EF4-FFF2-40B4-BE49-F238E27FC236}">
                <a16:creationId xmlns:a16="http://schemas.microsoft.com/office/drawing/2014/main" id="{BFC890EC-FDB2-42C7-9948-8B93D166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health evidence advisers</a:t>
            </a:r>
          </a:p>
        </p:txBody>
      </p:sp>
      <p:sp>
        <p:nvSpPr>
          <p:cNvPr id="10" name="3 / 15">
            <a:extLst xmlns:a="http://schemas.openxmlformats.org/drawingml/2006/main">
              <a:ext uri="{FF2B5EF4-FFF2-40B4-BE49-F238E27FC236}">
                <a16:creationId xmlns:a16="http://schemas.microsoft.com/office/drawing/2014/main" id="{D5F9514F-7599-4515-B865-2C635FC6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3 / 15</a:t>
            </a:r>
          </a:p>
        </p:txBody>
      </p:sp>
      <p:sp>
        <p:nvSpPr>
          <p:cNvPr id="11" name="Diagram label: Food patterns supply different needs">
            <a:extLst xmlns:a="http://schemas.openxmlformats.org/drawingml/2006/main">
              <a:ext uri="{FF2B5EF4-FFF2-40B4-BE49-F238E27FC236}">
                <a16:creationId xmlns:a16="http://schemas.microsoft.com/office/drawing/2014/main" id="{BBB26F14-17ED-484E-8686-7F99AF13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468" y="2023042"/>
            <a:ext cx="6447064" cy="350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6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Food patterns supply different needs</a:t>
            </a:r>
          </a:p>
        </p:txBody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44E86087-3F3D-4C40-BEED-CDD4EBC9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2621" y="3179309"/>
            <a:ext cx="1915432" cy="910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3" name="Diagram label: Starchy foods&#10;provide carbohydrate">
            <a:extLst xmlns:a="http://schemas.openxmlformats.org/drawingml/2006/main">
              <a:ext uri="{FF2B5EF4-FFF2-40B4-BE49-F238E27FC236}">
                <a16:creationId xmlns:a16="http://schemas.microsoft.com/office/drawing/2014/main" id="{09D2EAC1-410F-4CB8-90DC-682825EE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8683" y="3319463"/>
            <a:ext cx="1803309" cy="630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Starchy foods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provide carbohydrate</a:t>
            </a:r>
          </a:p>
        </p:txBody>
      </p:sp>
      <p:sp>
        <p:nvSpPr>
          <p:cNvPr id="1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A2EFED9A-24AD-4AC5-8156-205A483E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284" y="3179309"/>
            <a:ext cx="1915432" cy="910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5" name="Diagram label: Protein foods&#10;supply amino acids">
            <a:extLst xmlns:a="http://schemas.openxmlformats.org/drawingml/2006/main">
              <a:ext uri="{FF2B5EF4-FFF2-40B4-BE49-F238E27FC236}">
                <a16:creationId xmlns:a16="http://schemas.microsoft.com/office/drawing/2014/main" id="{C4F42105-48FA-443A-8FB4-D012EC4A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4345" y="3319463"/>
            <a:ext cx="1803309" cy="630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Protein foods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supply amino acids</a:t>
            </a:r>
          </a:p>
        </p:txBody>
      </p:sp>
      <p:sp>
        <p:nvSpPr>
          <p:cNvPr id="1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D4350132-1075-48D2-9CF3-7FDB8073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3946" y="3179309"/>
            <a:ext cx="1915432" cy="910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7" name="Diagram label: Fruit / vegetables&#10;provide fibre&#10;and more">
            <a:extLst xmlns:a="http://schemas.openxmlformats.org/drawingml/2006/main">
              <a:ext uri="{FF2B5EF4-FFF2-40B4-BE49-F238E27FC236}">
                <a16:creationId xmlns:a16="http://schemas.microsoft.com/office/drawing/2014/main" id="{07DE0633-A2E6-4842-AA7D-6F2C6E42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0008" y="3242378"/>
            <a:ext cx="1803309" cy="784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Fruit / vegetables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provide fibre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and more</a:t>
            </a:r>
          </a:p>
        </p:txBody>
      </p:sp>
      <p:sp>
        <p:nvSpPr>
          <p:cNvPr id="18" name="Diagram label: Food groups overlap. Variety over time matters;&#10;this is not a list of good and bad people or foods.">
            <a:extLst xmlns:a="http://schemas.openxmlformats.org/drawingml/2006/main">
              <a:ext uri="{FF2B5EF4-FFF2-40B4-BE49-F238E27FC236}">
                <a16:creationId xmlns:a16="http://schemas.microsoft.com/office/drawing/2014/main" id="{7C85CE0C-EEC8-4B37-91F6-4AC806C8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2545" y="4475729"/>
            <a:ext cx="6306911" cy="910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Food groups overlap. Variety over time matters;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this is not a list of good and bad people or foods.</a:t>
            </a:r>
          </a:p>
        </p:txBody>
      </p:sp>
      <p:sp>
        <p:nvSpPr>
          <p:cNvPr id="19" name="I name the factor: overall diet.  I explain the effect: supplyin">
            <a:extLst xmlns:a="http://schemas.openxmlformats.org/drawingml/2006/main">
              <a:ext uri="{FF2B5EF4-FFF2-40B4-BE49-F238E27FC236}">
                <a16:creationId xmlns:a16="http://schemas.microsoft.com/office/drawing/2014/main" id="{6CA57DD2-43A1-4C83-BDBA-B2172261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name the factor: overall diet. I explain the effect: supplying different nutrients. I avoid judging a person from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one meal.</a:t>
            </a:r>
          </a:p>
        </p:txBody>
      </p:sp>
    </p:spTree>
    <p:extLst>
      <p:ext uri="{BB962C8B-B14F-4D97-AF65-F5344CB8AC3E}">
        <p14:creationId xmlns:p14="http://schemas.microsoft.com/office/powerpoint/2010/main" val="9995281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urface">
            <a:extLst xmlns:a="http://schemas.openxmlformats.org/drawingml/2006/main">
              <a:ext uri="{FF2B5EF4-FFF2-40B4-BE49-F238E27FC236}">
                <a16:creationId xmlns:a16="http://schemas.microsoft.com/office/drawing/2014/main" id="{B5D6C90A-5967-4CCC-9B61-851A1BA0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369453B2-16B6-4669-9DBA-51FBBD0A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9780D65E-BF70-4B8A-A8BD-B4E12A56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6484444A-4041-4D84-BFB6-2EC6E3CF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10369C27-C3D9-4CAE-B9F4-51EFBC72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I explain an activity effect">
            <a:extLst xmlns:a="http://schemas.openxmlformats.org/drawingml/2006/main">
              <a:ext uri="{FF2B5EF4-FFF2-40B4-BE49-F238E27FC236}">
                <a16:creationId xmlns:a16="http://schemas.microsoft.com/office/drawing/2014/main" id="{3326CAD2-1DCD-43D2-A924-1DA00D09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explain an activity effect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BF635EBB-9F91-4445-AE76-456F4A6D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health evidence advisers">
            <a:extLst xmlns:a="http://schemas.openxmlformats.org/drawingml/2006/main">
              <a:ext uri="{FF2B5EF4-FFF2-40B4-BE49-F238E27FC236}">
                <a16:creationId xmlns:a16="http://schemas.microsoft.com/office/drawing/2014/main" id="{78A9228A-30AA-41AE-8015-43F60CC3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health evidence advisers</a:t>
            </a:r>
          </a:p>
        </p:txBody>
      </p:sp>
      <p:sp>
        <p:nvSpPr>
          <p:cNvPr id="9" name="4 / 15">
            <a:extLst xmlns:a="http://schemas.openxmlformats.org/drawingml/2006/main">
              <a:ext uri="{FF2B5EF4-FFF2-40B4-BE49-F238E27FC236}">
                <a16:creationId xmlns:a16="http://schemas.microsoft.com/office/drawing/2014/main" id="{97427C60-D503-4BF7-A414-D4B32114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4 / 15</a:t>
            </a:r>
          </a:p>
        </p:txBody>
      </p:sp>
      <p:sp>
        <p:nvSpPr>
          <p:cNvPr id="10" name="Diagram label: During suitable physical activity">
            <a:extLst xmlns:a="http://schemas.openxmlformats.org/drawingml/2006/main">
              <a:ext uri="{FF2B5EF4-FFF2-40B4-BE49-F238E27FC236}">
                <a16:creationId xmlns:a16="http://schemas.microsoft.com/office/drawing/2014/main" id="{9E0E987F-D929-4349-93C0-5C6170CB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468" y="2023042"/>
            <a:ext cx="6447064" cy="350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6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During suitable physical activity</a:t>
            </a:r>
          </a:p>
        </p:txBody>
      </p:sp>
      <p:sp>
        <p:nvSpPr>
          <p:cNvPr id="1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5D0383E9-C8E1-46F7-9973-A064D038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2621" y="3179309"/>
            <a:ext cx="1915432" cy="910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2" name="Diagram label: Working muscles&#10;need more energy">
            <a:extLst xmlns:a="http://schemas.openxmlformats.org/drawingml/2006/main">
              <a:ext uri="{FF2B5EF4-FFF2-40B4-BE49-F238E27FC236}">
                <a16:creationId xmlns:a16="http://schemas.microsoft.com/office/drawing/2014/main" id="{813E1D32-95AE-4E9C-AD19-733DC778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8683" y="3319463"/>
            <a:ext cx="1803309" cy="630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Working muscles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need more energy</a:t>
            </a:r>
          </a:p>
        </p:txBody>
      </p:sp>
      <p:sp>
        <p:nvSpPr>
          <p:cNvPr id="1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35ABF211-6713-4A55-8C95-18D2D7A6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28054" y="3634808"/>
            <a:ext cx="136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1F2937"/>
            </a:solidFill>
          </a:ln>
        </p:spPr>
      </p:sp>
      <p:sp>
        <p:nvSpPr>
          <p:cNvPr id="14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B1C98849-A918-4548-92AB-E2D698A6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040176" y="3585754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15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1CDD44F3-E00D-412C-9F48-F2F3E980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284" y="3179309"/>
            <a:ext cx="1915432" cy="910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6" name="Diagram label: Heart and breathing&#10;usually speed up">
            <a:extLst xmlns:a="http://schemas.openxmlformats.org/drawingml/2006/main">
              <a:ext uri="{FF2B5EF4-FFF2-40B4-BE49-F238E27FC236}">
                <a16:creationId xmlns:a16="http://schemas.microsoft.com/office/drawing/2014/main" id="{17A9AA7D-A8B9-45CA-A386-201A2D70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4345" y="3319463"/>
            <a:ext cx="1803309" cy="630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Heart and breathing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usually speed up</a:t>
            </a:r>
          </a:p>
        </p:txBody>
      </p:sp>
      <p:sp>
        <p:nvSpPr>
          <p:cNvPr id="17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13E2286C-02EE-423F-AC72-79359E78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53716" y="3634808"/>
            <a:ext cx="136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1F2937"/>
            </a:solidFill>
          </a:ln>
        </p:spPr>
      </p:sp>
      <p:sp>
        <p:nvSpPr>
          <p:cNvPr id="18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C6894415-19B6-46EE-A1F4-924CE60A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165839" y="3585754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19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14BD21F9-D8BF-4BA0-A339-5CF37D5C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3946" y="3179309"/>
            <a:ext cx="1915432" cy="910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20" name="Diagram label: More oxygen&#10;reaches muscles">
            <a:extLst xmlns:a="http://schemas.openxmlformats.org/drawingml/2006/main">
              <a:ext uri="{FF2B5EF4-FFF2-40B4-BE49-F238E27FC236}">
                <a16:creationId xmlns:a16="http://schemas.microsoft.com/office/drawing/2014/main" id="{EB3C723E-48EA-449C-B5F5-065D79EF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0008" y="3319463"/>
            <a:ext cx="1803309" cy="630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More oxygen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reaches muscles</a:t>
            </a:r>
          </a:p>
        </p:txBody>
      </p:sp>
      <p:sp>
        <p:nvSpPr>
          <p:cNvPr id="21" name="Diagram label: Activity can be adapted. Our lesson tests claims&#10;on paper; nobody must exercise for evidence.">
            <a:extLst xmlns:a="http://schemas.openxmlformats.org/drawingml/2006/main">
              <a:ext uri="{FF2B5EF4-FFF2-40B4-BE49-F238E27FC236}">
                <a16:creationId xmlns:a16="http://schemas.microsoft.com/office/drawing/2014/main" id="{74672284-9FB5-4151-AD13-BB805BE9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2545" y="4475729"/>
            <a:ext cx="6306911" cy="910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Activity can be adapted. Our lesson tests claims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on paper; nobody must exercise for evidence.</a:t>
            </a:r>
          </a:p>
        </p:txBody>
      </p:sp>
      <p:sp>
        <p:nvSpPr>
          <p:cNvPr id="22" name="During suitable activity, muscles usually need more oxygen.  Hea">
            <a:extLst xmlns:a="http://schemas.openxmlformats.org/drawingml/2006/main">
              <a:ext uri="{FF2B5EF4-FFF2-40B4-BE49-F238E27FC236}">
                <a16:creationId xmlns:a16="http://schemas.microsoft.com/office/drawing/2014/main" id="{F36813D8-1AF6-4143-B733-FAC2C28A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During suitable activity, muscles usually need more oxygen. Heart and breathing can speed up. Regular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suitable activity can support health.</a:t>
            </a:r>
          </a:p>
        </p:txBody>
      </p:sp>
    </p:spTree>
    <p:extLst>
      <p:ext uri="{BB962C8B-B14F-4D97-AF65-F5344CB8AC3E}">
        <p14:creationId xmlns:p14="http://schemas.microsoft.com/office/powerpoint/2010/main" val="11677776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urface">
            <a:extLst xmlns:a="http://schemas.openxmlformats.org/drawingml/2006/main">
              <a:ext uri="{FF2B5EF4-FFF2-40B4-BE49-F238E27FC236}">
                <a16:creationId xmlns:a16="http://schemas.microsoft.com/office/drawing/2014/main" id="{1226A0D3-16CD-421C-A3D1-FD2F8FA6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F7EC8AD1-D267-486F-A430-664DEAEB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3A0BC8C1-2B79-4C3A-8E8B-29F68F01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BB1B1438-E43A-4642-BF4B-2E9CC129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F8F7DE46-77B7-4F2D-8300-8BE2837A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I treat drug claims carefully">
            <a:extLst xmlns:a="http://schemas.openxmlformats.org/drawingml/2006/main">
              <a:ext uri="{FF2B5EF4-FFF2-40B4-BE49-F238E27FC236}">
                <a16:creationId xmlns:a16="http://schemas.microsoft.com/office/drawing/2014/main" id="{A026B3F3-7A20-4E99-93B9-7B31CE43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treat drug claims carefully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91E0C357-EB8E-4378-ADB0-0DA687B8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health evidence advisers">
            <a:extLst xmlns:a="http://schemas.openxmlformats.org/drawingml/2006/main">
              <a:ext uri="{FF2B5EF4-FFF2-40B4-BE49-F238E27FC236}">
                <a16:creationId xmlns:a16="http://schemas.microsoft.com/office/drawing/2014/main" id="{B0E3DA2F-1FD8-44FA-8E53-1289F4AD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health evidence advisers</a:t>
            </a:r>
          </a:p>
        </p:txBody>
      </p:sp>
      <p:sp>
        <p:nvSpPr>
          <p:cNvPr id="9" name="5 / 15">
            <a:extLst xmlns:a="http://schemas.openxmlformats.org/drawingml/2006/main">
              <a:ext uri="{FF2B5EF4-FFF2-40B4-BE49-F238E27FC236}">
                <a16:creationId xmlns:a16="http://schemas.microsoft.com/office/drawing/2014/main" id="{9E61675E-50B3-4CA2-884C-E7156157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5 / 15</a:t>
            </a:r>
          </a:p>
        </p:txBody>
      </p:sp>
      <p:sp>
        <p:nvSpPr>
          <p:cNvPr id="10" name="Diagram label: One substance can have more than one effect">
            <a:extLst xmlns:a="http://schemas.openxmlformats.org/drawingml/2006/main">
              <a:ext uri="{FF2B5EF4-FFF2-40B4-BE49-F238E27FC236}">
                <a16:creationId xmlns:a16="http://schemas.microsoft.com/office/drawing/2014/main" id="{C7985BD6-A701-4FC4-B494-160BFD51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468" y="2023042"/>
            <a:ext cx="6447064" cy="42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11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11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One substance can have more than one effect</a:t>
            </a:r>
          </a:p>
        </p:txBody>
      </p:sp>
      <p:sp>
        <p:nvSpPr>
          <p:cNvPr id="1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6A8FA48D-00CA-42B4-80AB-270F52CA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2621" y="2899002"/>
            <a:ext cx="1892073" cy="12613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515EA69C-B364-4BC1-A94D-E0A15D8F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9963" y="2899002"/>
            <a:ext cx="1892073" cy="12613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5E40C1C2-5AEF-40A3-B418-E5EF56B5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305" y="2899002"/>
            <a:ext cx="1892073" cy="12613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4" name="Diagram label: Intended benefit&#10;May treat or prevent&#10;a condition">
            <a:extLst xmlns:a="http://schemas.openxmlformats.org/drawingml/2006/main">
              <a:ext uri="{FF2B5EF4-FFF2-40B4-BE49-F238E27FC236}">
                <a16:creationId xmlns:a16="http://schemas.microsoft.com/office/drawing/2014/main" id="{59764597-6D3E-44E9-A5D2-F9C5F816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737" y="3074194"/>
            <a:ext cx="1681843" cy="875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Intended benefit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May treat or prevent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condition</a:t>
            </a:r>
          </a:p>
        </p:txBody>
      </p:sp>
      <p:sp>
        <p:nvSpPr>
          <p:cNvPr id="15" name="Diagram label: Directions matter&#10;Right person, dose&#10;and timing">
            <a:extLst xmlns:a="http://schemas.openxmlformats.org/drawingml/2006/main">
              <a:ext uri="{FF2B5EF4-FFF2-40B4-BE49-F238E27FC236}">
                <a16:creationId xmlns:a16="http://schemas.microsoft.com/office/drawing/2014/main" id="{BD1A44B2-2888-41FC-A097-1A8381EB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079" y="3074194"/>
            <a:ext cx="1681843" cy="875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Directions matter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Right person, dose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and timing</a:t>
            </a:r>
          </a:p>
        </p:txBody>
      </p:sp>
      <p:sp>
        <p:nvSpPr>
          <p:cNvPr id="16" name="Diagram label: Other effects&#10;Side effects can&#10;also occur">
            <a:extLst xmlns:a="http://schemas.openxmlformats.org/drawingml/2006/main">
              <a:ext uri="{FF2B5EF4-FFF2-40B4-BE49-F238E27FC236}">
                <a16:creationId xmlns:a16="http://schemas.microsoft.com/office/drawing/2014/main" id="{8B0EBC7D-F3E6-422D-BB1F-E288B4C5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2421" y="3074194"/>
            <a:ext cx="1681843" cy="875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Other effects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Side effects can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also occur</a:t>
            </a:r>
          </a:p>
        </p:txBody>
      </p:sp>
      <p:sp>
        <p:nvSpPr>
          <p:cNvPr id="17" name="Diagram label: Use prescribed medicines as directed.&#10;Ask a pharmacist or prescriber about questions.">
            <a:extLst xmlns:a="http://schemas.openxmlformats.org/drawingml/2006/main">
              <a:ext uri="{FF2B5EF4-FFF2-40B4-BE49-F238E27FC236}">
                <a16:creationId xmlns:a16="http://schemas.microsoft.com/office/drawing/2014/main" id="{FA233647-8C12-42FC-A8AB-BD73E2B5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2621" y="4580845"/>
            <a:ext cx="6166757" cy="770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prescribed medicines as directed.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Ask a pharmacist or prescriber about questions.</a:t>
            </a:r>
          </a:p>
        </p:txBody>
      </p:sp>
      <p:sp>
        <p:nvSpPr>
          <p:cNvPr id="18" name="Medicines change how the body works.  Helpful effects and side e">
            <a:extLst xmlns:a="http://schemas.openxmlformats.org/drawingml/2006/main">
              <a:ext uri="{FF2B5EF4-FFF2-40B4-BE49-F238E27FC236}">
                <a16:creationId xmlns:a16="http://schemas.microsoft.com/office/drawing/2014/main" id="{1D0A9D4C-8381-4DEC-9011-E4F1A30E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Medicines change how the body works. Helpful effects and side effects can both occur. Scientific advice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respects proper directions.</a:t>
            </a:r>
          </a:p>
        </p:txBody>
      </p:sp>
    </p:spTree>
    <p:extLst>
      <p:ext uri="{BB962C8B-B14F-4D97-AF65-F5344CB8AC3E}">
        <p14:creationId xmlns:p14="http://schemas.microsoft.com/office/powerpoint/2010/main" val="4260738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F95F439C-5F85-4B4A-B71F-1FFCF405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F6398C3A-6E65-430A-B99A-8F615EE0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D7195461-C5AE-41E9-8533-CF20C627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33EF9A55-D8FF-4065-BF6D-5174C3BB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AF11EA18-9516-4A62-AE6D-16719375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8 min">
            <a:extLst xmlns:a="http://schemas.openxmlformats.org/drawingml/2006/main">
              <a:ext uri="{FF2B5EF4-FFF2-40B4-BE49-F238E27FC236}">
                <a16:creationId xmlns:a16="http://schemas.microsoft.com/office/drawing/2014/main" id="{ABC8D6FB-3CA7-41DC-AE77-A19BDBF3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8 min</a:t>
            </a:r>
          </a:p>
        </p:txBody>
      </p:sp>
      <p:sp>
        <p:nvSpPr>
          <p:cNvPr id="7" name="The adviser board">
            <a:extLst xmlns:a="http://schemas.openxmlformats.org/drawingml/2006/main">
              <a:ext uri="{FF2B5EF4-FFF2-40B4-BE49-F238E27FC236}">
                <a16:creationId xmlns:a16="http://schemas.microsoft.com/office/drawing/2014/main" id="{69A16647-9642-4D2C-BC50-E06560D1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adviser board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AFBBE211-AB3D-47DA-A22D-0B8A8AA9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health evidence advisers">
            <a:extLst xmlns:a="http://schemas.openxmlformats.org/drawingml/2006/main">
              <a:ext uri="{FF2B5EF4-FFF2-40B4-BE49-F238E27FC236}">
                <a16:creationId xmlns:a16="http://schemas.microsoft.com/office/drawing/2014/main" id="{4E12AD93-2DDF-414C-B6FF-9F2AB8C8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health evidence advisers</a:t>
            </a:r>
          </a:p>
        </p:txBody>
      </p:sp>
      <p:sp>
        <p:nvSpPr>
          <p:cNvPr id="10" name="6 / 15">
            <a:extLst xmlns:a="http://schemas.openxmlformats.org/drawingml/2006/main">
              <a:ext uri="{FF2B5EF4-FFF2-40B4-BE49-F238E27FC236}">
                <a16:creationId xmlns:a16="http://schemas.microsoft.com/office/drawing/2014/main" id="{E4F4C9EB-E93A-4F9B-BE4D-680608EE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6 / 15</a:t>
            </a:r>
          </a:p>
        </p:txBody>
      </p:sp>
      <p:sp>
        <p:nvSpPr>
          <p:cNvPr id="11" name="Use source cards A–F and proposals P–S. W1. Keep, adapt or rejec">
            <a:extLst xmlns:a="http://schemas.openxmlformats.org/drawingml/2006/main">
              <a:ext uri="{FF2B5EF4-FFF2-40B4-BE49-F238E27FC236}">
                <a16:creationId xmlns:a16="http://schemas.microsoft.com/office/drawing/2014/main" id="{6E5FCF59-763A-492B-80BC-8F38957C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95475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source cards A–F and proposals P–S. W1. Keep, adapt or reject each proposal. Give one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evidence-card reason.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533400" y="2581275"/>
          <a:ext xmlns:a="http://schemas.openxmlformats.org/drawingml/2006/main" cx="11125200" cy="3118009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95617"/>
                <a:gridCol w="4854691"/>
                <a:gridCol w="4074892"/>
              </a:tblGrid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Proposal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Fictional plan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Evidence check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Varied food-choice cards; water access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Uses diet evidence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801053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Q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Optional adapted movement; quiet alternative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Uses activity/access evidence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  <a:tr h="801053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Calm wind-down; smoke-free environment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Uses routine and smoke evidence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Stop everyone’s prescribed medicine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An unqualified instruction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Proposals are constructed classroom scenarios, not medical advic">
            <a:extLst xmlns:a="http://schemas.openxmlformats.org/drawingml/2006/main">
              <a:ext uri="{FF2B5EF4-FFF2-40B4-BE49-F238E27FC236}">
                <a16:creationId xmlns:a16="http://schemas.microsoft.com/office/drawing/2014/main" id="{ED3A1AA8-646F-4362-97EF-AF33176C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3584"/>
            <a:ext cx="11125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Proposals are constructed classroom scenarios, not medical advice.</a:t>
            </a:r>
          </a:p>
        </p:txBody>
      </p:sp>
    </p:spTree>
    <p:extLst>
      <p:ext uri="{BB962C8B-B14F-4D97-AF65-F5344CB8AC3E}">
        <p14:creationId xmlns:p14="http://schemas.microsoft.com/office/powerpoint/2010/main" val="2264454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64C592BE-EBED-42AB-A513-0980C904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A0CCD3DA-022A-4B10-95AE-BE4A935B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35A93E0C-75F9-45C8-AA88-035B6997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E8530AEA-9909-4CEB-9889-7D4797CB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9F63470B-98A7-4740-98A6-E73C99D3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Design for access">
            <a:extLst xmlns:a="http://schemas.openxmlformats.org/drawingml/2006/main">
              <a:ext uri="{FF2B5EF4-FFF2-40B4-BE49-F238E27FC236}">
                <a16:creationId xmlns:a16="http://schemas.microsoft.com/office/drawing/2014/main" id="{0C9981AB-27AA-45D1-BD6B-47019B22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Design for access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36F6C093-20FA-417D-A8F1-9B843F0C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health evidence advisers">
            <a:extLst xmlns:a="http://schemas.openxmlformats.org/drawingml/2006/main">
              <a:ext uri="{FF2B5EF4-FFF2-40B4-BE49-F238E27FC236}">
                <a16:creationId xmlns:a16="http://schemas.microsoft.com/office/drawing/2014/main" id="{46C9323B-F0C8-4CB8-8CED-0EC69E47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health evidence advisers</a:t>
            </a:r>
          </a:p>
        </p:txBody>
      </p:sp>
      <p:sp>
        <p:nvSpPr>
          <p:cNvPr id="9" name="7 / 15">
            <a:extLst xmlns:a="http://schemas.openxmlformats.org/drawingml/2006/main">
              <a:ext uri="{FF2B5EF4-FFF2-40B4-BE49-F238E27FC236}">
                <a16:creationId xmlns:a16="http://schemas.microsoft.com/office/drawing/2014/main" id="{AF3594C5-2191-480B-8DE7-D1E34CD4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7 / 15</a:t>
            </a:r>
          </a:p>
        </p:txBody>
      </p:sp>
      <p:sp>
        <p:nvSpPr>
          <p:cNvPr id="10" name="W2. Choose two proposals to combine.">
            <a:extLst xmlns:a="http://schemas.openxmlformats.org/drawingml/2006/main">
              <a:ext uri="{FF2B5EF4-FFF2-40B4-BE49-F238E27FC236}">
                <a16:creationId xmlns:a16="http://schemas.microsoft.com/office/drawing/2014/main" id="{FF1A1038-F515-41D0-A1BD-135925A0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W2. Choose two proposals to combine.</a:t>
            </a:r>
          </a:p>
        </p:txBody>
      </p:sp>
      <p:sp>
        <p:nvSpPr>
          <p:cNvPr id="11" name="Explain a body effect and an access adjustment.">
            <a:extLst xmlns:a="http://schemas.openxmlformats.org/drawingml/2006/main">
              <a:ext uri="{FF2B5EF4-FFF2-40B4-BE49-F238E27FC236}">
                <a16:creationId xmlns:a16="http://schemas.microsoft.com/office/drawing/2014/main" id="{1A607440-991A-49BD-B0A6-BC3D6B92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Explain a body effect and an access adjustment.</a:t>
            </a:r>
          </a:p>
        </p:txBody>
      </p:sp>
      <p:sp>
        <p:nvSpPr>
          <p:cNvPr id="12" name="Food is represented by cards; no tasting.">
            <a:extLst xmlns:a="http://schemas.openxmlformats.org/drawingml/2006/main">
              <a:ext uri="{FF2B5EF4-FFF2-40B4-BE49-F238E27FC236}">
                <a16:creationId xmlns:a16="http://schemas.microsoft.com/office/drawing/2014/main" id="{9F3A8DB7-F545-491F-A02E-5D9F5A83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Food is represented by cards; no tasting.</a:t>
            </a:r>
          </a:p>
        </p:txBody>
      </p:sp>
    </p:spTree>
    <p:extLst>
      <p:ext uri="{BB962C8B-B14F-4D97-AF65-F5344CB8AC3E}">
        <p14:creationId xmlns:p14="http://schemas.microsoft.com/office/powerpoint/2010/main" val="16062061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D69C6E9F-BB7C-4949-BEEF-5D91DB1A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9E72D831-7995-4F03-9CB2-975CD4A1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60BA384D-27B3-49FC-A8BB-0E2DD316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EC3ED85C-B6F7-4474-AB2A-C3ADA5CA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FA88C9C3-0914-4970-9542-E47EB8B9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The exaggerated poster">
            <a:extLst xmlns:a="http://schemas.openxmlformats.org/drawingml/2006/main">
              <a:ext uri="{FF2B5EF4-FFF2-40B4-BE49-F238E27FC236}">
                <a16:creationId xmlns:a16="http://schemas.microsoft.com/office/drawing/2014/main" id="{AC26DD43-B0BE-46C1-A8E5-6EAFFD33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exaggerated poster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271050DA-2487-4D49-A625-A8A73FDB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health evidence advisers">
            <a:extLst xmlns:a="http://schemas.openxmlformats.org/drawingml/2006/main">
              <a:ext uri="{FF2B5EF4-FFF2-40B4-BE49-F238E27FC236}">
                <a16:creationId xmlns:a16="http://schemas.microsoft.com/office/drawing/2014/main" id="{499525CF-292B-4CB2-A061-CE801C49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health evidence advisers</a:t>
            </a:r>
          </a:p>
        </p:txBody>
      </p:sp>
      <p:sp>
        <p:nvSpPr>
          <p:cNvPr id="9" name="8 / 15">
            <a:extLst xmlns:a="http://schemas.openxmlformats.org/drawingml/2006/main">
              <a:ext uri="{FF2B5EF4-FFF2-40B4-BE49-F238E27FC236}">
                <a16:creationId xmlns:a16="http://schemas.microsoft.com/office/drawing/2014/main" id="{F9004675-D3C6-4228-B67C-73A61656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8 / 15</a:t>
            </a:r>
          </a:p>
        </p:txBody>
      </p:sp>
      <p:sp>
        <p:nvSpPr>
          <p:cNvPr id="10" name="Poster: “Our club guarantees nobody will get ill.”">
            <a:extLst xmlns:a="http://schemas.openxmlformats.org/drawingml/2006/main">
              <a:ext uri="{FF2B5EF4-FFF2-40B4-BE49-F238E27FC236}">
                <a16:creationId xmlns:a16="http://schemas.microsoft.com/office/drawing/2014/main" id="{93DF6880-F75E-45A7-8E8B-A3FDC926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Poster: “Our club guarantees nobody will get ill.”</a:t>
            </a:r>
          </a:p>
        </p:txBody>
      </p:sp>
      <p:sp>
        <p:nvSpPr>
          <p:cNvPr id="11" name="W3. Repair it using “can support” and a reason.">
            <a:extLst xmlns:a="http://schemas.openxmlformats.org/drawingml/2006/main">
              <a:ext uri="{FF2B5EF4-FFF2-40B4-BE49-F238E27FC236}">
                <a16:creationId xmlns:a16="http://schemas.microsoft.com/office/drawing/2014/main" id="{FC901FA9-01F3-4B7F-996F-65E095E4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W3. Repair it using “can support” and a reason.</a:t>
            </a:r>
          </a:p>
        </p:txBody>
      </p:sp>
    </p:spTree>
    <p:extLst>
      <p:ext uri="{BB962C8B-B14F-4D97-AF65-F5344CB8AC3E}">
        <p14:creationId xmlns:p14="http://schemas.microsoft.com/office/powerpoint/2010/main" val="15785620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DA83560E-A796-4AC3-834E-B7D7B693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8BF9ADAF-3B2E-4E48-AC95-299DF9E8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A177C7B5-40D7-4673-ACB6-709ED300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EC3634E6-979C-4E25-98BB-5371F6D0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Hinge">
            <a:extLst xmlns:a="http://schemas.openxmlformats.org/drawingml/2006/main">
              <a:ext uri="{FF2B5EF4-FFF2-40B4-BE49-F238E27FC236}">
                <a16:creationId xmlns:a16="http://schemas.microsoft.com/office/drawing/2014/main" id="{BBEF8EE7-28F6-4481-80DE-6E4F99B8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Hinge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C36A5F9C-C480-442C-A8C2-F280B8CD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A medicine has possible side effects">
            <a:extLst xmlns:a="http://schemas.openxmlformats.org/drawingml/2006/main">
              <a:ext uri="{FF2B5EF4-FFF2-40B4-BE49-F238E27FC236}">
                <a16:creationId xmlns:a16="http://schemas.microsoft.com/office/drawing/2014/main" id="{9AA3CFB0-57E7-4896-8D69-69A2614D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medicine has possible side effects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52560ABC-20BB-4962-8592-D79B0B7E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health evidence advisers">
            <a:extLst xmlns:a="http://schemas.openxmlformats.org/drawingml/2006/main">
              <a:ext uri="{FF2B5EF4-FFF2-40B4-BE49-F238E27FC236}">
                <a16:creationId xmlns:a16="http://schemas.microsoft.com/office/drawing/2014/main" id="{2831637E-5DE5-48DA-98DF-339FAD24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health evidence advisers</a:t>
            </a:r>
          </a:p>
        </p:txBody>
      </p:sp>
      <p:sp>
        <p:nvSpPr>
          <p:cNvPr id="10" name="9 / 15">
            <a:extLst xmlns:a="http://schemas.openxmlformats.org/drawingml/2006/main">
              <a:ext uri="{FF2B5EF4-FFF2-40B4-BE49-F238E27FC236}">
                <a16:creationId xmlns:a16="http://schemas.microsoft.com/office/drawing/2014/main" id="{EA007F41-AEF3-4293-A258-2BFAD6C4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9 / 15</a:t>
            </a:r>
          </a:p>
        </p:txBody>
      </p:sp>
      <p:sp>
        <p:nvSpPr>
          <p:cNvPr id="11" name="Which statement is scientifically responsible?">
            <a:extLst xmlns:a="http://schemas.openxmlformats.org/drawingml/2006/main">
              <a:ext uri="{FF2B5EF4-FFF2-40B4-BE49-F238E27FC236}">
                <a16:creationId xmlns:a16="http://schemas.microsoft.com/office/drawing/2014/main" id="{C48D426E-44A6-413E-B93D-AE164435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Which statement is scientifically responsible?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F3E0EE82-2D53-426D-ADD3-9D9269DD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1C200CF4-3F0D-43D0-A304-872A7DEF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4" name="A">
            <a:extLst xmlns:a="http://schemas.openxmlformats.org/drawingml/2006/main">
              <a:ext uri="{FF2B5EF4-FFF2-40B4-BE49-F238E27FC236}">
                <a16:creationId xmlns:a16="http://schemas.microsoft.com/office/drawing/2014/main" id="{6384E2F2-51AB-4B55-B575-C546E191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955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A</a:t>
            </a:r>
          </a:p>
        </p:txBody>
      </p:sp>
      <p:sp>
        <p:nvSpPr>
          <p:cNvPr id="15" name="Everyone should stop taking it.">
            <a:extLst xmlns:a="http://schemas.openxmlformats.org/drawingml/2006/main">
              <a:ext uri="{FF2B5EF4-FFF2-40B4-BE49-F238E27FC236}">
                <a16:creationId xmlns:a16="http://schemas.microsoft.com/office/drawing/2014/main" id="{414F981C-0095-4F4C-B791-9252F523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955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Everyone should stop taking it.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E8889083-0396-451E-8E44-8CDA98A2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41D67AEC-0166-4C37-A277-E30AEF49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8" name="B">
            <a:extLst xmlns:a="http://schemas.openxmlformats.org/drawingml/2006/main">
              <a:ext uri="{FF2B5EF4-FFF2-40B4-BE49-F238E27FC236}">
                <a16:creationId xmlns:a16="http://schemas.microsoft.com/office/drawing/2014/main" id="{BD179C1F-FC71-4337-AF8F-A0779ED7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766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</a:t>
            </a:r>
          </a:p>
        </p:txBody>
      </p:sp>
      <p:sp>
        <p:nvSpPr>
          <p:cNvPr id="19" name="It may help when used as directed; ask a professional about conc">
            <a:extLst xmlns:a="http://schemas.openxmlformats.org/drawingml/2006/main">
              <a:ext uri="{FF2B5EF4-FFF2-40B4-BE49-F238E27FC236}">
                <a16:creationId xmlns:a16="http://schemas.microsoft.com/office/drawing/2014/main" id="{1A4D36DA-896E-428D-A1E6-99456C31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6766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It may help when used as directed; ask a professional about concerns.</a:t>
            </a:r>
          </a:p>
        </p:txBody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913B85C7-9237-485D-B9A3-FB6A41DE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B05B3949-D04D-4D80-995A-173F59D1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2" name="C">
            <a:extLst xmlns:a="http://schemas.openxmlformats.org/drawingml/2006/main">
              <a:ext uri="{FF2B5EF4-FFF2-40B4-BE49-F238E27FC236}">
                <a16:creationId xmlns:a16="http://schemas.microsoft.com/office/drawing/2014/main" id="{33009787-DBAB-4F53-A373-663D12D9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577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C</a:t>
            </a:r>
          </a:p>
        </p:txBody>
      </p:sp>
      <p:sp>
        <p:nvSpPr>
          <p:cNvPr id="23" name="If it is a medicine, it can never cause harm.">
            <a:extLst xmlns:a="http://schemas.openxmlformats.org/drawingml/2006/main">
              <a:ext uri="{FF2B5EF4-FFF2-40B4-BE49-F238E27FC236}">
                <a16:creationId xmlns:a16="http://schemas.microsoft.com/office/drawing/2014/main" id="{4DD1E29A-012E-4EAD-95B9-E916AAE4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8577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If it is a medicine, it can never cause harm.</a:t>
            </a:r>
          </a:p>
        </p:txBody>
      </p:sp>
    </p:spTree>
    <p:extLst>
      <p:ext uri="{BB962C8B-B14F-4D97-AF65-F5344CB8AC3E}">
        <p14:creationId xmlns:p14="http://schemas.microsoft.com/office/powerpoint/2010/main" val="15909321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4BFBCB91-EBBF-4D05-9E07-E0B0C87B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88DC416D-208C-4994-85A0-12786739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72BD455E-6277-4A72-84DD-183BF2B9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9920E242-88E5-445A-A993-583F0B03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51C46FCE-3398-43A9-BB88-CFDFE28C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10 min">
            <a:extLst xmlns:a="http://schemas.openxmlformats.org/drawingml/2006/main">
              <a:ext uri="{FF2B5EF4-FFF2-40B4-BE49-F238E27FC236}">
                <a16:creationId xmlns:a16="http://schemas.microsoft.com/office/drawing/2014/main" id="{D43C9004-A0A6-4E31-BD78-367FC1AB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10 min</a:t>
            </a:r>
          </a:p>
        </p:txBody>
      </p:sp>
      <p:sp>
        <p:nvSpPr>
          <p:cNvPr id="7" name="Write the club recommendation">
            <a:extLst xmlns:a="http://schemas.openxmlformats.org/drawingml/2006/main">
              <a:ext uri="{FF2B5EF4-FFF2-40B4-BE49-F238E27FC236}">
                <a16:creationId xmlns:a16="http://schemas.microsoft.com/office/drawing/2014/main" id="{727A4245-6A3E-49B6-8C3E-67E25C1C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Write the club recommendation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3D695C83-C9C3-44A6-A17A-87FF724F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health evidence advisers">
            <a:extLst xmlns:a="http://schemas.openxmlformats.org/drawingml/2006/main">
              <a:ext uri="{FF2B5EF4-FFF2-40B4-BE49-F238E27FC236}">
                <a16:creationId xmlns:a16="http://schemas.microsoft.com/office/drawing/2014/main" id="{055D9FFE-26EC-457C-9F4A-D20D349F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health evidence advisers</a:t>
            </a:r>
          </a:p>
        </p:txBody>
      </p:sp>
      <p:sp>
        <p:nvSpPr>
          <p:cNvPr id="10" name="10 / 15">
            <a:extLst xmlns:a="http://schemas.openxmlformats.org/drawingml/2006/main">
              <a:ext uri="{FF2B5EF4-FFF2-40B4-BE49-F238E27FC236}">
                <a16:creationId xmlns:a16="http://schemas.microsoft.com/office/drawing/2014/main" id="{E5A49676-76D9-4CA8-980D-1DAE1445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10 / 15</a:t>
            </a:r>
          </a:p>
        </p:txBody>
      </p:sp>
      <p:sp>
        <p:nvSpPr>
          <p:cNvPr id="11" name="Choose one response route.">
            <a:extLst xmlns:a="http://schemas.openxmlformats.org/drawingml/2006/main">
              <a:ext uri="{FF2B5EF4-FFF2-40B4-BE49-F238E27FC236}">
                <a16:creationId xmlns:a16="http://schemas.microsoft.com/office/drawing/2014/main" id="{6AB76889-BFA1-4B66-97BD-8EB1118E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one response route.</a:t>
            </a:r>
          </a:p>
        </p:txBody>
      </p:sp>
      <p:sp>
        <p:nvSpPr>
          <p:cNvPr id="12" name="Use the source cards to explain body effects.">
            <a:extLst xmlns:a="http://schemas.openxmlformats.org/drawingml/2006/main">
              <a:ext uri="{FF2B5EF4-FFF2-40B4-BE49-F238E27FC236}">
                <a16:creationId xmlns:a16="http://schemas.microsoft.com/office/drawing/2014/main" id="{75A5E00A-FB67-4E41-AE33-3D56194D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the source cards to explain body effects.</a:t>
            </a:r>
          </a:p>
        </p:txBody>
      </p:sp>
      <p:sp>
        <p:nvSpPr>
          <p:cNvPr id="13" name="Include access and one honest limit.">
            <a:extLst xmlns:a="http://schemas.openxmlformats.org/drawingml/2006/main">
              <a:ext uri="{FF2B5EF4-FFF2-40B4-BE49-F238E27FC236}">
                <a16:creationId xmlns:a16="http://schemas.microsoft.com/office/drawing/2014/main" id="{785CC4AE-333E-479E-9BB7-C0904AA3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Include access and one honest limit.</a:t>
            </a:r>
          </a:p>
        </p:txBody>
      </p:sp>
    </p:spTree>
    <p:extLst>
      <p:ext uri="{BB962C8B-B14F-4D97-AF65-F5344CB8AC3E}">
        <p14:creationId xmlns:p14="http://schemas.microsoft.com/office/powerpoint/2010/main" val="15938564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2A8BA75F-5964-4245-B1A0-121D9FFA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754534D9-2DC7-495D-8F0D-3A041043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3E0124DC-C384-4441-8DE6-41886717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F3E55FA8-39BD-44C7-9AD5-BC742D6C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C8AD0DAE-917D-4C17-BF10-0FE78324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Link, do not list">
            <a:extLst xmlns:a="http://schemas.openxmlformats.org/drawingml/2006/main">
              <a:ext uri="{FF2B5EF4-FFF2-40B4-BE49-F238E27FC236}">
                <a16:creationId xmlns:a16="http://schemas.microsoft.com/office/drawing/2014/main" id="{1EE1FFD5-46EC-418B-97DA-ABC6602E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Link, do not list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C8499BD0-C944-429D-A1E3-2CC3EF1A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health evidence advisers">
            <a:extLst xmlns:a="http://schemas.openxmlformats.org/drawingml/2006/main">
              <a:ext uri="{FF2B5EF4-FFF2-40B4-BE49-F238E27FC236}">
                <a16:creationId xmlns:a16="http://schemas.microsoft.com/office/drawing/2014/main" id="{888C16B2-F2F5-487E-9C6A-1A1E1A89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health evidence advisers</a:t>
            </a:r>
          </a:p>
        </p:txBody>
      </p:sp>
      <p:sp>
        <p:nvSpPr>
          <p:cNvPr id="9" name="11 / 15">
            <a:extLst xmlns:a="http://schemas.openxmlformats.org/drawingml/2006/main">
              <a:ext uri="{FF2B5EF4-FFF2-40B4-BE49-F238E27FC236}">
                <a16:creationId xmlns:a16="http://schemas.microsoft.com/office/drawing/2014/main" id="{18230F62-0070-465B-892E-34EB94FE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11 / 15</a:t>
            </a:r>
          </a:p>
        </p:txBody>
      </p:sp>
      <p:sp>
        <p:nvSpPr>
          <p:cNvPr id="10" name="“We suggest ____ because ____.”">
            <a:extLst xmlns:a="http://schemas.openxmlformats.org/drawingml/2006/main">
              <a:ext uri="{FF2B5EF4-FFF2-40B4-BE49-F238E27FC236}">
                <a16:creationId xmlns:a16="http://schemas.microsoft.com/office/drawing/2014/main" id="{B42FC783-FFC9-4353-B258-8D9DA9C2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“We suggest ____ because ____.”</a:t>
            </a:r>
          </a:p>
        </p:txBody>
      </p:sp>
      <p:sp>
        <p:nvSpPr>
          <p:cNvPr id="11" name="“People can take part by ____.”">
            <a:extLst xmlns:a="http://schemas.openxmlformats.org/drawingml/2006/main">
              <a:ext uri="{FF2B5EF4-FFF2-40B4-BE49-F238E27FC236}">
                <a16:creationId xmlns:a16="http://schemas.microsoft.com/office/drawing/2014/main" id="{D7D47367-617B-4BAC-ACD5-28AB8D8A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“People can take part by ____.”</a:t>
            </a:r>
          </a:p>
        </p:txBody>
      </p:sp>
      <p:sp>
        <p:nvSpPr>
          <p:cNvPr id="12" name="“This does not prove ____.”">
            <a:extLst xmlns:a="http://schemas.openxmlformats.org/drawingml/2006/main">
              <a:ext uri="{FF2B5EF4-FFF2-40B4-BE49-F238E27FC236}">
                <a16:creationId xmlns:a16="http://schemas.microsoft.com/office/drawing/2014/main" id="{E60A0044-538C-4D20-8E1C-1A818BC5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“This does not prove ____.”</a:t>
            </a:r>
          </a:p>
        </p:txBody>
      </p:sp>
    </p:spTree>
    <p:extLst>
      <p:ext uri="{BB962C8B-B14F-4D97-AF65-F5344CB8AC3E}">
        <p14:creationId xmlns:p14="http://schemas.microsoft.com/office/powerpoint/2010/main" val="11273434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E04B8A8A-0260-4A25-841E-2361AC46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2C535F1E-A5F1-4E9C-8F7F-79FA50A4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1E68A698-079B-4A1B-9B88-E31CE202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AD582B7D-7135-4102-8FA4-6C2D7BBD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62406879-54CA-45D0-981A-3091C736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Check your wording">
            <a:extLst xmlns:a="http://schemas.openxmlformats.org/drawingml/2006/main">
              <a:ext uri="{FF2B5EF4-FFF2-40B4-BE49-F238E27FC236}">
                <a16:creationId xmlns:a16="http://schemas.microsoft.com/office/drawing/2014/main" id="{B9246925-CA67-43B8-B3F7-B56CEA32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Check your wording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777F7CC1-823E-476C-960E-32B25AA9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health evidence advisers">
            <a:extLst xmlns:a="http://schemas.openxmlformats.org/drawingml/2006/main">
              <a:ext uri="{FF2B5EF4-FFF2-40B4-BE49-F238E27FC236}">
                <a16:creationId xmlns:a16="http://schemas.microsoft.com/office/drawing/2014/main" id="{827683A9-EB42-40B9-8B99-12004144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health evidence advisers</a:t>
            </a:r>
          </a:p>
        </p:txBody>
      </p:sp>
      <p:sp>
        <p:nvSpPr>
          <p:cNvPr id="9" name="12 / 15">
            <a:extLst xmlns:a="http://schemas.openxmlformats.org/drawingml/2006/main">
              <a:ext uri="{FF2B5EF4-FFF2-40B4-BE49-F238E27FC236}">
                <a16:creationId xmlns:a16="http://schemas.microsoft.com/office/drawing/2014/main" id="{614356F2-C106-4AC7-8354-FD7AC4E4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12 / 15</a:t>
            </a:r>
          </a:p>
        </p:txBody>
      </p:sp>
      <p:sp>
        <p:nvSpPr>
          <p:cNvPr id="10" name="Have I explained effects on the body?">
            <a:extLst xmlns:a="http://schemas.openxmlformats.org/drawingml/2006/main">
              <a:ext uri="{FF2B5EF4-FFF2-40B4-BE49-F238E27FC236}">
                <a16:creationId xmlns:a16="http://schemas.microsoft.com/office/drawing/2014/main" id="{8CB0216D-FD0A-4F38-AC20-03E2ED6C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Have I explained effects on the body?</a:t>
            </a:r>
          </a:p>
        </p:txBody>
      </p:sp>
      <p:sp>
        <p:nvSpPr>
          <p:cNvPr id="11" name="Have I avoided personal judgement?">
            <a:extLst xmlns:a="http://schemas.openxmlformats.org/drawingml/2006/main">
              <a:ext uri="{FF2B5EF4-FFF2-40B4-BE49-F238E27FC236}">
                <a16:creationId xmlns:a16="http://schemas.microsoft.com/office/drawing/2014/main" id="{D1D4AB5E-4A7B-445D-AE29-14FDAC24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Have I avoided personal judgement?</a:t>
            </a:r>
          </a:p>
        </p:txBody>
      </p:sp>
      <p:sp>
        <p:nvSpPr>
          <p:cNvPr id="12" name="Have I kept medicine decisions with professionals?">
            <a:extLst xmlns:a="http://schemas.openxmlformats.org/drawingml/2006/main">
              <a:ext uri="{FF2B5EF4-FFF2-40B4-BE49-F238E27FC236}">
                <a16:creationId xmlns:a16="http://schemas.microsoft.com/office/drawing/2014/main" id="{DB15A7F2-8346-4FE6-8499-2527C8AB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Have I kept medicine decisions with professionals?</a:t>
            </a:r>
          </a:p>
        </p:txBody>
      </p:sp>
    </p:spTree>
    <p:extLst>
      <p:ext uri="{BB962C8B-B14F-4D97-AF65-F5344CB8AC3E}">
        <p14:creationId xmlns:p14="http://schemas.microsoft.com/office/powerpoint/2010/main" val="48748877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A4597069-7D10-4118-82EA-3460416D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BA2B1DDB-017A-4E69-B589-8A08C600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E9282B93-CAE0-46F1-9027-31FB61C8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429D6478-F42A-4315-AD70-A2EB8ADB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89A65560-A18D-4C8D-A68D-AE93C4EF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4 min">
            <a:extLst xmlns:a="http://schemas.openxmlformats.org/drawingml/2006/main">
              <a:ext uri="{FF2B5EF4-FFF2-40B4-BE49-F238E27FC236}">
                <a16:creationId xmlns:a16="http://schemas.microsoft.com/office/drawing/2014/main" id="{E1683FDF-18B9-4676-8B80-50874C1D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4 min</a:t>
            </a:r>
          </a:p>
        </p:txBody>
      </p:sp>
      <p:sp>
        <p:nvSpPr>
          <p:cNvPr id="7" name="Evidence before a slogan">
            <a:extLst xmlns:a="http://schemas.openxmlformats.org/drawingml/2006/main">
              <a:ext uri="{FF2B5EF4-FFF2-40B4-BE49-F238E27FC236}">
                <a16:creationId xmlns:a16="http://schemas.microsoft.com/office/drawing/2014/main" id="{6A709B74-0CED-463D-B0CD-00C40255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Evidence before a slogan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AA547457-4D26-4C7B-9E57-3774EE59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health evidence advisers">
            <a:extLst xmlns:a="http://schemas.openxmlformats.org/drawingml/2006/main">
              <a:ext uri="{FF2B5EF4-FFF2-40B4-BE49-F238E27FC236}">
                <a16:creationId xmlns:a16="http://schemas.microsoft.com/office/drawing/2014/main" id="{083615BC-0A99-412F-B6F0-71667D85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health evidence advisers</a:t>
            </a:r>
          </a:p>
        </p:txBody>
      </p:sp>
      <p:sp>
        <p:nvSpPr>
          <p:cNvPr id="10" name="13 / 15">
            <a:extLst xmlns:a="http://schemas.openxmlformats.org/drawingml/2006/main">
              <a:ext uri="{FF2B5EF4-FFF2-40B4-BE49-F238E27FC236}">
                <a16:creationId xmlns:a16="http://schemas.microsoft.com/office/drawing/2014/main" id="{8EF94647-6790-4087-B382-2430CCA3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13 / 15</a:t>
            </a:r>
          </a:p>
        </p:txBody>
      </p:sp>
      <p:sp>
        <p:nvSpPr>
          <p:cNvPr id="11" name="Share one scientific reason.">
            <a:extLst xmlns:a="http://schemas.openxmlformats.org/drawingml/2006/main">
              <a:ext uri="{FF2B5EF4-FFF2-40B4-BE49-F238E27FC236}">
                <a16:creationId xmlns:a16="http://schemas.microsoft.com/office/drawing/2014/main" id="{C26FC038-83BC-4421-B042-5723B44F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Share one scientific reason.</a:t>
            </a:r>
          </a:p>
        </p:txBody>
      </p:sp>
      <p:sp>
        <p:nvSpPr>
          <p:cNvPr id="12" name="A partner or teacher checks its source card.">
            <a:extLst xmlns:a="http://schemas.openxmlformats.org/drawingml/2006/main">
              <a:ext uri="{FF2B5EF4-FFF2-40B4-BE49-F238E27FC236}">
                <a16:creationId xmlns:a16="http://schemas.microsoft.com/office/drawing/2014/main" id="{A92A91AC-B0C6-4210-891F-521711B9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partner or teacher checks its source card.</a:t>
            </a:r>
          </a:p>
        </p:txBody>
      </p:sp>
      <p:sp>
        <p:nvSpPr>
          <p:cNvPr id="13" name="Improve an overclaim if needed.">
            <a:extLst xmlns:a="http://schemas.openxmlformats.org/drawingml/2006/main">
              <a:ext uri="{FF2B5EF4-FFF2-40B4-BE49-F238E27FC236}">
                <a16:creationId xmlns:a16="http://schemas.microsoft.com/office/drawing/2014/main" id="{870D08AA-2B78-486C-B30E-37BAAA5A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Improve an overclaim if needed.</a:t>
            </a:r>
          </a:p>
        </p:txBody>
      </p:sp>
    </p:spTree>
    <p:extLst>
      <p:ext uri="{BB962C8B-B14F-4D97-AF65-F5344CB8AC3E}">
        <p14:creationId xmlns:p14="http://schemas.microsoft.com/office/powerpoint/2010/main" val="108786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3B39E262-7FA5-4226-BF7E-A9841DC0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D4AFB1EA-A32E-4DD3-83BC-6CFDC883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EF3971EA-1D4B-46C9-9D2B-1A70C9EF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2E004954-76A3-4656-BC6A-F7B5B756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402615A6-A9E3-4812-8CD1-F856F700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Which access change should we show?">
            <a:extLst xmlns:a="http://schemas.openxmlformats.org/drawingml/2006/main">
              <a:ext uri="{FF2B5EF4-FFF2-40B4-BE49-F238E27FC236}">
                <a16:creationId xmlns:a16="http://schemas.microsoft.com/office/drawing/2014/main" id="{B24A3D58-A9A6-43D4-8629-29E6D0E2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Which access change should we show?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F5CB1088-4501-40F3-AA9B-B68741A8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health evidence advisers">
            <a:extLst xmlns:a="http://schemas.openxmlformats.org/drawingml/2006/main">
              <a:ext uri="{FF2B5EF4-FFF2-40B4-BE49-F238E27FC236}">
                <a16:creationId xmlns:a16="http://schemas.microsoft.com/office/drawing/2014/main" id="{CFC68945-6D42-422C-97FA-299C8FA3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health evidence advisers</a:t>
            </a:r>
          </a:p>
        </p:txBody>
      </p:sp>
      <p:sp>
        <p:nvSpPr>
          <p:cNvPr id="9" name="14 / 15">
            <a:extLst xmlns:a="http://schemas.openxmlformats.org/drawingml/2006/main">
              <a:ext uri="{FF2B5EF4-FFF2-40B4-BE49-F238E27FC236}">
                <a16:creationId xmlns:a16="http://schemas.microsoft.com/office/drawing/2014/main" id="{092AF4AF-60C7-4E71-BA77-6616521B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14 / 15</a:t>
            </a:r>
          </a:p>
        </p:txBody>
      </p:sp>
      <p:sp>
        <p:nvSpPr>
          <p:cNvPr id="10" name="Suggest an accessible way to join the fictional club.">
            <a:extLst xmlns:a="http://schemas.openxmlformats.org/drawingml/2006/main">
              <a:ext uri="{FF2B5EF4-FFF2-40B4-BE49-F238E27FC236}">
                <a16:creationId xmlns:a16="http://schemas.microsoft.com/office/drawing/2014/main" id="{0F3B62DD-052B-47BD-A908-CBEA3A22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Suggest an accessible way to join the fictional club.</a:t>
            </a:r>
          </a:p>
        </p:txBody>
      </p:sp>
      <p:sp>
        <p:nvSpPr>
          <p:cNvPr id="11" name="Choose one to add to the final class plan.">
            <a:extLst xmlns:a="http://schemas.openxmlformats.org/drawingml/2006/main">
              <a:ext uri="{FF2B5EF4-FFF2-40B4-BE49-F238E27FC236}">
                <a16:creationId xmlns:a16="http://schemas.microsoft.com/office/drawing/2014/main" id="{7EF32776-71AB-42D0-A83D-79A78EFF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one to add to the final class plan.</a:t>
            </a:r>
          </a:p>
        </p:txBody>
      </p:sp>
    </p:spTree>
    <p:extLst>
      <p:ext uri="{BB962C8B-B14F-4D97-AF65-F5344CB8AC3E}">
        <p14:creationId xmlns:p14="http://schemas.microsoft.com/office/powerpoint/2010/main" val="5145656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754B6441-4E7C-4AA7-9B58-867A0A22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4F12C2EA-C0A7-44F8-893F-938F1157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3B3A0BB8-BAAF-4292-AC64-2124FE72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54639D8C-60D9-46A3-A44C-78978901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Exit">
            <a:extLst xmlns:a="http://schemas.openxmlformats.org/drawingml/2006/main">
              <a:ext uri="{FF2B5EF4-FFF2-40B4-BE49-F238E27FC236}">
                <a16:creationId xmlns:a16="http://schemas.microsoft.com/office/drawing/2014/main" id="{AB3A359C-1A29-4EA3-B9AD-13B5D2D8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Exit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A1B219D6-AA34-4EAC-A09D-32B22EF7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Three responsible science statements">
            <a:extLst xmlns:a="http://schemas.openxmlformats.org/drawingml/2006/main">
              <a:ext uri="{FF2B5EF4-FFF2-40B4-BE49-F238E27FC236}">
                <a16:creationId xmlns:a16="http://schemas.microsoft.com/office/drawing/2014/main" id="{80A27D30-39AA-4D1E-A838-858BC791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Three responsible science statements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2D2153BB-5B82-47E9-9E1D-88495F2B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health evidence advisers">
            <a:extLst xmlns:a="http://schemas.openxmlformats.org/drawingml/2006/main">
              <a:ext uri="{FF2B5EF4-FFF2-40B4-BE49-F238E27FC236}">
                <a16:creationId xmlns:a16="http://schemas.microsoft.com/office/drawing/2014/main" id="{CCF7C429-D6DC-4E99-AEAE-7F34265F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health evidence advisers</a:t>
            </a:r>
          </a:p>
        </p:txBody>
      </p:sp>
      <p:sp>
        <p:nvSpPr>
          <p:cNvPr id="10" name="15 / 15">
            <a:extLst xmlns:a="http://schemas.openxmlformats.org/drawingml/2006/main">
              <a:ext uri="{FF2B5EF4-FFF2-40B4-BE49-F238E27FC236}">
                <a16:creationId xmlns:a16="http://schemas.microsoft.com/office/drawing/2014/main" id="{E9D290BC-7253-45CC-BDBB-A2FF06B4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15 / 15</a:t>
            </a:r>
          </a:p>
        </p:txBody>
      </p:sp>
      <p:sp>
        <p:nvSpPr>
          <p:cNvPr id="11" name="E1. Give a diet–body link.">
            <a:extLst xmlns:a="http://schemas.openxmlformats.org/drawingml/2006/main">
              <a:ext uri="{FF2B5EF4-FFF2-40B4-BE49-F238E27FC236}">
                <a16:creationId xmlns:a16="http://schemas.microsoft.com/office/drawing/2014/main" id="{29C68644-7172-43D7-BF75-9D3A0FCE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E1. Give a diet–body link.</a:t>
            </a:r>
          </a:p>
        </p:txBody>
      </p:sp>
      <p:sp>
        <p:nvSpPr>
          <p:cNvPr id="12" name="E2. Give an activity–body link.">
            <a:extLst xmlns:a="http://schemas.openxmlformats.org/drawingml/2006/main">
              <a:ext uri="{FF2B5EF4-FFF2-40B4-BE49-F238E27FC236}">
                <a16:creationId xmlns:a16="http://schemas.microsoft.com/office/drawing/2014/main" id="{AA0DA344-845D-4626-9F43-4AD53664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E2. Give an activity–body link.</a:t>
            </a:r>
          </a:p>
        </p:txBody>
      </p:sp>
      <p:sp>
        <p:nvSpPr>
          <p:cNvPr id="13" name="E3. Explain one medicine precaution.">
            <a:extLst xmlns:a="http://schemas.openxmlformats.org/drawingml/2006/main">
              <a:ext uri="{FF2B5EF4-FFF2-40B4-BE49-F238E27FC236}">
                <a16:creationId xmlns:a16="http://schemas.microsoft.com/office/drawing/2014/main" id="{9E1C6027-F52A-422D-80AB-09EE1FEB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E3. Explain one medicine precaution.</a:t>
            </a:r>
          </a:p>
        </p:txBody>
      </p:sp>
    </p:spTree>
    <p:extLst>
      <p:ext uri="{BB962C8B-B14F-4D97-AF65-F5344CB8AC3E}">
        <p14:creationId xmlns:p14="http://schemas.microsoft.com/office/powerpoint/2010/main" val="19180625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2026-09-08T23:14:48.0470000Z</dcterms:created>
  <dcterms:modified xsi:type="dcterms:W3CDTF">2026-09-08T23:14:48.0470000Z</dcterms:modified>
</coreProperties>
</file>