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23749c5a3e4e0e" /><Relationship Type="http://schemas.openxmlformats.org/officeDocument/2006/relationships/extended-properties" Target="/docProps/app.xml" Id="Re52e791c7aa74b46" /><Relationship Type="http://schemas.openxmlformats.org/officeDocument/2006/relationships/officeDocument" Target="/ppt/presentation.xml" Id="R6f7edb5d57be405e" /></Relationships>
</file>

<file path=ppt/presentation.xml><?xml version="1.0" encoding="utf-8"?>
<p:presentation xmlns:p="http://schemas.openxmlformats.org/presentationml/2006/main">
  <p:sldMasterIdLst>
    <p:sldMasterId xmlns:r="http://schemas.openxmlformats.org/officeDocument/2006/relationships" id="2147483648" r:id="Ra71afb9c2e574a7e"/>
  </p:sldMasterIdLst>
  <p:notesMasterIdLst>
    <p:notesMasterId xmlns:r="http://schemas.openxmlformats.org/officeDocument/2006/relationships" r:id="R4dbd5f0f89744a3d"/>
  </p:notesMasterIdLst>
  <p:sldIdLst>
    <p:sldId xmlns:r="http://schemas.openxmlformats.org/officeDocument/2006/relationships" id="256" r:id="Refc46bbbbd5b4196"/>
    <p:sldId xmlns:r="http://schemas.openxmlformats.org/officeDocument/2006/relationships" id="257" r:id="Re86f18d9109a4043"/>
    <p:sldId xmlns:r="http://schemas.openxmlformats.org/officeDocument/2006/relationships" id="258" r:id="R81bfb8f906154b82"/>
    <p:sldId xmlns:r="http://schemas.openxmlformats.org/officeDocument/2006/relationships" id="259" r:id="R1f95bc6962184909"/>
    <p:sldId xmlns:r="http://schemas.openxmlformats.org/officeDocument/2006/relationships" id="260" r:id="Re21fb2f00c1e4f29"/>
    <p:sldId xmlns:r="http://schemas.openxmlformats.org/officeDocument/2006/relationships" id="261" r:id="R5a8c3a15c369407b"/>
    <p:sldId xmlns:r="http://schemas.openxmlformats.org/officeDocument/2006/relationships" id="262" r:id="R9423ca807353496b"/>
    <p:sldId xmlns:r="http://schemas.openxmlformats.org/officeDocument/2006/relationships" id="263" r:id="Rcac326546c724ea4"/>
    <p:sldId xmlns:r="http://schemas.openxmlformats.org/officeDocument/2006/relationships" id="264" r:id="Rad39bb4c912f4948"/>
    <p:sldId xmlns:r="http://schemas.openxmlformats.org/officeDocument/2006/relationships" id="265" r:id="Rc475344093144565"/>
    <p:sldId xmlns:r="http://schemas.openxmlformats.org/officeDocument/2006/relationships" id="266" r:id="Rd4e76e3cd7af4d38"/>
    <p:sldId xmlns:r="http://schemas.openxmlformats.org/officeDocument/2006/relationships" id="267" r:id="R656af801d80647e3"/>
    <p:sldId xmlns:r="http://schemas.openxmlformats.org/officeDocument/2006/relationships" id="268" r:id="Rd3194eb8b82f4f6c"/>
    <p:sldId xmlns:r="http://schemas.openxmlformats.org/officeDocument/2006/relationships" id="269" r:id="R3083afc6c5104003"/>
    <p:sldId xmlns:r="http://schemas.openxmlformats.org/officeDocument/2006/relationships" id="270" r:id="R0d2673a8e490471c"/>
    <p:sldId xmlns:r="http://schemas.openxmlformats.org/officeDocument/2006/relationships" id="271" r:id="R066fa53e7b3e4e04"/>
    <p:sldId xmlns:r="http://schemas.openxmlformats.org/officeDocument/2006/relationships" id="272" r:id="Rfca5a072a3354875"/>
    <p:sldId xmlns:r="http://schemas.openxmlformats.org/officeDocument/2006/relationships" id="273" r:id="Rc2ecaad7ddb041ef"/>
    <p:sldId xmlns:r="http://schemas.openxmlformats.org/officeDocument/2006/relationships" id="274" r:id="Rb343e8985980409b"/>
    <p:sldId xmlns:r="http://schemas.openxmlformats.org/officeDocument/2006/relationships" id="275" r:id="Rfdcf277057154dd2"/>
    <p:sldId xmlns:r="http://schemas.openxmlformats.org/officeDocument/2006/relationships" id="276" r:id="R8eb9abbd39ff4cd9"/>
    <p:sldId xmlns:r="http://schemas.openxmlformats.org/officeDocument/2006/relationships" id="277" r:id="Re4afda1e6ff64451"/>
    <p:sldId xmlns:r="http://schemas.openxmlformats.org/officeDocument/2006/relationships" id="278" r:id="R0b16691db1db4226"/>
    <p:sldId xmlns:r="http://schemas.openxmlformats.org/officeDocument/2006/relationships" id="279" r:id="R8d7ac0950f4d4827"/>
    <p:sldId xmlns:r="http://schemas.openxmlformats.org/officeDocument/2006/relationships" id="280" r:id="R3303556831f94e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bccdb683e24e35" /><Relationship Type="http://schemas.openxmlformats.org/officeDocument/2006/relationships/slideMaster" Target="/ppt/slideMasters/slideMaster1.xml" Id="Ra71afb9c2e574a7e" /><Relationship Type="http://schemas.openxmlformats.org/officeDocument/2006/relationships/notesMaster" Target="/ppt/notesMasters/notesMaster1.xml" Id="R4dbd5f0f89744a3d" /><Relationship Type="http://schemas.openxmlformats.org/officeDocument/2006/relationships/presProps" Target="/ppt/presProps.xml" Id="R25aa0ac733554778" /><Relationship Type="http://schemas.openxmlformats.org/officeDocument/2006/relationships/tableStyles" Target="/ppt/tableStyles.xml" Id="R6f26b59dfdd04bf2" /><Relationship Type="http://schemas.openxmlformats.org/officeDocument/2006/relationships/slide" Target="/ppt/slides/slide1.xml" Id="Refc46bbbbd5b4196" /><Relationship Type="http://schemas.openxmlformats.org/officeDocument/2006/relationships/slide" Target="/ppt/slides/slide2.xml" Id="Re86f18d9109a4043" /><Relationship Type="http://schemas.openxmlformats.org/officeDocument/2006/relationships/slide" Target="/ppt/slides/slide3.xml" Id="R81bfb8f906154b82" /><Relationship Type="http://schemas.openxmlformats.org/officeDocument/2006/relationships/slide" Target="/ppt/slides/slide4.xml" Id="R1f95bc6962184909" /><Relationship Type="http://schemas.openxmlformats.org/officeDocument/2006/relationships/slide" Target="/ppt/slides/slide5.xml" Id="Re21fb2f00c1e4f29" /><Relationship Type="http://schemas.openxmlformats.org/officeDocument/2006/relationships/slide" Target="/ppt/slides/slide6.xml" Id="R5a8c3a15c369407b" /><Relationship Type="http://schemas.openxmlformats.org/officeDocument/2006/relationships/slide" Target="/ppt/slides/slide7.xml" Id="R9423ca807353496b" /><Relationship Type="http://schemas.openxmlformats.org/officeDocument/2006/relationships/slide" Target="/ppt/slides/slide8.xml" Id="Rcac326546c724ea4" /><Relationship Type="http://schemas.openxmlformats.org/officeDocument/2006/relationships/slide" Target="/ppt/slides/slide9.xml" Id="Rad39bb4c912f4948" /><Relationship Type="http://schemas.openxmlformats.org/officeDocument/2006/relationships/slide" Target="/ppt/slides/slide10.xml" Id="Rc475344093144565" /><Relationship Type="http://schemas.openxmlformats.org/officeDocument/2006/relationships/slide" Target="/ppt/slides/slide11.xml" Id="Rd4e76e3cd7af4d38" /><Relationship Type="http://schemas.openxmlformats.org/officeDocument/2006/relationships/slide" Target="/ppt/slides/slide12.xml" Id="R656af801d80647e3" /><Relationship Type="http://schemas.openxmlformats.org/officeDocument/2006/relationships/slide" Target="/ppt/slides/slide13.xml" Id="Rd3194eb8b82f4f6c" /><Relationship Type="http://schemas.openxmlformats.org/officeDocument/2006/relationships/slide" Target="/ppt/slides/slide14.xml" Id="R3083afc6c5104003" /><Relationship Type="http://schemas.openxmlformats.org/officeDocument/2006/relationships/slide" Target="/ppt/slides/slide15.xml" Id="R0d2673a8e490471c" /><Relationship Type="http://schemas.openxmlformats.org/officeDocument/2006/relationships/slide" Target="/ppt/slides/slide16.xml" Id="R066fa53e7b3e4e04" /><Relationship Type="http://schemas.openxmlformats.org/officeDocument/2006/relationships/slide" Target="/ppt/slides/slide17.xml" Id="Rfca5a072a3354875" /><Relationship Type="http://schemas.openxmlformats.org/officeDocument/2006/relationships/slide" Target="/ppt/slides/slide18.xml" Id="Rc2ecaad7ddb041ef" /><Relationship Type="http://schemas.openxmlformats.org/officeDocument/2006/relationships/slide" Target="/ppt/slides/slide19.xml" Id="Rb343e8985980409b" /><Relationship Type="http://schemas.openxmlformats.org/officeDocument/2006/relationships/slide" Target="/ppt/slides/slide20.xml" Id="Rfdcf277057154dd2" /><Relationship Type="http://schemas.openxmlformats.org/officeDocument/2006/relationships/slide" Target="/ppt/slides/slide21.xml" Id="R8eb9abbd39ff4cd9" /><Relationship Type="http://schemas.openxmlformats.org/officeDocument/2006/relationships/slide" Target="/ppt/slides/slide22.xml" Id="Re4afda1e6ff64451" /><Relationship Type="http://schemas.openxmlformats.org/officeDocument/2006/relationships/slide" Target="/ppt/slides/slide23.xml" Id="R0b16691db1db4226" /><Relationship Type="http://schemas.openxmlformats.org/officeDocument/2006/relationships/slide" Target="/ppt/slides/slide24.xml" Id="R8d7ac0950f4d4827" /><Relationship Type="http://schemas.openxmlformats.org/officeDocument/2006/relationships/slide" Target="/ppt/slides/slide25.xml" Id="R3303556831f94e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09ff0f70284c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1ef259d41d42b7" /><Relationship Type="http://schemas.openxmlformats.org/officeDocument/2006/relationships/notesMaster" Target="/ppt/notesMasters/notesMaster1.xml" Id="R30029a5dd8a940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80deb37d3d4992" /><Relationship Type="http://schemas.openxmlformats.org/officeDocument/2006/relationships/notesMaster" Target="/ppt/notesMasters/notesMaster1.xml" Id="R25271fe0418d4b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f8b6bef424f61" /><Relationship Type="http://schemas.openxmlformats.org/officeDocument/2006/relationships/notesMaster" Target="/ppt/notesMasters/notesMaster1.xml" Id="R64f53fe122ca49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fb2d890fd14668" /><Relationship Type="http://schemas.openxmlformats.org/officeDocument/2006/relationships/notesMaster" Target="/ppt/notesMasters/notesMaster1.xml" Id="Rd8f2c27cecee4e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e7f6d77abf4820" /><Relationship Type="http://schemas.openxmlformats.org/officeDocument/2006/relationships/notesMaster" Target="/ppt/notesMasters/notesMaster1.xml" Id="R673869d168e246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1246838a384966" /><Relationship Type="http://schemas.openxmlformats.org/officeDocument/2006/relationships/notesMaster" Target="/ppt/notesMasters/notesMaster1.xml" Id="R963c59023b8745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e80b91cc6a4fd9" /><Relationship Type="http://schemas.openxmlformats.org/officeDocument/2006/relationships/notesMaster" Target="/ppt/notesMasters/notesMaster1.xml" Id="Rc5e6684a63b644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2d58b08ce541cf" /><Relationship Type="http://schemas.openxmlformats.org/officeDocument/2006/relationships/notesMaster" Target="/ppt/notesMasters/notesMaster1.xml" Id="R740f6d492b414d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a96b9af7a94da7" /><Relationship Type="http://schemas.openxmlformats.org/officeDocument/2006/relationships/notesMaster" Target="/ppt/notesMasters/notesMaster1.xml" Id="R84760df160ca43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c81e0fbf6f48b8" /><Relationship Type="http://schemas.openxmlformats.org/officeDocument/2006/relationships/notesMaster" Target="/ppt/notesMasters/notesMaster1.xml" Id="Rabf0b9200ef24f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714a43d834491b" /><Relationship Type="http://schemas.openxmlformats.org/officeDocument/2006/relationships/notesMaster" Target="/ppt/notesMasters/notesMaster1.xml" Id="R4c5c30d1b82746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e314431fa64fea" /><Relationship Type="http://schemas.openxmlformats.org/officeDocument/2006/relationships/notesMaster" Target="/ppt/notesMasters/notesMaster1.xml" Id="R5e3a469380214a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9dc81fb38b43e8" /><Relationship Type="http://schemas.openxmlformats.org/officeDocument/2006/relationships/notesMaster" Target="/ppt/notesMasters/notesMaster1.xml" Id="R82933b3038d34b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4116ab8e624b93" /><Relationship Type="http://schemas.openxmlformats.org/officeDocument/2006/relationships/notesMaster" Target="/ppt/notesMasters/notesMaster1.xml" Id="Rcb1c53cb14b141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a1e0bc92774bc3" /><Relationship Type="http://schemas.openxmlformats.org/officeDocument/2006/relationships/notesMaster" Target="/ppt/notesMasters/notesMaster1.xml" Id="R615ca823f79440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caca8fab8d4acb" /><Relationship Type="http://schemas.openxmlformats.org/officeDocument/2006/relationships/notesMaster" Target="/ppt/notesMasters/notesMaster1.xml" Id="R7ee942dd9d2248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0f037f4e5943cc" /><Relationship Type="http://schemas.openxmlformats.org/officeDocument/2006/relationships/notesMaster" Target="/ppt/notesMasters/notesMaster1.xml" Id="Rb1b8e8763b344d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ae6f376f064e77" /><Relationship Type="http://schemas.openxmlformats.org/officeDocument/2006/relationships/notesMaster" Target="/ppt/notesMasters/notesMaster1.xml" Id="Rc8050be3c74044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7f9968db2444d11" /><Relationship Type="http://schemas.openxmlformats.org/officeDocument/2006/relationships/notesMaster" Target="/ppt/notesMasters/notesMaster1.xml" Id="R344f4be47bfb46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683973cf524177" /><Relationship Type="http://schemas.openxmlformats.org/officeDocument/2006/relationships/notesMaster" Target="/ppt/notesMasters/notesMaster1.xml" Id="R12c3aa2d77f6499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c1f242dea74e8d" /><Relationship Type="http://schemas.openxmlformats.org/officeDocument/2006/relationships/notesMaster" Target="/ppt/notesMasters/notesMaster1.xml" Id="Rc9c7b212ddbc40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7ad7b771ea4fbc" /><Relationship Type="http://schemas.openxmlformats.org/officeDocument/2006/relationships/notesMaster" Target="/ppt/notesMasters/notesMaster1.xml" Id="Rc3c3532fe9bd42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d45a02ec72463c" /><Relationship Type="http://schemas.openxmlformats.org/officeDocument/2006/relationships/notesMaster" Target="/ppt/notesMasters/notesMaster1.xml" Id="R720a7529c6cf41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f20674bdc442bb" /><Relationship Type="http://schemas.openxmlformats.org/officeDocument/2006/relationships/notesMaster" Target="/ppt/notesMasters/notesMaster1.xml" Id="R3a28f9b193944d1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4aed1e6bd248ad" /><Relationship Type="http://schemas.openxmlformats.org/officeDocument/2006/relationships/notesMaster" Target="/ppt/notesMasters/notesMaster1.xml" Id="R8b8f5995e7d848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Overview: 0 minutes TOTAL across all slides in this stage.</a:t>
            </a:r>
          </a:p>
          <a:p xmlns:a="http://schemas.openxmlformats.org/drawingml/2006/main">
            <a:r>
              <a:t/>
            </a:r>
          </a:p>
          <a:p xmlns:a="http://schemas.openxmlformats.org/drawingml/2006/main">
            <a:r>
              <a:t>Prepare the local source/record pack and agreed access routes; never lower the learning decision.</a:t>
            </a:r>
          </a:p>
          <a:p xmlns:a="http://schemas.openxmlformats.org/drawingml/2006/main">
            <a:r>
              <a:t/>
            </a:r>
          </a:p>
          <a:p xmlns:a="http://schemas.openxmlformats.org/drawingml/2006/main">
            <a:r>
              <a:t>Keep pupil meaning separate from adult preparation, prompting, exact-word scribing and filing.</a:t>
            </a:r>
          </a:p>
          <a:p xmlns:a="http://schemas.openxmlformats.org/drawingml/2006/main">
            <a:r>
              <a:t/>
            </a:r>
          </a:p>
          <a:p xmlns:a="http://schemas.openxmlformats.org/drawingml/2006/main">
            <a:r>
              <a:t>Staff qualification / truth boundary This lesson may help make evidence for Pearson ELC Science 8939 or a local UAS review. Only the centre can assess it or claim an award. The lesson adds no new rule. The SoW cell adds no unit, code, criterion or level. This lesson imports none of those as new criteria.</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GROW · Science · Autumn 2 · Week 7 · Do</a:t>
            </a:r>
          </a:p>
          <a:p xmlns:a="http://schemas.openxmlformats.org/drawingml/2006/main">
            <a:r>
              <a:t>SoW outcome: Review and evidence autumn science (Entry Level Science / UAS).</a:t>
            </a:r>
          </a:p>
          <a:p xmlns:a="http://schemas.openxmlformats.org/drawingml/2006/main">
            <a:r>
              <a:t>Learning objective: I can use real autumn science evidence to explain one linked idea, note a limit, and improve my work after feedback.</a:t>
            </a:r>
          </a:p>
          <a:p xmlns:a="http://schemas.openxmlformats.org/drawingml/2006/main">
            <a:r>
              <a:t>Success checks for today's activity — not assessment criteria</a:t>
            </a:r>
          </a:p>
          <a:p xmlns:a="http://schemas.openxmlformats.org/drawingml/2006/main">
            <a:r>
              <a:t>Choose one linked autumn science idea. Name the real evidence you used.</a:t>
            </a:r>
          </a:p>
          <a:p xmlns:a="http://schemas.openxmlformats.org/drawingml/2006/main">
            <a:r>
              <a:t>Explain how the evidence supports the idea. Do not claim more than it shows.</a:t>
            </a:r>
          </a:p>
          <a:p xmlns:a="http://schemas.openxmlformats.org/drawingml/2006/main">
            <a:r>
              <a:t>Use one response to make the work clear, fair or wider. Record what changed.</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Arrival: 3 minutes TOTAL across all slides in this stage.</a:t>
            </a:r>
          </a:p>
          <a:p xmlns:a="http://schemas.openxmlformats.org/drawingml/2006/main">
            <a:r>
              <a:t/>
            </a:r>
          </a:p>
          <a:p xmlns:a="http://schemas.openxmlformats.org/drawingml/2006/main">
            <a:r>
              <a:t>Offer quiet think time, pointing and a pass-and-return route.</a:t>
            </a:r>
          </a:p>
          <a:p xmlns:a="http://schemas.openxmlformats.org/drawingml/2006/main">
            <a:r>
              <a:t/>
            </a:r>
          </a:p>
          <a:p xmlns:a="http://schemas.openxmlformats.org/drawingml/2006/main">
            <a:r>
              <a:t>Change the modality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Get your W7A map. Put one marker by the link you trust most. Put one by a link that needs work.</a:t>
            </a:r>
          </a:p>
          <a:p xmlns:a="http://schemas.openxmlformats.org/drawingml/2006/main">
            <a:r>
              <a:t>Inherited Use authentic prior work, source cards or school-held records. Keep its date, page, filename or lesson title attached. Do not copy from memory when the genuine record is available.</a:t>
            </a:r>
          </a:p>
          <a:p xmlns:a="http://schemas.openxmlformats.org/drawingml/2006/main">
            <a:r>
              <a:t>Choose one strong link Point to the claim, then the evidence and the reason that joins them. Say whether the link is clear, partial or still uncertain. A precise symbol or label is enough.</a:t>
            </a:r>
          </a:p>
          <a:p xmlns:a="http://schemas.openxmlformats.org/drawingml/2006/main">
            <a:r>
              <a:t>Choose one repair point Mark a missing locator, a claim that goes too far, a reason that is unclear or a limit that has disappeared. Name the problem without fixing it yet.</a:t>
            </a:r>
          </a:p>
          <a:p xmlns:a="http://schemas.openxmlformats.org/drawingml/2006/main">
            <a:r>
              <a:t>Prepare the comparison Keep the first version visible beside an empty change box. The first version is evidence of your thinking; it must not be erased when you improve it.</a:t>
            </a:r>
          </a:p>
          <a:p xmlns:a="http://schemas.openxmlformats.org/drawingml/2006/main">
            <a:r>
              <a:t>◆ Supported</a:t>
            </a:r>
          </a:p>
          <a:p xmlns:a="http://schemas.openxmlformats.org/drawingml/2006/main">
            <a:r>
              <a:t>Use two prepared markers: STRONG LINK and CHECK THIS. Point to the exact words, number, label or model feature that made you choose.</a:t>
            </a:r>
          </a:p>
          <a:p xmlns:a="http://schemas.openxmlformats.org/drawingml/2006/main">
            <a:r>
              <a:t>▲ Standard</a:t>
            </a:r>
          </a:p>
          <a:p xmlns:a="http://schemas.openxmlformats.org/drawingml/2006/main">
            <a:r>
              <a:t>Write a short locator and one sentence explaining why the selected link is useful. Keep one honest uncertainty beside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Arrival: 3 minutes TOTAL across all slides in this stage.</a:t>
            </a:r>
          </a:p>
          <a:p xmlns:a="http://schemas.openxmlformats.org/drawingml/2006/main">
            <a:r>
              <a:t/>
            </a:r>
          </a:p>
          <a:p xmlns:a="http://schemas.openxmlformats.org/drawingml/2006/main">
            <a:r>
              <a:t>Offer quiet think time, pointing and a pass-and-return route.</a:t>
            </a:r>
          </a:p>
          <a:p xmlns:a="http://schemas.openxmlformats.org/drawingml/2006/main">
            <a:r>
              <a:t/>
            </a:r>
          </a:p>
          <a:p xmlns:a="http://schemas.openxmlformats.org/drawingml/2006/main">
            <a:r>
              <a:t>Change the modality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Get your W7A map. Put one marker by the link you trust most. Put one by a link that needs work.</a:t>
            </a:r>
          </a:p>
          <a:p xmlns:a="http://schemas.openxmlformats.org/drawingml/2006/main">
            <a:r>
              <a:t>Inherited Use authentic prior work, source cards or school-held records. Keep its date, page, filename or lesson title attached. Do not copy from memory when the genuine record is available.</a:t>
            </a:r>
          </a:p>
          <a:p xmlns:a="http://schemas.openxmlformats.org/drawingml/2006/main">
            <a:r>
              <a:t>Choose one strong link Point to the claim, then the evidence and the reason that joins them. Say whether the link is clear, partial or still uncertain. A precise symbol or label is enough.</a:t>
            </a:r>
          </a:p>
          <a:p xmlns:a="http://schemas.openxmlformats.org/drawingml/2006/main">
            <a:r>
              <a:t>Choose one repair point Mark a missing locator, a claim that goes too far, a reason that is unclear or a limit that has disappeared. Name the problem without fixing it yet.</a:t>
            </a:r>
          </a:p>
          <a:p xmlns:a="http://schemas.openxmlformats.org/drawingml/2006/main">
            <a:r>
              <a:t>Prepare the comparison Keep the first version visible beside an empty change box. The first version is evidence of your thinking; it must not be erased when you improve it.</a:t>
            </a:r>
          </a:p>
          <a:p xmlns:a="http://schemas.openxmlformats.org/drawingml/2006/main">
            <a:r>
              <a:t>◆ Supported</a:t>
            </a:r>
          </a:p>
          <a:p xmlns:a="http://schemas.openxmlformats.org/drawingml/2006/main">
            <a:r>
              <a:t>Use two prepared markers: STRONG LINK and CHECK THIS. Point to the exact words, number, label or model feature that made you choose.</a:t>
            </a:r>
          </a:p>
          <a:p xmlns:a="http://schemas.openxmlformats.org/drawingml/2006/main">
            <a:r>
              <a:t>▲ Standard</a:t>
            </a:r>
          </a:p>
          <a:p xmlns:a="http://schemas.openxmlformats.org/drawingml/2006/main">
            <a:r>
              <a:t>Write a short locator and one sentence explaining why the selected link is useful. Keep one honest uncertainty beside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Arrival: 3 minutes TOTAL across all slides in this stage.</a:t>
            </a:r>
          </a:p>
          <a:p xmlns:a="http://schemas.openxmlformats.org/drawingml/2006/main">
            <a:r>
              <a:t/>
            </a:r>
          </a:p>
          <a:p xmlns:a="http://schemas.openxmlformats.org/drawingml/2006/main">
            <a:r>
              <a:t>Offer quiet think time, pointing and a pass-and-return route.</a:t>
            </a:r>
          </a:p>
          <a:p xmlns:a="http://schemas.openxmlformats.org/drawingml/2006/main">
            <a:r>
              <a:t/>
            </a:r>
          </a:p>
          <a:p xmlns:a="http://schemas.openxmlformats.org/drawingml/2006/main">
            <a:r>
              <a:t>Change the modality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Get your W7A map. Put one marker by the link you trust most. Put one by a link that needs work.</a:t>
            </a:r>
          </a:p>
          <a:p xmlns:a="http://schemas.openxmlformats.org/drawingml/2006/main">
            <a:r>
              <a:t>Inherited Use authentic prior work, source cards or school-held records. Keep its date, page, filename or lesson title attached. Do not copy from memory when the genuine record is available.</a:t>
            </a:r>
          </a:p>
          <a:p xmlns:a="http://schemas.openxmlformats.org/drawingml/2006/main">
            <a:r>
              <a:t>Choose one strong link Point to the claim, then the evidence and the reason that joins them. Say whether the link is clear, partial or still uncertain. A precise symbol or label is enough.</a:t>
            </a:r>
          </a:p>
          <a:p xmlns:a="http://schemas.openxmlformats.org/drawingml/2006/main">
            <a:r>
              <a:t>Choose one repair point Mark a missing locator, a claim that goes too far, a reason that is unclear or a limit that has disappeared. Name the problem without fixing it yet.</a:t>
            </a:r>
          </a:p>
          <a:p xmlns:a="http://schemas.openxmlformats.org/drawingml/2006/main">
            <a:r>
              <a:t>Prepare the comparison Keep the first version visible beside an empty change box. The first version is evidence of your thinking; it must not be erased when you improve it.</a:t>
            </a:r>
          </a:p>
          <a:p xmlns:a="http://schemas.openxmlformats.org/drawingml/2006/main">
            <a:r>
              <a:t>◆ Supported</a:t>
            </a:r>
          </a:p>
          <a:p xmlns:a="http://schemas.openxmlformats.org/drawingml/2006/main">
            <a:r>
              <a:t>Use two prepared markers: STRONG LINK and CHECK THIS. Point to the exact words, number, label or model feature that made you choose.</a:t>
            </a:r>
          </a:p>
          <a:p xmlns:a="http://schemas.openxmlformats.org/drawingml/2006/main">
            <a:r>
              <a:t>▲ Standard</a:t>
            </a:r>
          </a:p>
          <a:p xmlns:a="http://schemas.openxmlformats.org/drawingml/2006/main">
            <a:r>
              <a:t>Write a short locator and one sentence explaining why the selected link is useful. Keep one honest uncertainty beside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Starter: 3 minutes TOTAL across all slides in this stage.</a:t>
            </a:r>
          </a:p>
          <a:p xmlns:a="http://schemas.openxmlformats.org/drawingml/2006/main">
            <a:r>
              <a:t/>
            </a:r>
          </a:p>
          <a:p xmlns:a="http://schemas.openxmlformats.org/drawingml/2006/main">
            <a:r>
              <a:t>Receive a private prediction before feedback.</a:t>
            </a:r>
          </a:p>
          <a:p xmlns:a="http://schemas.openxmlformats.org/drawingml/2006/main">
            <a:r>
              <a:t/>
            </a:r>
          </a:p>
          <a:p xmlns:a="http://schemas.openxmlformats.org/drawingml/2006/main">
            <a:r>
              <a:t>If the distinction is insecure, compare two concrete examples and retry the same decision.</a:t>
            </a:r>
          </a:p>
          <a:p xmlns:a="http://schemas.openxmlformats.org/drawingml/2006/main">
            <a:r>
              <a:t/>
            </a:r>
          </a:p>
          <a:p xmlns:a="http://schemas.openxmlformats.org/drawingml/2006/main">
            <a:r>
              <a:t>Hold the distinction A fluent repeated fact is not automatically an evidence link. Ask which words locate the record and which words explain what it supports.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four topics. Today: one linked idea, its evidence, and its limit.</a:t>
            </a:r>
          </a:p>
          <a:p xmlns:a="http://schemas.openxmlformats.org/drawingml/2006/main">
            <a:r>
              <a:t>Read two accounts. One repeats a fact. One names evidence and links it to the claim. Find the sentence that shows the science thinking.</a:t>
            </a:r>
          </a:p>
          <a:p xmlns:a="http://schemas.openxmlformats.org/drawingml/2006/main">
            <a:r>
              <a:t>Account A</a:t>
            </a:r>
          </a:p>
          <a:p xmlns:a="http://schemas.openxmlformats.org/drawingml/2006/main">
            <a:r>
              <a:t>“The model has arrows.” Decide what is present and what is missing. Does this locate evidence, explain a link or state only a visible feature?</a:t>
            </a:r>
          </a:p>
          <a:p xmlns:a="http://schemas.openxmlformats.org/drawingml/2006/main">
            <a:r>
              <a:t>Account B</a:t>
            </a:r>
          </a:p>
          <a:p xmlns:a="http://schemas.openxmlformats.org/drawingml/2006/main">
            <a:r>
              <a:t>“The arrows point from the food to the animal, so the model shows the direction of energy transfer.” Identify the evidence words and the reasoning words.</a:t>
            </a:r>
          </a:p>
          <a:p xmlns:a="http://schemas.openxmlformats.org/drawingml/2006/main">
            <a:r>
              <a:t>Account A gives enough evidence</a:t>
            </a:r>
          </a:p>
          <a:p xmlns:a="http://schemas.openxmlformats.org/drawingml/2006/main">
            <a:r>
              <a:t>Account B shows the link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Starter: 3 minutes TOTAL across all slides in this stage.</a:t>
            </a:r>
          </a:p>
          <a:p xmlns:a="http://schemas.openxmlformats.org/drawingml/2006/main">
            <a:r>
              <a:t/>
            </a:r>
          </a:p>
          <a:p xmlns:a="http://schemas.openxmlformats.org/drawingml/2006/main">
            <a:r>
              <a:t>Receive a private prediction before feedback.</a:t>
            </a:r>
          </a:p>
          <a:p xmlns:a="http://schemas.openxmlformats.org/drawingml/2006/main">
            <a:r>
              <a:t/>
            </a:r>
          </a:p>
          <a:p xmlns:a="http://schemas.openxmlformats.org/drawingml/2006/main">
            <a:r>
              <a:t>If the distinction is insecure, compare two concrete examples and retry the same decision.</a:t>
            </a:r>
          </a:p>
          <a:p xmlns:a="http://schemas.openxmlformats.org/drawingml/2006/main">
            <a:r>
              <a:t/>
            </a:r>
          </a:p>
          <a:p xmlns:a="http://schemas.openxmlformats.org/drawingml/2006/main">
            <a:r>
              <a:t>Hold the distinction A fluent repeated fact is not automatically an evidence link. Ask which words locate the record and which words explain what it supports.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four topics. Today: one linked idea, its evidence, and its limit.</a:t>
            </a:r>
          </a:p>
          <a:p xmlns:a="http://schemas.openxmlformats.org/drawingml/2006/main">
            <a:r>
              <a:t>Read two accounts. One repeats a fact. One names evidence and links it to the claim. Find the sentence that shows the science thinking.</a:t>
            </a:r>
          </a:p>
          <a:p xmlns:a="http://schemas.openxmlformats.org/drawingml/2006/main">
            <a:r>
              <a:t>Account A</a:t>
            </a:r>
          </a:p>
          <a:p xmlns:a="http://schemas.openxmlformats.org/drawingml/2006/main">
            <a:r>
              <a:t>“The model has arrows.” Decide what is present and what is missing. Does this locate evidence, explain a link or state only a visible feature?</a:t>
            </a:r>
          </a:p>
          <a:p xmlns:a="http://schemas.openxmlformats.org/drawingml/2006/main">
            <a:r>
              <a:t>Account B</a:t>
            </a:r>
          </a:p>
          <a:p xmlns:a="http://schemas.openxmlformats.org/drawingml/2006/main">
            <a:r>
              <a:t>“The arrows point from the food to the animal, so the model shows the direction of energy transfer.” Identify the evidence words and the reasoning words.</a:t>
            </a:r>
          </a:p>
          <a:p xmlns:a="http://schemas.openxmlformats.org/drawingml/2006/main">
            <a:r>
              <a:t>Account A gives enough evidence</a:t>
            </a:r>
          </a:p>
          <a:p xmlns:a="http://schemas.openxmlformats.org/drawingml/2006/main">
            <a:r>
              <a:t>Account B shows the link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Starter: 3 minutes TOTAL across all slides in this stage.</a:t>
            </a:r>
          </a:p>
          <a:p xmlns:a="http://schemas.openxmlformats.org/drawingml/2006/main">
            <a:r>
              <a:t/>
            </a:r>
          </a:p>
          <a:p xmlns:a="http://schemas.openxmlformats.org/drawingml/2006/main">
            <a:r>
              <a:t>Receive a private prediction before feedback.</a:t>
            </a:r>
          </a:p>
          <a:p xmlns:a="http://schemas.openxmlformats.org/drawingml/2006/main">
            <a:r>
              <a:t/>
            </a:r>
          </a:p>
          <a:p xmlns:a="http://schemas.openxmlformats.org/drawingml/2006/main">
            <a:r>
              <a:t>If the distinction is insecure, compare two concrete examples and retry the same decision.</a:t>
            </a:r>
          </a:p>
          <a:p xmlns:a="http://schemas.openxmlformats.org/drawingml/2006/main">
            <a:r>
              <a:t/>
            </a:r>
          </a:p>
          <a:p xmlns:a="http://schemas.openxmlformats.org/drawingml/2006/main">
            <a:r>
              <a:t>Hold the distinction A fluent repeated fact is not automatically an evidence link. Ask which words locate the record and which words explain what it supports.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four topics. Today: one linked idea, its evidence, and its limit.</a:t>
            </a:r>
          </a:p>
          <a:p xmlns:a="http://schemas.openxmlformats.org/drawingml/2006/main">
            <a:r>
              <a:t>Read two accounts. One repeats a fact. One names evidence and links it to the claim. Find the sentence that shows the science thinking.</a:t>
            </a:r>
          </a:p>
          <a:p xmlns:a="http://schemas.openxmlformats.org/drawingml/2006/main">
            <a:r>
              <a:t>Account A</a:t>
            </a:r>
          </a:p>
          <a:p xmlns:a="http://schemas.openxmlformats.org/drawingml/2006/main">
            <a:r>
              <a:t>“The model has arrows.” Decide what is present and what is missing. Does this locate evidence, explain a link or state only a visible feature?</a:t>
            </a:r>
          </a:p>
          <a:p xmlns:a="http://schemas.openxmlformats.org/drawingml/2006/main">
            <a:r>
              <a:t>Account B</a:t>
            </a:r>
          </a:p>
          <a:p xmlns:a="http://schemas.openxmlformats.org/drawingml/2006/main">
            <a:r>
              <a:t>“The arrows point from the food to the animal, so the model shows the direction of energy transfer.” Identify the evidence words and the reasoning words.</a:t>
            </a:r>
          </a:p>
          <a:p xmlns:a="http://schemas.openxmlformats.org/drawingml/2006/main">
            <a:r>
              <a:t>Account A gives enough evidence</a:t>
            </a:r>
          </a:p>
          <a:p xmlns:a="http://schemas.openxmlformats.org/drawingml/2006/main">
            <a:r>
              <a:t>Account B shows the link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4 minutes TOTAL across all slides in this stage.</a:t>
            </a:r>
          </a:p>
          <a:p xmlns:a="http://schemas.openxmlformats.org/drawingml/2006/main">
            <a:r>
              <a:t/>
            </a:r>
          </a:p>
          <a:p xmlns:a="http://schemas.openxmlformats.org/drawingml/2006/main">
            <a:r>
              <a:t>Model a neutral example, not a fictional learner biography, result or completed assessment form.</a:t>
            </a:r>
          </a:p>
          <a:p xmlns:a="http://schemas.openxmlformats.org/drawingml/2006/main">
            <a:r>
              <a:t/>
            </a:r>
          </a:p>
          <a:p xmlns:a="http://schemas.openxmlformats.org/drawingml/2006/main">
            <a:r>
              <a:t>Name the boundary as part of the reasoning, not as a footer.</a:t>
            </a:r>
          </a:p>
          <a:p xmlns:a="http://schemas.openxmlformats.org/drawingml/2006/main">
            <a:r>
              <a:t/>
            </a:r>
          </a:p>
          <a:p xmlns:a="http://schemas.openxmlformats.org/drawingml/2006/main">
            <a:r>
              <a:t>Authorship boundary Model the reasoning route with neutral content. Do not supply a fictional learner result, reconstruct old work or complete the learner's account for them.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Limit finder</a:t>
            </a:r>
          </a:p>
          <a:p xmlns:a="http://schemas.openxmlformats.org/drawingml/2006/main">
            <a:r>
              <a:t>Press a claim, then the honest limit that belongs beside it.</a:t>
            </a:r>
          </a:p>
          <a:p xmlns:a="http://schemas.openxmlformats.org/drawingml/2006/main">
            <a:r>
              <a:t>the globe-and-lamp model explains day and night</a:t>
            </a:r>
          </a:p>
          <a:p xmlns:a="http://schemas.openxmlformats.org/drawingml/2006/main">
            <a:r>
              <a:t>the rover test compared two surfaces</a:t>
            </a:r>
          </a:p>
          <a:p xmlns:a="http://schemas.openxmlformats.org/drawingml/2006/main">
            <a:r>
              <a:t>the classroom ball stood for Earth</a:t>
            </a:r>
          </a:p>
          <a:p xmlns:a="http://schemas.openxmlformats.org/drawingml/2006/main">
            <a:r>
              <a:t>the climate figures we used were simplified</a:t>
            </a:r>
          </a:p>
          <a:p xmlns:a="http://schemas.openxmlformats.org/drawingml/2006/main">
            <a:r>
              <a:t>a model is not to scale and simplifies the axis</a:t>
            </a:r>
          </a:p>
          <a:p xmlns:a="http://schemas.openxmlformats.org/drawingml/2006/main">
            <a:r>
              <a:t>three repeats on two surfaces — a pattern, not a law</a:t>
            </a:r>
          </a:p>
          <a:p xmlns:a="http://schemas.openxmlformats.org/drawingml/2006/main">
            <a:r>
              <a:t>a smooth ball hides mountains and slight flattening</a:t>
            </a:r>
          </a:p>
          <a:p xmlns:a="http://schemas.openxmlformats.org/drawingml/2006/main">
            <a:r>
              <a:t>real climate data is noisier than a diagram</a:t>
            </a:r>
          </a:p>
          <a:p xmlns:a="http://schemas.openxmlformats.org/drawingml/2006/main">
            <a:r>
              <a:t>Press a card.</a:t>
            </a:r>
          </a:p>
          <a:p xmlns:a="http://schemas.openxmlformats.org/drawingml/2006/main">
            <a:r>
              <a:t>Neutral model: a labelled food-chain card shows grass → rabbit → fox. The claim is narrow: the arrows show the direction of energy transfer in this model.</a:t>
            </a:r>
          </a:p>
          <a:p xmlns:a="http://schemas.openxmlformats.org/drawingml/2006/main">
            <a:r>
              <a:t>1 · State a claim that the record can answer. “In this model, energy is transferred from the grass to the rabbit and then to the fox.”</a:t>
            </a:r>
          </a:p>
          <a:p xmlns:a="http://schemas.openxmlformats.org/drawingml/2006/main">
            <a:r>
              <a:t>2 · Name the evidence: source, result, note or labelled model. “The labelled arrows on source card FC-2 point grass → rabbit → fox.” A source ID and the visible feature make the record locatable.</a:t>
            </a:r>
          </a:p>
          <a:p xmlns:a="http://schemas.openxmlformats.org/drawingml/2006/main">
            <a:r>
              <a:t>3 · Use because or therefore to link them. Then add a fair limit. “The arrows support the transfer direction, but this card does not show the amount of energy transferred.” The limit prevents the evidence carrying a claim it cannot support.</a:t>
            </a:r>
          </a:p>
          <a:p xmlns:a="http://schemas.openxmlformats.org/drawingml/2006/main">
            <a:r>
              <a:t>Before feedback Keep the original claim, locator, reason and limit visible. Do not tidy it away while the model is being checked.</a:t>
            </a:r>
          </a:p>
          <a:p xmlns:a="http://schemas.openxmlformats.org/drawingml/2006/main">
            <a:r>
              <a:t>After feedback Change one precise part, then name what changed and why. The response is guidance, not a score or an assessment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4 minutes TOTAL across all slides in this stage.</a:t>
            </a:r>
          </a:p>
          <a:p xmlns:a="http://schemas.openxmlformats.org/drawingml/2006/main">
            <a:r>
              <a:t/>
            </a:r>
          </a:p>
          <a:p xmlns:a="http://schemas.openxmlformats.org/drawingml/2006/main">
            <a:r>
              <a:t>Model a neutral example, not a fictional learner biography, result or completed assessment form.</a:t>
            </a:r>
          </a:p>
          <a:p xmlns:a="http://schemas.openxmlformats.org/drawingml/2006/main">
            <a:r>
              <a:t/>
            </a:r>
          </a:p>
          <a:p xmlns:a="http://schemas.openxmlformats.org/drawingml/2006/main">
            <a:r>
              <a:t>Name the boundary as part of the reasoning, not as a footer.</a:t>
            </a:r>
          </a:p>
          <a:p xmlns:a="http://schemas.openxmlformats.org/drawingml/2006/main">
            <a:r>
              <a:t/>
            </a:r>
          </a:p>
          <a:p xmlns:a="http://schemas.openxmlformats.org/drawingml/2006/main">
            <a:r>
              <a:t>Authorship boundary Model the reasoning route with neutral content. Do not supply a fictional learner result, reconstruct old work or complete the learner's account for them.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Limit finder</a:t>
            </a:r>
          </a:p>
          <a:p xmlns:a="http://schemas.openxmlformats.org/drawingml/2006/main">
            <a:r>
              <a:t>Press a claim, then the honest limit that belongs beside it.</a:t>
            </a:r>
          </a:p>
          <a:p xmlns:a="http://schemas.openxmlformats.org/drawingml/2006/main">
            <a:r>
              <a:t>the globe-and-lamp model explains day and night</a:t>
            </a:r>
          </a:p>
          <a:p xmlns:a="http://schemas.openxmlformats.org/drawingml/2006/main">
            <a:r>
              <a:t>the rover test compared two surfaces</a:t>
            </a:r>
          </a:p>
          <a:p xmlns:a="http://schemas.openxmlformats.org/drawingml/2006/main">
            <a:r>
              <a:t>the classroom ball stood for Earth</a:t>
            </a:r>
          </a:p>
          <a:p xmlns:a="http://schemas.openxmlformats.org/drawingml/2006/main">
            <a:r>
              <a:t>the climate figures we used were simplified</a:t>
            </a:r>
          </a:p>
          <a:p xmlns:a="http://schemas.openxmlformats.org/drawingml/2006/main">
            <a:r>
              <a:t>a model is not to scale and simplifies the axis</a:t>
            </a:r>
          </a:p>
          <a:p xmlns:a="http://schemas.openxmlformats.org/drawingml/2006/main">
            <a:r>
              <a:t>three repeats on two surfaces — a pattern, not a law</a:t>
            </a:r>
          </a:p>
          <a:p xmlns:a="http://schemas.openxmlformats.org/drawingml/2006/main">
            <a:r>
              <a:t>a smooth ball hides mountains and slight flattening</a:t>
            </a:r>
          </a:p>
          <a:p xmlns:a="http://schemas.openxmlformats.org/drawingml/2006/main">
            <a:r>
              <a:t>real climate data is noisier than a diagram</a:t>
            </a:r>
          </a:p>
          <a:p xmlns:a="http://schemas.openxmlformats.org/drawingml/2006/main">
            <a:r>
              <a:t>Press a card.</a:t>
            </a:r>
          </a:p>
          <a:p xmlns:a="http://schemas.openxmlformats.org/drawingml/2006/main">
            <a:r>
              <a:t>Neutral model: a labelled food-chain card shows grass → rabbit → fox. The claim is narrow: the arrows show the direction of energy transfer in this model.</a:t>
            </a:r>
          </a:p>
          <a:p xmlns:a="http://schemas.openxmlformats.org/drawingml/2006/main">
            <a:r>
              <a:t>1 · State a claim that the record can answer. “In this model, energy is transferred from the grass to the rabbit and then to the fox.”</a:t>
            </a:r>
          </a:p>
          <a:p xmlns:a="http://schemas.openxmlformats.org/drawingml/2006/main">
            <a:r>
              <a:t>2 · Name the evidence: source, result, note or labelled model. “The labelled arrows on source card FC-2 point grass → rabbit → fox.” A source ID and the visible feature make the record locatable.</a:t>
            </a:r>
          </a:p>
          <a:p xmlns:a="http://schemas.openxmlformats.org/drawingml/2006/main">
            <a:r>
              <a:t>3 · Use because or therefore to link them. Then add a fair limit. “The arrows support the transfer direction, but this card does not show the amount of energy transferred.” The limit prevents the evidence carrying a claim it cannot support.</a:t>
            </a:r>
          </a:p>
          <a:p xmlns:a="http://schemas.openxmlformats.org/drawingml/2006/main">
            <a:r>
              <a:t>Before feedback Keep the original claim, locator, reason and limit visible. Do not tidy it away while the model is being checked.</a:t>
            </a:r>
          </a:p>
          <a:p xmlns:a="http://schemas.openxmlformats.org/drawingml/2006/main">
            <a:r>
              <a:t>After feedback Change one precise part, then name what changed and why. The response is guidance, not a score or an assessment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4 minutes TOTAL across all slides in this stage.</a:t>
            </a:r>
          </a:p>
          <a:p xmlns:a="http://schemas.openxmlformats.org/drawingml/2006/main">
            <a:r>
              <a:t/>
            </a:r>
          </a:p>
          <a:p xmlns:a="http://schemas.openxmlformats.org/drawingml/2006/main">
            <a:r>
              <a:t>Model a neutral example, not a fictional learner biography, result or completed assessment form.</a:t>
            </a:r>
          </a:p>
          <a:p xmlns:a="http://schemas.openxmlformats.org/drawingml/2006/main">
            <a:r>
              <a:t/>
            </a:r>
          </a:p>
          <a:p xmlns:a="http://schemas.openxmlformats.org/drawingml/2006/main">
            <a:r>
              <a:t>Name the boundary as part of the reasoning, not as a footer.</a:t>
            </a:r>
          </a:p>
          <a:p xmlns:a="http://schemas.openxmlformats.org/drawingml/2006/main">
            <a:r>
              <a:t/>
            </a:r>
          </a:p>
          <a:p xmlns:a="http://schemas.openxmlformats.org/drawingml/2006/main">
            <a:r>
              <a:t>Authorship boundary Model the reasoning route with neutral content. Do not supply a fictional learner result, reconstruct old work or complete the learner's account for them.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Limit finder</a:t>
            </a:r>
          </a:p>
          <a:p xmlns:a="http://schemas.openxmlformats.org/drawingml/2006/main">
            <a:r>
              <a:t>Press a claim, then the honest limit that belongs beside it.</a:t>
            </a:r>
          </a:p>
          <a:p xmlns:a="http://schemas.openxmlformats.org/drawingml/2006/main">
            <a:r>
              <a:t>the globe-and-lamp model explains day and night</a:t>
            </a:r>
          </a:p>
          <a:p xmlns:a="http://schemas.openxmlformats.org/drawingml/2006/main">
            <a:r>
              <a:t>the rover test compared two surfaces</a:t>
            </a:r>
          </a:p>
          <a:p xmlns:a="http://schemas.openxmlformats.org/drawingml/2006/main">
            <a:r>
              <a:t>the classroom ball stood for Earth</a:t>
            </a:r>
          </a:p>
          <a:p xmlns:a="http://schemas.openxmlformats.org/drawingml/2006/main">
            <a:r>
              <a:t>the climate figures we used were simplified</a:t>
            </a:r>
          </a:p>
          <a:p xmlns:a="http://schemas.openxmlformats.org/drawingml/2006/main">
            <a:r>
              <a:t>a model is not to scale and simplifies the axis</a:t>
            </a:r>
          </a:p>
          <a:p xmlns:a="http://schemas.openxmlformats.org/drawingml/2006/main">
            <a:r>
              <a:t>three repeats on two surfaces — a pattern, not a law</a:t>
            </a:r>
          </a:p>
          <a:p xmlns:a="http://schemas.openxmlformats.org/drawingml/2006/main">
            <a:r>
              <a:t>a smooth ball hides mountains and slight flattening</a:t>
            </a:r>
          </a:p>
          <a:p xmlns:a="http://schemas.openxmlformats.org/drawingml/2006/main">
            <a:r>
              <a:t>real climate data is noisier than a diagram</a:t>
            </a:r>
          </a:p>
          <a:p xmlns:a="http://schemas.openxmlformats.org/drawingml/2006/main">
            <a:r>
              <a:t>Press a card.</a:t>
            </a:r>
          </a:p>
          <a:p xmlns:a="http://schemas.openxmlformats.org/drawingml/2006/main">
            <a:r>
              <a:t>Neutral model: a labelled food-chain card shows grass → rabbit → fox. The claim is narrow: the arrows show the direction of energy transfer in this model.</a:t>
            </a:r>
          </a:p>
          <a:p xmlns:a="http://schemas.openxmlformats.org/drawingml/2006/main">
            <a:r>
              <a:t>1 · State a claim that the record can answer. “In this model, energy is transferred from the grass to the rabbit and then to the fox.”</a:t>
            </a:r>
          </a:p>
          <a:p xmlns:a="http://schemas.openxmlformats.org/drawingml/2006/main">
            <a:r>
              <a:t>2 · Name the evidence: source, result, note or labelled model. “The labelled arrows on source card FC-2 point grass → rabbit → fox.” A source ID and the visible feature make the record locatable.</a:t>
            </a:r>
          </a:p>
          <a:p xmlns:a="http://schemas.openxmlformats.org/drawingml/2006/main">
            <a:r>
              <a:t>3 · Use because or therefore to link them. Then add a fair limit. “The arrows support the transfer direction, but this card does not show the amount of energy transferred.” The limit prevents the evidence carrying a claim it cannot support.</a:t>
            </a:r>
          </a:p>
          <a:p xmlns:a="http://schemas.openxmlformats.org/drawingml/2006/main">
            <a:r>
              <a:t>Before feedback Keep the original claim, locator, reason and limit visible. Do not tidy it away while the model is being checked.</a:t>
            </a:r>
          </a:p>
          <a:p xmlns:a="http://schemas.openxmlformats.org/drawingml/2006/main">
            <a:r>
              <a:t>After feedback Change one precise part, then name what changed and why. The response is guidance, not a score or an assessment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4 minutes TOTAL across all slides in this stage.</a:t>
            </a:r>
          </a:p>
          <a:p xmlns:a="http://schemas.openxmlformats.org/drawingml/2006/main">
            <a:r>
              <a:t/>
            </a:r>
          </a:p>
          <a:p xmlns:a="http://schemas.openxmlformats.org/drawingml/2006/main">
            <a:r>
              <a:t>Model a neutral example, not a fictional learner biography, result or completed assessment form.</a:t>
            </a:r>
          </a:p>
          <a:p xmlns:a="http://schemas.openxmlformats.org/drawingml/2006/main">
            <a:r>
              <a:t/>
            </a:r>
          </a:p>
          <a:p xmlns:a="http://schemas.openxmlformats.org/drawingml/2006/main">
            <a:r>
              <a:t>Name the boundary as part of the reasoning, not as a footer.</a:t>
            </a:r>
          </a:p>
          <a:p xmlns:a="http://schemas.openxmlformats.org/drawingml/2006/main">
            <a:r>
              <a:t/>
            </a:r>
          </a:p>
          <a:p xmlns:a="http://schemas.openxmlformats.org/drawingml/2006/main">
            <a:r>
              <a:t>Authorship boundary Model the reasoning route with neutral content. Do not supply a fictional learner result, reconstruct old work or complete the learner's account for them.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Limit finder</a:t>
            </a:r>
          </a:p>
          <a:p xmlns:a="http://schemas.openxmlformats.org/drawingml/2006/main">
            <a:r>
              <a:t>Press a claim, then the honest limit that belongs beside it.</a:t>
            </a:r>
          </a:p>
          <a:p xmlns:a="http://schemas.openxmlformats.org/drawingml/2006/main">
            <a:r>
              <a:t>the globe-and-lamp model explains day and night</a:t>
            </a:r>
          </a:p>
          <a:p xmlns:a="http://schemas.openxmlformats.org/drawingml/2006/main">
            <a:r>
              <a:t>the rover test compared two surfaces</a:t>
            </a:r>
          </a:p>
          <a:p xmlns:a="http://schemas.openxmlformats.org/drawingml/2006/main">
            <a:r>
              <a:t>the classroom ball stood for Earth</a:t>
            </a:r>
          </a:p>
          <a:p xmlns:a="http://schemas.openxmlformats.org/drawingml/2006/main">
            <a:r>
              <a:t>the climate figures we used were simplified</a:t>
            </a:r>
          </a:p>
          <a:p xmlns:a="http://schemas.openxmlformats.org/drawingml/2006/main">
            <a:r>
              <a:t>a model is not to scale and simplifies the axis</a:t>
            </a:r>
          </a:p>
          <a:p xmlns:a="http://schemas.openxmlformats.org/drawingml/2006/main">
            <a:r>
              <a:t>three repeats on two surfaces — a pattern, not a law</a:t>
            </a:r>
          </a:p>
          <a:p xmlns:a="http://schemas.openxmlformats.org/drawingml/2006/main">
            <a:r>
              <a:t>a smooth ball hides mountains and slight flattening</a:t>
            </a:r>
          </a:p>
          <a:p xmlns:a="http://schemas.openxmlformats.org/drawingml/2006/main">
            <a:r>
              <a:t>real climate data is noisier than a diagram</a:t>
            </a:r>
          </a:p>
          <a:p xmlns:a="http://schemas.openxmlformats.org/drawingml/2006/main">
            <a:r>
              <a:t>Press a card.</a:t>
            </a:r>
          </a:p>
          <a:p xmlns:a="http://schemas.openxmlformats.org/drawingml/2006/main">
            <a:r>
              <a:t>Neutral model: a labelled food-chain card shows grass → rabbit → fox. The claim is narrow: the arrows show the direction of energy transfer in this model.</a:t>
            </a:r>
          </a:p>
          <a:p xmlns:a="http://schemas.openxmlformats.org/drawingml/2006/main">
            <a:r>
              <a:t>1 · State a claim that the record can answer. “In this model, energy is transferred from the grass to the rabbit and then to the fox.”</a:t>
            </a:r>
          </a:p>
          <a:p xmlns:a="http://schemas.openxmlformats.org/drawingml/2006/main">
            <a:r>
              <a:t>2 · Name the evidence: source, result, note or labelled model. “The labelled arrows on source card FC-2 point grass → rabbit → fox.” A source ID and the visible feature make the record locatable.</a:t>
            </a:r>
          </a:p>
          <a:p xmlns:a="http://schemas.openxmlformats.org/drawingml/2006/main">
            <a:r>
              <a:t>3 · Use because or therefore to link them. Then add a fair limit. “The arrows support the transfer direction, but this card does not show the amount of energy transferred.” The limit prevents the evidence carrying a claim it cannot support.</a:t>
            </a:r>
          </a:p>
          <a:p xmlns:a="http://schemas.openxmlformats.org/drawingml/2006/main">
            <a:r>
              <a:t>Before feedback Keep the original claim, locator, reason and limit visible. Do not tidy it away while the model is being checked.</a:t>
            </a:r>
          </a:p>
          <a:p xmlns:a="http://schemas.openxmlformats.org/drawingml/2006/main">
            <a:r>
              <a:t>After feedback Change one precise part, then name what changed and why. The response is guidance, not a score or an assessment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We do: 3 minutes TOTAL across all slides in this stage.</a:t>
            </a:r>
          </a:p>
          <a:p xmlns:a="http://schemas.openxmlformats.org/drawingml/2006/main">
            <a:r>
              <a:t/>
            </a:r>
          </a:p>
          <a:p xmlns:a="http://schemas.openxmlformats.org/drawingml/2006/main">
            <a:r>
              <a:t>Give private think time before accepting a spoken, pointed or written choice.</a:t>
            </a:r>
          </a:p>
          <a:p xmlns:a="http://schemas.openxmlformats.org/drawingml/2006/main">
            <a:r>
              <a:t/>
            </a:r>
          </a:p>
          <a:p xmlns:a="http://schemas.openxmlformats.org/drawingml/2006/main">
            <a:r>
              <a:t>Ask for the evidence clue; do not praise confidence as accuracy.</a:t>
            </a:r>
          </a:p>
          <a:p xmlns:a="http://schemas.openxmlformats.org/drawingml/2006/main">
            <a:r>
              <a:t/>
            </a:r>
          </a:p>
          <a:p xmlns:a="http://schemas.openxmlformats.org/drawingml/2006/main">
            <a:r>
              <a:t>Accept the lightest response route The learner may point, select, write, type or dictate exact words. Keep adult wording and learner meaning separate.</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the move that makes the science more true, not just longer.</a:t>
            </a:r>
          </a:p>
          <a:p xmlns:a="http://schemas.openxmlformats.org/drawingml/2006/main">
            <a:r>
              <a:t>Clear Add the missing locator, label or science word so another reader can find the record and follow the link.</a:t>
            </a:r>
          </a:p>
          <a:p xmlns:a="http://schemas.openxmlformats.org/drawingml/2006/main">
            <a:r>
              <a:t>Fair Narrow the claim, restore an uncertainty or state what the record cannot show.</a:t>
            </a:r>
          </a:p>
          <a:p xmlns:a="http://schemas.openxmlformats.org/drawingml/2006/main">
            <a:r>
              <a:t>Wider Connect the same reasoning to a second authentic record without inventing a result or changing the first one.</a:t>
            </a:r>
          </a:p>
          <a:p xmlns:a="http://schemas.openxmlformats.org/drawingml/2006/main">
            <a:r>
              <a:t>Checked change Keep the first version. Write the new version beside it and name the response you used.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2: 3 minutes TOTAL across all slides in this stage.</a:t>
            </a:r>
          </a:p>
          <a:p xmlns:a="http://schemas.openxmlformats.org/drawingml/2006/main">
            <a:r>
              <a:t/>
            </a:r>
          </a:p>
          <a:p xmlns:a="http://schemas.openxmlformats.org/drawingml/2006/main">
            <a:r>
              <a:t>Keep the model inside the source and authorship boundary.</a:t>
            </a:r>
          </a:p>
          <a:p xmlns:a="http://schemas.openxmlformats.org/drawingml/2006/main">
            <a:r>
              <a:t/>
            </a:r>
          </a:p>
          <a:p xmlns:a="http://schemas.openxmlformats.org/drawingml/2006/main">
            <a:r>
              <a:t>A missing record, uncertain claim or approval decision remains visible.</a:t>
            </a:r>
          </a:p>
          <a:p xmlns:a="http://schemas.openxmlformats.org/drawingml/2006/main">
            <a:r>
              <a:t/>
            </a:r>
          </a:p>
          <a:p xmlns:a="http://schemas.openxmlformats.org/drawingml/2006/main">
            <a:r>
              <a:t>Do not upgrade A clearer explanation remains teaching work until an authorised centre process says otherwise. Preserve uncertainty and missing evidence.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Read or hear the response. It is not a score. Choose: make clear, make fair or make wider.</a:t>
            </a:r>
          </a:p>
          <a:p xmlns:a="http://schemas.openxmlformats.org/drawingml/2006/main">
            <a:r>
              <a:t>First version: “The food chain proves all foxes eat rabbits.” Keep it visible even though it goes beyond the model.</a:t>
            </a:r>
          </a:p>
          <a:p xmlns:a="http://schemas.openxmlformats.org/drawingml/2006/main">
            <a:r>
              <a:t>Response: “Make fair: say what this card shows, not what every fox does.” The response identifies the boundary; it does not write the learner's revision.</a:t>
            </a:r>
          </a:p>
          <a:p xmlns:a="http://schemas.openxmlformats.org/drawingml/2006/main">
            <a:r>
              <a:t>Checked revision: “This card shows a possible grass → rabbit → fox feeding link.” Record the exact change. Keep the first draft so the change can be seen.</a:t>
            </a:r>
          </a:p>
          <a:p xmlns:a="http://schemas.openxmlformats.org/drawingml/2006/main">
            <a:r>
              <a:t>Keep</a:t>
            </a:r>
          </a:p>
          <a:p xmlns:a="http://schemas.openxmlformats.org/drawingml/2006/main">
            <a:r>
              <a:t>Do not add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 do 2: 3 minutes TOTAL across all slides in this stage.</a:t>
            </a:r>
          </a:p>
          <a:p xmlns:a="http://schemas.openxmlformats.org/drawingml/2006/main">
            <a:r>
              <a:t/>
            </a:r>
          </a:p>
          <a:p xmlns:a="http://schemas.openxmlformats.org/drawingml/2006/main">
            <a:r>
              <a:t>Keep the model inside the source and authorship boundary.</a:t>
            </a:r>
          </a:p>
          <a:p xmlns:a="http://schemas.openxmlformats.org/drawingml/2006/main">
            <a:r>
              <a:t/>
            </a:r>
          </a:p>
          <a:p xmlns:a="http://schemas.openxmlformats.org/drawingml/2006/main">
            <a:r>
              <a:t>A missing record, uncertain claim or approval decision remains visible.</a:t>
            </a:r>
          </a:p>
          <a:p xmlns:a="http://schemas.openxmlformats.org/drawingml/2006/main">
            <a:r>
              <a:t/>
            </a:r>
          </a:p>
          <a:p xmlns:a="http://schemas.openxmlformats.org/drawingml/2006/main">
            <a:r>
              <a:t>Do not upgrade A clearer explanation remains teaching work until an authorised centre process says otherwise. Preserve uncertainty and missing evidence.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Read or hear the response. It is not a score. Choose: make clear, make fair or make wider.</a:t>
            </a:r>
          </a:p>
          <a:p xmlns:a="http://schemas.openxmlformats.org/drawingml/2006/main">
            <a:r>
              <a:t>First version: “The food chain proves all foxes eat rabbits.” Keep it visible even though it goes beyond the model.</a:t>
            </a:r>
          </a:p>
          <a:p xmlns:a="http://schemas.openxmlformats.org/drawingml/2006/main">
            <a:r>
              <a:t>Response: “Make fair: say what this card shows, not what every fox does.” The response identifies the boundary; it does not write the learner's revision.</a:t>
            </a:r>
          </a:p>
          <a:p xmlns:a="http://schemas.openxmlformats.org/drawingml/2006/main">
            <a:r>
              <a:t>Checked revision: “This card shows a possible grass → rabbit → fox feeding link.” Record the exact change. Keep the first draft so the change can be seen.</a:t>
            </a:r>
          </a:p>
          <a:p xmlns:a="http://schemas.openxmlformats.org/drawingml/2006/main">
            <a:r>
              <a:t>Keep</a:t>
            </a:r>
          </a:p>
          <a:p xmlns:a="http://schemas.openxmlformats.org/drawingml/2006/main">
            <a:r>
              <a:t>Do not add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We do 2: 4 minutes TOTAL across all slides in this stage.</a:t>
            </a:r>
          </a:p>
          <a:p xmlns:a="http://schemas.openxmlformats.org/drawingml/2006/main">
            <a:r>
              <a:t/>
            </a:r>
          </a:p>
          <a:p xmlns:a="http://schemas.openxmlformats.org/drawingml/2006/main">
            <a:r>
              <a:t>Let the learner operate or direct the shared sort.</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Select access, not an answer Offer fewer cards, a visual sequence, exact-word scribing or private rehearsal. Keep the same locate → connect → limit → revise decision.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Find the genuine record, source or prior idea. Keep its date, filename, page, lesson title or source-card ID attached.</a:t>
            </a:r>
          </a:p>
          <a:p xmlns:a="http://schemas.openxmlformats.org/drawingml/2006/main">
            <a:r>
              <a:t>2 · Connect</a:t>
            </a:r>
          </a:p>
          <a:p xmlns:a="http://schemas.openxmlformats.org/drawingml/2006/main">
            <a:r>
              <a:t>Explain what it supports and how. Use a label, result, observation or model feature that another reader can find.</a:t>
            </a:r>
          </a:p>
          <a:p xmlns:a="http://schemas.openxmlformats.org/drawingml/2006/main">
            <a:r>
              <a:t>3 · Limit</a:t>
            </a:r>
          </a:p>
          <a:p xmlns:a="http://schemas.openxmlformats.org/drawingml/2006/main">
            <a:r>
              <a:t>Keep uncertainty, missing evidence and adult decisions visible. Say what the record cannot show.</a:t>
            </a:r>
          </a:p>
          <a:p xmlns:a="http://schemas.openxmlformats.org/drawingml/2006/main">
            <a:r>
              <a:t>4 · Receive Ask for one bounded response: make clear, make fair or make wider. The learner chooses whether to use it and may ask for it again.</a:t>
            </a:r>
          </a:p>
          <a:p xmlns:a="http://schemas.openxmlformats.org/drawingml/2006/main">
            <a:r>
              <a:t>5 · Revise Change one precise part without erasing the first version. Name the words, label, locator or limit that changed.</a:t>
            </a:r>
          </a:p>
          <a:p xmlns:a="http://schemas.openxmlformats.org/drawingml/2006/main">
            <a:r>
              <a:t>6 · Check Read from claim to evidence to reason to limit. Remove any invented detail and keep “not found yet” when a source is absent.</a:t>
            </a:r>
          </a:p>
          <a:p xmlns:a="http://schemas.openxmlformats.org/drawingml/2006/main">
            <a:r>
              <a:t>7 · Hand forward Name the genuine record, learner contribution, adult support, saved change and next authorised action.</a:t>
            </a:r>
          </a:p>
          <a:p xmlns:a="http://schemas.openxmlformats.org/drawingml/2006/main">
            <a:r>
              <a:t>Use the W7A evidence map, local GROW Science W8–W13 lessons and the pack's source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We do 2: 4 minutes TOTAL across all slides in this stage.</a:t>
            </a:r>
          </a:p>
          <a:p xmlns:a="http://schemas.openxmlformats.org/drawingml/2006/main">
            <a:r>
              <a:t/>
            </a:r>
          </a:p>
          <a:p xmlns:a="http://schemas.openxmlformats.org/drawingml/2006/main">
            <a:r>
              <a:t>Let the learner operate or direct the shared sort.</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Select access, not an answer Offer fewer cards, a visual sequence, exact-word scribing or private rehearsal. Keep the same locate → connect → limit → revise decision.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Find the genuine record, source or prior idea. Keep its date, filename, page, lesson title or source-card ID attached.</a:t>
            </a:r>
          </a:p>
          <a:p xmlns:a="http://schemas.openxmlformats.org/drawingml/2006/main">
            <a:r>
              <a:t>2 · Connect</a:t>
            </a:r>
          </a:p>
          <a:p xmlns:a="http://schemas.openxmlformats.org/drawingml/2006/main">
            <a:r>
              <a:t>Explain what it supports and how. Use a label, result, observation or model feature that another reader can find.</a:t>
            </a:r>
          </a:p>
          <a:p xmlns:a="http://schemas.openxmlformats.org/drawingml/2006/main">
            <a:r>
              <a:t>3 · Limit</a:t>
            </a:r>
          </a:p>
          <a:p xmlns:a="http://schemas.openxmlformats.org/drawingml/2006/main">
            <a:r>
              <a:t>Keep uncertainty, missing evidence and adult decisions visible. Say what the record cannot show.</a:t>
            </a:r>
          </a:p>
          <a:p xmlns:a="http://schemas.openxmlformats.org/drawingml/2006/main">
            <a:r>
              <a:t>4 · Receive Ask for one bounded response: make clear, make fair or make wider. The learner chooses whether to use it and may ask for it again.</a:t>
            </a:r>
          </a:p>
          <a:p xmlns:a="http://schemas.openxmlformats.org/drawingml/2006/main">
            <a:r>
              <a:t>5 · Revise Change one precise part without erasing the first version. Name the words, label, locator or limit that changed.</a:t>
            </a:r>
          </a:p>
          <a:p xmlns:a="http://schemas.openxmlformats.org/drawingml/2006/main">
            <a:r>
              <a:t>6 · Check Read from claim to evidence to reason to limit. Remove any invented detail and keep “not found yet” when a source is absent.</a:t>
            </a:r>
          </a:p>
          <a:p xmlns:a="http://schemas.openxmlformats.org/drawingml/2006/main">
            <a:r>
              <a:t>7 · Hand forward Name the genuine record, learner contribution, adult support, saved change and next authorised action.</a:t>
            </a:r>
          </a:p>
          <a:p xmlns:a="http://schemas.openxmlformats.org/drawingml/2006/main">
            <a:r>
              <a:t>Use the W7A evidence map, local GROW Science W8–W13 lessons and the pack's source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We do 2: 4 minutes TOTAL across all slides in this stage.</a:t>
            </a:r>
          </a:p>
          <a:p xmlns:a="http://schemas.openxmlformats.org/drawingml/2006/main">
            <a:r>
              <a:t/>
            </a:r>
          </a:p>
          <a:p xmlns:a="http://schemas.openxmlformats.org/drawingml/2006/main">
            <a:r>
              <a:t>Let the learner operate or direct the shared sort.</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Select access, not an answer Offer fewer cards, a visual sequence, exact-word scribing or private rehearsal. Keep the same locate → connect → limit → revise decision.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Find the genuine record, source or prior idea. Keep its date, filename, page, lesson title or source-card ID attached.</a:t>
            </a:r>
          </a:p>
          <a:p xmlns:a="http://schemas.openxmlformats.org/drawingml/2006/main">
            <a:r>
              <a:t>2 · Connect</a:t>
            </a:r>
          </a:p>
          <a:p xmlns:a="http://schemas.openxmlformats.org/drawingml/2006/main">
            <a:r>
              <a:t>Explain what it supports and how. Use a label, result, observation or model feature that another reader can find.</a:t>
            </a:r>
          </a:p>
          <a:p xmlns:a="http://schemas.openxmlformats.org/drawingml/2006/main">
            <a:r>
              <a:t>3 · Limit</a:t>
            </a:r>
          </a:p>
          <a:p xmlns:a="http://schemas.openxmlformats.org/drawingml/2006/main">
            <a:r>
              <a:t>Keep uncertainty, missing evidence and adult decisions visible. Say what the record cannot show.</a:t>
            </a:r>
          </a:p>
          <a:p xmlns:a="http://schemas.openxmlformats.org/drawingml/2006/main">
            <a:r>
              <a:t>4 · Receive Ask for one bounded response: make clear, make fair or make wider. The learner chooses whether to use it and may ask for it again.</a:t>
            </a:r>
          </a:p>
          <a:p xmlns:a="http://schemas.openxmlformats.org/drawingml/2006/main">
            <a:r>
              <a:t>5 · Revise Change one precise part without erasing the first version. Name the words, label, locator or limit that changed.</a:t>
            </a:r>
          </a:p>
          <a:p xmlns:a="http://schemas.openxmlformats.org/drawingml/2006/main">
            <a:r>
              <a:t>6 · Check Read from claim to evidence to reason to limit. Remove any invented detail and keep “not found yet” when a source is absent.</a:t>
            </a:r>
          </a:p>
          <a:p xmlns:a="http://schemas.openxmlformats.org/drawingml/2006/main">
            <a:r>
              <a:t>7 · Hand forward Name the genuine record, learner contribution, adult support, saved change and next authorised action.</a:t>
            </a:r>
          </a:p>
          <a:p xmlns:a="http://schemas.openxmlformats.org/drawingml/2006/main">
            <a:r>
              <a:t>Use the W7A evidence map, local GROW Science W8–W13 lessons and the pack's source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Make one evidence-led account from real autumn work. Include a claim, the place to find the evidence, the link, one limit and one clear change after a response. You may write, draw and label, use the school's approved audio route, or explain in private to an adult.</a:t>
            </a:r>
          </a:p>
          <a:p xmlns:a="http://schemas.openxmlformats.org/drawingml/2006/main">
            <a:r>
              <a:t>Use only Genuine prior work, local source cards, labelled models, real recorded results or a correction that is still visible.</a:t>
            </a:r>
          </a:p>
          <a:p xmlns:a="http://schemas.openxmlformats.org/drawingml/2006/main">
            <a:r>
              <a:t>You may Point, sort, draw, label, write, type, use the approved audio route or dictate your exact words.</a:t>
            </a:r>
          </a:p>
          <a:p xmlns:a="http://schemas.openxmlformats.org/drawingml/2006/main">
            <a:r>
              <a:t>Keep separate Your choice and meaning; shared rehearsal; adult preparation, prompting, exact-word scribing and filing.</a:t>
            </a:r>
          </a:p>
          <a:p xmlns:a="http://schemas.openxmlformats.org/drawingml/2006/main">
            <a:r>
              <a:t>◆ Supported</a:t>
            </a:r>
          </a:p>
          <a:p xmlns:a="http://schemas.openxmlformats.org/drawingml/2006/main">
            <a:r>
              <a:t>Use a claim/evidence/reason frame and one evidence item. Respond in private to one feedback choice.</a:t>
            </a:r>
          </a:p>
          <a:p xmlns:a="http://schemas.openxmlformats.org/drawingml/2006/main">
            <a:r>
              <a:t>Write or point one box at a time: My claim is … My evidence is … This supports it because … It does not show … The response was … I changed …</a:t>
            </a:r>
          </a:p>
          <a:p xmlns:a="http://schemas.openxmlformats.org/drawingml/2006/main">
            <a:r>
              <a:t>▲ Standard</a:t>
            </a:r>
          </a:p>
          <a:p xmlns:a="http://schemas.openxmlformats.org/drawingml/2006/main">
            <a:r>
              <a:t>Explain a linked idea with two evidence links, one limit and a saved change.</a:t>
            </a:r>
          </a:p>
          <a:p xmlns:a="http://schemas.openxmlformats.org/drawingml/2006/main">
            <a:r>
              <a:t>Add a locator for each evidence item. Compare what the two records show, then choose one clear, fair or wider revision.</a:t>
            </a:r>
          </a:p>
          <a:p xmlns:a="http://schemas.openxmlformats.org/drawingml/2006/main">
            <a:r>
              <a:t>Stretch</a:t>
            </a:r>
          </a:p>
          <a:p xmlns:a="http://schemas.openxmlformats.org/drawingml/2006/main">
            <a:r>
              <a:t>Judge two accounts or two pieces of evidence. Then use the same thinking for a new linked question.</a:t>
            </a:r>
          </a:p>
          <a:p xmlns:a="http://schemas.openxmlformats.org/drawingml/2006/main">
            <a:r>
              <a:t>Explain which evidence is more useful for the claim and why. Transfer the reasoning route, not an invented result, to the new question.</a:t>
            </a:r>
          </a:p>
          <a:p xmlns:a="http://schemas.openxmlformats.org/drawingml/2006/main">
            <a:r>
              <a:t>Claim check Make it narrow enough for this record to answer. Replace “proves,” “always” or “all” when the evidence cannot carry those words.</a:t>
            </a:r>
          </a:p>
          <a:p xmlns:a="http://schemas.openxmlformats.org/drawingml/2006/main">
            <a:r>
              <a:t>Locator check Name the page, date, filename, lesson, result row, model label or source-card ID. If it is absent, write “not found yet.”</a:t>
            </a:r>
          </a:p>
          <a:p xmlns:a="http://schemas.openxmlformats.org/drawingml/2006/main">
            <a:r>
              <a:t>Link check Point to the exact evidence feature, then explain how it supports, refines or challenges the claim. Do not add a hidden detail.</a:t>
            </a:r>
          </a:p>
          <a:p xmlns:a="http://schemas.openxmlformats.org/drawingml/2006/main">
            <a:r>
              <a:t>Limit check Name what the record cannot show, what is uncertain or what another genuine record would need to check.</a:t>
            </a:r>
          </a:p>
          <a:p xmlns:a="http://schemas.openxmlformats.org/drawingml/2006/main">
            <a:r>
              <a:t>Response check Record the bounded response as make clear, make fair or make wider. It is guidance, not a mark or award decision.</a:t>
            </a:r>
          </a:p>
          <a:p xmlns:a="http://schemas.openxmlformats.org/drawingml/2006/main">
            <a:r>
              <a:t>Revision check Keep the first version. Show the new version beside it and name the precise change that was made.</a:t>
            </a:r>
          </a:p>
          <a:p xmlns:a="http://schemas.openxmlformats.org/drawingml/2006/main">
            <a:r>
              <a:t>Worked evidence check: Begin with the claim, “This labelled model shows energy moving from grass to rabbit.” Ask: is the claim narrow enough for this model? Next write the locator: “Food-chain source card FC-2, arrows and labels.” Ask: could another person find the same feature? Then connect them: “The arrow from grass to rabbit supports the transfer direction.” Ask: have I explained the link, rather than only naming two things? Add a limit: “The card does not show how much energy is transferred.” Ask: have I kept the missing quantity visible? Receive one response: “Make clear: identify the exact arrow.” Keep those words as feedback, not as a score. Revise beside the first version: “The arrow labelled grass to rabbit shows the direction in this model.” Finally record: “I added the labels and kept ‘in this model’ because one diagram cannot show every feeding relationship.” Do not replace this neutral rehearsal with a learner biography, invented result or completed assessment record.</a:t>
            </a:r>
          </a:p>
          <a:p xmlns:a="http://schemas.openxmlformats.org/drawingml/2006/main">
            <a: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 Use the honest route, not a shortcut.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The evidence trail is ready for a centre review. Any assessment or UAS choice stays with the right centre role.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Show the before and after change. Complete: 'My evidence supports… It does not show… I changed… because…'.</a:t>
            </a:r>
          </a:p>
          <a:p xmlns:a="http://schemas.openxmlformats.org/drawingml/2006/main">
            <a:r>
              <a:t>My evidence link Name the claim, genuine record and reason. Point to the exact source, result, label or model feature.</a:t>
            </a:r>
          </a:p>
          <a:p xmlns:a="http://schemas.openxmlformats.org/drawingml/2006/main">
            <a:r>
              <a:t>My honest limit Say what this evidence does not show or what still needs checking. Keep uncertainty visible.</a:t>
            </a:r>
          </a:p>
          <a:p xmlns:a="http://schemas.openxmlformats.org/drawingml/2006/main">
            <a:r>
              <a:t>My checked change Show the first and revised versions. Name the clear, fair or wider response you used and the precise change.</a:t>
            </a:r>
          </a:p>
          <a:p xmlns:a="http://schemas.openxmlformats.org/drawingml/2006/main">
            <a:r>
              <a:t>Adult response The receiving adult names back the learner's link, limit and saved change. Adult preparation, prompting, scribing and filing stay separate.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SCI_G_A2_W7B_Autumn_Science_Evidence_Do.html.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The evidence trail is ready for a centre review. Any assessment or UAS choice stays with the right centre role.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Show the before and after change. Complete: 'My evidence supports… It does not show… I changed… because…'.</a:t>
            </a:r>
          </a:p>
          <a:p xmlns:a="http://schemas.openxmlformats.org/drawingml/2006/main">
            <a:r>
              <a:t>My evidence link Name the claim, genuine record and reason. Point to the exact source, result, label or model feature.</a:t>
            </a:r>
          </a:p>
          <a:p xmlns:a="http://schemas.openxmlformats.org/drawingml/2006/main">
            <a:r>
              <a:t>My honest limit Say what this evidence does not show or what still needs checking. Keep uncertainty visible.</a:t>
            </a:r>
          </a:p>
          <a:p xmlns:a="http://schemas.openxmlformats.org/drawingml/2006/main">
            <a:r>
              <a:t>My checked change Show the first and revised versions. Name the clear, fair or wider response you used and the precise change.</a:t>
            </a:r>
          </a:p>
          <a:p xmlns:a="http://schemas.openxmlformats.org/drawingml/2006/main">
            <a:r>
              <a:t>Adult response The receiving adult names back the learner's link, limit and saved change. Adult preparation, prompting, scribing and filing stay separate.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SCI_G_A2_W7B_Autumn_Science_Evidence_Do.html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9c6b1ecfb46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88d136378d46e6" /><Relationship Type="http://schemas.openxmlformats.org/officeDocument/2006/relationships/slideLayout" Target="/ppt/slideLayouts/slideLayout1.xml" Id="Rdb358eca698945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358eca698945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9abab1cb884de2" /><Relationship Type="http://schemas.openxmlformats.org/officeDocument/2006/relationships/image" Target="/ppt/media/image.png" Id="R6cae2d7af6814481" /><Relationship Type="http://schemas.openxmlformats.org/officeDocument/2006/relationships/hyperlink" Target="SCI_G_A2_W7B_Autumn_Science_Evidence_Do.html" TargetMode="External" Id="R53e80d66ea22428c" /><Relationship Type="http://schemas.openxmlformats.org/officeDocument/2006/relationships/notesSlide" Target="/ppt/notesSlides/notesSlide1.xml" Id="R0adb9e9f27034d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3a5d9edf4647fa" /><Relationship Type="http://schemas.openxmlformats.org/officeDocument/2006/relationships/notesSlide" Target="/ppt/notesSlides/notesSlide2.xml" Id="R1f8a58b94c174a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f8b60bdce44ae3" /><Relationship Type="http://schemas.openxmlformats.org/officeDocument/2006/relationships/notesSlide" Target="/ppt/notesSlides/notesSlide3.xml" Id="R0af748ff34e04a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4d252bc74845d2" /><Relationship Type="http://schemas.openxmlformats.org/officeDocument/2006/relationships/notesSlide" Target="/ppt/notesSlides/notesSlide4.xml" Id="R6b45c87a158247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a4af79869b41eb" /><Relationship Type="http://schemas.openxmlformats.org/officeDocument/2006/relationships/notesSlide" Target="/ppt/notesSlides/notesSlide5.xml" Id="R96f71cbe3fb241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a16df4cdfe40e9" /><Relationship Type="http://schemas.openxmlformats.org/officeDocument/2006/relationships/notesSlide" Target="/ppt/notesSlides/notesSlide6.xml" Id="R5c5792bc5b7146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487e7409f54396" /><Relationship Type="http://schemas.openxmlformats.org/officeDocument/2006/relationships/image" Target="/ppt/media/image2.png" Id="R8db39dfa2f9e49dd" /><Relationship Type="http://schemas.openxmlformats.org/officeDocument/2006/relationships/notesSlide" Target="/ppt/notesSlides/notesSlide7.xml" Id="Re4256833da104c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436efd7b2439b" /><Relationship Type="http://schemas.openxmlformats.org/officeDocument/2006/relationships/notesSlide" Target="/ppt/notesSlides/notesSlide8.xml" Id="Rde67ca18593948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2311e051e24417" /><Relationship Type="http://schemas.openxmlformats.org/officeDocument/2006/relationships/notesSlide" Target="/ppt/notesSlides/notesSlide9.xml" Id="Re573625793c244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2a2a0ca4094779" /><Relationship Type="http://schemas.openxmlformats.org/officeDocument/2006/relationships/notesSlide" Target="/ppt/notesSlides/notesSlide10.xml" Id="Rb102472a113648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09cd8aa43d47d8" /><Relationship Type="http://schemas.openxmlformats.org/officeDocument/2006/relationships/notesSlide" Target="/ppt/notesSlides/notesSlide11.xml" Id="Rcb3371ed263949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d2c559bfdd4760" /><Relationship Type="http://schemas.openxmlformats.org/officeDocument/2006/relationships/notesSlide" Target="/ppt/notesSlides/notesSlide12.xml" Id="Rdb29e3e3127942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743f0a6e984a11" /><Relationship Type="http://schemas.openxmlformats.org/officeDocument/2006/relationships/notesSlide" Target="/ppt/notesSlides/notesSlide13.xml" Id="R3d13c6b5fd6541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69d4e5efbe413e" /><Relationship Type="http://schemas.openxmlformats.org/officeDocument/2006/relationships/notesSlide" Target="/ppt/notesSlides/notesSlide14.xml" Id="Rc6c35e4363474f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9e83ac7193248e9" /><Relationship Type="http://schemas.openxmlformats.org/officeDocument/2006/relationships/notesSlide" Target="/ppt/notesSlides/notesSlide15.xml" Id="R9ef7b81bd83747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474039f34142c0" /><Relationship Type="http://schemas.openxmlformats.org/officeDocument/2006/relationships/notesSlide" Target="/ppt/notesSlides/notesSlide16.xml" Id="R04dbac13fb3f45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8859165035a41d4" /><Relationship Type="http://schemas.openxmlformats.org/officeDocument/2006/relationships/notesSlide" Target="/ppt/notesSlides/notesSlide17.xml" Id="Re330cfdbeef340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ef4bcb55124a4c" /><Relationship Type="http://schemas.openxmlformats.org/officeDocument/2006/relationships/notesSlide" Target="/ppt/notesSlides/notesSlide18.xml" Id="R519e6f5748cc46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fba329559874538" /><Relationship Type="http://schemas.openxmlformats.org/officeDocument/2006/relationships/notesSlide" Target="/ppt/notesSlides/notesSlide19.xml" Id="Rde3ab02e8b5047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9bff34a9b34e36" /><Relationship Type="http://schemas.openxmlformats.org/officeDocument/2006/relationships/notesSlide" Target="/ppt/notesSlides/notesSlide20.xml" Id="R0cc54044791f45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2e351088a1453a" /><Relationship Type="http://schemas.openxmlformats.org/officeDocument/2006/relationships/notesSlide" Target="/ppt/notesSlides/notesSlide21.xml" Id="R68fe5c66914447f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ab7058ade434437" /><Relationship Type="http://schemas.openxmlformats.org/officeDocument/2006/relationships/notesSlide" Target="/ppt/notesSlides/notesSlide22.xml" Id="Ra4dec4119a824d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88df758094d461a" /><Relationship Type="http://schemas.openxmlformats.org/officeDocument/2006/relationships/notesSlide" Target="/ppt/notesSlides/notesSlide23.xml" Id="R1cdbaf67e81347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0c1db40dff4fc4" /><Relationship Type="http://schemas.openxmlformats.org/officeDocument/2006/relationships/notesSlide" Target="/ppt/notesSlides/notesSlide24.xml" Id="R01f4561113bb4c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c681de531c4ba9" /><Relationship Type="http://schemas.openxmlformats.org/officeDocument/2006/relationships/notesSlide" Target="/ppt/notesSlides/notesSlide25.xml" Id="R5e20dfb9377b4ed8"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A0382118-D420-4CDE-8874-4F8E619712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B3EE866-AEE3-40E6-A60E-CF973F1DFE7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7228B0F1-DABD-4022-92B1-83E5167F3EE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80F0A00B-B13B-4013-A39B-2E6AB84FF68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Autumn Science: Explain, Check, Improve</a:t>
            </a:r>
          </a:p>
        </p:txBody>
      </p:sp>
      <p:sp>
        <p:nvSpPr>
          <p:cNvPr id="5" name="paper panel">
            <a:extLst xmlns:a="http://schemas.openxmlformats.org/drawingml/2006/main">
              <a:ext uri="{FF2B5EF4-FFF2-40B4-BE49-F238E27FC236}">
                <a16:creationId xmlns:a16="http://schemas.microsoft.com/office/drawing/2014/main" id="{E332C13D-3F1B-4AE3-87F2-29A27804E56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383E3F23-DBF4-41E9-B8A6-33F6F487F69C}"/>
              </a:ext>
            </a:extLst>
          </p:cNvPr>
          <p:cNvSpPr>
            <a:spLocks xmlns:a="http://schemas.openxmlformats.org/drawingml/2006/main" noGrp="1"/>
          </p:cNvSpPr>
          <p:nvPr/>
        </p:nvSpPr>
        <p:spPr>
          <a:xfrm xmlns:a="http://schemas.openxmlformats.org/drawingml/2006/main">
            <a:off x="762000" y="2181225"/>
            <a:ext cx="59245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use real autumn science evidence to explain one linked idea, note a limit, and improve my work after feedback.</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cae2d7af6814481"/>
          <a:stretch xmlns:a="http://schemas.openxmlformats.org/drawingml/2006/main"/>
        </p:blipFill>
        <p:spPr>
          <a:xfrm xmlns:a="http://schemas.openxmlformats.org/drawingml/2006/main">
            <a:off x="6953250" y="2552150"/>
            <a:ext cx="4400550" cy="2115649"/>
          </a:xfrm>
          <a:prstGeom xmlns:a="http://schemas.openxmlformats.org/drawingml/2006/main" prst="rect">
            <a:avLst/>
          </a:prstGeom>
        </p:spPr>
      </p:pic>
      <p:sp>
        <p:nvSpPr>
          <p:cNvPr id="8" name="HTML link">
            <a:extLst xmlns:a="http://schemas.openxmlformats.org/drawingml/2006/main">
              <a:ext uri="{FF2B5EF4-FFF2-40B4-BE49-F238E27FC236}">
                <a16:creationId xmlns:a16="http://schemas.microsoft.com/office/drawing/2014/main" id="{9873A3A4-851B-4D8F-852F-CF0F847F9D51}"/>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3F7D6E"/>
                </a:solidFill>
                <a:latin typeface="Arial"/>
                <a:ea typeface="Arial"/>
                <a:cs typeface="Arial"/>
              </a:defRPr>
            </a:pPr>
            <a:r>
              <a:rPr sz="1575" b="1">
                <a:solidFill>
                  <a:srgbClr val="3F7D6E"/>
                </a:solidFill>
                <a:latin typeface="Arial"/>
                <a:ea typeface="Arial"/>
                <a:cs typeface="Arial"/>
                <a:hlinkClick xmlns:r="http://schemas.openxmlformats.org/officeDocument/2006/relationships" r:id="R53e80d66ea22428c"/>
              </a:rPr>
              <a:t>Open the original interactive lesson</a:t>
            </a:r>
          </a:p>
        </p:txBody>
      </p:sp>
      <p:sp>
        <p:nvSpPr>
          <p:cNvPr id="9" name="time">
            <a:extLst xmlns:a="http://schemas.openxmlformats.org/drawingml/2006/main">
              <a:ext uri="{FF2B5EF4-FFF2-40B4-BE49-F238E27FC236}">
                <a16:creationId xmlns:a16="http://schemas.microsoft.com/office/drawing/2014/main" id="{B95AC7EC-2301-468C-876E-888020FACB6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0" name="number">
            <a:extLst xmlns:a="http://schemas.openxmlformats.org/drawingml/2006/main">
              <a:ext uri="{FF2B5EF4-FFF2-40B4-BE49-F238E27FC236}">
                <a16:creationId xmlns:a16="http://schemas.microsoft.com/office/drawing/2014/main" id="{55E0DFAB-ADFE-43CD-B4BD-5CE83C13B78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25</a:t>
            </a:r>
          </a:p>
        </p:txBody>
      </p:sp>
    </p:spTree>
    <p:extLst>
      <p:ext uri="{BB962C8B-B14F-4D97-AF65-F5344CB8AC3E}">
        <p14:creationId xmlns:p14="http://schemas.microsoft.com/office/powerpoint/2010/main" val="107632201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5F712ED-272C-4D22-9E58-3A3AA2063D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346E18B-58C1-4DC2-BFCA-C259F92A51D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2658A57-F7FC-4A20-A4DF-D72708DE5EE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ED90740C-E000-499D-A627-187B2920000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 with what is real</a:t>
            </a:r>
          </a:p>
        </p:txBody>
      </p:sp>
      <p:sp>
        <p:nvSpPr>
          <p:cNvPr id="5" name="paper panel">
            <a:extLst xmlns:a="http://schemas.openxmlformats.org/drawingml/2006/main">
              <a:ext uri="{FF2B5EF4-FFF2-40B4-BE49-F238E27FC236}">
                <a16:creationId xmlns:a16="http://schemas.microsoft.com/office/drawing/2014/main" id="{4C4A9CD8-63EF-4BFB-B158-2B1E4962722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838797D-D09C-407D-8359-C251273708F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Get your W7A map. Put one marker by the link you trust most. Put one by a link that needs work.</a:t>
            </a:r>
          </a:p>
        </p:txBody>
      </p:sp>
      <p:sp>
        <p:nvSpPr>
          <p:cNvPr id="7" name="content 1">
            <a:extLst xmlns:a="http://schemas.openxmlformats.org/drawingml/2006/main">
              <a:ext uri="{FF2B5EF4-FFF2-40B4-BE49-F238E27FC236}">
                <a16:creationId xmlns:a16="http://schemas.microsoft.com/office/drawing/2014/main" id="{F1986951-88F1-4615-B61D-07017E6E1BD8}"/>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Inherited Use authentic prior work, source cards or school-held records. Keep its date, page, filename or lesson title attached. Do not copy from memory when the genuine record is available.</a:t>
            </a:r>
          </a:p>
        </p:txBody>
      </p:sp>
      <p:sp>
        <p:nvSpPr>
          <p:cNvPr id="8" name="content 2">
            <a:extLst xmlns:a="http://schemas.openxmlformats.org/drawingml/2006/main">
              <a:ext uri="{FF2B5EF4-FFF2-40B4-BE49-F238E27FC236}">
                <a16:creationId xmlns:a16="http://schemas.microsoft.com/office/drawing/2014/main" id="{EB45C31E-E779-4684-BB0B-D522EC23CFCB}"/>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one strong link Point to the claim, then the evidence and the reason that joins them. Say whether the link is clear, partial or still uncertain. A precise symbol or label is enough.</a:t>
            </a:r>
          </a:p>
        </p:txBody>
      </p:sp>
      <p:sp>
        <p:nvSpPr>
          <p:cNvPr id="9" name="time">
            <a:extLst xmlns:a="http://schemas.openxmlformats.org/drawingml/2006/main">
              <a:ext uri="{FF2B5EF4-FFF2-40B4-BE49-F238E27FC236}">
                <a16:creationId xmlns:a16="http://schemas.microsoft.com/office/drawing/2014/main" id="{A607FB00-5570-407A-89EE-843A531DC90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0" name="number">
            <a:extLst xmlns:a="http://schemas.openxmlformats.org/drawingml/2006/main">
              <a:ext uri="{FF2B5EF4-FFF2-40B4-BE49-F238E27FC236}">
                <a16:creationId xmlns:a16="http://schemas.microsoft.com/office/drawing/2014/main" id="{428ECD19-05D7-4778-A230-FF5C4425913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25</a:t>
            </a:r>
          </a:p>
        </p:txBody>
      </p:sp>
    </p:spTree>
    <p:extLst>
      <p:ext uri="{BB962C8B-B14F-4D97-AF65-F5344CB8AC3E}">
        <p14:creationId xmlns:p14="http://schemas.microsoft.com/office/powerpoint/2010/main" val="1046159943"/>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31C2B91E-4BBF-4007-A7BA-772F73FFE4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70D6A1A-9E02-465F-8ACE-F83A0E9C444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B7F33DA-C16D-4228-89EC-A9EB5148A80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440C15D6-9535-48CF-84D2-C1B08D75762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 with what is real</a:t>
            </a:r>
          </a:p>
        </p:txBody>
      </p:sp>
      <p:sp>
        <p:nvSpPr>
          <p:cNvPr id="5" name="paper panel">
            <a:extLst xmlns:a="http://schemas.openxmlformats.org/drawingml/2006/main">
              <a:ext uri="{FF2B5EF4-FFF2-40B4-BE49-F238E27FC236}">
                <a16:creationId xmlns:a16="http://schemas.microsoft.com/office/drawing/2014/main" id="{BDF8277F-4732-490E-A72F-6EA6520200D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8A056D4-4CCE-41FC-8265-B48023C9592F}"/>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one repair point Mark a missing locator, a claim that goes too far, a reason that is unclear or a limit that has disappeared. Name the problem without fixing it yet.</a:t>
            </a:r>
          </a:p>
        </p:txBody>
      </p:sp>
      <p:sp>
        <p:nvSpPr>
          <p:cNvPr id="7" name="content 1">
            <a:extLst xmlns:a="http://schemas.openxmlformats.org/drawingml/2006/main">
              <a:ext uri="{FF2B5EF4-FFF2-40B4-BE49-F238E27FC236}">
                <a16:creationId xmlns:a16="http://schemas.microsoft.com/office/drawing/2014/main" id="{C7D3A476-345F-4B0B-9281-765DA3DB4DE0}"/>
              </a:ext>
            </a:extLst>
          </p:cNvPr>
          <p:cNvSpPr>
            <a:spLocks xmlns:a="http://schemas.openxmlformats.org/drawingml/2006/main" noGrp="1"/>
          </p:cNvSpPr>
          <p:nvPr/>
        </p:nvSpPr>
        <p:spPr>
          <a:xfrm xmlns:a="http://schemas.openxmlformats.org/drawingml/2006/main">
            <a:off x="800100" y="32956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Prepare the comparison Keep the first version visible beside an empty change box. The first version is evidence of your thinking; it must not be erased when you improve it.</a:t>
            </a:r>
          </a:p>
        </p:txBody>
      </p:sp>
      <p:sp>
        <p:nvSpPr>
          <p:cNvPr id="8" name="content 2">
            <a:extLst xmlns:a="http://schemas.openxmlformats.org/drawingml/2006/main">
              <a:ext uri="{FF2B5EF4-FFF2-40B4-BE49-F238E27FC236}">
                <a16:creationId xmlns:a16="http://schemas.microsoft.com/office/drawing/2014/main" id="{1807D669-9514-47E6-B449-DBFA74DBE592}"/>
              </a:ext>
            </a:extLst>
          </p:cNvPr>
          <p:cNvSpPr>
            <a:spLocks xmlns:a="http://schemas.openxmlformats.org/drawingml/2006/main" noGrp="1"/>
          </p:cNvSpPr>
          <p:nvPr/>
        </p:nvSpPr>
        <p:spPr>
          <a:xfrm xmlns:a="http://schemas.openxmlformats.org/drawingml/2006/main">
            <a:off x="800100" y="44196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7B17876C-D50A-44E9-A970-C3F73C94E8BA}"/>
              </a:ext>
            </a:extLst>
          </p:cNvPr>
          <p:cNvSpPr>
            <a:spLocks xmlns:a="http://schemas.openxmlformats.org/drawingml/2006/main" noGrp="1"/>
          </p:cNvSpPr>
          <p:nvPr/>
        </p:nvSpPr>
        <p:spPr>
          <a:xfrm xmlns:a="http://schemas.openxmlformats.org/drawingml/2006/main">
            <a:off x="800100" y="4895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two prepared markers: STRONG LINK and CHECK THIS. Point to the exact words, number, label or model feature that made you choose.</a:t>
            </a:r>
          </a:p>
        </p:txBody>
      </p:sp>
      <p:sp>
        <p:nvSpPr>
          <p:cNvPr id="10" name="time">
            <a:extLst xmlns:a="http://schemas.openxmlformats.org/drawingml/2006/main">
              <a:ext uri="{FF2B5EF4-FFF2-40B4-BE49-F238E27FC236}">
                <a16:creationId xmlns:a16="http://schemas.microsoft.com/office/drawing/2014/main" id="{009F38BD-CB34-4230-A02A-68587C70C21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143A8974-1A98-4457-AF27-7A704B24D71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25</a:t>
            </a:r>
          </a:p>
        </p:txBody>
      </p:sp>
    </p:spTree>
    <p:extLst>
      <p:ext uri="{BB962C8B-B14F-4D97-AF65-F5344CB8AC3E}">
        <p14:creationId xmlns:p14="http://schemas.microsoft.com/office/powerpoint/2010/main" val="116439922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CEFC5F3-E474-4490-AF11-A2A2A9B07B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5F2BE03-E13B-46F0-A343-21E1D9E6291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6D6416DD-E8D1-4720-8751-FD930D74FF4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201F0E11-1F7C-40EF-8ECF-109FE7A381A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 with what is real</a:t>
            </a:r>
          </a:p>
        </p:txBody>
      </p:sp>
      <p:sp>
        <p:nvSpPr>
          <p:cNvPr id="5" name="paper panel">
            <a:extLst xmlns:a="http://schemas.openxmlformats.org/drawingml/2006/main">
              <a:ext uri="{FF2B5EF4-FFF2-40B4-BE49-F238E27FC236}">
                <a16:creationId xmlns:a16="http://schemas.microsoft.com/office/drawing/2014/main" id="{B610F4C7-03EE-41B9-A7DB-2ABD0883CFE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83658DE-451D-414D-93F0-AC3AE45FD690}"/>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E4B6708E-AEDF-4E2A-9BC6-2AACDC93C9B9}"/>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Write a short locator and one sentence explaining why the selected link is useful. Keep one honest uncertainty beside it.</a:t>
            </a:r>
          </a:p>
        </p:txBody>
      </p:sp>
      <p:sp>
        <p:nvSpPr>
          <p:cNvPr id="8" name="time">
            <a:extLst xmlns:a="http://schemas.openxmlformats.org/drawingml/2006/main">
              <a:ext uri="{FF2B5EF4-FFF2-40B4-BE49-F238E27FC236}">
                <a16:creationId xmlns:a16="http://schemas.microsoft.com/office/drawing/2014/main" id="{E3AB23B7-53DB-4FAF-9BF3-1172FAE2CEB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9" name="number">
            <a:extLst xmlns:a="http://schemas.openxmlformats.org/drawingml/2006/main">
              <a:ext uri="{FF2B5EF4-FFF2-40B4-BE49-F238E27FC236}">
                <a16:creationId xmlns:a16="http://schemas.microsoft.com/office/drawing/2014/main" id="{456EF9DB-87C0-4F1A-95FD-8C495728B2B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25</a:t>
            </a:r>
          </a:p>
        </p:txBody>
      </p:sp>
    </p:spTree>
    <p:extLst>
      <p:ext uri="{BB962C8B-B14F-4D97-AF65-F5344CB8AC3E}">
        <p14:creationId xmlns:p14="http://schemas.microsoft.com/office/powerpoint/2010/main" val="1110374769"/>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D7F4117D-EA5F-417E-B096-D78A438720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ABFEADA-CD9D-4194-8FAF-27ED17B67B1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96B2C95D-3612-4FC8-8ADE-BC664DB8081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5C37D09-C071-47D9-B11B-21197ACF15B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would count?</a:t>
            </a:r>
          </a:p>
        </p:txBody>
      </p:sp>
      <p:sp>
        <p:nvSpPr>
          <p:cNvPr id="5" name="paper panel">
            <a:extLst xmlns:a="http://schemas.openxmlformats.org/drawingml/2006/main">
              <a:ext uri="{FF2B5EF4-FFF2-40B4-BE49-F238E27FC236}">
                <a16:creationId xmlns:a16="http://schemas.microsoft.com/office/drawing/2014/main" id="{065C0249-9B7C-44D4-A88B-CC9E0418290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72AFAB2-F673-4C87-AD3C-52998A780B89}"/>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the same four topics. Today: one linked idea, its evidence, and its limit.</a:t>
            </a:r>
          </a:p>
        </p:txBody>
      </p:sp>
      <p:sp>
        <p:nvSpPr>
          <p:cNvPr id="7" name="content 1">
            <a:extLst xmlns:a="http://schemas.openxmlformats.org/drawingml/2006/main">
              <a:ext uri="{FF2B5EF4-FFF2-40B4-BE49-F238E27FC236}">
                <a16:creationId xmlns:a16="http://schemas.microsoft.com/office/drawing/2014/main" id="{90D07FE7-5179-4A99-AC2C-33F2118FBD61}"/>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two accounts. One repeats a fact. One names evidence and links it to the claim. Find the sentence that shows the science thinking.</a:t>
            </a:r>
          </a:p>
        </p:txBody>
      </p:sp>
      <p:sp>
        <p:nvSpPr>
          <p:cNvPr id="8" name="content 2">
            <a:extLst xmlns:a="http://schemas.openxmlformats.org/drawingml/2006/main">
              <a:ext uri="{FF2B5EF4-FFF2-40B4-BE49-F238E27FC236}">
                <a16:creationId xmlns:a16="http://schemas.microsoft.com/office/drawing/2014/main" id="{CD26B5A6-EFB2-44DA-9299-3E76A5F23034}"/>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Account A</a:t>
            </a:r>
          </a:p>
        </p:txBody>
      </p:sp>
      <p:sp>
        <p:nvSpPr>
          <p:cNvPr id="9" name="content 3">
            <a:extLst xmlns:a="http://schemas.openxmlformats.org/drawingml/2006/main">
              <a:ext uri="{FF2B5EF4-FFF2-40B4-BE49-F238E27FC236}">
                <a16:creationId xmlns:a16="http://schemas.microsoft.com/office/drawing/2014/main" id="{F8EF6187-FE70-4F21-8B8E-F3BE387F245D}"/>
              </a:ext>
            </a:extLst>
          </p:cNvPr>
          <p:cNvSpPr>
            <a:spLocks xmlns:a="http://schemas.openxmlformats.org/drawingml/2006/main" noGrp="1"/>
          </p:cNvSpPr>
          <p:nvPr/>
        </p:nvSpPr>
        <p:spPr>
          <a:xfrm xmlns:a="http://schemas.openxmlformats.org/drawingml/2006/main">
            <a:off x="800100" y="4229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model has arrows.” Decide what is present and what is missing. Does this locate evidence, explain a link or state only a visible feature?</a:t>
            </a:r>
          </a:p>
        </p:txBody>
      </p:sp>
      <p:sp>
        <p:nvSpPr>
          <p:cNvPr id="10" name="content 4">
            <a:extLst xmlns:a="http://schemas.openxmlformats.org/drawingml/2006/main">
              <a:ext uri="{FF2B5EF4-FFF2-40B4-BE49-F238E27FC236}">
                <a16:creationId xmlns:a16="http://schemas.microsoft.com/office/drawing/2014/main" id="{0AAB384A-B9AA-479B-8F87-1D965AA16FF1}"/>
              </a:ext>
            </a:extLst>
          </p:cNvPr>
          <p:cNvSpPr>
            <a:spLocks xmlns:a="http://schemas.openxmlformats.org/drawingml/2006/main" noGrp="1"/>
          </p:cNvSpPr>
          <p:nvPr/>
        </p:nvSpPr>
        <p:spPr>
          <a:xfrm xmlns:a="http://schemas.openxmlformats.org/drawingml/2006/main">
            <a:off x="800100" y="50196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Account B</a:t>
            </a:r>
          </a:p>
        </p:txBody>
      </p:sp>
      <p:sp>
        <p:nvSpPr>
          <p:cNvPr id="11" name="time">
            <a:extLst xmlns:a="http://schemas.openxmlformats.org/drawingml/2006/main">
              <a:ext uri="{FF2B5EF4-FFF2-40B4-BE49-F238E27FC236}">
                <a16:creationId xmlns:a16="http://schemas.microsoft.com/office/drawing/2014/main" id="{C9236B20-2CDE-449A-8537-BA9D68B2356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2" name="number">
            <a:extLst xmlns:a="http://schemas.openxmlformats.org/drawingml/2006/main">
              <a:ext uri="{FF2B5EF4-FFF2-40B4-BE49-F238E27FC236}">
                <a16:creationId xmlns:a16="http://schemas.microsoft.com/office/drawing/2014/main" id="{CDBE4CFE-664C-4FCF-BD6B-F0D60997D62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25</a:t>
            </a:r>
          </a:p>
        </p:txBody>
      </p:sp>
    </p:spTree>
    <p:extLst>
      <p:ext uri="{BB962C8B-B14F-4D97-AF65-F5344CB8AC3E}">
        <p14:creationId xmlns:p14="http://schemas.microsoft.com/office/powerpoint/2010/main" val="1258290842"/>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B61447B5-FAE5-4881-A15C-55DD8B5D76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687D5A1-B73E-47EF-B49A-9FE452CEC77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592EAE49-F8E7-434F-85AD-03C818903CA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48894EF5-625C-4DBC-9419-69F35FDCA31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would count?</a:t>
            </a:r>
          </a:p>
        </p:txBody>
      </p:sp>
      <p:sp>
        <p:nvSpPr>
          <p:cNvPr id="5" name="paper panel">
            <a:extLst xmlns:a="http://schemas.openxmlformats.org/drawingml/2006/main">
              <a:ext uri="{FF2B5EF4-FFF2-40B4-BE49-F238E27FC236}">
                <a16:creationId xmlns:a16="http://schemas.microsoft.com/office/drawing/2014/main" id="{02F627AB-732A-4588-A4A0-A6109904791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F4E55EB-47FE-48E7-B134-061B427B5398}"/>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arrows point from the food to the animal, so the model shows the direction of energy transfer.” Identify the evidence words and the reasoning words.</a:t>
            </a:r>
          </a:p>
        </p:txBody>
      </p:sp>
      <p:sp>
        <p:nvSpPr>
          <p:cNvPr id="7" name="content 1">
            <a:extLst xmlns:a="http://schemas.openxmlformats.org/drawingml/2006/main">
              <a:ext uri="{FF2B5EF4-FFF2-40B4-BE49-F238E27FC236}">
                <a16:creationId xmlns:a16="http://schemas.microsoft.com/office/drawing/2014/main" id="{7C730B44-A02A-464E-987B-0DDFF3C8C11B}"/>
              </a:ext>
            </a:extLst>
          </p:cNvPr>
          <p:cNvSpPr>
            <a:spLocks xmlns:a="http://schemas.openxmlformats.org/drawingml/2006/main" noGrp="1"/>
          </p:cNvSpPr>
          <p:nvPr/>
        </p:nvSpPr>
        <p:spPr>
          <a:xfrm xmlns:a="http://schemas.openxmlformats.org/drawingml/2006/main">
            <a:off x="800100" y="32956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Account A gives enough evidence</a:t>
            </a:r>
          </a:p>
        </p:txBody>
      </p:sp>
      <p:sp>
        <p:nvSpPr>
          <p:cNvPr id="8" name="content 2">
            <a:extLst xmlns:a="http://schemas.openxmlformats.org/drawingml/2006/main">
              <a:ext uri="{FF2B5EF4-FFF2-40B4-BE49-F238E27FC236}">
                <a16:creationId xmlns:a16="http://schemas.microsoft.com/office/drawing/2014/main" id="{FA86659F-57F0-4D47-9D9B-E54EB8E8A0ED}"/>
              </a:ext>
            </a:extLst>
          </p:cNvPr>
          <p:cNvSpPr>
            <a:spLocks xmlns:a="http://schemas.openxmlformats.org/drawingml/2006/main" noGrp="1"/>
          </p:cNvSpPr>
          <p:nvPr/>
        </p:nvSpPr>
        <p:spPr>
          <a:xfrm xmlns:a="http://schemas.openxmlformats.org/drawingml/2006/main">
            <a:off x="800100" y="3752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Account B shows the link</a:t>
            </a:r>
          </a:p>
        </p:txBody>
      </p:sp>
      <p:sp>
        <p:nvSpPr>
          <p:cNvPr id="9" name="time">
            <a:extLst xmlns:a="http://schemas.openxmlformats.org/drawingml/2006/main">
              <a:ext uri="{FF2B5EF4-FFF2-40B4-BE49-F238E27FC236}">
                <a16:creationId xmlns:a16="http://schemas.microsoft.com/office/drawing/2014/main" id="{F03F3BC4-1716-46CE-ACA6-F37CE9ED295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2E2D722A-AE18-4EEF-BB89-6E90D5C342A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25</a:t>
            </a:r>
          </a:p>
        </p:txBody>
      </p:sp>
    </p:spTree>
    <p:extLst>
      <p:ext uri="{BB962C8B-B14F-4D97-AF65-F5344CB8AC3E}">
        <p14:creationId xmlns:p14="http://schemas.microsoft.com/office/powerpoint/2010/main" val="839252597"/>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7A9F2C9-6BA4-4608-87DF-0768571A2C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69FB891-12EB-4C0C-8994-AFD447CDB5A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D41EEF60-C118-4364-8143-97D7641ABCA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3CE0A463-B1CE-4C84-A280-6E195F59F08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would count?</a:t>
            </a:r>
          </a:p>
        </p:txBody>
      </p:sp>
      <p:sp>
        <p:nvSpPr>
          <p:cNvPr id="5" name="paper panel">
            <a:extLst xmlns:a="http://schemas.openxmlformats.org/drawingml/2006/main">
              <a:ext uri="{FF2B5EF4-FFF2-40B4-BE49-F238E27FC236}">
                <a16:creationId xmlns:a16="http://schemas.microsoft.com/office/drawing/2014/main" id="{3944FFED-5F1F-4DCB-AFA6-3A34412797A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b39dfa2f9e49dd"/>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C207967C-FF3D-4AD8-B3A9-903AE05F4D1B}"/>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Four autumn topics</a:t>
            </a:r>
          </a:p>
        </p:txBody>
      </p:sp>
      <p:sp>
        <p:nvSpPr>
          <p:cNvPr id="8" name="time">
            <a:extLst xmlns:a="http://schemas.openxmlformats.org/drawingml/2006/main">
              <a:ext uri="{FF2B5EF4-FFF2-40B4-BE49-F238E27FC236}">
                <a16:creationId xmlns:a16="http://schemas.microsoft.com/office/drawing/2014/main" id="{95CD3469-8475-4BB7-A774-169AE5452B4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0AC63DF3-959C-4A7B-8880-B7960326A98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25</a:t>
            </a:r>
          </a:p>
        </p:txBody>
      </p:sp>
    </p:spTree>
    <p:extLst>
      <p:ext uri="{BB962C8B-B14F-4D97-AF65-F5344CB8AC3E}">
        <p14:creationId xmlns:p14="http://schemas.microsoft.com/office/powerpoint/2010/main" val="503205833"/>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B814C428-A08D-4BA0-859C-A1945A1BA1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23F1465-91C2-47E0-8748-932868F881D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B7339CEE-130C-488D-A48F-E44FF315D6B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081554A-C694-45E0-AF1F-642BDB56D2D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48A11557-43F8-4D37-9104-0232209F751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69156CF-C6DB-4379-A0F3-45780BD8476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Limit finder</a:t>
            </a:r>
          </a:p>
        </p:txBody>
      </p:sp>
      <p:sp>
        <p:nvSpPr>
          <p:cNvPr id="7" name="content 1">
            <a:extLst xmlns:a="http://schemas.openxmlformats.org/drawingml/2006/main">
              <a:ext uri="{FF2B5EF4-FFF2-40B4-BE49-F238E27FC236}">
                <a16:creationId xmlns:a16="http://schemas.microsoft.com/office/drawing/2014/main" id="{B4E7D275-047E-4C29-870D-A4793A1F941B}"/>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claim, then the honest limit that belongs beside it.</a:t>
            </a:r>
          </a:p>
        </p:txBody>
      </p:sp>
      <p:sp>
        <p:nvSpPr>
          <p:cNvPr id="8" name="time">
            <a:extLst xmlns:a="http://schemas.openxmlformats.org/drawingml/2006/main">
              <a:ext uri="{FF2B5EF4-FFF2-40B4-BE49-F238E27FC236}">
                <a16:creationId xmlns:a16="http://schemas.microsoft.com/office/drawing/2014/main" id="{6B9B6F60-7262-43B7-8561-5D5E6C4FA51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D3AD0194-9344-4DC2-8394-95BCF04284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25</a:t>
            </a:r>
          </a:p>
        </p:txBody>
      </p:sp>
    </p:spTree>
    <p:extLst>
      <p:ext uri="{BB962C8B-B14F-4D97-AF65-F5344CB8AC3E}">
        <p14:creationId xmlns:p14="http://schemas.microsoft.com/office/powerpoint/2010/main" val="166605900"/>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74889FA4-040B-4504-B71F-876D3AE6E6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9C2E6D5-8775-4D23-814D-6692F65B131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CEFCDEE-382B-4269-A6F4-9AF70BFF54C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D849F2C2-AC32-4C4C-B8C1-6D18290B774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7F063507-9382-49D1-B049-19FAE49A14C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DD65C8A-C425-4C6F-B165-8FE899AC7042}"/>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the globe-and-lamp model explains day and night</a:t>
            </a:r>
          </a:p>
        </p:txBody>
      </p:sp>
      <p:sp>
        <p:nvSpPr>
          <p:cNvPr id="7" name="content 1">
            <a:extLst xmlns:a="http://schemas.openxmlformats.org/drawingml/2006/main">
              <a:ext uri="{FF2B5EF4-FFF2-40B4-BE49-F238E27FC236}">
                <a16:creationId xmlns:a16="http://schemas.microsoft.com/office/drawing/2014/main" id="{3AB0E00D-A23F-4458-A5DB-9236928D3D1A}"/>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the rover test compared two surfaces</a:t>
            </a:r>
          </a:p>
        </p:txBody>
      </p:sp>
      <p:sp>
        <p:nvSpPr>
          <p:cNvPr id="8" name="content 2">
            <a:extLst xmlns:a="http://schemas.openxmlformats.org/drawingml/2006/main">
              <a:ext uri="{FF2B5EF4-FFF2-40B4-BE49-F238E27FC236}">
                <a16:creationId xmlns:a16="http://schemas.microsoft.com/office/drawing/2014/main" id="{CB4F076B-54FF-496D-A6A7-815F4781D9F2}"/>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the classroom ball stood for Earth</a:t>
            </a:r>
          </a:p>
        </p:txBody>
      </p:sp>
      <p:sp>
        <p:nvSpPr>
          <p:cNvPr id="9" name="content 3">
            <a:extLst xmlns:a="http://schemas.openxmlformats.org/drawingml/2006/main">
              <a:ext uri="{FF2B5EF4-FFF2-40B4-BE49-F238E27FC236}">
                <a16:creationId xmlns:a16="http://schemas.microsoft.com/office/drawing/2014/main" id="{60D7C5F5-BF09-4B55-8196-BFCA9D6D9CD0}"/>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the climate figures we used were simplified</a:t>
            </a:r>
          </a:p>
        </p:txBody>
      </p:sp>
      <p:sp>
        <p:nvSpPr>
          <p:cNvPr id="10" name="content 4">
            <a:extLst xmlns:a="http://schemas.openxmlformats.org/drawingml/2006/main">
              <a:ext uri="{FF2B5EF4-FFF2-40B4-BE49-F238E27FC236}">
                <a16:creationId xmlns:a16="http://schemas.microsoft.com/office/drawing/2014/main" id="{94E7724D-4709-4954-A3B1-369B9E0D8AA1}"/>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a model is not to scale and simplifies the axis</a:t>
            </a:r>
          </a:p>
        </p:txBody>
      </p:sp>
      <p:sp>
        <p:nvSpPr>
          <p:cNvPr id="11" name="content 5">
            <a:extLst xmlns:a="http://schemas.openxmlformats.org/drawingml/2006/main">
              <a:ext uri="{FF2B5EF4-FFF2-40B4-BE49-F238E27FC236}">
                <a16:creationId xmlns:a16="http://schemas.microsoft.com/office/drawing/2014/main" id="{17DE04AB-FC02-4FA0-80BC-6F08A2150564}"/>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three repeats on two surfaces — a pattern, not a law</a:t>
            </a:r>
          </a:p>
        </p:txBody>
      </p:sp>
      <p:sp>
        <p:nvSpPr>
          <p:cNvPr id="12" name="content 6">
            <a:extLst xmlns:a="http://schemas.openxmlformats.org/drawingml/2006/main">
              <a:ext uri="{FF2B5EF4-FFF2-40B4-BE49-F238E27FC236}">
                <a16:creationId xmlns:a16="http://schemas.microsoft.com/office/drawing/2014/main" id="{75CABB83-DD30-492A-9598-EFA6CC62D2ED}"/>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a smooth ball hides mountains and slight flattening</a:t>
            </a:r>
          </a:p>
        </p:txBody>
      </p:sp>
      <p:sp>
        <p:nvSpPr>
          <p:cNvPr id="13" name="content 7">
            <a:extLst xmlns:a="http://schemas.openxmlformats.org/drawingml/2006/main">
              <a:ext uri="{FF2B5EF4-FFF2-40B4-BE49-F238E27FC236}">
                <a16:creationId xmlns:a16="http://schemas.microsoft.com/office/drawing/2014/main" id="{E74D5ABD-7043-4E2B-96C4-A1C4EF5F4187}"/>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real climate data is noisier than a diagram</a:t>
            </a:r>
          </a:p>
        </p:txBody>
      </p:sp>
      <p:sp>
        <p:nvSpPr>
          <p:cNvPr id="14" name="time">
            <a:extLst xmlns:a="http://schemas.openxmlformats.org/drawingml/2006/main">
              <a:ext uri="{FF2B5EF4-FFF2-40B4-BE49-F238E27FC236}">
                <a16:creationId xmlns:a16="http://schemas.microsoft.com/office/drawing/2014/main" id="{8B3C4FCB-5A79-49C9-8F09-79CA438471D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3FB0CA76-4FFE-481A-852D-726179DB339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25</a:t>
            </a:r>
          </a:p>
        </p:txBody>
      </p:sp>
    </p:spTree>
    <p:extLst>
      <p:ext uri="{BB962C8B-B14F-4D97-AF65-F5344CB8AC3E}">
        <p14:creationId xmlns:p14="http://schemas.microsoft.com/office/powerpoint/2010/main" val="885634369"/>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7EFBF410-E0A4-4CB4-817B-C2E6B121CA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8506F30-5655-4FB7-946C-7248F3093E7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F45DAEF-67CF-4EDB-A455-528107D6304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1BE403B-E7EF-45FA-B4E9-4746AC4F894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330C370A-18B4-4AF9-A642-17C33C5A4FC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8458F47-DA2C-4848-8C63-7E0BCD8EFE35}"/>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Neutral model: a labelled food-chain card shows grass → rabbit → fox. The claim is narrow: the arrows show the direction of energy transfer in this model.</a:t>
            </a:r>
          </a:p>
        </p:txBody>
      </p:sp>
      <p:sp>
        <p:nvSpPr>
          <p:cNvPr id="7" name="content 1">
            <a:extLst xmlns:a="http://schemas.openxmlformats.org/drawingml/2006/main">
              <a:ext uri="{FF2B5EF4-FFF2-40B4-BE49-F238E27FC236}">
                <a16:creationId xmlns:a16="http://schemas.microsoft.com/office/drawing/2014/main" id="{9C0D8623-EB6E-48EC-9C09-DB4B648B135E}"/>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1 · State a claim that the record can answer. “In this model, energy is transferred from the grass to the rabbit and then to the fox.”</a:t>
            </a:r>
          </a:p>
        </p:txBody>
      </p:sp>
      <p:sp>
        <p:nvSpPr>
          <p:cNvPr id="8" name="content 2">
            <a:extLst xmlns:a="http://schemas.openxmlformats.org/drawingml/2006/main">
              <a:ext uri="{FF2B5EF4-FFF2-40B4-BE49-F238E27FC236}">
                <a16:creationId xmlns:a16="http://schemas.microsoft.com/office/drawing/2014/main" id="{5C813C3F-5E3E-48F1-8F10-F704C01214B3}"/>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2 · Name the evidence: source, result, note or labelled model. “The labelled arrows on source card FC-2 point grass → rabbit → fox.” A source ID and the visible feature make the record locatable.</a:t>
            </a:r>
          </a:p>
        </p:txBody>
      </p:sp>
      <p:sp>
        <p:nvSpPr>
          <p:cNvPr id="9" name="time">
            <a:extLst xmlns:a="http://schemas.openxmlformats.org/drawingml/2006/main">
              <a:ext uri="{FF2B5EF4-FFF2-40B4-BE49-F238E27FC236}">
                <a16:creationId xmlns:a16="http://schemas.microsoft.com/office/drawing/2014/main" id="{F972B551-2B86-4AB2-90D0-D56F1F0244C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E0EEF37E-56A7-4A32-9FF2-718A4DB7D74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25</a:t>
            </a:r>
          </a:p>
        </p:txBody>
      </p:sp>
    </p:spTree>
    <p:extLst>
      <p:ext uri="{BB962C8B-B14F-4D97-AF65-F5344CB8AC3E}">
        <p14:creationId xmlns:p14="http://schemas.microsoft.com/office/powerpoint/2010/main" val="777379622"/>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9591612C-2FA6-4D60-9439-A5A6DFFCC5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1CF9BE5-F851-40D6-8F6C-D1D20F7DFBF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813167F-18CD-4F31-9727-80B29044E8C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25075619-BEC1-4CD0-A5DF-398FE6E345F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0ECC5F12-78F2-4514-834C-79F7A9992C4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DAA0414-09A4-4EB9-90F6-681F6D73D99D}"/>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3 · Use because or therefore to link them. Then add a fair limit. “The arrows support the transfer direction, but this card does not show the amount of energy transferred.” The limit prevents the evidence carrying a claim it cannot support.</a:t>
            </a:r>
          </a:p>
        </p:txBody>
      </p:sp>
      <p:sp>
        <p:nvSpPr>
          <p:cNvPr id="7" name="content 1">
            <a:extLst xmlns:a="http://schemas.openxmlformats.org/drawingml/2006/main">
              <a:ext uri="{FF2B5EF4-FFF2-40B4-BE49-F238E27FC236}">
                <a16:creationId xmlns:a16="http://schemas.microsoft.com/office/drawing/2014/main" id="{546BDEA6-723E-48BE-9536-2033F30D6CCC}"/>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Before feedback Keep the original claim, locator, reason and limit visible. Do not tidy it away while the model is being checked.</a:t>
            </a:r>
          </a:p>
        </p:txBody>
      </p:sp>
      <p:sp>
        <p:nvSpPr>
          <p:cNvPr id="8" name="content 2">
            <a:extLst xmlns:a="http://schemas.openxmlformats.org/drawingml/2006/main">
              <a:ext uri="{FF2B5EF4-FFF2-40B4-BE49-F238E27FC236}">
                <a16:creationId xmlns:a16="http://schemas.microsoft.com/office/drawing/2014/main" id="{76422883-AE4E-4B54-ABC4-07740EB67FD3}"/>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After feedback Change one precise part, then name what changed and why. The response is guidance, not a score or an assessment decision.</a:t>
            </a:r>
          </a:p>
        </p:txBody>
      </p:sp>
      <p:sp>
        <p:nvSpPr>
          <p:cNvPr id="9" name="time">
            <a:extLst xmlns:a="http://schemas.openxmlformats.org/drawingml/2006/main">
              <a:ext uri="{FF2B5EF4-FFF2-40B4-BE49-F238E27FC236}">
                <a16:creationId xmlns:a16="http://schemas.microsoft.com/office/drawing/2014/main" id="{04E612C3-40AB-4C00-B609-8DD605BEF10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BE1175E8-0B7F-43CD-9D9C-6105198B842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25</a:t>
            </a:r>
          </a:p>
        </p:txBody>
      </p:sp>
    </p:spTree>
    <p:extLst>
      <p:ext uri="{BB962C8B-B14F-4D97-AF65-F5344CB8AC3E}">
        <p14:creationId xmlns:p14="http://schemas.microsoft.com/office/powerpoint/2010/main" val="463360001"/>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B624463C-D7DB-4545-A425-5C8A900C30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8ADA7D7-EE40-45CB-8BB6-BEBFE297809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8B9C3A2-E688-4F42-A5B6-ADB7F4586BE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584BAB22-C0E3-405F-8C0C-082B73D11D2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BC09AF1D-5261-42AD-87DE-CAF2F331594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FB828A3-69E1-42D3-B40F-B1CEC11AB77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the move that makes the science more true, not just longer.</a:t>
            </a:r>
          </a:p>
        </p:txBody>
      </p:sp>
      <p:sp>
        <p:nvSpPr>
          <p:cNvPr id="7" name="content 1">
            <a:extLst xmlns:a="http://schemas.openxmlformats.org/drawingml/2006/main">
              <a:ext uri="{FF2B5EF4-FFF2-40B4-BE49-F238E27FC236}">
                <a16:creationId xmlns:a16="http://schemas.microsoft.com/office/drawing/2014/main" id="{2F3C73FC-D5C2-45B4-A8E0-7128A5E6BF8F}"/>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Clear Add the missing locator, label or science word so another reader can find the record and follow the link.</a:t>
            </a:r>
          </a:p>
        </p:txBody>
      </p:sp>
      <p:sp>
        <p:nvSpPr>
          <p:cNvPr id="8" name="content 2">
            <a:extLst xmlns:a="http://schemas.openxmlformats.org/drawingml/2006/main">
              <a:ext uri="{FF2B5EF4-FFF2-40B4-BE49-F238E27FC236}">
                <a16:creationId xmlns:a16="http://schemas.microsoft.com/office/drawing/2014/main" id="{0745EB3B-2A0E-4D1C-BE2E-B066F95DA0B6}"/>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Fair Narrow the claim, restore an uncertainty or state what the record cannot show.</a:t>
            </a:r>
          </a:p>
        </p:txBody>
      </p:sp>
      <p:sp>
        <p:nvSpPr>
          <p:cNvPr id="9" name="content 3">
            <a:extLst xmlns:a="http://schemas.openxmlformats.org/drawingml/2006/main">
              <a:ext uri="{FF2B5EF4-FFF2-40B4-BE49-F238E27FC236}">
                <a16:creationId xmlns:a16="http://schemas.microsoft.com/office/drawing/2014/main" id="{2A8855F2-88D6-46DD-8876-B6DEA4985FCF}"/>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Wider Connect the same reasoning to a second authentic record without inventing a result or changing the first one.</a:t>
            </a:r>
          </a:p>
        </p:txBody>
      </p:sp>
      <p:sp>
        <p:nvSpPr>
          <p:cNvPr id="10" name="content 4">
            <a:extLst xmlns:a="http://schemas.openxmlformats.org/drawingml/2006/main">
              <a:ext uri="{FF2B5EF4-FFF2-40B4-BE49-F238E27FC236}">
                <a16:creationId xmlns:a16="http://schemas.microsoft.com/office/drawing/2014/main" id="{1C4EF899-B65E-445C-B3FC-3F4E75404A9A}"/>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Checked change Keep the first version. Write the new version beside it and name the response you used.</a:t>
            </a:r>
          </a:p>
        </p:txBody>
      </p:sp>
      <p:sp>
        <p:nvSpPr>
          <p:cNvPr id="11" name="time">
            <a:extLst xmlns:a="http://schemas.openxmlformats.org/drawingml/2006/main">
              <a:ext uri="{FF2B5EF4-FFF2-40B4-BE49-F238E27FC236}">
                <a16:creationId xmlns:a16="http://schemas.microsoft.com/office/drawing/2014/main" id="{78ED5F0F-9095-4405-9FDF-CE126745459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2" name="number">
            <a:extLst xmlns:a="http://schemas.openxmlformats.org/drawingml/2006/main">
              <a:ext uri="{FF2B5EF4-FFF2-40B4-BE49-F238E27FC236}">
                <a16:creationId xmlns:a16="http://schemas.microsoft.com/office/drawing/2014/main" id="{C8DB8FFB-D6D9-4322-A739-AD7E465B094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25</a:t>
            </a:r>
          </a:p>
        </p:txBody>
      </p:sp>
    </p:spTree>
    <p:extLst>
      <p:ext uri="{BB962C8B-B14F-4D97-AF65-F5344CB8AC3E}">
        <p14:creationId xmlns:p14="http://schemas.microsoft.com/office/powerpoint/2010/main" val="1694767520"/>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5FB39E63-9127-40DE-882B-66AA037F73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DB60236-C12B-4152-8003-333358EEC80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275556D-43E3-41C8-A353-D138C93AC8C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64111CDA-E86E-4D29-BF1B-C2DAB73E15F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49CDF983-84F2-4568-ADB1-F987CDFB5B6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073423E-FA1C-440B-AB77-E9463E13061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or hear the response. It is not a score. Choose: make clear, make fair or make wider.</a:t>
            </a:r>
          </a:p>
        </p:txBody>
      </p:sp>
      <p:sp>
        <p:nvSpPr>
          <p:cNvPr id="7" name="content 1">
            <a:extLst xmlns:a="http://schemas.openxmlformats.org/drawingml/2006/main">
              <a:ext uri="{FF2B5EF4-FFF2-40B4-BE49-F238E27FC236}">
                <a16:creationId xmlns:a16="http://schemas.microsoft.com/office/drawing/2014/main" id="{0F5D76DD-7A01-4C17-934B-8668363FCFE3}"/>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First version: “The food chain proves all foxes eat rabbits.” Keep it visible even though it goes beyond the model.</a:t>
            </a:r>
          </a:p>
        </p:txBody>
      </p:sp>
      <p:sp>
        <p:nvSpPr>
          <p:cNvPr id="8" name="content 2">
            <a:extLst xmlns:a="http://schemas.openxmlformats.org/drawingml/2006/main">
              <a:ext uri="{FF2B5EF4-FFF2-40B4-BE49-F238E27FC236}">
                <a16:creationId xmlns:a16="http://schemas.microsoft.com/office/drawing/2014/main" id="{E69B987D-C59A-47EA-AFF7-F7C193C4C070}"/>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Response: “Make fair: say what this card shows, not what every fox does.” The response identifies the boundary; it does not write the learner's revision.</a:t>
            </a:r>
          </a:p>
        </p:txBody>
      </p:sp>
      <p:sp>
        <p:nvSpPr>
          <p:cNvPr id="9" name="content 3">
            <a:extLst xmlns:a="http://schemas.openxmlformats.org/drawingml/2006/main">
              <a:ext uri="{FF2B5EF4-FFF2-40B4-BE49-F238E27FC236}">
                <a16:creationId xmlns:a16="http://schemas.microsoft.com/office/drawing/2014/main" id="{EE078F3E-060C-415A-BB3A-79C82E8E665B}"/>
              </a:ext>
            </a:extLst>
          </p:cNvPr>
          <p:cNvSpPr>
            <a:spLocks xmlns:a="http://schemas.openxmlformats.org/drawingml/2006/main" noGrp="1"/>
          </p:cNvSpPr>
          <p:nvPr/>
        </p:nvSpPr>
        <p:spPr>
          <a:xfrm xmlns:a="http://schemas.openxmlformats.org/drawingml/2006/main">
            <a:off x="800100" y="45434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Checked revision: “This card shows a possible grass → rabbit → fox feeding link.” Record the exact change. Keep the first draft so the change can be seen.</a:t>
            </a:r>
          </a:p>
        </p:txBody>
      </p:sp>
      <p:sp>
        <p:nvSpPr>
          <p:cNvPr id="10" name="time">
            <a:extLst xmlns:a="http://schemas.openxmlformats.org/drawingml/2006/main">
              <a:ext uri="{FF2B5EF4-FFF2-40B4-BE49-F238E27FC236}">
                <a16:creationId xmlns:a16="http://schemas.microsoft.com/office/drawing/2014/main" id="{4152DA82-3C8B-411A-B1E4-098C9D04302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1" name="number">
            <a:extLst xmlns:a="http://schemas.openxmlformats.org/drawingml/2006/main">
              <a:ext uri="{FF2B5EF4-FFF2-40B4-BE49-F238E27FC236}">
                <a16:creationId xmlns:a16="http://schemas.microsoft.com/office/drawing/2014/main" id="{317C45B7-9BFE-44EF-AB02-52D735634CF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25</a:t>
            </a:r>
          </a:p>
        </p:txBody>
      </p:sp>
    </p:spTree>
    <p:extLst>
      <p:ext uri="{BB962C8B-B14F-4D97-AF65-F5344CB8AC3E}">
        <p14:creationId xmlns:p14="http://schemas.microsoft.com/office/powerpoint/2010/main" val="107386969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2959714-36EA-4039-B3D3-E691D5482C5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ECB1C84-AC19-4CBE-B13D-DE86FE1BBFE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23AECBD6-EEB4-4D07-9B81-DB49E4E9299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D8E222F4-70F2-42BC-A130-CB01EBB5C85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4EBE377E-8DF9-490F-88D3-E11008473CF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FA7304C-756C-4C85-9996-620804ADAD9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Keep</a:t>
            </a:r>
          </a:p>
        </p:txBody>
      </p:sp>
      <p:sp>
        <p:nvSpPr>
          <p:cNvPr id="7" name="content 1">
            <a:extLst xmlns:a="http://schemas.openxmlformats.org/drawingml/2006/main">
              <a:ext uri="{FF2B5EF4-FFF2-40B4-BE49-F238E27FC236}">
                <a16:creationId xmlns:a16="http://schemas.microsoft.com/office/drawing/2014/main" id="{8B62A11F-4BD6-4462-970F-C2469AC5BBCC}"/>
              </a:ext>
            </a:extLst>
          </p:cNvPr>
          <p:cNvSpPr>
            <a:spLocks xmlns:a="http://schemas.openxmlformats.org/drawingml/2006/main" noGrp="1"/>
          </p:cNvSpPr>
          <p:nvPr/>
        </p:nvSpPr>
        <p:spPr>
          <a:xfrm xmlns:a="http://schemas.openxmlformats.org/drawingml/2006/main">
            <a:off x="800100" y="26479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Do not add</a:t>
            </a:r>
          </a:p>
        </p:txBody>
      </p:sp>
      <p:sp>
        <p:nvSpPr>
          <p:cNvPr id="8" name="time">
            <a:extLst xmlns:a="http://schemas.openxmlformats.org/drawingml/2006/main">
              <a:ext uri="{FF2B5EF4-FFF2-40B4-BE49-F238E27FC236}">
                <a16:creationId xmlns:a16="http://schemas.microsoft.com/office/drawing/2014/main" id="{F1FB064E-BC6C-4AC8-A203-6F078A60467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9" name="number">
            <a:extLst xmlns:a="http://schemas.openxmlformats.org/drawingml/2006/main">
              <a:ext uri="{FF2B5EF4-FFF2-40B4-BE49-F238E27FC236}">
                <a16:creationId xmlns:a16="http://schemas.microsoft.com/office/drawing/2014/main" id="{A2676160-4846-4237-9694-F9B2659EA0F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25</a:t>
            </a:r>
          </a:p>
        </p:txBody>
      </p:sp>
    </p:spTree>
    <p:extLst>
      <p:ext uri="{BB962C8B-B14F-4D97-AF65-F5344CB8AC3E}">
        <p14:creationId xmlns:p14="http://schemas.microsoft.com/office/powerpoint/2010/main" val="154664024"/>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6CA7C313-3F78-4E32-9D57-D5A055B480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EEE1BC8-9240-4F27-9AAF-63AB01B8A7F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0E2B51B6-20EF-4AC6-BFFF-BBD725842DE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213E8BDA-D752-4297-A278-C296BCE59CA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53B92D68-7164-401F-BE0E-4595BFFAFCB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13A27FD-D489-41F9-9F0E-EA45E6A1187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1 · Locate</a:t>
            </a:r>
          </a:p>
        </p:txBody>
      </p:sp>
      <p:sp>
        <p:nvSpPr>
          <p:cNvPr id="7" name="content 1">
            <a:extLst xmlns:a="http://schemas.openxmlformats.org/drawingml/2006/main">
              <a:ext uri="{FF2B5EF4-FFF2-40B4-BE49-F238E27FC236}">
                <a16:creationId xmlns:a16="http://schemas.microsoft.com/office/drawing/2014/main" id="{F7434BF7-BB34-48C4-830B-150800825666}"/>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Find the genuine record, source or prior idea. Keep its date, filename, page, lesson title or source-card ID attached.</a:t>
            </a:r>
          </a:p>
        </p:txBody>
      </p:sp>
      <p:sp>
        <p:nvSpPr>
          <p:cNvPr id="8" name="content 2">
            <a:extLst xmlns:a="http://schemas.openxmlformats.org/drawingml/2006/main">
              <a:ext uri="{FF2B5EF4-FFF2-40B4-BE49-F238E27FC236}">
                <a16:creationId xmlns:a16="http://schemas.microsoft.com/office/drawing/2014/main" id="{FCAB9CC1-193E-4599-8333-3424377BBB2E}"/>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2 · Connect</a:t>
            </a:r>
          </a:p>
        </p:txBody>
      </p:sp>
      <p:sp>
        <p:nvSpPr>
          <p:cNvPr id="9" name="content 3">
            <a:extLst xmlns:a="http://schemas.openxmlformats.org/drawingml/2006/main">
              <a:ext uri="{FF2B5EF4-FFF2-40B4-BE49-F238E27FC236}">
                <a16:creationId xmlns:a16="http://schemas.microsoft.com/office/drawing/2014/main" id="{8DFDF35E-0249-4089-A87D-BAD55A87E32D}"/>
              </a:ext>
            </a:extLst>
          </p:cNvPr>
          <p:cNvSpPr>
            <a:spLocks xmlns:a="http://schemas.openxmlformats.org/drawingml/2006/main" noGrp="1"/>
          </p:cNvSpPr>
          <p:nvPr/>
        </p:nvSpPr>
        <p:spPr>
          <a:xfrm xmlns:a="http://schemas.openxmlformats.org/drawingml/2006/main">
            <a:off x="800100" y="38766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what it supports and how. Use a label, result, observation or model feature that another reader can find.</a:t>
            </a:r>
          </a:p>
        </p:txBody>
      </p:sp>
      <p:sp>
        <p:nvSpPr>
          <p:cNvPr id="10" name="content 4">
            <a:extLst xmlns:a="http://schemas.openxmlformats.org/drawingml/2006/main">
              <a:ext uri="{FF2B5EF4-FFF2-40B4-BE49-F238E27FC236}">
                <a16:creationId xmlns:a16="http://schemas.microsoft.com/office/drawing/2014/main" id="{E3867CFB-BBAE-4564-87C1-EB34D25DFFFC}"/>
              </a:ext>
            </a:extLst>
          </p:cNvPr>
          <p:cNvSpPr>
            <a:spLocks xmlns:a="http://schemas.openxmlformats.org/drawingml/2006/main" noGrp="1"/>
          </p:cNvSpPr>
          <p:nvPr/>
        </p:nvSpPr>
        <p:spPr>
          <a:xfrm xmlns:a="http://schemas.openxmlformats.org/drawingml/2006/main">
            <a:off x="800100" y="46672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3 · Limit</a:t>
            </a:r>
          </a:p>
        </p:txBody>
      </p:sp>
      <p:sp>
        <p:nvSpPr>
          <p:cNvPr id="11" name="time">
            <a:extLst xmlns:a="http://schemas.openxmlformats.org/drawingml/2006/main">
              <a:ext uri="{FF2B5EF4-FFF2-40B4-BE49-F238E27FC236}">
                <a16:creationId xmlns:a16="http://schemas.microsoft.com/office/drawing/2014/main" id="{ED342385-3D55-485B-BE84-ECF250265BD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056083D5-D87A-414E-9468-88DC9E28D50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25</a:t>
            </a:r>
          </a:p>
        </p:txBody>
      </p:sp>
    </p:spTree>
    <p:extLst>
      <p:ext uri="{BB962C8B-B14F-4D97-AF65-F5344CB8AC3E}">
        <p14:creationId xmlns:p14="http://schemas.microsoft.com/office/powerpoint/2010/main" val="497195688"/>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5979654F-E0F0-4B1E-B9FC-FAB967306D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DE4B267-E877-4CAA-89D0-83372BF89DD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E803F36-E840-4661-8E12-045475B9FBC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19319D9D-946A-4B56-8267-288223F9280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AA67977E-4BFB-40D3-9163-39D44BD9B5B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872639F-9AAD-426B-94A0-CB5A8146E7D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uncertainty, missing evidence and adult decisions visible. Say what the record cannot show.</a:t>
            </a:r>
          </a:p>
        </p:txBody>
      </p:sp>
      <p:sp>
        <p:nvSpPr>
          <p:cNvPr id="7" name="content 1">
            <a:extLst xmlns:a="http://schemas.openxmlformats.org/drawingml/2006/main">
              <a:ext uri="{FF2B5EF4-FFF2-40B4-BE49-F238E27FC236}">
                <a16:creationId xmlns:a16="http://schemas.microsoft.com/office/drawing/2014/main" id="{3F47C559-5BC5-4996-AD77-7C3BD8BEB903}"/>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4 · Receive Ask for one bounded response: make clear, make fair or make wider. The learner chooses whether to use it and may ask for it again.</a:t>
            </a:r>
          </a:p>
        </p:txBody>
      </p:sp>
      <p:sp>
        <p:nvSpPr>
          <p:cNvPr id="8" name="content 2">
            <a:extLst xmlns:a="http://schemas.openxmlformats.org/drawingml/2006/main">
              <a:ext uri="{FF2B5EF4-FFF2-40B4-BE49-F238E27FC236}">
                <a16:creationId xmlns:a16="http://schemas.microsoft.com/office/drawing/2014/main" id="{BAF7FCAA-4974-4AB1-A726-45DDD8F00A9D}"/>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5 · Revise Change one precise part without erasing the first version. Name the words, label, locator or limit that changed.</a:t>
            </a:r>
          </a:p>
        </p:txBody>
      </p:sp>
      <p:sp>
        <p:nvSpPr>
          <p:cNvPr id="9" name="content 3">
            <a:extLst xmlns:a="http://schemas.openxmlformats.org/drawingml/2006/main">
              <a:ext uri="{FF2B5EF4-FFF2-40B4-BE49-F238E27FC236}">
                <a16:creationId xmlns:a16="http://schemas.microsoft.com/office/drawing/2014/main" id="{1C78A13C-23C7-4E6B-AADF-775A50D1B396}"/>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6 · Check Read from claim to evidence to reason to limit. Remove any invented detail and keep “not found yet” when a source is absent.</a:t>
            </a:r>
          </a:p>
        </p:txBody>
      </p:sp>
      <p:sp>
        <p:nvSpPr>
          <p:cNvPr id="10" name="time">
            <a:extLst xmlns:a="http://schemas.openxmlformats.org/drawingml/2006/main">
              <a:ext uri="{FF2B5EF4-FFF2-40B4-BE49-F238E27FC236}">
                <a16:creationId xmlns:a16="http://schemas.microsoft.com/office/drawing/2014/main" id="{431DB398-46ED-4771-BEC2-6E6BC67FC92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897CA776-FCF5-461A-AD0B-03801F1CF94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25</a:t>
            </a:r>
          </a:p>
        </p:txBody>
      </p:sp>
    </p:spTree>
    <p:extLst>
      <p:ext uri="{BB962C8B-B14F-4D97-AF65-F5344CB8AC3E}">
        <p14:creationId xmlns:p14="http://schemas.microsoft.com/office/powerpoint/2010/main" val="1941267917"/>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798980B9-CC48-43B6-B85E-781332C496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4D25588-6716-46F4-94E8-469C6440ADD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A2DB3995-6C30-48E4-97EF-E993E8B97B6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0E10F59-7CC8-4119-BE5E-BF0C28A8C59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C6C32BAB-FB41-496F-8E7D-FD49734D393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B462B1C-5148-461D-9B44-255D1179169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7 · Hand forward Name the genuine record, learner contribution, adult support, saved change and next authorised action.</a:t>
            </a:r>
          </a:p>
        </p:txBody>
      </p:sp>
      <p:sp>
        <p:nvSpPr>
          <p:cNvPr id="7" name="content 1">
            <a:extLst xmlns:a="http://schemas.openxmlformats.org/drawingml/2006/main">
              <a:ext uri="{FF2B5EF4-FFF2-40B4-BE49-F238E27FC236}">
                <a16:creationId xmlns:a16="http://schemas.microsoft.com/office/drawing/2014/main" id="{AD230ED6-BDC9-4B46-971D-8DC8C5E9216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the W7A evidence map, local GROW Science W8–W13 lessons and the pack's source cards.</a:t>
            </a:r>
          </a:p>
        </p:txBody>
      </p:sp>
      <p:sp>
        <p:nvSpPr>
          <p:cNvPr id="8" name="time">
            <a:extLst xmlns:a="http://schemas.openxmlformats.org/drawingml/2006/main">
              <a:ext uri="{FF2B5EF4-FFF2-40B4-BE49-F238E27FC236}">
                <a16:creationId xmlns:a16="http://schemas.microsoft.com/office/drawing/2014/main" id="{1DC1A1CB-17A1-4575-BB4D-55654C9F6B4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4C00D636-8C72-438B-BB7D-42A525F6A3D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25</a:t>
            </a:r>
          </a:p>
        </p:txBody>
      </p:sp>
    </p:spTree>
    <p:extLst>
      <p:ext uri="{BB962C8B-B14F-4D97-AF65-F5344CB8AC3E}">
        <p14:creationId xmlns:p14="http://schemas.microsoft.com/office/powerpoint/2010/main" val="892928181"/>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BA2C392-A7BC-4A50-8AD8-B0B28B04D2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9C6440-EE32-40F1-A2AF-243FAD365BF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738BA7F7-F1A8-4EAF-8973-4ABA257D6E7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64602AC2-812A-4B14-B433-59156A8D1FA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8C864662-0ACD-4539-89A4-80749030FAC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F69BE2D-EC78-4BD2-BE53-D25FA937149D}"/>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Make one evidence-led account from real autumn work. Include a claim, the place to find the evidence, the link, one limit and one clear change after a response. You may write, draw and label, use the school's approved audio route, or explain in private to an adult.</a:t>
            </a:r>
          </a:p>
        </p:txBody>
      </p:sp>
      <p:sp>
        <p:nvSpPr>
          <p:cNvPr id="7" name="content 1">
            <a:extLst xmlns:a="http://schemas.openxmlformats.org/drawingml/2006/main">
              <a:ext uri="{FF2B5EF4-FFF2-40B4-BE49-F238E27FC236}">
                <a16:creationId xmlns:a16="http://schemas.microsoft.com/office/drawing/2014/main" id="{2B0AC93B-9562-43B3-BB1E-47572DD0F7EB}"/>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only Genuine prior work, local source cards, labelled models, real recorded results or a correction that is still visible.</a:t>
            </a:r>
          </a:p>
        </p:txBody>
      </p:sp>
      <p:sp>
        <p:nvSpPr>
          <p:cNvPr id="8" name="content 2">
            <a:extLst xmlns:a="http://schemas.openxmlformats.org/drawingml/2006/main">
              <a:ext uri="{FF2B5EF4-FFF2-40B4-BE49-F238E27FC236}">
                <a16:creationId xmlns:a16="http://schemas.microsoft.com/office/drawing/2014/main" id="{ED992DCD-E5C4-4408-BA15-F621425C690B}"/>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You may Point, sort, draw, label, write, type, use the approved audio route or dictate your exact words.</a:t>
            </a:r>
          </a:p>
        </p:txBody>
      </p:sp>
      <p:sp>
        <p:nvSpPr>
          <p:cNvPr id="9" name="time">
            <a:extLst xmlns:a="http://schemas.openxmlformats.org/drawingml/2006/main">
              <a:ext uri="{FF2B5EF4-FFF2-40B4-BE49-F238E27FC236}">
                <a16:creationId xmlns:a16="http://schemas.microsoft.com/office/drawing/2014/main" id="{A575B470-3E74-4357-9DE9-2CA07F1A16A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CA6B6624-049D-4638-834E-C0B96B2339A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25</a:t>
            </a:r>
          </a:p>
        </p:txBody>
      </p:sp>
    </p:spTree>
    <p:extLst>
      <p:ext uri="{BB962C8B-B14F-4D97-AF65-F5344CB8AC3E}">
        <p14:creationId xmlns:p14="http://schemas.microsoft.com/office/powerpoint/2010/main" val="668046852"/>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BC42716C-74CA-4D7A-A20B-3C96E317E8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88C0297-753D-44C6-B608-CE38C1DE29C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445F5FB-E65B-4F97-B60D-3536F984F47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0D714AFB-74FF-43CD-BAF0-1633F9D4806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5050584E-728C-415A-863B-E6C6980FBF9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6A956A3-A53C-4B96-8979-00A04DF8F97C}"/>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separate Your choice and meaning; shared rehearsal; adult preparation, prompting, exact-word scribing and filing.</a:t>
            </a:r>
          </a:p>
        </p:txBody>
      </p:sp>
      <p:sp>
        <p:nvSpPr>
          <p:cNvPr id="7" name="content 1">
            <a:extLst xmlns:a="http://schemas.openxmlformats.org/drawingml/2006/main">
              <a:ext uri="{FF2B5EF4-FFF2-40B4-BE49-F238E27FC236}">
                <a16:creationId xmlns:a16="http://schemas.microsoft.com/office/drawing/2014/main" id="{D4D8CA23-C12F-41FE-ACCE-73E5674F6C28}"/>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D7B19D6E-F0C5-46C0-9522-2304CAA99004}"/>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a claim/evidence/reason frame and one evidence item. Respond in private to one feedback choice.</a:t>
            </a:r>
          </a:p>
        </p:txBody>
      </p:sp>
      <p:sp>
        <p:nvSpPr>
          <p:cNvPr id="9" name="content 3">
            <a:extLst xmlns:a="http://schemas.openxmlformats.org/drawingml/2006/main">
              <a:ext uri="{FF2B5EF4-FFF2-40B4-BE49-F238E27FC236}">
                <a16:creationId xmlns:a16="http://schemas.microsoft.com/office/drawing/2014/main" id="{DBC1B084-80C9-4C31-A455-120A3EA62B8D}"/>
              </a:ext>
            </a:extLst>
          </p:cNvPr>
          <p:cNvSpPr>
            <a:spLocks xmlns:a="http://schemas.openxmlformats.org/drawingml/2006/main" noGrp="1"/>
          </p:cNvSpPr>
          <p:nvPr/>
        </p:nvSpPr>
        <p:spPr>
          <a:xfrm xmlns:a="http://schemas.openxmlformats.org/drawingml/2006/main">
            <a:off x="800100" y="4229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Write or point one box at a time: My claim is … My evidence is … This supports it because … It does not show … The response was … I changed …</a:t>
            </a:r>
          </a:p>
        </p:txBody>
      </p:sp>
      <p:sp>
        <p:nvSpPr>
          <p:cNvPr id="10" name="content 4">
            <a:extLst xmlns:a="http://schemas.openxmlformats.org/drawingml/2006/main">
              <a:ext uri="{FF2B5EF4-FFF2-40B4-BE49-F238E27FC236}">
                <a16:creationId xmlns:a16="http://schemas.microsoft.com/office/drawing/2014/main" id="{E19AD5B2-A11C-4126-8CFD-DCD6AE5A49DF}"/>
              </a:ext>
            </a:extLst>
          </p:cNvPr>
          <p:cNvSpPr>
            <a:spLocks xmlns:a="http://schemas.openxmlformats.org/drawingml/2006/main" noGrp="1"/>
          </p:cNvSpPr>
          <p:nvPr/>
        </p:nvSpPr>
        <p:spPr>
          <a:xfrm xmlns:a="http://schemas.openxmlformats.org/drawingml/2006/main">
            <a:off x="800100" y="50196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1" name="time">
            <a:extLst xmlns:a="http://schemas.openxmlformats.org/drawingml/2006/main">
              <a:ext uri="{FF2B5EF4-FFF2-40B4-BE49-F238E27FC236}">
                <a16:creationId xmlns:a16="http://schemas.microsoft.com/office/drawing/2014/main" id="{97F05A90-6421-44EA-A856-3D95D5A01EE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4088194D-1A3D-42F7-AB54-A66CEDA1679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25</a:t>
            </a:r>
          </a:p>
        </p:txBody>
      </p:sp>
    </p:spTree>
    <p:extLst>
      <p:ext uri="{BB962C8B-B14F-4D97-AF65-F5344CB8AC3E}">
        <p14:creationId xmlns:p14="http://schemas.microsoft.com/office/powerpoint/2010/main" val="1634152527"/>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4B4E3BF2-FF58-4E2E-8091-AB4BAECDFA1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CE56547-4122-4AF7-BF6C-4B91684D16D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C15FD577-80A4-4DF5-BB1C-4603D8908CC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868CC5CF-ECF9-45A9-A680-A4EAF72784C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AD92D81D-BFF6-4006-80C8-653A226269C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266E38D-39E5-4E2D-82D7-CA91567DA32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a linked idea with two evidence links, one limit and a saved change.</a:t>
            </a:r>
          </a:p>
        </p:txBody>
      </p:sp>
      <p:sp>
        <p:nvSpPr>
          <p:cNvPr id="7" name="content 1">
            <a:extLst xmlns:a="http://schemas.openxmlformats.org/drawingml/2006/main">
              <a:ext uri="{FF2B5EF4-FFF2-40B4-BE49-F238E27FC236}">
                <a16:creationId xmlns:a16="http://schemas.microsoft.com/office/drawing/2014/main" id="{10020729-3B5A-4E78-A9E9-B7585D2F53CC}"/>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Add a locator for each evidence item. Compare what the two records show, then choose one clear, fair or wider revision.</a:t>
            </a:r>
          </a:p>
        </p:txBody>
      </p:sp>
      <p:sp>
        <p:nvSpPr>
          <p:cNvPr id="8" name="content 2">
            <a:extLst xmlns:a="http://schemas.openxmlformats.org/drawingml/2006/main">
              <a:ext uri="{FF2B5EF4-FFF2-40B4-BE49-F238E27FC236}">
                <a16:creationId xmlns:a16="http://schemas.microsoft.com/office/drawing/2014/main" id="{1DB57F98-CF8A-4388-8462-78C1FEA9B06E}"/>
              </a:ext>
            </a:extLst>
          </p:cNvPr>
          <p:cNvSpPr>
            <a:spLocks xmlns:a="http://schemas.openxmlformats.org/drawingml/2006/main" noGrp="1"/>
          </p:cNvSpPr>
          <p:nvPr/>
        </p:nvSpPr>
        <p:spPr>
          <a:xfrm xmlns:a="http://schemas.openxmlformats.org/drawingml/2006/main">
            <a:off x="800100" y="34194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9" name="content 3">
            <a:extLst xmlns:a="http://schemas.openxmlformats.org/drawingml/2006/main">
              <a:ext uri="{FF2B5EF4-FFF2-40B4-BE49-F238E27FC236}">
                <a16:creationId xmlns:a16="http://schemas.microsoft.com/office/drawing/2014/main" id="{07573599-B304-4EE4-8AB3-35DD99ACEEEA}"/>
              </a:ext>
            </a:extLst>
          </p:cNvPr>
          <p:cNvSpPr>
            <a:spLocks xmlns:a="http://schemas.openxmlformats.org/drawingml/2006/main" noGrp="1"/>
          </p:cNvSpPr>
          <p:nvPr/>
        </p:nvSpPr>
        <p:spPr>
          <a:xfrm xmlns:a="http://schemas.openxmlformats.org/drawingml/2006/main">
            <a:off x="800100" y="38957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Judge two accounts or two pieces of evidence. Then use the same thinking for a new linked question.</a:t>
            </a:r>
          </a:p>
        </p:txBody>
      </p:sp>
      <p:sp>
        <p:nvSpPr>
          <p:cNvPr id="10" name="content 4">
            <a:extLst xmlns:a="http://schemas.openxmlformats.org/drawingml/2006/main">
              <a:ext uri="{FF2B5EF4-FFF2-40B4-BE49-F238E27FC236}">
                <a16:creationId xmlns:a16="http://schemas.microsoft.com/office/drawing/2014/main" id="{920C3F38-94D4-4BEC-BB63-F91F8906B0FB}"/>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which evidence is more useful for the claim and why. Transfer the reasoning route, not an invented result, to the new question.</a:t>
            </a:r>
          </a:p>
        </p:txBody>
      </p:sp>
      <p:sp>
        <p:nvSpPr>
          <p:cNvPr id="11" name="time">
            <a:extLst xmlns:a="http://schemas.openxmlformats.org/drawingml/2006/main">
              <a:ext uri="{FF2B5EF4-FFF2-40B4-BE49-F238E27FC236}">
                <a16:creationId xmlns:a16="http://schemas.microsoft.com/office/drawing/2014/main" id="{C1852C24-CECA-4CCE-BAA0-B2B442D68AA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1B07091F-73FC-4FF1-A91C-286EF4B2859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25</a:t>
            </a:r>
          </a:p>
        </p:txBody>
      </p:sp>
    </p:spTree>
    <p:extLst>
      <p:ext uri="{BB962C8B-B14F-4D97-AF65-F5344CB8AC3E}">
        <p14:creationId xmlns:p14="http://schemas.microsoft.com/office/powerpoint/2010/main" val="1126137354"/>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C0FFFAAC-C280-48FC-A9F7-6F5587C7E9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AE577AA-8298-493E-B1B2-D64E86A1B47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2C7CD018-5768-4CE3-84C9-6761BF55E46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341E8639-C3AB-4553-96BF-76F88BDD4E1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513BBF19-FB79-49A1-922C-56F680FBF6F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FC6E0CC-2849-4711-8A7A-39D2FAB1D6B9}"/>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Claim check Make it narrow enough for this record to answer. Replace “proves,” “always” or “all” when the evidence cannot carry those words.</a:t>
            </a:r>
          </a:p>
        </p:txBody>
      </p:sp>
      <p:sp>
        <p:nvSpPr>
          <p:cNvPr id="7" name="content 1">
            <a:extLst xmlns:a="http://schemas.openxmlformats.org/drawingml/2006/main">
              <a:ext uri="{FF2B5EF4-FFF2-40B4-BE49-F238E27FC236}">
                <a16:creationId xmlns:a16="http://schemas.microsoft.com/office/drawing/2014/main" id="{85821CCD-FE5D-406E-A87E-5A4A839EC4A1}"/>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Locator check Name the page, date, filename, lesson, result row, model label or source-card ID. If it is absent, write “not found yet.”</a:t>
            </a:r>
          </a:p>
        </p:txBody>
      </p:sp>
      <p:sp>
        <p:nvSpPr>
          <p:cNvPr id="8" name="content 2">
            <a:extLst xmlns:a="http://schemas.openxmlformats.org/drawingml/2006/main">
              <a:ext uri="{FF2B5EF4-FFF2-40B4-BE49-F238E27FC236}">
                <a16:creationId xmlns:a16="http://schemas.microsoft.com/office/drawing/2014/main" id="{EAB3BAEF-E9EE-4AF8-B5DD-639385F7CE63}"/>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Link check Point to the exact evidence feature, then explain how it supports, refines or challenges the claim. Do not add a hidden detail.</a:t>
            </a:r>
          </a:p>
        </p:txBody>
      </p:sp>
      <p:sp>
        <p:nvSpPr>
          <p:cNvPr id="9" name="content 3">
            <a:extLst xmlns:a="http://schemas.openxmlformats.org/drawingml/2006/main">
              <a:ext uri="{FF2B5EF4-FFF2-40B4-BE49-F238E27FC236}">
                <a16:creationId xmlns:a16="http://schemas.microsoft.com/office/drawing/2014/main" id="{EF4C3BD9-8FAC-4F93-AE13-01E2F7ABF694}"/>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check Name what the record cannot show, what is uncertain or what another genuine record would need to check.</a:t>
            </a:r>
          </a:p>
        </p:txBody>
      </p:sp>
      <p:sp>
        <p:nvSpPr>
          <p:cNvPr id="10" name="time">
            <a:extLst xmlns:a="http://schemas.openxmlformats.org/drawingml/2006/main">
              <a:ext uri="{FF2B5EF4-FFF2-40B4-BE49-F238E27FC236}">
                <a16:creationId xmlns:a16="http://schemas.microsoft.com/office/drawing/2014/main" id="{DB80F9F1-5222-41AD-8E54-6FD5B4CF57D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0F05AFCD-8F32-4D82-B6DB-DFC039BDBCB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25</a:t>
            </a:r>
          </a:p>
        </p:txBody>
      </p:sp>
    </p:spTree>
    <p:extLst>
      <p:ext uri="{BB962C8B-B14F-4D97-AF65-F5344CB8AC3E}">
        <p14:creationId xmlns:p14="http://schemas.microsoft.com/office/powerpoint/2010/main" val="1649759871"/>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05DE13DE-1B9F-4CC4-B2A2-45FC5F865F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0B7497E-E8FB-420C-BD8A-75D1B334944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FB942B76-2D81-4446-A7B5-9C1D9056AE6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055DB79C-6911-4AD3-A06E-6A6A1E99D9D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13B4A1C3-12FA-4711-A158-69E7741362F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199BEF1-B369-4D12-A67F-ABF220D05C2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Response check Record the bounded response as make clear, make fair or make wider. It is guidance, not a mark or award decision.</a:t>
            </a:r>
          </a:p>
        </p:txBody>
      </p:sp>
      <p:sp>
        <p:nvSpPr>
          <p:cNvPr id="7" name="content 1">
            <a:extLst xmlns:a="http://schemas.openxmlformats.org/drawingml/2006/main">
              <a:ext uri="{FF2B5EF4-FFF2-40B4-BE49-F238E27FC236}">
                <a16:creationId xmlns:a16="http://schemas.microsoft.com/office/drawing/2014/main" id="{DB9AEC65-6F56-4D21-B710-08877744146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Revision check Keep the first version. Show the new version beside it and name the precise change that was made.</a:t>
            </a:r>
          </a:p>
        </p:txBody>
      </p:sp>
      <p:sp>
        <p:nvSpPr>
          <p:cNvPr id="8" name="content 2">
            <a:extLst xmlns:a="http://schemas.openxmlformats.org/drawingml/2006/main">
              <a:ext uri="{FF2B5EF4-FFF2-40B4-BE49-F238E27FC236}">
                <a16:creationId xmlns:a16="http://schemas.microsoft.com/office/drawing/2014/main" id="{EDD858AF-9EDA-4FAD-9841-7336E38CD331}"/>
              </a:ext>
            </a:extLst>
          </p:cNvPr>
          <p:cNvSpPr>
            <a:spLocks xmlns:a="http://schemas.openxmlformats.org/drawingml/2006/main" noGrp="1"/>
          </p:cNvSpPr>
          <p:nvPr/>
        </p:nvSpPr>
        <p:spPr>
          <a:xfrm xmlns:a="http://schemas.openxmlformats.org/drawingml/2006/main">
            <a:off x="800100" y="3752850"/>
            <a:ext cx="105918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 Can I find every source I named? Does each science claim match what the source can show? Have I used evidence words and reasoning words? Is the limit still visible? Can someone see the first version, the response and my change? Have I marked any shared decision or adult support honestly? If one answer is no, return to that box only. Keep the rest of the genuine trail unchanged.</a:t>
            </a:r>
          </a:p>
        </p:txBody>
      </p:sp>
      <p:sp>
        <p:nvSpPr>
          <p:cNvPr id="9" name="time">
            <a:extLst xmlns:a="http://schemas.openxmlformats.org/drawingml/2006/main">
              <a:ext uri="{FF2B5EF4-FFF2-40B4-BE49-F238E27FC236}">
                <a16:creationId xmlns:a16="http://schemas.microsoft.com/office/drawing/2014/main" id="{DFDD87EB-CBC5-4318-A76E-5FC659CB863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70E54959-B9DD-45D6-95D9-42BBBC5B8F0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25</a:t>
            </a:r>
          </a:p>
        </p:txBody>
      </p:sp>
    </p:spTree>
    <p:extLst>
      <p:ext uri="{BB962C8B-B14F-4D97-AF65-F5344CB8AC3E}">
        <p14:creationId xmlns:p14="http://schemas.microsoft.com/office/powerpoint/2010/main" val="2004905388"/>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2F40568-5488-4A29-9777-E23F21EFEB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0A2CBEE-B40B-4B55-9DFA-B276E87BBE4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28A9CCA-5F4E-4C94-B7F7-7C36D417A3D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82657DD8-0401-4E1B-8E8D-6D6C25833F9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00D1522B-2C1D-4605-923C-FC6D11D64A8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5387753-6E24-4C50-A98C-FD956AFA18F0}"/>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the honest route, not a shortcut.</a:t>
            </a:r>
          </a:p>
        </p:txBody>
      </p:sp>
      <p:sp>
        <p:nvSpPr>
          <p:cNvPr id="7" name="time">
            <a:extLst xmlns:a="http://schemas.openxmlformats.org/drawingml/2006/main">
              <a:ext uri="{FF2B5EF4-FFF2-40B4-BE49-F238E27FC236}">
                <a16:creationId xmlns:a16="http://schemas.microsoft.com/office/drawing/2014/main" id="{E94DDB79-ABB9-40C8-8346-3AA2A26F3A2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8" name="number">
            <a:extLst xmlns:a="http://schemas.openxmlformats.org/drawingml/2006/main">
              <a:ext uri="{FF2B5EF4-FFF2-40B4-BE49-F238E27FC236}">
                <a16:creationId xmlns:a16="http://schemas.microsoft.com/office/drawing/2014/main" id="{74D7861E-2F92-418C-B057-B8D5D94E11E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23 / 25</a:t>
            </a:r>
          </a:p>
        </p:txBody>
      </p:sp>
    </p:spTree>
    <p:extLst>
      <p:ext uri="{BB962C8B-B14F-4D97-AF65-F5344CB8AC3E}">
        <p14:creationId xmlns:p14="http://schemas.microsoft.com/office/powerpoint/2010/main" val="1119983277"/>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FB3EA36B-5946-4AA7-8C4F-BECB9C4BBD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D5FC63E-85CB-4A66-9792-45E974BF1F2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EE2A80B4-A86A-40D2-B145-F4F6E723480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4AC4AD75-BBCE-46A0-926F-E5DDAD7B93D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50A5845B-2185-4070-A850-9590662A800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1781B24-409F-49AE-8C62-1CC6C9F71F0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Show the before and after change. Complete: 'My evidence supports… It does not show… I changed… because…'.</a:t>
            </a:r>
          </a:p>
        </p:txBody>
      </p:sp>
      <p:sp>
        <p:nvSpPr>
          <p:cNvPr id="7" name="content 1">
            <a:extLst xmlns:a="http://schemas.openxmlformats.org/drawingml/2006/main">
              <a:ext uri="{FF2B5EF4-FFF2-40B4-BE49-F238E27FC236}">
                <a16:creationId xmlns:a16="http://schemas.microsoft.com/office/drawing/2014/main" id="{29061FB2-3E06-4ED5-AF33-668852958FD1}"/>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My evidence link Name the claim, genuine record and reason. Point to the exact source, result, label or model feature.</a:t>
            </a:r>
          </a:p>
        </p:txBody>
      </p:sp>
      <p:sp>
        <p:nvSpPr>
          <p:cNvPr id="8" name="content 2">
            <a:extLst xmlns:a="http://schemas.openxmlformats.org/drawingml/2006/main">
              <a:ext uri="{FF2B5EF4-FFF2-40B4-BE49-F238E27FC236}">
                <a16:creationId xmlns:a16="http://schemas.microsoft.com/office/drawing/2014/main" id="{96A8EADA-55CA-4FA5-B689-7DB796DEAA82}"/>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My honest limit Say what this evidence does not show or what still needs checking. Keep uncertainty visible.</a:t>
            </a:r>
          </a:p>
        </p:txBody>
      </p:sp>
      <p:sp>
        <p:nvSpPr>
          <p:cNvPr id="9" name="content 3">
            <a:extLst xmlns:a="http://schemas.openxmlformats.org/drawingml/2006/main">
              <a:ext uri="{FF2B5EF4-FFF2-40B4-BE49-F238E27FC236}">
                <a16:creationId xmlns:a16="http://schemas.microsoft.com/office/drawing/2014/main" id="{EAA976C4-B759-4EBF-B384-0906975A457F}"/>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My checked change Show the first and revised versions. Name the clear, fair or wider response you used and the precise change.</a:t>
            </a:r>
          </a:p>
        </p:txBody>
      </p:sp>
      <p:sp>
        <p:nvSpPr>
          <p:cNvPr id="10" name="time">
            <a:extLst xmlns:a="http://schemas.openxmlformats.org/drawingml/2006/main">
              <a:ext uri="{FF2B5EF4-FFF2-40B4-BE49-F238E27FC236}">
                <a16:creationId xmlns:a16="http://schemas.microsoft.com/office/drawing/2014/main" id="{491DE272-A8F0-45B4-888B-12C3815F3D1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FB558B8D-89E0-448E-BAE9-33590078669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24 / 25</a:t>
            </a:r>
          </a:p>
        </p:txBody>
      </p:sp>
    </p:spTree>
    <p:extLst>
      <p:ext uri="{BB962C8B-B14F-4D97-AF65-F5344CB8AC3E}">
        <p14:creationId xmlns:p14="http://schemas.microsoft.com/office/powerpoint/2010/main" val="238251382"/>
      </p:ext>
    </p:extLst>
  </p:cSld>
</p:sld>
</file>

<file path=ppt/slides/slide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C71255D7-5082-4957-98BA-6EA3B6716A2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8684AC3-BD69-410E-9EDC-EC0B2EA2F92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3F7D6E"/>
                </a:solidFill>
                <a:latin typeface="Arial"/>
                <a:ea typeface="Arial"/>
                <a:cs typeface="Arial"/>
              </a:defRPr>
            </a:pPr>
            <a:r>
              <a:rPr sz="1500" b="1">
                <a:solidFill>
                  <a:srgbClr val="3F7D6E"/>
                </a:solidFill>
                <a:latin typeface="Arial"/>
                <a:ea typeface="Arial"/>
                <a:cs typeface="Arial"/>
              </a:rPr>
              <a:t>GROW  /  SCIENCE</a:t>
            </a:r>
          </a:p>
        </p:txBody>
      </p:sp>
      <p:sp>
        <p:nvSpPr>
          <p:cNvPr id="3" name="phase">
            <a:extLst xmlns:a="http://schemas.openxmlformats.org/drawingml/2006/main">
              <a:ext uri="{FF2B5EF4-FFF2-40B4-BE49-F238E27FC236}">
                <a16:creationId xmlns:a16="http://schemas.microsoft.com/office/drawing/2014/main" id="{8FB0848A-12A5-488B-A914-8F3AD823DC7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3F7D6E"/>
                </a:solidFill>
                <a:latin typeface="Arial"/>
                <a:ea typeface="Arial"/>
                <a:cs typeface="Arial"/>
              </a:defRPr>
            </a:pPr>
            <a:r>
              <a:rPr sz="1425" b="1">
                <a:solidFill>
                  <a:srgbClr val="3F7D6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303A5F38-0DE3-442D-8CC3-2AE426536CA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D4318F30-1CFF-46C4-A9CA-51136C8F06B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AEC0BED-9C17-41AC-B9E8-3EF31965C6F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Adult response The receiving adult names back the learner's link, limit and saved change. Adult preparation, prompting, scribing and filing stay separate.</a:t>
            </a:r>
          </a:p>
        </p:txBody>
      </p:sp>
      <p:sp>
        <p:nvSpPr>
          <p:cNvPr id="7" name="time">
            <a:extLst xmlns:a="http://schemas.openxmlformats.org/drawingml/2006/main">
              <a:ext uri="{FF2B5EF4-FFF2-40B4-BE49-F238E27FC236}">
                <a16:creationId xmlns:a16="http://schemas.microsoft.com/office/drawing/2014/main" id="{E70589D3-AFB4-45E2-BEF9-A7872AEF949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8" name="number">
            <a:extLst xmlns:a="http://schemas.openxmlformats.org/drawingml/2006/main">
              <a:ext uri="{FF2B5EF4-FFF2-40B4-BE49-F238E27FC236}">
                <a16:creationId xmlns:a16="http://schemas.microsoft.com/office/drawing/2014/main" id="{251633E3-44D5-4DBE-B509-05E47D9E5C1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25 / 25</a:t>
            </a:r>
          </a:p>
        </p:txBody>
      </p:sp>
    </p:spTree>
    <p:extLst>
      <p:ext uri="{BB962C8B-B14F-4D97-AF65-F5344CB8AC3E}">
        <p14:creationId xmlns:p14="http://schemas.microsoft.com/office/powerpoint/2010/main" val="1468248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2026-09-08T09:10:12.9250000Z</dcterms:created>
  <dcterms:modified xsi:type="dcterms:W3CDTF">2026-09-08T09:10:12.9250000Z</dcterms:modified>
</coreProperties>
</file>