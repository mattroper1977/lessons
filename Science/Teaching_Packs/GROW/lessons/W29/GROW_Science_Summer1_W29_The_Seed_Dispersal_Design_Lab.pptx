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ceab002abf401d" /><Relationship Type="http://schemas.openxmlformats.org/officeDocument/2006/relationships/extended-properties" Target="/docProps/app.xml" Id="R4a92e687dac34875" /><Relationship Type="http://schemas.openxmlformats.org/officeDocument/2006/relationships/officeDocument" Target="/ppt/presentation.xml" Id="R71d1b765ca72442e" /></Relationships>
</file>

<file path=ppt/presentation.xml><?xml version="1.0" encoding="utf-8"?>
<p:presentation xmlns:p="http://schemas.openxmlformats.org/presentationml/2006/main">
  <p:sldMasterIdLst>
    <p:sldMasterId xmlns:r="http://schemas.openxmlformats.org/officeDocument/2006/relationships" id="2147483648" r:id="R857ebdb534d04938"/>
  </p:sldMasterIdLst>
  <p:notesMasterIdLst>
    <p:notesMasterId xmlns:r="http://schemas.openxmlformats.org/officeDocument/2006/relationships" r:id="Re5e1fa06ab0d4e2b"/>
  </p:notesMasterIdLst>
  <p:sldIdLst>
    <p:sldId xmlns:r="http://schemas.openxmlformats.org/officeDocument/2006/relationships" id="256" r:id="R4d8aa1dc79354f08"/>
    <p:sldId xmlns:r="http://schemas.openxmlformats.org/officeDocument/2006/relationships" id="257" r:id="Ree852d0d00004d41"/>
    <p:sldId xmlns:r="http://schemas.openxmlformats.org/officeDocument/2006/relationships" id="258" r:id="R4bc734a23b0844da"/>
    <p:sldId xmlns:r="http://schemas.openxmlformats.org/officeDocument/2006/relationships" id="259" r:id="R551cb2629ba84b2b"/>
    <p:sldId xmlns:r="http://schemas.openxmlformats.org/officeDocument/2006/relationships" id="260" r:id="R769b476e6f60429e"/>
    <p:sldId xmlns:r="http://schemas.openxmlformats.org/officeDocument/2006/relationships" id="261" r:id="R6f5d584e9c2c40e6"/>
    <p:sldId xmlns:r="http://schemas.openxmlformats.org/officeDocument/2006/relationships" id="262" r:id="Rd11403f5cc2b4472"/>
    <p:sldId xmlns:r="http://schemas.openxmlformats.org/officeDocument/2006/relationships" id="263" r:id="R243c4be4a875489e"/>
    <p:sldId xmlns:r="http://schemas.openxmlformats.org/officeDocument/2006/relationships" id="264" r:id="Rc77a55f274c54009"/>
    <p:sldId xmlns:r="http://schemas.openxmlformats.org/officeDocument/2006/relationships" id="265" r:id="Rf3ea682967824f4f"/>
    <p:sldId xmlns:r="http://schemas.openxmlformats.org/officeDocument/2006/relationships" id="266" r:id="R30313477f6234baa"/>
    <p:sldId xmlns:r="http://schemas.openxmlformats.org/officeDocument/2006/relationships" id="267" r:id="Rd2bec54661994608"/>
    <p:sldId xmlns:r="http://schemas.openxmlformats.org/officeDocument/2006/relationships" id="268" r:id="R5747e57dfeab4cfb"/>
    <p:sldId xmlns:r="http://schemas.openxmlformats.org/officeDocument/2006/relationships" id="269" r:id="R21d096e81d9045f0"/>
    <p:sldId xmlns:r="http://schemas.openxmlformats.org/officeDocument/2006/relationships" id="270" r:id="R927cae6c11e94d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0bdcc49b4d4bc3" /><Relationship Type="http://schemas.openxmlformats.org/officeDocument/2006/relationships/slideMaster" Target="/ppt/slideMasters/slideMaster1.xml" Id="R857ebdb534d04938" /><Relationship Type="http://schemas.openxmlformats.org/officeDocument/2006/relationships/notesMaster" Target="/ppt/notesMasters/notesMaster1.xml" Id="Re5e1fa06ab0d4e2b" /><Relationship Type="http://schemas.openxmlformats.org/officeDocument/2006/relationships/presProps" Target="/ppt/presProps.xml" Id="R48079ec78f8d4513" /><Relationship Type="http://schemas.openxmlformats.org/officeDocument/2006/relationships/tableStyles" Target="/ppt/tableStyles.xml" Id="R019308cd47154bf0" /><Relationship Type="http://schemas.openxmlformats.org/officeDocument/2006/relationships/slide" Target="/ppt/slides/slide1.xml" Id="R4d8aa1dc79354f08" /><Relationship Type="http://schemas.openxmlformats.org/officeDocument/2006/relationships/slide" Target="/ppt/slides/slide2.xml" Id="Ree852d0d00004d41" /><Relationship Type="http://schemas.openxmlformats.org/officeDocument/2006/relationships/slide" Target="/ppt/slides/slide3.xml" Id="R4bc734a23b0844da" /><Relationship Type="http://schemas.openxmlformats.org/officeDocument/2006/relationships/slide" Target="/ppt/slides/slide4.xml" Id="R551cb2629ba84b2b" /><Relationship Type="http://schemas.openxmlformats.org/officeDocument/2006/relationships/slide" Target="/ppt/slides/slide5.xml" Id="R769b476e6f60429e" /><Relationship Type="http://schemas.openxmlformats.org/officeDocument/2006/relationships/slide" Target="/ppt/slides/slide6.xml" Id="R6f5d584e9c2c40e6" /><Relationship Type="http://schemas.openxmlformats.org/officeDocument/2006/relationships/slide" Target="/ppt/slides/slide7.xml" Id="Rd11403f5cc2b4472" /><Relationship Type="http://schemas.openxmlformats.org/officeDocument/2006/relationships/slide" Target="/ppt/slides/slide8.xml" Id="R243c4be4a875489e" /><Relationship Type="http://schemas.openxmlformats.org/officeDocument/2006/relationships/slide" Target="/ppt/slides/slide9.xml" Id="Rc77a55f274c54009" /><Relationship Type="http://schemas.openxmlformats.org/officeDocument/2006/relationships/slide" Target="/ppt/slides/slide10.xml" Id="Rf3ea682967824f4f" /><Relationship Type="http://schemas.openxmlformats.org/officeDocument/2006/relationships/slide" Target="/ppt/slides/slide11.xml" Id="R30313477f6234baa" /><Relationship Type="http://schemas.openxmlformats.org/officeDocument/2006/relationships/slide" Target="/ppt/slides/slide12.xml" Id="Rd2bec54661994608" /><Relationship Type="http://schemas.openxmlformats.org/officeDocument/2006/relationships/slide" Target="/ppt/slides/slide13.xml" Id="R5747e57dfeab4cfb" /><Relationship Type="http://schemas.openxmlformats.org/officeDocument/2006/relationships/slide" Target="/ppt/slides/slide14.xml" Id="R21d096e81d9045f0" /><Relationship Type="http://schemas.openxmlformats.org/officeDocument/2006/relationships/slide" Target="/ppt/slides/slide15.xml" Id="R927cae6c11e94d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76e39b7a2b42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e7df21d3cb4d53" /><Relationship Type="http://schemas.openxmlformats.org/officeDocument/2006/relationships/notesMaster" Target="/ppt/notesMasters/notesMaster1.xml" Id="R40af4d1bbeef4e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ad7315da4a465a" /><Relationship Type="http://schemas.openxmlformats.org/officeDocument/2006/relationships/notesMaster" Target="/ppt/notesMasters/notesMaster1.xml" Id="R14bb896eedd648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590463d740423c" /><Relationship Type="http://schemas.openxmlformats.org/officeDocument/2006/relationships/notesMaster" Target="/ppt/notesMasters/notesMaster1.xml" Id="Re1d9f50cc2924b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f136fb70764a4c" /><Relationship Type="http://schemas.openxmlformats.org/officeDocument/2006/relationships/notesMaster" Target="/ppt/notesMasters/notesMaster1.xml" Id="R89c50da476524e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3ded1aa63946fe" /><Relationship Type="http://schemas.openxmlformats.org/officeDocument/2006/relationships/notesMaster" Target="/ppt/notesMasters/notesMaster1.xml" Id="R6f3a890ef5ac4e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081d562d2e4cfa" /><Relationship Type="http://schemas.openxmlformats.org/officeDocument/2006/relationships/notesMaster" Target="/ppt/notesMasters/notesMaster1.xml" Id="R984edf20fcc14e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ea0e57ba324e06" /><Relationship Type="http://schemas.openxmlformats.org/officeDocument/2006/relationships/notesMaster" Target="/ppt/notesMasters/notesMaster1.xml" Id="R7e32a00c640a41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cc10ffdfd74f2a" /><Relationship Type="http://schemas.openxmlformats.org/officeDocument/2006/relationships/notesMaster" Target="/ppt/notesMasters/notesMaster1.xml" Id="R787c8589b7ae47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9a550dfcd64c42" /><Relationship Type="http://schemas.openxmlformats.org/officeDocument/2006/relationships/notesMaster" Target="/ppt/notesMasters/notesMaster1.xml" Id="Rd109b9e6070e4c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e0517588544794" /><Relationship Type="http://schemas.openxmlformats.org/officeDocument/2006/relationships/notesMaster" Target="/ppt/notesMasters/notesMaster1.xml" Id="R099740f5f8d140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fe5ea8485a431b" /><Relationship Type="http://schemas.openxmlformats.org/officeDocument/2006/relationships/notesMaster" Target="/ppt/notesMasters/notesMaster1.xml" Id="Re9d21347f4f44b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a34683e81641e2" /><Relationship Type="http://schemas.openxmlformats.org/officeDocument/2006/relationships/notesMaster" Target="/ppt/notesMasters/notesMaster1.xml" Id="Rabc67589d8ba45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0522ff23bf4bff" /><Relationship Type="http://schemas.openxmlformats.org/officeDocument/2006/relationships/notesMaster" Target="/ppt/notesMasters/notesMaster1.xml" Id="R51e71f11b5ba4d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4dff66883849e0" /><Relationship Type="http://schemas.openxmlformats.org/officeDocument/2006/relationships/notesMaster" Target="/ppt/notesMasters/notesMaster1.xml" Id="R3ab592bd39cf4f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5e44efe3514588" /><Relationship Type="http://schemas.openxmlformats.org/officeDocument/2006/relationships/notesMaster" Target="/ppt/notesMasters/notesMaster1.xml" Id="Rd79358de0d634b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Invite a structure-based guess. Avoid intention language such as the seed wants to fly.</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 new plant in suitable conditions; inside or associated with fruit structures depending on species, accept within fruit for core model; repeats reveal variation and strengthen confidence.</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Think aloud: I name the structure before the mechanism. A wing supports interaction with air, not self-powered flight. Hooks support attachment, not growth towards an animal. Diagrams are selective.</a:t>
            </a:r>
          </a:p>
          <a:p xmlns:a="http://schemas.openxmlformats.org/drawingml/2006/main">
            <a:r>
              <a:t/>
            </a:r>
          </a:p>
          <a:p xmlns:a="http://schemas.openxmlformats.org/drawingml/2006/main">
            <a:r>
              <a:t>DIAGRAM DESCRIPTION</a:t>
            </a:r>
          </a:p>
          <a:p xmlns:a="http://schemas.openxmlformats.org/drawingml/2006/main">
            <a:r>
              <a:t>Two schematic botanical structures are compared without a connecting arrow: sycamore winged fruit with seed-bearing region, and burdock hooked burr enclosing fruits. Structures are simplified and not to scale.</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Explain exact retained paper and optional rotor instructions from preparation. The constructed test uses no added clip. A clear drop avoids disturbance; pupils may remain entirely on paper.</a:t>
            </a:r>
          </a:p>
          <a:p xmlns:a="http://schemas.openxmlformats.org/drawingml/2006/main">
            <a:r>
              <a:t/>
            </a:r>
          </a:p>
          <a:p xmlns:a="http://schemas.openxmlformats.org/drawingml/2006/main">
            <a:r>
              <a:t>DIAGRAM DESCRIPTION</a:t>
            </a:r>
          </a:p>
          <a:p xmlns:a="http://schemas.openxmlformats.org/drawingml/2006/main">
            <a:r>
              <a:t>Two paper shapes are released from the same marked height into a clear floor area. The measured quantity is fall time. The models have equal original paper dimensions and retained mass, with shape as the changed feature.</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Think aloud: I cannot turn a fall-time result into a kilometre claim. This is a limited model of structure affecting descent, not proof of every dispersal outcome.</a:t>
            </a:r>
          </a:p>
          <a:p xmlns:a="http://schemas.openxmlformats.org/drawingml/2006/main">
            <a:r>
              <a:t/>
            </a:r>
          </a:p>
          <a:p xmlns:a="http://schemas.openxmlformats.org/drawingml/2006/main">
            <a:r>
              <a:t>DIAGRAM DESCRIPTION</a:t>
            </a:r>
          </a:p>
          <a:p xmlns:a="http://schemas.openxmlformats.org/drawingml/2006/main">
            <a:r>
              <a:t>A simplified scientific sequence: Observed:</a:t>
            </a:r>
          </a:p>
          <a:p xmlns:a="http://schemas.openxmlformats.org/drawingml/2006/main">
            <a:r>
              <a:t>longer fall time; Possible effect:</a:t>
            </a:r>
          </a:p>
          <a:p xmlns:a="http://schemas.openxmlformats.org/drawingml/2006/main">
            <a:r>
              <a:t>more time in air; Not measured:</a:t>
            </a:r>
          </a:p>
          <a:p xmlns:a="http://schemas.openxmlformats.org/drawingml/2006/main">
            <a:r>
              <a:t>outdoor distance. Paper models test one feature. Real seed journeys</a:t>
            </a:r>
          </a:p>
          <a:p xmlns:a="http://schemas.openxmlformats.org/drawingml/2006/main">
            <a:r>
              <a:t>also depend on wind, release height and surroundings.</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A wind; B external animal attachment; C animal ingestion. Rotor times exceed compact in every paired trial; use a pair such as 1.4 vs 0.8 seconds.</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No; mass also changed. Use the same retained paper mass and no extra clip, with matched release conditions.</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The rotor paper model took longer to fall in this setup; actual seed distance depends on wind, structure and environment. Model does not establish all-species ranking.</a:t>
            </a:r>
          </a:p>
          <a:p xmlns:a="http://schemas.openxmlformats.org/drawingml/2006/main">
            <a:r>
              <a:t/>
            </a:r>
          </a:p>
          <a:p xmlns:a="http://schemas.openxmlformats.org/drawingml/2006/main">
            <a:r>
              <a:t>REVEAL / MODEL ANSWER</a:t>
            </a:r>
          </a:p>
          <a:p xmlns:a="http://schemas.openxmlformats.org/drawingml/2006/main">
            <a:r>
              <a:t>In this paper test, the rotor fell more slowly. Real dispersal distance was not measured.</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 is correct: the measured quantity is fall time. B is false: no outdoor distance was measured. C is false: the structure did not change intentionally.</a:t>
            </a:r>
          </a:p>
          <a:p xmlns:a="http://schemas.openxmlformats.org/drawingml/2006/main">
            <a:r>
              <a:t/>
            </a:r>
          </a:p>
          <a:p xmlns:a="http://schemas.openxmlformats.org/drawingml/2006/main">
            <a:r>
              <a:t>A. The time each paper model took to reach the floor.</a:t>
            </a:r>
          </a:p>
          <a:p xmlns:a="http://schemas.openxmlformats.org/drawingml/2006/main">
            <a:r>
              <a:t>Correct. The units are seconds and the release conditions are stated.</a:t>
            </a:r>
          </a:p>
          <a:p xmlns:a="http://schemas.openxmlformats.org/drawingml/2006/main">
            <a:r>
              <a:t/>
            </a:r>
          </a:p>
          <a:p xmlns:a="http://schemas.openxmlformats.org/drawingml/2006/main">
            <a:r>
              <a:t>B. How far every real seed travels outside.</a:t>
            </a:r>
          </a:p>
          <a:p xmlns:a="http://schemas.openxmlformats.org/drawingml/2006/main">
            <a:r>
              <a:t>The test used paper models indoors and did not measure distance.</a:t>
            </a:r>
          </a:p>
          <a:p xmlns:a="http://schemas.openxmlformats.org/drawingml/2006/main">
            <a:r>
              <a:t/>
            </a:r>
          </a:p>
          <a:p xmlns:a="http://schemas.openxmlformats.org/drawingml/2006/main">
            <a:r>
              <a:t>C. How much the seeds wanted to move.</a:t>
            </a:r>
          </a:p>
          <a:p xmlns:a="http://schemas.openxmlformats.org/drawingml/2006/main">
            <a:r>
              <a:t>Wanting is not a scientific variable for a seed.</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across the three You do slides. Supply shared page 1 and one selected route page. All routes target the stated science objective; a labelled drawing or independent dictated explanation is valid.</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Ask pupils which evidence supports their explanation. Read prompts or scribe without supplying the scientific conclusion.</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Use the route-specific worked answers to identify one precise next step.</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4 minutes across Review. Offer partner or private teacher feedback. Ask for one specific revision linked to evidence; no public ranking.</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Lundy cycle: invite written, spoken or pointed suggestions. Select one feasible question and explain how the pupil contribution changes the next example or investigation.</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The wing interacts with air and slows descent. Accept an accurate pair of fall times. This paper model measures indoor fall time, not outdoor dispersal distance. E4 asks for one control.</a:t>
            </a:r>
          </a:p>
          <a:p xmlns:a="http://schemas.openxmlformats.org/drawingml/2006/main">
            <a:r>
              <a:t/>
            </a:r>
          </a:p>
          <a:p xmlns:a="http://schemas.openxmlformats.org/drawingml/2006/main">
            <a:r>
              <a:t>LESSON REFERENCES</a:t>
            </a:r>
          </a:p>
          <a:p xmlns:a="http://schemas.openxmlformats.org/drawingml/2006/main">
            <a:r>
              <a:t>Kew: Plant scientists classroom activity pack</a:t>
            </a:r>
          </a:p>
          <a:p xmlns:a="http://schemas.openxmlformats.org/drawingml/2006/main">
            <a:r>
              <a:t>https://www.kew.org/sites/default/files/2022-09/LKS2-Plant-scientists-pre-and-post-visit-resources.pdf</a:t>
            </a:r>
          </a:p>
          <a:p xmlns:a="http://schemas.openxmlformats.org/drawingml/2006/main">
            <a:r>
              <a:t>Checked September 2026. Seed/fruit structures and dispersal examples. Scientific facts are paraphrased; this investigation is newly authored.</a:t>
            </a:r>
          </a:p>
          <a:p xmlns:a="http://schemas.openxmlformats.org/drawingml/2006/main">
            <a:r>
              <a:t/>
            </a:r>
          </a:p>
          <a:p xmlns:a="http://schemas.openxmlformats.org/drawingml/2006/main">
            <a:r>
              <a:t>RHS: Seed dispersal</a:t>
            </a:r>
          </a:p>
          <a:p xmlns:a="http://schemas.openxmlformats.org/drawingml/2006/main">
            <a:r>
              <a:t>https://www.rhs.org.uk/education-learning/school-gardening/resources/curriculum-linked/seed-dispersal</a:t>
            </a:r>
          </a:p>
          <a:p xmlns:a="http://schemas.openxmlformats.org/drawingml/2006/main">
            <a:r>
              <a:t>Checked September 2026. Winged and tufted structures support wind dispersal; a fall-time model does not measure outdoor distance.</a:t>
            </a:r>
          </a:p>
          <a:p xmlns:a="http://schemas.openxmlformats.org/drawingml/2006/main">
            <a:r>
              <a:t/>
            </a:r>
          </a:p>
          <a:p xmlns:a="http://schemas.openxmlformats.org/drawingml/2006/main">
            <a:r>
              <a:t>Kew: How plants hitchhike on animal poo</a:t>
            </a:r>
          </a:p>
          <a:p xmlns:a="http://schemas.openxmlformats.org/drawingml/2006/main">
            <a:r>
              <a:t>https://www.kew.org/read-and-watch/plant-seed-dispersal-animal-poo</a:t>
            </a:r>
          </a:p>
          <a:p xmlns:a="http://schemas.openxmlformats.org/drawingml/2006/main">
            <a:r>
              <a:t>Checked September 2026. Some animals eat fleshy fruit and later pass viable seeds; not every seed survives digestion.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45f7235f994f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d54681f7fb4ef2" /><Relationship Type="http://schemas.openxmlformats.org/officeDocument/2006/relationships/slideLayout" Target="/ppt/slideLayouts/slideLayout1.xml" Id="R24028ca971e8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028ca971e8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a3c4ee301944b9" /><Relationship Type="http://schemas.openxmlformats.org/officeDocument/2006/relationships/notesSlide" Target="/ppt/notesSlides/notesSlide1.xml" Id="Rfbddadabf0604c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89f80d0b344aba" /><Relationship Type="http://schemas.openxmlformats.org/officeDocument/2006/relationships/notesSlide" Target="/ppt/notesSlides/notesSlide2.xml" Id="Rd8b155333b7b4d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8644aaf9ec4dcb" /><Relationship Type="http://schemas.openxmlformats.org/officeDocument/2006/relationships/notesSlide" Target="/ppt/notesSlides/notesSlide3.xml" Id="Rd911df31702f45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7d7d44f03d40b6" /><Relationship Type="http://schemas.openxmlformats.org/officeDocument/2006/relationships/notesSlide" Target="/ppt/notesSlides/notesSlide4.xml" Id="Rd7e8ff12a8b744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768664610e4d4c" /><Relationship Type="http://schemas.openxmlformats.org/officeDocument/2006/relationships/notesSlide" Target="/ppt/notesSlides/notesSlide5.xml" Id="Racbe5f1b2b3d44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3366b1a4734958" /><Relationship Type="http://schemas.openxmlformats.org/officeDocument/2006/relationships/notesSlide" Target="/ppt/notesSlides/notesSlide6.xml" Id="Rc263a4f36cee41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7dfaeadb8b42cc" /><Relationship Type="http://schemas.openxmlformats.org/officeDocument/2006/relationships/notesSlide" Target="/ppt/notesSlides/notesSlide7.xml" Id="R2bd426dbc8c44f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7f65a0e89c4437" /><Relationship Type="http://schemas.openxmlformats.org/officeDocument/2006/relationships/notesSlide" Target="/ppt/notesSlides/notesSlide8.xml" Id="Rc2e4d89d998c4f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a6b38e0a8b4bc2" /><Relationship Type="http://schemas.openxmlformats.org/officeDocument/2006/relationships/notesSlide" Target="/ppt/notesSlides/notesSlide9.xml" Id="R2d7323be6c4b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180f4dc2194dd1" /><Relationship Type="http://schemas.openxmlformats.org/officeDocument/2006/relationships/notesSlide" Target="/ppt/notesSlides/notesSlide10.xml" Id="Rb63158aca65748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651e3bdfd241d9" /><Relationship Type="http://schemas.openxmlformats.org/officeDocument/2006/relationships/notesSlide" Target="/ppt/notesSlides/notesSlide11.xml" Id="Re4239a08501649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4a4c35e6a343ad" /><Relationship Type="http://schemas.openxmlformats.org/officeDocument/2006/relationships/notesSlide" Target="/ppt/notesSlides/notesSlide12.xml" Id="R4ebb90cd0d664b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1e978092424010" /><Relationship Type="http://schemas.openxmlformats.org/officeDocument/2006/relationships/notesSlide" Target="/ppt/notesSlides/notesSlide13.xml" Id="Rffcbff15b45a49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ec74982d784f64" /><Relationship Type="http://schemas.openxmlformats.org/officeDocument/2006/relationships/notesSlide" Target="/ppt/notesSlides/notesSlide14.xml" Id="Rccf5c5163efc4f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48892fad5346ae" /><Relationship Type="http://schemas.openxmlformats.org/officeDocument/2006/relationships/notesSlide" Target="/ppt/notesSlides/notesSlide15.xml" Id="R5974e0a8eb3741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70D157D0-87F7-48C1-BF91-607D6DA722F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F46809C-D5A3-4180-9885-9879541DD70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F07F973-280F-49DC-B7BE-EE97B134720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CC61E696-471D-4FE4-BC7B-6BB80E9372A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Opening">
            <a:extLst xmlns:a="http://schemas.openxmlformats.org/drawingml/2006/main">
              <a:ext uri="{FF2B5EF4-FFF2-40B4-BE49-F238E27FC236}">
                <a16:creationId xmlns:a16="http://schemas.microsoft.com/office/drawing/2014/main" id="{9956C96A-D242-43DF-93C8-C0BD16DA8E1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C10CE5E2-180B-42A8-8241-55E81E764EB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 seed has no engine">
            <a:extLst xmlns:a="http://schemas.openxmlformats.org/drawingml/2006/main">
              <a:ext uri="{FF2B5EF4-FFF2-40B4-BE49-F238E27FC236}">
                <a16:creationId xmlns:a16="http://schemas.microsoft.com/office/drawing/2014/main" id="{C94AEB57-45A6-4620-9604-35601FCAE2B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seed has no engine</a:t>
            </a:r>
          </a:p>
        </p:txBody>
      </p:sp>
      <p:sp>
        <p:nvSpPr>
          <p:cNvPr id="8" name="surface">
            <a:extLst xmlns:a="http://schemas.openxmlformats.org/drawingml/2006/main">
              <a:ext uri="{FF2B5EF4-FFF2-40B4-BE49-F238E27FC236}">
                <a16:creationId xmlns:a16="http://schemas.microsoft.com/office/drawing/2014/main" id="{D4926F88-85AD-488E-AB2F-051AB00B617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6EE11AA7-F96B-4E5E-B28B-280F3388234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1 / 15">
            <a:extLst xmlns:a="http://schemas.openxmlformats.org/drawingml/2006/main">
              <a:ext uri="{FF2B5EF4-FFF2-40B4-BE49-F238E27FC236}">
                <a16:creationId xmlns:a16="http://schemas.microsoft.com/office/drawing/2014/main" id="{5882DE17-1BD6-404D-9F28-E612BC7CED2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77A54C57-017B-4E7D-A93E-90AFEC033D0A}"/>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73BBDD0F-622D-4893-9664-7D552A1D8796}"/>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7441CDED-9ECF-437F-9BB0-4C4D9381B8EF}"/>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3F7D6E"/>
                </a:solidFill>
                <a:latin typeface="Nimbus Sans"/>
                <a:ea typeface="Nimbus Sans"/>
                <a:cs typeface="Nimbus Sans"/>
              </a:defRPr>
            </a:pPr>
            <a:r>
              <a:rPr sz="1650" b="1">
                <a:solidFill>
                  <a:srgbClr val="3F7D6E"/>
                </a:solidFill>
                <a:latin typeface="Nimbus Sans"/>
                <a:ea typeface="Nimbus Sans"/>
                <a:cs typeface="Nimbus Sans"/>
              </a:rPr>
              <a:t>Learning intention</a:t>
            </a:r>
          </a:p>
        </p:txBody>
      </p:sp>
      <p:sp>
        <p:nvSpPr>
          <p:cNvPr id="14" name="Explain how seed or fruit structures can aid dispersal and evalu">
            <a:extLst xmlns:a="http://schemas.openxmlformats.org/drawingml/2006/main">
              <a:ext uri="{FF2B5EF4-FFF2-40B4-BE49-F238E27FC236}">
                <a16:creationId xmlns:a16="http://schemas.microsoft.com/office/drawing/2014/main" id="{F3481B42-490C-42CF-868C-0AFACA3D883B}"/>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Explain how seed or fruit structures can aid dispersal and evaluate a controlled</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paper model.</a:t>
            </a:r>
          </a:p>
        </p:txBody>
      </p:sp>
      <p:sp>
        <p:nvSpPr>
          <p:cNvPr id="15" name="How could a seed travel away from its parent?">
            <a:extLst xmlns:a="http://schemas.openxmlformats.org/drawingml/2006/main">
              <a:ext uri="{FF2B5EF4-FFF2-40B4-BE49-F238E27FC236}">
                <a16:creationId xmlns:a16="http://schemas.microsoft.com/office/drawing/2014/main" id="{4701B0A6-4D24-47B7-819B-DEB0434B0147}"/>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How could a seed travel away from its parent?</a:t>
            </a:r>
          </a:p>
        </p:txBody>
      </p:sp>
      <p:sp>
        <p:nvSpPr>
          <p:cNvPr id="16" name="Look for a structure and a force or carrier.">
            <a:extLst xmlns:a="http://schemas.openxmlformats.org/drawingml/2006/main">
              <a:ext uri="{FF2B5EF4-FFF2-40B4-BE49-F238E27FC236}">
                <a16:creationId xmlns:a16="http://schemas.microsoft.com/office/drawing/2014/main" id="{7EAE7E11-A0BD-4C73-8155-8BCCCF09F91C}"/>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Look for a structure and a force or carrier.</a:t>
            </a:r>
          </a:p>
        </p:txBody>
      </p:sp>
    </p:spTree>
    <p:extLst>
      <p:ext uri="{BB962C8B-B14F-4D97-AF65-F5344CB8AC3E}">
        <p14:creationId xmlns:p14="http://schemas.microsoft.com/office/powerpoint/2010/main" val="1496378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063DBD0-95C1-4F29-9BCA-8EF1AA4365E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9056C1D-3179-487F-A796-0230EEDB35E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6650C31-9023-400E-A02D-26AB4BE863E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E8D98FE9-7E28-4850-A60F-9208CC6A143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trieval">
            <a:extLst xmlns:a="http://schemas.openxmlformats.org/drawingml/2006/main">
              <a:ext uri="{FF2B5EF4-FFF2-40B4-BE49-F238E27FC236}">
                <a16:creationId xmlns:a16="http://schemas.microsoft.com/office/drawing/2014/main" id="{6C40AF78-03ED-4398-8E38-4A485AB36BD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B5DE6671-9F3D-474A-B44F-6C5D8B1C339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Seed, fruit and a fair comparison">
            <a:extLst xmlns:a="http://schemas.openxmlformats.org/drawingml/2006/main">
              <a:ext uri="{FF2B5EF4-FFF2-40B4-BE49-F238E27FC236}">
                <a16:creationId xmlns:a16="http://schemas.microsoft.com/office/drawing/2014/main" id="{9A9D0B48-4D06-4374-98CE-F08F7D3639C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Seed, fruit and a fair comparison</a:t>
            </a:r>
          </a:p>
        </p:txBody>
      </p:sp>
      <p:sp>
        <p:nvSpPr>
          <p:cNvPr id="8" name="surface">
            <a:extLst xmlns:a="http://schemas.openxmlformats.org/drawingml/2006/main">
              <a:ext uri="{FF2B5EF4-FFF2-40B4-BE49-F238E27FC236}">
                <a16:creationId xmlns:a16="http://schemas.microsoft.com/office/drawing/2014/main" id="{ABF157FF-8C0F-49A2-8A74-C81E3CF65AB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C1F8EBAB-9406-4E7F-AA0F-38FF5EE96D4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2 / 15">
            <a:extLst xmlns:a="http://schemas.openxmlformats.org/drawingml/2006/main">
              <a:ext uri="{FF2B5EF4-FFF2-40B4-BE49-F238E27FC236}">
                <a16:creationId xmlns:a16="http://schemas.microsoft.com/office/drawing/2014/main" id="{B645B95C-37A3-4146-99F0-1D3797A9133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can a seed develop into?">
            <a:extLst xmlns:a="http://schemas.openxmlformats.org/drawingml/2006/main">
              <a:ext uri="{FF2B5EF4-FFF2-40B4-BE49-F238E27FC236}">
                <a16:creationId xmlns:a16="http://schemas.microsoft.com/office/drawing/2014/main" id="{706895CE-484F-4369-A5A9-923D55F1B79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can a seed develop into?</a:t>
            </a:r>
          </a:p>
        </p:txBody>
      </p:sp>
      <p:sp>
        <p:nvSpPr>
          <p:cNvPr id="12" name="R2. Where are seeds found in a flowering plant’s fruit?">
            <a:extLst xmlns:a="http://schemas.openxmlformats.org/drawingml/2006/main">
              <a:ext uri="{FF2B5EF4-FFF2-40B4-BE49-F238E27FC236}">
                <a16:creationId xmlns:a16="http://schemas.microsoft.com/office/drawing/2014/main" id="{9A24A03E-ABE6-44D9-A294-E1C36465012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Where are seeds found in a flowering plant’s fruit?</a:t>
            </a:r>
          </a:p>
        </p:txBody>
      </p:sp>
      <p:sp>
        <p:nvSpPr>
          <p:cNvPr id="13" name="R3. Why repeat a measurement?">
            <a:extLst xmlns:a="http://schemas.openxmlformats.org/drawingml/2006/main">
              <a:ext uri="{FF2B5EF4-FFF2-40B4-BE49-F238E27FC236}">
                <a16:creationId xmlns:a16="http://schemas.microsoft.com/office/drawing/2014/main" id="{5C4391DB-E3AC-4790-A046-2B75798F8545}"/>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Why repeat a measurement?</a:t>
            </a:r>
          </a:p>
        </p:txBody>
      </p:sp>
    </p:spTree>
    <p:extLst>
      <p:ext uri="{BB962C8B-B14F-4D97-AF65-F5344CB8AC3E}">
        <p14:creationId xmlns:p14="http://schemas.microsoft.com/office/powerpoint/2010/main" val="8391089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urface">
            <a:extLst xmlns:a="http://schemas.openxmlformats.org/drawingml/2006/main">
              <a:ext uri="{FF2B5EF4-FFF2-40B4-BE49-F238E27FC236}">
                <a16:creationId xmlns:a16="http://schemas.microsoft.com/office/drawing/2014/main" id="{8DDB054C-FF63-4454-BB74-3B71EC5F49B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2026A83-DD5D-4CB1-8625-FE8A71A065C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1C9102F-8B52-40FF-A687-14E43847662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89017EE-F636-4612-8219-C5CEF009C37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5F8FDC4D-DA48-4FAB-896D-19E46148AFD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10C52A64-5DCD-4544-A956-79A5C522B78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I connect structure to a journey">
            <a:extLst xmlns:a="http://schemas.openxmlformats.org/drawingml/2006/main">
              <a:ext uri="{FF2B5EF4-FFF2-40B4-BE49-F238E27FC236}">
                <a16:creationId xmlns:a16="http://schemas.microsoft.com/office/drawing/2014/main" id="{8EA66002-B223-489C-8A8E-FD41197972D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connect structure to a journey</a:t>
            </a:r>
          </a:p>
        </p:txBody>
      </p:sp>
      <p:sp>
        <p:nvSpPr>
          <p:cNvPr id="8" name="surface">
            <a:extLst xmlns:a="http://schemas.openxmlformats.org/drawingml/2006/main">
              <a:ext uri="{FF2B5EF4-FFF2-40B4-BE49-F238E27FC236}">
                <a16:creationId xmlns:a16="http://schemas.microsoft.com/office/drawing/2014/main" id="{DA9D931A-EC5D-4FB1-ACCF-2C23CD436BF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10009125-8967-4EA9-BED7-416FBA1BC2E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3 / 15">
            <a:extLst xmlns:a="http://schemas.openxmlformats.org/drawingml/2006/main">
              <a:ext uri="{FF2B5EF4-FFF2-40B4-BE49-F238E27FC236}">
                <a16:creationId xmlns:a16="http://schemas.microsoft.com/office/drawing/2014/main" id="{D45335F6-7331-4730-A1F4-67B650FB527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Structures can change how a seed travels">
            <a:extLst xmlns:a="http://schemas.openxmlformats.org/drawingml/2006/main">
              <a:ext uri="{FF2B5EF4-FFF2-40B4-BE49-F238E27FC236}">
                <a16:creationId xmlns:a16="http://schemas.microsoft.com/office/drawing/2014/main" id="{7DE530E2-8CF5-4B7F-9F4F-37962FBDC44C}"/>
              </a:ext>
            </a:extLst>
          </p:cNvPr>
          <p:cNvSpPr>
            <a:spLocks xmlns:a="http://schemas.openxmlformats.org/drawingml/2006/main" noGrp="1"/>
          </p:cNvSpPr>
          <p:nvPr/>
        </p:nvSpPr>
        <p:spPr>
          <a:xfrm xmlns:a="http://schemas.openxmlformats.org/drawingml/2006/main">
            <a:off x="2872468" y="1988004"/>
            <a:ext cx="6447064"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Structures can change how a seed travels</a:t>
            </a:r>
          </a:p>
        </p:txBody>
      </p:sp>
      <p:sp>
        <p:nvSpPr>
          <p:cNvPr id="12" name="Editable scientific diagram">
            <a:extLst xmlns:a="http://schemas.openxmlformats.org/drawingml/2006/main">
              <a:ext uri="{FF2B5EF4-FFF2-40B4-BE49-F238E27FC236}">
                <a16:creationId xmlns:a16="http://schemas.microsoft.com/office/drawing/2014/main" id="{E8013979-7790-40B5-98B8-F6DB26CCBF0F}"/>
              </a:ext>
            </a:extLst>
          </p:cNvPr>
          <p:cNvSpPr>
            <a:spLocks xmlns:a="http://schemas.openxmlformats.org/drawingml/2006/main" noGrp="1"/>
          </p:cNvSpPr>
          <p:nvPr/>
        </p:nvSpPr>
        <p:spPr>
          <a:xfrm xmlns:a="http://schemas.openxmlformats.org/drawingml/2006/main">
            <a:off x="3012621" y="2723810"/>
            <a:ext cx="2873148" cy="2242457"/>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3" name="Editable scientific diagram">
            <a:extLst xmlns:a="http://schemas.openxmlformats.org/drawingml/2006/main">
              <a:ext uri="{FF2B5EF4-FFF2-40B4-BE49-F238E27FC236}">
                <a16:creationId xmlns:a16="http://schemas.microsoft.com/office/drawing/2014/main" id="{1523025A-4AE1-4D0E-967B-39ED32F9B0EB}"/>
              </a:ext>
            </a:extLst>
          </p:cNvPr>
          <p:cNvSpPr>
            <a:spLocks xmlns:a="http://schemas.openxmlformats.org/drawingml/2006/main" noGrp="1"/>
          </p:cNvSpPr>
          <p:nvPr/>
        </p:nvSpPr>
        <p:spPr>
          <a:xfrm xmlns:a="http://schemas.openxmlformats.org/drawingml/2006/main">
            <a:off x="6306230" y="2723810"/>
            <a:ext cx="2873148" cy="2242457"/>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4" name="Editable scientific diagram">
            <a:extLst xmlns:a="http://schemas.openxmlformats.org/drawingml/2006/main">
              <a:ext uri="{FF2B5EF4-FFF2-40B4-BE49-F238E27FC236}">
                <a16:creationId xmlns:a16="http://schemas.microsoft.com/office/drawing/2014/main" id="{DB90CFBF-18F5-4415-A91E-D092FE45D015}"/>
              </a:ext>
            </a:extLst>
          </p:cNvPr>
          <p:cNvSpPr>
            <a:spLocks xmlns:a="http://schemas.openxmlformats.org/drawingml/2006/main" noGrp="1"/>
          </p:cNvSpPr>
          <p:nvPr/>
        </p:nvSpPr>
        <p:spPr>
          <a:xfrm xmlns:a="http://schemas.openxmlformats.org/drawingml/2006/main">
            <a:off x="3573236" y="3774962"/>
            <a:ext cx="490538" cy="455499"/>
          </a:xfrm>
          <a:prstGeom xmlns:a="http://schemas.openxmlformats.org/drawingml/2006/main" prst="ellipse">
            <a:avLst/>
          </a:prstGeom>
          <a:solidFill xmlns:a="http://schemas.openxmlformats.org/drawingml/2006/main">
            <a:srgbClr val="D6BC8D"/>
          </a:solidFill>
          <a:ln xmlns:a="http://schemas.openxmlformats.org/drawingml/2006/main" w="21023">
            <a:solidFill>
              <a:srgbClr val="C9803B"/>
            </a:solidFill>
          </a:ln>
        </p:spPr>
      </p:sp>
      <p:sp>
        <p:nvSpPr>
          <p:cNvPr id="15" name="Editable scientific diagram">
            <a:extLst xmlns:a="http://schemas.openxmlformats.org/drawingml/2006/main">
              <a:ext uri="{FF2B5EF4-FFF2-40B4-BE49-F238E27FC236}">
                <a16:creationId xmlns:a16="http://schemas.microsoft.com/office/drawing/2014/main" id="{6AF75C31-2672-4EDA-A45F-1F8037139863}"/>
              </a:ext>
            </a:extLst>
          </p:cNvPr>
          <p:cNvSpPr>
            <a:spLocks xmlns:a="http://schemas.openxmlformats.org/drawingml/2006/main" noGrp="1"/>
          </p:cNvSpPr>
          <p:nvPr/>
        </p:nvSpPr>
        <p:spPr>
          <a:xfrm xmlns:a="http://schemas.openxmlformats.org/drawingml/2006/main">
            <a:off x="3923620" y="3354501"/>
            <a:ext cx="1471613" cy="525576"/>
          </a:xfrm>
          <a:prstGeom xmlns:a="http://schemas.openxmlformats.org/drawingml/2006/main" prst="ellipse">
            <a:avLst/>
          </a:prstGeom>
          <a:solidFill xmlns:a="http://schemas.openxmlformats.org/drawingml/2006/main">
            <a:srgbClr val="DFEACC"/>
          </a:solidFill>
          <a:ln xmlns:a="http://schemas.openxmlformats.org/drawingml/2006/main" w="21023">
            <a:solidFill>
              <a:srgbClr val="3F7D6E"/>
            </a:solidFill>
          </a:ln>
        </p:spPr>
      </p:sp>
      <p:sp>
        <p:nvSpPr>
          <p:cNvPr id="16" name="Diagram line">
            <a:extLst xmlns:a="http://schemas.openxmlformats.org/drawingml/2006/main">
              <a:ext uri="{FF2B5EF4-FFF2-40B4-BE49-F238E27FC236}">
                <a16:creationId xmlns:a16="http://schemas.microsoft.com/office/drawing/2014/main" id="{6A032F32-0A07-4E0F-9667-7AC06FA64ADB}"/>
              </a:ext>
            </a:extLst>
          </p:cNvPr>
          <p:cNvSpPr>
            <a:spLocks xmlns:a="http://schemas.openxmlformats.org/drawingml/2006/main" noGrp="1"/>
          </p:cNvSpPr>
          <p:nvPr/>
        </p:nvSpPr>
        <p:spPr>
          <a:xfrm xmlns:a="http://schemas.openxmlformats.org/drawingml/2006/main" flipH="0" flipV="1">
            <a:off x="3993696" y="3564731"/>
            <a:ext cx="1296421" cy="385422"/>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17" name="Diagram label: Sycamore: winged fruit">
            <a:extLst xmlns:a="http://schemas.openxmlformats.org/drawingml/2006/main">
              <a:ext uri="{FF2B5EF4-FFF2-40B4-BE49-F238E27FC236}">
                <a16:creationId xmlns:a16="http://schemas.microsoft.com/office/drawing/2014/main" id="{9E2E7C4C-EE19-4D82-95F0-1D43C190AACD}"/>
              </a:ext>
            </a:extLst>
          </p:cNvPr>
          <p:cNvSpPr>
            <a:spLocks xmlns:a="http://schemas.openxmlformats.org/drawingml/2006/main" noGrp="1"/>
          </p:cNvSpPr>
          <p:nvPr/>
        </p:nvSpPr>
        <p:spPr>
          <a:xfrm xmlns:a="http://schemas.openxmlformats.org/drawingml/2006/main">
            <a:off x="3152775" y="2863963"/>
            <a:ext cx="259284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Sycamore: winged fruit</a:t>
            </a:r>
          </a:p>
        </p:txBody>
      </p:sp>
      <p:sp>
        <p:nvSpPr>
          <p:cNvPr id="18" name="Diagram label: Seed inside the base&#10;Wing interacts with air">
            <a:extLst xmlns:a="http://schemas.openxmlformats.org/drawingml/2006/main">
              <a:ext uri="{FF2B5EF4-FFF2-40B4-BE49-F238E27FC236}">
                <a16:creationId xmlns:a16="http://schemas.microsoft.com/office/drawing/2014/main" id="{CC19A289-F287-43B8-8E71-F36265D7F964}"/>
              </a:ext>
            </a:extLst>
          </p:cNvPr>
          <p:cNvSpPr>
            <a:spLocks xmlns:a="http://schemas.openxmlformats.org/drawingml/2006/main" noGrp="1"/>
          </p:cNvSpPr>
          <p:nvPr/>
        </p:nvSpPr>
        <p:spPr>
          <a:xfrm xmlns:a="http://schemas.openxmlformats.org/drawingml/2006/main">
            <a:off x="3152775" y="4440691"/>
            <a:ext cx="2592841"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Seed inside the base</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Wing interacts with air</a:t>
            </a:r>
          </a:p>
        </p:txBody>
      </p:sp>
      <p:sp>
        <p:nvSpPr>
          <p:cNvPr id="19" name="Editable scientific diagram">
            <a:extLst xmlns:a="http://schemas.openxmlformats.org/drawingml/2006/main">
              <a:ext uri="{FF2B5EF4-FFF2-40B4-BE49-F238E27FC236}">
                <a16:creationId xmlns:a16="http://schemas.microsoft.com/office/drawing/2014/main" id="{5CE787B9-8A30-435E-AEB6-6ED004E94312}"/>
              </a:ext>
            </a:extLst>
          </p:cNvPr>
          <p:cNvSpPr>
            <a:spLocks xmlns:a="http://schemas.openxmlformats.org/drawingml/2006/main" noGrp="1"/>
          </p:cNvSpPr>
          <p:nvPr/>
        </p:nvSpPr>
        <p:spPr>
          <a:xfrm xmlns:a="http://schemas.openxmlformats.org/drawingml/2006/main">
            <a:off x="7287305" y="3599770"/>
            <a:ext cx="840921" cy="840921"/>
          </a:xfrm>
          <a:prstGeom xmlns:a="http://schemas.openxmlformats.org/drawingml/2006/main" prst="ellipse">
            <a:avLst/>
          </a:prstGeom>
          <a:solidFill xmlns:a="http://schemas.openxmlformats.org/drawingml/2006/main">
            <a:srgbClr val="DFEACC"/>
          </a:solidFill>
          <a:ln xmlns:a="http://schemas.openxmlformats.org/drawingml/2006/main" w="21023">
            <a:solidFill>
              <a:srgbClr val="3F7D6E"/>
            </a:solidFill>
          </a:ln>
        </p:spPr>
      </p:sp>
      <p:sp>
        <p:nvSpPr>
          <p:cNvPr id="20" name="Diagram line">
            <a:extLst xmlns:a="http://schemas.openxmlformats.org/drawingml/2006/main">
              <a:ext uri="{FF2B5EF4-FFF2-40B4-BE49-F238E27FC236}">
                <a16:creationId xmlns:a16="http://schemas.microsoft.com/office/drawing/2014/main" id="{84617303-3616-44B2-A0E1-7F2DBD159D01}"/>
              </a:ext>
            </a:extLst>
          </p:cNvPr>
          <p:cNvSpPr>
            <a:spLocks xmlns:a="http://schemas.openxmlformats.org/drawingml/2006/main" noGrp="1"/>
          </p:cNvSpPr>
          <p:nvPr/>
        </p:nvSpPr>
        <p:spPr>
          <a:xfrm xmlns:a="http://schemas.openxmlformats.org/drawingml/2006/main" flipH="1" flipV="1">
            <a:off x="7147152" y="3354501"/>
            <a:ext cx="210230" cy="280307"/>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1" name="Diagram line">
            <a:extLst xmlns:a="http://schemas.openxmlformats.org/drawingml/2006/main">
              <a:ext uri="{FF2B5EF4-FFF2-40B4-BE49-F238E27FC236}">
                <a16:creationId xmlns:a16="http://schemas.microsoft.com/office/drawing/2014/main" id="{B28AEE4A-EAFA-4329-B092-06D935D68167}"/>
              </a:ext>
            </a:extLst>
          </p:cNvPr>
          <p:cNvSpPr>
            <a:spLocks xmlns:a="http://schemas.openxmlformats.org/drawingml/2006/main" noGrp="1"/>
          </p:cNvSpPr>
          <p:nvPr/>
        </p:nvSpPr>
        <p:spPr>
          <a:xfrm xmlns:a="http://schemas.openxmlformats.org/drawingml/2006/main" flipH="1" flipV="0">
            <a:off x="7042037" y="3354501"/>
            <a:ext cx="105115" cy="105115"/>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2" name="Diagram line">
            <a:extLst xmlns:a="http://schemas.openxmlformats.org/drawingml/2006/main">
              <a:ext uri="{FF2B5EF4-FFF2-40B4-BE49-F238E27FC236}">
                <a16:creationId xmlns:a16="http://schemas.microsoft.com/office/drawing/2014/main" id="{0BF6D53E-B5B6-4C58-851B-AE25C704510A}"/>
              </a:ext>
            </a:extLst>
          </p:cNvPr>
          <p:cNvSpPr>
            <a:spLocks xmlns:a="http://schemas.openxmlformats.org/drawingml/2006/main" noGrp="1"/>
          </p:cNvSpPr>
          <p:nvPr/>
        </p:nvSpPr>
        <p:spPr>
          <a:xfrm xmlns:a="http://schemas.openxmlformats.org/drawingml/2006/main" flipH="0" flipV="1">
            <a:off x="8058150" y="3494654"/>
            <a:ext cx="315346" cy="210230"/>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3" name="Diagram line">
            <a:extLst xmlns:a="http://schemas.openxmlformats.org/drawingml/2006/main">
              <a:ext uri="{FF2B5EF4-FFF2-40B4-BE49-F238E27FC236}">
                <a16:creationId xmlns:a16="http://schemas.microsoft.com/office/drawing/2014/main" id="{71E47673-F86D-43A4-B72E-72809A9D3162}"/>
              </a:ext>
            </a:extLst>
          </p:cNvPr>
          <p:cNvSpPr>
            <a:spLocks xmlns:a="http://schemas.openxmlformats.org/drawingml/2006/main" noGrp="1"/>
          </p:cNvSpPr>
          <p:nvPr/>
        </p:nvSpPr>
        <p:spPr>
          <a:xfrm xmlns:a="http://schemas.openxmlformats.org/drawingml/2006/main" flipH="0" flipV="0">
            <a:off x="8373496" y="3494654"/>
            <a:ext cx="21023" cy="161177"/>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4" name="Diagram line">
            <a:extLst xmlns:a="http://schemas.openxmlformats.org/drawingml/2006/main">
              <a:ext uri="{FF2B5EF4-FFF2-40B4-BE49-F238E27FC236}">
                <a16:creationId xmlns:a16="http://schemas.microsoft.com/office/drawing/2014/main" id="{A3C68CDF-637B-41AA-963D-6C933E33D233}"/>
              </a:ext>
            </a:extLst>
          </p:cNvPr>
          <p:cNvSpPr>
            <a:spLocks xmlns:a="http://schemas.openxmlformats.org/drawingml/2006/main" noGrp="1"/>
          </p:cNvSpPr>
          <p:nvPr/>
        </p:nvSpPr>
        <p:spPr>
          <a:xfrm xmlns:a="http://schemas.openxmlformats.org/drawingml/2006/main" flipH="0" flipV="0">
            <a:off x="8072165" y="4230461"/>
            <a:ext cx="322353" cy="154169"/>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5" name="Diagram line">
            <a:extLst xmlns:a="http://schemas.openxmlformats.org/drawingml/2006/main">
              <a:ext uri="{FF2B5EF4-FFF2-40B4-BE49-F238E27FC236}">
                <a16:creationId xmlns:a16="http://schemas.microsoft.com/office/drawing/2014/main" id="{B4E8842F-D066-4043-9A0E-EE0F2617B1DA}"/>
              </a:ext>
            </a:extLst>
          </p:cNvPr>
          <p:cNvSpPr>
            <a:spLocks xmlns:a="http://schemas.openxmlformats.org/drawingml/2006/main" noGrp="1"/>
          </p:cNvSpPr>
          <p:nvPr/>
        </p:nvSpPr>
        <p:spPr>
          <a:xfrm xmlns:a="http://schemas.openxmlformats.org/drawingml/2006/main" flipH="1" flipV="0">
            <a:off x="8247357" y="4384630"/>
            <a:ext cx="147161" cy="98108"/>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6" name="Diagram line">
            <a:extLst xmlns:a="http://schemas.openxmlformats.org/drawingml/2006/main">
              <a:ext uri="{FF2B5EF4-FFF2-40B4-BE49-F238E27FC236}">
                <a16:creationId xmlns:a16="http://schemas.microsoft.com/office/drawing/2014/main" id="{DC074886-1FAE-48EA-B661-2C454552B77B}"/>
              </a:ext>
            </a:extLst>
          </p:cNvPr>
          <p:cNvSpPr>
            <a:spLocks xmlns:a="http://schemas.openxmlformats.org/drawingml/2006/main" noGrp="1"/>
          </p:cNvSpPr>
          <p:nvPr/>
        </p:nvSpPr>
        <p:spPr>
          <a:xfrm xmlns:a="http://schemas.openxmlformats.org/drawingml/2006/main" flipH="1" flipV="0">
            <a:off x="7112113" y="4300538"/>
            <a:ext cx="266292" cy="259284"/>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7" name="Diagram line">
            <a:extLst xmlns:a="http://schemas.openxmlformats.org/drawingml/2006/main">
              <a:ext uri="{FF2B5EF4-FFF2-40B4-BE49-F238E27FC236}">
                <a16:creationId xmlns:a16="http://schemas.microsoft.com/office/drawing/2014/main" id="{97BCB642-9D41-499E-BD8C-520AE0586938}"/>
              </a:ext>
            </a:extLst>
          </p:cNvPr>
          <p:cNvSpPr>
            <a:spLocks xmlns:a="http://schemas.openxmlformats.org/drawingml/2006/main" noGrp="1"/>
          </p:cNvSpPr>
          <p:nvPr/>
        </p:nvSpPr>
        <p:spPr>
          <a:xfrm xmlns:a="http://schemas.openxmlformats.org/drawingml/2006/main" flipH="1" flipV="1">
            <a:off x="7021014" y="4426676"/>
            <a:ext cx="91100" cy="133146"/>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8" name="Diagram label: Burdock: hooked burr">
            <a:extLst xmlns:a="http://schemas.openxmlformats.org/drawingml/2006/main">
              <a:ext uri="{FF2B5EF4-FFF2-40B4-BE49-F238E27FC236}">
                <a16:creationId xmlns:a16="http://schemas.microsoft.com/office/drawing/2014/main" id="{B32B7B56-EED0-4F56-AC2A-285183E62644}"/>
              </a:ext>
            </a:extLst>
          </p:cNvPr>
          <p:cNvSpPr>
            <a:spLocks xmlns:a="http://schemas.openxmlformats.org/drawingml/2006/main" noGrp="1"/>
          </p:cNvSpPr>
          <p:nvPr/>
        </p:nvSpPr>
        <p:spPr>
          <a:xfrm xmlns:a="http://schemas.openxmlformats.org/drawingml/2006/main">
            <a:off x="6446384" y="2863963"/>
            <a:ext cx="2592841"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Burdock: hooked burr</a:t>
            </a:r>
          </a:p>
        </p:txBody>
      </p:sp>
      <p:sp>
        <p:nvSpPr>
          <p:cNvPr id="29" name="Diagram label: Hooks can attach to fur">
            <a:extLst xmlns:a="http://schemas.openxmlformats.org/drawingml/2006/main">
              <a:ext uri="{FF2B5EF4-FFF2-40B4-BE49-F238E27FC236}">
                <a16:creationId xmlns:a16="http://schemas.microsoft.com/office/drawing/2014/main" id="{3CA65F96-8665-4FE7-8E28-A93524F11CD6}"/>
              </a:ext>
            </a:extLst>
          </p:cNvPr>
          <p:cNvSpPr>
            <a:spLocks xmlns:a="http://schemas.openxmlformats.org/drawingml/2006/main" noGrp="1"/>
          </p:cNvSpPr>
          <p:nvPr/>
        </p:nvSpPr>
        <p:spPr>
          <a:xfrm xmlns:a="http://schemas.openxmlformats.org/drawingml/2006/main">
            <a:off x="6446384" y="4615883"/>
            <a:ext cx="259284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Hooks can attach to fur</a:t>
            </a:r>
          </a:p>
        </p:txBody>
      </p:sp>
      <p:sp>
        <p:nvSpPr>
          <p:cNvPr id="30" name="Diagram label: Dispersal can move the whole fruit containing the seed.">
            <a:extLst xmlns:a="http://schemas.openxmlformats.org/drawingml/2006/main">
              <a:ext uri="{FF2B5EF4-FFF2-40B4-BE49-F238E27FC236}">
                <a16:creationId xmlns:a16="http://schemas.microsoft.com/office/drawing/2014/main" id="{55EE6938-1918-4A9D-B5C3-5055F14DA872}"/>
              </a:ext>
            </a:extLst>
          </p:cNvPr>
          <p:cNvSpPr>
            <a:spLocks xmlns:a="http://schemas.openxmlformats.org/drawingml/2006/main" noGrp="1"/>
          </p:cNvSpPr>
          <p:nvPr/>
        </p:nvSpPr>
        <p:spPr>
          <a:xfrm xmlns:a="http://schemas.openxmlformats.org/drawingml/2006/main">
            <a:off x="3082698" y="5281613"/>
            <a:ext cx="6026604"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Dispersal can move the whole fruit containing the seed.</a:t>
            </a:r>
          </a:p>
        </p:txBody>
      </p:sp>
      <p:sp>
        <p:nvSpPr>
          <p:cNvPr id="31" name="A sycamore wing interacts with air.  A burdock hook can attach t">
            <a:extLst xmlns:a="http://schemas.openxmlformats.org/drawingml/2006/main">
              <a:ext uri="{FF2B5EF4-FFF2-40B4-BE49-F238E27FC236}">
                <a16:creationId xmlns:a16="http://schemas.microsoft.com/office/drawing/2014/main" id="{0ED79707-ED74-4A65-A847-7AE38A7DF940}"/>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sycamore wing interacts with air. A burdock hook can attach to fur. The transported object can include fruit</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around a seed.</a:t>
            </a:r>
          </a:p>
        </p:txBody>
      </p:sp>
    </p:spTree>
    <p:extLst>
      <p:ext uri="{BB962C8B-B14F-4D97-AF65-F5344CB8AC3E}">
        <p14:creationId xmlns:p14="http://schemas.microsoft.com/office/powerpoint/2010/main" val="18651712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urface">
            <a:extLst xmlns:a="http://schemas.openxmlformats.org/drawingml/2006/main">
              <a:ext uri="{FF2B5EF4-FFF2-40B4-BE49-F238E27FC236}">
                <a16:creationId xmlns:a16="http://schemas.microsoft.com/office/drawing/2014/main" id="{9347D66B-3905-450E-8BB4-C67BF5F2ADA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E182E4A-C06A-4B1E-81BE-73C6FF14A22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4B2C2C3-8CE3-4A16-A3CD-C423203DA96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765BFDBF-1768-4B82-A826-FA35C9293BE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9ADA0F5C-B288-4272-B04B-DBD1429DC92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design a fair paper comparison">
            <a:extLst xmlns:a="http://schemas.openxmlformats.org/drawingml/2006/main">
              <a:ext uri="{FF2B5EF4-FFF2-40B4-BE49-F238E27FC236}">
                <a16:creationId xmlns:a16="http://schemas.microsoft.com/office/drawing/2014/main" id="{DE7A45DC-0F5B-4BAC-A417-5AFFDFD9E02C}"/>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design a fair paper comparison</a:t>
            </a:r>
          </a:p>
        </p:txBody>
      </p:sp>
      <p:sp>
        <p:nvSpPr>
          <p:cNvPr id="7" name="surface">
            <a:extLst xmlns:a="http://schemas.openxmlformats.org/drawingml/2006/main">
              <a:ext uri="{FF2B5EF4-FFF2-40B4-BE49-F238E27FC236}">
                <a16:creationId xmlns:a16="http://schemas.microsoft.com/office/drawing/2014/main" id="{6F5D211E-3CDF-4B70-9661-1D210CF0A41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4CAC2172-CA6D-4055-9AC5-3E199934DF8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4 / 15">
            <a:extLst xmlns:a="http://schemas.openxmlformats.org/drawingml/2006/main">
              <a:ext uri="{FF2B5EF4-FFF2-40B4-BE49-F238E27FC236}">
                <a16:creationId xmlns:a16="http://schemas.microsoft.com/office/drawing/2014/main" id="{48107104-A422-4998-8569-9BA4D55E1D4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Change shape; keep the drop conditions">
            <a:extLst xmlns:a="http://schemas.openxmlformats.org/drawingml/2006/main">
              <a:ext uri="{FF2B5EF4-FFF2-40B4-BE49-F238E27FC236}">
                <a16:creationId xmlns:a16="http://schemas.microsoft.com/office/drawing/2014/main" id="{87D7E60A-088D-4B21-B19D-CF1B7BA35A5C}"/>
              </a:ext>
            </a:extLst>
          </p:cNvPr>
          <p:cNvSpPr>
            <a:spLocks xmlns:a="http://schemas.openxmlformats.org/drawingml/2006/main" noGrp="1"/>
          </p:cNvSpPr>
          <p:nvPr/>
        </p:nvSpPr>
        <p:spPr>
          <a:xfrm xmlns:a="http://schemas.openxmlformats.org/drawingml/2006/main">
            <a:off x="2872468" y="1988004"/>
            <a:ext cx="6447064"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Change shape; keep the drop conditions</a:t>
            </a:r>
          </a:p>
        </p:txBody>
      </p:sp>
      <p:sp>
        <p:nvSpPr>
          <p:cNvPr id="11" name="Diagram line">
            <a:extLst xmlns:a="http://schemas.openxmlformats.org/drawingml/2006/main">
              <a:ext uri="{FF2B5EF4-FFF2-40B4-BE49-F238E27FC236}">
                <a16:creationId xmlns:a16="http://schemas.microsoft.com/office/drawing/2014/main" id="{50CF996C-BA6A-40C7-AAF1-5401F2465BDA}"/>
              </a:ext>
            </a:extLst>
          </p:cNvPr>
          <p:cNvSpPr>
            <a:spLocks xmlns:a="http://schemas.openxmlformats.org/drawingml/2006/main" noGrp="1"/>
          </p:cNvSpPr>
          <p:nvPr/>
        </p:nvSpPr>
        <p:spPr>
          <a:xfrm xmlns:a="http://schemas.openxmlformats.org/drawingml/2006/main" flipH="0" flipV="0">
            <a:off x="3152775" y="2793887"/>
            <a:ext cx="5886450" cy="953"/>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2" name="Diagram line">
            <a:extLst xmlns:a="http://schemas.openxmlformats.org/drawingml/2006/main">
              <a:ext uri="{FF2B5EF4-FFF2-40B4-BE49-F238E27FC236}">
                <a16:creationId xmlns:a16="http://schemas.microsoft.com/office/drawing/2014/main" id="{8F72E819-33D7-4F70-8866-B412941A86E3}"/>
              </a:ext>
            </a:extLst>
          </p:cNvPr>
          <p:cNvSpPr>
            <a:spLocks xmlns:a="http://schemas.openxmlformats.org/drawingml/2006/main" noGrp="1"/>
          </p:cNvSpPr>
          <p:nvPr/>
        </p:nvSpPr>
        <p:spPr>
          <a:xfrm xmlns:a="http://schemas.openxmlformats.org/drawingml/2006/main" flipH="0" flipV="0">
            <a:off x="3152775" y="4861152"/>
            <a:ext cx="5886450"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3" name="Editable scientific diagram">
            <a:extLst xmlns:a="http://schemas.openxmlformats.org/drawingml/2006/main">
              <a:ext uri="{FF2B5EF4-FFF2-40B4-BE49-F238E27FC236}">
                <a16:creationId xmlns:a16="http://schemas.microsoft.com/office/drawing/2014/main" id="{A5E033ED-C512-4E20-ADAB-A65A11B65C7A}"/>
              </a:ext>
            </a:extLst>
          </p:cNvPr>
          <p:cNvSpPr>
            <a:spLocks xmlns:a="http://schemas.openxmlformats.org/drawingml/2006/main" noGrp="1"/>
          </p:cNvSpPr>
          <p:nvPr/>
        </p:nvSpPr>
        <p:spPr>
          <a:xfrm xmlns:a="http://schemas.openxmlformats.org/drawingml/2006/main">
            <a:off x="4238965" y="2723810"/>
            <a:ext cx="245269" cy="245269"/>
          </a:xfrm>
          <a:prstGeom xmlns:a="http://schemas.openxmlformats.org/drawingml/2006/main" prst="ellipse">
            <a:avLst/>
          </a:prstGeom>
          <a:solidFill xmlns:a="http://schemas.openxmlformats.org/drawingml/2006/main">
            <a:srgbClr val="DFEACC"/>
          </a:solidFill>
          <a:ln xmlns:a="http://schemas.openxmlformats.org/drawingml/2006/main" w="21023">
            <a:solidFill>
              <a:srgbClr val="3F7D6E"/>
            </a:solidFill>
          </a:ln>
        </p:spPr>
      </p:sp>
      <p:sp>
        <p:nvSpPr>
          <p:cNvPr id="14" name="Editable scientific diagram">
            <a:extLst xmlns:a="http://schemas.openxmlformats.org/drawingml/2006/main">
              <a:ext uri="{FF2B5EF4-FFF2-40B4-BE49-F238E27FC236}">
                <a16:creationId xmlns:a16="http://schemas.microsoft.com/office/drawing/2014/main" id="{0EC9A11D-CE53-4A34-AA5C-CCE64C3E0332}"/>
              </a:ext>
            </a:extLst>
          </p:cNvPr>
          <p:cNvSpPr>
            <a:spLocks xmlns:a="http://schemas.openxmlformats.org/drawingml/2006/main" noGrp="1"/>
          </p:cNvSpPr>
          <p:nvPr/>
        </p:nvSpPr>
        <p:spPr>
          <a:xfrm xmlns:a="http://schemas.openxmlformats.org/drawingml/2006/main">
            <a:off x="7357382" y="2723810"/>
            <a:ext cx="595653" cy="112123"/>
          </a:xfrm>
          <a:prstGeom xmlns:a="http://schemas.openxmlformats.org/drawingml/2006/main" prst="rect">
            <a:avLst/>
          </a:prstGeom>
          <a:solidFill xmlns:a="http://schemas.openxmlformats.org/drawingml/2006/main">
            <a:srgbClr val="DFEACC"/>
          </a:solidFill>
          <a:ln xmlns:a="http://schemas.openxmlformats.org/drawingml/2006/main" w="21023">
            <a:solidFill>
              <a:srgbClr val="3F7D6E"/>
            </a:solidFill>
          </a:ln>
        </p:spPr>
      </p:sp>
      <p:sp>
        <p:nvSpPr>
          <p:cNvPr id="15" name="Editable scientific diagram">
            <a:extLst xmlns:a="http://schemas.openxmlformats.org/drawingml/2006/main">
              <a:ext uri="{FF2B5EF4-FFF2-40B4-BE49-F238E27FC236}">
                <a16:creationId xmlns:a16="http://schemas.microsoft.com/office/drawing/2014/main" id="{8401790C-7149-4419-B58D-F65682D24491}"/>
              </a:ext>
            </a:extLst>
          </p:cNvPr>
          <p:cNvSpPr>
            <a:spLocks xmlns:a="http://schemas.openxmlformats.org/drawingml/2006/main" noGrp="1"/>
          </p:cNvSpPr>
          <p:nvPr/>
        </p:nvSpPr>
        <p:spPr>
          <a:xfrm xmlns:a="http://schemas.openxmlformats.org/drawingml/2006/main">
            <a:off x="7595643" y="2793887"/>
            <a:ext cx="112123" cy="315346"/>
          </a:xfrm>
          <a:prstGeom xmlns:a="http://schemas.openxmlformats.org/drawingml/2006/main" prst="rect">
            <a:avLst/>
          </a:prstGeom>
          <a:solidFill xmlns:a="http://schemas.openxmlformats.org/drawingml/2006/main">
            <a:srgbClr val="DFEACC"/>
          </a:solidFill>
          <a:ln xmlns:a="http://schemas.openxmlformats.org/drawingml/2006/main" w="21023">
            <a:solidFill>
              <a:srgbClr val="3F7D6E"/>
            </a:solidFill>
          </a:ln>
        </p:spPr>
      </p:sp>
      <p:sp>
        <p:nvSpPr>
          <p:cNvPr id="16" name="Diagram line">
            <a:extLst xmlns:a="http://schemas.openxmlformats.org/drawingml/2006/main">
              <a:ext uri="{FF2B5EF4-FFF2-40B4-BE49-F238E27FC236}">
                <a16:creationId xmlns:a16="http://schemas.microsoft.com/office/drawing/2014/main" id="{8CAABBD1-2536-480A-AD35-F04B076255B5}"/>
              </a:ext>
            </a:extLst>
          </p:cNvPr>
          <p:cNvSpPr>
            <a:spLocks xmlns:a="http://schemas.openxmlformats.org/drawingml/2006/main" noGrp="1"/>
          </p:cNvSpPr>
          <p:nvPr/>
        </p:nvSpPr>
        <p:spPr>
          <a:xfrm xmlns:a="http://schemas.openxmlformats.org/drawingml/2006/main" flipH="0" flipV="0">
            <a:off x="4344080" y="3179309"/>
            <a:ext cx="953" cy="1292917"/>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7" name="Diagram arrowhead">
            <a:extLst xmlns:a="http://schemas.openxmlformats.org/drawingml/2006/main">
              <a:ext uri="{FF2B5EF4-FFF2-40B4-BE49-F238E27FC236}">
                <a16:creationId xmlns:a16="http://schemas.microsoft.com/office/drawing/2014/main" id="{3AEE8714-D5F0-48BD-91ED-2412EEF3C3A6}"/>
              </a:ext>
            </a:extLst>
          </p:cNvPr>
          <p:cNvSpPr>
            <a:spLocks xmlns:a="http://schemas.openxmlformats.org/drawingml/2006/main" noGrp="1"/>
          </p:cNvSpPr>
          <p:nvPr/>
        </p:nvSpPr>
        <p:spPr>
          <a:xfrm xmlns:a="http://schemas.openxmlformats.org/drawingml/2006/main" rot="10800000">
            <a:off x="4295027" y="4447699"/>
            <a:ext cx="98108" cy="98108"/>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18" name="Diagram line">
            <a:extLst xmlns:a="http://schemas.openxmlformats.org/drawingml/2006/main">
              <a:ext uri="{FF2B5EF4-FFF2-40B4-BE49-F238E27FC236}">
                <a16:creationId xmlns:a16="http://schemas.microsoft.com/office/drawing/2014/main" id="{71389AA8-AFAC-4903-ABE5-F6EB335FEB1C}"/>
              </a:ext>
            </a:extLst>
          </p:cNvPr>
          <p:cNvSpPr>
            <a:spLocks xmlns:a="http://schemas.openxmlformats.org/drawingml/2006/main" noGrp="1"/>
          </p:cNvSpPr>
          <p:nvPr/>
        </p:nvSpPr>
        <p:spPr>
          <a:xfrm xmlns:a="http://schemas.openxmlformats.org/drawingml/2006/main" flipH="0" flipV="0">
            <a:off x="7637689" y="3214347"/>
            <a:ext cx="953" cy="1257878"/>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9" name="Diagram arrowhead">
            <a:extLst xmlns:a="http://schemas.openxmlformats.org/drawingml/2006/main">
              <a:ext uri="{FF2B5EF4-FFF2-40B4-BE49-F238E27FC236}">
                <a16:creationId xmlns:a16="http://schemas.microsoft.com/office/drawing/2014/main" id="{6C71F4D4-7ABB-4D22-BAD1-2409EE41FEF8}"/>
              </a:ext>
            </a:extLst>
          </p:cNvPr>
          <p:cNvSpPr>
            <a:spLocks xmlns:a="http://schemas.openxmlformats.org/drawingml/2006/main" noGrp="1"/>
          </p:cNvSpPr>
          <p:nvPr/>
        </p:nvSpPr>
        <p:spPr>
          <a:xfrm xmlns:a="http://schemas.openxmlformats.org/drawingml/2006/main" rot="10800000">
            <a:off x="7588636" y="4447699"/>
            <a:ext cx="98108" cy="98108"/>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20" name="Diagram label: Release height: 1.5 m in the constructed test">
            <a:extLst xmlns:a="http://schemas.openxmlformats.org/drawingml/2006/main">
              <a:ext uri="{FF2B5EF4-FFF2-40B4-BE49-F238E27FC236}">
                <a16:creationId xmlns:a16="http://schemas.microsoft.com/office/drawing/2014/main" id="{797234AA-879E-471F-850B-D0AF95D4B166}"/>
              </a:ext>
            </a:extLst>
          </p:cNvPr>
          <p:cNvSpPr>
            <a:spLocks xmlns:a="http://schemas.openxmlformats.org/drawingml/2006/main" noGrp="1"/>
          </p:cNvSpPr>
          <p:nvPr/>
        </p:nvSpPr>
        <p:spPr>
          <a:xfrm xmlns:a="http://schemas.openxmlformats.org/drawingml/2006/main">
            <a:off x="3257890" y="2408464"/>
            <a:ext cx="5676220"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Release height: 1.5 m in the constructed test</a:t>
            </a:r>
          </a:p>
        </p:txBody>
      </p:sp>
      <p:sp>
        <p:nvSpPr>
          <p:cNvPr id="21" name="Diagram label: Compact paper shape&#10;Measure time to floor">
            <a:extLst xmlns:a="http://schemas.openxmlformats.org/drawingml/2006/main">
              <a:ext uri="{FF2B5EF4-FFF2-40B4-BE49-F238E27FC236}">
                <a16:creationId xmlns:a16="http://schemas.microsoft.com/office/drawing/2014/main" id="{027F0F63-057B-41BC-8560-1139E477468C}"/>
              </a:ext>
            </a:extLst>
          </p:cNvPr>
          <p:cNvSpPr>
            <a:spLocks xmlns:a="http://schemas.openxmlformats.org/drawingml/2006/main" noGrp="1"/>
          </p:cNvSpPr>
          <p:nvPr/>
        </p:nvSpPr>
        <p:spPr>
          <a:xfrm xmlns:a="http://schemas.openxmlformats.org/drawingml/2006/main">
            <a:off x="3047660" y="5141459"/>
            <a:ext cx="3013302"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Compact paper shape</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Measure time to floor</a:t>
            </a:r>
          </a:p>
        </p:txBody>
      </p:sp>
      <p:sp>
        <p:nvSpPr>
          <p:cNvPr id="22" name="Diagram label: Rotor paper shape&#10;Measure time to floor">
            <a:extLst xmlns:a="http://schemas.openxmlformats.org/drawingml/2006/main">
              <a:ext uri="{FF2B5EF4-FFF2-40B4-BE49-F238E27FC236}">
                <a16:creationId xmlns:a16="http://schemas.microsoft.com/office/drawing/2014/main" id="{7FB540B6-82FF-449F-B6C5-7509A590D7BA}"/>
              </a:ext>
            </a:extLst>
          </p:cNvPr>
          <p:cNvSpPr>
            <a:spLocks xmlns:a="http://schemas.openxmlformats.org/drawingml/2006/main" noGrp="1"/>
          </p:cNvSpPr>
          <p:nvPr/>
        </p:nvSpPr>
        <p:spPr>
          <a:xfrm xmlns:a="http://schemas.openxmlformats.org/drawingml/2006/main">
            <a:off x="6201115" y="5141459"/>
            <a:ext cx="3013302"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Rotor paper shape</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Measure time to floor</a:t>
            </a:r>
          </a:p>
        </p:txBody>
      </p:sp>
      <p:sp>
        <p:nvSpPr>
          <p:cNvPr id="23" name="Diagram label: Same paper mass&#10;Same release rule&#10;Still indoor air">
            <a:extLst xmlns:a="http://schemas.openxmlformats.org/drawingml/2006/main">
              <a:ext uri="{FF2B5EF4-FFF2-40B4-BE49-F238E27FC236}">
                <a16:creationId xmlns:a16="http://schemas.microsoft.com/office/drawing/2014/main" id="{E6DC697D-770A-401D-96B9-567ADA95BA50}"/>
              </a:ext>
            </a:extLst>
          </p:cNvPr>
          <p:cNvSpPr>
            <a:spLocks xmlns:a="http://schemas.openxmlformats.org/drawingml/2006/main" noGrp="1"/>
          </p:cNvSpPr>
          <p:nvPr/>
        </p:nvSpPr>
        <p:spPr>
          <a:xfrm xmlns:a="http://schemas.openxmlformats.org/drawingml/2006/main">
            <a:off x="5009810" y="3424578"/>
            <a:ext cx="1892073" cy="875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Same paper mass</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Same release rule</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Still indoor air</a:t>
            </a:r>
          </a:p>
        </p:txBody>
      </p:sp>
      <p:sp>
        <p:nvSpPr>
          <p:cNvPr id="24" name="Change the paper shape.  Keep mass, release height and method th">
            <a:extLst xmlns:a="http://schemas.openxmlformats.org/drawingml/2006/main">
              <a:ext uri="{FF2B5EF4-FFF2-40B4-BE49-F238E27FC236}">
                <a16:creationId xmlns:a16="http://schemas.microsoft.com/office/drawing/2014/main" id="{1BD436A4-B4FD-4C66-A841-7CFD3F08A663}"/>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Change the paper shape. Keep mass, release height and method the same. Measure fall time, not imagined</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travel distance.</a:t>
            </a:r>
          </a:p>
        </p:txBody>
      </p:sp>
    </p:spTree>
    <p:extLst>
      <p:ext uri="{BB962C8B-B14F-4D97-AF65-F5344CB8AC3E}">
        <p14:creationId xmlns:p14="http://schemas.microsoft.com/office/powerpoint/2010/main" val="5781811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urface">
            <a:extLst xmlns:a="http://schemas.openxmlformats.org/drawingml/2006/main">
              <a:ext uri="{FF2B5EF4-FFF2-40B4-BE49-F238E27FC236}">
                <a16:creationId xmlns:a16="http://schemas.microsoft.com/office/drawing/2014/main" id="{6746937C-0627-410B-AFF9-6A3E98DBDEC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0370ECF-4E7D-42ED-ACA3-565C1432E2E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446CC0A-DFDF-4D06-846F-7A7F7C33938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221B6A76-9804-4A52-821E-035BA194230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9D911745-0F78-4AE1-ADB6-A0252960BEE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keep the claim within the measurement">
            <a:extLst xmlns:a="http://schemas.openxmlformats.org/drawingml/2006/main">
              <a:ext uri="{FF2B5EF4-FFF2-40B4-BE49-F238E27FC236}">
                <a16:creationId xmlns:a16="http://schemas.microsoft.com/office/drawing/2014/main" id="{AD304820-840B-4D61-932B-54DB8F05A99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keep the claim within the measurement</a:t>
            </a:r>
          </a:p>
        </p:txBody>
      </p:sp>
      <p:sp>
        <p:nvSpPr>
          <p:cNvPr id="7" name="surface">
            <a:extLst xmlns:a="http://schemas.openxmlformats.org/drawingml/2006/main">
              <a:ext uri="{FF2B5EF4-FFF2-40B4-BE49-F238E27FC236}">
                <a16:creationId xmlns:a16="http://schemas.microsoft.com/office/drawing/2014/main" id="{F7D55A4D-2D55-4612-A186-3D94BE05409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C18A209D-1CB6-4F20-B55B-DCB544D5452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5 / 15">
            <a:extLst xmlns:a="http://schemas.openxmlformats.org/drawingml/2006/main">
              <a:ext uri="{FF2B5EF4-FFF2-40B4-BE49-F238E27FC236}">
                <a16:creationId xmlns:a16="http://schemas.microsoft.com/office/drawing/2014/main" id="{8B5D3879-18BE-4D96-AAD4-4227633FB75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What the paper model can tell us">
            <a:extLst xmlns:a="http://schemas.openxmlformats.org/drawingml/2006/main">
              <a:ext uri="{FF2B5EF4-FFF2-40B4-BE49-F238E27FC236}">
                <a16:creationId xmlns:a16="http://schemas.microsoft.com/office/drawing/2014/main" id="{0A1969D0-7718-4597-BC79-3D98C78C49F4}"/>
              </a:ext>
            </a:extLst>
          </p:cNvPr>
          <p:cNvSpPr>
            <a:spLocks xmlns:a="http://schemas.openxmlformats.org/drawingml/2006/main" noGrp="1"/>
          </p:cNvSpPr>
          <p:nvPr/>
        </p:nvSpPr>
        <p:spPr>
          <a:xfrm xmlns:a="http://schemas.openxmlformats.org/drawingml/2006/main">
            <a:off x="2872468" y="2023042"/>
            <a:ext cx="644706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What the paper model can tell us</a:t>
            </a:r>
          </a:p>
        </p:txBody>
      </p:sp>
      <p:sp>
        <p:nvSpPr>
          <p:cNvPr id="11" name="Editable scientific diagram">
            <a:extLst xmlns:a="http://schemas.openxmlformats.org/drawingml/2006/main">
              <a:ext uri="{FF2B5EF4-FFF2-40B4-BE49-F238E27FC236}">
                <a16:creationId xmlns:a16="http://schemas.microsoft.com/office/drawing/2014/main" id="{95DADF25-7F4C-47C8-A88F-6B644EC12426}"/>
              </a:ext>
            </a:extLst>
          </p:cNvPr>
          <p:cNvSpPr>
            <a:spLocks xmlns:a="http://schemas.openxmlformats.org/drawingml/2006/main" noGrp="1"/>
          </p:cNvSpPr>
          <p:nvPr/>
        </p:nvSpPr>
        <p:spPr>
          <a:xfrm xmlns:a="http://schemas.openxmlformats.org/drawingml/2006/main">
            <a:off x="3012621"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2" name="Diagram label: Observed:&#10;longer fall time">
            <a:extLst xmlns:a="http://schemas.openxmlformats.org/drawingml/2006/main">
              <a:ext uri="{FF2B5EF4-FFF2-40B4-BE49-F238E27FC236}">
                <a16:creationId xmlns:a16="http://schemas.microsoft.com/office/drawing/2014/main" id="{7AF33602-2072-4F65-8627-F22BCB2D680B}"/>
              </a:ext>
            </a:extLst>
          </p:cNvPr>
          <p:cNvSpPr>
            <a:spLocks xmlns:a="http://schemas.openxmlformats.org/drawingml/2006/main" noGrp="1"/>
          </p:cNvSpPr>
          <p:nvPr/>
        </p:nvSpPr>
        <p:spPr>
          <a:xfrm xmlns:a="http://schemas.openxmlformats.org/drawingml/2006/main">
            <a:off x="3068683" y="3319463"/>
            <a:ext cx="1803309"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Observed:</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longer fall time</a:t>
            </a:r>
          </a:p>
        </p:txBody>
      </p:sp>
      <p:sp>
        <p:nvSpPr>
          <p:cNvPr id="13" name="Diagram line">
            <a:extLst xmlns:a="http://schemas.openxmlformats.org/drawingml/2006/main">
              <a:ext uri="{FF2B5EF4-FFF2-40B4-BE49-F238E27FC236}">
                <a16:creationId xmlns:a16="http://schemas.microsoft.com/office/drawing/2014/main" id="{64FDD857-C56A-4624-931A-9962A6AB186F}"/>
              </a:ext>
            </a:extLst>
          </p:cNvPr>
          <p:cNvSpPr>
            <a:spLocks xmlns:a="http://schemas.openxmlformats.org/drawingml/2006/main" noGrp="1"/>
          </p:cNvSpPr>
          <p:nvPr/>
        </p:nvSpPr>
        <p:spPr>
          <a:xfrm xmlns:a="http://schemas.openxmlformats.org/drawingml/2006/main" flipH="0" flipV="0">
            <a:off x="4928054" y="3634808"/>
            <a:ext cx="136650"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4" name="Diagram arrowhead">
            <a:extLst xmlns:a="http://schemas.openxmlformats.org/drawingml/2006/main">
              <a:ext uri="{FF2B5EF4-FFF2-40B4-BE49-F238E27FC236}">
                <a16:creationId xmlns:a16="http://schemas.microsoft.com/office/drawing/2014/main" id="{6F015EC2-6B51-4198-AD42-1D64492392F8}"/>
              </a:ext>
            </a:extLst>
          </p:cNvPr>
          <p:cNvSpPr>
            <a:spLocks xmlns:a="http://schemas.openxmlformats.org/drawingml/2006/main" noGrp="1"/>
          </p:cNvSpPr>
          <p:nvPr/>
        </p:nvSpPr>
        <p:spPr>
          <a:xfrm xmlns:a="http://schemas.openxmlformats.org/drawingml/2006/main" rot="5400000">
            <a:off x="5040176" y="3585754"/>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5" name="Editable scientific diagram">
            <a:extLst xmlns:a="http://schemas.openxmlformats.org/drawingml/2006/main">
              <a:ext uri="{FF2B5EF4-FFF2-40B4-BE49-F238E27FC236}">
                <a16:creationId xmlns:a16="http://schemas.microsoft.com/office/drawing/2014/main" id="{3ADBFFB5-8636-49DC-90BF-025A03451848}"/>
              </a:ext>
            </a:extLst>
          </p:cNvPr>
          <p:cNvSpPr>
            <a:spLocks xmlns:a="http://schemas.openxmlformats.org/drawingml/2006/main" noGrp="1"/>
          </p:cNvSpPr>
          <p:nvPr/>
        </p:nvSpPr>
        <p:spPr>
          <a:xfrm xmlns:a="http://schemas.openxmlformats.org/drawingml/2006/main">
            <a:off x="5138284"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6" name="Diagram label: Possible effect:&#10;more time in air">
            <a:extLst xmlns:a="http://schemas.openxmlformats.org/drawingml/2006/main">
              <a:ext uri="{FF2B5EF4-FFF2-40B4-BE49-F238E27FC236}">
                <a16:creationId xmlns:a16="http://schemas.microsoft.com/office/drawing/2014/main" id="{7DD06F78-8B74-4982-B15B-C0240875CC97}"/>
              </a:ext>
            </a:extLst>
          </p:cNvPr>
          <p:cNvSpPr>
            <a:spLocks xmlns:a="http://schemas.openxmlformats.org/drawingml/2006/main" noGrp="1"/>
          </p:cNvSpPr>
          <p:nvPr/>
        </p:nvSpPr>
        <p:spPr>
          <a:xfrm xmlns:a="http://schemas.openxmlformats.org/drawingml/2006/main">
            <a:off x="5194345" y="3319463"/>
            <a:ext cx="1803309"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Possible effect:</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more time in air</a:t>
            </a:r>
          </a:p>
        </p:txBody>
      </p:sp>
      <p:sp>
        <p:nvSpPr>
          <p:cNvPr id="17" name="Diagram line">
            <a:extLst xmlns:a="http://schemas.openxmlformats.org/drawingml/2006/main">
              <a:ext uri="{FF2B5EF4-FFF2-40B4-BE49-F238E27FC236}">
                <a16:creationId xmlns:a16="http://schemas.microsoft.com/office/drawing/2014/main" id="{27DF15FA-2253-49B6-B9B3-72D1DB7BCE25}"/>
              </a:ext>
            </a:extLst>
          </p:cNvPr>
          <p:cNvSpPr>
            <a:spLocks xmlns:a="http://schemas.openxmlformats.org/drawingml/2006/main" noGrp="1"/>
          </p:cNvSpPr>
          <p:nvPr/>
        </p:nvSpPr>
        <p:spPr>
          <a:xfrm xmlns:a="http://schemas.openxmlformats.org/drawingml/2006/main" flipH="0" flipV="0">
            <a:off x="7053716" y="3634808"/>
            <a:ext cx="136650"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8" name="Diagram arrowhead">
            <a:extLst xmlns:a="http://schemas.openxmlformats.org/drawingml/2006/main">
              <a:ext uri="{FF2B5EF4-FFF2-40B4-BE49-F238E27FC236}">
                <a16:creationId xmlns:a16="http://schemas.microsoft.com/office/drawing/2014/main" id="{09B1A4E2-51D8-4C70-9713-6F43D2210F26}"/>
              </a:ext>
            </a:extLst>
          </p:cNvPr>
          <p:cNvSpPr>
            <a:spLocks xmlns:a="http://schemas.openxmlformats.org/drawingml/2006/main" noGrp="1"/>
          </p:cNvSpPr>
          <p:nvPr/>
        </p:nvSpPr>
        <p:spPr>
          <a:xfrm xmlns:a="http://schemas.openxmlformats.org/drawingml/2006/main" rot="5400000">
            <a:off x="7165839" y="3585754"/>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9" name="Editable scientific diagram">
            <a:extLst xmlns:a="http://schemas.openxmlformats.org/drawingml/2006/main">
              <a:ext uri="{FF2B5EF4-FFF2-40B4-BE49-F238E27FC236}">
                <a16:creationId xmlns:a16="http://schemas.microsoft.com/office/drawing/2014/main" id="{BEEE31B4-A3F1-42F7-A229-0AB1BFEC70BE}"/>
              </a:ext>
            </a:extLst>
          </p:cNvPr>
          <p:cNvSpPr>
            <a:spLocks xmlns:a="http://schemas.openxmlformats.org/drawingml/2006/main" noGrp="1"/>
          </p:cNvSpPr>
          <p:nvPr/>
        </p:nvSpPr>
        <p:spPr>
          <a:xfrm xmlns:a="http://schemas.openxmlformats.org/drawingml/2006/main">
            <a:off x="7263946"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20" name="Diagram label: Not measured:&#10;outdoor distance">
            <a:extLst xmlns:a="http://schemas.openxmlformats.org/drawingml/2006/main">
              <a:ext uri="{FF2B5EF4-FFF2-40B4-BE49-F238E27FC236}">
                <a16:creationId xmlns:a16="http://schemas.microsoft.com/office/drawing/2014/main" id="{A62F242B-49E2-422F-ADF0-999459898EC4}"/>
              </a:ext>
            </a:extLst>
          </p:cNvPr>
          <p:cNvSpPr>
            <a:spLocks xmlns:a="http://schemas.openxmlformats.org/drawingml/2006/main" noGrp="1"/>
          </p:cNvSpPr>
          <p:nvPr/>
        </p:nvSpPr>
        <p:spPr>
          <a:xfrm xmlns:a="http://schemas.openxmlformats.org/drawingml/2006/main">
            <a:off x="7320008" y="3319463"/>
            <a:ext cx="1803309"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Not measured:</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outdoor distance</a:t>
            </a:r>
          </a:p>
        </p:txBody>
      </p:sp>
      <p:sp>
        <p:nvSpPr>
          <p:cNvPr id="21" name="Diagram label: Paper models test one feature. Real seed journeys&#10;also depend on wind, release height and surroundings.">
            <a:extLst xmlns:a="http://schemas.openxmlformats.org/drawingml/2006/main">
              <a:ext uri="{FF2B5EF4-FFF2-40B4-BE49-F238E27FC236}">
                <a16:creationId xmlns:a16="http://schemas.microsoft.com/office/drawing/2014/main" id="{75CD9B7D-71D4-4654-BAB5-D90D3F438729}"/>
              </a:ext>
            </a:extLst>
          </p:cNvPr>
          <p:cNvSpPr>
            <a:spLocks xmlns:a="http://schemas.openxmlformats.org/drawingml/2006/main" noGrp="1"/>
          </p:cNvSpPr>
          <p:nvPr/>
        </p:nvSpPr>
        <p:spPr>
          <a:xfrm xmlns:a="http://schemas.openxmlformats.org/drawingml/2006/main">
            <a:off x="2942545" y="4475729"/>
            <a:ext cx="6306911" cy="910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Paper models test one feature. Real seed journeys</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also depend on wind, release height and surroundings.</a:t>
            </a:r>
          </a:p>
        </p:txBody>
      </p:sp>
      <p:sp>
        <p:nvSpPr>
          <p:cNvPr id="22" name="A longer descent gives air more time to act.  We measured second">
            <a:extLst xmlns:a="http://schemas.openxmlformats.org/drawingml/2006/main">
              <a:ext uri="{FF2B5EF4-FFF2-40B4-BE49-F238E27FC236}">
                <a16:creationId xmlns:a16="http://schemas.microsoft.com/office/drawing/2014/main" id="{71160637-31B6-4621-9C39-F470BE685CDA}"/>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longer descent gives air more time to act. We measured seconds to the floor. We did not measure real</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seeds outdoors.</a:t>
            </a:r>
          </a:p>
        </p:txBody>
      </p:sp>
    </p:spTree>
    <p:extLst>
      <p:ext uri="{BB962C8B-B14F-4D97-AF65-F5344CB8AC3E}">
        <p14:creationId xmlns:p14="http://schemas.microsoft.com/office/powerpoint/2010/main" val="14077402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DFB7037C-15CF-4436-86D1-CE532CE1030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9F117BB-39EB-4122-B111-FAAE7C0BBA4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40EF526-3F47-44D9-8C43-2D004138F6C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C4483C10-97CF-4942-8135-625E1ED00BE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1985225B-50CA-4CF9-853D-4038D2EF3A2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B199D1CC-A870-4E01-8D7B-AB98F893015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Model design jury">
            <a:extLst xmlns:a="http://schemas.openxmlformats.org/drawingml/2006/main">
              <a:ext uri="{FF2B5EF4-FFF2-40B4-BE49-F238E27FC236}">
                <a16:creationId xmlns:a16="http://schemas.microsoft.com/office/drawing/2014/main" id="{F10F05DB-AD97-4C11-9F47-DB608B31BE3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Model design jury</a:t>
            </a:r>
          </a:p>
        </p:txBody>
      </p:sp>
      <p:sp>
        <p:nvSpPr>
          <p:cNvPr id="8" name="surface">
            <a:extLst xmlns:a="http://schemas.openxmlformats.org/drawingml/2006/main">
              <a:ext uri="{FF2B5EF4-FFF2-40B4-BE49-F238E27FC236}">
                <a16:creationId xmlns:a16="http://schemas.microsoft.com/office/drawing/2014/main" id="{48839006-7770-42AA-B5D7-283589E7A35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CE085D48-FEE1-44A1-AE71-C50BE07EC9F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6 / 15">
            <a:extLst xmlns:a="http://schemas.openxmlformats.org/drawingml/2006/main">
              <a:ext uri="{FF2B5EF4-FFF2-40B4-BE49-F238E27FC236}">
                <a16:creationId xmlns:a16="http://schemas.microsoft.com/office/drawing/2014/main" id="{6C9A53FF-F86C-40FA-ABCF-9C45DC1E71E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W1. Match A–C to wind or animal dispersal. W2. Compare the repea">
            <a:extLst xmlns:a="http://schemas.openxmlformats.org/drawingml/2006/main">
              <a:ext uri="{FF2B5EF4-FFF2-40B4-BE49-F238E27FC236}">
                <a16:creationId xmlns:a16="http://schemas.microsoft.com/office/drawing/2014/main" id="{27C1A06A-C027-4133-83CB-71A8E731CAD6}"/>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Match A–C to wind or animal dispersal. W2. Compare the repeated fall times. Which shape</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stayed in the air longer here?</a:t>
            </a:r>
          </a:p>
        </p:txBody>
      </p:sp>
      <p:graphicFrame>
        <p:nvGraphicFramePr>
          <p:cNvPr id="25" name=""/>
          <p:cNvGraphicFramePr/>
          <p:nvPr/>
        </p:nvGraphicFramePr>
        <p:xfrm>
          <a:off xmlns:a="http://schemas.openxmlformats.org/drawingml/2006/main" x="533400" y="2581275"/>
          <a:ext xmlns:a="http://schemas.openxmlformats.org/drawingml/2006/main" cx="11125200" cy="1515904"/>
        </p:xfrm>
        <a:graphic xmlns:a="http://schemas.openxmlformats.org/drawingml/2006/main">
          <a:graphicData uri="http://schemas.openxmlformats.org/drawingml/2006/table">
            <a:tbl>
              <a:tblPr firstRow="1" bandRow="0"/>
              <a:tblGrid>
                <a:gridCol w="3259464"/>
                <a:gridCol w="2621912"/>
                <a:gridCol w="2621912"/>
                <a:gridCol w="2621912"/>
              </a:tblGrid>
              <a:tr h="505301">
                <a:tc>
                  <a:txBody>
                    <a:bodyPr lIns="95250" tIns="95250" rIns="95250" bIns="95250"/>
                    <a:lstStyle/>
                    <a:p>
                      <a:pPr algn="l"/>
                      <a:r>
                        <a:rPr sz="2025" b="1">
                          <a:solidFill>
                            <a:srgbClr val="FFFFFF"/>
                          </a:solidFill>
                          <a:latin typeface="Nimbus Sans"/>
                          <a:ea typeface="Nimbus Sans"/>
                          <a:cs typeface="Nimbus Sans"/>
                        </a:rPr>
                        <a:t>Constructed model</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1 / s</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2 / s</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3 / s</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Compact paper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0.8</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0.9</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0.7</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Rotor paper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1.4</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1.5</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1.3</a:t>
                      </a:r>
                    </a:p>
                  </a:txBody>
                  <a:tcPr marL="95250" marR="95250" marT="95250" marB="95250" anchor="ctr">
                    <a:solidFill>
                      <a:srgbClr val="FFFFFF"/>
                    </a:solidFill>
                  </a:tcPr>
                </a:tc>
              </a:tr>
            </a:tbl>
          </a:graphicData>
        </a:graphic>
      </p:graphicFrame>
      <p:sp>
        <p:nvSpPr>
          <p:cNvPr id="13" name="Constructed sample data only; no outdoor distance was measured.">
            <a:extLst xmlns:a="http://schemas.openxmlformats.org/drawingml/2006/main">
              <a:ext uri="{FF2B5EF4-FFF2-40B4-BE49-F238E27FC236}">
                <a16:creationId xmlns:a16="http://schemas.microsoft.com/office/drawing/2014/main" id="{67D4445F-BE84-4A78-82D3-EC97E0EC8333}"/>
              </a:ext>
            </a:extLst>
          </p:cNvPr>
          <p:cNvSpPr>
            <a:spLocks xmlns:a="http://schemas.openxmlformats.org/drawingml/2006/main" noGrp="1"/>
          </p:cNvSpPr>
          <p:nvPr/>
        </p:nvSpPr>
        <p:spPr>
          <a:xfrm xmlns:a="http://schemas.openxmlformats.org/drawingml/2006/main">
            <a:off x="533400" y="4211479"/>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only; no outdoor distance was measured.</a:t>
            </a:r>
          </a:p>
        </p:txBody>
      </p:sp>
    </p:spTree>
    <p:extLst>
      <p:ext uri="{BB962C8B-B14F-4D97-AF65-F5344CB8AC3E}">
        <p14:creationId xmlns:p14="http://schemas.microsoft.com/office/powerpoint/2010/main" val="1115571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EE89D293-496F-40E2-A79F-1705346343F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237A2B1-B218-46E7-9138-29A497C5B2F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475996D-5F45-41C4-9A13-817410A6921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3965777-0D9C-4F81-975B-C9D556A7A4B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5FE062E2-3FA3-4E73-9D14-ECA47630EC1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Detect a broken comparison">
            <a:extLst xmlns:a="http://schemas.openxmlformats.org/drawingml/2006/main">
              <a:ext uri="{FF2B5EF4-FFF2-40B4-BE49-F238E27FC236}">
                <a16:creationId xmlns:a16="http://schemas.microsoft.com/office/drawing/2014/main" id="{77E39E10-072B-40F0-BD18-1D3D8C4FE37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Detect a broken comparison</a:t>
            </a:r>
          </a:p>
        </p:txBody>
      </p:sp>
      <p:sp>
        <p:nvSpPr>
          <p:cNvPr id="7" name="surface">
            <a:extLst xmlns:a="http://schemas.openxmlformats.org/drawingml/2006/main">
              <a:ext uri="{FF2B5EF4-FFF2-40B4-BE49-F238E27FC236}">
                <a16:creationId xmlns:a16="http://schemas.microsoft.com/office/drawing/2014/main" id="{6F158CC3-7262-4BAA-B8DF-6F444A18CC7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76B794DD-9D6F-4109-8A36-ADDE8CEEF15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7 / 15">
            <a:extLst xmlns:a="http://schemas.openxmlformats.org/drawingml/2006/main">
              <a:ext uri="{FF2B5EF4-FFF2-40B4-BE49-F238E27FC236}">
                <a16:creationId xmlns:a16="http://schemas.microsoft.com/office/drawing/2014/main" id="{1EDA5648-4DE1-47FD-AF5A-E9E3409E28B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A team changes shape and adds a heavy clip.">
            <a:extLst xmlns:a="http://schemas.openxmlformats.org/drawingml/2006/main">
              <a:ext uri="{FF2B5EF4-FFF2-40B4-BE49-F238E27FC236}">
                <a16:creationId xmlns:a16="http://schemas.microsoft.com/office/drawing/2014/main" id="{285B4F2A-AEC2-44E5-A04D-98EF6257667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team changes shape and adds a heavy clip.</a:t>
            </a:r>
          </a:p>
        </p:txBody>
      </p:sp>
      <p:sp>
        <p:nvSpPr>
          <p:cNvPr id="11" name="Can it attribute the difference only to shape?">
            <a:extLst xmlns:a="http://schemas.openxmlformats.org/drawingml/2006/main">
              <a:ext uri="{FF2B5EF4-FFF2-40B4-BE49-F238E27FC236}">
                <a16:creationId xmlns:a16="http://schemas.microsoft.com/office/drawing/2014/main" id="{D8491939-A01B-4CB3-822F-026A73959C0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Can it attribute the difference only to shape?</a:t>
            </a:r>
          </a:p>
        </p:txBody>
      </p:sp>
      <p:sp>
        <p:nvSpPr>
          <p:cNvPr id="12" name="Name the repair.">
            <a:extLst xmlns:a="http://schemas.openxmlformats.org/drawingml/2006/main">
              <a:ext uri="{FF2B5EF4-FFF2-40B4-BE49-F238E27FC236}">
                <a16:creationId xmlns:a16="http://schemas.microsoft.com/office/drawing/2014/main" id="{EB93D7CF-1576-401C-A871-3B5B83FB11A3}"/>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the repair.</a:t>
            </a:r>
          </a:p>
        </p:txBody>
      </p:sp>
    </p:spTree>
    <p:extLst>
      <p:ext uri="{BB962C8B-B14F-4D97-AF65-F5344CB8AC3E}">
        <p14:creationId xmlns:p14="http://schemas.microsoft.com/office/powerpoint/2010/main" val="7132422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1EDD4D2F-39E7-49BA-A7A7-75C1383FB62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C5D46BE-4843-44F9-A649-BF6F1B50AB5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51DECBB-AE97-4959-BAEF-E25DFF194FF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7DDC9D1F-9143-4F19-BFC5-DBC71F381FC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15B96219-23BD-4154-9E23-D32A1E460A3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Choose the honest caption">
            <a:extLst xmlns:a="http://schemas.openxmlformats.org/drawingml/2006/main">
              <a:ext uri="{FF2B5EF4-FFF2-40B4-BE49-F238E27FC236}">
                <a16:creationId xmlns:a16="http://schemas.microsoft.com/office/drawing/2014/main" id="{2E88B7A9-FA37-4AA0-8649-E068D153D3B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the honest caption</a:t>
            </a:r>
          </a:p>
        </p:txBody>
      </p:sp>
      <p:sp>
        <p:nvSpPr>
          <p:cNvPr id="7" name="surface">
            <a:extLst xmlns:a="http://schemas.openxmlformats.org/drawingml/2006/main">
              <a:ext uri="{FF2B5EF4-FFF2-40B4-BE49-F238E27FC236}">
                <a16:creationId xmlns:a16="http://schemas.microsoft.com/office/drawing/2014/main" id="{BD89B6DE-8DFD-4411-A9C9-8589FD2E617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5FBF7AC8-79CE-45D7-BBD6-49744A6C038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8 / 15">
            <a:extLst xmlns:a="http://schemas.openxmlformats.org/drawingml/2006/main">
              <a:ext uri="{FF2B5EF4-FFF2-40B4-BE49-F238E27FC236}">
                <a16:creationId xmlns:a16="http://schemas.microsoft.com/office/drawing/2014/main" id="{9BC2C5AD-F09F-43C5-AB79-AC376E8750B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3. Repair “The rotor proves sycamore seeds always travel farthe">
            <a:extLst xmlns:a="http://schemas.openxmlformats.org/drawingml/2006/main">
              <a:ext uri="{FF2B5EF4-FFF2-40B4-BE49-F238E27FC236}">
                <a16:creationId xmlns:a16="http://schemas.microsoft.com/office/drawing/2014/main" id="{D9382B9D-49D3-4EBB-B905-67DE13582E7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W3. Repair “The rotor proves sycamore seeds always travel farther”.</a:t>
            </a:r>
          </a:p>
        </p:txBody>
      </p:sp>
      <p:sp>
        <p:nvSpPr>
          <p:cNvPr id="11" name="State the measured result and one limit.">
            <a:extLst xmlns:a="http://schemas.openxmlformats.org/drawingml/2006/main">
              <a:ext uri="{FF2B5EF4-FFF2-40B4-BE49-F238E27FC236}">
                <a16:creationId xmlns:a16="http://schemas.microsoft.com/office/drawing/2014/main" id="{3D0871D4-1285-4D4E-AF96-FA9012A9EE3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State the measured result and one limit.</a:t>
            </a:r>
          </a:p>
        </p:txBody>
      </p:sp>
    </p:spTree>
    <p:extLst>
      <p:ext uri="{BB962C8B-B14F-4D97-AF65-F5344CB8AC3E}">
        <p14:creationId xmlns:p14="http://schemas.microsoft.com/office/powerpoint/2010/main" val="11433434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CFDB0BCE-5540-4E6B-A2B4-9264EC2CA68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274CCBE-9170-4275-8BC2-BAF9DCDF618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94D8F8C-8943-40DB-B344-0A08801B3B4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0358374-CF0F-4EA8-BC47-344A36C1D97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Hinge">
            <a:extLst xmlns:a="http://schemas.openxmlformats.org/drawingml/2006/main">
              <a:ext uri="{FF2B5EF4-FFF2-40B4-BE49-F238E27FC236}">
                <a16:creationId xmlns:a16="http://schemas.microsoft.com/office/drawing/2014/main" id="{FF494C05-0C35-430C-A1D3-78E4CD04CF1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A8A68928-F3EF-4F42-AE4B-631EF6D51F5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quantity was measured?">
            <a:extLst xmlns:a="http://schemas.openxmlformats.org/drawingml/2006/main">
              <a:ext uri="{FF2B5EF4-FFF2-40B4-BE49-F238E27FC236}">
                <a16:creationId xmlns:a16="http://schemas.microsoft.com/office/drawing/2014/main" id="{031E407C-0EBD-4D96-A527-8CCCD6B85D1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quantity was measured?</a:t>
            </a:r>
          </a:p>
        </p:txBody>
      </p:sp>
      <p:sp>
        <p:nvSpPr>
          <p:cNvPr id="8" name="surface">
            <a:extLst xmlns:a="http://schemas.openxmlformats.org/drawingml/2006/main">
              <a:ext uri="{FF2B5EF4-FFF2-40B4-BE49-F238E27FC236}">
                <a16:creationId xmlns:a16="http://schemas.microsoft.com/office/drawing/2014/main" id="{5BF66583-5CDD-412C-9F0A-487A7857246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BAB69607-277B-4F54-921A-7F4202030E8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9 / 15">
            <a:extLst xmlns:a="http://schemas.openxmlformats.org/drawingml/2006/main">
              <a:ext uri="{FF2B5EF4-FFF2-40B4-BE49-F238E27FC236}">
                <a16:creationId xmlns:a16="http://schemas.microsoft.com/office/drawing/2014/main" id="{D1A96B28-825D-4347-B5DF-D9F32D32953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Choose the conclusion that fits the test.">
            <a:extLst xmlns:a="http://schemas.openxmlformats.org/drawingml/2006/main">
              <a:ext uri="{FF2B5EF4-FFF2-40B4-BE49-F238E27FC236}">
                <a16:creationId xmlns:a16="http://schemas.microsoft.com/office/drawing/2014/main" id="{AC4B4724-A827-4086-8338-D90D4AACB26E}"/>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the conclusion that fits the test.</a:t>
            </a:r>
          </a:p>
        </p:txBody>
      </p:sp>
      <p:sp>
        <p:nvSpPr>
          <p:cNvPr id="12" name="surface">
            <a:extLst xmlns:a="http://schemas.openxmlformats.org/drawingml/2006/main">
              <a:ext uri="{FF2B5EF4-FFF2-40B4-BE49-F238E27FC236}">
                <a16:creationId xmlns:a16="http://schemas.microsoft.com/office/drawing/2014/main" id="{99164634-0E38-463F-A1ED-39A52DECF59C}"/>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A0D7A7F6-0B2D-476B-83A0-CEA2CA2129C1}"/>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94C10E6E-31B3-4EDF-9492-384C68E44B4E}"/>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The time each paper model took to reach the floor.">
            <a:extLst xmlns:a="http://schemas.openxmlformats.org/drawingml/2006/main">
              <a:ext uri="{FF2B5EF4-FFF2-40B4-BE49-F238E27FC236}">
                <a16:creationId xmlns:a16="http://schemas.microsoft.com/office/drawing/2014/main" id="{90142535-1802-45B1-840D-F6832056F235}"/>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time each paper model took to reach the floor.</a:t>
            </a:r>
          </a:p>
        </p:txBody>
      </p:sp>
      <p:sp>
        <p:nvSpPr>
          <p:cNvPr id="16" name="surface">
            <a:extLst xmlns:a="http://schemas.openxmlformats.org/drawingml/2006/main">
              <a:ext uri="{FF2B5EF4-FFF2-40B4-BE49-F238E27FC236}">
                <a16:creationId xmlns:a16="http://schemas.microsoft.com/office/drawing/2014/main" id="{A0E8FC4B-24B3-439A-BEF3-BAC97B0B9A90}"/>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F8E865FC-7670-45BE-8817-5660AF62A013}"/>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B5D80D50-5156-45C9-8B88-73FA1245C489}"/>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How far every real seed travels outside.">
            <a:extLst xmlns:a="http://schemas.openxmlformats.org/drawingml/2006/main">
              <a:ext uri="{FF2B5EF4-FFF2-40B4-BE49-F238E27FC236}">
                <a16:creationId xmlns:a16="http://schemas.microsoft.com/office/drawing/2014/main" id="{CEBE8CBC-93D3-45C6-850E-599AEB7454B1}"/>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How far every real seed travels outside.</a:t>
            </a:r>
          </a:p>
        </p:txBody>
      </p:sp>
      <p:sp>
        <p:nvSpPr>
          <p:cNvPr id="20" name="surface">
            <a:extLst xmlns:a="http://schemas.openxmlformats.org/drawingml/2006/main">
              <a:ext uri="{FF2B5EF4-FFF2-40B4-BE49-F238E27FC236}">
                <a16:creationId xmlns:a16="http://schemas.microsoft.com/office/drawing/2014/main" id="{E7091FC9-63DA-4EEB-9C73-7C26B4C7E8E8}"/>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F7B859B9-A712-42B7-B3BB-5D058BB06B93}"/>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4E35E851-6AE3-4D7E-83BE-5FCF4B49AB6C}"/>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How much the seeds wanted to move.">
            <a:extLst xmlns:a="http://schemas.openxmlformats.org/drawingml/2006/main">
              <a:ext uri="{FF2B5EF4-FFF2-40B4-BE49-F238E27FC236}">
                <a16:creationId xmlns:a16="http://schemas.microsoft.com/office/drawing/2014/main" id="{D4F98ECA-CE92-42F8-83F2-DE2F108A0611}"/>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How much the seeds wanted to move.</a:t>
            </a:r>
          </a:p>
        </p:txBody>
      </p:sp>
    </p:spTree>
    <p:extLst>
      <p:ext uri="{BB962C8B-B14F-4D97-AF65-F5344CB8AC3E}">
        <p14:creationId xmlns:p14="http://schemas.microsoft.com/office/powerpoint/2010/main" val="7167709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F48D1E6-8F2F-4AC2-A4FD-A6D97C82911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961653A-DA58-4A39-842A-7C74F611A5B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DB93102-AC1A-4FDC-A51A-16E68F7CEAA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7F8AF30-A723-425D-9A72-785AF236273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074357B4-843D-4153-B3FE-EA6EDB48E88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E745C514-08EE-4B4D-A755-1A42C60ECCD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Your independent investigation">
            <a:extLst xmlns:a="http://schemas.openxmlformats.org/drawingml/2006/main">
              <a:ext uri="{FF2B5EF4-FFF2-40B4-BE49-F238E27FC236}">
                <a16:creationId xmlns:a16="http://schemas.microsoft.com/office/drawing/2014/main" id="{94443299-07C9-4571-A748-9A9E922EE08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Your independent investigation</a:t>
            </a:r>
          </a:p>
        </p:txBody>
      </p:sp>
      <p:sp>
        <p:nvSpPr>
          <p:cNvPr id="8" name="surface">
            <a:extLst xmlns:a="http://schemas.openxmlformats.org/drawingml/2006/main">
              <a:ext uri="{FF2B5EF4-FFF2-40B4-BE49-F238E27FC236}">
                <a16:creationId xmlns:a16="http://schemas.microsoft.com/office/drawing/2014/main" id="{DEE2E8C4-DE6E-42F6-83E7-FCC473534F0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EC193DB3-95B6-480F-B8BA-3687B5FC555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10 / 15">
            <a:extLst xmlns:a="http://schemas.openxmlformats.org/drawingml/2006/main">
              <a:ext uri="{FF2B5EF4-FFF2-40B4-BE49-F238E27FC236}">
                <a16:creationId xmlns:a16="http://schemas.microsoft.com/office/drawing/2014/main" id="{D9310C10-8B30-4F06-A3A6-9198AA8A9E2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esponse route.">
            <a:extLst xmlns:a="http://schemas.openxmlformats.org/drawingml/2006/main">
              <a:ext uri="{FF2B5EF4-FFF2-40B4-BE49-F238E27FC236}">
                <a16:creationId xmlns:a16="http://schemas.microsoft.com/office/drawing/2014/main" id="{68919698-5B63-443A-B51C-CEB661FEC01C}"/>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response route.</a:t>
            </a:r>
          </a:p>
        </p:txBody>
      </p:sp>
      <p:sp>
        <p:nvSpPr>
          <p:cNvPr id="12" name="Explain a structure and evaluate the model evidence.">
            <a:extLst xmlns:a="http://schemas.openxmlformats.org/drawingml/2006/main">
              <a:ext uri="{FF2B5EF4-FFF2-40B4-BE49-F238E27FC236}">
                <a16:creationId xmlns:a16="http://schemas.microsoft.com/office/drawing/2014/main" id="{5FA3DCE0-F7E4-47D2-9384-4EC78464EEDE}"/>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a structure and evaluate the model evidence.</a:t>
            </a:r>
          </a:p>
        </p:txBody>
      </p:sp>
      <p:sp>
        <p:nvSpPr>
          <p:cNvPr id="13" name="Use numerical values and a clear limitation.">
            <a:extLst xmlns:a="http://schemas.openxmlformats.org/drawingml/2006/main">
              <a:ext uri="{FF2B5EF4-FFF2-40B4-BE49-F238E27FC236}">
                <a16:creationId xmlns:a16="http://schemas.microsoft.com/office/drawing/2014/main" id="{67837A2D-8139-4DB9-89C6-9D6034FA82AD}"/>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numerical values and a clear limitation.</a:t>
            </a:r>
          </a:p>
        </p:txBody>
      </p:sp>
    </p:spTree>
    <p:extLst>
      <p:ext uri="{BB962C8B-B14F-4D97-AF65-F5344CB8AC3E}">
        <p14:creationId xmlns:p14="http://schemas.microsoft.com/office/powerpoint/2010/main" val="9296191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18CBADA4-13CE-4599-8506-FD7A61A00AF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A1D6332-D4EE-4BAD-8BE1-9CE25C10C9D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2E941E0-9A66-46A5-8F4A-3B0510D4FF4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E7223386-BEB9-42A4-8D01-0CB34F4EEF5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A2CB4676-ED49-4A87-979D-CA9DD6E8228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Use the evidence">
            <a:extLst xmlns:a="http://schemas.openxmlformats.org/drawingml/2006/main">
              <a:ext uri="{FF2B5EF4-FFF2-40B4-BE49-F238E27FC236}">
                <a16:creationId xmlns:a16="http://schemas.microsoft.com/office/drawing/2014/main" id="{3261A298-30AB-474D-90F2-BD8263ADC93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evidence</a:t>
            </a:r>
          </a:p>
        </p:txBody>
      </p:sp>
      <p:sp>
        <p:nvSpPr>
          <p:cNvPr id="7" name="surface">
            <a:extLst xmlns:a="http://schemas.openxmlformats.org/drawingml/2006/main">
              <a:ext uri="{FF2B5EF4-FFF2-40B4-BE49-F238E27FC236}">
                <a16:creationId xmlns:a16="http://schemas.microsoft.com/office/drawing/2014/main" id="{F73855BF-7928-40B9-9347-C41533D740E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316C07EB-4529-4418-AFE9-1DE3881DE11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11 / 15">
            <a:extLst xmlns:a="http://schemas.openxmlformats.org/drawingml/2006/main">
              <a:ext uri="{FF2B5EF4-FFF2-40B4-BE49-F238E27FC236}">
                <a16:creationId xmlns:a16="http://schemas.microsoft.com/office/drawing/2014/main" id="{C1B49C7D-1152-48D7-8009-3F0B284FF24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Name what changed and what stayed the same.">
            <a:extLst xmlns:a="http://schemas.openxmlformats.org/drawingml/2006/main">
              <a:ext uri="{FF2B5EF4-FFF2-40B4-BE49-F238E27FC236}">
                <a16:creationId xmlns:a16="http://schemas.microsoft.com/office/drawing/2014/main" id="{614FDB5E-39B1-48CC-BDCE-0E18586FC0A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what changed and what stayed the same.</a:t>
            </a:r>
          </a:p>
        </p:txBody>
      </p:sp>
      <p:sp>
        <p:nvSpPr>
          <p:cNvPr id="11" name="Keep seconds attached to fall-time values.">
            <a:extLst xmlns:a="http://schemas.openxmlformats.org/drawingml/2006/main">
              <a:ext uri="{FF2B5EF4-FFF2-40B4-BE49-F238E27FC236}">
                <a16:creationId xmlns:a16="http://schemas.microsoft.com/office/drawing/2014/main" id="{E3EECC9A-3ADD-4809-BD73-BC6A6EB32DFE}"/>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Keep seconds attached to fall-time values.</a:t>
            </a:r>
          </a:p>
        </p:txBody>
      </p:sp>
      <p:sp>
        <p:nvSpPr>
          <p:cNvPr id="12" name="Do not claim a measured distance.">
            <a:extLst xmlns:a="http://schemas.openxmlformats.org/drawingml/2006/main">
              <a:ext uri="{FF2B5EF4-FFF2-40B4-BE49-F238E27FC236}">
                <a16:creationId xmlns:a16="http://schemas.microsoft.com/office/drawing/2014/main" id="{7CF66714-AD5A-4A8C-A661-6F8A441A48FC}"/>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 not claim a measured distance.</a:t>
            </a:r>
          </a:p>
        </p:txBody>
      </p:sp>
    </p:spTree>
    <p:extLst>
      <p:ext uri="{BB962C8B-B14F-4D97-AF65-F5344CB8AC3E}">
        <p14:creationId xmlns:p14="http://schemas.microsoft.com/office/powerpoint/2010/main" val="723830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4061026C-2009-4BBE-AE4D-27AE48704FE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650277F-A6F0-4CCA-BC12-4BBF128801B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4B98CF0-8BDC-42CF-AD0B-2325393AD21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74F9312D-E1F2-431A-8308-27E435ED201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67A37E00-E069-4EDC-BA07-1F9E2E69F9D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before sharing">
            <a:extLst xmlns:a="http://schemas.openxmlformats.org/drawingml/2006/main">
              <a:ext uri="{FF2B5EF4-FFF2-40B4-BE49-F238E27FC236}">
                <a16:creationId xmlns:a16="http://schemas.microsoft.com/office/drawing/2014/main" id="{52A43969-F619-4F88-8165-4AD3D26F8FB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before sharing</a:t>
            </a:r>
          </a:p>
        </p:txBody>
      </p:sp>
      <p:sp>
        <p:nvSpPr>
          <p:cNvPr id="7" name="surface">
            <a:extLst xmlns:a="http://schemas.openxmlformats.org/drawingml/2006/main">
              <a:ext uri="{FF2B5EF4-FFF2-40B4-BE49-F238E27FC236}">
                <a16:creationId xmlns:a16="http://schemas.microsoft.com/office/drawing/2014/main" id="{1B9B4AAF-3BD2-4938-BC95-00324FDE0DA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2D0FD546-18ED-4276-9BDE-042D9E333DF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12 / 15">
            <a:extLst xmlns:a="http://schemas.openxmlformats.org/drawingml/2006/main">
              <a:ext uri="{FF2B5EF4-FFF2-40B4-BE49-F238E27FC236}">
                <a16:creationId xmlns:a16="http://schemas.microsoft.com/office/drawing/2014/main" id="{FDAD67B5-458D-4376-A79C-3BBABD8D622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Does my explanation answer the question?">
            <a:extLst xmlns:a="http://schemas.openxmlformats.org/drawingml/2006/main">
              <a:ext uri="{FF2B5EF4-FFF2-40B4-BE49-F238E27FC236}">
                <a16:creationId xmlns:a16="http://schemas.microsoft.com/office/drawing/2014/main" id="{80BB4840-E2AE-45D4-A8D9-E19DFF41986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my explanation answer the question?</a:t>
            </a:r>
          </a:p>
        </p:txBody>
      </p:sp>
      <p:sp>
        <p:nvSpPr>
          <p:cNvPr id="11" name="Have I named the evidence or process?">
            <a:extLst xmlns:a="http://schemas.openxmlformats.org/drawingml/2006/main">
              <a:ext uri="{FF2B5EF4-FFF2-40B4-BE49-F238E27FC236}">
                <a16:creationId xmlns:a16="http://schemas.microsoft.com/office/drawing/2014/main" id="{19208AF8-F266-4B36-8A90-F9FC17F1FFE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named the evidence or process?</a:t>
            </a:r>
          </a:p>
        </p:txBody>
      </p:sp>
      <p:sp>
        <p:nvSpPr>
          <p:cNvPr id="12" name="Have I kept the conclusion within its limits?">
            <a:extLst xmlns:a="http://schemas.openxmlformats.org/drawingml/2006/main">
              <a:ext uri="{FF2B5EF4-FFF2-40B4-BE49-F238E27FC236}">
                <a16:creationId xmlns:a16="http://schemas.microsoft.com/office/drawing/2014/main" id="{D2C63CBD-1A67-4AEC-A225-CD456B3AE09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kept the conclusion within its limits?</a:t>
            </a:r>
          </a:p>
        </p:txBody>
      </p:sp>
    </p:spTree>
    <p:extLst>
      <p:ext uri="{BB962C8B-B14F-4D97-AF65-F5344CB8AC3E}">
        <p14:creationId xmlns:p14="http://schemas.microsoft.com/office/powerpoint/2010/main" val="13317237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27E443F-0DFF-485A-96B8-C97629E2F02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46B8F40-70DF-46FC-9194-C316DC6D458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E04CD04-17AA-4F90-92F5-433DF131220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3875D436-2342-43EE-8177-2E055B3F4EF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A18FFE93-2A4E-42FE-87CD-50933E65732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3B86E5F9-C3C8-4FFA-BB24-66F4001C787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Compare and improve">
            <a:extLst xmlns:a="http://schemas.openxmlformats.org/drawingml/2006/main">
              <a:ext uri="{FF2B5EF4-FFF2-40B4-BE49-F238E27FC236}">
                <a16:creationId xmlns:a16="http://schemas.microsoft.com/office/drawing/2014/main" id="{D86D1261-6E29-4F42-8976-5B82EED9521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Compare and improve</a:t>
            </a:r>
          </a:p>
        </p:txBody>
      </p:sp>
      <p:sp>
        <p:nvSpPr>
          <p:cNvPr id="8" name="surface">
            <a:extLst xmlns:a="http://schemas.openxmlformats.org/drawingml/2006/main">
              <a:ext uri="{FF2B5EF4-FFF2-40B4-BE49-F238E27FC236}">
                <a16:creationId xmlns:a16="http://schemas.microsoft.com/office/drawing/2014/main" id="{42D8D19C-E2E2-4CF2-9208-DCF13B1DCCC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350A2CAA-E9F4-42E4-9B2A-F046BC71B88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13 / 15">
            <a:extLst xmlns:a="http://schemas.openxmlformats.org/drawingml/2006/main">
              <a:ext uri="{FF2B5EF4-FFF2-40B4-BE49-F238E27FC236}">
                <a16:creationId xmlns:a16="http://schemas.microsoft.com/office/drawing/2014/main" id="{CFF7C8F8-7717-4D05-949D-39DA9E29374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Show one structure–mechanism link.">
            <a:extLst xmlns:a="http://schemas.openxmlformats.org/drawingml/2006/main">
              <a:ext uri="{FF2B5EF4-FFF2-40B4-BE49-F238E27FC236}">
                <a16:creationId xmlns:a16="http://schemas.microsoft.com/office/drawing/2014/main" id="{441027A1-50B9-4D49-B597-9B50579BC94F}"/>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Show one structure–mechanism link.</a:t>
            </a:r>
          </a:p>
        </p:txBody>
      </p:sp>
      <p:sp>
        <p:nvSpPr>
          <p:cNvPr id="12" name="Check a numerical comparison.">
            <a:extLst xmlns:a="http://schemas.openxmlformats.org/drawingml/2006/main">
              <a:ext uri="{FF2B5EF4-FFF2-40B4-BE49-F238E27FC236}">
                <a16:creationId xmlns:a16="http://schemas.microsoft.com/office/drawing/2014/main" id="{3B0256B6-B05C-4305-A7EE-3D213C8844F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Check a numerical comparison.</a:t>
            </a:r>
          </a:p>
        </p:txBody>
      </p:sp>
      <p:sp>
        <p:nvSpPr>
          <p:cNvPr id="13" name="Improve one claim about real seed journeys.">
            <a:extLst xmlns:a="http://schemas.openxmlformats.org/drawingml/2006/main">
              <a:ext uri="{FF2B5EF4-FFF2-40B4-BE49-F238E27FC236}">
                <a16:creationId xmlns:a16="http://schemas.microsoft.com/office/drawing/2014/main" id="{0BDFEA71-099E-41D4-8522-720E96076B93}"/>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Improve one claim about real seed journeys.</a:t>
            </a:r>
          </a:p>
        </p:txBody>
      </p:sp>
    </p:spTree>
    <p:extLst>
      <p:ext uri="{BB962C8B-B14F-4D97-AF65-F5344CB8AC3E}">
        <p14:creationId xmlns:p14="http://schemas.microsoft.com/office/powerpoint/2010/main" val="10655564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68E54653-BF11-4D82-AC1D-EB2617032DA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FAE198B-E74E-4E74-8CAF-2F4706D1DA9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BA24480-5E90-4644-A91F-5EF87019D32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1A1A550-AB03-46DE-B163-D98950F30F8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BA0A0352-AF83-49B2-86EE-1AF6F5BE1D0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A question worth investigating">
            <a:extLst xmlns:a="http://schemas.openxmlformats.org/drawingml/2006/main">
              <a:ext uri="{FF2B5EF4-FFF2-40B4-BE49-F238E27FC236}">
                <a16:creationId xmlns:a16="http://schemas.microsoft.com/office/drawing/2014/main" id="{B6C80E71-B0F3-47D4-B7E2-98B8E618D70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question worth investigating</a:t>
            </a:r>
          </a:p>
        </p:txBody>
      </p:sp>
      <p:sp>
        <p:nvSpPr>
          <p:cNvPr id="7" name="surface">
            <a:extLst xmlns:a="http://schemas.openxmlformats.org/drawingml/2006/main">
              <a:ext uri="{FF2B5EF4-FFF2-40B4-BE49-F238E27FC236}">
                <a16:creationId xmlns:a16="http://schemas.microsoft.com/office/drawing/2014/main" id="{A80DBD85-D8F7-45F0-8EFB-D2C50F1205F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eed dispersal design lab">
            <a:extLst xmlns:a="http://schemas.openxmlformats.org/drawingml/2006/main">
              <a:ext uri="{FF2B5EF4-FFF2-40B4-BE49-F238E27FC236}">
                <a16:creationId xmlns:a16="http://schemas.microsoft.com/office/drawing/2014/main" id="{4DC015A2-5977-4775-88E8-8C7E71DC1E7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9" name="14 / 15">
            <a:extLst xmlns:a="http://schemas.openxmlformats.org/drawingml/2006/main">
              <a:ext uri="{FF2B5EF4-FFF2-40B4-BE49-F238E27FC236}">
                <a16:creationId xmlns:a16="http://schemas.microsoft.com/office/drawing/2014/main" id="{234DB287-5662-448B-BA11-DA1CC11AF01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Suggest one next question about this lesson’s evidence.">
            <a:extLst xmlns:a="http://schemas.openxmlformats.org/drawingml/2006/main">
              <a:ext uri="{FF2B5EF4-FFF2-40B4-BE49-F238E27FC236}">
                <a16:creationId xmlns:a16="http://schemas.microsoft.com/office/drawing/2014/main" id="{5AFFAF1E-CEC8-473F-A593-CAE2AF6907B8}"/>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Suggest one next question about this lesson’s evidence.</a:t>
            </a:r>
          </a:p>
        </p:txBody>
      </p:sp>
      <p:sp>
        <p:nvSpPr>
          <p:cNvPr id="11" name="Choose a question whose answer would improve our model.">
            <a:extLst xmlns:a="http://schemas.openxmlformats.org/drawingml/2006/main">
              <a:ext uri="{FF2B5EF4-FFF2-40B4-BE49-F238E27FC236}">
                <a16:creationId xmlns:a16="http://schemas.microsoft.com/office/drawing/2014/main" id="{90580DBD-F058-4D8F-A6CA-3F4B11083BA8}"/>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a question whose answer would improve our model.</a:t>
            </a:r>
          </a:p>
        </p:txBody>
      </p:sp>
    </p:spTree>
    <p:extLst>
      <p:ext uri="{BB962C8B-B14F-4D97-AF65-F5344CB8AC3E}">
        <p14:creationId xmlns:p14="http://schemas.microsoft.com/office/powerpoint/2010/main" val="2115742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143289E-EC3F-4B6C-A09F-0806E447A6A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13AB1EF-3429-4EC7-8B08-D334A9A8E69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6CB6AC6-CADA-41D6-8B75-16E551EEA44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5B7C61A6-1487-4235-ADC1-555620A9AC2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Exit">
            <a:extLst xmlns:a="http://schemas.openxmlformats.org/drawingml/2006/main">
              <a:ext uri="{FF2B5EF4-FFF2-40B4-BE49-F238E27FC236}">
                <a16:creationId xmlns:a16="http://schemas.microsoft.com/office/drawing/2014/main" id="{3085603C-EB17-4FE0-9020-10C3494BB1F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865DA9F2-930D-4603-887B-1CB2D5A6623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Show the science you can explain">
            <a:extLst xmlns:a="http://schemas.openxmlformats.org/drawingml/2006/main">
              <a:ext uri="{FF2B5EF4-FFF2-40B4-BE49-F238E27FC236}">
                <a16:creationId xmlns:a16="http://schemas.microsoft.com/office/drawing/2014/main" id="{87211848-CD11-4FDB-9355-8588153539F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Show the science you can explain</a:t>
            </a:r>
          </a:p>
        </p:txBody>
      </p:sp>
      <p:sp>
        <p:nvSpPr>
          <p:cNvPr id="8" name="surface">
            <a:extLst xmlns:a="http://schemas.openxmlformats.org/drawingml/2006/main">
              <a:ext uri="{FF2B5EF4-FFF2-40B4-BE49-F238E27FC236}">
                <a16:creationId xmlns:a16="http://schemas.microsoft.com/office/drawing/2014/main" id="{5F9FC1F3-1093-4DB7-BBFF-E2F1C6367DC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eed dispersal design lab">
            <a:extLst xmlns:a="http://schemas.openxmlformats.org/drawingml/2006/main">
              <a:ext uri="{FF2B5EF4-FFF2-40B4-BE49-F238E27FC236}">
                <a16:creationId xmlns:a16="http://schemas.microsoft.com/office/drawing/2014/main" id="{AA95AF09-EA8A-4EE0-B3B4-3302389A164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seed dispersal design lab</a:t>
            </a:r>
          </a:p>
        </p:txBody>
      </p:sp>
      <p:sp>
        <p:nvSpPr>
          <p:cNvPr id="10" name="15 / 15">
            <a:extLst xmlns:a="http://schemas.openxmlformats.org/drawingml/2006/main">
              <a:ext uri="{FF2B5EF4-FFF2-40B4-BE49-F238E27FC236}">
                <a16:creationId xmlns:a16="http://schemas.microsoft.com/office/drawing/2014/main" id="{6447FCB5-CC49-4669-80AF-BDE2F7284FB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Explain how a wing can aid dispersal.">
            <a:extLst xmlns:a="http://schemas.openxmlformats.org/drawingml/2006/main">
              <a:ext uri="{FF2B5EF4-FFF2-40B4-BE49-F238E27FC236}">
                <a16:creationId xmlns:a16="http://schemas.microsoft.com/office/drawing/2014/main" id="{E8E05701-D3A8-43E8-BBF9-38E45CA13B26}"/>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Explain how a wing can aid dispersal.</a:t>
            </a:r>
          </a:p>
        </p:txBody>
      </p:sp>
      <p:sp>
        <p:nvSpPr>
          <p:cNvPr id="12" name="E2. Give evidence from the paper model.">
            <a:extLst xmlns:a="http://schemas.openxmlformats.org/drawingml/2006/main">
              <a:ext uri="{FF2B5EF4-FFF2-40B4-BE49-F238E27FC236}">
                <a16:creationId xmlns:a16="http://schemas.microsoft.com/office/drawing/2014/main" id="{876E78E2-6703-477C-A087-16064C360EE6}"/>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Give evidence from the paper model.</a:t>
            </a:r>
          </a:p>
        </p:txBody>
      </p:sp>
      <p:sp>
        <p:nvSpPr>
          <p:cNvPr id="13" name="E3. Give one limit of this model.">
            <a:extLst xmlns:a="http://schemas.openxmlformats.org/drawingml/2006/main">
              <a:ext uri="{FF2B5EF4-FFF2-40B4-BE49-F238E27FC236}">
                <a16:creationId xmlns:a16="http://schemas.microsoft.com/office/drawing/2014/main" id="{151CE12D-07A0-4D97-B996-182BFA3217EA}"/>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Give one limit of this model.</a:t>
            </a:r>
          </a:p>
        </p:txBody>
      </p:sp>
    </p:spTree>
    <p:extLst>
      <p:ext uri="{BB962C8B-B14F-4D97-AF65-F5344CB8AC3E}">
        <p14:creationId xmlns:p14="http://schemas.microsoft.com/office/powerpoint/2010/main" val="521177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2026-09-09T00:03:09.3640000Z</dcterms:created>
  <dcterms:modified xsi:type="dcterms:W3CDTF">2026-09-09T00:03:09.3640000Z</dcterms:modified>
</coreProperties>
</file>