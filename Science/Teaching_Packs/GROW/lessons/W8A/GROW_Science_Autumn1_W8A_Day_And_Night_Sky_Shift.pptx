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ad161963354e5c" /><Relationship Type="http://schemas.openxmlformats.org/officeDocument/2006/relationships/extended-properties" Target="/docProps/app.xml" Id="R1f1df03b80284062" /><Relationship Type="http://schemas.openxmlformats.org/officeDocument/2006/relationships/officeDocument" Target="/ppt/presentation.xml" Id="R2ed64d71f09a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7003980d9405a"/>
  </p:sldMasterIdLst>
  <p:notesMasterIdLst>
    <p:notesMasterId xmlns:r="http://schemas.openxmlformats.org/officeDocument/2006/relationships" r:id="R200a7bc2149f4068"/>
  </p:notesMasterIdLst>
  <p:sldIdLst>
    <p:sldId xmlns:r="http://schemas.openxmlformats.org/officeDocument/2006/relationships" id="256" r:id="R27b9accb33cb469b"/>
    <p:sldId xmlns:r="http://schemas.openxmlformats.org/officeDocument/2006/relationships" id="257" r:id="Rdb6c505f402e4d6b"/>
    <p:sldId xmlns:r="http://schemas.openxmlformats.org/officeDocument/2006/relationships" id="258" r:id="R9b6bdc5ed2a144dd"/>
    <p:sldId xmlns:r="http://schemas.openxmlformats.org/officeDocument/2006/relationships" id="259" r:id="Rc38599098a594bf0"/>
    <p:sldId xmlns:r="http://schemas.openxmlformats.org/officeDocument/2006/relationships" id="260" r:id="R70099ff2d09a4a58"/>
    <p:sldId xmlns:r="http://schemas.openxmlformats.org/officeDocument/2006/relationships" id="261" r:id="R766aa0fbcb634bea"/>
    <p:sldId xmlns:r="http://schemas.openxmlformats.org/officeDocument/2006/relationships" id="262" r:id="R4aaec2071d42469f"/>
    <p:sldId xmlns:r="http://schemas.openxmlformats.org/officeDocument/2006/relationships" id="263" r:id="R4106830956264122"/>
    <p:sldId xmlns:r="http://schemas.openxmlformats.org/officeDocument/2006/relationships" id="264" r:id="R19d71c54f2434ef0"/>
    <p:sldId xmlns:r="http://schemas.openxmlformats.org/officeDocument/2006/relationships" id="265" r:id="R865b8e6d8e014bd6"/>
    <p:sldId xmlns:r="http://schemas.openxmlformats.org/officeDocument/2006/relationships" id="266" r:id="Rb66b855d563c4fc1"/>
    <p:sldId xmlns:r="http://schemas.openxmlformats.org/officeDocument/2006/relationships" id="267" r:id="R375eb433f5004f71"/>
    <p:sldId xmlns:r="http://schemas.openxmlformats.org/officeDocument/2006/relationships" id="268" r:id="R3094763230ef4c71"/>
    <p:sldId xmlns:r="http://schemas.openxmlformats.org/officeDocument/2006/relationships" id="269" r:id="Rfe84a2bafff04629"/>
    <p:sldId xmlns:r="http://schemas.openxmlformats.org/officeDocument/2006/relationships" id="270" r:id="R29f681f549534fd3"/>
    <p:sldId xmlns:r="http://schemas.openxmlformats.org/officeDocument/2006/relationships" id="271" r:id="R619ff141ea074cef"/>
    <p:sldId xmlns:r="http://schemas.openxmlformats.org/officeDocument/2006/relationships" id="272" r:id="R49f84945b3d3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998f12fcab4a24" /><Relationship Type="http://schemas.openxmlformats.org/officeDocument/2006/relationships/slideMaster" Target="/ppt/slideMasters/slideMaster1.xml" Id="R3217003980d9405a" /><Relationship Type="http://schemas.openxmlformats.org/officeDocument/2006/relationships/notesMaster" Target="/ppt/notesMasters/notesMaster1.xml" Id="R200a7bc2149f4068" /><Relationship Type="http://schemas.openxmlformats.org/officeDocument/2006/relationships/presProps" Target="/ppt/presProps.xml" Id="Rb21e7aae712e4f27" /><Relationship Type="http://schemas.openxmlformats.org/officeDocument/2006/relationships/tableStyles" Target="/ppt/tableStyles.xml" Id="R339db224536e4998" /><Relationship Type="http://schemas.openxmlformats.org/officeDocument/2006/relationships/slide" Target="/ppt/slides/slide1.xml" Id="R27b9accb33cb469b" /><Relationship Type="http://schemas.openxmlformats.org/officeDocument/2006/relationships/slide" Target="/ppt/slides/slide2.xml" Id="Rdb6c505f402e4d6b" /><Relationship Type="http://schemas.openxmlformats.org/officeDocument/2006/relationships/slide" Target="/ppt/slides/slide3.xml" Id="R9b6bdc5ed2a144dd" /><Relationship Type="http://schemas.openxmlformats.org/officeDocument/2006/relationships/slide" Target="/ppt/slides/slide4.xml" Id="Rc38599098a594bf0" /><Relationship Type="http://schemas.openxmlformats.org/officeDocument/2006/relationships/slide" Target="/ppt/slides/slide5.xml" Id="R70099ff2d09a4a58" /><Relationship Type="http://schemas.openxmlformats.org/officeDocument/2006/relationships/slide" Target="/ppt/slides/slide6.xml" Id="R766aa0fbcb634bea" /><Relationship Type="http://schemas.openxmlformats.org/officeDocument/2006/relationships/slide" Target="/ppt/slides/slide7.xml" Id="R4aaec2071d42469f" /><Relationship Type="http://schemas.openxmlformats.org/officeDocument/2006/relationships/slide" Target="/ppt/slides/slide8.xml" Id="R4106830956264122" /><Relationship Type="http://schemas.openxmlformats.org/officeDocument/2006/relationships/slide" Target="/ppt/slides/slide9.xml" Id="R19d71c54f2434ef0" /><Relationship Type="http://schemas.openxmlformats.org/officeDocument/2006/relationships/slide" Target="/ppt/slides/slide10.xml" Id="R865b8e6d8e014bd6" /><Relationship Type="http://schemas.openxmlformats.org/officeDocument/2006/relationships/slide" Target="/ppt/slides/slide11.xml" Id="Rb66b855d563c4fc1" /><Relationship Type="http://schemas.openxmlformats.org/officeDocument/2006/relationships/slide" Target="/ppt/slides/slide12.xml" Id="R375eb433f5004f71" /><Relationship Type="http://schemas.openxmlformats.org/officeDocument/2006/relationships/slide" Target="/ppt/slides/slide13.xml" Id="R3094763230ef4c71" /><Relationship Type="http://schemas.openxmlformats.org/officeDocument/2006/relationships/slide" Target="/ppt/slides/slide14.xml" Id="Rfe84a2bafff04629" /><Relationship Type="http://schemas.openxmlformats.org/officeDocument/2006/relationships/slide" Target="/ppt/slides/slide15.xml" Id="R29f681f549534fd3" /><Relationship Type="http://schemas.openxmlformats.org/officeDocument/2006/relationships/slide" Target="/ppt/slides/slide16.xml" Id="R619ff141ea074cef" /><Relationship Type="http://schemas.openxmlformats.org/officeDocument/2006/relationships/slide" Target="/ppt/slides/slide17.xml" Id="R49f84945b3d3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2f4d914ab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6d3e33f7b483a" /><Relationship Type="http://schemas.openxmlformats.org/officeDocument/2006/relationships/notesMaster" Target="/ppt/notesMasters/notesMaster1.xml" Id="R2a52f63051d8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d95d0091b4371" /><Relationship Type="http://schemas.openxmlformats.org/officeDocument/2006/relationships/notesMaster" Target="/ppt/notesMasters/notesMaster1.xml" Id="R35404d513932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9879e335d439e" /><Relationship Type="http://schemas.openxmlformats.org/officeDocument/2006/relationships/notesMaster" Target="/ppt/notesMasters/notesMaster1.xml" Id="Rb5ca41b1db7a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d580305534111" /><Relationship Type="http://schemas.openxmlformats.org/officeDocument/2006/relationships/notesMaster" Target="/ppt/notesMasters/notesMaster1.xml" Id="R66ed5661152945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f4163a32154dbb" /><Relationship Type="http://schemas.openxmlformats.org/officeDocument/2006/relationships/notesMaster" Target="/ppt/notesMasters/notesMaster1.xml" Id="R90a3ba8c5c88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9f8ba30d3643e5" /><Relationship Type="http://schemas.openxmlformats.org/officeDocument/2006/relationships/notesMaster" Target="/ppt/notesMasters/notesMaster1.xml" Id="Rea508a04f4bd4c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605e604604396" /><Relationship Type="http://schemas.openxmlformats.org/officeDocument/2006/relationships/notesMaster" Target="/ppt/notesMasters/notesMaster1.xml" Id="R826911ab76264b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17b6f5e74446c" /><Relationship Type="http://schemas.openxmlformats.org/officeDocument/2006/relationships/notesMaster" Target="/ppt/notesMasters/notesMaster1.xml" Id="Rf93cd921b8404b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226e4e625e4080" /><Relationship Type="http://schemas.openxmlformats.org/officeDocument/2006/relationships/notesMaster" Target="/ppt/notesMasters/notesMaster1.xml" Id="R475737685bfb41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f725a8df1f40b1" /><Relationship Type="http://schemas.openxmlformats.org/officeDocument/2006/relationships/notesMaster" Target="/ppt/notesMasters/notesMaster1.xml" Id="Rf88432c2ae9e4d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61d79582894c1c" /><Relationship Type="http://schemas.openxmlformats.org/officeDocument/2006/relationships/notesMaster" Target="/ppt/notesMasters/notesMaster1.xml" Id="R52e132b77f404a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7c8b789654ddf" /><Relationship Type="http://schemas.openxmlformats.org/officeDocument/2006/relationships/notesMaster" Target="/ppt/notesMasters/notesMaster1.xml" Id="Re7ea424ef89a48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744b5ebf0d4fe3" /><Relationship Type="http://schemas.openxmlformats.org/officeDocument/2006/relationships/notesMaster" Target="/ppt/notesMasters/notesMaster1.xml" Id="Rbd883ee393f742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cc9eee4b3d42f3" /><Relationship Type="http://schemas.openxmlformats.org/officeDocument/2006/relationships/notesMaster" Target="/ppt/notesMasters/notesMaster1.xml" Id="R61203638920b4d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b54ee38384435e" /><Relationship Type="http://schemas.openxmlformats.org/officeDocument/2006/relationships/notesMaster" Target="/ppt/notesMasters/notesMaster1.xml" Id="R03f7cefe861447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b4efffc9f1414a" /><Relationship Type="http://schemas.openxmlformats.org/officeDocument/2006/relationships/notesMaster" Target="/ppt/notesMasters/notesMaster1.xml" Id="Rffb81581557840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d3132bc8d04ecc" /><Relationship Type="http://schemas.openxmlformats.org/officeDocument/2006/relationships/notesMaster" Target="/ppt/notesMasters/notesMaster1.xml" Id="Rd1491044e766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8A · Explore</a:t>
            </a:r>
          </a:p>
          <a:p xmlns:a="http://schemas.openxmlformats.org/drawingml/2006/main">
            <a:r>
              <a:t>Learning objective: I can explain that Earth's rotation causes day and night and makes the Sun appear to move across our sky.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Identify the lit side of Earth as day and the unlit side as night.</a:t>
            </a:r>
          </a:p>
          <a:p xmlns:a="http://schemas.openxmlformats.org/drawingml/2006/main">
            <a:r>
              <a:t>Sequence one place on Earth through a full rotation.</a:t>
            </a:r>
          </a:p>
          <a:p xmlns:a="http://schemas.openxmlformats.org/drawingml/2006/main">
            <a:r>
              <a:t>Use rotate and apparent to explain what an observer sees.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8A · Explore</a:t>
            </a:r>
          </a:p>
          <a:p xmlns:a="http://schemas.openxmlformats.org/drawingml/2006/main">
            <a:r>
              <a:t>Learning objective: I can explain that Earth's rotation causes day and night and makes the Sun appear to move across our sky.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Identify the lit side of Earth as day and the unlit side as night.</a:t>
            </a:r>
          </a:p>
          <a:p xmlns:a="http://schemas.openxmlformats.org/drawingml/2006/main">
            <a:r>
              <a:t>Sequence one place on Earth through a full rotation.</a:t>
            </a:r>
          </a:p>
          <a:p xmlns:a="http://schemas.openxmlformats.org/drawingml/2006/main">
            <a:r>
              <a:t>Use rotate and apparent to explain what an observer sees.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lesson, the Moon model separated what is lit from what an observer can see.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why can the Moon look different even though it stays spherical?</a:t>
            </a:r>
          </a:p>
          <a:p xmlns:a="http://schemas.openxmlformats.org/drawingml/2006/main">
            <a:r>
              <a:t>Last week: state one way Earth moves in space.</a:t>
            </a:r>
          </a:p>
          <a:p xmlns:a="http://schemas.openxmlformats.org/drawingml/2006/main">
            <a:r>
              <a:t>Older learning: why should one factor change at a time in a fair comparison?</a:t>
            </a:r>
          </a:p>
          <a:p xmlns:a="http://schemas.openxmlformats.org/drawingml/2006/main">
            <a:r>
              <a:t>Lead-in: what might cause one place to move from day into night?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our place is at the light–dark boundary.</a:t>
            </a:r>
          </a:p>
          <a:p xmlns:a="http://schemas.openxmlformats.org/drawingml/2006/main">
            <a:r>
              <a:t>Half of Earth is lit. Our place is just entering the light.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the same place is in the middle of the lit half.</a:t>
            </a:r>
          </a:p>
          <a:p xmlns:a="http://schemas.openxmlformats.org/drawingml/2006/main">
            <a:r>
              <a:t>Earth has turned a quarter. Our place faces the lamp: noon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the lamp is still on, and our place is on the unlit half.</a:t>
            </a:r>
          </a:p>
          <a:p xmlns:a="http://schemas.openxmlformats.org/drawingml/2006/main">
            <a:r>
              <a:t>The lamp never switched off. Our place turned away from it: night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Sun travels around Earth once each day.</a:t>
            </a:r>
          </a:p>
          <a:p xmlns:a="http://schemas.openxmlformats.org/drawingml/2006/main">
            <a:r>
              <a:t>Earth turns while the Sun stays in the model's fixed position.</a:t>
            </a:r>
          </a:p>
          <a:p xmlns:a="http://schemas.openxmlformats.org/drawingml/2006/main">
            <a:r>
              <a:t>Clouds carry daylight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our place is at the light–dark boundary.</a:t>
            </a:r>
          </a:p>
          <a:p xmlns:a="http://schemas.openxmlformats.org/drawingml/2006/main">
            <a:r>
              <a:t>Half of Earth is lit. Our place is just entering the light.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the same place is in the middle of the lit half.</a:t>
            </a:r>
          </a:p>
          <a:p xmlns:a="http://schemas.openxmlformats.org/drawingml/2006/main">
            <a:r>
              <a:t>Earth has turned a quarter. Our place faces the lamp: noon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the lamp is still on, and our place is on the unlit half.</a:t>
            </a:r>
          </a:p>
          <a:p xmlns:a="http://schemas.openxmlformats.org/drawingml/2006/main">
            <a:r>
              <a:t>The lamp never switched off. Our place turned away from it: night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Sun travels around Earth once each day.</a:t>
            </a:r>
          </a:p>
          <a:p xmlns:a="http://schemas.openxmlformats.org/drawingml/2006/main">
            <a:r>
              <a:t>Earth turns while the Sun stays in the model's fixed position.</a:t>
            </a:r>
          </a:p>
          <a:p xmlns:a="http://schemas.openxmlformats.org/drawingml/2006/main">
            <a:r>
              <a:t>Clouds carry daylight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our place is at the light–dark boundary.</a:t>
            </a:r>
          </a:p>
          <a:p xmlns:a="http://schemas.openxmlformats.org/drawingml/2006/main">
            <a:r>
              <a:t>Half of Earth is lit. Our place is just entering the light.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the same place is in the middle of the lit half.</a:t>
            </a:r>
          </a:p>
          <a:p xmlns:a="http://schemas.openxmlformats.org/drawingml/2006/main">
            <a:r>
              <a:t>Earth has turned a quarter. Our place faces the lamp: noon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the lamp is still on, and our place is on the unlit half.</a:t>
            </a:r>
          </a:p>
          <a:p xmlns:a="http://schemas.openxmlformats.org/drawingml/2006/main">
            <a:r>
              <a:t>The lamp never switched off. Our place turned away from it: night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The Sun travels around Earth once each day.</a:t>
            </a:r>
          </a:p>
          <a:p xmlns:a="http://schemas.openxmlformats.org/drawingml/2006/main">
            <a:r>
              <a:t>Earth turns while the Sun stays in the model's fixed position.</a:t>
            </a:r>
          </a:p>
          <a:p xmlns:a="http://schemas.openxmlformats.org/drawingml/2006/main">
            <a:r>
              <a:t>Clouds carry daylight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ROTATE turn to spin around an axis</a:t>
            </a:r>
          </a:p>
          <a:p xmlns:a="http://schemas.openxmlformats.org/drawingml/2006/main">
            <a:r>
              <a:t>AXIS turning line an imaginary line through a rotating body</a:t>
            </a:r>
          </a:p>
          <a:p xmlns:a="http://schemas.openxmlformats.org/drawingml/2006/main">
            <a:r>
              <a:t>APPARENT seems to what seems to happen from an observer's position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Trace the marker with one finger. Say: facing the Sun means day; facing away means night.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lamp and globe are not to scale, the axis angle is simplified, and a quick turn represents about 24 hours.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Fix a cool lamp as the Sun. Put one visible marker on a globe as our place.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Notice that only the half facing the lamp is lit. Label that half day and the other half night.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Turn the globe west to east on its axis. Track the marker as it enters and leaves the light.</a:t>
            </a:r>
          </a:p>
          <a:p xmlns:a="http://schemas.openxmlformats.org/drawingml/2006/main">
            <a:r>
              <a:t>Rotating Earth · press to turn a quarter</a:t>
            </a:r>
          </a:p>
          <a:p xmlns:a="http://schemas.openxmlformats.org/drawingml/2006/main">
            <a:r>
              <a:t>The lamp stays where it is. Only Earth turns, west to east. Watch where our place goes.</a:t>
            </a:r>
          </a:p>
          <a:p xmlns:a="http://schemas.openxmlformats.org/drawingml/2006/main">
            <a:r>
              <a:t>↺ Start at sunrise</a:t>
            </a:r>
          </a:p>
          <a:p xmlns:a="http://schemas.openxmlformats.org/drawingml/2006/main">
            <a:r>
              <a:t>SUNRISE · entering the light. The Sun appears to rise in the east. Our place is turning towards it.</a:t>
            </a:r>
          </a:p>
          <a:p xmlns:a="http://schemas.openxmlformats.org/drawingml/2006/main">
            <a:r>
              <a:t>Turns: 0 · Log: sunrise</a:t>
            </a:r>
          </a:p>
          <a:p xmlns:a="http://schemas.openxmlformats.org/drawingml/2006/main">
            <a:r>
              <a:t>Key words: Earth rotates on its axis . The Sun only appears to move. One full turn ≈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ROTATE turn to spin around an axis</a:t>
            </a:r>
          </a:p>
          <a:p xmlns:a="http://schemas.openxmlformats.org/drawingml/2006/main">
            <a:r>
              <a:t>AXIS turning line an imaginary line through a rotating body</a:t>
            </a:r>
          </a:p>
          <a:p xmlns:a="http://schemas.openxmlformats.org/drawingml/2006/main">
            <a:r>
              <a:t>APPARENT seems to what seems to happen from an observer's position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Trace the marker with one finger. Say: facing the Sun means day; facing away means night.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lamp and globe are not to scale, the axis angle is simplified, and a quick turn represents about 24 hours.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Fix a cool lamp as the Sun. Put one visible marker on a globe as our place.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Notice that only the half facing the lamp is lit. Label that half day and the other half night.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Turn the globe west to east on its axis. Track the marker as it enters and leaves the light.</a:t>
            </a:r>
          </a:p>
          <a:p xmlns:a="http://schemas.openxmlformats.org/drawingml/2006/main">
            <a:r>
              <a:t>Rotating Earth · press to turn a quarter</a:t>
            </a:r>
          </a:p>
          <a:p xmlns:a="http://schemas.openxmlformats.org/drawingml/2006/main">
            <a:r>
              <a:t>The lamp stays where it is. Only Earth turns, west to east. Watch where our place goes.</a:t>
            </a:r>
          </a:p>
          <a:p xmlns:a="http://schemas.openxmlformats.org/drawingml/2006/main">
            <a:r>
              <a:t>↺ Start at sunrise</a:t>
            </a:r>
          </a:p>
          <a:p xmlns:a="http://schemas.openxmlformats.org/drawingml/2006/main">
            <a:r>
              <a:t>SUNRISE · entering the light. The Sun appears to rise in the east. Our place is turning towards it.</a:t>
            </a:r>
          </a:p>
          <a:p xmlns:a="http://schemas.openxmlformats.org/drawingml/2006/main">
            <a:r>
              <a:t>Turns: 0 · Log: sunrise</a:t>
            </a:r>
          </a:p>
          <a:p xmlns:a="http://schemas.openxmlformats.org/drawingml/2006/main">
            <a:r>
              <a:t>Key words: Earth rotates on its axis . The Sun only appears to move. One full turn ≈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ROTATE turn to spin around an axis</a:t>
            </a:r>
          </a:p>
          <a:p xmlns:a="http://schemas.openxmlformats.org/drawingml/2006/main">
            <a:r>
              <a:t>AXIS turning line an imaginary line through a rotating body</a:t>
            </a:r>
          </a:p>
          <a:p xmlns:a="http://schemas.openxmlformats.org/drawingml/2006/main">
            <a:r>
              <a:t>APPARENT seems to what seems to happen from an observer's position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Trace the marker with one finger. Say: facing the Sun means day; facing away means night.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lamp and globe are not to scale, the axis angle is simplified, and a quick turn represents about 24 hours.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Fix a cool lamp as the Sun. Put one visible marker on a globe as our place.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Notice that only the half facing the lamp is lit. Label that half day and the other half night.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Turn the globe west to east on its axis. Track the marker as it enters and leaves the light.</a:t>
            </a:r>
          </a:p>
          <a:p xmlns:a="http://schemas.openxmlformats.org/drawingml/2006/main">
            <a:r>
              <a:t>Rotating Earth · press to turn a quarter</a:t>
            </a:r>
          </a:p>
          <a:p xmlns:a="http://schemas.openxmlformats.org/drawingml/2006/main">
            <a:r>
              <a:t>The lamp stays where it is. Only Earth turns, west to east. Watch where our place goes.</a:t>
            </a:r>
          </a:p>
          <a:p xmlns:a="http://schemas.openxmlformats.org/drawingml/2006/main">
            <a:r>
              <a:t>↺ Start at sunrise</a:t>
            </a:r>
          </a:p>
          <a:p xmlns:a="http://schemas.openxmlformats.org/drawingml/2006/main">
            <a:r>
              <a:t>SUNRISE · entering the light. The Sun appears to rise in the east. Our place is turning towards it.</a:t>
            </a:r>
          </a:p>
          <a:p xmlns:a="http://schemas.openxmlformats.org/drawingml/2006/main">
            <a:r>
              <a:t>Turns: 0 · Log: sunrise</a:t>
            </a:r>
          </a:p>
          <a:p xmlns:a="http://schemas.openxmlformats.org/drawingml/2006/main">
            <a:r>
              <a:t>Key words: Earth rotates on its axis . The Sun only appears to move. One full turn ≈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Morning, because the place is entering the lit half.</a:t>
            </a:r>
          </a:p>
          <a:p xmlns:a="http://schemas.openxmlformats.org/drawingml/2006/main">
            <a:r>
              <a:t>Night, because the lamp has switched off.</a:t>
            </a:r>
          </a:p>
          <a:p xmlns:a="http://schemas.openxmlformats.org/drawingml/2006/main">
            <a:r>
              <a:t>A season, because one turn takes a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Stand at the marked place in the model and describe the lamp's position from that viewpoint.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As Earth rotates west to east, the observer turns with it. The Sun therefore appears to move east to west: it seems to rise, cross the sky and set.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Say the full link: Earth rotates west to east, so day and night repeat and the Sun's east-to-west daily movement is apparent.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Trace the marker with one finger. Say: facing the Sun means day; facing away means night.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Stand at the marked place in the model and describe the lamp's position from that viewpoint.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As Earth rotates west to east, the observer turns with it. The Sun therefore appears to move east to west: it seems to rise, cross the sky and set.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Say the full link: Earth rotates west to east, so day and night repeat and the Sun's east-to-west daily movement is apparent.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Trace the marker with one finger. Say: facing the Sun means day; facing away means night.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observation at the marked place to its position in one rotation.</a:t>
            </a:r>
          </a:p>
          <a:p xmlns:a="http://schemas.openxmlformats.org/drawingml/2006/main">
            <a:r>
              <a:t>Choose one evidence card. Commit it to one sky position. Use the feedback to repair any mismatch. Freeze at least two results, then explain the pattern.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Entering light The marked place crosses from the unlit half into the lit half.</a:t>
            </a:r>
          </a:p>
          <a:p xmlns:a="http://schemas.openxmlformats.org/drawingml/2006/main">
            <a:r>
              <a:t>Facing the lamp The marked place is near the centre of the lit half and faces the lamp.</a:t>
            </a:r>
          </a:p>
          <a:p xmlns:a="http://schemas.openxmlformats.org/drawingml/2006/main">
            <a:r>
              <a:t>Leaving light The marked place crosses from the lit half into the unlit half.</a:t>
            </a:r>
          </a:p>
          <a:p xmlns:a="http://schemas.openxmlformats.org/drawingml/2006/main">
            <a:r>
              <a:t>Facing away The marked place is near the centre of the unlit half and faces away from the lamp.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Sunrise</a:t>
            </a:r>
          </a:p>
          <a:p xmlns:a="http://schemas.openxmlformats.org/drawingml/2006/main">
            <a:r>
              <a:t>Middle of the day</a:t>
            </a:r>
          </a:p>
          <a:p xmlns:a="http://schemas.openxmlformats.org/drawingml/2006/main">
            <a:r>
              <a:t>Sunset</a:t>
            </a:r>
          </a:p>
          <a:p xmlns:a="http://schemas.openxmlformats.org/drawingml/2006/main">
            <a:r>
              <a:t>Night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the Sun travels around Earth once every day.</a:t>
            </a:r>
          </a:p>
          <a:p xmlns:a="http://schemas.openxmlformats.org/drawingml/2006/main">
            <a:r>
              <a:t>Keep it: a daily Sun orbit explains sunrise.</a:t>
            </a:r>
          </a:p>
          <a:p xmlns:a="http://schemas.openxmlformats.org/drawingml/2006/main">
            <a:r>
              <a:t>Repair it: Earth rotates, so the Sun only appears to cross our sky.</a:t>
            </a:r>
          </a:p>
          <a:p xmlns:a="http://schemas.openxmlformats.org/drawingml/2006/main">
            <a:r>
              <a:t>Repair it: clouds move the Sun from east to 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observation at the marked place to its position in one rotation.</a:t>
            </a:r>
          </a:p>
          <a:p xmlns:a="http://schemas.openxmlformats.org/drawingml/2006/main">
            <a:r>
              <a:t>Choose one evidence card. Commit it to one sky position. Use the feedback to repair any mismatch. Freeze at least two results, then explain the pattern.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Entering light The marked place crosses from the unlit half into the lit half.</a:t>
            </a:r>
          </a:p>
          <a:p xmlns:a="http://schemas.openxmlformats.org/drawingml/2006/main">
            <a:r>
              <a:t>Facing the lamp The marked place is near the centre of the lit half and faces the lamp.</a:t>
            </a:r>
          </a:p>
          <a:p xmlns:a="http://schemas.openxmlformats.org/drawingml/2006/main">
            <a:r>
              <a:t>Leaving light The marked place crosses from the lit half into the unlit half.</a:t>
            </a:r>
          </a:p>
          <a:p xmlns:a="http://schemas.openxmlformats.org/drawingml/2006/main">
            <a:r>
              <a:t>Facing away The marked place is near the centre of the unlit half and faces away from the lamp.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Sunrise</a:t>
            </a:r>
          </a:p>
          <a:p xmlns:a="http://schemas.openxmlformats.org/drawingml/2006/main">
            <a:r>
              <a:t>Middle of the day</a:t>
            </a:r>
          </a:p>
          <a:p xmlns:a="http://schemas.openxmlformats.org/drawingml/2006/main">
            <a:r>
              <a:t>Sunset</a:t>
            </a:r>
          </a:p>
          <a:p xmlns:a="http://schemas.openxmlformats.org/drawingml/2006/main">
            <a:r>
              <a:t>Night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the Sun travels around Earth once every day.</a:t>
            </a:r>
          </a:p>
          <a:p xmlns:a="http://schemas.openxmlformats.org/drawingml/2006/main">
            <a:r>
              <a:t>Keep it: a daily Sun orbit explains sunrise.</a:t>
            </a:r>
          </a:p>
          <a:p xmlns:a="http://schemas.openxmlformats.org/drawingml/2006/main">
            <a:r>
              <a:t>Repair it: Earth rotates, so the Sun only appears to cross our sky.</a:t>
            </a:r>
          </a:p>
          <a:p xmlns:a="http://schemas.openxmlformats.org/drawingml/2006/main">
            <a:r>
              <a:t>Repair it: clouds move the Sun from east to 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Cool LED lamp, globe or ball with a removable marker, four-position evidence sheet and pencil.</a:t>
            </a:r>
          </a:p>
          <a:p xmlns:a="http://schemas.openxmlformats.org/drawingml/2006/main">
            <a:r>
              <a:t>Same outcome: I can explain that Earth's rotation causes day and night and makes the Sun appear to move across our sky.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included four-frame sequence. Add arrows for Earth's rotation and captions for what the observer sees.</a:t>
            </a:r>
          </a:p>
          <a:p xmlns:a="http://schemas.openxmlformats.org/drawingml/2006/main">
            <a:r>
              <a:t>Same evidence: One saved or paper sequence with four positions, rotation arrows and a because sentence using apparent.</a:t>
            </a:r>
          </a:p>
          <a:p xmlns:a="http://schemas.openxmlformats.org/drawingml/2006/main">
            <a:r>
              <a:t>Equipment / setup Cool LED lamp, globe or ball with a removable marker, four-position evidence sheet and pencil.</a:t>
            </a:r>
          </a:p>
          <a:p xmlns:a="http://schemas.openxmlformats.org/drawingml/2006/main">
            <a:r>
              <a:t>Safety / sensory Use a cool LED light only. Never stare into a bright lamp. Keep cables still and let an adult move powered equipment.</a:t>
            </a:r>
          </a:p>
          <a:p xmlns:a="http://schemas.openxmlformats.org/drawingml/2006/main">
            <a:r>
              <a:t>Offline parity Use the included four-frame sequence. Add arrows for Earth's rotation and captions for what the observer sees.</a:t>
            </a:r>
          </a:p>
          <a:p xmlns:a="http://schemas.openxmlformats.org/drawingml/2006/main">
            <a:r>
              <a:t>No-equipment/access route: Use a fixed Sun card and a marked paper Earth. One pupil directs the paper Earth through four west-to-east quarter turns.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Draw and label four positions in one rotation, then explain day, night, sunrise and sunset.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Earth rotates, therefore our place…, so the Sun appears to….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Cool LED lamp, globe or ball with a removable marker, four-position evidence sheet and pencil.</a:t>
            </a:r>
          </a:p>
          <a:p xmlns:a="http://schemas.openxmlformats.org/drawingml/2006/main">
            <a:r>
              <a:t>Same outcome: I can explain that Earth's rotation causes day and night and makes the Sun appear to move across our sky.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included four-frame sequence. Add arrows for Earth's rotation and captions for what the observer sees.</a:t>
            </a:r>
          </a:p>
          <a:p xmlns:a="http://schemas.openxmlformats.org/drawingml/2006/main">
            <a:r>
              <a:t>Same evidence: One saved or paper sequence with four positions, rotation arrows and a because sentence using apparent.</a:t>
            </a:r>
          </a:p>
          <a:p xmlns:a="http://schemas.openxmlformats.org/drawingml/2006/main">
            <a:r>
              <a:t>Equipment / setup Cool LED lamp, globe or ball with a removable marker, four-position evidence sheet and pencil.</a:t>
            </a:r>
          </a:p>
          <a:p xmlns:a="http://schemas.openxmlformats.org/drawingml/2006/main">
            <a:r>
              <a:t>Safety / sensory Use a cool LED light only. Never stare into a bright lamp. Keep cables still and let an adult move powered equipment.</a:t>
            </a:r>
          </a:p>
          <a:p xmlns:a="http://schemas.openxmlformats.org/drawingml/2006/main">
            <a:r>
              <a:t>Offline parity Use the included four-frame sequence. Add arrows for Earth's rotation and captions for what the observer sees.</a:t>
            </a:r>
          </a:p>
          <a:p xmlns:a="http://schemas.openxmlformats.org/drawingml/2006/main">
            <a:r>
              <a:t>No-equipment/access route: Use a fixed Sun card and a marked paper Earth. One pupil directs the paper Earth through four west-to-east quarter turns.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Draw and label four positions in one rotation, then explain day, night, sunrise and sunset.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Earth rotates, therefore our place…, so the Sun appears to….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SCI_G_W8A_Day_And_Night_Explore-1.html.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lamp and globe are not to scale, the axis angle is simplified, and a quick turn represents about 24 hours.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why day and night happen and why the Sun appears to move across our sky.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SCI_G_W8A_Day_And_Night_Explore-1.html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5c617616340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64e40d46c417d" /><Relationship Type="http://schemas.openxmlformats.org/officeDocument/2006/relationships/slideLayout" Target="/ppt/slideLayouts/slideLayout1.xml" Id="R38c6e15bac204d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c6e15bac204d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722e376684437" /><Relationship Type="http://schemas.openxmlformats.org/officeDocument/2006/relationships/hyperlink" Target="SCI_G_W8A_Day_And_Night_Explore-1.html" TargetMode="External" Id="R3e01c6759b784415" /><Relationship Type="http://schemas.openxmlformats.org/officeDocument/2006/relationships/notesSlide" Target="/ppt/notesSlides/notesSlide1.xml" Id="R5c834a69476248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8b3a38c0b4222" /><Relationship Type="http://schemas.openxmlformats.org/officeDocument/2006/relationships/notesSlide" Target="/ppt/notesSlides/notesSlide2.xml" Id="R1434d7e9593b49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4b4ddcfd44206" /><Relationship Type="http://schemas.openxmlformats.org/officeDocument/2006/relationships/notesSlide" Target="/ppt/notesSlides/notesSlide3.xml" Id="Rdc3bdba54494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0828d4ef94fd4" /><Relationship Type="http://schemas.openxmlformats.org/officeDocument/2006/relationships/notesSlide" Target="/ppt/notesSlides/notesSlide4.xml" Id="Rf59692ae8518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c3aca5d2f46ea" /><Relationship Type="http://schemas.openxmlformats.org/officeDocument/2006/relationships/notesSlide" Target="/ppt/notesSlides/notesSlide5.xml" Id="R4f6ea0ef19944c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e383f23be4799" /><Relationship Type="http://schemas.openxmlformats.org/officeDocument/2006/relationships/image" Target="/ppt/media/image.png" Id="R17545001f4ad48ab" /><Relationship Type="http://schemas.openxmlformats.org/officeDocument/2006/relationships/image" Target="/ppt/media/image2.png" Id="R73568aed7b194ced" /><Relationship Type="http://schemas.openxmlformats.org/officeDocument/2006/relationships/image" Target="/ppt/media/image3.png" Id="Rd1bbe35d382047c5" /><Relationship Type="http://schemas.openxmlformats.org/officeDocument/2006/relationships/notesSlide" Target="/ppt/notesSlides/notesSlide6.xml" Id="R15e35099207246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b25b85d34b36" /><Relationship Type="http://schemas.openxmlformats.org/officeDocument/2006/relationships/notesSlide" Target="/ppt/notesSlides/notesSlide7.xml" Id="R5077ad85977f48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d1ba4dd24fb5" /><Relationship Type="http://schemas.openxmlformats.org/officeDocument/2006/relationships/notesSlide" Target="/ppt/notesSlides/notesSlide8.xml" Id="Red90932c21d344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0b61642904a48" /><Relationship Type="http://schemas.openxmlformats.org/officeDocument/2006/relationships/image" Target="/ppt/media/image4.png" Id="R4e52a8abaf8d4a22" /><Relationship Type="http://schemas.openxmlformats.org/officeDocument/2006/relationships/notesSlide" Target="/ppt/notesSlides/notesSlide9.xml" Id="R43f4b4b035cc40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7b85bdf0440c1" /><Relationship Type="http://schemas.openxmlformats.org/officeDocument/2006/relationships/notesSlide" Target="/ppt/notesSlides/notesSlide10.xml" Id="Ra10a8252612547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08b706f3047f0" /><Relationship Type="http://schemas.openxmlformats.org/officeDocument/2006/relationships/notesSlide" Target="/ppt/notesSlides/notesSlide11.xml" Id="R66df98cc81f847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401aadd19402d" /><Relationship Type="http://schemas.openxmlformats.org/officeDocument/2006/relationships/notesSlide" Target="/ppt/notesSlides/notesSlide12.xml" Id="R2acad0838d1343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93a2a48954819" /><Relationship Type="http://schemas.openxmlformats.org/officeDocument/2006/relationships/notesSlide" Target="/ppt/notesSlides/notesSlide13.xml" Id="R050da56d954e41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ccd27771f4afd" /><Relationship Type="http://schemas.openxmlformats.org/officeDocument/2006/relationships/notesSlide" Target="/ppt/notesSlides/notesSlide14.xml" Id="R34434a6aa4a640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42bb497bd446e" /><Relationship Type="http://schemas.openxmlformats.org/officeDocument/2006/relationships/notesSlide" Target="/ppt/notesSlides/notesSlide15.xml" Id="Ra8eb4f7ecdbb41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e89a228b947ed" /><Relationship Type="http://schemas.openxmlformats.org/officeDocument/2006/relationships/notesSlide" Target="/ppt/notesSlides/notesSlide16.xml" Id="Ra7c02e3135f044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3e90580ac4b50" /><Relationship Type="http://schemas.openxmlformats.org/officeDocument/2006/relationships/notesSlide" Target="/ppt/notesSlides/notesSlide17.xml" Id="R8f25277bcdf2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C7153E2-7EC7-463E-B9C2-076698E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0A45F0-A6DB-49E4-897F-A56A40B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2A83CDD-0429-4EAA-B200-6E2BA8A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489669-22B2-48F7-8095-04FD11FC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Day and Night: Sky Shift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A74341E-1BFD-45C6-80D3-66249AB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55ECD43E-BB60-450F-A17A-29A62A86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that Earth's rotation causes day and night and makes the Sun appear to move across our sky.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3196E96D-1AFA-417D-B1EC-CD39B3EB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8A18C831-F8FC-4D1E-8006-B3DC3BC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fixed Sun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188C25C0-D2EF-4231-AA6D-DAE8B43B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6577124B-70E6-4B6B-AB38-E8948F2E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E7879BDF-FD64-4879-903B-F772F32C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rotating Earth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B75B860A-FDDE-4F26-AC72-AE65470A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C1CEB4AE-B9E3-4EA4-BAA1-EE23B75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C739C74C-DB16-452F-B461-27090D3E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place moving into and out of light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F811ECC2-92F1-4AEF-B61A-8328E3B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C7FABE67-0DCC-4ACF-A2AD-E8FEB373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3e01c6759b784415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146DD2C4-EB15-412C-B5CC-C0020005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9A691334-DFE3-4AF6-8E8B-0235C28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733505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437EADE-8A57-4D07-AD04-C8D26FB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33D50DA-F3AB-4D44-A3A9-4810B55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9E90558-8AFF-4DDB-B457-F3CE5EC8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A67D34-992A-4995-8D74-5BA5557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DE8D027-1355-4FA5-A422-727DEF9C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D6BB06-A158-406C-9BF0-79515AC9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Identify the lit side of Earth as day and the unlit side as night.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C7DE1F2-06B7-405F-AD4C-3B66C308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Sequence one place on Earth through a full rotation.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04D406B-5989-486E-8D8A-AE0F9885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rotate and apparent to explain what an observer sees.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49A37EF-F07D-4044-B7A6-C059B532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B9862F4-3759-4D67-BC1C-EA37D804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401456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8B00887-5577-4F47-BFDF-843B49D4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4B011E0-A458-455E-87E1-5E74682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A84D23-37FB-42F0-8905-00B7A31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16A0F2-11FD-4F4D-9FD5-E3A455E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96E5BEC-5C06-48E6-9B66-A922C366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EC3DC8-E64C-457D-B537-E9F9ACA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can the Moon look different even though it stays spherical?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1C90A06-1E65-4253-B50D-B03743A4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state one way Earth moves in space.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E68E73A-068F-4B6F-A481-52BD9FA7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Older learning: why should one factor change at a time in a fair comparison?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8FBF6C9-4AC3-4022-987A-25E622A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might cause one place to move from day into night?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D82436D-783B-4385-A39A-E58F06E2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BA633AD-0756-4F75-B30A-F25820B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839605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260BF6-9624-43AE-B3D1-2522CE6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D8D8229-2757-42E8-9460-F1D81AF1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5B86D86-9236-4DAF-BE12-C8903D1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D514EE-3EE8-47FE-9CE1-704DF63F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At sunset, what do you predict is really moving? Commit to a first idea; it is not marked.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AB4A99-432B-41D0-B9A5-0C5B5F7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9FEC86-F815-43F1-BD72-B27D065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CD37AE4-7255-475F-A8FF-A6FEB5A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Sun travels around Earth once each day.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518F028-04DC-47A0-B00A-F0DCD245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Earth turns while the Sun stays in the model's fixed position.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E451563-E813-4FF1-8EA5-88FD73E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Clouds carry daylight away.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C0DB44A-F796-47A8-AF2B-5738A0A5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AF4FC89-A1A2-4A1A-8B85-0B5C15D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892232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753F9AC-9B54-4D3F-88EC-584ED370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65663E-5817-4FE5-B346-E0782D8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00BC71A-259C-4EAF-B1A9-959C103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7CBBA9-0EE7-448C-B71E-814A0C1D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6A985E-A540-4347-874D-78C59D33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78BB866-89C8-4CA1-8F0C-F0BA4FD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1: the marked place is beside the light-dark boundary.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74F336C-FD3D-4694-AFC0-82A0112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2: the same place is near the centre of the lit half.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2FB1A37-12E0-4AEB-A85F-01EE23E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3: the lamp is still on and the same place is on the unlit half.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D56D8D7-AF03-4CA4-AB17-EF665AC3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393462A-7B3D-43B3-9CD3-5EAB51A7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019505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8037944-1981-4DE3-A516-6EB09C5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0D2A7C-CA96-4E1A-B6E9-8679BE4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5761A45-6D82-4ED7-87FD-3B7E3D33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471AF9-E7E3-4D53-B97D-A1478C8E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2B0BF37-CDF8-4506-B098-8C2B259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45001f4ad48ab"/>
          <a:stretch xmlns:a="http://schemas.openxmlformats.org/drawingml/2006/main"/>
        </p:blipFill>
        <p:spPr>
          <a:xfrm xmlns:a="http://schemas.openxmlformats.org/drawingml/2006/main">
            <a:off x="8001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938EE15B-AE50-4D5B-8B16-899416ED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Earth beside a lamp; the marked place is at the edge of the lit half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68aed7b194ced"/>
          <a:stretch xmlns:a="http://schemas.openxmlformats.org/drawingml/2006/main"/>
        </p:blipFill>
        <p:spPr>
          <a:xfrm xmlns:a="http://schemas.openxmlformats.org/drawingml/2006/main">
            <a:off x="44069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80016406-DE29-4833-B105-32072C1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marked place is facing the lamp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be35d382047c5"/>
          <a:stretch xmlns:a="http://schemas.openxmlformats.org/drawingml/2006/main"/>
        </p:blipFill>
        <p:spPr>
          <a:xfrm xmlns:a="http://schemas.openxmlformats.org/drawingml/2006/main">
            <a:off x="80137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8C7B4A9D-F8A4-485F-8846-674F92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marked place is on the dark half; the lamp is still on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44D518E8-AF64-4C79-9A1B-4AA88D15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C3E22F83-5C64-40E5-A6C9-BB14C40A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276234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8871E5F-25A8-46B0-9831-7D0343A8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DC23F2-F1AB-4DAB-BC59-43AFE8C4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96FE947-3473-4990-A7F1-0DDA5CB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2533E3-72C4-429D-9122-A787E36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565A412-7266-40FD-9552-AD8EF64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FB23D07-5D29-420C-BD89-7D1CC966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rotate — turn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C2B1D71-1E33-4921-8525-B69DB0A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axis — turning line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DC682C9-8136-4614-A98F-770B77B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apparent — seems to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9060FA3-3BD3-45F6-B6B4-2CF573F1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ACD6970-B746-4849-8870-61AEBC0B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039912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E0303D0-F06B-47F9-8F3A-436537A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FDCE1D2-223E-476D-B94C-0AAFA4AE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D788B00-E678-41DE-BDD9-4896EC7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76224E-6AE0-4B2E-8B38-7711CED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2DE35FE-32DE-4272-8FB2-BE8A0F23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0D12EB3-EBED-451A-B40B-16AC5511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Fix a cool lamp as the Sun. Put one visible marker on a globe as our place.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DAF609E-ED77-4D04-94D5-D565D45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Notice that only the half facing the lamp is lit. Label that half day and the other half night.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877AD4F-6F84-41BA-98B5-829D806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the globe west to east on its axis. Track the marker as it enters and leaves the light.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2A7DECD-C2DE-4E99-A290-9BCD86D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31799AF-48D4-47ED-B9CD-77731778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58147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E72FAF1-708A-4B70-A707-8AAD0BF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66DBDCB-9A00-46FE-96E2-72A675B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601901A-2CF2-42CB-8236-46D0434C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247E23-00DB-4F9D-9AA2-6FA05575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E4592A-5199-4E21-9BED-786CB812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a8abaf8d4a22"/>
          <a:stretch xmlns:a="http://schemas.openxmlformats.org/drawingml/2006/main"/>
        </p:blipFill>
        <p:spPr>
          <a:xfrm xmlns:a="http://schemas.openxmlformats.org/drawingml/2006/main">
            <a:off x="2550102" y="2181225"/>
            <a:ext cx="709179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72F9342-53FB-4922-BB58-84E4DE4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Rotating Earth model with a lamp as the Sun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CCB3895-286D-4EA5-8093-B9584E68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4B4F9175-79A2-438A-A7F9-A11783E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2057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F594B6E-C54B-4AAC-B9F1-AE1EBC20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92902F-8B68-4A89-9637-57CBB1C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3633174-70D6-41DA-9F4B-BD91657A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CBCBDB-1FA1-4DC6-8A4B-6E9DDC4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marked place is on the dark side and rotates towards the lamp. What comes next there?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88D1CB3-B72E-4007-ADCE-C91A18E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7013BFA-D425-482D-A574-CD5245B6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Morning, because the place is entering the lit half.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EFE8489-EFC8-4E78-9265-64E2F537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Night, because the lamp has switched off.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561AB4D-CF8D-425E-AA0E-B5E7D75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 season, because one turn takes a year.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105CECD-CE37-42AC-BF8A-D5D191F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37C98F5-0F91-4C9C-A886-E9EA064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1D11B70-3694-4A8F-B3D4-212E607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3312521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5A2CE16-4F12-4FAA-9159-545777F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08BD952-E406-463D-9D9C-D5B0FC5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7C72A0-AB98-4C8F-A32D-2CADC022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1B9313-11ED-4FF8-8B09-D09F58C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A31D28A-36CB-45BA-A967-8F91F64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98A0B65-5D86-43A9-9E98-303AC58E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 at the marked place in the model and describe the lamp's position from that viewpoint.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D5E85D6-A589-4165-9903-14DDC4E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As Earth rotates west to east, the observer turns with it. The Sun therefore appears to move east to west: it seems to rise, cross the sky and set.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B76439-EC51-40A2-9924-42AF09C0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Say the full link: Earth rotates west to east, so day and night repeat and the Sun's east-to-west daily movement is apparent.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3C2B95A-2B46-47C4-B230-A7F57BC8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A988FC5-F499-4110-A989-FD565500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524813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99D6E50-96AF-4808-B448-8F96F89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A0ADE76-D449-459E-A00E-F6F831F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77D58D-7ECA-4FC2-ADF9-16046BF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0CC61C-2A99-4C24-B9AF-99E8661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8F1D317-EF21-44FC-A75D-CA3EB9D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467F2EF-37C5-4A4D-88C7-6595D039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Model glitch: the Sun travels around Earth once every day.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B25FB25-6458-484B-95D2-D7F655D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 daily Sun orbit explains sunrise.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267CE3E-C498-40AA-ACB0-1798B6D8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Earth rotates, so the Sun only appears to cross our sky.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2D3C14E-8228-42C1-9FEC-91BCAAB0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clouds move the Sun from east to west.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62FBA7C-1AAC-48CA-B2C1-E21BFF8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3273F13-F075-4AAB-9A03-FAD3A96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110222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30449BA-40F4-4A48-B4E7-04766EDC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334562F-30D4-4DD0-B654-F3B1389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BF7EE34-3CA8-42FB-9DDF-B260BB51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8540CF-8F12-4180-AE80-A21A6352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Four-position sky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FFF5D38-E5A1-4AF7-B74B-884D3EA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F8B68E9-33E0-4164-81CE-8232C4F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Match each observation at the marked place to its position in one rotation.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A88AA8A-2C54-4205-BA09-4A184F49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evidence card.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2890F5D-02AB-4175-A887-9802AA8D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one sky position.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03DAA66-4F54-4598-BE33-9AC97FA8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the feedback to repair any mismatch.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6DA31999-8772-459A-B1B3-EAB695F8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at least two results, then explain the pattern.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A2316D7B-B08C-413A-B93D-F248A2E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40258FE-AD7C-4B14-87E7-225075C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C0D4F1E-33EA-40E2-ABEA-DD97EAEC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90304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24713E5A-875E-465A-963D-B6D0B69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F09B045-31D5-4F99-AE86-64F2FDD1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1C025A-51FE-4AA9-931A-71DCCBFA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07560D-50D8-44F1-8FA8-75E279E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99F7EB-9C1E-4959-B3B0-9285090A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A0AA49C-43EC-46FE-ADF8-7078377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Sunrise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5C15777-7AA3-44F2-A99E-D6A3C4A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Middle of the day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86E2C29-8151-4583-8216-1F670C8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Sunset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2F3C758-CA22-488A-BB78-208CDB54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Night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33E65DD-4F81-4F02-8396-6EAB737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frozen evidence to say what moved, what stayed fixed and why the Sun appeared to move.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D91B182-021F-49FC-8EED-9CFE6C8C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8CBCD01E-0887-400E-9A30-51A5FE5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76875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FCF9246-4728-40FB-B58A-C7AE435D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58F0DD-E51D-4729-A1A5-931C034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4768E49-EBA0-4111-A7F9-5B0D58FC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62B717-E8E3-4E18-840B-1680ED1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3839756-C985-4FF4-870F-E233881C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AA8C6DE-5102-4B68-9F32-D120FA6D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a four-position explanation of day, night and the Sun's apparent movement for one marked place.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91B7133-EAA0-4AE3-95E2-89544CA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One saved or paper sequence with four positions, rotation arrows and a because sentence using apparent.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9CA4D64-7401-4A58-A6ED-119737E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416BB27A-A936-4F96-8DAF-3AA5BAB5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638567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4B01D6F-24DD-4FF6-8E7A-43E6B88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3BDC3D8-5816-4193-92AD-9F592E2F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03E898E-EBC5-4137-B367-792C390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270B54-97E4-49BD-959F-475E5D78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8D33724-BFC9-4FF4-AE4E-6F975946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FAE8E67-6C87-4995-BC7F-DC960B5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Order four picture cards and complete: When our place faces the Sun it is __. When it faces away it is __.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33E80AF-2ED8-4197-B9E4-C9027BD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Draw and label four positions in one rotation, then explain day, night, sunrise and sunset.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DB1AA88-85A5-43EA-925D-1F3B304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Explain the same four positions to someone who thinks the Sun orbits Earth each day.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D85EA10-A70C-4B1B-858B-0189745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C0E5080-C283-4190-9281-3195120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6673139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BF02BC9-F40D-425B-A822-C94B68D0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5E5221B-F7C1-4F03-909A-1B0AFC5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EE8FCF1-B5E2-47CD-BF74-F6CE4B00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241D06-CCF9-417C-B341-5AF6A4A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F2F74BF-8566-4839-A014-7F0E815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049A21-61E6-4FC6-870F-E02B742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why day and night happen and why the Sun appears to move across our sky.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0EB306F-0716-4A98-876A-519BFFE2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53DAAE9-9A81-46DB-A046-89848EC9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FA41F01-C293-41A9-BBF1-16633F4B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459098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2026-09-08T08:54:20.8860000Z</dcterms:created>
  <dcterms:modified xsi:type="dcterms:W3CDTF">2026-09-08T08:54:20.8860000Z</dcterms:modified>
</coreProperties>
</file>