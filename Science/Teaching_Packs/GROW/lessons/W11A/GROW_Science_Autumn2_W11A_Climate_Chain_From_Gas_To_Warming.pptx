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3040c4aa774f7a" /><Relationship Type="http://schemas.openxmlformats.org/officeDocument/2006/relationships/extended-properties" Target="/docProps/app.xml" Id="R80a365bd3da74240" /><Relationship Type="http://schemas.openxmlformats.org/officeDocument/2006/relationships/officeDocument" Target="/ppt/presentation.xml" Id="R41f3ae2829f748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47c2b9a3e04c97"/>
  </p:sldMasterIdLst>
  <p:notesMasterIdLst>
    <p:notesMasterId xmlns:r="http://schemas.openxmlformats.org/officeDocument/2006/relationships" r:id="R894db1b8656a4659"/>
  </p:notesMasterIdLst>
  <p:sldIdLst>
    <p:sldId xmlns:r="http://schemas.openxmlformats.org/officeDocument/2006/relationships" id="256" r:id="R0925346f733f48fe"/>
    <p:sldId xmlns:r="http://schemas.openxmlformats.org/officeDocument/2006/relationships" id="257" r:id="Rf756fd569c27458a"/>
    <p:sldId xmlns:r="http://schemas.openxmlformats.org/officeDocument/2006/relationships" id="258" r:id="R5604ba6461ea4c42"/>
    <p:sldId xmlns:r="http://schemas.openxmlformats.org/officeDocument/2006/relationships" id="259" r:id="R3967caa82f5c47ca"/>
    <p:sldId xmlns:r="http://schemas.openxmlformats.org/officeDocument/2006/relationships" id="260" r:id="R32e7d0ae60124935"/>
    <p:sldId xmlns:r="http://schemas.openxmlformats.org/officeDocument/2006/relationships" id="261" r:id="Rf992ea5f33294621"/>
    <p:sldId xmlns:r="http://schemas.openxmlformats.org/officeDocument/2006/relationships" id="262" r:id="Rbb910b32f48a42d6"/>
    <p:sldId xmlns:r="http://schemas.openxmlformats.org/officeDocument/2006/relationships" id="263" r:id="R1e1c5a77d8b2483c"/>
    <p:sldId xmlns:r="http://schemas.openxmlformats.org/officeDocument/2006/relationships" id="264" r:id="R4355f6bc564b4e04"/>
    <p:sldId xmlns:r="http://schemas.openxmlformats.org/officeDocument/2006/relationships" id="265" r:id="R4e06eabe4a074d06"/>
    <p:sldId xmlns:r="http://schemas.openxmlformats.org/officeDocument/2006/relationships" id="266" r:id="R1811476dfe9846ff"/>
    <p:sldId xmlns:r="http://schemas.openxmlformats.org/officeDocument/2006/relationships" id="267" r:id="R543c6457c43c4358"/>
    <p:sldId xmlns:r="http://schemas.openxmlformats.org/officeDocument/2006/relationships" id="268" r:id="Rb3fb7cf6788e46bf"/>
    <p:sldId xmlns:r="http://schemas.openxmlformats.org/officeDocument/2006/relationships" id="269" r:id="Rd26139d8aac44a06"/>
    <p:sldId xmlns:r="http://schemas.openxmlformats.org/officeDocument/2006/relationships" id="270" r:id="Rfc87b84a90ad45f8"/>
    <p:sldId xmlns:r="http://schemas.openxmlformats.org/officeDocument/2006/relationships" id="271" r:id="R834a7c7bb46d426d"/>
    <p:sldId xmlns:r="http://schemas.openxmlformats.org/officeDocument/2006/relationships" id="272" r:id="Rf8eec888eb664eca"/>
    <p:sldId xmlns:r="http://schemas.openxmlformats.org/officeDocument/2006/relationships" id="273" r:id="R5833cf97b8ef4c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fbd05e438c48c1" /><Relationship Type="http://schemas.openxmlformats.org/officeDocument/2006/relationships/slideMaster" Target="/ppt/slideMasters/slideMaster1.xml" Id="R0447c2b9a3e04c97" /><Relationship Type="http://schemas.openxmlformats.org/officeDocument/2006/relationships/notesMaster" Target="/ppt/notesMasters/notesMaster1.xml" Id="R894db1b8656a4659" /><Relationship Type="http://schemas.openxmlformats.org/officeDocument/2006/relationships/presProps" Target="/ppt/presProps.xml" Id="Rce538af1c23846f8" /><Relationship Type="http://schemas.openxmlformats.org/officeDocument/2006/relationships/tableStyles" Target="/ppt/tableStyles.xml" Id="R226bc830cb81444e" /><Relationship Type="http://schemas.openxmlformats.org/officeDocument/2006/relationships/slide" Target="/ppt/slides/slide1.xml" Id="R0925346f733f48fe" /><Relationship Type="http://schemas.openxmlformats.org/officeDocument/2006/relationships/slide" Target="/ppt/slides/slide2.xml" Id="Rf756fd569c27458a" /><Relationship Type="http://schemas.openxmlformats.org/officeDocument/2006/relationships/slide" Target="/ppt/slides/slide3.xml" Id="R5604ba6461ea4c42" /><Relationship Type="http://schemas.openxmlformats.org/officeDocument/2006/relationships/slide" Target="/ppt/slides/slide4.xml" Id="R3967caa82f5c47ca" /><Relationship Type="http://schemas.openxmlformats.org/officeDocument/2006/relationships/slide" Target="/ppt/slides/slide5.xml" Id="R32e7d0ae60124935" /><Relationship Type="http://schemas.openxmlformats.org/officeDocument/2006/relationships/slide" Target="/ppt/slides/slide6.xml" Id="Rf992ea5f33294621" /><Relationship Type="http://schemas.openxmlformats.org/officeDocument/2006/relationships/slide" Target="/ppt/slides/slide7.xml" Id="Rbb910b32f48a42d6" /><Relationship Type="http://schemas.openxmlformats.org/officeDocument/2006/relationships/slide" Target="/ppt/slides/slide8.xml" Id="R1e1c5a77d8b2483c" /><Relationship Type="http://schemas.openxmlformats.org/officeDocument/2006/relationships/slide" Target="/ppt/slides/slide9.xml" Id="R4355f6bc564b4e04" /><Relationship Type="http://schemas.openxmlformats.org/officeDocument/2006/relationships/slide" Target="/ppt/slides/slide10.xml" Id="R4e06eabe4a074d06" /><Relationship Type="http://schemas.openxmlformats.org/officeDocument/2006/relationships/slide" Target="/ppt/slides/slide11.xml" Id="R1811476dfe9846ff" /><Relationship Type="http://schemas.openxmlformats.org/officeDocument/2006/relationships/slide" Target="/ppt/slides/slide12.xml" Id="R543c6457c43c4358" /><Relationship Type="http://schemas.openxmlformats.org/officeDocument/2006/relationships/slide" Target="/ppt/slides/slide13.xml" Id="Rb3fb7cf6788e46bf" /><Relationship Type="http://schemas.openxmlformats.org/officeDocument/2006/relationships/slide" Target="/ppt/slides/slide14.xml" Id="Rd26139d8aac44a06" /><Relationship Type="http://schemas.openxmlformats.org/officeDocument/2006/relationships/slide" Target="/ppt/slides/slide15.xml" Id="Rfc87b84a90ad45f8" /><Relationship Type="http://schemas.openxmlformats.org/officeDocument/2006/relationships/slide" Target="/ppt/slides/slide16.xml" Id="R834a7c7bb46d426d" /><Relationship Type="http://schemas.openxmlformats.org/officeDocument/2006/relationships/slide" Target="/ppt/slides/slide17.xml" Id="Rf8eec888eb664eca" /><Relationship Type="http://schemas.openxmlformats.org/officeDocument/2006/relationships/slide" Target="/ppt/slides/slide18.xml" Id="R5833cf97b8ef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f7aa7c9ed445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70acc3206d4a28" /><Relationship Type="http://schemas.openxmlformats.org/officeDocument/2006/relationships/notesMaster" Target="/ppt/notesMasters/notesMaster1.xml" Id="R644421de1ff840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ba512ad9a64bab" /><Relationship Type="http://schemas.openxmlformats.org/officeDocument/2006/relationships/notesMaster" Target="/ppt/notesMasters/notesMaster1.xml" Id="R5b51aa513bc249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4f021f0d5d453a" /><Relationship Type="http://schemas.openxmlformats.org/officeDocument/2006/relationships/notesMaster" Target="/ppt/notesMasters/notesMaster1.xml" Id="R67ab586b6d974d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6c530955254eeb" /><Relationship Type="http://schemas.openxmlformats.org/officeDocument/2006/relationships/notesMaster" Target="/ppt/notesMasters/notesMaster1.xml" Id="R1043c0ae8e294e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16714db1e146a6" /><Relationship Type="http://schemas.openxmlformats.org/officeDocument/2006/relationships/notesMaster" Target="/ppt/notesMasters/notesMaster1.xml" Id="Ra141a3700b5e46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f22068c19b42dd" /><Relationship Type="http://schemas.openxmlformats.org/officeDocument/2006/relationships/notesMaster" Target="/ppt/notesMasters/notesMaster1.xml" Id="Rdc856521b5084d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39358e27d54af3" /><Relationship Type="http://schemas.openxmlformats.org/officeDocument/2006/relationships/notesMaster" Target="/ppt/notesMasters/notesMaster1.xml" Id="R107b4560ee474b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6f67b19572454e" /><Relationship Type="http://schemas.openxmlformats.org/officeDocument/2006/relationships/notesMaster" Target="/ppt/notesMasters/notesMaster1.xml" Id="Ref6aa58a14fd42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87b4417a8442d3" /><Relationship Type="http://schemas.openxmlformats.org/officeDocument/2006/relationships/notesMaster" Target="/ppt/notesMasters/notesMaster1.xml" Id="R07426784d2e240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18b6126f22491e" /><Relationship Type="http://schemas.openxmlformats.org/officeDocument/2006/relationships/notesMaster" Target="/ppt/notesMasters/notesMaster1.xml" Id="R9e9260e320d94e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3a5e66c9dc4cba" /><Relationship Type="http://schemas.openxmlformats.org/officeDocument/2006/relationships/notesMaster" Target="/ppt/notesMasters/notesMaster1.xml" Id="R48360cb0db7a4a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e4da9652714bed" /><Relationship Type="http://schemas.openxmlformats.org/officeDocument/2006/relationships/notesMaster" Target="/ppt/notesMasters/notesMaster1.xml" Id="Rb0d0d148c8054a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8c8c0c4ce24131" /><Relationship Type="http://schemas.openxmlformats.org/officeDocument/2006/relationships/notesMaster" Target="/ppt/notesMasters/notesMaster1.xml" Id="R773af166266e4c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825357fd204a17" /><Relationship Type="http://schemas.openxmlformats.org/officeDocument/2006/relationships/notesMaster" Target="/ppt/notesMasters/notesMaster1.xml" Id="R6db4a9247f5144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99d77d31164d6f" /><Relationship Type="http://schemas.openxmlformats.org/officeDocument/2006/relationships/notesMaster" Target="/ppt/notesMasters/notesMaster1.xml" Id="R017f2b40921f43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094fcf39e54317" /><Relationship Type="http://schemas.openxmlformats.org/officeDocument/2006/relationships/notesMaster" Target="/ppt/notesMasters/notesMaster1.xml" Id="R407655f6f11843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9a947a4daf4ff4" /><Relationship Type="http://schemas.openxmlformats.org/officeDocument/2006/relationships/notesMaster" Target="/ppt/notesMasters/notesMaster1.xml" Id="R825865f221744d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f28c5798e74a2c" /><Relationship Type="http://schemas.openxmlformats.org/officeDocument/2006/relationships/notesMaster" Target="/ppt/notesMasters/notesMaster1.xml" Id="Rff01ebc638db44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11A · Explore</a:t>
            </a:r>
          </a:p>
          <a:p xmlns:a="http://schemas.openxmlformats.org/drawingml/2006/main">
            <a:r>
              <a:t>Learning objective: I can explain how extra greenhouse gases raise Earth's average temperature and connect warming to wider climate effects.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distinguish weather from climate.</a:t>
            </a:r>
          </a:p>
          <a:p xmlns:a="http://schemas.openxmlformats.org/drawingml/2006/main">
            <a:r>
              <a:t>I can order the enhanced-greenhouse causal chain.</a:t>
            </a:r>
          </a:p>
          <a:p xmlns:a="http://schemas.openxmlformats.org/drawingml/2006/main">
            <a:r>
              <a:t>I can connect warming to one likely effect and name a model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11A · Explore</a:t>
            </a:r>
          </a:p>
          <a:p xmlns:a="http://schemas.openxmlformats.org/drawingml/2006/main">
            <a:r>
              <a:t>Learning objective: I can explain how extra greenhouse gases raise Earth's average temperature and connect warming to wider climate effects.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distinguish weather from climate.</a:t>
            </a:r>
          </a:p>
          <a:p xmlns:a="http://schemas.openxmlformats.org/drawingml/2006/main">
            <a:r>
              <a:t>I can order the enhanced-greenhouse causal chain.</a:t>
            </a:r>
          </a:p>
          <a:p xmlns:a="http://schemas.openxmlformats.org/drawingml/2006/main">
            <a:r>
              <a:t>I can connect warming to one likely effect and name a model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W10: useful evidence must answer the exact question.</a:t>
            </a:r>
          </a:p>
          <a:p xmlns:a="http://schemas.openxmlformats.org/drawingml/2006/main">
            <a:r>
              <a:t>W8: sunlight reaches one half of Earth at a time.</a:t>
            </a:r>
          </a:p>
          <a:p xmlns:a="http://schemas.openxmlformats.org/drawingml/2006/main">
            <a:r>
              <a:t>W5: a pattern is stronger when measurements are repeated.</a:t>
            </a:r>
          </a:p>
          <a:p xmlns:a="http://schemas.openxmlformats.org/drawingml/2006/main">
            <a:r>
              <a:t>Lead-in: a cold day is weather; what evidence would describe climate?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one difference between weather and climate.</a:t>
            </a:r>
          </a:p>
          <a:p xmlns:a="http://schemas.openxmlformats.org/drawingml/2006/main">
            <a:r>
              <a:t>Recall why repeated measurements are useful.</a:t>
            </a:r>
          </a:p>
          <a:p xmlns:a="http://schemas.openxmlformats.org/drawingml/2006/main">
            <a:r>
              <a:t>Name one source of energy that warms Earth's surface.</a:t>
            </a:r>
          </a:p>
          <a:p xmlns:a="http://schemas.openxmlformats.org/drawingml/2006/main">
            <a:r>
              <a:t>Explain why one cold day cannot describe a long-term pattern.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WEATHER · what happens now</a:t>
            </a:r>
          </a:p>
          <a:p xmlns:a="http://schemas.openxmlformats.org/drawingml/2006/main">
            <a:r>
              <a:t>Weather is today. Climate is the average over decades.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ENERGY · in, out, and re-emitted</a:t>
            </a:r>
          </a:p>
          <a:p xmlns:a="http://schemas.openxmlformats.org/drawingml/2006/main">
            <a:r>
              <a:t>Sunlight in. Infrared out. Gases absorb some and send it back: Earth is warm enough for life.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EXTRA gases · a stronger effect</a:t>
            </a:r>
          </a:p>
          <a:p xmlns:a="http://schemas.openxmlformats.org/drawingml/2006/main">
            <a:r>
              <a:t>More CO₂ and methane absorb more outgoing infrared. The average rises. Not a lid — a thicker blanket.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Today's temperature at one place</a:t>
            </a:r>
          </a:p>
          <a:p xmlns:a="http://schemas.openxmlformats.org/drawingml/2006/main">
            <a:r>
              <a:t>A long record of averages from many places</a:t>
            </a:r>
          </a:p>
          <a:p xmlns:a="http://schemas.openxmlformats.org/drawingml/2006/main">
            <a:r>
              <a:t>One photograph of snow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WEATHER · what happens now</a:t>
            </a:r>
          </a:p>
          <a:p xmlns:a="http://schemas.openxmlformats.org/drawingml/2006/main">
            <a:r>
              <a:t>Weather is today. Climate is the average over decades.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ENERGY · in, out, and re-emitted</a:t>
            </a:r>
          </a:p>
          <a:p xmlns:a="http://schemas.openxmlformats.org/drawingml/2006/main">
            <a:r>
              <a:t>Sunlight in. Infrared out. Gases absorb some and send it back: Earth is warm enough for life.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EXTRA gases · a stronger effect</a:t>
            </a:r>
          </a:p>
          <a:p xmlns:a="http://schemas.openxmlformats.org/drawingml/2006/main">
            <a:r>
              <a:t>More CO₂ and methane absorb more outgoing infrared. The average rises. Not a lid — a thicker blanket.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Today's temperature at one place</a:t>
            </a:r>
          </a:p>
          <a:p xmlns:a="http://schemas.openxmlformats.org/drawingml/2006/main">
            <a:r>
              <a:t>A long record of averages from many places</a:t>
            </a:r>
          </a:p>
          <a:p xmlns:a="http://schemas.openxmlformats.org/drawingml/2006/main">
            <a:r>
              <a:t>One photograph of snow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WEATHER · what happens now</a:t>
            </a:r>
          </a:p>
          <a:p xmlns:a="http://schemas.openxmlformats.org/drawingml/2006/main">
            <a:r>
              <a:t>Weather is today. Climate is the average over decades.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ENERGY · in, out, and re-emitted</a:t>
            </a:r>
          </a:p>
          <a:p xmlns:a="http://schemas.openxmlformats.org/drawingml/2006/main">
            <a:r>
              <a:t>Sunlight in. Infrared out. Gases absorb some and send it back: Earth is warm enough for life.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EXTRA gases · a stronger effect</a:t>
            </a:r>
          </a:p>
          <a:p xmlns:a="http://schemas.openxmlformats.org/drawingml/2006/main">
            <a:r>
              <a:t>More CO₂ and methane absorb more outgoing infrared. The average rises. Not a lid — a thicker blanket.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Today's temperature at one place</a:t>
            </a:r>
          </a:p>
          <a:p xmlns:a="http://schemas.openxmlformats.org/drawingml/2006/main">
            <a:r>
              <a:t>A long record of averages from many places</a:t>
            </a:r>
          </a:p>
          <a:p xmlns:a="http://schemas.openxmlformats.org/drawingml/2006/main">
            <a:r>
              <a:t>One photograph of snow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CLIMATE weather pattern over time the usual weather pattern over many years</a:t>
            </a:r>
          </a:p>
          <a:p xmlns:a="http://schemas.openxmlformats.org/drawingml/2006/main">
            <a:r>
              <a:t>GREENHOUSE GAS gas that affects heat flow a gas that absorbs and re-emits infrared energy</a:t>
            </a:r>
          </a:p>
          <a:p xmlns:a="http://schemas.openxmlformats.org/drawingml/2006/main">
            <a:r>
              <a:t>AVERAGE one value for a set one value used to describe a group of measurements</a:t>
            </a:r>
          </a:p>
          <a:p xmlns:a="http://schemas.openxmlformats.org/drawingml/2006/main">
            <a:r>
              <a:t>Energy-arrow model · natural and enhanced greenhouse effects</a:t>
            </a:r>
          </a:p>
          <a:p xmlns:a="http://schemas.openxmlformats.org/drawingml/2006/main">
            <a:r>
              <a:t>Natural effect · useful warming</a:t>
            </a:r>
          </a:p>
          <a:p xmlns:a="http://schemas.openxmlformats.org/drawingml/2006/main">
            <a:r>
              <a:t>Sunlight ↓ Surface warms ↑ Infrared leaves ↘ Some is re-emitted towards the surface</a:t>
            </a:r>
          </a:p>
          <a:p xmlns:a="http://schemas.openxmlformats.org/drawingml/2006/main">
            <a:r>
              <a:t>Enough natural warming for life; energy still leaves to space.</a:t>
            </a:r>
          </a:p>
          <a:p xmlns:a="http://schemas.openxmlformats.org/drawingml/2006/main">
            <a:r>
              <a:t>Extra greenhouse gases · enhanced effect</a:t>
            </a:r>
          </a:p>
          <a:p xmlns:a="http://schemas.openxmlformats.org/drawingml/2006/main">
            <a:r>
              <a:t>Sunlight ↓ Surface gives out infrared ↑ More is absorbed ↘ Some is re-emitted towards the surface</a:t>
            </a:r>
          </a:p>
          <a:p xmlns:a="http://schemas.openxmlformats.org/drawingml/2006/main">
            <a:r>
              <a:t>Net energy loss slows → the global average temperature rises.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step-by-step energy route makes invisible transfers visible and separates the useful natural greenhouse effect from the enhanced effect caused by extra gases.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Sunlight passes through the atmosphere and transfers energy to Earth's surface.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The warm surface gives out infrared energy. Naturally occurring greenhouse gases absorb and re-emit some of it; this natural effect keeps Earth warm enough for life.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Extra carbon dioxide and methane enhance the effect: more outgoing infrared is absorbed and some is re-emitted towards the surface, slowing net energy loss until the global average temperature rises.</a:t>
            </a:r>
          </a:p>
          <a:p xmlns:a="http://schemas.openxmlformats.org/drawingml/2006/main">
            <a:r>
              <a:t>Energy balance model · add greenhouse gas</a:t>
            </a:r>
          </a:p>
          <a:p xmlns:a="http://schemas.openxmlformats.org/drawingml/2006/main">
            <a:r>
              <a:t>Press the buttons and watch the outgoing infrared. Nothing changes about the Sun.</a:t>
            </a:r>
          </a:p>
          <a:p xmlns:a="http://schemas.openxmlformats.org/drawingml/2006/main">
            <a:r>
              <a:t>natural gases</a:t>
            </a:r>
          </a:p>
          <a:p xmlns:a="http://schemas.openxmlformats.org/drawingml/2006/main">
            <a:r>
              <a:t>＋ extra CO₂ &amp; methane</a:t>
            </a:r>
          </a:p>
          <a:p xmlns:a="http://schemas.openxmlformats.org/drawingml/2006/main">
            <a:r>
              <a:t>Natural greenhouse effect: some infrared is absorbed and re-emitted. Without it Earth would average about −18 °C.</a:t>
            </a:r>
          </a:p>
          <a:p xmlns:a="http://schemas.openxmlformats.org/drawingml/2006/main">
            <a:r>
              <a:t>“It’s a solid lid that traps all the heat”</a:t>
            </a:r>
          </a:p>
          <a:p xmlns:a="http://schemas.openxmlformats.org/drawingml/2006/main">
            <a:r>
              <a:t>“Every single day gets hotter”</a:t>
            </a:r>
          </a:p>
          <a:p xmlns:a="http://schemas.openxmlformats.org/drawingml/2006/main">
            <a:r>
              <a:t>“The average rises; extremes become more likely”</a:t>
            </a:r>
          </a:p>
          <a:p xmlns:a="http://schemas.openxmlformats.org/drawingml/2006/main">
            <a:r>
              <a:t>Which statement is the science?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CLIMATE weather pattern over time the usual weather pattern over many years</a:t>
            </a:r>
          </a:p>
          <a:p xmlns:a="http://schemas.openxmlformats.org/drawingml/2006/main">
            <a:r>
              <a:t>GREENHOUSE GAS gas that affects heat flow a gas that absorbs and re-emits infrared energy</a:t>
            </a:r>
          </a:p>
          <a:p xmlns:a="http://schemas.openxmlformats.org/drawingml/2006/main">
            <a:r>
              <a:t>AVERAGE one value for a set one value used to describe a group of measurements</a:t>
            </a:r>
          </a:p>
          <a:p xmlns:a="http://schemas.openxmlformats.org/drawingml/2006/main">
            <a:r>
              <a:t>Energy-arrow model · natural and enhanced greenhouse effects</a:t>
            </a:r>
          </a:p>
          <a:p xmlns:a="http://schemas.openxmlformats.org/drawingml/2006/main">
            <a:r>
              <a:t>Natural effect · useful warming</a:t>
            </a:r>
          </a:p>
          <a:p xmlns:a="http://schemas.openxmlformats.org/drawingml/2006/main">
            <a:r>
              <a:t>Sunlight ↓ Surface warms ↑ Infrared leaves ↘ Some is re-emitted towards the surface</a:t>
            </a:r>
          </a:p>
          <a:p xmlns:a="http://schemas.openxmlformats.org/drawingml/2006/main">
            <a:r>
              <a:t>Enough natural warming for life; energy still leaves to space.</a:t>
            </a:r>
          </a:p>
          <a:p xmlns:a="http://schemas.openxmlformats.org/drawingml/2006/main">
            <a:r>
              <a:t>Extra greenhouse gases · enhanced effect</a:t>
            </a:r>
          </a:p>
          <a:p xmlns:a="http://schemas.openxmlformats.org/drawingml/2006/main">
            <a:r>
              <a:t>Sunlight ↓ Surface gives out infrared ↑ More is absorbed ↘ Some is re-emitted towards the surface</a:t>
            </a:r>
          </a:p>
          <a:p xmlns:a="http://schemas.openxmlformats.org/drawingml/2006/main">
            <a:r>
              <a:t>Net energy loss slows → the global average temperature rises.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step-by-step energy route makes invisible transfers visible and separates the useful natural greenhouse effect from the enhanced effect caused by extra gases.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Sunlight passes through the atmosphere and transfers energy to Earth's surface.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The warm surface gives out infrared energy. Naturally occurring greenhouse gases absorb and re-emit some of it; this natural effect keeps Earth warm enough for life.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Extra carbon dioxide and methane enhance the effect: more outgoing infrared is absorbed and some is re-emitted towards the surface, slowing net energy loss until the global average temperature rises.</a:t>
            </a:r>
          </a:p>
          <a:p xmlns:a="http://schemas.openxmlformats.org/drawingml/2006/main">
            <a:r>
              <a:t>Energy balance model · add greenhouse gas</a:t>
            </a:r>
          </a:p>
          <a:p xmlns:a="http://schemas.openxmlformats.org/drawingml/2006/main">
            <a:r>
              <a:t>Press the buttons and watch the outgoing infrared. Nothing changes about the Sun.</a:t>
            </a:r>
          </a:p>
          <a:p xmlns:a="http://schemas.openxmlformats.org/drawingml/2006/main">
            <a:r>
              <a:t>natural gases</a:t>
            </a:r>
          </a:p>
          <a:p xmlns:a="http://schemas.openxmlformats.org/drawingml/2006/main">
            <a:r>
              <a:t>＋ extra CO₂ &amp; methane</a:t>
            </a:r>
          </a:p>
          <a:p xmlns:a="http://schemas.openxmlformats.org/drawingml/2006/main">
            <a:r>
              <a:t>Natural greenhouse effect: some infrared is absorbed and re-emitted. Without it Earth would average about −18 °C.</a:t>
            </a:r>
          </a:p>
          <a:p xmlns:a="http://schemas.openxmlformats.org/drawingml/2006/main">
            <a:r>
              <a:t>“It’s a solid lid that traps all the heat”</a:t>
            </a:r>
          </a:p>
          <a:p xmlns:a="http://schemas.openxmlformats.org/drawingml/2006/main">
            <a:r>
              <a:t>“Every single day gets hotter”</a:t>
            </a:r>
          </a:p>
          <a:p xmlns:a="http://schemas.openxmlformats.org/drawingml/2006/main">
            <a:r>
              <a:t>“The average rises; extremes become more likely”</a:t>
            </a:r>
          </a:p>
          <a:p xmlns:a="http://schemas.openxmlformats.org/drawingml/2006/main">
            <a:r>
              <a:t>Which statement is the science?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CLIMATE weather pattern over time the usual weather pattern over many years</a:t>
            </a:r>
          </a:p>
          <a:p xmlns:a="http://schemas.openxmlformats.org/drawingml/2006/main">
            <a:r>
              <a:t>GREENHOUSE GAS gas that affects heat flow a gas that absorbs and re-emits infrared energy</a:t>
            </a:r>
          </a:p>
          <a:p xmlns:a="http://schemas.openxmlformats.org/drawingml/2006/main">
            <a:r>
              <a:t>AVERAGE one value for a set one value used to describe a group of measurements</a:t>
            </a:r>
          </a:p>
          <a:p xmlns:a="http://schemas.openxmlformats.org/drawingml/2006/main">
            <a:r>
              <a:t>Energy-arrow model · natural and enhanced greenhouse effects</a:t>
            </a:r>
          </a:p>
          <a:p xmlns:a="http://schemas.openxmlformats.org/drawingml/2006/main">
            <a:r>
              <a:t>Natural effect · useful warming</a:t>
            </a:r>
          </a:p>
          <a:p xmlns:a="http://schemas.openxmlformats.org/drawingml/2006/main">
            <a:r>
              <a:t>Sunlight ↓ Surface warms ↑ Infrared leaves ↘ Some is re-emitted towards the surface</a:t>
            </a:r>
          </a:p>
          <a:p xmlns:a="http://schemas.openxmlformats.org/drawingml/2006/main">
            <a:r>
              <a:t>Enough natural warming for life; energy still leaves to space.</a:t>
            </a:r>
          </a:p>
          <a:p xmlns:a="http://schemas.openxmlformats.org/drawingml/2006/main">
            <a:r>
              <a:t>Extra greenhouse gases · enhanced effect</a:t>
            </a:r>
          </a:p>
          <a:p xmlns:a="http://schemas.openxmlformats.org/drawingml/2006/main">
            <a:r>
              <a:t>Sunlight ↓ Surface gives out infrared ↑ More is absorbed ↘ Some is re-emitted towards the surface</a:t>
            </a:r>
          </a:p>
          <a:p xmlns:a="http://schemas.openxmlformats.org/drawingml/2006/main">
            <a:r>
              <a:t>Net energy loss slows → the global average temperature rises.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step-by-step energy route makes invisible transfers visible and separates the useful natural greenhouse effect from the enhanced effect caused by extra gases.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Sunlight passes through the atmosphere and transfers energy to Earth's surface.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The warm surface gives out infrared energy. Naturally occurring greenhouse gases absorb and re-emit some of it; this natural effect keeps Earth warm enough for life.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Extra carbon dioxide and methane enhance the effect: more outgoing infrared is absorbed and some is re-emitted towards the surface, slowing net energy loss until the global average temperature rises.</a:t>
            </a:r>
          </a:p>
          <a:p xmlns:a="http://schemas.openxmlformats.org/drawingml/2006/main">
            <a:r>
              <a:t>Energy balance model · add greenhouse gas</a:t>
            </a:r>
          </a:p>
          <a:p xmlns:a="http://schemas.openxmlformats.org/drawingml/2006/main">
            <a:r>
              <a:t>Press the buttons and watch the outgoing infrared. Nothing changes about the Sun.</a:t>
            </a:r>
          </a:p>
          <a:p xmlns:a="http://schemas.openxmlformats.org/drawingml/2006/main">
            <a:r>
              <a:t>natural gases</a:t>
            </a:r>
          </a:p>
          <a:p xmlns:a="http://schemas.openxmlformats.org/drawingml/2006/main">
            <a:r>
              <a:t>＋ extra CO₂ &amp; methane</a:t>
            </a:r>
          </a:p>
          <a:p xmlns:a="http://schemas.openxmlformats.org/drawingml/2006/main">
            <a:r>
              <a:t>Natural greenhouse effect: some infrared is absorbed and re-emitted. Without it Earth would average about −18 °C.</a:t>
            </a:r>
          </a:p>
          <a:p xmlns:a="http://schemas.openxmlformats.org/drawingml/2006/main">
            <a:r>
              <a:t>“It’s a solid lid that traps all the heat”</a:t>
            </a:r>
          </a:p>
          <a:p xmlns:a="http://schemas.openxmlformats.org/drawingml/2006/main">
            <a:r>
              <a:t>“Every single day gets hotter”</a:t>
            </a:r>
          </a:p>
          <a:p xmlns:a="http://schemas.openxmlformats.org/drawingml/2006/main">
            <a:r>
              <a:t>“The average rises; extremes become more likely”</a:t>
            </a:r>
          </a:p>
          <a:p xmlns:a="http://schemas.openxmlformats.org/drawingml/2006/main">
            <a:r>
              <a:t>Which statement is the science?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Climate is the usual pattern over many years; one cold day is weather.</a:t>
            </a:r>
          </a:p>
          <a:p xmlns:a="http://schemas.openxmlformats.org/drawingml/2006/main">
            <a:r>
              <a:t>Global warming means every place becomes hotter every day.</a:t>
            </a:r>
          </a:p>
          <a:p xmlns:a="http://schemas.openxmlformats.org/drawingml/2006/main">
            <a:r>
              <a:t>The ozone hole is the main cause of global warming.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Human activities such as burning coal, oil and gas, plus deforestation, add greenhouse gases.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 stronger greenhouse effect raises the global average; it does not make every day or place equally hot.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This changes risks: heat extremes, rainfall patterns, melting land ice, sea-level rise and habitat stress.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step-by-step energy route makes invisible transfers visible and separates the useful natural greenhouse effect from the enhanced effect caused by extra gases.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Human activities such as burning coal, oil and gas, plus deforestation, add greenhouse gases.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 stronger greenhouse effect raises the global average; it does not make every day or place equally hot.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This changes risks: heat extremes, rainfall patterns, melting land ice, sea-level rise and habitat stress.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step-by-step energy route makes invisible transfers visible and separates the useful natural greenhouse effect from the enhanced effect caused by extra gases.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Order one genuine five-link chain from a human activity to one likely effect. Say why each link follows the one before it.</a:t>
            </a:r>
          </a:p>
          <a:p xmlns:a="http://schemas.openxmlformats.org/drawingml/2006/main">
            <a:r>
              <a:t>Human activity More greenhouse gas Energy loss slows Average temperature rises One likely effect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Burning fossil fuels Coal, oil and gas release extra carbon dioxide when burned.</a:t>
            </a:r>
          </a:p>
          <a:p xmlns:a="http://schemas.openxmlformats.org/drawingml/2006/main">
            <a:r>
              <a:t>More greenhouse gas in the atmosphere The amount of carbon dioxide in the atmosphere increases.</a:t>
            </a:r>
          </a:p>
          <a:p xmlns:a="http://schemas.openxmlformats.org/drawingml/2006/main">
            <a:r>
              <a:t>Net energy loss slows More outgoing infrared is absorbed; some is re-emitted towards the surface, so energy leaves Earth more slowly.</a:t>
            </a:r>
          </a:p>
          <a:p xmlns:a="http://schemas.openxmlformats.org/drawingml/2006/main">
            <a:r>
              <a:t>Global average temperature rises Earth warms until incoming and outgoing energy balance again at a higher average temperature.</a:t>
            </a:r>
          </a:p>
          <a:p xmlns:a="http://schemas.openxmlformats.org/drawingml/2006/main">
            <a:r>
              <a:t>Land ice melts Warming increases melting of glaciers and ice sheets, contributing to sea-level rise.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1 · HUMAN ACTIVITY</a:t>
            </a:r>
          </a:p>
          <a:p xmlns:a="http://schemas.openxmlformats.org/drawingml/2006/main">
            <a:r>
              <a:t>2 · MORE GREENHOUSE GAS</a:t>
            </a:r>
          </a:p>
          <a:p xmlns:a="http://schemas.openxmlformats.org/drawingml/2006/main">
            <a:r>
              <a:t>3 · ENERGY CHANGE</a:t>
            </a:r>
          </a:p>
          <a:p xmlns:a="http://schemas.openxmlformats.org/drawingml/2006/main">
            <a:r>
              <a:t>4 · GLOBAL WARMING</a:t>
            </a:r>
          </a:p>
          <a:p xmlns:a="http://schemas.openxmlformats.org/drawingml/2006/main">
            <a:r>
              <a:t>5 · LIKELY EFFECT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One cold week disproves global warming.</a:t>
            </a:r>
          </a:p>
          <a:p xmlns:a="http://schemas.openxmlformats.org/drawingml/2006/main">
            <a:r>
              <a:t>Keep it: one week shows the whole climate.</a:t>
            </a:r>
          </a:p>
          <a:p xmlns:a="http://schemas.openxmlformats.org/drawingml/2006/main">
            <a:r>
              <a:t>Repair it: a short weather event cannot overturn a long-term global pattern.</a:t>
            </a:r>
          </a:p>
          <a:p xmlns:a="http://schemas.openxmlformats.org/drawingml/2006/main">
            <a:r>
              <a:t>Swap it: global warming means every day must be 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Order one genuine five-link chain from a human activity to one likely effect. Say why each link follows the one before it.</a:t>
            </a:r>
          </a:p>
          <a:p xmlns:a="http://schemas.openxmlformats.org/drawingml/2006/main">
            <a:r>
              <a:t>Human activity More greenhouse gas Energy loss slows Average temperature rises One likely effect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Burning fossil fuels Coal, oil and gas release extra carbon dioxide when burned.</a:t>
            </a:r>
          </a:p>
          <a:p xmlns:a="http://schemas.openxmlformats.org/drawingml/2006/main">
            <a:r>
              <a:t>More greenhouse gas in the atmosphere The amount of carbon dioxide in the atmosphere increases.</a:t>
            </a:r>
          </a:p>
          <a:p xmlns:a="http://schemas.openxmlformats.org/drawingml/2006/main">
            <a:r>
              <a:t>Net energy loss slows More outgoing infrared is absorbed; some is re-emitted towards the surface, so energy leaves Earth more slowly.</a:t>
            </a:r>
          </a:p>
          <a:p xmlns:a="http://schemas.openxmlformats.org/drawingml/2006/main">
            <a:r>
              <a:t>Global average temperature rises Earth warms until incoming and outgoing energy balance again at a higher average temperature.</a:t>
            </a:r>
          </a:p>
          <a:p xmlns:a="http://schemas.openxmlformats.org/drawingml/2006/main">
            <a:r>
              <a:t>Land ice melts Warming increases melting of glaciers and ice sheets, contributing to sea-level rise.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1 · HUMAN ACTIVITY</a:t>
            </a:r>
          </a:p>
          <a:p xmlns:a="http://schemas.openxmlformats.org/drawingml/2006/main">
            <a:r>
              <a:t>2 · MORE GREENHOUSE GAS</a:t>
            </a:r>
          </a:p>
          <a:p xmlns:a="http://schemas.openxmlformats.org/drawingml/2006/main">
            <a:r>
              <a:t>3 · ENERGY CHANGE</a:t>
            </a:r>
          </a:p>
          <a:p xmlns:a="http://schemas.openxmlformats.org/drawingml/2006/main">
            <a:r>
              <a:t>4 · GLOBAL WARMING</a:t>
            </a:r>
          </a:p>
          <a:p xmlns:a="http://schemas.openxmlformats.org/drawingml/2006/main">
            <a:r>
              <a:t>5 · LIKELY EFFECT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One cold week disproves global warming.</a:t>
            </a:r>
          </a:p>
          <a:p xmlns:a="http://schemas.openxmlformats.org/drawingml/2006/main">
            <a:r>
              <a:t>Keep it: one week shows the whole climate.</a:t>
            </a:r>
          </a:p>
          <a:p xmlns:a="http://schemas.openxmlformats.org/drawingml/2006/main">
            <a:r>
              <a:t>Repair it: a short weather event cannot overturn a long-term global pattern.</a:t>
            </a:r>
          </a:p>
          <a:p xmlns:a="http://schemas.openxmlformats.org/drawingml/2006/main">
            <a:r>
              <a:t>Swap it: global warming means every day must be 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Order one genuine five-link chain from a human activity to one likely effect. Say why each link follows the one before it.</a:t>
            </a:r>
          </a:p>
          <a:p xmlns:a="http://schemas.openxmlformats.org/drawingml/2006/main">
            <a:r>
              <a:t>Human activity More greenhouse gas Energy loss slows Average temperature rises One likely effect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Burning fossil fuels Coal, oil and gas release extra carbon dioxide when burned.</a:t>
            </a:r>
          </a:p>
          <a:p xmlns:a="http://schemas.openxmlformats.org/drawingml/2006/main">
            <a:r>
              <a:t>More greenhouse gas in the atmosphere The amount of carbon dioxide in the atmosphere increases.</a:t>
            </a:r>
          </a:p>
          <a:p xmlns:a="http://schemas.openxmlformats.org/drawingml/2006/main">
            <a:r>
              <a:t>Net energy loss slows More outgoing infrared is absorbed; some is re-emitted towards the surface, so energy leaves Earth more slowly.</a:t>
            </a:r>
          </a:p>
          <a:p xmlns:a="http://schemas.openxmlformats.org/drawingml/2006/main">
            <a:r>
              <a:t>Global average temperature rises Earth warms until incoming and outgoing energy balance again at a higher average temperature.</a:t>
            </a:r>
          </a:p>
          <a:p xmlns:a="http://schemas.openxmlformats.org/drawingml/2006/main">
            <a:r>
              <a:t>Land ice melts Warming increases melting of glaciers and ice sheets, contributing to sea-level rise.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1 · HUMAN ACTIVITY</a:t>
            </a:r>
          </a:p>
          <a:p xmlns:a="http://schemas.openxmlformats.org/drawingml/2006/main">
            <a:r>
              <a:t>2 · MORE GREENHOUSE GAS</a:t>
            </a:r>
          </a:p>
          <a:p xmlns:a="http://schemas.openxmlformats.org/drawingml/2006/main">
            <a:r>
              <a:t>3 · ENERGY CHANGE</a:t>
            </a:r>
          </a:p>
          <a:p xmlns:a="http://schemas.openxmlformats.org/drawingml/2006/main">
            <a:r>
              <a:t>4 · GLOBAL WARMING</a:t>
            </a:r>
          </a:p>
          <a:p xmlns:a="http://schemas.openxmlformats.org/drawingml/2006/main">
            <a:r>
              <a:t>5 · LIKELY EFFECT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One cold week disproves global warming.</a:t>
            </a:r>
          </a:p>
          <a:p xmlns:a="http://schemas.openxmlformats.org/drawingml/2006/main">
            <a:r>
              <a:t>Keep it: one week shows the whole climate.</a:t>
            </a:r>
          </a:p>
          <a:p xmlns:a="http://schemas.openxmlformats.org/drawingml/2006/main">
            <a:r>
              <a:t>Repair it: a short weather event cannot overturn a long-term global pattern.</a:t>
            </a:r>
          </a:p>
          <a:p xmlns:a="http://schemas.openxmlformats.org/drawingml/2006/main">
            <a:r>
              <a:t>Swap it: global warming means every day must be 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Cause, energy and effect cards; arrow strip; pencil; optional calm digital card route.</a:t>
            </a:r>
          </a:p>
          <a:p xmlns:a="http://schemas.openxmlformats.org/drawingml/2006/main">
            <a:r>
              <a:t>Same outcome: I can explain how extra greenhouse gases raise Earth's average temperature and connect warming to wider climate effects.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Sort the same local cards, freeze the chain and print only when chosen. No account or internet is needed.</a:t>
            </a:r>
          </a:p>
          <a:p xmlns:a="http://schemas.openxmlformats.org/drawingml/2006/main">
            <a:r>
              <a:t>Same evidence: One ordered causal chain, one explained effect and one honest model limitation.</a:t>
            </a:r>
          </a:p>
          <a:p xmlns:a="http://schemas.openxmlformats.org/drawingml/2006/main">
            <a:r>
              <a:t>Equipment / setup Cause, energy and effect cards; arrow strip; pencil; optional calm digital card route.</a:t>
            </a:r>
          </a:p>
          <a:p xmlns:a="http://schemas.openxmlformats.org/drawingml/2006/main">
            <a:r>
              <a:t>Safety / sensory Use calm, solution-aware language. Do not ask for family carbon data or use frightening imagery.</a:t>
            </a:r>
          </a:p>
          <a:p xmlns:a="http://schemas.openxmlformats.org/drawingml/2006/main">
            <a:r>
              <a:t>Offline parity Sort the same local cards, freeze the chain and print only when chosen. No account or internet is needed.</a:t>
            </a:r>
          </a:p>
          <a:p xmlns:a="http://schemas.openxmlformats.org/drawingml/2006/main">
            <a:r>
              <a:t>No-equipment/access route: Order printed cards or direct an adult to move them. A scribed exact response is equivalent evidence.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Draw or order the full chain and explain one effect using because.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the three headings Cause, Energy mechanism and Effect, then remove the sentence frame.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Cause, energy and effect cards; arrow strip; pencil; optional calm digital card route.</a:t>
            </a:r>
          </a:p>
          <a:p xmlns:a="http://schemas.openxmlformats.org/drawingml/2006/main">
            <a:r>
              <a:t>Same outcome: I can explain how extra greenhouse gases raise Earth's average temperature and connect warming to wider climate effects.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Sort the same local cards, freeze the chain and print only when chosen. No account or internet is needed.</a:t>
            </a:r>
          </a:p>
          <a:p xmlns:a="http://schemas.openxmlformats.org/drawingml/2006/main">
            <a:r>
              <a:t>Same evidence: One ordered causal chain, one explained effect and one honest model limitation.</a:t>
            </a:r>
          </a:p>
          <a:p xmlns:a="http://schemas.openxmlformats.org/drawingml/2006/main">
            <a:r>
              <a:t>Equipment / setup Cause, energy and effect cards; arrow strip; pencil; optional calm digital card route.</a:t>
            </a:r>
          </a:p>
          <a:p xmlns:a="http://schemas.openxmlformats.org/drawingml/2006/main">
            <a:r>
              <a:t>Safety / sensory Use calm, solution-aware language. Do not ask for family carbon data or use frightening imagery.</a:t>
            </a:r>
          </a:p>
          <a:p xmlns:a="http://schemas.openxmlformats.org/drawingml/2006/main">
            <a:r>
              <a:t>Offline parity Sort the same local cards, freeze the chain and print only when chosen. No account or internet is needed.</a:t>
            </a:r>
          </a:p>
          <a:p xmlns:a="http://schemas.openxmlformats.org/drawingml/2006/main">
            <a:r>
              <a:t>No-equipment/access route: Order printed cards or direct an adult to move them. A scribed exact response is equivalent evidence.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Draw or order the full chain and explain one effect using because.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the three headings Cause, Energy mechanism and Effect, then remove the sentence frame.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SCI_G_W11A_Global_Warming_Explore.html.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move. The pupil writes what they said and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arrows show direction, not real amounts, times or the full climate system. Greenhouse gases are not a solid lid and do not create energy.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What changes in the energy route when extra greenhouse gas is added?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What I said, and what it changed:</a:t>
            </a:r>
          </a:p>
          <a:p xmlns:a="http://schemas.openxmlformats.org/drawingml/2006/main">
            <a:r>
              <a:t>Next I will ______. One next step chosen after the adult listened.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SCI_G_W11A_Global_Warming_Explore.html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4b637a9214e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efe2dd860344cc" /><Relationship Type="http://schemas.openxmlformats.org/officeDocument/2006/relationships/slideLayout" Target="/ppt/slideLayouts/slideLayout1.xml" Id="R520f2acae22444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0f2acae22444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b3ff4703f4083" /><Relationship Type="http://schemas.openxmlformats.org/officeDocument/2006/relationships/hyperlink" Target="SCI_G_W11A_Global_Warming_Explore.html" TargetMode="External" Id="R9d84c0178e1a4452" /><Relationship Type="http://schemas.openxmlformats.org/officeDocument/2006/relationships/notesSlide" Target="/ppt/notesSlides/notesSlide1.xml" Id="R373e33cc2d844f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eadce30e9437f" /><Relationship Type="http://schemas.openxmlformats.org/officeDocument/2006/relationships/notesSlide" Target="/ppt/notesSlides/notesSlide2.xml" Id="R9aebad2d8d2e4e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beb91d7414274" /><Relationship Type="http://schemas.openxmlformats.org/officeDocument/2006/relationships/notesSlide" Target="/ppt/notesSlides/notesSlide3.xml" Id="R6e1944d66aad4e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5d1dfad29470e" /><Relationship Type="http://schemas.openxmlformats.org/officeDocument/2006/relationships/notesSlide" Target="/ppt/notesSlides/notesSlide4.xml" Id="R67c192dac31744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df3713aa24c6f" /><Relationship Type="http://schemas.openxmlformats.org/officeDocument/2006/relationships/notesSlide" Target="/ppt/notesSlides/notesSlide5.xml" Id="R33211e0b844a49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d66bfae4c4306" /><Relationship Type="http://schemas.openxmlformats.org/officeDocument/2006/relationships/image" Target="/ppt/media/image.png" Id="Rff25301b81014702" /><Relationship Type="http://schemas.openxmlformats.org/officeDocument/2006/relationships/image" Target="/ppt/media/image2.png" Id="R05dba2262e7a4623" /><Relationship Type="http://schemas.openxmlformats.org/officeDocument/2006/relationships/image" Target="/ppt/media/image3.png" Id="R3b83fe36b5b84990" /><Relationship Type="http://schemas.openxmlformats.org/officeDocument/2006/relationships/notesSlide" Target="/ppt/notesSlides/notesSlide6.xml" Id="R582c547eb6bd4d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584b2c7b54b67" /><Relationship Type="http://schemas.openxmlformats.org/officeDocument/2006/relationships/notesSlide" Target="/ppt/notesSlides/notesSlide7.xml" Id="R2e93af80141843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2417511d9450b" /><Relationship Type="http://schemas.openxmlformats.org/officeDocument/2006/relationships/notesSlide" Target="/ppt/notesSlides/notesSlide8.xml" Id="R0bf8e65abc984d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e7ab62be047dd" /><Relationship Type="http://schemas.openxmlformats.org/officeDocument/2006/relationships/image" Target="/ppt/media/image4.png" Id="R967ecf4065d84cf2" /><Relationship Type="http://schemas.openxmlformats.org/officeDocument/2006/relationships/notesSlide" Target="/ppt/notesSlides/notesSlide9.xml" Id="Rd84141d58fad44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6a500ebe34aff" /><Relationship Type="http://schemas.openxmlformats.org/officeDocument/2006/relationships/notesSlide" Target="/ppt/notesSlides/notesSlide10.xml" Id="Rb82a2aaaabbb4d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a542f4c414c68" /><Relationship Type="http://schemas.openxmlformats.org/officeDocument/2006/relationships/notesSlide" Target="/ppt/notesSlides/notesSlide11.xml" Id="R9d7bfccd707b49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2928748014436" /><Relationship Type="http://schemas.openxmlformats.org/officeDocument/2006/relationships/notesSlide" Target="/ppt/notesSlides/notesSlide12.xml" Id="Rb831557cbbfa4a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789fc9b19425a" /><Relationship Type="http://schemas.openxmlformats.org/officeDocument/2006/relationships/notesSlide" Target="/ppt/notesSlides/notesSlide13.xml" Id="Rb8ee8b21a78249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ae795f8624f60" /><Relationship Type="http://schemas.openxmlformats.org/officeDocument/2006/relationships/notesSlide" Target="/ppt/notesSlides/notesSlide14.xml" Id="Rabe6a63fceaa42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b176abf6b4ebc" /><Relationship Type="http://schemas.openxmlformats.org/officeDocument/2006/relationships/notesSlide" Target="/ppt/notesSlides/notesSlide15.xml" Id="R0eb12076fe7846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67af5abb74e5f" /><Relationship Type="http://schemas.openxmlformats.org/officeDocument/2006/relationships/notesSlide" Target="/ppt/notesSlides/notesSlide16.xml" Id="R77bed139615d41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ab34a29d440ef" /><Relationship Type="http://schemas.openxmlformats.org/officeDocument/2006/relationships/notesSlide" Target="/ppt/notesSlides/notesSlide17.xml" Id="Rcf7bee5bb17749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648a9e38e48b5" /><Relationship Type="http://schemas.openxmlformats.org/officeDocument/2006/relationships/notesSlide" Target="/ppt/notesSlides/notesSlide18.xml" Id="Red743bb0907e4b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6BE26B73-956C-4802-8DF3-6F1B8188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902DD70-CC29-439D-88E6-35791807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B3E9BD8-B25F-4D64-B974-EF175BF9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57B81B-6446-47AC-B493-FFE2522F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Climate Chain: From Gas to Warming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335C338-8371-443C-B3ED-5BFA32DB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3AD798A3-217C-41A2-9CBE-293F423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explain how extra greenhouse gases raise Earth's average temperature and connect warming to wider climate effects.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9E4C3CBE-0788-494A-815B-9CE8D19D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6EE9D2CB-9280-41AC-82A3-B9E133A0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Weather is what happens now climate is a pattern over many years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BFA8968F-989F-4F51-A831-757BA13A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190FE898-720D-4D89-BB2B-F69CA39A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72CCF0C0-D877-41CF-8B7D-594667FF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Extra greenhouse gases mean heat energy leaves Earth more slowly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53E24AD8-37D7-4D05-AA4B-B91A6060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07FC8C9C-027A-44B1-9B28-64DD1A08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D67D3819-FE5C-4725-8F6D-1DE1D9C5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a cause chain to explain an effect without blaming individuals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7C79B482-98F0-4566-9F69-319FFB40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467E1390-9237-48FA-A406-9AC2D509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F7D6E"/>
                </a:solidFill>
                <a:latin typeface="Arial"/>
                <a:ea typeface="Arial"/>
                <a:cs typeface="Arial"/>
                <a:hlinkClick xmlns:r="http://schemas.openxmlformats.org/officeDocument/2006/relationships" r:id="R9d84c0178e1a4452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278D64A1-090A-4203-B1D5-60242743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D3D60973-154F-43CA-8CE1-06840268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926303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9F872DB-3E2B-4A51-843B-819D888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9C95BAE-B6AF-4D89-92EA-C816CB88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4C67B0C-D563-449A-AFCD-DFC8CD96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858307-9841-4F32-9A9C-EA65CC36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C6151BC-2720-4214-AE68-9BC8BA7F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AB17EA3-7234-4130-A989-E5AEAB06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distinguish weather from climate.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7457623-D18A-4EA5-A81B-17BDDE8F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order the enhanced-greenhouse causal chain.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A76D18E-DD63-412B-988C-32FD08DC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connect warming to one likely effect and name a model limitation.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5055654-B6A8-42BC-AA22-6AB0AC18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600F46E-820F-4526-8805-D2B6746D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419821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3852B88D-A501-44B3-B447-566035E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60B6714-CE37-41F7-87F3-8A31AE23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EBD0939-FB45-47B5-AA20-8B2FF8BA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B2639F-29B2-4F19-8D7E-1874F19B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74DE659-28AA-4A4A-BE0D-C8CFDD93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4E59763-213D-4E2A-B6CF-1F65EF41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one difference between weather and climate.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B559F51-3FAD-4190-8CF1-2F000A59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Recall why repeated measurements are useful.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8028308-0D95-4A4A-A4D0-6CE98468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one source of energy that warms Earth's surface.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DCCD9C7-B35C-43C6-AFE1-0A6DF232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one cold day cannot describe a long-term pattern.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7CA61E3-6A6A-4307-8509-B7DB0A69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4485388-0717-438A-BFB0-538574B6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156143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D16B861E-1FFB-487C-AB3A-38954D21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1ED5A8F-4CED-46EE-801B-7FA30CE4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933589C-C5C6-4ED4-BD5D-817089CF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6BA8C0-4156-497C-ADB6-974C862B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It is cold today. Which evidence could tell us about climate?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DB20359-E70C-4A52-B340-8C320A87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5C34FFA-CF9B-4758-8E9E-62C0FCCC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30D0DD5-A43C-47BB-805B-E5EB047D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Today's temperature at one place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0E80134-E24D-4CA2-A0E0-49485D9E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 long record of averages from many places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5F5CB7B-9A84-45AF-A9A1-CA5670B0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One photograph of snow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C83C76D-A99E-4BF5-81E8-E61A6F90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9401B37-5420-4674-BE4A-CF2C0B3F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2509415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9C9C231-C876-4DD1-8926-F8C68899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2576129-227A-4188-847C-08388ADC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C9B27B7-51D3-48F5-AE98-701BEFA1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9E8E6D-1FF5-4EBC-A209-CA189D53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5BA2B51-2526-44BE-AF55-3E005792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31B3C56-F54A-4E2D-A623-4096E736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WEATHER · what happens now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92D7A1D-4053-460C-B127-40C7E777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CLIMATE · a pattern over many years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605C16B-FCE8-4059-9132-D524633C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ENERGY · in, out and re-emitted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60FED708-579C-4E3B-85D6-A1E1AC0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872A7C6-CE02-4D4C-B218-58F80E7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30580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B331D444-D55B-47F7-8E0E-EEA9E4DF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45DFFC7-1568-402A-8C80-7FB4D85F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7460369-948A-4D13-83BF-0159F36E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156287-4F4D-4BB8-B87A-BC5A515D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A64E72C-CE0A-4FD2-B6C4-38C9D5EF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5301b81014702"/>
          <a:stretch xmlns:a="http://schemas.openxmlformats.org/drawingml/2006/main"/>
        </p:blipFill>
        <p:spPr>
          <a:xfrm xmlns:a="http://schemas.openxmlformats.org/drawingml/2006/main">
            <a:off x="800100" y="2999276"/>
            <a:ext cx="3378200" cy="1364273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4E94F657-E099-4AD2-9340-14EA0DCA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Weather versus climate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ba2262e7a4623"/>
          <a:stretch xmlns:a="http://schemas.openxmlformats.org/drawingml/2006/main"/>
        </p:blipFill>
        <p:spPr>
          <a:xfrm xmlns:a="http://schemas.openxmlformats.org/drawingml/2006/main">
            <a:off x="4406900" y="2999276"/>
            <a:ext cx="3378200" cy="1364273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2742E508-2548-46DF-B34B-64B494CD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Natural greenhouse effect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3fe36b5b84990"/>
          <a:stretch xmlns:a="http://schemas.openxmlformats.org/drawingml/2006/main"/>
        </p:blipFill>
        <p:spPr>
          <a:xfrm xmlns:a="http://schemas.openxmlformats.org/drawingml/2006/main">
            <a:off x="8013700" y="2999276"/>
            <a:ext cx="3378200" cy="1364273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FFB8AD8D-F18D-4605-BAD6-60AC993E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Enhanced greenhouse effect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7D82A34E-9B31-4567-8B7F-C30E754F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8BD9965D-5CEB-4ABC-95A6-D4C352A4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499595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26216AD-E24E-4A50-9DA4-86B68D47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2E47581-8CB1-4A3E-84DB-50E4EA7D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C864C8D-B727-4095-9125-E9A66E16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3F02AB-4C9E-44C8-A3DF-58A32B93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771C736-8D43-4504-B99F-45C4C20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322A029-0F47-4D18-A1A5-5376E3D9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climate — weather pattern over time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06F0F08-C9DE-4FAB-A7E7-E69DCBDD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greenhouse gas — gas that affects heat flow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DC7CA11-3E01-45D3-B201-851F1757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average — one value for a set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81BA94C-35B4-4575-82FF-300432D3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67815CB-2C3F-4720-AAC3-4576B4F6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73642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2FA8FAD-6445-46F3-9D9F-5D34C273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80E4639-56DE-49B4-96B9-DFCCF040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0CA008F-4837-42A3-982D-0F152BD0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CCB3A7-C703-49D1-89D9-43607832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B9C4FD9-9825-4D5C-8006-B9B38F6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433A1B6-370E-4927-A37F-D6736FEF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Sunlight passes through the atmosphere and transfers energy to Earth's surface.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5B711DA-C047-4789-9D98-2C22269F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The warm surface gives out infrared energy. Naturally occurring greenhouse gases absorb and re-emit some of it; this natural effect keeps Earth warm enough for life.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EBD92AA-2AD0-4592-99CA-81FC107D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Extra carbon dioxide and methane enhance the effect: more outgoing infrared is absorbed and some is re-emitted towards the surface, slowing net energy loss until the global average temperature rises.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DCBBD7A-8678-49AF-8D6E-86760C06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E90D7FD-A22A-4ECB-940B-2F181F58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6684344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7BDB4E7-0A44-47A3-911F-2F38B232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AAF205D-BC5A-466C-B624-E8DA21E2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A574104-C8AB-409C-8E50-AA61BA97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D1EF2D-C801-4292-A9B0-A767FC9A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E99EC83-FA91-4C3A-8920-6F0B545A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ecf4065d84cf2"/>
          <a:stretch xmlns:a="http://schemas.openxmlformats.org/drawingml/2006/main"/>
        </p:blipFill>
        <p:spPr>
          <a:xfrm xmlns:a="http://schemas.openxmlformats.org/drawingml/2006/main">
            <a:off x="2381250" y="2181225"/>
            <a:ext cx="7429500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7A4BF3A2-0DE5-4FA5-A5D1-BF04CE63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Greenhouse effect model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FB6B813-F07F-4E8F-987B-68955549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30715E8A-FFA2-409F-97E9-BC6C0778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2754120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C86CDC1-CF38-4A25-B705-60F99313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012AEA6-E639-4277-A5E5-469DF88B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F729543-56E0-44A9-835B-8B18E95D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F1250C-D274-4F69-A951-AFC675BF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statement is scientific?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89DFA1F-4AC8-490E-BB1B-073E195D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840FE85-1EE3-4D4C-8BE9-D15E061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Climate is the usual pattern over many years; one cold day is weather.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7D8CB52-B802-444D-B39F-50D9A326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Global warming means every place becomes hotter every day.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0C58459-3994-4B8D-B76D-4E318459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ozone hole is the main cause of global warming.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DBAD23C-7CB2-4CE2-AF2A-EF0A4989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39970CC4-1876-4B17-A3F1-14924CE2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EEBCDEA-E2C4-44AA-A748-9970E993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0627143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3F6B031-1AC3-4A1C-BB82-2D8FE7F6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49069D5-5DA8-4CAE-AA26-869F1284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071959C-519E-4B06-98F0-CFD5BDD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89E1CC-5D7E-4523-AA47-18BC22BC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CBAB528-71C8-479C-A125-B0859504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18611E0-2198-4524-9C26-1CBE3292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Human activities such as burning coal, oil and gas, plus deforestation, add greenhouse gases.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4FBD2B8-DDB0-4212-8207-82D77221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 stronger greenhouse effect raises the global average; it does not make every day or place equally hot.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5E455E3-9375-4D96-B1C4-32931F19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This changes risks: heat extremes, rainfall patterns, melting land ice, sea-level rise and habitat stress.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8E9B1C8-E8CD-4475-87B3-79B84890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0ACC414-7FDF-42B3-8DFB-B8768DF8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3630966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F87C0B2A-5537-458E-BBAE-D19A9216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683FDEC-44C9-4673-84AA-24705B09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0E8108E-B1D2-43CD-8AD8-EB047F95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7B6BF5-5101-49CC-B67C-115810DA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5C67CCD-7013-4F68-87D9-E7F7B39B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8ADD65C-F38A-4F64-9B48-931EBF6C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One cold week disproves global warming.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9A18EF0-EA29-4613-BD08-A9BDCFAE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one week shows the whole climate.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902687B-2943-4624-846E-9F99280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a short weather event cannot overturn a long-term global pattern.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74C3E12-1219-4D3B-AC9A-827987B9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Swap it: global warming means every day must be hot.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6CC0F46-E233-44E4-B753-163A47D7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0E0EE38-8F54-4E52-9777-B92BB7C5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2187554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4393C5B6-35B1-4780-8437-BD7D97E3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2995665-3247-4AF1-812F-91CA6941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5DD5F72-8E89-45BB-A95E-C12B2B08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A07092-1BE1-4D2D-948B-7FB9915E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Climate Chain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427617D-CC0D-45E5-9378-115713AC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E7BA107-F9F0-4188-ADB4-A7789653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Order one genuine five-link chain from a human activity to one likely effect. Say why each link follows the one before it.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4327CFE-EE3E-40F8-A33B-E1E665F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Human activity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09AC178-1A20-4F8D-890C-FE56146A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More greenhouse gas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446B60B-77AC-4E91-97DC-22D7448F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Energy loss slows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C57335E-BDC9-4AEC-B4EB-DA013A35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Average temperature rises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4E4610B2-4300-4C89-B527-F806C136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One likely effect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1CC78937-7B4C-465C-AC8D-42CFEB43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22C9C0C6-13DD-467B-B2F2-B74FBCD8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4053075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2753E134-56BF-4CD5-85A1-01D842C8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CF17574-684E-4969-9006-E74BBA1C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9900FA8-6F52-432C-B007-D44BB59D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70FA06-50B6-40C3-B8FF-45798E12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Climate Chain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8B31B69-AFC2-4F1D-A9F5-5F3D09B2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1B48103-EA0F-4544-8455-3313FF3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6BFDA7FD-C16B-4699-A221-C57DBF44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02C2E18-33CF-4E8A-ADBB-5FBE579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8175692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E9D1F432-D39F-406C-9198-6CC4A95C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D658FA0-772E-4C8B-A6EE-7411C382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AAC8837-52FE-45E2-A47A-493FD8E7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D7BB98-C0DA-4AA1-82AB-8A522883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D2B1028-8226-427F-A8F4-A4E95740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80FC5AD-97DF-4139-BEEC-5A562692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1 · HUMAN ACTIVITY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336EB61-9381-47FE-8332-17F66DB2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2 · MORE GREENHOUSE GAS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C69DB8C-B824-427D-95AC-A1791314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3 · ENERGY CHANGE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8DCA3A0-2774-48F5-9709-76320BBC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4 · GLOBAL WARMING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C3BE365-8754-4EF1-92C5-0453A566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5 · LIKELY EFFECT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218871F3-40A8-4C33-BDD2-60390AAA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Read all five links with because and can lead to. Keep the effect likely, not guaranteed everywhere.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3E53B093-04FB-44C1-A829-1F24D079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0D2609BF-F447-4C5C-94E5-431F8964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7739530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1ACBA614-A5A1-47F7-BDF6-D121EE72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745B72A-BEBC-4A5B-91CE-956A0427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818F524-52CE-4C6A-803B-A6BAFFE7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9D34B2-2ACD-4D92-8EBB-C3AC7083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A6E358E-86A8-457D-8E76-2ED789CE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470F475-3CAE-49FC-8A23-998D8E46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Create the five-link chain activity → more greenhouse gas → slower net energy loss → higher global average → one likely effect, then explain it aloud, by pointing or in writing.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0E17530-574B-4F23-9B0B-1AD0F4BB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One ordered causal chain, one explained effect and one honest model limitation.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C5A6AC9B-6F4E-426B-B1B6-1C564D14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FB4A5E8-EF77-4AAC-AC7E-4986028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1996615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1C4E963-1F3A-4B36-928F-786EDF7B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8235AB1-66C7-476A-865B-3F38E736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998F05C-2E82-4589-89A8-681250AA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8DFAE7-A214-4AA1-9A86-EFC04D68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F3AEC0D-EB0F-45CE-8200-196EA3EB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F780E4E-BF70-45FC-8A65-66F84BED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Order the five icon-backed links and complete: More greenhouse gas slows ___. The higher global average can lead to ___.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068CF69-E575-448A-AE86-230F066B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Draw or order the full chain and explain one effect using because.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4E32C9F-F800-4846-9E61-0F6C38BB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Contrast the natural and enhanced greenhouse effects, then explain why one weather event is weak evidence.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9DD36C9-0420-4F4F-BD1C-EEFBBB6A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EFBDA33-9D6C-4D87-B2CC-BF072DD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5751113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3D7A0CE-560B-44E1-A57D-EEF1FDEB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6144AB3-5182-4330-8609-40D2EA4F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556C453-00E2-4FF6-832D-15FEBC6E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BF123F-F487-4EF6-848C-D84583F7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78B0D0B-C9DF-4D82-BEE4-FF8D5638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14DB0D1-F25E-4C2D-990A-36BC24A2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changes in the energy route when extra greenhouse gas is added?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69371C6-714A-4C80-B1F6-B6B47144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2FACB7DE-8507-485C-9642-561EFCC2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BC98D794-8E31-477D-81E8-967D6094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748381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2026-09-08T09:10:14.5400000Z</dcterms:created>
  <dcterms:modified xsi:type="dcterms:W3CDTF">2026-09-08T09:10:14.5400000Z</dcterms:modified>
</coreProperties>
</file>