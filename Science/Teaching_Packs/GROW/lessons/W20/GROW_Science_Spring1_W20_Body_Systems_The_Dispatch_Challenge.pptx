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f08bb6f914b06" /><Relationship Type="http://schemas.openxmlformats.org/officeDocument/2006/relationships/extended-properties" Target="/docProps/app.xml" Id="R4a30bbf06c744d0e" /><Relationship Type="http://schemas.openxmlformats.org/officeDocument/2006/relationships/officeDocument" Target="/ppt/presentation.xml" Id="R9c591d38b530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f537efeee4a9e"/>
  </p:sldMasterIdLst>
  <p:notesMasterIdLst>
    <p:notesMasterId xmlns:r="http://schemas.openxmlformats.org/officeDocument/2006/relationships" r:id="R1c5bb3a94e384967"/>
  </p:notesMasterIdLst>
  <p:sldIdLst>
    <p:sldId xmlns:r="http://schemas.openxmlformats.org/officeDocument/2006/relationships" id="256" r:id="R6c4980518ca54470"/>
    <p:sldId xmlns:r="http://schemas.openxmlformats.org/officeDocument/2006/relationships" id="257" r:id="R37de3fe266d7486c"/>
    <p:sldId xmlns:r="http://schemas.openxmlformats.org/officeDocument/2006/relationships" id="258" r:id="Rb7ecc8f694ab41fe"/>
    <p:sldId xmlns:r="http://schemas.openxmlformats.org/officeDocument/2006/relationships" id="259" r:id="R228e4cc324de4daf"/>
    <p:sldId xmlns:r="http://schemas.openxmlformats.org/officeDocument/2006/relationships" id="260" r:id="Rbb784972b22b4eff"/>
    <p:sldId xmlns:r="http://schemas.openxmlformats.org/officeDocument/2006/relationships" id="261" r:id="R6a663f3203a84384"/>
    <p:sldId xmlns:r="http://schemas.openxmlformats.org/officeDocument/2006/relationships" id="262" r:id="R62ac2a13ab954113"/>
    <p:sldId xmlns:r="http://schemas.openxmlformats.org/officeDocument/2006/relationships" id="263" r:id="Rcb70491a6b1a47e6"/>
    <p:sldId xmlns:r="http://schemas.openxmlformats.org/officeDocument/2006/relationships" id="264" r:id="Rc7f0bc8e3ef74e35"/>
    <p:sldId xmlns:r="http://schemas.openxmlformats.org/officeDocument/2006/relationships" id="265" r:id="R319be20086344c41"/>
    <p:sldId xmlns:r="http://schemas.openxmlformats.org/officeDocument/2006/relationships" id="266" r:id="R888bf1dce34743a3"/>
    <p:sldId xmlns:r="http://schemas.openxmlformats.org/officeDocument/2006/relationships" id="267" r:id="R1b26778b902844f6"/>
    <p:sldId xmlns:r="http://schemas.openxmlformats.org/officeDocument/2006/relationships" id="268" r:id="Rd3bd01ad2ec3461e"/>
    <p:sldId xmlns:r="http://schemas.openxmlformats.org/officeDocument/2006/relationships" id="269" r:id="Rc0ca49c564164d49"/>
    <p:sldId xmlns:r="http://schemas.openxmlformats.org/officeDocument/2006/relationships" id="270" r:id="Rdbc58c2128d84d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1a9c1161274f51" /><Relationship Type="http://schemas.openxmlformats.org/officeDocument/2006/relationships/slideMaster" Target="/ppt/slideMasters/slideMaster1.xml" Id="Raaff537efeee4a9e" /><Relationship Type="http://schemas.openxmlformats.org/officeDocument/2006/relationships/notesMaster" Target="/ppt/notesMasters/notesMaster1.xml" Id="R1c5bb3a94e384967" /><Relationship Type="http://schemas.openxmlformats.org/officeDocument/2006/relationships/presProps" Target="/ppt/presProps.xml" Id="R525db39126814669" /><Relationship Type="http://schemas.openxmlformats.org/officeDocument/2006/relationships/tableStyles" Target="/ppt/tableStyles.xml" Id="R50d45c1894f34036" /><Relationship Type="http://schemas.openxmlformats.org/officeDocument/2006/relationships/slide" Target="/ppt/slides/slide1.xml" Id="R6c4980518ca54470" /><Relationship Type="http://schemas.openxmlformats.org/officeDocument/2006/relationships/slide" Target="/ppt/slides/slide2.xml" Id="R37de3fe266d7486c" /><Relationship Type="http://schemas.openxmlformats.org/officeDocument/2006/relationships/slide" Target="/ppt/slides/slide3.xml" Id="Rb7ecc8f694ab41fe" /><Relationship Type="http://schemas.openxmlformats.org/officeDocument/2006/relationships/slide" Target="/ppt/slides/slide4.xml" Id="R228e4cc324de4daf" /><Relationship Type="http://schemas.openxmlformats.org/officeDocument/2006/relationships/slide" Target="/ppt/slides/slide5.xml" Id="Rbb784972b22b4eff" /><Relationship Type="http://schemas.openxmlformats.org/officeDocument/2006/relationships/slide" Target="/ppt/slides/slide6.xml" Id="R6a663f3203a84384" /><Relationship Type="http://schemas.openxmlformats.org/officeDocument/2006/relationships/slide" Target="/ppt/slides/slide7.xml" Id="R62ac2a13ab954113" /><Relationship Type="http://schemas.openxmlformats.org/officeDocument/2006/relationships/slide" Target="/ppt/slides/slide8.xml" Id="Rcb70491a6b1a47e6" /><Relationship Type="http://schemas.openxmlformats.org/officeDocument/2006/relationships/slide" Target="/ppt/slides/slide9.xml" Id="Rc7f0bc8e3ef74e35" /><Relationship Type="http://schemas.openxmlformats.org/officeDocument/2006/relationships/slide" Target="/ppt/slides/slide10.xml" Id="R319be20086344c41" /><Relationship Type="http://schemas.openxmlformats.org/officeDocument/2006/relationships/slide" Target="/ppt/slides/slide11.xml" Id="R888bf1dce34743a3" /><Relationship Type="http://schemas.openxmlformats.org/officeDocument/2006/relationships/slide" Target="/ppt/slides/slide12.xml" Id="R1b26778b902844f6" /><Relationship Type="http://schemas.openxmlformats.org/officeDocument/2006/relationships/slide" Target="/ppt/slides/slide13.xml" Id="Rd3bd01ad2ec3461e" /><Relationship Type="http://schemas.openxmlformats.org/officeDocument/2006/relationships/slide" Target="/ppt/slides/slide14.xml" Id="Rc0ca49c564164d49" /><Relationship Type="http://schemas.openxmlformats.org/officeDocument/2006/relationships/slide" Target="/ppt/slides/slide15.xml" Id="Rdbc58c2128d8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d86da69f15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8192903f8f494d" /><Relationship Type="http://schemas.openxmlformats.org/officeDocument/2006/relationships/notesMaster" Target="/ppt/notesMasters/notesMaster1.xml" Id="R5e5dfb03c7cd48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b0b1eb4924ab1" /><Relationship Type="http://schemas.openxmlformats.org/officeDocument/2006/relationships/notesMaster" Target="/ppt/notesMasters/notesMaster1.xml" Id="Re98b29deabb7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e1ebfce0b743d4" /><Relationship Type="http://schemas.openxmlformats.org/officeDocument/2006/relationships/notesMaster" Target="/ppt/notesMasters/notesMaster1.xml" Id="R153734787ff5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d58c63e10146ac" /><Relationship Type="http://schemas.openxmlformats.org/officeDocument/2006/relationships/notesMaster" Target="/ppt/notesMasters/notesMaster1.xml" Id="R8134ee3eafe9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8707b28009456d" /><Relationship Type="http://schemas.openxmlformats.org/officeDocument/2006/relationships/notesMaster" Target="/ppt/notesMasters/notesMaster1.xml" Id="R219b1ce16b9e46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c8ef2cd2a4683" /><Relationship Type="http://schemas.openxmlformats.org/officeDocument/2006/relationships/notesMaster" Target="/ppt/notesMasters/notesMaster1.xml" Id="R14c21c05c4914a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545c91f9264c63" /><Relationship Type="http://schemas.openxmlformats.org/officeDocument/2006/relationships/notesMaster" Target="/ppt/notesMasters/notesMaster1.xml" Id="Ra3374e64884543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a3788d8fe64b88" /><Relationship Type="http://schemas.openxmlformats.org/officeDocument/2006/relationships/notesMaster" Target="/ppt/notesMasters/notesMaster1.xml" Id="Rf8bf2ca2225a4f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0b738b94cd45db" /><Relationship Type="http://schemas.openxmlformats.org/officeDocument/2006/relationships/notesMaster" Target="/ppt/notesMasters/notesMaster1.xml" Id="R36c0e13cd37341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3abb8134864c6a" /><Relationship Type="http://schemas.openxmlformats.org/officeDocument/2006/relationships/notesMaster" Target="/ppt/notesMasters/notesMaster1.xml" Id="R5020b6d6b69647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1cea8b83f64bd7" /><Relationship Type="http://schemas.openxmlformats.org/officeDocument/2006/relationships/notesMaster" Target="/ppt/notesMasters/notesMaster1.xml" Id="R97997377821241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b60d8ab8be43e5" /><Relationship Type="http://schemas.openxmlformats.org/officeDocument/2006/relationships/notesMaster" Target="/ppt/notesMasters/notesMaster1.xml" Id="R186d15cd51ec4b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6b71fcd4b340ec" /><Relationship Type="http://schemas.openxmlformats.org/officeDocument/2006/relationships/notesMaster" Target="/ppt/notesMasters/notesMaster1.xml" Id="Rcecee06933fc4d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f01e9dbf0d43bc" /><Relationship Type="http://schemas.openxmlformats.org/officeDocument/2006/relationships/notesMaster" Target="/ppt/notesMasters/notesMaster1.xml" Id="R013c0f5921d548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10a0e271874bd6" /><Relationship Type="http://schemas.openxmlformats.org/officeDocument/2006/relationships/notesMaster" Target="/ppt/notesMasters/notesMaster1.xml" Id="Rc2b06381767f4a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20 seconds to think, draw or point. Do not require personal food talk. Say: We are tracing a fictional lunch, not judging anyone’s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heart or lungs; R2 mouth, stomach or intestine. R3 no; a job statement is also needed. Accept familiar language and supply scientific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place mouth before stomach because food enters at the mouth. I add the small intestine because digestion continues and most nutrients are absorbed there. This is a selected job map; it does not show every organ or their shapes.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Mouth</a:t>
            </a:r>
          </a:p>
          <a:p xmlns:a="http://schemas.openxmlformats.org/drawingml/2006/main">
            <a:r>
              <a:t>chews food; Stomach</a:t>
            </a:r>
          </a:p>
          <a:p xmlns:a="http://schemas.openxmlformats.org/drawingml/2006/main">
            <a:r>
              <a:t>mixes food; Small intestine</a:t>
            </a:r>
          </a:p>
          <a:p xmlns:a="http://schemas.openxmlformats.org/drawingml/2006/main">
            <a:r>
              <a:t>digests; absorbs. Also included: oesophagus, large intestine,</a:t>
            </a:r>
          </a:p>
          <a:p xmlns:a="http://schemas.openxmlformats.org/drawingml/2006/main">
            <a:r>
              <a:t>rectum and anus. This map shows selected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Trace clockwise. Think aloud: The system keeps blood moving; it does not chew or digest food. This simplified loop leaves out the lung route, which we investigate next lesson. It is not a complete circulatory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Clockwise sequence: Heart</a:t>
            </a:r>
          </a:p>
          <a:p xmlns:a="http://schemas.openxmlformats.org/drawingml/2006/main">
            <a:r>
              <a:t>pumps blood; Blood vessels</a:t>
            </a:r>
          </a:p>
          <a:p xmlns:a="http://schemas.openxmlformats.org/drawingml/2006/main">
            <a:r>
              <a:t>carry blood; Body tissues</a:t>
            </a:r>
          </a:p>
          <a:p xmlns:a="http://schemas.openxmlformats.org/drawingml/2006/main">
            <a:r>
              <a:t>receive substances; Blood vessels</a:t>
            </a:r>
          </a:p>
          <a:p xmlns:a="http://schemas.openxmlformats.org/drawingml/2006/main">
            <a:r>
              <a:t>return blood. Simplified job map: the lung route is omitted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Model correction: “The heart sends sandwiches to muscles” becomes “Small absorbed nutrients are carried in blood to tissues.” Digestion and circulation are distinct but linked. Teacher nuance: most dietary fat first enters lymph; this core model follows a soluble nutrient such as glucose.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Food in</a:t>
            </a:r>
          </a:p>
          <a:p xmlns:a="http://schemas.openxmlformats.org/drawingml/2006/main">
            <a:r>
              <a:t>small intestine; Small absorbed</a:t>
            </a:r>
          </a:p>
          <a:p xmlns:a="http://schemas.openxmlformats.org/drawingml/2006/main">
            <a:r>
              <a:t>nutrients; Blood carries</a:t>
            </a:r>
          </a:p>
          <a:p xmlns:a="http://schemas.openxmlformats.org/drawingml/2006/main">
            <a:r>
              <a:t>to body tissues. The gut wall is crossed by small substances.</a:t>
            </a:r>
          </a:p>
          <a:p xmlns:a="http://schemas.openxmlformats.org/drawingml/2006/main">
            <a:r>
              <a:t>A whole sandwich does not enter a blood vessel.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 in pairs or independently with pointing. Read each card once. Mouth, stomach, small intestine digestive; heart and blood vessels circulatory. Ask pupils to justify a disputed placement. Cards are on pupil page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Invite pupils to move labels or read a repaired statement. Answer: stomach mixes food with digestive juices; heart pumps blood. A vague “stomach eats” needs refining.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Reject as written; digested small nutrients, for example glucose, can be absorbed and transported by blood. Praise correct links, not speed.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Small absorbed nutrients travel in blood; whole food pieces do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A: confuses jobs. B correct and connects both. C: organs do not work alone. Re-teach with two cards, one for processing and one for transporting.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heart digests lunch.</a:t>
            </a:r>
          </a:p>
          <a:p xmlns:a="http://schemas.openxmlformats.org/drawingml/2006/main">
            <a:r>
              <a:t>The heart pumps blood; digestive organs digest food.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Digestion produces small nutrients; blood transports them.</a:t>
            </a:r>
          </a:p>
          <a:p xmlns:a="http://schemas.openxmlformats.org/drawingml/2006/main">
            <a:r>
              <a:t>Correct. This gives the two different, connected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The stomach works without any other body system.</a:t>
            </a:r>
          </a:p>
          <a:p xmlns:a="http://schemas.openxmlformats.org/drawingml/2006/main">
            <a:r>
              <a:t>Systems work together; tissues also need a blood supply.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three slides. All routes assess organ jobs and the connection. A drawing with dictated labels is valid independent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Prompt by asking what happens to food and what moves blood. Do not fill the gaps for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Check pupils do not label whole-food arrows into blood. Stretch should name a limitation: omitted organs, approximate positions or omitted lymph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Offer private teacher sharing. Model feedback: Your heart label is right; now explain what carries nutrients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Lundy: collect a pointed, spoken or written question. Teacher chooses one question about the heart’s route for next lesson and tells pupils how their suggestion shaped the starter.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Heart pumps blood. Digestive organ with appropriate job. Digestion provides small absorbable nutrients that blood carries to tissues. Collect before public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9416cd88c44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0c9167e8a44c09" /><Relationship Type="http://schemas.openxmlformats.org/officeDocument/2006/relationships/slideLayout" Target="/ppt/slideLayouts/slideLayout1.xml" Id="Re92a509ca0ce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2a509ca0ce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39785cfb437d" /><Relationship Type="http://schemas.openxmlformats.org/officeDocument/2006/relationships/notesSlide" Target="/ppt/notesSlides/notesSlide1.xml" Id="Rdd6ee340a7c24d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8358ea7db45f8" /><Relationship Type="http://schemas.openxmlformats.org/officeDocument/2006/relationships/notesSlide" Target="/ppt/notesSlides/notesSlide2.xml" Id="Re440bd563130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9b749c0244b1f" /><Relationship Type="http://schemas.openxmlformats.org/officeDocument/2006/relationships/notesSlide" Target="/ppt/notesSlides/notesSlide3.xml" Id="R9d0f7267151548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ee570214e4e06" /><Relationship Type="http://schemas.openxmlformats.org/officeDocument/2006/relationships/notesSlide" Target="/ppt/notesSlides/notesSlide4.xml" Id="Re1aa38bfaa17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712ea8a94278" /><Relationship Type="http://schemas.openxmlformats.org/officeDocument/2006/relationships/notesSlide" Target="/ppt/notesSlides/notesSlide5.xml" Id="R18b16307874148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a7eb0af674bd6" /><Relationship Type="http://schemas.openxmlformats.org/officeDocument/2006/relationships/notesSlide" Target="/ppt/notesSlides/notesSlide6.xml" Id="Rc9645aba522b4f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dca0110004964" /><Relationship Type="http://schemas.openxmlformats.org/officeDocument/2006/relationships/notesSlide" Target="/ppt/notesSlides/notesSlide7.xml" Id="Rde061ff2e8884e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77f2e91af4677" /><Relationship Type="http://schemas.openxmlformats.org/officeDocument/2006/relationships/notesSlide" Target="/ppt/notesSlides/notesSlide8.xml" Id="R9d854fbb0ad34a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af811911c442a" /><Relationship Type="http://schemas.openxmlformats.org/officeDocument/2006/relationships/notesSlide" Target="/ppt/notesSlides/notesSlide9.xml" Id="R272e935ff8914d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ac5bf5025427b" /><Relationship Type="http://schemas.openxmlformats.org/officeDocument/2006/relationships/notesSlide" Target="/ppt/notesSlides/notesSlide10.xml" Id="R7d0ff3f8d64e4d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098f3882f4754" /><Relationship Type="http://schemas.openxmlformats.org/officeDocument/2006/relationships/notesSlide" Target="/ppt/notesSlides/notesSlide11.xml" Id="R70bffc2c6c7944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be7fd497e4dbc" /><Relationship Type="http://schemas.openxmlformats.org/officeDocument/2006/relationships/notesSlide" Target="/ppt/notesSlides/notesSlide12.xml" Id="R123eebad738745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3f6a989a34c4d" /><Relationship Type="http://schemas.openxmlformats.org/officeDocument/2006/relationships/notesSlide" Target="/ppt/notesSlides/notesSlide13.xml" Id="Rfeb072bc4bda4c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2a38ff4a7497e" /><Relationship Type="http://schemas.openxmlformats.org/officeDocument/2006/relationships/notesSlide" Target="/ppt/notesSlides/notesSlide14.xml" Id="R572893b27e104e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e5c51b656443a" /><Relationship Type="http://schemas.openxmlformats.org/officeDocument/2006/relationships/notesSlide" Target="/ppt/notesSlides/notesSlide15.xml" Id="R770f40bb6e3c49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6D9E1CBF-43ED-4BA9-8A48-6AAB5B97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28C0DCA-430C-428E-9878-E383E229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86CDAA6-EB29-4E15-8AC3-B3E64A2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4AB31D6-2B9B-47E3-BCD4-6D25BBD7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43F8BB2C-0C61-4637-972F-CDD30523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271D720F-36F6-461C-B33E-F9246199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delivery puzzle">
            <a:extLst xmlns:a="http://schemas.openxmlformats.org/drawingml/2006/main">
              <a:ext uri="{FF2B5EF4-FFF2-40B4-BE49-F238E27FC236}">
                <a16:creationId xmlns:a16="http://schemas.microsoft.com/office/drawing/2014/main" id="{47F623E9-A67C-4FF8-88EC-F4496344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delivery puzzle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CD5DD25-536A-4A18-B755-6F6A414A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21558283-6462-474E-98B6-22DCAB5B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F8C66C01-3B0A-4122-8E0E-C2F978E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43BF8392-F73A-4E98-A2A6-3022812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8AF9657-E5B3-41AB-BEAD-1189709F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CDD493EA-3859-484C-BFA8-78BCCA6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digestion and circulation, then explain how they work t">
            <a:extLst xmlns:a="http://schemas.openxmlformats.org/drawingml/2006/main">
              <a:ext uri="{FF2B5EF4-FFF2-40B4-BE49-F238E27FC236}">
                <a16:creationId xmlns:a16="http://schemas.microsoft.com/office/drawing/2014/main" id="{15B2D83D-8AB6-45AF-B507-D9F248B5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digestion and circulation, then explain how they work together.</a:t>
            </a:r>
          </a:p>
        </p:txBody>
      </p:sp>
      <p:sp>
        <p:nvSpPr>
          <p:cNvPr id="15" name="How does something from lunch reach a muscle?">
            <a:extLst xmlns:a="http://schemas.openxmlformats.org/drawingml/2006/main">
              <a:ext uri="{FF2B5EF4-FFF2-40B4-BE49-F238E27FC236}">
                <a16:creationId xmlns:a16="http://schemas.microsoft.com/office/drawing/2014/main" id="{D40808DC-68C7-4C58-A852-ED3C8B85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How does something from lunch reach a muscle?</a:t>
            </a:r>
          </a:p>
        </p:txBody>
      </p:sp>
      <p:sp>
        <p:nvSpPr>
          <p:cNvPr id="16" name="Today: identify the two systems doing different jobs.">
            <a:extLst xmlns:a="http://schemas.openxmlformats.org/drawingml/2006/main">
              <a:ext uri="{FF2B5EF4-FFF2-40B4-BE49-F238E27FC236}">
                <a16:creationId xmlns:a16="http://schemas.microsoft.com/office/drawing/2014/main" id="{2C7C7A8A-E090-4C31-A296-93694A01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1403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Today: identify the two systems doing different jobs.</a:t>
            </a:r>
          </a:p>
        </p:txBody>
      </p:sp>
    </p:spTree>
    <p:extLst>
      <p:ext uri="{BB962C8B-B14F-4D97-AF65-F5344CB8AC3E}">
        <p14:creationId xmlns:p14="http://schemas.microsoft.com/office/powerpoint/2010/main" val="597999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F02BAD1-4495-45FB-89CB-532E6BD0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F6E940B-2D3D-45D5-B13C-FD3C4D35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C1AE81E-AD23-4849-A79E-4F87E83D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9F95636-DB07-49C0-94A0-3AF369E6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CD1B1347-5F14-4AD0-8268-063F1E3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4511CA07-1FB4-414D-A786-DA9A3774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Name it, then say its job">
            <a:extLst xmlns:a="http://schemas.openxmlformats.org/drawingml/2006/main">
              <a:ext uri="{FF2B5EF4-FFF2-40B4-BE49-F238E27FC236}">
                <a16:creationId xmlns:a16="http://schemas.microsoft.com/office/drawing/2014/main" id="{FC50B613-D8F4-40DE-BD60-F00F4F7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it, then say its job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4068572-46E4-4BCA-847D-67FD8ED3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BCD6FAB6-0431-4E73-AC47-45412DC4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41DCDD98-2AB0-41BB-8B82-AA69426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Name an organ in the chest.">
            <a:extLst xmlns:a="http://schemas.openxmlformats.org/drawingml/2006/main">
              <a:ext uri="{FF2B5EF4-FFF2-40B4-BE49-F238E27FC236}">
                <a16:creationId xmlns:a16="http://schemas.microsoft.com/office/drawing/2014/main" id="{0C8671DF-E9B7-421B-9AEE-1C161368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Name an organ in the chest.</a:t>
            </a:r>
          </a:p>
        </p:txBody>
      </p:sp>
      <p:sp>
        <p:nvSpPr>
          <p:cNvPr id="12" name="R2. Name an organ that handles food.">
            <a:extLst xmlns:a="http://schemas.openxmlformats.org/drawingml/2006/main">
              <a:ext uri="{FF2B5EF4-FFF2-40B4-BE49-F238E27FC236}">
                <a16:creationId xmlns:a16="http://schemas.microsoft.com/office/drawing/2014/main" id="{CA978826-52CA-426D-9204-FE6418B0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Name an organ that handles food.</a:t>
            </a:r>
          </a:p>
        </p:txBody>
      </p:sp>
      <p:sp>
        <p:nvSpPr>
          <p:cNvPr id="13" name="R3. Does naming an organ explain its job?">
            <a:extLst xmlns:a="http://schemas.openxmlformats.org/drawingml/2006/main">
              <a:ext uri="{FF2B5EF4-FFF2-40B4-BE49-F238E27FC236}">
                <a16:creationId xmlns:a16="http://schemas.microsoft.com/office/drawing/2014/main" id="{A5C3999C-7FCB-420C-B337-C779300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naming an organ explain its job?</a:t>
            </a:r>
          </a:p>
        </p:txBody>
      </p:sp>
    </p:spTree>
    <p:extLst>
      <p:ext uri="{BB962C8B-B14F-4D97-AF65-F5344CB8AC3E}">
        <p14:creationId xmlns:p14="http://schemas.microsoft.com/office/powerpoint/2010/main" val="1683428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BD8756E4-A0B3-4888-B0FE-EBB5F560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3809D49-D0C4-4F05-A2BD-3A26659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8A69444-1541-4265-9ED5-A0AFCA57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7236A9F-3CF4-4A08-98E1-B359AF9B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0717F10E-EDAD-4B1C-8A01-8D2F88C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2F679D0D-1F29-4EC3-A035-FE1A6CDA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follow the food route">
            <a:extLst xmlns:a="http://schemas.openxmlformats.org/drawingml/2006/main">
              <a:ext uri="{FF2B5EF4-FFF2-40B4-BE49-F238E27FC236}">
                <a16:creationId xmlns:a16="http://schemas.microsoft.com/office/drawing/2014/main" id="{EDDCB5B2-F943-4BFA-ADD9-364D123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the food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514995C-581B-4F1C-8084-51BA6E91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494E6945-77C3-4F98-A792-9243B2B7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50E96C3F-077A-4CB5-AFFB-15ECC207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Digestive system: a processing route">
            <a:extLst xmlns:a="http://schemas.openxmlformats.org/drawingml/2006/main">
              <a:ext uri="{FF2B5EF4-FFF2-40B4-BE49-F238E27FC236}">
                <a16:creationId xmlns:a16="http://schemas.microsoft.com/office/drawing/2014/main" id="{6CDB527A-7B95-443A-A48F-E244C1B2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34523"/>
            <a:ext cx="686956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Digestive system: a processing route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A64DEAD-4DD1-4FB0-BECD-73C156D3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3266565"/>
            <a:ext cx="2040958" cy="97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Diagram label: Mouth&#10;chews food">
            <a:extLst xmlns:a="http://schemas.openxmlformats.org/drawingml/2006/main">
              <a:ext uri="{FF2B5EF4-FFF2-40B4-BE49-F238E27FC236}">
                <a16:creationId xmlns:a16="http://schemas.microsoft.com/office/drawing/2014/main" id="{331D3FA2-3300-4631-9514-A0E5C18A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91" y="3415903"/>
            <a:ext cx="1921487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Mouth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chews food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535D51A-CEAA-4E8C-A1BF-6158FAC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51513" y="3751915"/>
            <a:ext cx="1456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F613AFE-335A-4FC4-8AF6-AC4A02B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70984" y="369964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02445D8-EAF5-450B-9D4C-7007ED7E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521" y="3266565"/>
            <a:ext cx="2040958" cy="97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Diagram label: Stomach&#10;mixes food">
            <a:extLst xmlns:a="http://schemas.openxmlformats.org/drawingml/2006/main">
              <a:ext uri="{FF2B5EF4-FFF2-40B4-BE49-F238E27FC236}">
                <a16:creationId xmlns:a16="http://schemas.microsoft.com/office/drawing/2014/main" id="{F2E83B49-9FDD-4958-9238-B67BCFB9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256" y="3415903"/>
            <a:ext cx="1921487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Stomach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mixes food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39A6D1E-CBAF-4A0A-AB5C-B87D44C8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16479" y="3751915"/>
            <a:ext cx="1456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CA61FDE-A4C5-4929-987F-2ED702B2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35950" y="369964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59A49D4-F8EC-44D2-9A4E-FC523A7A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487" y="3266565"/>
            <a:ext cx="2040958" cy="97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1" name="Diagram label: Small intestine&#10;digests; absorbs">
            <a:extLst xmlns:a="http://schemas.openxmlformats.org/drawingml/2006/main">
              <a:ext uri="{FF2B5EF4-FFF2-40B4-BE49-F238E27FC236}">
                <a16:creationId xmlns:a16="http://schemas.microsoft.com/office/drawing/2014/main" id="{16AD4F53-C064-4B9A-9BF8-F6812FB0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222" y="3415903"/>
            <a:ext cx="1921487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intestine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digests; absorbs</a:t>
            </a:r>
          </a:p>
        </p:txBody>
      </p:sp>
      <p:sp>
        <p:nvSpPr>
          <p:cNvPr id="22" name="Diagram label: Also included: oesophagus, large intestine,&#10;rectum and anus. This map shows selected jobs.">
            <a:extLst xmlns:a="http://schemas.openxmlformats.org/drawingml/2006/main">
              <a:ext uri="{FF2B5EF4-FFF2-40B4-BE49-F238E27FC236}">
                <a16:creationId xmlns:a16="http://schemas.microsoft.com/office/drawing/2014/main" id="{4200269E-5355-4CD3-86CC-F37A2A8E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4647945"/>
            <a:ext cx="6720228" cy="9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Also included: oesophagus, large intestine,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rectum and anus. This map shows selected jobs.</a:t>
            </a:r>
          </a:p>
        </p:txBody>
      </p:sp>
      <p:sp>
        <p:nvSpPr>
          <p:cNvPr id="23" name="I find the organ. I read its job.  Chewing is one part of digest">
            <a:extLst xmlns:a="http://schemas.openxmlformats.org/drawingml/2006/main">
              <a:ext uri="{FF2B5EF4-FFF2-40B4-BE49-F238E27FC236}">
                <a16:creationId xmlns:a16="http://schemas.microsoft.com/office/drawing/2014/main" id="{DA58583C-7842-4019-B920-6C19ABBE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find the organ. I read its job. Chewing is one part of digestion. The stomach does not finish every task.</a:t>
            </a:r>
          </a:p>
        </p:txBody>
      </p:sp>
    </p:spTree>
    <p:extLst>
      <p:ext uri="{BB962C8B-B14F-4D97-AF65-F5344CB8AC3E}">
        <p14:creationId xmlns:p14="http://schemas.microsoft.com/office/powerpoint/2010/main" val="795460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53211470-A455-438A-A444-DA87983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BEE74FC-A093-4FD5-97E5-5608A0DD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4CADBC9-909F-4A94-91AB-1CBCE0B9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C3812EB-E76E-495E-8BEA-7648D3C0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8EEE8AE0-3A0E-42CD-9E60-7D912B1C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follow the transport route">
            <a:extLst xmlns:a="http://schemas.openxmlformats.org/drawingml/2006/main">
              <a:ext uri="{FF2B5EF4-FFF2-40B4-BE49-F238E27FC236}">
                <a16:creationId xmlns:a16="http://schemas.microsoft.com/office/drawing/2014/main" id="{F9942F7E-6119-49E3-89C5-92BB816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the transport route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B39F37B-93FD-4219-A4C7-6C904315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933D94D8-3BC2-4744-B0E2-4340378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DC932534-2DCA-4C5D-A830-E0E3CAFE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Circulation: transport around a network">
            <a:extLst xmlns:a="http://schemas.openxmlformats.org/drawingml/2006/main">
              <a:ext uri="{FF2B5EF4-FFF2-40B4-BE49-F238E27FC236}">
                <a16:creationId xmlns:a16="http://schemas.microsoft.com/office/drawing/2014/main" id="{DF4F650F-E56E-4659-82E7-7D0D3A0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02019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Circulation: transport around a network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7E0E9B4-0346-489A-B432-5B332CD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18695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Heart&#10;pumps blood">
            <a:extLst xmlns:a="http://schemas.openxmlformats.org/drawingml/2006/main">
              <a:ext uri="{FF2B5EF4-FFF2-40B4-BE49-F238E27FC236}">
                <a16:creationId xmlns:a16="http://schemas.microsoft.com/office/drawing/2014/main" id="{3D04A78E-3020-4E75-9D24-69FA8CA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2730818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pumps blood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E12C1B6-EF67-48C1-BDBF-D5EAC2D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2618695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Diagram label: Blood vessels&#10;carry blood">
            <a:extLst xmlns:a="http://schemas.openxmlformats.org/drawingml/2006/main">
              <a:ext uri="{FF2B5EF4-FFF2-40B4-BE49-F238E27FC236}">
                <a16:creationId xmlns:a16="http://schemas.microsoft.com/office/drawing/2014/main" id="{AE8E663A-EE6F-4491-94E1-D3C7451F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921" y="2730818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vessels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carry blood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853B23C-B942-4EAD-BADA-04DF3F8E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4230461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Body tissues&#10;receive substances">
            <a:extLst xmlns:a="http://schemas.openxmlformats.org/drawingml/2006/main">
              <a:ext uri="{FF2B5EF4-FFF2-40B4-BE49-F238E27FC236}">
                <a16:creationId xmlns:a16="http://schemas.microsoft.com/office/drawing/2014/main" id="{0122D36F-D25E-4CA5-89E1-8745094E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921" y="4342584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tissues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receive substances</a:t>
            </a:r>
          </a:p>
        </p:txBody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BA4A427-BD39-454A-BA37-64AF7DF2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30461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8" name="Diagram label: Blood vessels&#10;return blood">
            <a:extLst xmlns:a="http://schemas.openxmlformats.org/drawingml/2006/main">
              <a:ext uri="{FF2B5EF4-FFF2-40B4-BE49-F238E27FC236}">
                <a16:creationId xmlns:a16="http://schemas.microsoft.com/office/drawing/2014/main" id="{D2D73A79-593B-4EFF-B3B7-B22E0B13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4342584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vessels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return blood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B1BDFC8-67E1-4E14-8A80-B2595668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25155" y="3004117"/>
            <a:ext cx="14681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7EE6F13-647E-4541-BB50-5D431236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8737" y="295506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5199C05-46B0-49D1-9AEF-6221A082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035" y="3389539"/>
            <a:ext cx="953" cy="767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2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CC0DF37-77A2-4A2E-832F-E7DAFA20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03981" y="413235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B977D0D-C707-41DE-9FEC-5FAE48FA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98736" y="4615883"/>
            <a:ext cx="14681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1B8DD1F-7E72-46E6-8A92-73158B7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325155" y="456682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2451C7F-5441-4A03-9461-0CCF41FD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38965" y="3463120"/>
            <a:ext cx="953" cy="767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61D7539-3590-4AEF-80C8-7D688D1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911" y="338953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7" name="Diagram label: Simplified job map: the lung route is omitted here.">
            <a:extLst xmlns:a="http://schemas.openxmlformats.org/drawingml/2006/main">
              <a:ext uri="{FF2B5EF4-FFF2-40B4-BE49-F238E27FC236}">
                <a16:creationId xmlns:a16="http://schemas.microsoft.com/office/drawing/2014/main" id="{0AB2B437-081A-4917-864C-0DB849D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5197520"/>
            <a:ext cx="623683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Simplified job map: the lung route is omitted here.</a:t>
            </a:r>
          </a:p>
        </p:txBody>
      </p:sp>
      <p:sp>
        <p:nvSpPr>
          <p:cNvPr id="28" name="The heart pumps blood.  Blood vessels form routes around the bod">
            <a:extLst xmlns:a="http://schemas.openxmlformats.org/drawingml/2006/main">
              <a:ext uri="{FF2B5EF4-FFF2-40B4-BE49-F238E27FC236}">
                <a16:creationId xmlns:a16="http://schemas.microsoft.com/office/drawing/2014/main" id="{55DDBD67-7B11-43A0-8E41-22BFA3A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heart pumps blood. Blood vessels form routes around the body. Blood carries useful substances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wastes.</a:t>
            </a:r>
          </a:p>
        </p:txBody>
      </p:sp>
    </p:spTree>
    <p:extLst>
      <p:ext uri="{BB962C8B-B14F-4D97-AF65-F5344CB8AC3E}">
        <p14:creationId xmlns:p14="http://schemas.microsoft.com/office/powerpoint/2010/main" val="854151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D309AE02-ACC2-4DFE-90BB-F6EF1459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1FC623C-BC21-4FC7-BC1C-3C7F35E5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3EEF90C-8E06-4531-94C1-9494563F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729C35C-DA75-4BEC-9D50-47530DB1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D806950-6D1D-4892-9F6C-A88D887A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connect the two systems">
            <a:extLst xmlns:a="http://schemas.openxmlformats.org/drawingml/2006/main">
              <a:ext uri="{FF2B5EF4-FFF2-40B4-BE49-F238E27FC236}">
                <a16:creationId xmlns:a16="http://schemas.microsoft.com/office/drawing/2014/main" id="{880EFDB5-2FFC-40D0-8C7B-7968F03D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connect the two systems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BCBD6BB-5360-491E-8B6B-625AFB87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1779433F-87A7-44C7-8C27-6C259A7C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403CB31A-E999-4D9C-960B-33C3AABA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Where the systems connect">
            <a:extLst xmlns:a="http://schemas.openxmlformats.org/drawingml/2006/main">
              <a:ext uri="{FF2B5EF4-FFF2-40B4-BE49-F238E27FC236}">
                <a16:creationId xmlns:a16="http://schemas.microsoft.com/office/drawing/2014/main" id="{07311A9F-75EB-4D81-88E6-199B2F88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Where the systems connect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FF7EFA1-AEF6-4789-A83B-18592DA1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Food in&#10;small intestine">
            <a:extLst xmlns:a="http://schemas.openxmlformats.org/drawingml/2006/main">
              <a:ext uri="{FF2B5EF4-FFF2-40B4-BE49-F238E27FC236}">
                <a16:creationId xmlns:a16="http://schemas.microsoft.com/office/drawing/2014/main" id="{B8E8F1B3-6B89-4D09-AABC-A6B2D09D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Food 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intestine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04AA4E1-76F6-4986-BFD7-71AE5C22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B0BE915-D354-4C2D-AACD-902EBDD2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218B229-2716-4474-9E52-13D6F707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Small absorbed&#10;nutrients">
            <a:extLst xmlns:a="http://schemas.openxmlformats.org/drawingml/2006/main">
              <a:ext uri="{FF2B5EF4-FFF2-40B4-BE49-F238E27FC236}">
                <a16:creationId xmlns:a16="http://schemas.microsoft.com/office/drawing/2014/main" id="{03CC4D8B-738D-4DB9-9EDB-7B6D3B3E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absorbed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nutrients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A15C0CF-8C9D-45EC-8A21-AD583C7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50432E8-EDB0-4B14-A1F0-1FB5D21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7073C6C-7499-4BE2-B9BB-DB020A1B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Diagram label: Blood carries&#10;to body tissues">
            <a:extLst xmlns:a="http://schemas.openxmlformats.org/drawingml/2006/main">
              <a:ext uri="{FF2B5EF4-FFF2-40B4-BE49-F238E27FC236}">
                <a16:creationId xmlns:a16="http://schemas.microsoft.com/office/drawing/2014/main" id="{6A1A82E7-D862-4E2C-9C87-94801FF7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carries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body tissues</a:t>
            </a:r>
          </a:p>
        </p:txBody>
      </p:sp>
      <p:sp>
        <p:nvSpPr>
          <p:cNvPr id="21" name="Diagram label: The gut wall is crossed by small substances.&#10;A whole sandwich does not enter a blood vessel.">
            <a:extLst xmlns:a="http://schemas.openxmlformats.org/drawingml/2006/main">
              <a:ext uri="{FF2B5EF4-FFF2-40B4-BE49-F238E27FC236}">
                <a16:creationId xmlns:a16="http://schemas.microsoft.com/office/drawing/2014/main" id="{F6F54F82-43E8-43AB-947E-1F3E9D22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gut wall is crossed by small substances.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whole sandwich does not enter a blood vessel.</a:t>
            </a:r>
          </a:p>
        </p:txBody>
      </p:sp>
      <p:sp>
        <p:nvSpPr>
          <p:cNvPr id="22" name="Digestion supplies small absorbable substances.  Circulation tra">
            <a:extLst xmlns:a="http://schemas.openxmlformats.org/drawingml/2006/main">
              <a:ext uri="{FF2B5EF4-FFF2-40B4-BE49-F238E27FC236}">
                <a16:creationId xmlns:a16="http://schemas.microsoft.com/office/drawing/2014/main" id="{BFFB378A-7EF9-4EEA-896E-CEF7A368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Digestion supplies small absorbable substances. Circulation transports absorbed nutrients. I must change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“food” to “small nutrients”.</a:t>
            </a:r>
          </a:p>
        </p:txBody>
      </p:sp>
    </p:spTree>
    <p:extLst>
      <p:ext uri="{BB962C8B-B14F-4D97-AF65-F5344CB8AC3E}">
        <p14:creationId xmlns:p14="http://schemas.microsoft.com/office/powerpoint/2010/main" val="1717036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E639439-320D-4E37-9CC0-BA88438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A707105-8564-400D-9AE8-D8C64FE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17D5FD5-3090-4FB9-97C5-8E6298B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329676C-6609-4B05-A1BB-6A1BBA16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AD91C740-8649-4048-8A40-3F20EDC4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9FBF5FD4-5A5F-463E-8BC1-DF365E16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Organ-and-job dispatch">
            <a:extLst xmlns:a="http://schemas.openxmlformats.org/drawingml/2006/main">
              <a:ext uri="{FF2B5EF4-FFF2-40B4-BE49-F238E27FC236}">
                <a16:creationId xmlns:a16="http://schemas.microsoft.com/office/drawing/2014/main" id="{0A580FB0-56D9-40FA-A89E-4382BACC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Organ-and-job dispatch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B7DA3D3-D3B2-4E7B-BF83-7DFE35E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008D4881-0808-45DC-AE7A-34FB0DC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F4AE4DD2-2705-4290-A26B-88265F26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Use evidence cards A–F. Sort A–E into digestive or circulatory. ">
            <a:extLst xmlns:a="http://schemas.openxmlformats.org/drawingml/2006/main">
              <a:ext uri="{FF2B5EF4-FFF2-40B4-BE49-F238E27FC236}">
                <a16:creationId xmlns:a16="http://schemas.microsoft.com/office/drawing/2014/main" id="{B25322EA-B7A5-49B3-9E61-74943078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cards A–F. Sort A–E into digestive or circulatory. W1. Explain one placement using the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job.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3031808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56057"/>
                <a:gridCol w="6269143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Job clue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A: Mouth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Chews; saliva begins digestion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B: Stomach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Mixes food and juices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C: Small intestine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Digests and absorbs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D: Heart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Pumps blood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E: Vessels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Carry blood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787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15A6D11-6631-4F6E-87ED-3DD50D6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530F7F8-7BDB-4847-9AE5-E06ACA68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C80D678-7CA2-4FC4-997F-300BF74C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C544A69-A3CC-4F1F-9F00-B2123E28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06B8C700-6510-4257-A3E2-49B31986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The mixed-up display">
            <a:extLst xmlns:a="http://schemas.openxmlformats.org/drawingml/2006/main">
              <a:ext uri="{FF2B5EF4-FFF2-40B4-BE49-F238E27FC236}">
                <a16:creationId xmlns:a16="http://schemas.microsoft.com/office/drawing/2014/main" id="{6B0B27F8-43BE-48F9-AA36-658EE30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mixed-up display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A12DB3E-5BD3-4AEC-901B-F14B66F5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FA7CD4ED-FEEA-496E-B8AE-EE467B26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88AEDE6E-633E-495E-B46F-C528565E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Display: “Stomach pumps blood. Heart breaks food down.”">
            <a:extLst xmlns:a="http://schemas.openxmlformats.org/drawingml/2006/main">
              <a:ext uri="{FF2B5EF4-FFF2-40B4-BE49-F238E27FC236}">
                <a16:creationId xmlns:a16="http://schemas.microsoft.com/office/drawing/2014/main" id="{C27054B5-CCB0-4A73-9C0E-198F4C41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Display: “Stomach pumps blood. Heart breaks food down.”</a:t>
            </a:r>
          </a:p>
        </p:txBody>
      </p:sp>
      <p:sp>
        <p:nvSpPr>
          <p:cNvPr id="11" name="W2. Replace both job labels.">
            <a:extLst xmlns:a="http://schemas.openxmlformats.org/drawingml/2006/main">
              <a:ext uri="{FF2B5EF4-FFF2-40B4-BE49-F238E27FC236}">
                <a16:creationId xmlns:a16="http://schemas.microsoft.com/office/drawing/2014/main" id="{40E40B90-060F-42FA-ACB0-91D32DF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Replace both job labels.</a:t>
            </a:r>
          </a:p>
        </p:txBody>
      </p:sp>
      <p:sp>
        <p:nvSpPr>
          <p:cNvPr id="12" name="Use a card as your reason.">
            <a:extLst xmlns:a="http://schemas.openxmlformats.org/drawingml/2006/main">
              <a:ext uri="{FF2B5EF4-FFF2-40B4-BE49-F238E27FC236}">
                <a16:creationId xmlns:a16="http://schemas.microsoft.com/office/drawing/2014/main" id="{42E03845-AA84-4520-8B7A-0E93089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card as your reason.</a:t>
            </a:r>
          </a:p>
        </p:txBody>
      </p:sp>
    </p:spTree>
    <p:extLst>
      <p:ext uri="{BB962C8B-B14F-4D97-AF65-F5344CB8AC3E}">
        <p14:creationId xmlns:p14="http://schemas.microsoft.com/office/powerpoint/2010/main" val="563493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4CDD6E8-62E0-4203-88EA-F44E36E5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3457C28-F0EF-429C-BE3B-A964C220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8F435CF-2064-4184-9714-8117E63B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07B76B6-0855-4D19-B3A9-1DEFF3EF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38F11442-52E7-4137-A060-4BCD04F5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Check the delivery claim">
            <a:extLst xmlns:a="http://schemas.openxmlformats.org/drawingml/2006/main">
              <a:ext uri="{FF2B5EF4-FFF2-40B4-BE49-F238E27FC236}">
                <a16:creationId xmlns:a16="http://schemas.microsoft.com/office/drawing/2014/main" id="{3136347A-7FB8-4F45-B6F1-38952A8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delivery claim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8D26924-A896-47B1-BFF1-F61E22D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2A3A7772-539C-497E-9889-EF1B6692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AF162672-A490-4AA6-9400-36879F27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Display: “Bread crumbs travel inside blood vessels.”">
            <a:extLst xmlns:a="http://schemas.openxmlformats.org/drawingml/2006/main">
              <a:ext uri="{FF2B5EF4-FFF2-40B4-BE49-F238E27FC236}">
                <a16:creationId xmlns:a16="http://schemas.microsoft.com/office/drawing/2014/main" id="{236F7AF9-C59D-4C70-A6D7-690CB623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Display: “Bread crumbs travel inside blood vessels.”</a:t>
            </a:r>
          </a:p>
        </p:txBody>
      </p:sp>
      <p:sp>
        <p:nvSpPr>
          <p:cNvPr id="11" name="W3. Keep, reject or repair this claim.">
            <a:extLst xmlns:a="http://schemas.openxmlformats.org/drawingml/2006/main">
              <a:ext uri="{FF2B5EF4-FFF2-40B4-BE49-F238E27FC236}">
                <a16:creationId xmlns:a16="http://schemas.microsoft.com/office/drawing/2014/main" id="{7E05E9D8-F580-484D-B41E-FC439F77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Keep, reject or repair this claim.</a:t>
            </a:r>
          </a:p>
        </p:txBody>
      </p:sp>
      <p:sp>
        <p:nvSpPr>
          <p:cNvPr id="12" name="Show the link between two systems.">
            <a:extLst xmlns:a="http://schemas.openxmlformats.org/drawingml/2006/main">
              <a:ext uri="{FF2B5EF4-FFF2-40B4-BE49-F238E27FC236}">
                <a16:creationId xmlns:a16="http://schemas.microsoft.com/office/drawing/2014/main" id="{77E57C40-6E92-433C-8353-E5D7742F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link between two systems.</a:t>
            </a:r>
          </a:p>
        </p:txBody>
      </p:sp>
    </p:spTree>
    <p:extLst>
      <p:ext uri="{BB962C8B-B14F-4D97-AF65-F5344CB8AC3E}">
        <p14:creationId xmlns:p14="http://schemas.microsoft.com/office/powerpoint/2010/main" val="292937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1AF19DE6-EE08-4CD2-A0C4-31E56065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5E6FBDD-40E7-4027-88E3-C3A09A8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B239DAE-0FC4-4684-9B34-7A2A1CE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DE3715F-504C-4D76-A285-DCAC1520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75D87E71-7202-49D2-954D-4B85D73B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3E14F54-C9C1-4C4C-900D-E1449CFD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explanation links the systems?">
            <a:extLst xmlns:a="http://schemas.openxmlformats.org/drawingml/2006/main">
              <a:ext uri="{FF2B5EF4-FFF2-40B4-BE49-F238E27FC236}">
                <a16:creationId xmlns:a16="http://schemas.microsoft.com/office/drawing/2014/main" id="{BA1FC0FC-38A1-41BC-A2A2-28B20951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explanation links the systems?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0D26735-722F-4F69-8509-1C480FD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2915CF75-4AEA-469D-96DD-1D6F1FA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DF29B498-A5A5-4A23-B1F2-1F2D6F35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, then explain one word.">
            <a:extLst xmlns:a="http://schemas.openxmlformats.org/drawingml/2006/main">
              <a:ext uri="{FF2B5EF4-FFF2-40B4-BE49-F238E27FC236}">
                <a16:creationId xmlns:a16="http://schemas.microsoft.com/office/drawing/2014/main" id="{90E26EC8-92EB-4ADF-83D7-14A69B19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Choose, then explain one word.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4C1AAFE-FE72-49A1-9C01-457A85C1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33D6583-9173-4738-A682-83A0A3CD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656FB1DF-A512-4EB0-8FC0-EA375FF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he heart digests lunch.">
            <a:extLst xmlns:a="http://schemas.openxmlformats.org/drawingml/2006/main">
              <a:ext uri="{FF2B5EF4-FFF2-40B4-BE49-F238E27FC236}">
                <a16:creationId xmlns:a16="http://schemas.microsoft.com/office/drawing/2014/main" id="{2ED87992-88D6-48A7-86BC-95B96B58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heart digests lunch.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265BB7A-F746-4647-A2B4-91453E33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54951BFD-E65B-4127-A95D-93375D4F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A740B5BC-29C1-4C9C-B403-0870687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Digestion produces small nutrients; blood transports them.">
            <a:extLst xmlns:a="http://schemas.openxmlformats.org/drawingml/2006/main">
              <a:ext uri="{FF2B5EF4-FFF2-40B4-BE49-F238E27FC236}">
                <a16:creationId xmlns:a16="http://schemas.microsoft.com/office/drawing/2014/main" id="{8C41F683-D182-48DB-8815-481F771F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Digestion produces small nutrients; blood transports them.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90E9E9C8-A1B4-4D34-9262-4F7F8D23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38118A09-8C4B-46E5-9A35-15DDFEA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EC08E010-3D25-40C3-9EA2-0D3AD022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he stomach works without any other body system.">
            <a:extLst xmlns:a="http://schemas.openxmlformats.org/drawingml/2006/main">
              <a:ext uri="{FF2B5EF4-FFF2-40B4-BE49-F238E27FC236}">
                <a16:creationId xmlns:a16="http://schemas.microsoft.com/office/drawing/2014/main" id="{9504E418-B263-4D34-97D6-C127210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stomach works without any other body system.</a:t>
            </a:r>
          </a:p>
        </p:txBody>
      </p:sp>
    </p:spTree>
    <p:extLst>
      <p:ext uri="{BB962C8B-B14F-4D97-AF65-F5344CB8AC3E}">
        <p14:creationId xmlns:p14="http://schemas.microsoft.com/office/powerpoint/2010/main" val="794238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AC60475-E3EB-4B1F-A369-F20D21D0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4802592-D06C-4B5F-80EA-405003D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7D0C02C-37CF-43BF-B44D-6860C5C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71D8365-8B61-4F1A-9490-D5F81AEA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3AAF0EC-02B9-440C-9605-572301EC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39939D63-F744-4026-8D35-5214E180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Build the museum panel">
            <a:extLst xmlns:a="http://schemas.openxmlformats.org/drawingml/2006/main">
              <a:ext uri="{FF2B5EF4-FFF2-40B4-BE49-F238E27FC236}">
                <a16:creationId xmlns:a16="http://schemas.microsoft.com/office/drawing/2014/main" id="{AD827440-DBA8-448B-89F4-AA3E83D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the museum panel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6C89476-F3D2-4A27-8D0C-4CC983ED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266917EB-5EBB-405E-823B-963EF0D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995859FB-6505-46A0-BC0F-40F3082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supported, standard or stretch.">
            <a:extLst xmlns:a="http://schemas.openxmlformats.org/drawingml/2006/main">
              <a:ext uri="{FF2B5EF4-FFF2-40B4-BE49-F238E27FC236}">
                <a16:creationId xmlns:a16="http://schemas.microsoft.com/office/drawing/2014/main" id="{F5B7AC3B-3CA1-4ADB-9431-27C49AB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supported, standard or stretch.</a:t>
            </a:r>
          </a:p>
        </p:txBody>
      </p:sp>
      <p:sp>
        <p:nvSpPr>
          <p:cNvPr id="12" name="Use page 1 as your evidence.">
            <a:extLst xmlns:a="http://schemas.openxmlformats.org/drawingml/2006/main">
              <a:ext uri="{FF2B5EF4-FFF2-40B4-BE49-F238E27FC236}">
                <a16:creationId xmlns:a16="http://schemas.microsoft.com/office/drawing/2014/main" id="{670F17D0-4BE4-4882-B510-21CB95EB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page 1 as your evidence.</a:t>
            </a:r>
          </a:p>
        </p:txBody>
      </p:sp>
      <p:sp>
        <p:nvSpPr>
          <p:cNvPr id="13" name="Your panel must explain both systems.">
            <a:extLst xmlns:a="http://schemas.openxmlformats.org/drawingml/2006/main">
              <a:ext uri="{FF2B5EF4-FFF2-40B4-BE49-F238E27FC236}">
                <a16:creationId xmlns:a16="http://schemas.microsoft.com/office/drawing/2014/main" id="{6F49190D-DB5A-4654-B9DA-E81D5454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panel must explain both systems.</a:t>
            </a:r>
          </a:p>
        </p:txBody>
      </p:sp>
    </p:spTree>
    <p:extLst>
      <p:ext uri="{BB962C8B-B14F-4D97-AF65-F5344CB8AC3E}">
        <p14:creationId xmlns:p14="http://schemas.microsoft.com/office/powerpoint/2010/main" val="12923757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9F6ADF4-741D-4A6F-BE9B-1C357A40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E3F8ED6-6FB9-4EE5-BE85-752424B0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C84811C-1313-405A-9798-A5024616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8757C2E-08F6-42EF-BDFF-8A965B46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6F64556F-AE2F-4540-BD96-2D6EEB5D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A useful sentence frame">
            <a:extLst xmlns:a="http://schemas.openxmlformats.org/drawingml/2006/main">
              <a:ext uri="{FF2B5EF4-FFF2-40B4-BE49-F238E27FC236}">
                <a16:creationId xmlns:a16="http://schemas.microsoft.com/office/drawing/2014/main" id="{79878615-F063-432B-A685-F39B5897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useful sentence frame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D393AF7-E3C7-4ECF-87A3-C98EAD7F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C7FE8AC5-7A91-48AE-902B-63BDE519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7938860A-9DC7-4EFE-9AA9-1FE36655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“The ____ belongs to the ____ system.”">
            <a:extLst xmlns:a="http://schemas.openxmlformats.org/drawingml/2006/main">
              <a:ext uri="{FF2B5EF4-FFF2-40B4-BE49-F238E27FC236}">
                <a16:creationId xmlns:a16="http://schemas.microsoft.com/office/drawing/2014/main" id="{4B0CC63D-1D4B-4C11-A530-C579C9D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“The ____ belongs to the ____ system.”</a:t>
            </a:r>
          </a:p>
        </p:txBody>
      </p:sp>
      <p:sp>
        <p:nvSpPr>
          <p:cNvPr id="11" name="“Its job is ____.”">
            <a:extLst xmlns:a="http://schemas.openxmlformats.org/drawingml/2006/main">
              <a:ext uri="{FF2B5EF4-FFF2-40B4-BE49-F238E27FC236}">
                <a16:creationId xmlns:a16="http://schemas.microsoft.com/office/drawing/2014/main" id="{F27A66B0-EF99-4A09-9408-0B9B68B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“Its job is ____.”</a:t>
            </a:r>
          </a:p>
        </p:txBody>
      </p:sp>
      <p:sp>
        <p:nvSpPr>
          <p:cNvPr id="12" name="“The two systems connect because ____.”">
            <a:extLst xmlns:a="http://schemas.openxmlformats.org/drawingml/2006/main">
              <a:ext uri="{FF2B5EF4-FFF2-40B4-BE49-F238E27FC236}">
                <a16:creationId xmlns:a16="http://schemas.microsoft.com/office/drawing/2014/main" id="{12F1CCC1-BFCD-4425-96A1-12855A69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“The two systems connect because ____.”</a:t>
            </a:r>
          </a:p>
        </p:txBody>
      </p:sp>
    </p:spTree>
    <p:extLst>
      <p:ext uri="{BB962C8B-B14F-4D97-AF65-F5344CB8AC3E}">
        <p14:creationId xmlns:p14="http://schemas.microsoft.com/office/powerpoint/2010/main" val="6445909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8A3A495-B4E8-46B9-B90A-EF9C8183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D856FFB-76AF-4D0E-835D-A9E45D53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41F9ADC-9A53-423D-A11E-D9F71B7A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6752EA1-15D8-459C-955B-E46DA0F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BB9EE9E-FF23-4C0E-9F6D-E18738C6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Proofread for science">
            <a:extLst xmlns:a="http://schemas.openxmlformats.org/drawingml/2006/main">
              <a:ext uri="{FF2B5EF4-FFF2-40B4-BE49-F238E27FC236}">
                <a16:creationId xmlns:a16="http://schemas.microsoft.com/office/drawing/2014/main" id="{24A94F7A-D882-431C-BBE0-0D7ABD1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Proofread for science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DF25258-D28E-4F30-A870-34CE225B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87E43139-69CD-4B45-8E9F-07683A08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6AC5BCCB-3023-4DC0-9DF2-05D46B1B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Have I mixed up digestion and pumping?">
            <a:extLst xmlns:a="http://schemas.openxmlformats.org/drawingml/2006/main">
              <a:ext uri="{FF2B5EF4-FFF2-40B4-BE49-F238E27FC236}">
                <a16:creationId xmlns:a16="http://schemas.microsoft.com/office/drawing/2014/main" id="{BC938DFE-85D7-43CA-8B81-02015C4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mixed up digestion and pumping?</a:t>
            </a:r>
          </a:p>
        </p:txBody>
      </p:sp>
      <p:sp>
        <p:nvSpPr>
          <p:cNvPr id="11" name="Have I explained the link?">
            <a:extLst xmlns:a="http://schemas.openxmlformats.org/drawingml/2006/main">
              <a:ext uri="{FF2B5EF4-FFF2-40B4-BE49-F238E27FC236}">
                <a16:creationId xmlns:a16="http://schemas.microsoft.com/office/drawing/2014/main" id="{472DCFCD-D89F-4E01-9CC4-7E89F20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explained the link?</a:t>
            </a:r>
          </a:p>
        </p:txBody>
      </p:sp>
      <p:sp>
        <p:nvSpPr>
          <p:cNvPr id="12" name="Does my arrow carry a small substance?">
            <a:extLst xmlns:a="http://schemas.openxmlformats.org/drawingml/2006/main">
              <a:ext uri="{FF2B5EF4-FFF2-40B4-BE49-F238E27FC236}">
                <a16:creationId xmlns:a16="http://schemas.microsoft.com/office/drawing/2014/main" id="{A4EAB6B2-A7DD-4697-BCAF-730B850A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arrow carry a small substance?</a:t>
            </a:r>
          </a:p>
        </p:txBody>
      </p:sp>
    </p:spTree>
    <p:extLst>
      <p:ext uri="{BB962C8B-B14F-4D97-AF65-F5344CB8AC3E}">
        <p14:creationId xmlns:p14="http://schemas.microsoft.com/office/powerpoint/2010/main" val="3463544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785ADA9-4106-4258-BACD-5DBCA005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63A1FBE-C1F3-44E0-A5A3-4FB0BD83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69DDB37-B378-42DD-96BF-B0294C28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D4FEA55-0122-4031-ADD7-8DA1F5A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A9AAEFB-CB7E-4D56-B5D2-8ADB8E72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07EC29DA-343B-4ADC-A6EC-34F6986C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Museum quality check">
            <a:extLst xmlns:a="http://schemas.openxmlformats.org/drawingml/2006/main">
              <a:ext uri="{FF2B5EF4-FFF2-40B4-BE49-F238E27FC236}">
                <a16:creationId xmlns:a16="http://schemas.microsoft.com/office/drawing/2014/main" id="{0025EF1C-99B4-401D-986A-2F933F14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Museum quality check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3F81572-A527-4E18-BDB0-03448B5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8CE90A79-DE18-4D3F-B7B2-58809336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5658C932-A471-48CC-A7D0-EED92C27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Read or show one repaired statement.">
            <a:extLst xmlns:a="http://schemas.openxmlformats.org/drawingml/2006/main">
              <a:ext uri="{FF2B5EF4-FFF2-40B4-BE49-F238E27FC236}">
                <a16:creationId xmlns:a16="http://schemas.microsoft.com/office/drawing/2014/main" id="{89CB3BD6-8416-4939-991F-C58F7009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or show one repaired statement.</a:t>
            </a:r>
          </a:p>
        </p:txBody>
      </p:sp>
      <p:sp>
        <p:nvSpPr>
          <p:cNvPr id="12" name="Does it name a job and a system?">
            <a:extLst xmlns:a="http://schemas.openxmlformats.org/drawingml/2006/main">
              <a:ext uri="{FF2B5EF4-FFF2-40B4-BE49-F238E27FC236}">
                <a16:creationId xmlns:a16="http://schemas.microsoft.com/office/drawing/2014/main" id="{985D8CA4-9F6A-46B7-8733-6EE7EA8E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it name a job and a system?</a:t>
            </a:r>
          </a:p>
        </p:txBody>
      </p:sp>
      <p:sp>
        <p:nvSpPr>
          <p:cNvPr id="13" name="Improve one label after feedback.">
            <a:extLst xmlns:a="http://schemas.openxmlformats.org/drawingml/2006/main">
              <a:ext uri="{FF2B5EF4-FFF2-40B4-BE49-F238E27FC236}">
                <a16:creationId xmlns:a16="http://schemas.microsoft.com/office/drawing/2014/main" id="{8EC755A8-680E-4FC7-9F2A-D9BFB85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one label after feedback.</a:t>
            </a:r>
          </a:p>
        </p:txBody>
      </p:sp>
    </p:spTree>
    <p:extLst>
      <p:ext uri="{BB962C8B-B14F-4D97-AF65-F5344CB8AC3E}">
        <p14:creationId xmlns:p14="http://schemas.microsoft.com/office/powerpoint/2010/main" val="4036831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CBA0118-84F0-46A6-915A-78BC28C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50E0956-488C-43B2-9EA0-1B4755F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B3F9864-1E1E-4836-9D02-79AD3B92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A4CDE1A-0C57-47FC-9F2D-0A09336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7E3F32A4-ECDE-45FB-BB98-33870C5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Choose the next question">
            <a:extLst xmlns:a="http://schemas.openxmlformats.org/drawingml/2006/main">
              <a:ext uri="{FF2B5EF4-FFF2-40B4-BE49-F238E27FC236}">
                <a16:creationId xmlns:a16="http://schemas.microsoft.com/office/drawing/2014/main" id="{64D6BC0E-9565-42CD-9F24-BC5C54D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next question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35970AE-5271-479E-A743-D6E362C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1F0D1680-BD5B-4B40-9063-2633C3D8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2132B51A-F414-439E-9D6C-092F501F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Which organ would help explain transport next?">
            <a:extLst xmlns:a="http://schemas.openxmlformats.org/drawingml/2006/main">
              <a:ext uri="{FF2B5EF4-FFF2-40B4-BE49-F238E27FC236}">
                <a16:creationId xmlns:a16="http://schemas.microsoft.com/office/drawing/2014/main" id="{E03B792A-EBF0-4DCC-A7F7-95D92C99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organ would help explain transport next?</a:t>
            </a:r>
          </a:p>
        </p:txBody>
      </p:sp>
      <p:sp>
        <p:nvSpPr>
          <p:cNvPr id="11" name="Suggest one question about its job.">
            <a:extLst xmlns:a="http://schemas.openxmlformats.org/drawingml/2006/main">
              <a:ext uri="{FF2B5EF4-FFF2-40B4-BE49-F238E27FC236}">
                <a16:creationId xmlns:a16="http://schemas.microsoft.com/office/drawing/2014/main" id="{DCFCC3F2-212A-41A7-86A6-7D742BF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one question about its job.</a:t>
            </a:r>
          </a:p>
        </p:txBody>
      </p:sp>
    </p:spTree>
    <p:extLst>
      <p:ext uri="{BB962C8B-B14F-4D97-AF65-F5344CB8AC3E}">
        <p14:creationId xmlns:p14="http://schemas.microsoft.com/office/powerpoint/2010/main" val="67454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E2B5C2E-93CF-46D9-AE74-5B2BCB1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0C83BA2-8B17-471A-A72E-CE58CB35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EBE5A5D-483B-4072-8A97-362AB06A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649CA25-024F-47C0-865F-D6E40892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FAEA2D91-780F-4BB8-B101-4BAEDA4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28C9382A-BC05-48E7-BEF5-9661C16A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Leave a clear explanation">
            <a:extLst xmlns:a="http://schemas.openxmlformats.org/drawingml/2006/main">
              <a:ext uri="{FF2B5EF4-FFF2-40B4-BE49-F238E27FC236}">
                <a16:creationId xmlns:a16="http://schemas.microsoft.com/office/drawing/2014/main" id="{1008F9A6-145D-4BA7-9690-E0405E7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Leave a clear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D543AA4-628C-4B0B-ABE0-5B59FA55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ody systems: the dispatch challenge">
            <a:extLst xmlns:a="http://schemas.openxmlformats.org/drawingml/2006/main">
              <a:ext uri="{FF2B5EF4-FFF2-40B4-BE49-F238E27FC236}">
                <a16:creationId xmlns:a16="http://schemas.microsoft.com/office/drawing/2014/main" id="{11B29641-36DF-4475-B083-D05E4FA6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Body systems: the dispatch challenge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363FEF3E-A022-4386-B9BA-99532C70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Give the heart’s job.">
            <a:extLst xmlns:a="http://schemas.openxmlformats.org/drawingml/2006/main">
              <a:ext uri="{FF2B5EF4-FFF2-40B4-BE49-F238E27FC236}">
                <a16:creationId xmlns:a16="http://schemas.microsoft.com/office/drawing/2014/main" id="{A0C79C87-C8AB-48C5-9237-676B16EE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Give the heart’s job.</a:t>
            </a:r>
          </a:p>
        </p:txBody>
      </p:sp>
      <p:sp>
        <p:nvSpPr>
          <p:cNvPr id="12" name="E2. Give one digestive organ and its job.">
            <a:extLst xmlns:a="http://schemas.openxmlformats.org/drawingml/2006/main">
              <a:ext uri="{FF2B5EF4-FFF2-40B4-BE49-F238E27FC236}">
                <a16:creationId xmlns:a16="http://schemas.microsoft.com/office/drawing/2014/main" id="{A5CB9623-EA6D-47FE-B364-B4C7312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Give one digestive organ and its job.</a:t>
            </a:r>
          </a:p>
        </p:txBody>
      </p:sp>
      <p:sp>
        <p:nvSpPr>
          <p:cNvPr id="13" name="E3. Explain how the two systems connect.">
            <a:extLst xmlns:a="http://schemas.openxmlformats.org/drawingml/2006/main">
              <a:ext uri="{FF2B5EF4-FFF2-40B4-BE49-F238E27FC236}">
                <a16:creationId xmlns:a16="http://schemas.microsoft.com/office/drawing/2014/main" id="{1A9F074C-D9AC-48F7-9BEA-1E7F3E40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Explain how the two systems connect.</a:t>
            </a:r>
          </a:p>
        </p:txBody>
      </p:sp>
    </p:spTree>
    <p:extLst>
      <p:ext uri="{BB962C8B-B14F-4D97-AF65-F5344CB8AC3E}">
        <p14:creationId xmlns:p14="http://schemas.microsoft.com/office/powerpoint/2010/main" val="488846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2026-09-08T23:11:02.6900000Z</dcterms:created>
  <dcterms:modified xsi:type="dcterms:W3CDTF">2026-09-08T23:11:02.6900000Z</dcterms:modified>
</coreProperties>
</file>