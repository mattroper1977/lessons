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7d6e2cdb6e423f" /><Relationship Type="http://schemas.openxmlformats.org/officeDocument/2006/relationships/extended-properties" Target="/docProps/app.xml" Id="R502a4780c6e14fc3" /><Relationship Type="http://schemas.openxmlformats.org/officeDocument/2006/relationships/officeDocument" Target="/ppt/presentation.xml" Id="R9322d10968ed4936" /></Relationships>
</file>

<file path=ppt/presentation.xml><?xml version="1.0" encoding="utf-8"?>
<p:presentation xmlns:p="http://schemas.openxmlformats.org/presentationml/2006/main">
  <p:sldMasterIdLst>
    <p:sldMasterId xmlns:r="http://schemas.openxmlformats.org/officeDocument/2006/relationships" id="2147483648" r:id="R5cf3165182d34462"/>
  </p:sldMasterIdLst>
  <p:notesMasterIdLst>
    <p:notesMasterId xmlns:r="http://schemas.openxmlformats.org/officeDocument/2006/relationships" r:id="R871016290ec34ee9"/>
  </p:notesMasterIdLst>
  <p:sldIdLst>
    <p:sldId xmlns:r="http://schemas.openxmlformats.org/officeDocument/2006/relationships" id="256" r:id="Rf89edf8f69a349bb"/>
    <p:sldId xmlns:r="http://schemas.openxmlformats.org/officeDocument/2006/relationships" id="257" r:id="R43d9f593dcdb43bc"/>
    <p:sldId xmlns:r="http://schemas.openxmlformats.org/officeDocument/2006/relationships" id="258" r:id="Rd74a2064f4054bfd"/>
    <p:sldId xmlns:r="http://schemas.openxmlformats.org/officeDocument/2006/relationships" id="259" r:id="Rb5072faa6b1d464a"/>
    <p:sldId xmlns:r="http://schemas.openxmlformats.org/officeDocument/2006/relationships" id="260" r:id="R58013fa7a101420b"/>
    <p:sldId xmlns:r="http://schemas.openxmlformats.org/officeDocument/2006/relationships" id="261" r:id="R754579fa794b4155"/>
    <p:sldId xmlns:r="http://schemas.openxmlformats.org/officeDocument/2006/relationships" id="262" r:id="Rc0e0032020af40df"/>
    <p:sldId xmlns:r="http://schemas.openxmlformats.org/officeDocument/2006/relationships" id="263" r:id="Rd8973eb63012458d"/>
    <p:sldId xmlns:r="http://schemas.openxmlformats.org/officeDocument/2006/relationships" id="264" r:id="R6a94030ec2d74610"/>
    <p:sldId xmlns:r="http://schemas.openxmlformats.org/officeDocument/2006/relationships" id="265" r:id="Rfd62e10a870f4183"/>
    <p:sldId xmlns:r="http://schemas.openxmlformats.org/officeDocument/2006/relationships" id="266" r:id="R67dc695589934b59"/>
    <p:sldId xmlns:r="http://schemas.openxmlformats.org/officeDocument/2006/relationships" id="267" r:id="R8d6b3854001149c8"/>
    <p:sldId xmlns:r="http://schemas.openxmlformats.org/officeDocument/2006/relationships" id="268" r:id="R0a2ce87c92644bfa"/>
    <p:sldId xmlns:r="http://schemas.openxmlformats.org/officeDocument/2006/relationships" id="269" r:id="R3c1a487146ed4ac0"/>
    <p:sldId xmlns:r="http://schemas.openxmlformats.org/officeDocument/2006/relationships" id="270" r:id="Ree2d097dfe5940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dbd8f3e4514d68" /><Relationship Type="http://schemas.openxmlformats.org/officeDocument/2006/relationships/slideMaster" Target="/ppt/slideMasters/slideMaster1.xml" Id="R5cf3165182d34462" /><Relationship Type="http://schemas.openxmlformats.org/officeDocument/2006/relationships/notesMaster" Target="/ppt/notesMasters/notesMaster1.xml" Id="R871016290ec34ee9" /><Relationship Type="http://schemas.openxmlformats.org/officeDocument/2006/relationships/presProps" Target="/ppt/presProps.xml" Id="Re5bb74c144b34692" /><Relationship Type="http://schemas.openxmlformats.org/officeDocument/2006/relationships/tableStyles" Target="/ppt/tableStyles.xml" Id="R96e21c023b404533" /><Relationship Type="http://schemas.openxmlformats.org/officeDocument/2006/relationships/slide" Target="/ppt/slides/slide1.xml" Id="Rf89edf8f69a349bb" /><Relationship Type="http://schemas.openxmlformats.org/officeDocument/2006/relationships/slide" Target="/ppt/slides/slide2.xml" Id="R43d9f593dcdb43bc" /><Relationship Type="http://schemas.openxmlformats.org/officeDocument/2006/relationships/slide" Target="/ppt/slides/slide3.xml" Id="Rd74a2064f4054bfd" /><Relationship Type="http://schemas.openxmlformats.org/officeDocument/2006/relationships/slide" Target="/ppt/slides/slide4.xml" Id="Rb5072faa6b1d464a" /><Relationship Type="http://schemas.openxmlformats.org/officeDocument/2006/relationships/slide" Target="/ppt/slides/slide5.xml" Id="R58013fa7a101420b" /><Relationship Type="http://schemas.openxmlformats.org/officeDocument/2006/relationships/slide" Target="/ppt/slides/slide6.xml" Id="R754579fa794b4155" /><Relationship Type="http://schemas.openxmlformats.org/officeDocument/2006/relationships/slide" Target="/ppt/slides/slide7.xml" Id="Rc0e0032020af40df" /><Relationship Type="http://schemas.openxmlformats.org/officeDocument/2006/relationships/slide" Target="/ppt/slides/slide8.xml" Id="Rd8973eb63012458d" /><Relationship Type="http://schemas.openxmlformats.org/officeDocument/2006/relationships/slide" Target="/ppt/slides/slide9.xml" Id="R6a94030ec2d74610" /><Relationship Type="http://schemas.openxmlformats.org/officeDocument/2006/relationships/slide" Target="/ppt/slides/slide10.xml" Id="Rfd62e10a870f4183" /><Relationship Type="http://schemas.openxmlformats.org/officeDocument/2006/relationships/slide" Target="/ppt/slides/slide11.xml" Id="R67dc695589934b59" /><Relationship Type="http://schemas.openxmlformats.org/officeDocument/2006/relationships/slide" Target="/ppt/slides/slide12.xml" Id="R8d6b3854001149c8" /><Relationship Type="http://schemas.openxmlformats.org/officeDocument/2006/relationships/slide" Target="/ppt/slides/slide13.xml" Id="R0a2ce87c92644bfa" /><Relationship Type="http://schemas.openxmlformats.org/officeDocument/2006/relationships/slide" Target="/ppt/slides/slide14.xml" Id="R3c1a487146ed4ac0" /><Relationship Type="http://schemas.openxmlformats.org/officeDocument/2006/relationships/slide" Target="/ppt/slides/slide15.xml" Id="Ree2d097dfe5940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8aaf2474de49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018fe2d4bb43de" /><Relationship Type="http://schemas.openxmlformats.org/officeDocument/2006/relationships/notesMaster" Target="/ppt/notesMasters/notesMaster1.xml" Id="Rb0e1c4334b8643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d54cdfafef4bd8" /><Relationship Type="http://schemas.openxmlformats.org/officeDocument/2006/relationships/notesMaster" Target="/ppt/notesMasters/notesMaster1.xml" Id="Rcc219d28b22e4a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f8df3498ca40e5" /><Relationship Type="http://schemas.openxmlformats.org/officeDocument/2006/relationships/notesMaster" Target="/ppt/notesMasters/notesMaster1.xml" Id="R6f57fc1cc2764d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00688968174a19" /><Relationship Type="http://schemas.openxmlformats.org/officeDocument/2006/relationships/notesMaster" Target="/ppt/notesMasters/notesMaster1.xml" Id="R26002fff3aea46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ec9471bbfb470b" /><Relationship Type="http://schemas.openxmlformats.org/officeDocument/2006/relationships/notesMaster" Target="/ppt/notesMasters/notesMaster1.xml" Id="R270510ed257643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381ad5acc94442" /><Relationship Type="http://schemas.openxmlformats.org/officeDocument/2006/relationships/notesMaster" Target="/ppt/notesMasters/notesMaster1.xml" Id="R961d43447e2448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c936b7a48e48db" /><Relationship Type="http://schemas.openxmlformats.org/officeDocument/2006/relationships/notesMaster" Target="/ppt/notesMasters/notesMaster1.xml" Id="R13f004012c8043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26de0b729946ee" /><Relationship Type="http://schemas.openxmlformats.org/officeDocument/2006/relationships/notesMaster" Target="/ppt/notesMasters/notesMaster1.xml" Id="Rb1dd82b4961147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28c272937f4a58" /><Relationship Type="http://schemas.openxmlformats.org/officeDocument/2006/relationships/notesMaster" Target="/ppt/notesMasters/notesMaster1.xml" Id="R62f138a31fca4b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ac7e1223e24bc5" /><Relationship Type="http://schemas.openxmlformats.org/officeDocument/2006/relationships/notesMaster" Target="/ppt/notesMasters/notesMaster1.xml" Id="R1c0ff8f993ff4d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1e0d9813884cfe" /><Relationship Type="http://schemas.openxmlformats.org/officeDocument/2006/relationships/notesMaster" Target="/ppt/notesMasters/notesMaster1.xml" Id="R66002ab2199544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09a83b35e94f26" /><Relationship Type="http://schemas.openxmlformats.org/officeDocument/2006/relationships/notesMaster" Target="/ppt/notesMasters/notesMaster1.xml" Id="R4c20cd89fd064e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b1db540d564d31" /><Relationship Type="http://schemas.openxmlformats.org/officeDocument/2006/relationships/notesMaster" Target="/ppt/notesMasters/notesMaster1.xml" Id="R8ee9981b20a042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8f190d657748e4" /><Relationship Type="http://schemas.openxmlformats.org/officeDocument/2006/relationships/notesMaster" Target="/ppt/notesMasters/notesMaster1.xml" Id="Rb0fb29ec91824f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38dd99af164175" /><Relationship Type="http://schemas.openxmlformats.org/officeDocument/2006/relationships/notesMaster" Target="/ppt/notesMasters/notesMaster1.xml" Id="R8e6b3375691142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Make clear this is a model audit, not a health test. A pupil can challenge a claim without proposing any treatment.</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R1 heart rate × stroke volume. R2 down a concentration gradient. R3 a hormone signal; glycogen is a storage carbohydrate.</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Think aloud: “I can use pump output to compare volume per minute. I cannot turn it into oxygen delivery without oxygen content and distribution. I also need exchange and demand to judge adequacy.” Explain aerobic respiration in cells, not in the lungs.</a:t>
            </a:r>
          </a:p>
          <a:p xmlns:a="http://schemas.openxmlformats.org/drawingml/2006/main">
            <a:r>
              <a:t/>
            </a:r>
          </a:p>
          <a:p xmlns:a="http://schemas.openxmlformats.org/drawingml/2006/main">
            <a:r>
              <a:t>DIAGRAM DESCRIPTION</a:t>
            </a:r>
          </a:p>
          <a:p xmlns:a="http://schemas.openxmlformats.org/drawingml/2006/main">
            <a:r>
              <a:t>Schematic pathway: ventilation replenishes alveolar air; oxygen diffuses into pulmonary blood; heart-driven circulation carries oxygen to tissue capillaries; oxygen diffuses towards cells down a gradient. Cells use oxygen in aerobic respiration. It is not a quantitative supply model.</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Show beats cancelling in the units. B is 90 × 60 = 5,400 mL/min = 5.4 L/min. A has the larger stroke volume, but B has the greater output in these records.</a:t>
            </a:r>
          </a:p>
          <a:p xmlns:a="http://schemas.openxmlformats.org/drawingml/2006/main">
            <a:r>
              <a:t/>
            </a:r>
          </a:p>
          <a:p xmlns:a="http://schemas.openxmlformats.org/drawingml/2006/main">
            <a:r>
              <a:t>DIAGRAM DESCRIPTION</a:t>
            </a:r>
          </a:p>
          <a:p xmlns:a="http://schemas.openxmlformats.org/drawingml/2006/main">
            <a:r>
              <a:t>Constructed teaching records. Pump A: 60 beats/min × 70 mL/beat = 4,200 mL/min = 4.2 L/min. Pump B: 90 × 60 = 5,400 mL/min = 5.4 L/min. These are not observations of pupils or diagnostic reference ranges.</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Trace purple signal arrow and blue material arrow. After raised glucose, increased insulin can promote uptake and storage, helping glucose return towards its usual range. Do not claim every cell requires insulin for glucose entry.</a:t>
            </a:r>
          </a:p>
          <a:p xmlns:a="http://schemas.openxmlformats.org/drawingml/2006/main">
            <a:r>
              <a:t/>
            </a:r>
          </a:p>
          <a:p xmlns:a="http://schemas.openxmlformats.org/drawingml/2006/main">
            <a:r>
              <a:t>DIAGRAM DESCRIPTION</a:t>
            </a:r>
          </a:p>
          <a:p xmlns:a="http://schemas.openxmlformats.org/drawingml/2006/main">
            <a:r>
              <a:t>Two related but distinct routes. Insulin released by pancreatic beta cells is carried in blood and signals responsive target tissues. Glucose is carried as a material; insulin promotes uptake in responsive tissues and glycogen storage in liver/muscle. The model does not imply all glucose uptake requires insulin.</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X/Z changes area alone: predicted index doubles. Y/Z changes thickness alone: Z has half the thickness and twice the index. X/Y changes two factors and cannot isolate either effect.</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Supported: B pumps a greater volume per minute in these records. Not established: adequacy for every tissue; oxygen content, distribution, exchange and demand were not measured. Ask pupils to name one needed piece of evidence.</a:t>
            </a:r>
          </a:p>
          <a:p xmlns:a="http://schemas.openxmlformats.org/drawingml/2006/main">
            <a:r>
              <a:t/>
            </a:r>
          </a:p>
          <a:p xmlns:a="http://schemas.openxmlformats.org/drawingml/2006/main">
            <a:r>
              <a:t>DIAGRAM DESCRIPTION</a:t>
            </a:r>
          </a:p>
          <a:p xmlns:a="http://schemas.openxmlformats.org/drawingml/2006/main">
            <a:r>
              <a:t>Schematic pathway: ventilation replenishes alveolar air; oxygen diffuses into pulmonary blood; heart-driven circulation carries oxygen to tissue capillaries; oxygen diffuses towards cells down a gradient. Cells use oxygen in aerobic respiration. It is not a quantitative supply model.</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X = 3 × 4 / 1 = 12. Y = 6 × 4 / 2 = 12. Both area and thickness double, so effects cancel in this idealised rule. The result is a model prediction, not a clinical observation.</a:t>
            </a:r>
          </a:p>
          <a:p xmlns:a="http://schemas.openxmlformats.org/drawingml/2006/main">
            <a:r>
              <a:t/>
            </a:r>
          </a:p>
          <a:p xmlns:a="http://schemas.openxmlformats.org/drawingml/2006/main">
            <a:r>
              <a:t>REVEAL / MODEL ANSWER</a:t>
            </a:r>
          </a:p>
          <a:p xmlns:a="http://schemas.openxmlformats.org/drawingml/2006/main">
            <a:r>
              <a:t>X and Y both have index 12. Two factors changed.</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Correct option names the same relative model and unchanged factors. Reteach a comparison by circling the two identical columns.</a:t>
            </a:r>
          </a:p>
          <a:p xmlns:a="http://schemas.openxmlformats.org/drawingml/2006/main">
            <a:r>
              <a:t/>
            </a:r>
          </a:p>
          <a:p xmlns:a="http://schemas.openxmlformats.org/drawingml/2006/main">
            <a:r>
              <a:t>A. Z has twice X’s relative index because area doubles while concentration difference and thickness stay the same.</a:t>
            </a:r>
          </a:p>
          <a:p xmlns:a="http://schemas.openxmlformats.org/drawingml/2006/main">
            <a:r>
              <a:t>Correct. The controlled comparison supports that prediction under the supplied rule.</a:t>
            </a:r>
          </a:p>
          <a:p xmlns:a="http://schemas.openxmlformats.org/drawingml/2006/main">
            <a:r>
              <a:t/>
            </a:r>
          </a:p>
          <a:p xmlns:a="http://schemas.openxmlformats.org/drawingml/2006/main">
            <a:r>
              <a:t>B. B proves that a pupil is fitter than another pupil.</a:t>
            </a:r>
          </a:p>
          <a:p xmlns:a="http://schemas.openxmlformats.org/drawingml/2006/main">
            <a:r>
              <a:t>The records are constructed and do not measure pupils, fitness or health.</a:t>
            </a:r>
          </a:p>
          <a:p xmlns:a="http://schemas.openxmlformats.org/drawingml/2006/main">
            <a:r>
              <a:t/>
            </a:r>
          </a:p>
          <a:p xmlns:a="http://schemas.openxmlformats.org/drawingml/2006/main">
            <a:r>
              <a:t>C. Insulin is broken down into glycogen to provide a store.</a:t>
            </a:r>
          </a:p>
          <a:p xmlns:a="http://schemas.openxmlformats.org/drawingml/2006/main">
            <a:r>
              <a:t>Glycogen is made from glucose; insulin is a hormone signal.</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 minutes.</a:t>
            </a:r>
          </a:p>
          <a:p xmlns:a="http://schemas.openxmlformats.org/drawingml/2006/main">
            <a:r>
              <a:t/>
            </a:r>
          </a:p>
          <a:p xmlns:a="http://schemas.openxmlformats.org/drawingml/2006/main">
            <a:r>
              <a:t>The same objective applies across routes. Supply read-aloud or calculator access as needed and record support.</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Supported S1–S4, standard M1–M4 or stretch T1–T4. A correct number without units needs repair; a causal claim needs a comparison or mechanism.</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A useful next measure could be stroke volume under a defined condition, oxygen content, tissue blood distribution or a controlled exchange variable. Accept a focused question, not a vague “more data”.</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 minutes.</a:t>
            </a:r>
          </a:p>
          <a:p xmlns:a="http://schemas.openxmlformats.org/drawingml/2006/main">
            <a:r>
              <a:t/>
            </a:r>
          </a:p>
          <a:p xmlns:a="http://schemas.openxmlformats.org/drawingml/2006/main">
            <a:r>
              <a:t>Pupil records one revision. Ask whether the new evidence could distinguish two explanations.</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 minutes.</a:t>
            </a:r>
          </a:p>
          <a:p xmlns:a="http://schemas.openxmlformats.org/drawingml/2006/main">
            <a:r>
              <a:t/>
            </a:r>
          </a:p>
          <a:p xmlns:a="http://schemas.openxmlformats.org/drawingml/2006/main">
            <a:r>
              <a:t>E1 4 L/min. E2 area and thickness both change. E3 demand, oxygen content, distribution or actual exchange. No medical interpretation is needed.</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Shared exit minute; let pupils point to a next step and explain briefly.</a:t>
            </a:r>
          </a:p>
          <a:p xmlns:a="http://schemas.openxmlformats.org/drawingml/2006/main">
            <a:r>
              <a:t/>
            </a:r>
          </a:p>
          <a:p xmlns:a="http://schemas.openxmlformats.org/drawingml/2006/main">
            <a:r>
              <a:t>LESSON REFERENCES</a:t>
            </a:r>
          </a:p>
          <a:p xmlns:a="http://schemas.openxmlformats.org/drawingml/2006/main">
            <a:r>
              <a:t>Pearson Edexcel GCSE Biology 1BI0 specification</a:t>
            </a:r>
          </a:p>
          <a:p xmlns:a="http://schemas.openxmlformats.org/drawingml/2006/main">
            <a:r>
              <a:t>https://qualifications.pearson.com/content/dam/pdf/GCSE/Science/2016/Specification/gcse-biology-spec.pdf</a:t>
            </a:r>
          </a:p>
          <a:p xmlns:a="http://schemas.openxmlformats.org/drawingml/2006/main">
            <a:r>
              <a:t>Used to check relevant Foundation curriculum content; this is teacher-authored practice, not an official assessment or complete unit. Checked 9 September 2026.</a:t>
            </a:r>
          </a:p>
          <a:p xmlns:a="http://schemas.openxmlformats.org/drawingml/2006/main">
            <a:r>
              <a:t/>
            </a:r>
          </a:p>
          <a:p xmlns:a="http://schemas.openxmlformats.org/drawingml/2006/main">
            <a:r>
              <a:t>NHLBI: How blood flows through the heart</a:t>
            </a:r>
          </a:p>
          <a:p xmlns:a="http://schemas.openxmlformats.org/drawingml/2006/main">
            <a:r>
              <a:t>https://www.nhlbi.nih.gov/health/heart/blood-flow</a:t>
            </a:r>
          </a:p>
          <a:p xmlns:a="http://schemas.openxmlformats.org/drawingml/2006/main">
            <a:r>
              <a:t>Used for the circulation and oxygen-transport pathway. Checked 9 September 2026.</a:t>
            </a:r>
          </a:p>
          <a:p xmlns:a="http://schemas.openxmlformats.org/drawingml/2006/main">
            <a:r>
              <a:t/>
            </a:r>
          </a:p>
          <a:p xmlns:a="http://schemas.openxmlformats.org/drawingml/2006/main">
            <a:r>
              <a:t>NHLBI: What breathing does for the body</a:t>
            </a:r>
          </a:p>
          <a:p xmlns:a="http://schemas.openxmlformats.org/drawingml/2006/main">
            <a:r>
              <a:t>https://www.nhlbi.nih.gov/health/lungs/breathing-benefits</a:t>
            </a:r>
          </a:p>
          <a:p xmlns:a="http://schemas.openxmlformats.org/drawingml/2006/main">
            <a:r>
              <a:t>Used for alveolar exchange and oxygen transport. Checked 9 September 2026.</a:t>
            </a:r>
          </a:p>
          <a:p xmlns:a="http://schemas.openxmlformats.org/drawingml/2006/main">
            <a:r>
              <a:t/>
            </a:r>
          </a:p>
          <a:p xmlns:a="http://schemas.openxmlformats.org/drawingml/2006/main">
            <a:r>
              <a:t>NIDDK: What is diabetes?</a:t>
            </a:r>
          </a:p>
          <a:p xmlns:a="http://schemas.openxmlformats.org/drawingml/2006/main">
            <a:r>
              <a:t>https://www.niddk.nih.gov/health-information/diabetes/overview/what-is-diabetes</a:t>
            </a:r>
          </a:p>
          <a:p xmlns:a="http://schemas.openxmlformats.org/drawingml/2006/main">
            <a:r>
              <a:t>Used for insulin, glucose and energy context. All numerical records are constructed classroom data, not patient measurements. Checked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6aac882a534c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03688d2d01418c" /><Relationship Type="http://schemas.openxmlformats.org/officeDocument/2006/relationships/slideLayout" Target="/ppt/slideLayouts/slideLayout1.xml" Id="Rc404dc2e0a194d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04dc2e0a194d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63c77f65fe4a72" /><Relationship Type="http://schemas.openxmlformats.org/officeDocument/2006/relationships/notesSlide" Target="/ppt/notesSlides/notesSlide1.xml" Id="R7bc47b9908a043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774b20e9464589" /><Relationship Type="http://schemas.openxmlformats.org/officeDocument/2006/relationships/notesSlide" Target="/ppt/notesSlides/notesSlide2.xml" Id="Rfe718461c7cf40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1d50a220f848de" /><Relationship Type="http://schemas.openxmlformats.org/officeDocument/2006/relationships/notesSlide" Target="/ppt/notesSlides/notesSlide3.xml" Id="R90f92bd06f704c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223d247f4d4276" /><Relationship Type="http://schemas.openxmlformats.org/officeDocument/2006/relationships/notesSlide" Target="/ppt/notesSlides/notesSlide4.xml" Id="Rfb191218a0bd4f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8a595e381ec4d91" /><Relationship Type="http://schemas.openxmlformats.org/officeDocument/2006/relationships/notesSlide" Target="/ppt/notesSlides/notesSlide5.xml" Id="R6fc08d4e8ddb4e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b1c769af154461" /><Relationship Type="http://schemas.openxmlformats.org/officeDocument/2006/relationships/notesSlide" Target="/ppt/notesSlides/notesSlide6.xml" Id="Rc57a3e69feb348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faff4c891344bf" /><Relationship Type="http://schemas.openxmlformats.org/officeDocument/2006/relationships/notesSlide" Target="/ppt/notesSlides/notesSlide7.xml" Id="R9dd01ece7ab543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174904de8d4648" /><Relationship Type="http://schemas.openxmlformats.org/officeDocument/2006/relationships/notesSlide" Target="/ppt/notesSlides/notesSlide8.xml" Id="R427cb7308b0249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c56da2263544b5" /><Relationship Type="http://schemas.openxmlformats.org/officeDocument/2006/relationships/notesSlide" Target="/ppt/notesSlides/notesSlide9.xml" Id="R69cc3b6cc61b40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c496e068ae404f" /><Relationship Type="http://schemas.openxmlformats.org/officeDocument/2006/relationships/notesSlide" Target="/ppt/notesSlides/notesSlide10.xml" Id="Rc207ff1bb1444d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a2e618a111414f" /><Relationship Type="http://schemas.openxmlformats.org/officeDocument/2006/relationships/notesSlide" Target="/ppt/notesSlides/notesSlide11.xml" Id="Rca32dd20b61344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c0162cebba4887" /><Relationship Type="http://schemas.openxmlformats.org/officeDocument/2006/relationships/notesSlide" Target="/ppt/notesSlides/notesSlide12.xml" Id="Recb8ff30c0454d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d3569796b1488d" /><Relationship Type="http://schemas.openxmlformats.org/officeDocument/2006/relationships/notesSlide" Target="/ppt/notesSlides/notesSlide13.xml" Id="Rac958d94c0c64b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a3e56235e641b3" /><Relationship Type="http://schemas.openxmlformats.org/officeDocument/2006/relationships/notesSlide" Target="/ppt/notesSlides/notesSlide14.xml" Id="R6f9e6484e17648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10eba90ef18415e" /><Relationship Type="http://schemas.openxmlformats.org/officeDocument/2006/relationships/notesSlide" Target="/ppt/notesSlides/notesSlide15.xml" Id="R7701d5c277884a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82840E42-C8CE-4E3D-9CF1-518318B4569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8C87284-C32A-4397-8840-E7748BF418B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F2DE42F-CBE0-43E3-9D74-B88775F0AEF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3C1C1C80-118C-4009-A5C0-E096C361EB4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Opening">
            <a:extLst xmlns:a="http://schemas.openxmlformats.org/drawingml/2006/main">
              <a:ext uri="{FF2B5EF4-FFF2-40B4-BE49-F238E27FC236}">
                <a16:creationId xmlns:a16="http://schemas.microsoft.com/office/drawing/2014/main" id="{BFE8C60E-47FD-4D72-8116-3C73403E593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264A8C85-3B52-44A5-B7E4-425F9D54B10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an the claim survive the evidence?">
            <a:extLst xmlns:a="http://schemas.openxmlformats.org/drawingml/2006/main">
              <a:ext uri="{FF2B5EF4-FFF2-40B4-BE49-F238E27FC236}">
                <a16:creationId xmlns:a16="http://schemas.microsoft.com/office/drawing/2014/main" id="{C741C46F-9DC3-4746-A041-5CBA3F6BFDB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Can the claim survive the evidence?</a:t>
            </a:r>
          </a:p>
        </p:txBody>
      </p:sp>
      <p:sp>
        <p:nvSpPr>
          <p:cNvPr id="8" name="surface">
            <a:extLst xmlns:a="http://schemas.openxmlformats.org/drawingml/2006/main">
              <a:ext uri="{FF2B5EF4-FFF2-40B4-BE49-F238E27FC236}">
                <a16:creationId xmlns:a16="http://schemas.microsoft.com/office/drawing/2014/main" id="{D391A6A5-1D42-415B-B375-E48BF096BA3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54B1256A-7A2E-4124-93FD-51E7A434B16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1 / 15">
            <a:extLst xmlns:a="http://schemas.openxmlformats.org/drawingml/2006/main">
              <a:ext uri="{FF2B5EF4-FFF2-40B4-BE49-F238E27FC236}">
                <a16:creationId xmlns:a16="http://schemas.microsoft.com/office/drawing/2014/main" id="{D3684896-19DB-4387-B705-C063A73CD0C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15</a:t>
            </a:r>
          </a:p>
        </p:txBody>
      </p:sp>
      <p:sp>
        <p:nvSpPr>
          <p:cNvPr id="11" name="surface">
            <a:extLst xmlns:a="http://schemas.openxmlformats.org/drawingml/2006/main">
              <a:ext uri="{FF2B5EF4-FFF2-40B4-BE49-F238E27FC236}">
                <a16:creationId xmlns:a16="http://schemas.microsoft.com/office/drawing/2014/main" id="{081C436B-3733-422D-BA0D-8D789518B40C}"/>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FE8E1F58-C8C9-4A8B-8003-03873257CB6C}"/>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48540659-CCE5-4460-B7F5-82C3D5CD3487}"/>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7A5C9E"/>
                </a:solidFill>
                <a:latin typeface="Nimbus Sans"/>
                <a:ea typeface="Nimbus Sans"/>
                <a:cs typeface="Nimbus Sans"/>
              </a:defRPr>
            </a:pPr>
            <a:r>
              <a:rPr sz="1650" b="1">
                <a:solidFill>
                  <a:srgbClr val="7A5C9E"/>
                </a:solidFill>
                <a:latin typeface="Nimbus Sans"/>
                <a:ea typeface="Nimbus Sans"/>
                <a:cs typeface="Nimbus Sans"/>
              </a:rPr>
              <a:t>Learning intention</a:t>
            </a:r>
          </a:p>
        </p:txBody>
      </p:sp>
      <p:sp>
        <p:nvSpPr>
          <p:cNvPr id="14" name="Use evidence about control, circulation and gas exchange to judg">
            <a:extLst xmlns:a="http://schemas.openxmlformats.org/drawingml/2006/main">
              <a:ext uri="{FF2B5EF4-FFF2-40B4-BE49-F238E27FC236}">
                <a16:creationId xmlns:a16="http://schemas.microsoft.com/office/drawing/2014/main" id="{13B302B7-C7F7-407B-AE09-081FB7A44A4B}"/>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Use evidence about control, circulation and gas exchange to judge claims in an</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unfamiliar model.</a:t>
            </a:r>
          </a:p>
        </p:txBody>
      </p:sp>
      <p:sp>
        <p:nvSpPr>
          <p:cNvPr id="15" name="A fictional teaching lab has three connected models.">
            <a:extLst xmlns:a="http://schemas.openxmlformats.org/drawingml/2006/main">
              <a:ext uri="{FF2B5EF4-FFF2-40B4-BE49-F238E27FC236}">
                <a16:creationId xmlns:a16="http://schemas.microsoft.com/office/drawing/2014/main" id="{4EE23A24-BF85-478E-9CCA-A497FDCEF892}"/>
              </a:ext>
            </a:extLst>
          </p:cNvPr>
          <p:cNvSpPr>
            <a:spLocks xmlns:a="http://schemas.openxmlformats.org/drawingml/2006/main" noGrp="1"/>
          </p:cNvSpPr>
          <p:nvPr/>
        </p:nvSpPr>
        <p:spPr>
          <a:xfrm xmlns:a="http://schemas.openxmlformats.org/drawingml/2006/main">
            <a:off x="762000" y="33623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 fictional teaching lab has three connected models.</a:t>
            </a:r>
          </a:p>
        </p:txBody>
      </p:sp>
      <p:sp>
        <p:nvSpPr>
          <p:cNvPr id="16" name="Your job: calculate, explain and limit its claims.">
            <a:extLst xmlns:a="http://schemas.openxmlformats.org/drawingml/2006/main">
              <a:ext uri="{FF2B5EF4-FFF2-40B4-BE49-F238E27FC236}">
                <a16:creationId xmlns:a16="http://schemas.microsoft.com/office/drawing/2014/main" id="{2179FB4D-5C56-4239-895E-8414622A6BF2}"/>
              </a:ext>
            </a:extLst>
          </p:cNvPr>
          <p:cNvSpPr>
            <a:spLocks xmlns:a="http://schemas.openxmlformats.org/drawingml/2006/main" noGrp="1"/>
          </p:cNvSpPr>
          <p:nvPr/>
        </p:nvSpPr>
        <p:spPr>
          <a:xfrm xmlns:a="http://schemas.openxmlformats.org/drawingml/2006/main">
            <a:off x="762000" y="39157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Your job: calculate, explain and limit its claims.</a:t>
            </a:r>
          </a:p>
        </p:txBody>
      </p:sp>
    </p:spTree>
    <p:extLst>
      <p:ext uri="{BB962C8B-B14F-4D97-AF65-F5344CB8AC3E}">
        <p14:creationId xmlns:p14="http://schemas.microsoft.com/office/powerpoint/2010/main" val="8101748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E6C3CE43-3CC7-40AD-9A5A-E236CF35CBF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6313350-A6BF-4C17-8307-474D521402C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223369E-B7DE-433B-8E02-96BE780D114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784E133E-6163-4DEE-8288-18D697227D7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trieval">
            <a:extLst xmlns:a="http://schemas.openxmlformats.org/drawingml/2006/main">
              <a:ext uri="{FF2B5EF4-FFF2-40B4-BE49-F238E27FC236}">
                <a16:creationId xmlns:a16="http://schemas.microsoft.com/office/drawing/2014/main" id="{A3D3264E-066F-456F-92B8-87629BB40BF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11F7182F-7B04-4AE2-84C6-F462C747C01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Recover three mechanisms">
            <a:extLst xmlns:a="http://schemas.openxmlformats.org/drawingml/2006/main">
              <a:ext uri="{FF2B5EF4-FFF2-40B4-BE49-F238E27FC236}">
                <a16:creationId xmlns:a16="http://schemas.microsoft.com/office/drawing/2014/main" id="{E0D70AB8-1401-4BA4-8128-D040C1174CC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Recover three mechanisms</a:t>
            </a:r>
          </a:p>
        </p:txBody>
      </p:sp>
      <p:sp>
        <p:nvSpPr>
          <p:cNvPr id="8" name="surface">
            <a:extLst xmlns:a="http://schemas.openxmlformats.org/drawingml/2006/main">
              <a:ext uri="{FF2B5EF4-FFF2-40B4-BE49-F238E27FC236}">
                <a16:creationId xmlns:a16="http://schemas.microsoft.com/office/drawing/2014/main" id="{21D494B1-A38F-44EB-AE1C-4B31DA4020D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2B4FE44A-FFB2-4161-A523-1B6BF89C0EF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2 / 15">
            <a:extLst xmlns:a="http://schemas.openxmlformats.org/drawingml/2006/main">
              <a:ext uri="{FF2B5EF4-FFF2-40B4-BE49-F238E27FC236}">
                <a16:creationId xmlns:a16="http://schemas.microsoft.com/office/drawing/2014/main" id="{D5F327FD-18BB-49FA-81A9-520BD3D68E8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15</a:t>
            </a:r>
          </a:p>
        </p:txBody>
      </p:sp>
      <p:sp>
        <p:nvSpPr>
          <p:cNvPr id="11" name="R1. What is cardiac output calculated from?">
            <a:extLst xmlns:a="http://schemas.openxmlformats.org/drawingml/2006/main">
              <a:ext uri="{FF2B5EF4-FFF2-40B4-BE49-F238E27FC236}">
                <a16:creationId xmlns:a16="http://schemas.microsoft.com/office/drawing/2014/main" id="{492984BD-1B85-478F-B0DE-7EB60CDE864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R1. What is cardiac output calculated from?</a:t>
            </a:r>
          </a:p>
        </p:txBody>
      </p:sp>
      <p:sp>
        <p:nvSpPr>
          <p:cNvPr id="12" name="R2. Which way does net diffusion occur?">
            <a:extLst xmlns:a="http://schemas.openxmlformats.org/drawingml/2006/main">
              <a:ext uri="{FF2B5EF4-FFF2-40B4-BE49-F238E27FC236}">
                <a16:creationId xmlns:a16="http://schemas.microsoft.com/office/drawing/2014/main" id="{F785E0BA-DAFF-4673-A26A-3679B5494F05}"/>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R2. Which way does net diffusion occur?</a:t>
            </a:r>
          </a:p>
        </p:txBody>
      </p:sp>
      <p:sp>
        <p:nvSpPr>
          <p:cNvPr id="13" name="R3. Is insulin a signal or a glucose store?">
            <a:extLst xmlns:a="http://schemas.openxmlformats.org/drawingml/2006/main">
              <a:ext uri="{FF2B5EF4-FFF2-40B4-BE49-F238E27FC236}">
                <a16:creationId xmlns:a16="http://schemas.microsoft.com/office/drawing/2014/main" id="{A2020FFE-0E1D-4070-9B4E-CFC24CE70966}"/>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R3. Is insulin a signal or a glucose store?</a:t>
            </a:r>
          </a:p>
        </p:txBody>
      </p:sp>
    </p:spTree>
    <p:extLst>
      <p:ext uri="{BB962C8B-B14F-4D97-AF65-F5344CB8AC3E}">
        <p14:creationId xmlns:p14="http://schemas.microsoft.com/office/powerpoint/2010/main" val="20641486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19AA727C-FA1F-4F32-AED4-E8E2A9FC57C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0F87A05-393B-4A69-9F0B-824EDCD056E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7D83DBF-291F-4EF9-BF7B-B743A677A06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B93AFF13-BFD7-42E7-921A-4BE2CAD7A49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9D925E8F-8C1B-4867-B2CA-499FF21AEF3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4 min">
            <a:extLst xmlns:a="http://schemas.openxmlformats.org/drawingml/2006/main">
              <a:ext uri="{FF2B5EF4-FFF2-40B4-BE49-F238E27FC236}">
                <a16:creationId xmlns:a16="http://schemas.microsoft.com/office/drawing/2014/main" id="{95C945F9-58A2-448F-9F3B-BAAB605FDB73}"/>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Think across the oxygen pathway">
            <a:extLst xmlns:a="http://schemas.openxmlformats.org/drawingml/2006/main">
              <a:ext uri="{FF2B5EF4-FFF2-40B4-BE49-F238E27FC236}">
                <a16:creationId xmlns:a16="http://schemas.microsoft.com/office/drawing/2014/main" id="{54C78A03-4805-4713-A8C7-2C5F5E5B569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Think across the oxygen pathway</a:t>
            </a:r>
          </a:p>
        </p:txBody>
      </p:sp>
      <p:sp>
        <p:nvSpPr>
          <p:cNvPr id="8" name="surface">
            <a:extLst xmlns:a="http://schemas.openxmlformats.org/drawingml/2006/main">
              <a:ext uri="{FF2B5EF4-FFF2-40B4-BE49-F238E27FC236}">
                <a16:creationId xmlns:a16="http://schemas.microsoft.com/office/drawing/2014/main" id="{ADB8D6F1-07E1-46E3-8491-4A69EDDCFB6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A831CC3B-F5EF-4EA6-91A4-2E148510101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3 / 15">
            <a:extLst xmlns:a="http://schemas.openxmlformats.org/drawingml/2006/main">
              <a:ext uri="{FF2B5EF4-FFF2-40B4-BE49-F238E27FC236}">
                <a16:creationId xmlns:a16="http://schemas.microsoft.com/office/drawing/2014/main" id="{1D5EEAB6-1E4E-4D00-8BC9-FCA8C332C01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15</a:t>
            </a:r>
          </a:p>
        </p:txBody>
      </p:sp>
      <p:sp>
        <p:nvSpPr>
          <p:cNvPr id="11" name="Diagram label: Oxygen supply is a linked pathway">
            <a:extLst xmlns:a="http://schemas.openxmlformats.org/drawingml/2006/main">
              <a:ext uri="{FF2B5EF4-FFF2-40B4-BE49-F238E27FC236}">
                <a16:creationId xmlns:a16="http://schemas.microsoft.com/office/drawing/2014/main" id="{BE388300-C7B7-4138-9EB4-6D8C99A48DB4}"/>
              </a:ext>
            </a:extLst>
          </p:cNvPr>
          <p:cNvSpPr>
            <a:spLocks xmlns:a="http://schemas.openxmlformats.org/drawingml/2006/main" noGrp="1"/>
          </p:cNvSpPr>
          <p:nvPr/>
        </p:nvSpPr>
        <p:spPr>
          <a:xfrm xmlns:a="http://schemas.openxmlformats.org/drawingml/2006/main">
            <a:off x="2586548" y="1997188"/>
            <a:ext cx="7018904" cy="358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Oxygen supply is a linked pathway</a:t>
            </a:r>
          </a:p>
        </p:txBody>
      </p:sp>
      <p:sp>
        <p:nvSpPr>
          <p:cNvPr id="12" name="Editable scientific diagram">
            <a:extLst xmlns:a="http://schemas.openxmlformats.org/drawingml/2006/main">
              <a:ext uri="{FF2B5EF4-FFF2-40B4-BE49-F238E27FC236}">
                <a16:creationId xmlns:a16="http://schemas.microsoft.com/office/drawing/2014/main" id="{765BFB84-2222-4A18-A1E9-76B6DEB8317B}"/>
              </a:ext>
            </a:extLst>
          </p:cNvPr>
          <p:cNvSpPr>
            <a:spLocks xmlns:a="http://schemas.openxmlformats.org/drawingml/2006/main" noGrp="1"/>
          </p:cNvSpPr>
          <p:nvPr/>
        </p:nvSpPr>
        <p:spPr>
          <a:xfrm xmlns:a="http://schemas.openxmlformats.org/drawingml/2006/main">
            <a:off x="2735886" y="2669211"/>
            <a:ext cx="2912099" cy="1008034"/>
          </a:xfrm>
          <a:prstGeom xmlns:a="http://schemas.openxmlformats.org/drawingml/2006/main" prst="rect">
            <a:avLst/>
          </a:prstGeom>
          <a:solidFill xmlns:a="http://schemas.openxmlformats.org/drawingml/2006/main">
            <a:srgbClr val="F0EBF5"/>
          </a:solidFill>
          <a:ln xmlns:a="http://schemas.openxmlformats.org/drawingml/2006/main" w="22401">
            <a:solidFill>
              <a:srgbClr val="7A5C9E"/>
            </a:solidFill>
          </a:ln>
        </p:spPr>
      </p:sp>
      <p:sp>
        <p:nvSpPr>
          <p:cNvPr id="13" name="Diagram label: Ventilation&#10;Replenishes alveolar air">
            <a:extLst xmlns:a="http://schemas.openxmlformats.org/drawingml/2006/main">
              <a:ext uri="{FF2B5EF4-FFF2-40B4-BE49-F238E27FC236}">
                <a16:creationId xmlns:a16="http://schemas.microsoft.com/office/drawing/2014/main" id="{90121C90-ADAF-4579-AFCB-8F7145564AA9}"/>
              </a:ext>
            </a:extLst>
          </p:cNvPr>
          <p:cNvSpPr>
            <a:spLocks xmlns:a="http://schemas.openxmlformats.org/drawingml/2006/main" noGrp="1"/>
          </p:cNvSpPr>
          <p:nvPr/>
        </p:nvSpPr>
        <p:spPr>
          <a:xfrm xmlns:a="http://schemas.openxmlformats.org/drawingml/2006/main">
            <a:off x="2922559" y="2818550"/>
            <a:ext cx="2538753"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Ventilation</a:t>
            </a:r>
          </a:p>
          <a:p xmlns:a="http://schemas.openxmlformats.org/drawingml/2006/main">
            <a:pPr algn="ctr">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Replenishes alveolar air</a:t>
            </a:r>
          </a:p>
        </p:txBody>
      </p:sp>
      <p:sp>
        <p:nvSpPr>
          <p:cNvPr id="14" name="Editable scientific diagram">
            <a:extLst xmlns:a="http://schemas.openxmlformats.org/drawingml/2006/main">
              <a:ext uri="{FF2B5EF4-FFF2-40B4-BE49-F238E27FC236}">
                <a16:creationId xmlns:a16="http://schemas.microsoft.com/office/drawing/2014/main" id="{4D2C5C90-E20B-4D85-8CC4-30BF7CCAB0B6}"/>
              </a:ext>
            </a:extLst>
          </p:cNvPr>
          <p:cNvSpPr>
            <a:spLocks xmlns:a="http://schemas.openxmlformats.org/drawingml/2006/main" noGrp="1"/>
          </p:cNvSpPr>
          <p:nvPr/>
        </p:nvSpPr>
        <p:spPr>
          <a:xfrm xmlns:a="http://schemas.openxmlformats.org/drawingml/2006/main">
            <a:off x="6506681" y="2669211"/>
            <a:ext cx="2912099" cy="1008034"/>
          </a:xfrm>
          <a:prstGeom xmlns:a="http://schemas.openxmlformats.org/drawingml/2006/main" prst="rect">
            <a:avLst/>
          </a:prstGeom>
          <a:solidFill xmlns:a="http://schemas.openxmlformats.org/drawingml/2006/main">
            <a:srgbClr val="F0EBF5"/>
          </a:solidFill>
          <a:ln xmlns:a="http://schemas.openxmlformats.org/drawingml/2006/main" w="22401">
            <a:solidFill>
              <a:srgbClr val="7A5C9E"/>
            </a:solidFill>
          </a:ln>
        </p:spPr>
      </p:sp>
      <p:sp>
        <p:nvSpPr>
          <p:cNvPr id="15" name="Diagram label: Lung exchange&#10;Oxygen diffuses&#10;into blood">
            <a:extLst xmlns:a="http://schemas.openxmlformats.org/drawingml/2006/main">
              <a:ext uri="{FF2B5EF4-FFF2-40B4-BE49-F238E27FC236}">
                <a16:creationId xmlns:a16="http://schemas.microsoft.com/office/drawing/2014/main" id="{031B5F7A-520B-411B-B999-B5C32F92DCA2}"/>
              </a:ext>
            </a:extLst>
          </p:cNvPr>
          <p:cNvSpPr>
            <a:spLocks xmlns:a="http://schemas.openxmlformats.org/drawingml/2006/main" noGrp="1"/>
          </p:cNvSpPr>
          <p:nvPr/>
        </p:nvSpPr>
        <p:spPr>
          <a:xfrm xmlns:a="http://schemas.openxmlformats.org/drawingml/2006/main">
            <a:off x="6693354" y="2818550"/>
            <a:ext cx="2538753"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Lung exchange</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Oxygen diffuses</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into blood</a:t>
            </a:r>
          </a:p>
        </p:txBody>
      </p:sp>
      <p:sp>
        <p:nvSpPr>
          <p:cNvPr id="16" name="Editable scientific diagram">
            <a:extLst xmlns:a="http://schemas.openxmlformats.org/drawingml/2006/main">
              <a:ext uri="{FF2B5EF4-FFF2-40B4-BE49-F238E27FC236}">
                <a16:creationId xmlns:a16="http://schemas.microsoft.com/office/drawing/2014/main" id="{71FD10D7-871C-453C-9574-ABD73659748A}"/>
              </a:ext>
            </a:extLst>
          </p:cNvPr>
          <p:cNvSpPr>
            <a:spLocks xmlns:a="http://schemas.openxmlformats.org/drawingml/2006/main" noGrp="1"/>
          </p:cNvSpPr>
          <p:nvPr/>
        </p:nvSpPr>
        <p:spPr>
          <a:xfrm xmlns:a="http://schemas.openxmlformats.org/drawingml/2006/main">
            <a:off x="6506681" y="4274599"/>
            <a:ext cx="2912099" cy="1120038"/>
          </a:xfrm>
          <a:prstGeom xmlns:a="http://schemas.openxmlformats.org/drawingml/2006/main" prst="rect">
            <a:avLst/>
          </a:prstGeom>
          <a:solidFill xmlns:a="http://schemas.openxmlformats.org/drawingml/2006/main">
            <a:srgbClr val="F0EBF5"/>
          </a:solidFill>
          <a:ln xmlns:a="http://schemas.openxmlformats.org/drawingml/2006/main" w="22401">
            <a:solidFill>
              <a:srgbClr val="7A5C9E"/>
            </a:solidFill>
          </a:ln>
        </p:spPr>
      </p:sp>
      <p:sp>
        <p:nvSpPr>
          <p:cNvPr id="17" name="Diagram label: Circulation&#10;Carries oxygen towards&#10;tissue capillaries">
            <a:extLst xmlns:a="http://schemas.openxmlformats.org/drawingml/2006/main">
              <a:ext uri="{FF2B5EF4-FFF2-40B4-BE49-F238E27FC236}">
                <a16:creationId xmlns:a16="http://schemas.microsoft.com/office/drawing/2014/main" id="{4C9E9BB2-51EB-49E1-A565-803849A5C392}"/>
              </a:ext>
            </a:extLst>
          </p:cNvPr>
          <p:cNvSpPr>
            <a:spLocks xmlns:a="http://schemas.openxmlformats.org/drawingml/2006/main" noGrp="1"/>
          </p:cNvSpPr>
          <p:nvPr/>
        </p:nvSpPr>
        <p:spPr>
          <a:xfrm xmlns:a="http://schemas.openxmlformats.org/drawingml/2006/main">
            <a:off x="6693354" y="4423937"/>
            <a:ext cx="2538753" cy="784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Circulation</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Carries oxygen towards</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tissue capillaries</a:t>
            </a:r>
          </a:p>
        </p:txBody>
      </p:sp>
      <p:sp>
        <p:nvSpPr>
          <p:cNvPr id="18" name="Editable scientific diagram">
            <a:extLst xmlns:a="http://schemas.openxmlformats.org/drawingml/2006/main">
              <a:ext uri="{FF2B5EF4-FFF2-40B4-BE49-F238E27FC236}">
                <a16:creationId xmlns:a16="http://schemas.microsoft.com/office/drawing/2014/main" id="{678EAAFC-0838-4884-AC0B-8DFBF819DC7B}"/>
              </a:ext>
            </a:extLst>
          </p:cNvPr>
          <p:cNvSpPr>
            <a:spLocks xmlns:a="http://schemas.openxmlformats.org/drawingml/2006/main" noGrp="1"/>
          </p:cNvSpPr>
          <p:nvPr/>
        </p:nvSpPr>
        <p:spPr>
          <a:xfrm xmlns:a="http://schemas.openxmlformats.org/drawingml/2006/main">
            <a:off x="2735886" y="4274599"/>
            <a:ext cx="2912099" cy="1120038"/>
          </a:xfrm>
          <a:prstGeom xmlns:a="http://schemas.openxmlformats.org/drawingml/2006/main" prst="rect">
            <a:avLst/>
          </a:prstGeom>
          <a:solidFill xmlns:a="http://schemas.openxmlformats.org/drawingml/2006/main">
            <a:srgbClr val="F0EBF5"/>
          </a:solidFill>
          <a:ln xmlns:a="http://schemas.openxmlformats.org/drawingml/2006/main" w="22401">
            <a:solidFill>
              <a:srgbClr val="7A5C9E"/>
            </a:solidFill>
          </a:ln>
        </p:spPr>
      </p:sp>
      <p:sp>
        <p:nvSpPr>
          <p:cNvPr id="19" name="Diagram label: Tissue exchange&#10;Oxygen diffuses to cells&#10;for aerobic respiration">
            <a:extLst xmlns:a="http://schemas.openxmlformats.org/drawingml/2006/main">
              <a:ext uri="{FF2B5EF4-FFF2-40B4-BE49-F238E27FC236}">
                <a16:creationId xmlns:a16="http://schemas.microsoft.com/office/drawing/2014/main" id="{D6205D78-D1B2-47F2-86CD-68D02F51EDA9}"/>
              </a:ext>
            </a:extLst>
          </p:cNvPr>
          <p:cNvSpPr>
            <a:spLocks xmlns:a="http://schemas.openxmlformats.org/drawingml/2006/main" noGrp="1"/>
          </p:cNvSpPr>
          <p:nvPr/>
        </p:nvSpPr>
        <p:spPr>
          <a:xfrm xmlns:a="http://schemas.openxmlformats.org/drawingml/2006/main">
            <a:off x="2922559" y="4423937"/>
            <a:ext cx="2538753" cy="784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Tissue exchange</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Oxygen diffuses to cells</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for aerobic respiration</a:t>
            </a:r>
          </a:p>
        </p:txBody>
      </p:sp>
      <p:sp>
        <p:nvSpPr>
          <p:cNvPr id="20" name="Diagram line">
            <a:extLst xmlns:a="http://schemas.openxmlformats.org/drawingml/2006/main">
              <a:ext uri="{FF2B5EF4-FFF2-40B4-BE49-F238E27FC236}">
                <a16:creationId xmlns:a16="http://schemas.microsoft.com/office/drawing/2014/main" id="{BA95FE09-1038-494E-941F-64436A988D51}"/>
              </a:ext>
            </a:extLst>
          </p:cNvPr>
          <p:cNvSpPr>
            <a:spLocks xmlns:a="http://schemas.openxmlformats.org/drawingml/2006/main" noGrp="1"/>
          </p:cNvSpPr>
          <p:nvPr/>
        </p:nvSpPr>
        <p:spPr>
          <a:xfrm xmlns:a="http://schemas.openxmlformats.org/drawingml/2006/main" flipH="0" flipV="0">
            <a:off x="5745055" y="3154561"/>
            <a:ext cx="571219" cy="953"/>
          </a:xfrm>
          <a:prstGeom xmlns:a="http://schemas.openxmlformats.org/drawingml/2006/main" prst="line">
            <a:avLst/>
          </a:prstGeom>
          <a:noFill xmlns:a="http://schemas.openxmlformats.org/drawingml/2006/main"/>
          <a:ln xmlns:a="http://schemas.openxmlformats.org/drawingml/2006/main" w="29868">
            <a:solidFill>
              <a:srgbClr val="7A5C9E"/>
            </a:solidFill>
          </a:ln>
        </p:spPr>
      </p:sp>
      <p:sp>
        <p:nvSpPr>
          <p:cNvPr id="21" name="Diagram arrowhead">
            <a:extLst xmlns:a="http://schemas.openxmlformats.org/drawingml/2006/main">
              <a:ext uri="{FF2B5EF4-FFF2-40B4-BE49-F238E27FC236}">
                <a16:creationId xmlns:a16="http://schemas.microsoft.com/office/drawing/2014/main" id="{CDE6D878-1E83-4931-A785-91CD64C7352C}"/>
              </a:ext>
            </a:extLst>
          </p:cNvPr>
          <p:cNvSpPr>
            <a:spLocks xmlns:a="http://schemas.openxmlformats.org/drawingml/2006/main" noGrp="1"/>
          </p:cNvSpPr>
          <p:nvPr/>
        </p:nvSpPr>
        <p:spPr>
          <a:xfrm xmlns:a="http://schemas.openxmlformats.org/drawingml/2006/main" rot="5400000">
            <a:off x="6290140" y="3102293"/>
            <a:ext cx="104537" cy="104537"/>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2" name="Diagram line">
            <a:extLst xmlns:a="http://schemas.openxmlformats.org/drawingml/2006/main">
              <a:ext uri="{FF2B5EF4-FFF2-40B4-BE49-F238E27FC236}">
                <a16:creationId xmlns:a16="http://schemas.microsoft.com/office/drawing/2014/main" id="{16D8511D-0494-4AC6-BF2A-21CF1ADC55B4}"/>
              </a:ext>
            </a:extLst>
          </p:cNvPr>
          <p:cNvSpPr>
            <a:spLocks xmlns:a="http://schemas.openxmlformats.org/drawingml/2006/main" noGrp="1"/>
          </p:cNvSpPr>
          <p:nvPr/>
        </p:nvSpPr>
        <p:spPr>
          <a:xfrm xmlns:a="http://schemas.openxmlformats.org/drawingml/2006/main" flipH="0" flipV="0">
            <a:off x="7962730" y="3789249"/>
            <a:ext cx="953" cy="294943"/>
          </a:xfrm>
          <a:prstGeom xmlns:a="http://schemas.openxmlformats.org/drawingml/2006/main" prst="line">
            <a:avLst/>
          </a:prstGeom>
          <a:noFill xmlns:a="http://schemas.openxmlformats.org/drawingml/2006/main"/>
          <a:ln xmlns:a="http://schemas.openxmlformats.org/drawingml/2006/main" w="29868">
            <a:solidFill>
              <a:srgbClr val="7A5C9E"/>
            </a:solidFill>
          </a:ln>
        </p:spPr>
      </p:sp>
      <p:sp>
        <p:nvSpPr>
          <p:cNvPr id="23" name="Diagram arrowhead">
            <a:extLst xmlns:a="http://schemas.openxmlformats.org/drawingml/2006/main">
              <a:ext uri="{FF2B5EF4-FFF2-40B4-BE49-F238E27FC236}">
                <a16:creationId xmlns:a16="http://schemas.microsoft.com/office/drawing/2014/main" id="{C959D49E-5EE3-423F-A709-A3846B6F5AA7}"/>
              </a:ext>
            </a:extLst>
          </p:cNvPr>
          <p:cNvSpPr>
            <a:spLocks xmlns:a="http://schemas.openxmlformats.org/drawingml/2006/main" noGrp="1"/>
          </p:cNvSpPr>
          <p:nvPr/>
        </p:nvSpPr>
        <p:spPr>
          <a:xfrm xmlns:a="http://schemas.openxmlformats.org/drawingml/2006/main" rot="10800000">
            <a:off x="7910461" y="4058058"/>
            <a:ext cx="104537" cy="104537"/>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4" name="Diagram line">
            <a:extLst xmlns:a="http://schemas.openxmlformats.org/drawingml/2006/main">
              <a:ext uri="{FF2B5EF4-FFF2-40B4-BE49-F238E27FC236}">
                <a16:creationId xmlns:a16="http://schemas.microsoft.com/office/drawing/2014/main" id="{C9A08C1E-D261-489A-BCC0-FC0E04BCED26}"/>
              </a:ext>
            </a:extLst>
          </p:cNvPr>
          <p:cNvSpPr>
            <a:spLocks xmlns:a="http://schemas.openxmlformats.org/drawingml/2006/main" noGrp="1"/>
          </p:cNvSpPr>
          <p:nvPr/>
        </p:nvSpPr>
        <p:spPr>
          <a:xfrm xmlns:a="http://schemas.openxmlformats.org/drawingml/2006/main" flipH="1" flipV="0">
            <a:off x="5838391" y="4797283"/>
            <a:ext cx="556286" cy="953"/>
          </a:xfrm>
          <a:prstGeom xmlns:a="http://schemas.openxmlformats.org/drawingml/2006/main" prst="line">
            <a:avLst/>
          </a:prstGeom>
          <a:noFill xmlns:a="http://schemas.openxmlformats.org/drawingml/2006/main"/>
          <a:ln xmlns:a="http://schemas.openxmlformats.org/drawingml/2006/main" w="29868">
            <a:solidFill>
              <a:srgbClr val="7A5C9E"/>
            </a:solidFill>
          </a:ln>
        </p:spPr>
      </p:sp>
      <p:sp>
        <p:nvSpPr>
          <p:cNvPr id="25" name="Diagram arrowhead">
            <a:extLst xmlns:a="http://schemas.openxmlformats.org/drawingml/2006/main">
              <a:ext uri="{FF2B5EF4-FFF2-40B4-BE49-F238E27FC236}">
                <a16:creationId xmlns:a16="http://schemas.microsoft.com/office/drawing/2014/main" id="{56C536A4-500A-4F89-B9A1-10E475C1F199}"/>
              </a:ext>
            </a:extLst>
          </p:cNvPr>
          <p:cNvSpPr>
            <a:spLocks xmlns:a="http://schemas.openxmlformats.org/drawingml/2006/main" noGrp="1"/>
          </p:cNvSpPr>
          <p:nvPr/>
        </p:nvSpPr>
        <p:spPr>
          <a:xfrm xmlns:a="http://schemas.openxmlformats.org/drawingml/2006/main" rot="16200000">
            <a:off x="5759989" y="4745015"/>
            <a:ext cx="104537" cy="104537"/>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6" name="Diagram label: Each link has a different mechanism; one number cannot describe them all.">
            <a:extLst xmlns:a="http://schemas.openxmlformats.org/drawingml/2006/main">
              <a:ext uri="{FF2B5EF4-FFF2-40B4-BE49-F238E27FC236}">
                <a16:creationId xmlns:a16="http://schemas.microsoft.com/office/drawing/2014/main" id="{617A6F36-A300-4951-B947-BAECA1007A02}"/>
              </a:ext>
            </a:extLst>
          </p:cNvPr>
          <p:cNvSpPr>
            <a:spLocks xmlns:a="http://schemas.openxmlformats.org/drawingml/2006/main" noGrp="1"/>
          </p:cNvSpPr>
          <p:nvPr/>
        </p:nvSpPr>
        <p:spPr>
          <a:xfrm xmlns:a="http://schemas.openxmlformats.org/drawingml/2006/main">
            <a:off x="2735886" y="5543975"/>
            <a:ext cx="6720228"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Each link has a different mechanism; one number cannot describe them all.</a:t>
            </a:r>
          </a:p>
        </p:txBody>
      </p:sp>
      <p:sp>
        <p:nvSpPr>
          <p:cNvPr id="27" name="Name the job at each link.  An output number describes one link ">
            <a:extLst xmlns:a="http://schemas.openxmlformats.org/drawingml/2006/main">
              <a:ext uri="{FF2B5EF4-FFF2-40B4-BE49-F238E27FC236}">
                <a16:creationId xmlns:a16="http://schemas.microsoft.com/office/drawing/2014/main" id="{C796370E-98E2-444F-9F59-CB97A13FB59E}"/>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Name the job at each link. An output number describes one link only.</a:t>
            </a:r>
          </a:p>
        </p:txBody>
      </p:sp>
    </p:spTree>
    <p:extLst>
      <p:ext uri="{BB962C8B-B14F-4D97-AF65-F5344CB8AC3E}">
        <p14:creationId xmlns:p14="http://schemas.microsoft.com/office/powerpoint/2010/main" val="19875372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urface">
            <a:extLst xmlns:a="http://schemas.openxmlformats.org/drawingml/2006/main">
              <a:ext uri="{FF2B5EF4-FFF2-40B4-BE49-F238E27FC236}">
                <a16:creationId xmlns:a16="http://schemas.microsoft.com/office/drawing/2014/main" id="{ED6B2D2A-2A8E-4C1B-8BB6-E7200125F95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3D07F2C-9C7B-47A6-9FBB-D8817DC8B03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CCB3043-EC52-4D25-8511-2B82F6324D7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8417D323-3FD6-4645-AC17-837FA97602D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3E668CDA-1CAD-452D-B9B8-FAC4A17FD53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262BFAEB-8B7C-479A-9BEB-21034BEE04C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Calculate before judging">
            <a:extLst xmlns:a="http://schemas.openxmlformats.org/drawingml/2006/main">
              <a:ext uri="{FF2B5EF4-FFF2-40B4-BE49-F238E27FC236}">
                <a16:creationId xmlns:a16="http://schemas.microsoft.com/office/drawing/2014/main" id="{E4304427-AE27-43BA-97C4-83BF64920C5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Calculate before judging</a:t>
            </a:r>
          </a:p>
        </p:txBody>
      </p:sp>
      <p:sp>
        <p:nvSpPr>
          <p:cNvPr id="8" name="surface">
            <a:extLst xmlns:a="http://schemas.openxmlformats.org/drawingml/2006/main">
              <a:ext uri="{FF2B5EF4-FFF2-40B4-BE49-F238E27FC236}">
                <a16:creationId xmlns:a16="http://schemas.microsoft.com/office/drawing/2014/main" id="{2CB14570-CDF8-49B9-832B-E6C873CD686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0E92095C-C98D-42C3-AE33-64E465F3DEE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4 / 15">
            <a:extLst xmlns:a="http://schemas.openxmlformats.org/drawingml/2006/main">
              <a:ext uri="{FF2B5EF4-FFF2-40B4-BE49-F238E27FC236}">
                <a16:creationId xmlns:a16="http://schemas.microsoft.com/office/drawing/2014/main" id="{E6DE13BF-38EB-462A-A31C-03271F39BAC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15</a:t>
            </a:r>
          </a:p>
        </p:txBody>
      </p:sp>
      <p:sp>
        <p:nvSpPr>
          <p:cNvPr id="11" name="Diagram label: Constructed pump records: calculate both factors">
            <a:extLst xmlns:a="http://schemas.openxmlformats.org/drawingml/2006/main">
              <a:ext uri="{FF2B5EF4-FFF2-40B4-BE49-F238E27FC236}">
                <a16:creationId xmlns:a16="http://schemas.microsoft.com/office/drawing/2014/main" id="{D7553A66-7AF9-407D-B77F-86BC1E927ADB}"/>
              </a:ext>
            </a:extLst>
          </p:cNvPr>
          <p:cNvSpPr>
            <a:spLocks xmlns:a="http://schemas.openxmlformats.org/drawingml/2006/main" noGrp="1"/>
          </p:cNvSpPr>
          <p:nvPr/>
        </p:nvSpPr>
        <p:spPr>
          <a:xfrm xmlns:a="http://schemas.openxmlformats.org/drawingml/2006/main">
            <a:off x="2586548" y="1997188"/>
            <a:ext cx="7018904" cy="358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Constructed pump records: calculate both factors</a:t>
            </a:r>
          </a:p>
        </p:txBody>
      </p:sp>
      <p:sp>
        <p:nvSpPr>
          <p:cNvPr id="12" name="Diagram label: Model pump output (L/min)">
            <a:extLst xmlns:a="http://schemas.openxmlformats.org/drawingml/2006/main">
              <a:ext uri="{FF2B5EF4-FFF2-40B4-BE49-F238E27FC236}">
                <a16:creationId xmlns:a16="http://schemas.microsoft.com/office/drawing/2014/main" id="{630BF77F-1A79-4AA9-92A4-D748CDD56F33}"/>
              </a:ext>
            </a:extLst>
          </p:cNvPr>
          <p:cNvSpPr>
            <a:spLocks xmlns:a="http://schemas.openxmlformats.org/drawingml/2006/main" noGrp="1"/>
          </p:cNvSpPr>
          <p:nvPr/>
        </p:nvSpPr>
        <p:spPr>
          <a:xfrm xmlns:a="http://schemas.openxmlformats.org/drawingml/2006/main">
            <a:off x="2661217" y="2407869"/>
            <a:ext cx="6720228" cy="298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29" b="0">
                <a:solidFill>
                  <a:srgbClr val="1F2937"/>
                </a:solidFill>
                <a:latin typeface="Nimbus Sans"/>
                <a:ea typeface="Nimbus Sans"/>
                <a:cs typeface="Nimbus Sans"/>
              </a:defRPr>
            </a:pPr>
            <a:r>
              <a:rPr sz="1529" b="0">
                <a:solidFill>
                  <a:srgbClr val="1F2937"/>
                </a:solidFill>
                <a:latin typeface="Nimbus Sans"/>
                <a:ea typeface="Nimbus Sans"/>
                <a:cs typeface="Nimbus Sans"/>
              </a:rPr>
              <a:t>Model pump output (L/min)</a:t>
            </a:r>
          </a:p>
        </p:txBody>
      </p:sp>
      <p:sp>
        <p:nvSpPr>
          <p:cNvPr id="13" name="Diagram line">
            <a:extLst xmlns:a="http://schemas.openxmlformats.org/drawingml/2006/main">
              <a:ext uri="{FF2B5EF4-FFF2-40B4-BE49-F238E27FC236}">
                <a16:creationId xmlns:a16="http://schemas.microsoft.com/office/drawing/2014/main" id="{AEBE9F31-2545-4379-8B66-58D7B16FB411}"/>
              </a:ext>
            </a:extLst>
          </p:cNvPr>
          <p:cNvSpPr>
            <a:spLocks xmlns:a="http://schemas.openxmlformats.org/drawingml/2006/main" noGrp="1"/>
          </p:cNvSpPr>
          <p:nvPr/>
        </p:nvSpPr>
        <p:spPr>
          <a:xfrm xmlns:a="http://schemas.openxmlformats.org/drawingml/2006/main" flipH="0" flipV="0">
            <a:off x="3258571" y="5207964"/>
            <a:ext cx="6010870"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4" name="Diagram line">
            <a:extLst xmlns:a="http://schemas.openxmlformats.org/drawingml/2006/main">
              <a:ext uri="{FF2B5EF4-FFF2-40B4-BE49-F238E27FC236}">
                <a16:creationId xmlns:a16="http://schemas.microsoft.com/office/drawing/2014/main" id="{EAFC64F7-0615-44DF-8323-FC16EA485D21}"/>
              </a:ext>
            </a:extLst>
          </p:cNvPr>
          <p:cNvSpPr>
            <a:spLocks xmlns:a="http://schemas.openxmlformats.org/drawingml/2006/main" noGrp="1"/>
          </p:cNvSpPr>
          <p:nvPr/>
        </p:nvSpPr>
        <p:spPr>
          <a:xfrm xmlns:a="http://schemas.openxmlformats.org/drawingml/2006/main" flipH="0" flipV="0">
            <a:off x="3258571" y="2855884"/>
            <a:ext cx="953" cy="2352080"/>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5" name="Diagram line">
            <a:extLst xmlns:a="http://schemas.openxmlformats.org/drawingml/2006/main">
              <a:ext uri="{FF2B5EF4-FFF2-40B4-BE49-F238E27FC236}">
                <a16:creationId xmlns:a16="http://schemas.microsoft.com/office/drawing/2014/main" id="{5EE97CF6-165A-4638-9693-90900632DBD6}"/>
              </a:ext>
            </a:extLst>
          </p:cNvPr>
          <p:cNvSpPr>
            <a:spLocks xmlns:a="http://schemas.openxmlformats.org/drawingml/2006/main" noGrp="1"/>
          </p:cNvSpPr>
          <p:nvPr/>
        </p:nvSpPr>
        <p:spPr>
          <a:xfrm xmlns:a="http://schemas.openxmlformats.org/drawingml/2006/main" flipH="0" flipV="0">
            <a:off x="3258571" y="5207964"/>
            <a:ext cx="6010870" cy="953"/>
          </a:xfrm>
          <a:prstGeom xmlns:a="http://schemas.openxmlformats.org/drawingml/2006/main" prst="line">
            <a:avLst/>
          </a:prstGeom>
          <a:noFill xmlns:a="http://schemas.openxmlformats.org/drawingml/2006/main"/>
          <a:ln xmlns:a="http://schemas.openxmlformats.org/drawingml/2006/main" w="7467">
            <a:solidFill>
              <a:srgbClr val="D9D4E0"/>
            </a:solidFill>
          </a:ln>
        </p:spPr>
      </p:sp>
      <p:sp>
        <p:nvSpPr>
          <p:cNvPr id="16" name="Diagram label: 0">
            <a:extLst xmlns:a="http://schemas.openxmlformats.org/drawingml/2006/main">
              <a:ext uri="{FF2B5EF4-FFF2-40B4-BE49-F238E27FC236}">
                <a16:creationId xmlns:a16="http://schemas.microsoft.com/office/drawing/2014/main" id="{5B3DE7D0-5FD4-4CB9-B57C-2AA65509C034}"/>
              </a:ext>
            </a:extLst>
          </p:cNvPr>
          <p:cNvSpPr>
            <a:spLocks xmlns:a="http://schemas.openxmlformats.org/drawingml/2006/main" noGrp="1"/>
          </p:cNvSpPr>
          <p:nvPr/>
        </p:nvSpPr>
        <p:spPr>
          <a:xfrm xmlns:a="http://schemas.openxmlformats.org/drawingml/2006/main">
            <a:off x="2623882" y="5073559"/>
            <a:ext cx="522684"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0</a:t>
            </a:r>
          </a:p>
        </p:txBody>
      </p:sp>
      <p:sp>
        <p:nvSpPr>
          <p:cNvPr id="17" name="Diagram line">
            <a:extLst xmlns:a="http://schemas.openxmlformats.org/drawingml/2006/main">
              <a:ext uri="{FF2B5EF4-FFF2-40B4-BE49-F238E27FC236}">
                <a16:creationId xmlns:a16="http://schemas.microsoft.com/office/drawing/2014/main" id="{846C8EB5-73F6-488C-B790-F8F065E7A265}"/>
              </a:ext>
            </a:extLst>
          </p:cNvPr>
          <p:cNvSpPr>
            <a:spLocks xmlns:a="http://schemas.openxmlformats.org/drawingml/2006/main" noGrp="1"/>
          </p:cNvSpPr>
          <p:nvPr/>
        </p:nvSpPr>
        <p:spPr>
          <a:xfrm xmlns:a="http://schemas.openxmlformats.org/drawingml/2006/main" flipH="0" flipV="0">
            <a:off x="3258571" y="4647945"/>
            <a:ext cx="6010870" cy="953"/>
          </a:xfrm>
          <a:prstGeom xmlns:a="http://schemas.openxmlformats.org/drawingml/2006/main" prst="line">
            <a:avLst/>
          </a:prstGeom>
          <a:noFill xmlns:a="http://schemas.openxmlformats.org/drawingml/2006/main"/>
          <a:ln xmlns:a="http://schemas.openxmlformats.org/drawingml/2006/main" w="7467">
            <a:solidFill>
              <a:srgbClr val="D9D4E0"/>
            </a:solidFill>
          </a:ln>
        </p:spPr>
      </p:sp>
      <p:sp>
        <p:nvSpPr>
          <p:cNvPr id="18" name="Diagram label: 1.5">
            <a:extLst xmlns:a="http://schemas.openxmlformats.org/drawingml/2006/main">
              <a:ext uri="{FF2B5EF4-FFF2-40B4-BE49-F238E27FC236}">
                <a16:creationId xmlns:a16="http://schemas.microsoft.com/office/drawing/2014/main" id="{FFCE8AD1-03F8-4E6E-A89D-B25B26719E6D}"/>
              </a:ext>
            </a:extLst>
          </p:cNvPr>
          <p:cNvSpPr>
            <a:spLocks xmlns:a="http://schemas.openxmlformats.org/drawingml/2006/main" noGrp="1"/>
          </p:cNvSpPr>
          <p:nvPr/>
        </p:nvSpPr>
        <p:spPr>
          <a:xfrm xmlns:a="http://schemas.openxmlformats.org/drawingml/2006/main">
            <a:off x="2623882" y="4513540"/>
            <a:ext cx="522684"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1.5</a:t>
            </a:r>
          </a:p>
        </p:txBody>
      </p:sp>
      <p:sp>
        <p:nvSpPr>
          <p:cNvPr id="19" name="Diagram line">
            <a:extLst xmlns:a="http://schemas.openxmlformats.org/drawingml/2006/main">
              <a:ext uri="{FF2B5EF4-FFF2-40B4-BE49-F238E27FC236}">
                <a16:creationId xmlns:a16="http://schemas.microsoft.com/office/drawing/2014/main" id="{45E092B4-4F1E-4190-874D-1F7C3906A062}"/>
              </a:ext>
            </a:extLst>
          </p:cNvPr>
          <p:cNvSpPr>
            <a:spLocks xmlns:a="http://schemas.openxmlformats.org/drawingml/2006/main" noGrp="1"/>
          </p:cNvSpPr>
          <p:nvPr/>
        </p:nvSpPr>
        <p:spPr>
          <a:xfrm xmlns:a="http://schemas.openxmlformats.org/drawingml/2006/main" flipH="0" flipV="0">
            <a:off x="3258571" y="4087926"/>
            <a:ext cx="6010870" cy="953"/>
          </a:xfrm>
          <a:prstGeom xmlns:a="http://schemas.openxmlformats.org/drawingml/2006/main" prst="line">
            <a:avLst/>
          </a:prstGeom>
          <a:noFill xmlns:a="http://schemas.openxmlformats.org/drawingml/2006/main"/>
          <a:ln xmlns:a="http://schemas.openxmlformats.org/drawingml/2006/main" w="7467">
            <a:solidFill>
              <a:srgbClr val="D9D4E0"/>
            </a:solidFill>
          </a:ln>
        </p:spPr>
      </p:sp>
      <p:sp>
        <p:nvSpPr>
          <p:cNvPr id="20" name="Diagram label: 3">
            <a:extLst xmlns:a="http://schemas.openxmlformats.org/drawingml/2006/main">
              <a:ext uri="{FF2B5EF4-FFF2-40B4-BE49-F238E27FC236}">
                <a16:creationId xmlns:a16="http://schemas.microsoft.com/office/drawing/2014/main" id="{00CF7342-AB81-4310-8321-5B62D1C39099}"/>
              </a:ext>
            </a:extLst>
          </p:cNvPr>
          <p:cNvSpPr>
            <a:spLocks xmlns:a="http://schemas.openxmlformats.org/drawingml/2006/main" noGrp="1"/>
          </p:cNvSpPr>
          <p:nvPr/>
        </p:nvSpPr>
        <p:spPr>
          <a:xfrm xmlns:a="http://schemas.openxmlformats.org/drawingml/2006/main">
            <a:off x="2623882" y="3953521"/>
            <a:ext cx="522684"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3</a:t>
            </a:r>
          </a:p>
        </p:txBody>
      </p:sp>
      <p:sp>
        <p:nvSpPr>
          <p:cNvPr id="21" name="Diagram line">
            <a:extLst xmlns:a="http://schemas.openxmlformats.org/drawingml/2006/main">
              <a:ext uri="{FF2B5EF4-FFF2-40B4-BE49-F238E27FC236}">
                <a16:creationId xmlns:a16="http://schemas.microsoft.com/office/drawing/2014/main" id="{CA8237AF-931E-4B49-8BB9-31145B1C4B99}"/>
              </a:ext>
            </a:extLst>
          </p:cNvPr>
          <p:cNvSpPr>
            <a:spLocks xmlns:a="http://schemas.openxmlformats.org/drawingml/2006/main" noGrp="1"/>
          </p:cNvSpPr>
          <p:nvPr/>
        </p:nvSpPr>
        <p:spPr>
          <a:xfrm xmlns:a="http://schemas.openxmlformats.org/drawingml/2006/main" flipH="0" flipV="0">
            <a:off x="3258571" y="3527907"/>
            <a:ext cx="6010870" cy="953"/>
          </a:xfrm>
          <a:prstGeom xmlns:a="http://schemas.openxmlformats.org/drawingml/2006/main" prst="line">
            <a:avLst/>
          </a:prstGeom>
          <a:noFill xmlns:a="http://schemas.openxmlformats.org/drawingml/2006/main"/>
          <a:ln xmlns:a="http://schemas.openxmlformats.org/drawingml/2006/main" w="7467">
            <a:solidFill>
              <a:srgbClr val="D9D4E0"/>
            </a:solidFill>
          </a:ln>
        </p:spPr>
      </p:sp>
      <p:sp>
        <p:nvSpPr>
          <p:cNvPr id="22" name="Diagram label: 4.5">
            <a:extLst xmlns:a="http://schemas.openxmlformats.org/drawingml/2006/main">
              <a:ext uri="{FF2B5EF4-FFF2-40B4-BE49-F238E27FC236}">
                <a16:creationId xmlns:a16="http://schemas.microsoft.com/office/drawing/2014/main" id="{F778FF94-74C6-4C79-B3C4-8DC885D89339}"/>
              </a:ext>
            </a:extLst>
          </p:cNvPr>
          <p:cNvSpPr>
            <a:spLocks xmlns:a="http://schemas.openxmlformats.org/drawingml/2006/main" noGrp="1"/>
          </p:cNvSpPr>
          <p:nvPr/>
        </p:nvSpPr>
        <p:spPr>
          <a:xfrm xmlns:a="http://schemas.openxmlformats.org/drawingml/2006/main">
            <a:off x="2623882" y="3393502"/>
            <a:ext cx="522684"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4.5</a:t>
            </a:r>
          </a:p>
        </p:txBody>
      </p:sp>
      <p:sp>
        <p:nvSpPr>
          <p:cNvPr id="23" name="Diagram line">
            <a:extLst xmlns:a="http://schemas.openxmlformats.org/drawingml/2006/main">
              <a:ext uri="{FF2B5EF4-FFF2-40B4-BE49-F238E27FC236}">
                <a16:creationId xmlns:a16="http://schemas.microsoft.com/office/drawing/2014/main" id="{2CF1D194-7319-44D8-8FFB-255E4E065B2B}"/>
              </a:ext>
            </a:extLst>
          </p:cNvPr>
          <p:cNvSpPr>
            <a:spLocks xmlns:a="http://schemas.openxmlformats.org/drawingml/2006/main" noGrp="1"/>
          </p:cNvSpPr>
          <p:nvPr/>
        </p:nvSpPr>
        <p:spPr>
          <a:xfrm xmlns:a="http://schemas.openxmlformats.org/drawingml/2006/main" flipH="0" flipV="0">
            <a:off x="3258571" y="2967888"/>
            <a:ext cx="6010870" cy="953"/>
          </a:xfrm>
          <a:prstGeom xmlns:a="http://schemas.openxmlformats.org/drawingml/2006/main" prst="line">
            <a:avLst/>
          </a:prstGeom>
          <a:noFill xmlns:a="http://schemas.openxmlformats.org/drawingml/2006/main"/>
          <a:ln xmlns:a="http://schemas.openxmlformats.org/drawingml/2006/main" w="7467">
            <a:solidFill>
              <a:srgbClr val="D9D4E0"/>
            </a:solidFill>
          </a:ln>
        </p:spPr>
      </p:sp>
      <p:sp>
        <p:nvSpPr>
          <p:cNvPr id="24" name="Diagram label: 6">
            <a:extLst xmlns:a="http://schemas.openxmlformats.org/drawingml/2006/main">
              <a:ext uri="{FF2B5EF4-FFF2-40B4-BE49-F238E27FC236}">
                <a16:creationId xmlns:a16="http://schemas.microsoft.com/office/drawing/2014/main" id="{7FB6A8ED-A1FC-431A-8555-2F738281C326}"/>
              </a:ext>
            </a:extLst>
          </p:cNvPr>
          <p:cNvSpPr>
            <a:spLocks xmlns:a="http://schemas.openxmlformats.org/drawingml/2006/main" noGrp="1"/>
          </p:cNvSpPr>
          <p:nvPr/>
        </p:nvSpPr>
        <p:spPr>
          <a:xfrm xmlns:a="http://schemas.openxmlformats.org/drawingml/2006/main">
            <a:off x="2623882" y="2833483"/>
            <a:ext cx="522684"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6</a:t>
            </a:r>
          </a:p>
        </p:txBody>
      </p:sp>
      <p:sp>
        <p:nvSpPr>
          <p:cNvPr id="25" name="Editable scientific diagram">
            <a:extLst xmlns:a="http://schemas.openxmlformats.org/drawingml/2006/main">
              <a:ext uri="{FF2B5EF4-FFF2-40B4-BE49-F238E27FC236}">
                <a16:creationId xmlns:a16="http://schemas.microsoft.com/office/drawing/2014/main" id="{B8E993A1-91E7-4EA2-9C36-1F0C0D8A17D0}"/>
              </a:ext>
            </a:extLst>
          </p:cNvPr>
          <p:cNvSpPr>
            <a:spLocks xmlns:a="http://schemas.openxmlformats.org/drawingml/2006/main" noGrp="1"/>
          </p:cNvSpPr>
          <p:nvPr/>
        </p:nvSpPr>
        <p:spPr>
          <a:xfrm xmlns:a="http://schemas.openxmlformats.org/drawingml/2006/main">
            <a:off x="3519913" y="3639911"/>
            <a:ext cx="2501418" cy="1568053"/>
          </a:xfrm>
          <a:prstGeom xmlns:a="http://schemas.openxmlformats.org/drawingml/2006/main" prst="rect">
            <a:avLst/>
          </a:prstGeom>
          <a:solidFill xmlns:a="http://schemas.openxmlformats.org/drawingml/2006/main">
            <a:srgbClr val="DACEEC"/>
          </a:solidFill>
          <a:ln xmlns:a="http://schemas.openxmlformats.org/drawingml/2006/main" w="22401">
            <a:solidFill>
              <a:srgbClr val="7A5C9E"/>
            </a:solidFill>
          </a:ln>
        </p:spPr>
      </p:sp>
      <p:sp>
        <p:nvSpPr>
          <p:cNvPr id="26" name="Diagram label: 4.2">
            <a:extLst xmlns:a="http://schemas.openxmlformats.org/drawingml/2006/main">
              <a:ext uri="{FF2B5EF4-FFF2-40B4-BE49-F238E27FC236}">
                <a16:creationId xmlns:a16="http://schemas.microsoft.com/office/drawing/2014/main" id="{6AE52B2A-C2BC-430A-99FC-B66C3D385C3E}"/>
              </a:ext>
            </a:extLst>
          </p:cNvPr>
          <p:cNvSpPr>
            <a:spLocks xmlns:a="http://schemas.openxmlformats.org/drawingml/2006/main" noGrp="1"/>
          </p:cNvSpPr>
          <p:nvPr/>
        </p:nvSpPr>
        <p:spPr>
          <a:xfrm xmlns:a="http://schemas.openxmlformats.org/drawingml/2006/main">
            <a:off x="3519913" y="3341234"/>
            <a:ext cx="2501418"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70" b="1">
                <a:solidFill>
                  <a:srgbClr val="1F2937"/>
                </a:solidFill>
                <a:latin typeface="Nimbus Sans"/>
                <a:ea typeface="Nimbus Sans"/>
                <a:cs typeface="Nimbus Sans"/>
              </a:defRPr>
            </a:pPr>
            <a:r>
              <a:rPr sz="1470" b="1">
                <a:solidFill>
                  <a:srgbClr val="1F2937"/>
                </a:solidFill>
                <a:latin typeface="Nimbus Sans"/>
                <a:ea typeface="Nimbus Sans"/>
                <a:cs typeface="Nimbus Sans"/>
              </a:rPr>
              <a:t>4.2</a:t>
            </a:r>
          </a:p>
        </p:txBody>
      </p:sp>
      <p:sp>
        <p:nvSpPr>
          <p:cNvPr id="27" name="Diagram label: A">
            <a:extLst xmlns:a="http://schemas.openxmlformats.org/drawingml/2006/main">
              <a:ext uri="{FF2B5EF4-FFF2-40B4-BE49-F238E27FC236}">
                <a16:creationId xmlns:a16="http://schemas.microsoft.com/office/drawing/2014/main" id="{D722DF60-5C05-41EB-98B7-FE28CD276142}"/>
              </a:ext>
            </a:extLst>
          </p:cNvPr>
          <p:cNvSpPr>
            <a:spLocks xmlns:a="http://schemas.openxmlformats.org/drawingml/2006/main" noGrp="1"/>
          </p:cNvSpPr>
          <p:nvPr/>
        </p:nvSpPr>
        <p:spPr>
          <a:xfrm xmlns:a="http://schemas.openxmlformats.org/drawingml/2006/main">
            <a:off x="3482578" y="5319968"/>
            <a:ext cx="2576087"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A</a:t>
            </a:r>
          </a:p>
        </p:txBody>
      </p:sp>
      <p:sp>
        <p:nvSpPr>
          <p:cNvPr id="28" name="Editable scientific diagram">
            <a:extLst xmlns:a="http://schemas.openxmlformats.org/drawingml/2006/main">
              <a:ext uri="{FF2B5EF4-FFF2-40B4-BE49-F238E27FC236}">
                <a16:creationId xmlns:a16="http://schemas.microsoft.com/office/drawing/2014/main" id="{1196AF20-FCB9-4C01-87BF-9118E970CA16}"/>
              </a:ext>
            </a:extLst>
          </p:cNvPr>
          <p:cNvSpPr>
            <a:spLocks xmlns:a="http://schemas.openxmlformats.org/drawingml/2006/main" noGrp="1"/>
          </p:cNvSpPr>
          <p:nvPr/>
        </p:nvSpPr>
        <p:spPr>
          <a:xfrm xmlns:a="http://schemas.openxmlformats.org/drawingml/2006/main">
            <a:off x="6282673" y="3191896"/>
            <a:ext cx="2501418" cy="2016068"/>
          </a:xfrm>
          <a:prstGeom xmlns:a="http://schemas.openxmlformats.org/drawingml/2006/main" prst="rect">
            <a:avLst/>
          </a:prstGeom>
          <a:solidFill xmlns:a="http://schemas.openxmlformats.org/drawingml/2006/main">
            <a:srgbClr val="DACEEC"/>
          </a:solidFill>
          <a:ln xmlns:a="http://schemas.openxmlformats.org/drawingml/2006/main" w="22401">
            <a:solidFill>
              <a:srgbClr val="7A5C9E"/>
            </a:solidFill>
          </a:ln>
        </p:spPr>
      </p:sp>
      <p:sp>
        <p:nvSpPr>
          <p:cNvPr id="29" name="Diagram label: 5.4">
            <a:extLst xmlns:a="http://schemas.openxmlformats.org/drawingml/2006/main">
              <a:ext uri="{FF2B5EF4-FFF2-40B4-BE49-F238E27FC236}">
                <a16:creationId xmlns:a16="http://schemas.microsoft.com/office/drawing/2014/main" id="{FDAFCDF3-6888-4ACD-BD09-86DF366CAF88}"/>
              </a:ext>
            </a:extLst>
          </p:cNvPr>
          <p:cNvSpPr>
            <a:spLocks xmlns:a="http://schemas.openxmlformats.org/drawingml/2006/main" noGrp="1"/>
          </p:cNvSpPr>
          <p:nvPr/>
        </p:nvSpPr>
        <p:spPr>
          <a:xfrm xmlns:a="http://schemas.openxmlformats.org/drawingml/2006/main">
            <a:off x="6282673" y="2893219"/>
            <a:ext cx="2501418"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70" b="1">
                <a:solidFill>
                  <a:srgbClr val="1F2937"/>
                </a:solidFill>
                <a:latin typeface="Nimbus Sans"/>
                <a:ea typeface="Nimbus Sans"/>
                <a:cs typeface="Nimbus Sans"/>
              </a:defRPr>
            </a:pPr>
            <a:r>
              <a:rPr sz="1470" b="1">
                <a:solidFill>
                  <a:srgbClr val="1F2937"/>
                </a:solidFill>
                <a:latin typeface="Nimbus Sans"/>
                <a:ea typeface="Nimbus Sans"/>
                <a:cs typeface="Nimbus Sans"/>
              </a:rPr>
              <a:t>5.4</a:t>
            </a:r>
          </a:p>
        </p:txBody>
      </p:sp>
      <p:sp>
        <p:nvSpPr>
          <p:cNvPr id="30" name="Diagram label: B">
            <a:extLst xmlns:a="http://schemas.openxmlformats.org/drawingml/2006/main">
              <a:ext uri="{FF2B5EF4-FFF2-40B4-BE49-F238E27FC236}">
                <a16:creationId xmlns:a16="http://schemas.microsoft.com/office/drawing/2014/main" id="{BF4984ED-3C06-4525-A291-8E6D3344F95D}"/>
              </a:ext>
            </a:extLst>
          </p:cNvPr>
          <p:cNvSpPr>
            <a:spLocks xmlns:a="http://schemas.openxmlformats.org/drawingml/2006/main" noGrp="1"/>
          </p:cNvSpPr>
          <p:nvPr/>
        </p:nvSpPr>
        <p:spPr>
          <a:xfrm xmlns:a="http://schemas.openxmlformats.org/drawingml/2006/main">
            <a:off x="6245338" y="5319968"/>
            <a:ext cx="2576087"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B</a:t>
            </a:r>
          </a:p>
        </p:txBody>
      </p:sp>
      <p:sp>
        <p:nvSpPr>
          <p:cNvPr id="31" name="A: 60 × 70 = 4,200 mL/min.  Convert: 4,200 ÷ 1,000 = 4.2 L/min.">
            <a:extLst xmlns:a="http://schemas.openxmlformats.org/drawingml/2006/main">
              <a:ext uri="{FF2B5EF4-FFF2-40B4-BE49-F238E27FC236}">
                <a16:creationId xmlns:a16="http://schemas.microsoft.com/office/drawing/2014/main" id="{6B2AF632-0D2B-4555-86C4-068E33C57E22}"/>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A: 60 × 70 = 4,200 mL/min. Convert: 4,200 ÷ 1,000 = 4.2 L/min.</a:t>
            </a:r>
          </a:p>
        </p:txBody>
      </p:sp>
    </p:spTree>
    <p:extLst>
      <p:ext uri="{BB962C8B-B14F-4D97-AF65-F5344CB8AC3E}">
        <p14:creationId xmlns:p14="http://schemas.microsoft.com/office/powerpoint/2010/main" val="4014464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urface">
            <a:extLst xmlns:a="http://schemas.openxmlformats.org/drawingml/2006/main">
              <a:ext uri="{FF2B5EF4-FFF2-40B4-BE49-F238E27FC236}">
                <a16:creationId xmlns:a16="http://schemas.microsoft.com/office/drawing/2014/main" id="{E5208806-B6E7-4977-87BA-83FFDD7163B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90481782-915E-4592-824E-EA789AC81B1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AA84CCF-1942-4D27-AB22-641EDE7CD83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A6231C19-0ED3-47B4-8ACA-6F277875274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LAUNCH SCIENCE</a:t>
            </a:r>
          </a:p>
        </p:txBody>
      </p:sp>
      <p:sp>
        <p:nvSpPr>
          <p:cNvPr id="5" name="I do">
            <a:extLst xmlns:a="http://schemas.openxmlformats.org/drawingml/2006/main">
              <a:ext uri="{FF2B5EF4-FFF2-40B4-BE49-F238E27FC236}">
                <a16:creationId xmlns:a16="http://schemas.microsoft.com/office/drawing/2014/main" id="{AF7DFE6D-2565-406A-BD30-13A6E465596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5A381A68-BFCA-4BEB-A4A4-CAB27FE1F9B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Keep signal and material separate">
            <a:extLst xmlns:a="http://schemas.openxmlformats.org/drawingml/2006/main">
              <a:ext uri="{FF2B5EF4-FFF2-40B4-BE49-F238E27FC236}">
                <a16:creationId xmlns:a16="http://schemas.microsoft.com/office/drawing/2014/main" id="{6C15837F-D34E-4948-85D9-58B648F46D0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Keep signal and material separate</a:t>
            </a:r>
          </a:p>
        </p:txBody>
      </p:sp>
      <p:sp>
        <p:nvSpPr>
          <p:cNvPr id="8" name="surface">
            <a:extLst xmlns:a="http://schemas.openxmlformats.org/drawingml/2006/main">
              <a:ext uri="{FF2B5EF4-FFF2-40B4-BE49-F238E27FC236}">
                <a16:creationId xmlns:a16="http://schemas.microsoft.com/office/drawing/2014/main" id="{A75095CA-8436-4811-8A8C-3EF136309BD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FFDD8938-AA1B-4575-8F97-B41130EEBCA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5 / 15">
            <a:extLst xmlns:a="http://schemas.openxmlformats.org/drawingml/2006/main">
              <a:ext uri="{FF2B5EF4-FFF2-40B4-BE49-F238E27FC236}">
                <a16:creationId xmlns:a16="http://schemas.microsoft.com/office/drawing/2014/main" id="{2A927E18-A4F9-4F1A-A430-1B1E538A193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15</a:t>
            </a:r>
          </a:p>
        </p:txBody>
      </p:sp>
      <p:sp>
        <p:nvSpPr>
          <p:cNvPr id="11" name="Diagram label: Distinguish a hormone message from a transported fuel">
            <a:extLst xmlns:a="http://schemas.openxmlformats.org/drawingml/2006/main">
              <a:ext uri="{FF2B5EF4-FFF2-40B4-BE49-F238E27FC236}">
                <a16:creationId xmlns:a16="http://schemas.microsoft.com/office/drawing/2014/main" id="{3714567B-C7C5-4B2E-9F8E-34CB37A88FDE}"/>
              </a:ext>
            </a:extLst>
          </p:cNvPr>
          <p:cNvSpPr>
            <a:spLocks xmlns:a="http://schemas.openxmlformats.org/drawingml/2006/main" noGrp="1"/>
          </p:cNvSpPr>
          <p:nvPr/>
        </p:nvSpPr>
        <p:spPr>
          <a:xfrm xmlns:a="http://schemas.openxmlformats.org/drawingml/2006/main">
            <a:off x="2586548" y="1997188"/>
            <a:ext cx="7018904" cy="3584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Distinguish a hormone message from a transported fuel</a:t>
            </a:r>
          </a:p>
        </p:txBody>
      </p:sp>
      <p:sp>
        <p:nvSpPr>
          <p:cNvPr id="12" name="Editable scientific diagram">
            <a:extLst xmlns:a="http://schemas.openxmlformats.org/drawingml/2006/main">
              <a:ext uri="{FF2B5EF4-FFF2-40B4-BE49-F238E27FC236}">
                <a16:creationId xmlns:a16="http://schemas.microsoft.com/office/drawing/2014/main" id="{04822B76-7786-43F6-B118-0EC3B93B7A98}"/>
              </a:ext>
            </a:extLst>
          </p:cNvPr>
          <p:cNvSpPr>
            <a:spLocks xmlns:a="http://schemas.openxmlformats.org/drawingml/2006/main" noGrp="1"/>
          </p:cNvSpPr>
          <p:nvPr/>
        </p:nvSpPr>
        <p:spPr>
          <a:xfrm xmlns:a="http://schemas.openxmlformats.org/drawingml/2006/main">
            <a:off x="2698552" y="2743880"/>
            <a:ext cx="2016068" cy="933365"/>
          </a:xfrm>
          <a:prstGeom xmlns:a="http://schemas.openxmlformats.org/drawingml/2006/main" prst="rect">
            <a:avLst/>
          </a:prstGeom>
          <a:solidFill xmlns:a="http://schemas.openxmlformats.org/drawingml/2006/main">
            <a:srgbClr val="F0EBF5"/>
          </a:solidFill>
          <a:ln xmlns:a="http://schemas.openxmlformats.org/drawingml/2006/main" w="22401">
            <a:solidFill>
              <a:srgbClr val="7A5C9E"/>
            </a:solidFill>
          </a:ln>
        </p:spPr>
      </p:sp>
      <p:sp>
        <p:nvSpPr>
          <p:cNvPr id="13" name="Diagram label: Pancreatic&#10;beta cells">
            <a:extLst xmlns:a="http://schemas.openxmlformats.org/drawingml/2006/main">
              <a:ext uri="{FF2B5EF4-FFF2-40B4-BE49-F238E27FC236}">
                <a16:creationId xmlns:a16="http://schemas.microsoft.com/office/drawing/2014/main" id="{A196B6EA-7C47-4B76-8DDB-6E1A455FA813}"/>
              </a:ext>
            </a:extLst>
          </p:cNvPr>
          <p:cNvSpPr>
            <a:spLocks xmlns:a="http://schemas.openxmlformats.org/drawingml/2006/main" noGrp="1"/>
          </p:cNvSpPr>
          <p:nvPr/>
        </p:nvSpPr>
        <p:spPr>
          <a:xfrm xmlns:a="http://schemas.openxmlformats.org/drawingml/2006/main">
            <a:off x="2847890" y="2908153"/>
            <a:ext cx="1717392" cy="634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Pancreatic</a:t>
            </a:r>
          </a:p>
          <a:p xmlns:a="http://schemas.openxmlformats.org/drawingml/2006/main">
            <a:pPr algn="ctr">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beta cells</a:t>
            </a:r>
          </a:p>
        </p:txBody>
      </p:sp>
      <p:sp>
        <p:nvSpPr>
          <p:cNvPr id="14" name="Editable scientific diagram">
            <a:extLst xmlns:a="http://schemas.openxmlformats.org/drawingml/2006/main">
              <a:ext uri="{FF2B5EF4-FFF2-40B4-BE49-F238E27FC236}">
                <a16:creationId xmlns:a16="http://schemas.microsoft.com/office/drawing/2014/main" id="{69FCA991-E82E-468E-B9D7-CEBFD3F23273}"/>
              </a:ext>
            </a:extLst>
          </p:cNvPr>
          <p:cNvSpPr>
            <a:spLocks xmlns:a="http://schemas.openxmlformats.org/drawingml/2006/main" noGrp="1"/>
          </p:cNvSpPr>
          <p:nvPr/>
        </p:nvSpPr>
        <p:spPr>
          <a:xfrm xmlns:a="http://schemas.openxmlformats.org/drawingml/2006/main">
            <a:off x="7216038" y="2743880"/>
            <a:ext cx="2277410" cy="933365"/>
          </a:xfrm>
          <a:prstGeom xmlns:a="http://schemas.openxmlformats.org/drawingml/2006/main" prst="rect">
            <a:avLst/>
          </a:prstGeom>
          <a:solidFill xmlns:a="http://schemas.openxmlformats.org/drawingml/2006/main">
            <a:srgbClr val="F0EBF5"/>
          </a:solidFill>
          <a:ln xmlns:a="http://schemas.openxmlformats.org/drawingml/2006/main" w="22401">
            <a:solidFill>
              <a:srgbClr val="7A5C9E"/>
            </a:solidFill>
          </a:ln>
        </p:spPr>
      </p:sp>
      <p:sp>
        <p:nvSpPr>
          <p:cNvPr id="15" name="Diagram label: Responsive tissues&#10;Receive an&#10;insulin signal">
            <a:extLst xmlns:a="http://schemas.openxmlformats.org/drawingml/2006/main">
              <a:ext uri="{FF2B5EF4-FFF2-40B4-BE49-F238E27FC236}">
                <a16:creationId xmlns:a16="http://schemas.microsoft.com/office/drawing/2014/main" id="{C2523309-95AA-4FD3-8993-A95874469390}"/>
              </a:ext>
            </a:extLst>
          </p:cNvPr>
          <p:cNvSpPr>
            <a:spLocks xmlns:a="http://schemas.openxmlformats.org/drawingml/2006/main" noGrp="1"/>
          </p:cNvSpPr>
          <p:nvPr/>
        </p:nvSpPr>
        <p:spPr>
          <a:xfrm xmlns:a="http://schemas.openxmlformats.org/drawingml/2006/main">
            <a:off x="7365376" y="2833483"/>
            <a:ext cx="1978734" cy="8213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11" b="1">
                <a:solidFill>
                  <a:srgbClr val="1F2937"/>
                </a:solidFill>
                <a:latin typeface="Nimbus Sans"/>
                <a:ea typeface="Nimbus Sans"/>
                <a:cs typeface="Nimbus Sans"/>
              </a:defRPr>
            </a:pPr>
            <a:r>
              <a:rPr sz="1411" b="1">
                <a:solidFill>
                  <a:srgbClr val="1F2937"/>
                </a:solidFill>
                <a:latin typeface="Nimbus Sans"/>
                <a:ea typeface="Nimbus Sans"/>
                <a:cs typeface="Nimbus Sans"/>
              </a:rPr>
              <a:t>Responsive tissues</a:t>
            </a:r>
          </a:p>
          <a:p xmlns:a="http://schemas.openxmlformats.org/drawingml/2006/main">
            <a:pPr algn="ctr">
              <a:lnSpc>
                <a:spcPct val="108000"/>
              </a:lnSpc>
              <a:buNone/>
              <a:defRPr sz="1411" b="1">
                <a:solidFill>
                  <a:srgbClr val="1F2937"/>
                </a:solidFill>
                <a:latin typeface="Nimbus Sans"/>
                <a:ea typeface="Nimbus Sans"/>
                <a:cs typeface="Nimbus Sans"/>
              </a:defRPr>
            </a:pPr>
            <a:r>
              <a:rPr sz="1411" b="1">
                <a:solidFill>
                  <a:srgbClr val="1F2937"/>
                </a:solidFill>
                <a:latin typeface="Nimbus Sans"/>
                <a:ea typeface="Nimbus Sans"/>
                <a:cs typeface="Nimbus Sans"/>
              </a:rPr>
              <a:t>Receive an</a:t>
            </a:r>
          </a:p>
          <a:p xmlns:a="http://schemas.openxmlformats.org/drawingml/2006/main">
            <a:pPr algn="ctr">
              <a:lnSpc>
                <a:spcPct val="108000"/>
              </a:lnSpc>
              <a:buNone/>
              <a:defRPr sz="1411" b="1">
                <a:solidFill>
                  <a:srgbClr val="1F2937"/>
                </a:solidFill>
                <a:latin typeface="Nimbus Sans"/>
                <a:ea typeface="Nimbus Sans"/>
                <a:cs typeface="Nimbus Sans"/>
              </a:defRPr>
            </a:pPr>
            <a:r>
              <a:rPr sz="1411" b="1">
                <a:solidFill>
                  <a:srgbClr val="1F2937"/>
                </a:solidFill>
                <a:latin typeface="Nimbus Sans"/>
                <a:ea typeface="Nimbus Sans"/>
                <a:cs typeface="Nimbus Sans"/>
              </a:rPr>
              <a:t>insulin signal</a:t>
            </a:r>
          </a:p>
        </p:txBody>
      </p:sp>
      <p:sp>
        <p:nvSpPr>
          <p:cNvPr id="16" name="Diagram line">
            <a:extLst xmlns:a="http://schemas.openxmlformats.org/drawingml/2006/main">
              <a:ext uri="{FF2B5EF4-FFF2-40B4-BE49-F238E27FC236}">
                <a16:creationId xmlns:a16="http://schemas.microsoft.com/office/drawing/2014/main" id="{E7F43475-DBCA-4E22-83C2-F6D3BCCCD7A4}"/>
              </a:ext>
            </a:extLst>
          </p:cNvPr>
          <p:cNvSpPr>
            <a:spLocks xmlns:a="http://schemas.openxmlformats.org/drawingml/2006/main" noGrp="1"/>
          </p:cNvSpPr>
          <p:nvPr/>
        </p:nvSpPr>
        <p:spPr>
          <a:xfrm xmlns:a="http://schemas.openxmlformats.org/drawingml/2006/main" flipH="0" flipV="0">
            <a:off x="4826624" y="3191896"/>
            <a:ext cx="2161673" cy="953"/>
          </a:xfrm>
          <a:prstGeom xmlns:a="http://schemas.openxmlformats.org/drawingml/2006/main" prst="line">
            <a:avLst/>
          </a:prstGeom>
          <a:noFill xmlns:a="http://schemas.openxmlformats.org/drawingml/2006/main"/>
          <a:ln xmlns:a="http://schemas.openxmlformats.org/drawingml/2006/main" w="29868">
            <a:solidFill>
              <a:srgbClr val="7A5C9E"/>
            </a:solidFill>
          </a:ln>
        </p:spPr>
      </p:sp>
      <p:sp>
        <p:nvSpPr>
          <p:cNvPr id="17" name="Diagram arrowhead">
            <a:extLst xmlns:a="http://schemas.openxmlformats.org/drawingml/2006/main">
              <a:ext uri="{FF2B5EF4-FFF2-40B4-BE49-F238E27FC236}">
                <a16:creationId xmlns:a16="http://schemas.microsoft.com/office/drawing/2014/main" id="{59D5207A-D572-42F8-BB16-27FBEF76D62C}"/>
              </a:ext>
            </a:extLst>
          </p:cNvPr>
          <p:cNvSpPr>
            <a:spLocks xmlns:a="http://schemas.openxmlformats.org/drawingml/2006/main" noGrp="1"/>
          </p:cNvSpPr>
          <p:nvPr/>
        </p:nvSpPr>
        <p:spPr>
          <a:xfrm xmlns:a="http://schemas.openxmlformats.org/drawingml/2006/main" rot="5400000">
            <a:off x="6962163" y="3139627"/>
            <a:ext cx="104537" cy="104537"/>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18" name="Diagram label: Insulin in blood">
            <a:extLst xmlns:a="http://schemas.openxmlformats.org/drawingml/2006/main">
              <a:ext uri="{FF2B5EF4-FFF2-40B4-BE49-F238E27FC236}">
                <a16:creationId xmlns:a16="http://schemas.microsoft.com/office/drawing/2014/main" id="{8B2E6766-96D9-45E2-9940-1742348FF413}"/>
              </a:ext>
            </a:extLst>
          </p:cNvPr>
          <p:cNvSpPr>
            <a:spLocks xmlns:a="http://schemas.openxmlformats.org/drawingml/2006/main" noGrp="1"/>
          </p:cNvSpPr>
          <p:nvPr/>
        </p:nvSpPr>
        <p:spPr>
          <a:xfrm xmlns:a="http://schemas.openxmlformats.org/drawingml/2006/main">
            <a:off x="4975962" y="2818550"/>
            <a:ext cx="1941399" cy="3136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Insulin in blood</a:t>
            </a:r>
          </a:p>
        </p:txBody>
      </p:sp>
      <p:sp>
        <p:nvSpPr>
          <p:cNvPr id="19" name="Editable scientific diagram">
            <a:extLst xmlns:a="http://schemas.openxmlformats.org/drawingml/2006/main">
              <a:ext uri="{FF2B5EF4-FFF2-40B4-BE49-F238E27FC236}">
                <a16:creationId xmlns:a16="http://schemas.microsoft.com/office/drawing/2014/main" id="{8C6CC620-AE58-4132-801E-80CCD6C44675}"/>
              </a:ext>
            </a:extLst>
          </p:cNvPr>
          <p:cNvSpPr>
            <a:spLocks xmlns:a="http://schemas.openxmlformats.org/drawingml/2006/main" noGrp="1"/>
          </p:cNvSpPr>
          <p:nvPr/>
        </p:nvSpPr>
        <p:spPr>
          <a:xfrm xmlns:a="http://schemas.openxmlformats.org/drawingml/2006/main">
            <a:off x="2698552" y="4311933"/>
            <a:ext cx="2016068" cy="933365"/>
          </a:xfrm>
          <a:prstGeom xmlns:a="http://schemas.openxmlformats.org/drawingml/2006/main" prst="rect">
            <a:avLst/>
          </a:prstGeom>
          <a:solidFill xmlns:a="http://schemas.openxmlformats.org/drawingml/2006/main">
            <a:srgbClr val="EEF3F7"/>
          </a:solidFill>
          <a:ln xmlns:a="http://schemas.openxmlformats.org/drawingml/2006/main" w="22401">
            <a:solidFill>
              <a:srgbClr val="4D82A0"/>
            </a:solidFill>
          </a:ln>
        </p:spPr>
      </p:sp>
      <p:sp>
        <p:nvSpPr>
          <p:cNvPr id="20" name="Diagram label: Glucose&#10;in blood">
            <a:extLst xmlns:a="http://schemas.openxmlformats.org/drawingml/2006/main">
              <a:ext uri="{FF2B5EF4-FFF2-40B4-BE49-F238E27FC236}">
                <a16:creationId xmlns:a16="http://schemas.microsoft.com/office/drawing/2014/main" id="{5D8AD357-5891-4CA0-A511-9CC29DE852C0}"/>
              </a:ext>
            </a:extLst>
          </p:cNvPr>
          <p:cNvSpPr>
            <a:spLocks xmlns:a="http://schemas.openxmlformats.org/drawingml/2006/main" noGrp="1"/>
          </p:cNvSpPr>
          <p:nvPr/>
        </p:nvSpPr>
        <p:spPr>
          <a:xfrm xmlns:a="http://schemas.openxmlformats.org/drawingml/2006/main">
            <a:off x="2847890" y="4461272"/>
            <a:ext cx="1717392"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Glucose</a:t>
            </a:r>
          </a:p>
          <a:p xmlns:a="http://schemas.openxmlformats.org/drawingml/2006/main">
            <a:pPr algn="ctr">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in blood</a:t>
            </a:r>
          </a:p>
        </p:txBody>
      </p:sp>
      <p:sp>
        <p:nvSpPr>
          <p:cNvPr id="21" name="Editable scientific diagram">
            <a:extLst xmlns:a="http://schemas.openxmlformats.org/drawingml/2006/main">
              <a:ext uri="{FF2B5EF4-FFF2-40B4-BE49-F238E27FC236}">
                <a16:creationId xmlns:a16="http://schemas.microsoft.com/office/drawing/2014/main" id="{9853BD18-08B8-4577-9112-CA8BB229BF3A}"/>
              </a:ext>
            </a:extLst>
          </p:cNvPr>
          <p:cNvSpPr>
            <a:spLocks xmlns:a="http://schemas.openxmlformats.org/drawingml/2006/main" noGrp="1"/>
          </p:cNvSpPr>
          <p:nvPr/>
        </p:nvSpPr>
        <p:spPr>
          <a:xfrm xmlns:a="http://schemas.openxmlformats.org/drawingml/2006/main">
            <a:off x="7216038" y="4311933"/>
            <a:ext cx="2277410" cy="933365"/>
          </a:xfrm>
          <a:prstGeom xmlns:a="http://schemas.openxmlformats.org/drawingml/2006/main" prst="rect">
            <a:avLst/>
          </a:prstGeom>
          <a:solidFill xmlns:a="http://schemas.openxmlformats.org/drawingml/2006/main">
            <a:srgbClr val="EEF3F7"/>
          </a:solidFill>
          <a:ln xmlns:a="http://schemas.openxmlformats.org/drawingml/2006/main" w="22401">
            <a:solidFill>
              <a:srgbClr val="4D82A0"/>
            </a:solidFill>
          </a:ln>
        </p:spPr>
      </p:sp>
      <p:sp>
        <p:nvSpPr>
          <p:cNvPr id="22" name="Diagram label: Glucose uptake /&#10;glycogen storage&#10;are promoted">
            <a:extLst xmlns:a="http://schemas.openxmlformats.org/drawingml/2006/main">
              <a:ext uri="{FF2B5EF4-FFF2-40B4-BE49-F238E27FC236}">
                <a16:creationId xmlns:a16="http://schemas.microsoft.com/office/drawing/2014/main" id="{538EB458-090B-4AD9-8709-8B0F313B3FF5}"/>
              </a:ext>
            </a:extLst>
          </p:cNvPr>
          <p:cNvSpPr>
            <a:spLocks xmlns:a="http://schemas.openxmlformats.org/drawingml/2006/main" noGrp="1"/>
          </p:cNvSpPr>
          <p:nvPr/>
        </p:nvSpPr>
        <p:spPr>
          <a:xfrm xmlns:a="http://schemas.openxmlformats.org/drawingml/2006/main">
            <a:off x="7365376" y="4423937"/>
            <a:ext cx="1978734" cy="7840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Glucose uptake /</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glycogen storage</a:t>
            </a:r>
          </a:p>
          <a:p xmlns:a="http://schemas.openxmlformats.org/drawingml/2006/main">
            <a:pPr algn="ctr">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are promoted</a:t>
            </a:r>
          </a:p>
        </p:txBody>
      </p:sp>
      <p:sp>
        <p:nvSpPr>
          <p:cNvPr id="23" name="Diagram line">
            <a:extLst xmlns:a="http://schemas.openxmlformats.org/drawingml/2006/main">
              <a:ext uri="{FF2B5EF4-FFF2-40B4-BE49-F238E27FC236}">
                <a16:creationId xmlns:a16="http://schemas.microsoft.com/office/drawing/2014/main" id="{3A03AD6D-05C2-42DC-81DF-9ABB3CB12A5B}"/>
              </a:ext>
            </a:extLst>
          </p:cNvPr>
          <p:cNvSpPr>
            <a:spLocks xmlns:a="http://schemas.openxmlformats.org/drawingml/2006/main" noGrp="1"/>
          </p:cNvSpPr>
          <p:nvPr/>
        </p:nvSpPr>
        <p:spPr>
          <a:xfrm xmlns:a="http://schemas.openxmlformats.org/drawingml/2006/main" flipH="0" flipV="0">
            <a:off x="4826624" y="4759949"/>
            <a:ext cx="2161673" cy="953"/>
          </a:xfrm>
          <a:prstGeom xmlns:a="http://schemas.openxmlformats.org/drawingml/2006/main" prst="line">
            <a:avLst/>
          </a:prstGeom>
          <a:noFill xmlns:a="http://schemas.openxmlformats.org/drawingml/2006/main"/>
          <a:ln xmlns:a="http://schemas.openxmlformats.org/drawingml/2006/main" w="29868">
            <a:solidFill>
              <a:srgbClr val="4D82A0"/>
            </a:solidFill>
          </a:ln>
        </p:spPr>
      </p:sp>
      <p:sp>
        <p:nvSpPr>
          <p:cNvPr id="24" name="Diagram arrowhead">
            <a:extLst xmlns:a="http://schemas.openxmlformats.org/drawingml/2006/main">
              <a:ext uri="{FF2B5EF4-FFF2-40B4-BE49-F238E27FC236}">
                <a16:creationId xmlns:a16="http://schemas.microsoft.com/office/drawing/2014/main" id="{EAD5FECD-36AF-4C8D-9654-56DFB9AFAB98}"/>
              </a:ext>
            </a:extLst>
          </p:cNvPr>
          <p:cNvSpPr>
            <a:spLocks xmlns:a="http://schemas.openxmlformats.org/drawingml/2006/main" noGrp="1"/>
          </p:cNvSpPr>
          <p:nvPr/>
        </p:nvSpPr>
        <p:spPr>
          <a:xfrm xmlns:a="http://schemas.openxmlformats.org/drawingml/2006/main" rot="5400000">
            <a:off x="6962163" y="4707680"/>
            <a:ext cx="104537" cy="104537"/>
          </a:xfrm>
          <a:prstGeom xmlns:a="http://schemas.openxmlformats.org/drawingml/2006/main" prst="triangle">
            <a:avLst/>
          </a:prstGeom>
          <a:solidFill xmlns:a="http://schemas.openxmlformats.org/drawingml/2006/main">
            <a:srgbClr val="4D82A0"/>
          </a:solidFill>
          <a:ln xmlns:a="http://schemas.openxmlformats.org/drawingml/2006/main" w="0">
            <a:noFill/>
          </a:ln>
        </p:spPr>
      </p:sp>
      <p:sp>
        <p:nvSpPr>
          <p:cNvPr id="25" name="Diagram label: Glucose is a material">
            <a:extLst xmlns:a="http://schemas.openxmlformats.org/drawingml/2006/main">
              <a:ext uri="{FF2B5EF4-FFF2-40B4-BE49-F238E27FC236}">
                <a16:creationId xmlns:a16="http://schemas.microsoft.com/office/drawing/2014/main" id="{7FFFE3AD-7C76-46FF-AB53-AF03871D69D3}"/>
              </a:ext>
            </a:extLst>
          </p:cNvPr>
          <p:cNvSpPr>
            <a:spLocks xmlns:a="http://schemas.openxmlformats.org/drawingml/2006/main" noGrp="1"/>
          </p:cNvSpPr>
          <p:nvPr/>
        </p:nvSpPr>
        <p:spPr>
          <a:xfrm xmlns:a="http://schemas.openxmlformats.org/drawingml/2006/main">
            <a:off x="4863958" y="5021291"/>
            <a:ext cx="2165407" cy="298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11" b="1">
                <a:solidFill>
                  <a:srgbClr val="1F2937"/>
                </a:solidFill>
                <a:latin typeface="Nimbus Sans"/>
                <a:ea typeface="Nimbus Sans"/>
                <a:cs typeface="Nimbus Sans"/>
              </a:defRPr>
            </a:pPr>
            <a:r>
              <a:rPr sz="1411" b="1">
                <a:solidFill>
                  <a:srgbClr val="1F2937"/>
                </a:solidFill>
                <a:latin typeface="Nimbus Sans"/>
                <a:ea typeface="Nimbus Sans"/>
                <a:cs typeface="Nimbus Sans"/>
              </a:rPr>
              <a:t>Glucose is a material</a:t>
            </a:r>
          </a:p>
        </p:txBody>
      </p:sp>
      <p:sp>
        <p:nvSpPr>
          <p:cNvPr id="26" name="Diagram line">
            <a:extLst xmlns:a="http://schemas.openxmlformats.org/drawingml/2006/main">
              <a:ext uri="{FF2B5EF4-FFF2-40B4-BE49-F238E27FC236}">
                <a16:creationId xmlns:a16="http://schemas.microsoft.com/office/drawing/2014/main" id="{038173B6-4745-4EA3-9F49-5D7B3383EB8A}"/>
              </a:ext>
            </a:extLst>
          </p:cNvPr>
          <p:cNvSpPr>
            <a:spLocks xmlns:a="http://schemas.openxmlformats.org/drawingml/2006/main" noGrp="1"/>
          </p:cNvSpPr>
          <p:nvPr/>
        </p:nvSpPr>
        <p:spPr>
          <a:xfrm xmlns:a="http://schemas.openxmlformats.org/drawingml/2006/main" flipH="0" flipV="0">
            <a:off x="8373410" y="3789249"/>
            <a:ext cx="953" cy="294943"/>
          </a:xfrm>
          <a:prstGeom xmlns:a="http://schemas.openxmlformats.org/drawingml/2006/main" prst="line">
            <a:avLst/>
          </a:prstGeom>
          <a:noFill xmlns:a="http://schemas.openxmlformats.org/drawingml/2006/main"/>
          <a:ln xmlns:a="http://schemas.openxmlformats.org/drawingml/2006/main" w="29868">
            <a:solidFill>
              <a:srgbClr val="7A5C9E"/>
            </a:solidFill>
          </a:ln>
        </p:spPr>
      </p:sp>
      <p:sp>
        <p:nvSpPr>
          <p:cNvPr id="27" name="Diagram arrowhead">
            <a:extLst xmlns:a="http://schemas.openxmlformats.org/drawingml/2006/main">
              <a:ext uri="{FF2B5EF4-FFF2-40B4-BE49-F238E27FC236}">
                <a16:creationId xmlns:a16="http://schemas.microsoft.com/office/drawing/2014/main" id="{0A4E0C87-C02C-40FE-B7F5-A2C7422F276A}"/>
              </a:ext>
            </a:extLst>
          </p:cNvPr>
          <p:cNvSpPr>
            <a:spLocks xmlns:a="http://schemas.openxmlformats.org/drawingml/2006/main" noGrp="1"/>
          </p:cNvSpPr>
          <p:nvPr/>
        </p:nvSpPr>
        <p:spPr>
          <a:xfrm xmlns:a="http://schemas.openxmlformats.org/drawingml/2006/main" rot="10800000">
            <a:off x="8321142" y="4058058"/>
            <a:ext cx="104537" cy="104537"/>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8" name="Diagram label: Insulin is a signal; it is not converted into glycogen.">
            <a:extLst xmlns:a="http://schemas.openxmlformats.org/drawingml/2006/main">
              <a:ext uri="{FF2B5EF4-FFF2-40B4-BE49-F238E27FC236}">
                <a16:creationId xmlns:a16="http://schemas.microsoft.com/office/drawing/2014/main" id="{0D1EABB0-0816-4DA9-8E85-32012B371BF7}"/>
              </a:ext>
            </a:extLst>
          </p:cNvPr>
          <p:cNvSpPr>
            <a:spLocks xmlns:a="http://schemas.openxmlformats.org/drawingml/2006/main" noGrp="1"/>
          </p:cNvSpPr>
          <p:nvPr/>
        </p:nvSpPr>
        <p:spPr>
          <a:xfrm xmlns:a="http://schemas.openxmlformats.org/drawingml/2006/main">
            <a:off x="2698552" y="5543975"/>
            <a:ext cx="6794897"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29" b="1">
                <a:solidFill>
                  <a:srgbClr val="1F2937"/>
                </a:solidFill>
                <a:latin typeface="Nimbus Sans"/>
                <a:ea typeface="Nimbus Sans"/>
                <a:cs typeface="Nimbus Sans"/>
              </a:defRPr>
            </a:pPr>
            <a:r>
              <a:rPr sz="1529" b="1">
                <a:solidFill>
                  <a:srgbClr val="1F2937"/>
                </a:solidFill>
                <a:latin typeface="Nimbus Sans"/>
                <a:ea typeface="Nimbus Sans"/>
                <a:cs typeface="Nimbus Sans"/>
              </a:rPr>
              <a:t>Insulin is a signal; it is not converted into glycogen.</a:t>
            </a:r>
          </a:p>
        </p:txBody>
      </p:sp>
      <p:sp>
        <p:nvSpPr>
          <p:cNvPr id="29" name="Insulin changes responses in target tissues.  Glucose is transpo">
            <a:extLst xmlns:a="http://schemas.openxmlformats.org/drawingml/2006/main">
              <a:ext uri="{FF2B5EF4-FFF2-40B4-BE49-F238E27FC236}">
                <a16:creationId xmlns:a16="http://schemas.microsoft.com/office/drawing/2014/main" id="{B8AB9BA8-10EE-4EBA-B8A1-AD9B53853989}"/>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Insulin changes responses in target tissues. Glucose is transported and can be stored as glycogen.</a:t>
            </a:r>
          </a:p>
        </p:txBody>
      </p:sp>
    </p:spTree>
    <p:extLst>
      <p:ext uri="{BB962C8B-B14F-4D97-AF65-F5344CB8AC3E}">
        <p14:creationId xmlns:p14="http://schemas.microsoft.com/office/powerpoint/2010/main" val="436307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B653A5A6-D629-4042-A091-F0520EE11A9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5F5C675-A613-4B9B-B4F2-D64A46DF9EF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061258A-ADA6-4A76-AE74-9C455D72B8E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E6BD8C7-55B5-49D6-B04C-C51EAAD7A42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960646A1-E187-4946-AEDC-D83CF7A5795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3 min">
            <a:extLst xmlns:a="http://schemas.openxmlformats.org/drawingml/2006/main">
              <a:ext uri="{FF2B5EF4-FFF2-40B4-BE49-F238E27FC236}">
                <a16:creationId xmlns:a16="http://schemas.microsoft.com/office/drawing/2014/main" id="{7C21A2A5-FDA4-4FD9-9E32-28A21012362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Choose a fair comparison">
            <a:extLst xmlns:a="http://schemas.openxmlformats.org/drawingml/2006/main">
              <a:ext uri="{FF2B5EF4-FFF2-40B4-BE49-F238E27FC236}">
                <a16:creationId xmlns:a16="http://schemas.microsoft.com/office/drawing/2014/main" id="{D554F0EA-5BC2-4855-ABB9-B7E02AA1B08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a fair comparison</a:t>
            </a:r>
          </a:p>
        </p:txBody>
      </p:sp>
      <p:sp>
        <p:nvSpPr>
          <p:cNvPr id="8" name="surface">
            <a:extLst xmlns:a="http://schemas.openxmlformats.org/drawingml/2006/main">
              <a:ext uri="{FF2B5EF4-FFF2-40B4-BE49-F238E27FC236}">
                <a16:creationId xmlns:a16="http://schemas.microsoft.com/office/drawing/2014/main" id="{011195BB-1C4F-40DD-B5C0-E0C55DCC99F9}"/>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6CDC52C1-4F06-49ED-8DA8-0A866EDF3C5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6 / 15">
            <a:extLst xmlns:a="http://schemas.openxmlformats.org/drawingml/2006/main">
              <a:ext uri="{FF2B5EF4-FFF2-40B4-BE49-F238E27FC236}">
                <a16:creationId xmlns:a16="http://schemas.microsoft.com/office/drawing/2014/main" id="{085D2788-F481-4D89-8CB5-6062515A4AD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15</a:t>
            </a:r>
          </a:p>
        </p:txBody>
      </p:sp>
      <p:sp>
        <p:nvSpPr>
          <p:cNvPr id="11" name="W1. Which pair tests area alone? W2. Which pair tests thickness ">
            <a:extLst xmlns:a="http://schemas.openxmlformats.org/drawingml/2006/main">
              <a:ext uri="{FF2B5EF4-FFF2-40B4-BE49-F238E27FC236}">
                <a16:creationId xmlns:a16="http://schemas.microsoft.com/office/drawing/2014/main" id="{30D68331-C658-4FB7-8FC2-F3F92B7C9FD5}"/>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W1. Which pair tests area alone? W2. Which pair tests thickness alone?</a:t>
            </a:r>
          </a:p>
        </p:txBody>
      </p:sp>
      <p:graphicFrame>
        <p:nvGraphicFramePr>
          <p:cNvPr id="25" name=""/>
          <p:cNvGraphicFramePr/>
          <p:nvPr/>
        </p:nvGraphicFramePr>
        <p:xfrm>
          <a:off xmlns:a="http://schemas.openxmlformats.org/drawingml/2006/main" x="533400" y="2295525"/>
          <a:ext xmlns:a="http://schemas.openxmlformats.org/drawingml/2006/main" cx="11125200" cy="2316956"/>
        </p:xfrm>
        <a:graphic xmlns:a="http://schemas.openxmlformats.org/drawingml/2006/main">
          <a:graphicData uri="http://schemas.openxmlformats.org/drawingml/2006/table">
            <a:tbl>
              <a:tblPr firstRow="1" bandRow="0"/>
              <a:tblGrid>
                <a:gridCol w="2011456"/>
                <a:gridCol w="2417470"/>
                <a:gridCol w="3851645"/>
                <a:gridCol w="2844629"/>
              </a:tblGrid>
              <a:tr h="801053">
                <a:tc>
                  <a:txBody>
                    <a:bodyPr lIns="95250" tIns="95250" rIns="95250" bIns="95250"/>
                    <a:lstStyle/>
                    <a:p>
                      <a:pPr algn="l"/>
                      <a:r>
                        <a:rPr sz="2025" b="1">
                          <a:solidFill>
                            <a:srgbClr val="FFFFFF"/>
                          </a:solidFill>
                          <a:latin typeface="Nimbus Sans"/>
                          <a:ea typeface="Nimbus Sans"/>
                          <a:cs typeface="Nimbus Sans"/>
                        </a:rPr>
                        <a:t>Case</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Relative area</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Relative concentration difference</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Relative thickness</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X</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3</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Y</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6</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4</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2</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Z</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6</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a:t>
                      </a:r>
                    </a:p>
                  </a:txBody>
                  <a:tcPr marL="95250" marR="95250" marT="95250" marB="95250" anchor="ctr">
                    <a:solidFill>
                      <a:srgbClr val="F4F7F9"/>
                    </a:solidFill>
                  </a:tcPr>
                </a:tc>
              </a:tr>
            </a:tbl>
          </a:graphicData>
        </a:graphic>
      </p:graphicFrame>
      <p:sp>
        <p:nvSpPr>
          <p:cNvPr id="13" name="Constructed model: rate index = area × concentration difference ">
            <a:extLst xmlns:a="http://schemas.openxmlformats.org/drawingml/2006/main">
              <a:ext uri="{FF2B5EF4-FFF2-40B4-BE49-F238E27FC236}">
                <a16:creationId xmlns:a16="http://schemas.microsoft.com/office/drawing/2014/main" id="{A28B65B9-B1C8-4526-BBDD-8223B6DD7B65}"/>
              </a:ext>
            </a:extLst>
          </p:cNvPr>
          <p:cNvSpPr>
            <a:spLocks xmlns:a="http://schemas.openxmlformats.org/drawingml/2006/main" noGrp="1"/>
          </p:cNvSpPr>
          <p:nvPr/>
        </p:nvSpPr>
        <p:spPr>
          <a:xfrm xmlns:a="http://schemas.openxmlformats.org/drawingml/2006/main">
            <a:off x="533400" y="4726781"/>
            <a:ext cx="11125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model: rate index = area × concentration difference ÷ thickness; same omitted constant.</a:t>
            </a:r>
          </a:p>
        </p:txBody>
      </p:sp>
    </p:spTree>
    <p:extLst>
      <p:ext uri="{BB962C8B-B14F-4D97-AF65-F5344CB8AC3E}">
        <p14:creationId xmlns:p14="http://schemas.microsoft.com/office/powerpoint/2010/main" val="3344158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0E24B627-7E92-431A-8B79-0457F571A1D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B6B618F-4E4B-4535-94DD-42E0A475DF83}"/>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8ADBD18-4B73-4F36-A3BF-8F205C6104D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8E0E7E0E-B1F3-4B2A-9888-F35356D0116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7024C93A-94B6-4E14-923E-C75EF63A124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2 min">
            <a:extLst xmlns:a="http://schemas.openxmlformats.org/drawingml/2006/main">
              <a:ext uri="{FF2B5EF4-FFF2-40B4-BE49-F238E27FC236}">
                <a16:creationId xmlns:a16="http://schemas.microsoft.com/office/drawing/2014/main" id="{68952F93-A835-40D4-BA95-6C3B585248AF}"/>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udit the headline">
            <a:extLst xmlns:a="http://schemas.openxmlformats.org/drawingml/2006/main">
              <a:ext uri="{FF2B5EF4-FFF2-40B4-BE49-F238E27FC236}">
                <a16:creationId xmlns:a16="http://schemas.microsoft.com/office/drawing/2014/main" id="{23F77C48-F4B4-424D-920F-79EF9DB4388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Audit the headline</a:t>
            </a:r>
          </a:p>
        </p:txBody>
      </p:sp>
      <p:sp>
        <p:nvSpPr>
          <p:cNvPr id="8" name="surface">
            <a:extLst xmlns:a="http://schemas.openxmlformats.org/drawingml/2006/main">
              <a:ext uri="{FF2B5EF4-FFF2-40B4-BE49-F238E27FC236}">
                <a16:creationId xmlns:a16="http://schemas.microsoft.com/office/drawing/2014/main" id="{9AC0D258-E4CA-4590-9562-694F3B85EB4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CD41CADD-2B5B-4F48-B924-922C41BA4B3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7 / 15">
            <a:extLst xmlns:a="http://schemas.openxmlformats.org/drawingml/2006/main">
              <a:ext uri="{FF2B5EF4-FFF2-40B4-BE49-F238E27FC236}">
                <a16:creationId xmlns:a16="http://schemas.microsoft.com/office/drawing/2014/main" id="{C90CE9F5-2FF3-4A09-BDCD-2DAB348D4ED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15</a:t>
            </a:r>
          </a:p>
        </p:txBody>
      </p:sp>
      <p:sp>
        <p:nvSpPr>
          <p:cNvPr id="11" name="Diagram label: Oxygen supply is a linked pathway">
            <a:extLst xmlns:a="http://schemas.openxmlformats.org/drawingml/2006/main">
              <a:ext uri="{FF2B5EF4-FFF2-40B4-BE49-F238E27FC236}">
                <a16:creationId xmlns:a16="http://schemas.microsoft.com/office/drawing/2014/main" id="{F993999F-FC02-4EFF-96C2-2D4D80BFE786}"/>
              </a:ext>
            </a:extLst>
          </p:cNvPr>
          <p:cNvSpPr>
            <a:spLocks xmlns:a="http://schemas.openxmlformats.org/drawingml/2006/main" noGrp="1"/>
          </p:cNvSpPr>
          <p:nvPr/>
        </p:nvSpPr>
        <p:spPr>
          <a:xfrm xmlns:a="http://schemas.openxmlformats.org/drawingml/2006/main">
            <a:off x="2802391" y="1988004"/>
            <a:ext cx="6587218" cy="3363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Oxygen supply is a linked pathway</a:t>
            </a:r>
          </a:p>
        </p:txBody>
      </p:sp>
      <p:sp>
        <p:nvSpPr>
          <p:cNvPr id="12" name="Editable scientific diagram">
            <a:extLst xmlns:a="http://schemas.openxmlformats.org/drawingml/2006/main">
              <a:ext uri="{FF2B5EF4-FFF2-40B4-BE49-F238E27FC236}">
                <a16:creationId xmlns:a16="http://schemas.microsoft.com/office/drawing/2014/main" id="{E1E2AEB7-7DD8-43EE-807F-6C8331359F51}"/>
              </a:ext>
            </a:extLst>
          </p:cNvPr>
          <p:cNvSpPr>
            <a:spLocks xmlns:a="http://schemas.openxmlformats.org/drawingml/2006/main" noGrp="1"/>
          </p:cNvSpPr>
          <p:nvPr/>
        </p:nvSpPr>
        <p:spPr>
          <a:xfrm xmlns:a="http://schemas.openxmlformats.org/drawingml/2006/main">
            <a:off x="2942545" y="2618695"/>
            <a:ext cx="2732995"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3" name="Diagram label: Ventilation&#10;Replenishes alveolar air">
            <a:extLst xmlns:a="http://schemas.openxmlformats.org/drawingml/2006/main">
              <a:ext uri="{FF2B5EF4-FFF2-40B4-BE49-F238E27FC236}">
                <a16:creationId xmlns:a16="http://schemas.microsoft.com/office/drawing/2014/main" id="{F605DDDB-0AA9-4BEC-BDA8-52520CAD93F4}"/>
              </a:ext>
            </a:extLst>
          </p:cNvPr>
          <p:cNvSpPr>
            <a:spLocks xmlns:a="http://schemas.openxmlformats.org/drawingml/2006/main" noGrp="1"/>
          </p:cNvSpPr>
          <p:nvPr/>
        </p:nvSpPr>
        <p:spPr>
          <a:xfrm xmlns:a="http://schemas.openxmlformats.org/drawingml/2006/main">
            <a:off x="3117737" y="2758848"/>
            <a:ext cx="2382611" cy="6657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Ventilation</a:t>
            </a:r>
          </a:p>
          <a:p xmlns:a="http://schemas.openxmlformats.org/drawingml/2006/main">
            <a:pPr algn="ctr">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Replenishes alveolar air</a:t>
            </a:r>
          </a:p>
        </p:txBody>
      </p:sp>
      <p:sp>
        <p:nvSpPr>
          <p:cNvPr id="14" name="Editable scientific diagram">
            <a:extLst xmlns:a="http://schemas.openxmlformats.org/drawingml/2006/main">
              <a:ext uri="{FF2B5EF4-FFF2-40B4-BE49-F238E27FC236}">
                <a16:creationId xmlns:a16="http://schemas.microsoft.com/office/drawing/2014/main" id="{3827A364-8E43-41A3-8E1B-1F3442BCA7DC}"/>
              </a:ext>
            </a:extLst>
          </p:cNvPr>
          <p:cNvSpPr>
            <a:spLocks xmlns:a="http://schemas.openxmlformats.org/drawingml/2006/main" noGrp="1"/>
          </p:cNvSpPr>
          <p:nvPr/>
        </p:nvSpPr>
        <p:spPr>
          <a:xfrm xmlns:a="http://schemas.openxmlformats.org/drawingml/2006/main">
            <a:off x="6481422" y="2618695"/>
            <a:ext cx="2732995" cy="946037"/>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5" name="Diagram label: Lung exchange&#10;Oxygen diffuses&#10;into blood">
            <a:extLst xmlns:a="http://schemas.openxmlformats.org/drawingml/2006/main">
              <a:ext uri="{FF2B5EF4-FFF2-40B4-BE49-F238E27FC236}">
                <a16:creationId xmlns:a16="http://schemas.microsoft.com/office/drawing/2014/main" id="{F6954084-87F4-41CA-9CFC-9975B03EAAA4}"/>
              </a:ext>
            </a:extLst>
          </p:cNvPr>
          <p:cNvSpPr>
            <a:spLocks xmlns:a="http://schemas.openxmlformats.org/drawingml/2006/main" noGrp="1"/>
          </p:cNvSpPr>
          <p:nvPr/>
        </p:nvSpPr>
        <p:spPr>
          <a:xfrm xmlns:a="http://schemas.openxmlformats.org/drawingml/2006/main">
            <a:off x="6656614" y="2758848"/>
            <a:ext cx="2382611" cy="6657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Lung exchange</a:t>
            </a:r>
          </a:p>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Oxygen diffuses</a:t>
            </a:r>
          </a:p>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into blood</a:t>
            </a:r>
          </a:p>
        </p:txBody>
      </p:sp>
      <p:sp>
        <p:nvSpPr>
          <p:cNvPr id="16" name="Editable scientific diagram">
            <a:extLst xmlns:a="http://schemas.openxmlformats.org/drawingml/2006/main">
              <a:ext uri="{FF2B5EF4-FFF2-40B4-BE49-F238E27FC236}">
                <a16:creationId xmlns:a16="http://schemas.microsoft.com/office/drawing/2014/main" id="{1A91AD89-4C75-4F27-BF14-175CBA0897A3}"/>
              </a:ext>
            </a:extLst>
          </p:cNvPr>
          <p:cNvSpPr>
            <a:spLocks xmlns:a="http://schemas.openxmlformats.org/drawingml/2006/main" noGrp="1"/>
          </p:cNvSpPr>
          <p:nvPr/>
        </p:nvSpPr>
        <p:spPr>
          <a:xfrm xmlns:a="http://schemas.openxmlformats.org/drawingml/2006/main">
            <a:off x="6481422" y="4125346"/>
            <a:ext cx="2732995" cy="105115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7" name="Diagram label: Circulation&#10;Carries oxygen towards&#10;tissue capillaries">
            <a:extLst xmlns:a="http://schemas.openxmlformats.org/drawingml/2006/main">
              <a:ext uri="{FF2B5EF4-FFF2-40B4-BE49-F238E27FC236}">
                <a16:creationId xmlns:a16="http://schemas.microsoft.com/office/drawing/2014/main" id="{F4773626-2DAA-4BA2-ACFD-ED1999E7F830}"/>
              </a:ext>
            </a:extLst>
          </p:cNvPr>
          <p:cNvSpPr>
            <a:spLocks xmlns:a="http://schemas.openxmlformats.org/drawingml/2006/main" noGrp="1"/>
          </p:cNvSpPr>
          <p:nvPr/>
        </p:nvSpPr>
        <p:spPr>
          <a:xfrm xmlns:a="http://schemas.openxmlformats.org/drawingml/2006/main">
            <a:off x="6656614" y="4265499"/>
            <a:ext cx="2382611" cy="7358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Circulation</a:t>
            </a:r>
          </a:p>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Carries oxygen towards</a:t>
            </a:r>
          </a:p>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tissue capillaries</a:t>
            </a:r>
          </a:p>
        </p:txBody>
      </p:sp>
      <p:sp>
        <p:nvSpPr>
          <p:cNvPr id="18" name="Editable scientific diagram">
            <a:extLst xmlns:a="http://schemas.openxmlformats.org/drawingml/2006/main">
              <a:ext uri="{FF2B5EF4-FFF2-40B4-BE49-F238E27FC236}">
                <a16:creationId xmlns:a16="http://schemas.microsoft.com/office/drawing/2014/main" id="{1463B884-9D03-46A7-872C-B42A7A0A95BC}"/>
              </a:ext>
            </a:extLst>
          </p:cNvPr>
          <p:cNvSpPr>
            <a:spLocks xmlns:a="http://schemas.openxmlformats.org/drawingml/2006/main" noGrp="1"/>
          </p:cNvSpPr>
          <p:nvPr/>
        </p:nvSpPr>
        <p:spPr>
          <a:xfrm xmlns:a="http://schemas.openxmlformats.org/drawingml/2006/main">
            <a:off x="2942545" y="4125346"/>
            <a:ext cx="2732995" cy="1051152"/>
          </a:xfrm>
          <a:prstGeom xmlns:a="http://schemas.openxmlformats.org/drawingml/2006/main" prst="rect">
            <a:avLst/>
          </a:prstGeom>
          <a:solidFill xmlns:a="http://schemas.openxmlformats.org/drawingml/2006/main">
            <a:srgbClr val="F0EBF5"/>
          </a:solidFill>
          <a:ln xmlns:a="http://schemas.openxmlformats.org/drawingml/2006/main" w="21023">
            <a:solidFill>
              <a:srgbClr val="7A5C9E"/>
            </a:solidFill>
          </a:ln>
        </p:spPr>
      </p:sp>
      <p:sp>
        <p:nvSpPr>
          <p:cNvPr id="19" name="Diagram label: Tissue exchange&#10;Oxygen diffuses to cells&#10;for aerobic respiration">
            <a:extLst xmlns:a="http://schemas.openxmlformats.org/drawingml/2006/main">
              <a:ext uri="{FF2B5EF4-FFF2-40B4-BE49-F238E27FC236}">
                <a16:creationId xmlns:a16="http://schemas.microsoft.com/office/drawing/2014/main" id="{6E6EE99C-8520-42B5-8CE8-E3316F2BB5ED}"/>
              </a:ext>
            </a:extLst>
          </p:cNvPr>
          <p:cNvSpPr>
            <a:spLocks xmlns:a="http://schemas.openxmlformats.org/drawingml/2006/main" noGrp="1"/>
          </p:cNvSpPr>
          <p:nvPr/>
        </p:nvSpPr>
        <p:spPr>
          <a:xfrm xmlns:a="http://schemas.openxmlformats.org/drawingml/2006/main">
            <a:off x="3117737" y="4265499"/>
            <a:ext cx="2382611" cy="7358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Tissue exchange</a:t>
            </a:r>
          </a:p>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Oxygen diffuses to cells</a:t>
            </a:r>
          </a:p>
          <a:p xmlns:a="http://schemas.openxmlformats.org/drawingml/2006/main">
            <a:pPr algn="ctr">
              <a:lnSpc>
                <a:spcPct val="108000"/>
              </a:lnSpc>
              <a:buNone/>
              <a:defRPr sz="1435" b="1">
                <a:solidFill>
                  <a:srgbClr val="1F2937"/>
                </a:solidFill>
                <a:latin typeface="Nimbus Sans"/>
                <a:ea typeface="Nimbus Sans"/>
                <a:cs typeface="Nimbus Sans"/>
              </a:defRPr>
            </a:pPr>
            <a:r>
              <a:rPr sz="1435" b="1">
                <a:solidFill>
                  <a:srgbClr val="1F2937"/>
                </a:solidFill>
                <a:latin typeface="Nimbus Sans"/>
                <a:ea typeface="Nimbus Sans"/>
                <a:cs typeface="Nimbus Sans"/>
              </a:rPr>
              <a:t>for aerobic respiration</a:t>
            </a:r>
          </a:p>
        </p:txBody>
      </p:sp>
      <p:sp>
        <p:nvSpPr>
          <p:cNvPr id="20" name="Diagram line">
            <a:extLst xmlns:a="http://schemas.openxmlformats.org/drawingml/2006/main">
              <a:ext uri="{FF2B5EF4-FFF2-40B4-BE49-F238E27FC236}">
                <a16:creationId xmlns:a16="http://schemas.microsoft.com/office/drawing/2014/main" id="{D911AB3D-26DE-4311-9FCC-074ED6CA7D3B}"/>
              </a:ext>
            </a:extLst>
          </p:cNvPr>
          <p:cNvSpPr>
            <a:spLocks xmlns:a="http://schemas.openxmlformats.org/drawingml/2006/main" noGrp="1"/>
          </p:cNvSpPr>
          <p:nvPr/>
        </p:nvSpPr>
        <p:spPr>
          <a:xfrm xmlns:a="http://schemas.openxmlformats.org/drawingml/2006/main" flipH="0" flipV="0">
            <a:off x="5766639" y="3074194"/>
            <a:ext cx="536087" cy="953"/>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21" name="Diagram arrowhead">
            <a:extLst xmlns:a="http://schemas.openxmlformats.org/drawingml/2006/main">
              <a:ext uri="{FF2B5EF4-FFF2-40B4-BE49-F238E27FC236}">
                <a16:creationId xmlns:a16="http://schemas.microsoft.com/office/drawing/2014/main" id="{DA9526F8-9CD7-42CA-A399-1088DBB7E232}"/>
              </a:ext>
            </a:extLst>
          </p:cNvPr>
          <p:cNvSpPr>
            <a:spLocks xmlns:a="http://schemas.openxmlformats.org/drawingml/2006/main" noGrp="1"/>
          </p:cNvSpPr>
          <p:nvPr/>
        </p:nvSpPr>
        <p:spPr>
          <a:xfrm xmlns:a="http://schemas.openxmlformats.org/drawingml/2006/main" rot="5400000">
            <a:off x="6278200" y="3025140"/>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2" name="Diagram line">
            <a:extLst xmlns:a="http://schemas.openxmlformats.org/drawingml/2006/main">
              <a:ext uri="{FF2B5EF4-FFF2-40B4-BE49-F238E27FC236}">
                <a16:creationId xmlns:a16="http://schemas.microsoft.com/office/drawing/2014/main" id="{B84A7D27-2756-49B9-8F2F-2C5A562E2FFD}"/>
              </a:ext>
            </a:extLst>
          </p:cNvPr>
          <p:cNvSpPr>
            <a:spLocks xmlns:a="http://schemas.openxmlformats.org/drawingml/2006/main" noGrp="1"/>
          </p:cNvSpPr>
          <p:nvPr/>
        </p:nvSpPr>
        <p:spPr>
          <a:xfrm xmlns:a="http://schemas.openxmlformats.org/drawingml/2006/main" flipH="0" flipV="0">
            <a:off x="7847920" y="3669846"/>
            <a:ext cx="953" cy="276803"/>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23" name="Diagram arrowhead">
            <a:extLst xmlns:a="http://schemas.openxmlformats.org/drawingml/2006/main">
              <a:ext uri="{FF2B5EF4-FFF2-40B4-BE49-F238E27FC236}">
                <a16:creationId xmlns:a16="http://schemas.microsoft.com/office/drawing/2014/main" id="{9B9B5669-C833-4940-A85C-EED8E9229C83}"/>
              </a:ext>
            </a:extLst>
          </p:cNvPr>
          <p:cNvSpPr>
            <a:spLocks xmlns:a="http://schemas.openxmlformats.org/drawingml/2006/main" noGrp="1"/>
          </p:cNvSpPr>
          <p:nvPr/>
        </p:nvSpPr>
        <p:spPr>
          <a:xfrm xmlns:a="http://schemas.openxmlformats.org/drawingml/2006/main" rot="10800000">
            <a:off x="7798866" y="3922123"/>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4" name="Diagram line">
            <a:extLst xmlns:a="http://schemas.openxmlformats.org/drawingml/2006/main">
              <a:ext uri="{FF2B5EF4-FFF2-40B4-BE49-F238E27FC236}">
                <a16:creationId xmlns:a16="http://schemas.microsoft.com/office/drawing/2014/main" id="{56905B4A-2A0F-4C6D-AC0C-FB7CB810CD97}"/>
              </a:ext>
            </a:extLst>
          </p:cNvPr>
          <p:cNvSpPr>
            <a:spLocks xmlns:a="http://schemas.openxmlformats.org/drawingml/2006/main" noGrp="1"/>
          </p:cNvSpPr>
          <p:nvPr/>
        </p:nvSpPr>
        <p:spPr>
          <a:xfrm xmlns:a="http://schemas.openxmlformats.org/drawingml/2006/main" flipH="1" flipV="0">
            <a:off x="5854235" y="4615883"/>
            <a:ext cx="522072" cy="953"/>
          </a:xfrm>
          <a:prstGeom xmlns:a="http://schemas.openxmlformats.org/drawingml/2006/main" prst="line">
            <a:avLst/>
          </a:prstGeom>
          <a:noFill xmlns:a="http://schemas.openxmlformats.org/drawingml/2006/main"/>
          <a:ln xmlns:a="http://schemas.openxmlformats.org/drawingml/2006/main" w="28031">
            <a:solidFill>
              <a:srgbClr val="7A5C9E"/>
            </a:solidFill>
          </a:ln>
        </p:spPr>
      </p:sp>
      <p:sp>
        <p:nvSpPr>
          <p:cNvPr id="25" name="Diagram arrowhead">
            <a:extLst xmlns:a="http://schemas.openxmlformats.org/drawingml/2006/main">
              <a:ext uri="{FF2B5EF4-FFF2-40B4-BE49-F238E27FC236}">
                <a16:creationId xmlns:a16="http://schemas.microsoft.com/office/drawing/2014/main" id="{C88DF024-1A5C-4E9F-B4E9-841ADA91D06B}"/>
              </a:ext>
            </a:extLst>
          </p:cNvPr>
          <p:cNvSpPr>
            <a:spLocks xmlns:a="http://schemas.openxmlformats.org/drawingml/2006/main" noGrp="1"/>
          </p:cNvSpPr>
          <p:nvPr/>
        </p:nvSpPr>
        <p:spPr>
          <a:xfrm xmlns:a="http://schemas.openxmlformats.org/drawingml/2006/main" rot="16200000">
            <a:off x="5780654" y="4566829"/>
            <a:ext cx="98108" cy="98108"/>
          </a:xfrm>
          <a:prstGeom xmlns:a="http://schemas.openxmlformats.org/drawingml/2006/main" prst="triangle">
            <a:avLst/>
          </a:prstGeom>
          <a:solidFill xmlns:a="http://schemas.openxmlformats.org/drawingml/2006/main">
            <a:srgbClr val="7A5C9E"/>
          </a:solidFill>
          <a:ln xmlns:a="http://schemas.openxmlformats.org/drawingml/2006/main" w="0">
            <a:noFill/>
          </a:ln>
        </p:spPr>
      </p:sp>
      <p:sp>
        <p:nvSpPr>
          <p:cNvPr id="26" name="Diagram label: Each link has a different mechanism; one number cannot describe them all.">
            <a:extLst xmlns:a="http://schemas.openxmlformats.org/drawingml/2006/main">
              <a:ext uri="{FF2B5EF4-FFF2-40B4-BE49-F238E27FC236}">
                <a16:creationId xmlns:a16="http://schemas.microsoft.com/office/drawing/2014/main" id="{F7BF6B5E-5F4A-45E0-ACF8-57E068A4B25D}"/>
              </a:ext>
            </a:extLst>
          </p:cNvPr>
          <p:cNvSpPr>
            <a:spLocks xmlns:a="http://schemas.openxmlformats.org/drawingml/2006/main" noGrp="1"/>
          </p:cNvSpPr>
          <p:nvPr/>
        </p:nvSpPr>
        <p:spPr>
          <a:xfrm xmlns:a="http://schemas.openxmlformats.org/drawingml/2006/main">
            <a:off x="2942545" y="5316651"/>
            <a:ext cx="6306911" cy="315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24" b="0">
                <a:solidFill>
                  <a:srgbClr val="1F2937"/>
                </a:solidFill>
                <a:latin typeface="Nimbus Sans"/>
                <a:ea typeface="Nimbus Sans"/>
                <a:cs typeface="Nimbus Sans"/>
              </a:defRPr>
            </a:pPr>
            <a:r>
              <a:rPr sz="1324" b="0">
                <a:solidFill>
                  <a:srgbClr val="1F2937"/>
                </a:solidFill>
                <a:latin typeface="Nimbus Sans"/>
                <a:ea typeface="Nimbus Sans"/>
                <a:cs typeface="Nimbus Sans"/>
              </a:rPr>
              <a:t>Each link has a different mechanism; one number cannot describe them all.</a:t>
            </a:r>
          </a:p>
        </p:txBody>
      </p:sp>
      <p:sp>
        <p:nvSpPr>
          <p:cNvPr id="27" name="W3. “B has a higher output, so every tissue definitely gets enou">
            <a:extLst xmlns:a="http://schemas.openxmlformats.org/drawingml/2006/main">
              <a:ext uri="{FF2B5EF4-FFF2-40B4-BE49-F238E27FC236}">
                <a16:creationId xmlns:a16="http://schemas.microsoft.com/office/drawing/2014/main" id="{6661F01C-4777-4C9D-B1CE-020B20FBA5D0}"/>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W3. “B has a higher output, so every tissue definitely gets enough oxygen.” Keep the supported part; reject</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the unsupported part.</a:t>
            </a:r>
          </a:p>
        </p:txBody>
      </p:sp>
    </p:spTree>
    <p:extLst>
      <p:ext uri="{BB962C8B-B14F-4D97-AF65-F5344CB8AC3E}">
        <p14:creationId xmlns:p14="http://schemas.microsoft.com/office/powerpoint/2010/main" val="5401721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CA56D18E-2C77-4EAA-AAD1-1D6E148F8FD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78962EF-E761-43DC-9025-DA9D010C7538}"/>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55FD2FC-04AD-4B1C-A888-3296BFC0ED8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489A098C-079B-439A-B61C-26BFBEB849E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We do">
            <a:extLst xmlns:a="http://schemas.openxmlformats.org/drawingml/2006/main">
              <a:ext uri="{FF2B5EF4-FFF2-40B4-BE49-F238E27FC236}">
                <a16:creationId xmlns:a16="http://schemas.microsoft.com/office/drawing/2014/main" id="{73ABE0FF-165D-402B-A54A-690B302254FA}"/>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2 min">
            <a:extLst xmlns:a="http://schemas.openxmlformats.org/drawingml/2006/main">
              <a:ext uri="{FF2B5EF4-FFF2-40B4-BE49-F238E27FC236}">
                <a16:creationId xmlns:a16="http://schemas.microsoft.com/office/drawing/2014/main" id="{B09E1243-F50D-470F-8D9D-EDD75E88146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est a tempting shortcut">
            <a:extLst xmlns:a="http://schemas.openxmlformats.org/drawingml/2006/main">
              <a:ext uri="{FF2B5EF4-FFF2-40B4-BE49-F238E27FC236}">
                <a16:creationId xmlns:a16="http://schemas.microsoft.com/office/drawing/2014/main" id="{5AD59923-04AA-45C1-8CD3-0833DB5EBCB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Test a tempting shortcut</a:t>
            </a:r>
          </a:p>
        </p:txBody>
      </p:sp>
      <p:sp>
        <p:nvSpPr>
          <p:cNvPr id="8" name="surface">
            <a:extLst xmlns:a="http://schemas.openxmlformats.org/drawingml/2006/main">
              <a:ext uri="{FF2B5EF4-FFF2-40B4-BE49-F238E27FC236}">
                <a16:creationId xmlns:a16="http://schemas.microsoft.com/office/drawing/2014/main" id="{C3EC721B-09AC-462C-B2F5-C090ECABD72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AFB9A086-A35E-40E5-965A-569146990DE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8 / 15">
            <a:extLst xmlns:a="http://schemas.openxmlformats.org/drawingml/2006/main">
              <a:ext uri="{FF2B5EF4-FFF2-40B4-BE49-F238E27FC236}">
                <a16:creationId xmlns:a16="http://schemas.microsoft.com/office/drawing/2014/main" id="{DBBE4272-4CC0-48E8-855A-86E135FEFD5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15</a:t>
            </a:r>
          </a:p>
        </p:txBody>
      </p:sp>
      <p:sp>
        <p:nvSpPr>
          <p:cNvPr id="11" name="“Y has twice the area of X, so its index must be twice as large.">
            <a:extLst xmlns:a="http://schemas.openxmlformats.org/drawingml/2006/main">
              <a:ext uri="{FF2B5EF4-FFF2-40B4-BE49-F238E27FC236}">
                <a16:creationId xmlns:a16="http://schemas.microsoft.com/office/drawing/2014/main" id="{BE3740E4-B1F5-4C0F-BECB-585CBDBEDC0C}"/>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“Y has twice the area of X, so its index must be twice as large.”</a:t>
            </a:r>
          </a:p>
        </p:txBody>
      </p:sp>
      <p:sp>
        <p:nvSpPr>
          <p:cNvPr id="12" name="Predict, calculate, then explain.">
            <a:extLst xmlns:a="http://schemas.openxmlformats.org/drawingml/2006/main">
              <a:ext uri="{FF2B5EF4-FFF2-40B4-BE49-F238E27FC236}">
                <a16:creationId xmlns:a16="http://schemas.microsoft.com/office/drawing/2014/main" id="{89D63DF8-2AB4-4C2C-9272-4EB9AD847BDF}"/>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Predict, calculate, then explain.</a:t>
            </a:r>
          </a:p>
        </p:txBody>
      </p:sp>
    </p:spTree>
    <p:extLst>
      <p:ext uri="{BB962C8B-B14F-4D97-AF65-F5344CB8AC3E}">
        <p14:creationId xmlns:p14="http://schemas.microsoft.com/office/powerpoint/2010/main" val="3801447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DFB4D0B5-EA1A-4C74-B45D-5703E71B901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8E6589E-145A-44D9-BF88-609D7628A05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DF9E983-B8A9-4384-B43E-56CBD7A9B83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34CA6D33-B5D2-49F4-B84A-80705EFE75C7}"/>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LAUNCH SCIENCE</a:t>
            </a:r>
          </a:p>
        </p:txBody>
      </p:sp>
      <p:sp>
        <p:nvSpPr>
          <p:cNvPr id="5" name="Hinge">
            <a:extLst xmlns:a="http://schemas.openxmlformats.org/drawingml/2006/main">
              <a:ext uri="{FF2B5EF4-FFF2-40B4-BE49-F238E27FC236}">
                <a16:creationId xmlns:a16="http://schemas.microsoft.com/office/drawing/2014/main" id="{55190AA6-F329-4F95-B2BD-D63615CA118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D929DFAF-0C95-4CE0-9720-4A239CBF126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conclusion is fully supported?">
            <a:extLst xmlns:a="http://schemas.openxmlformats.org/drawingml/2006/main">
              <a:ext uri="{FF2B5EF4-FFF2-40B4-BE49-F238E27FC236}">
                <a16:creationId xmlns:a16="http://schemas.microsoft.com/office/drawing/2014/main" id="{FE09B2C4-5A68-4D4E-B7B6-58C01ADB5407}"/>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conclusion is fully supported?</a:t>
            </a:r>
          </a:p>
        </p:txBody>
      </p:sp>
      <p:sp>
        <p:nvSpPr>
          <p:cNvPr id="8" name="surface">
            <a:extLst xmlns:a="http://schemas.openxmlformats.org/drawingml/2006/main">
              <a:ext uri="{FF2B5EF4-FFF2-40B4-BE49-F238E27FC236}">
                <a16:creationId xmlns:a16="http://schemas.microsoft.com/office/drawing/2014/main" id="{36F073AB-E66D-478F-9EE8-E042DA70731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A8CC5FC9-EEBD-4A5D-ADEE-27ECEAEB4AC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9 / 15">
            <a:extLst xmlns:a="http://schemas.openxmlformats.org/drawingml/2006/main">
              <a:ext uri="{FF2B5EF4-FFF2-40B4-BE49-F238E27FC236}">
                <a16:creationId xmlns:a16="http://schemas.microsoft.com/office/drawing/2014/main" id="{5790F984-142B-4E71-9C9F-06C6E8436D54}"/>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15</a:t>
            </a:r>
          </a:p>
        </p:txBody>
      </p:sp>
      <p:sp>
        <p:nvSpPr>
          <p:cNvPr id="11" name="Select the claim that respects the evidence.">
            <a:extLst xmlns:a="http://schemas.openxmlformats.org/drawingml/2006/main">
              <a:ext uri="{FF2B5EF4-FFF2-40B4-BE49-F238E27FC236}">
                <a16:creationId xmlns:a16="http://schemas.microsoft.com/office/drawing/2014/main" id="{F48D16CD-7AA1-45AE-A26B-B92BAA924E40}"/>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Select the claim that respects the evidence.</a:t>
            </a:r>
          </a:p>
        </p:txBody>
      </p:sp>
      <p:sp>
        <p:nvSpPr>
          <p:cNvPr id="12" name="surface">
            <a:extLst xmlns:a="http://schemas.openxmlformats.org/drawingml/2006/main">
              <a:ext uri="{FF2B5EF4-FFF2-40B4-BE49-F238E27FC236}">
                <a16:creationId xmlns:a16="http://schemas.microsoft.com/office/drawing/2014/main" id="{2623DFD2-5A18-42D3-AAC7-9FB9815695F0}"/>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2BEC71B8-30A4-4BAA-B92C-89B52ABB8179}"/>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99B872A9-A477-4828-AE68-3700ACD75B1D}"/>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Z has twice X’s relative index because area doubles while concen">
            <a:extLst xmlns:a="http://schemas.openxmlformats.org/drawingml/2006/main">
              <a:ext uri="{FF2B5EF4-FFF2-40B4-BE49-F238E27FC236}">
                <a16:creationId xmlns:a16="http://schemas.microsoft.com/office/drawing/2014/main" id="{F4ED108E-FF77-4D60-94FD-2DE42AF4C99E}"/>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Z has twice X’s relative index because area doubles while concentration difference</a:t>
            </a:r>
          </a:p>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and thickness stay the same.</a:t>
            </a:r>
          </a:p>
        </p:txBody>
      </p:sp>
      <p:sp>
        <p:nvSpPr>
          <p:cNvPr id="16" name="surface">
            <a:extLst xmlns:a="http://schemas.openxmlformats.org/drawingml/2006/main">
              <a:ext uri="{FF2B5EF4-FFF2-40B4-BE49-F238E27FC236}">
                <a16:creationId xmlns:a16="http://schemas.microsoft.com/office/drawing/2014/main" id="{12D97D4A-71D5-4E70-951B-64CF626C09F8}"/>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07EC07A4-DA0F-4945-91BA-0936485A1D07}"/>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B50E17AF-4A5D-4761-8082-C0F0F6A0E3B3}"/>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B proves that a pupil is fitter than another pupil.">
            <a:extLst xmlns:a="http://schemas.openxmlformats.org/drawingml/2006/main">
              <a:ext uri="{FF2B5EF4-FFF2-40B4-BE49-F238E27FC236}">
                <a16:creationId xmlns:a16="http://schemas.microsoft.com/office/drawing/2014/main" id="{94527B9F-6780-44B7-BD56-43B01BA1CC09}"/>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B proves that a pupil is fitter than another pupil.</a:t>
            </a:r>
          </a:p>
        </p:txBody>
      </p:sp>
      <p:sp>
        <p:nvSpPr>
          <p:cNvPr id="20" name="surface">
            <a:extLst xmlns:a="http://schemas.openxmlformats.org/drawingml/2006/main">
              <a:ext uri="{FF2B5EF4-FFF2-40B4-BE49-F238E27FC236}">
                <a16:creationId xmlns:a16="http://schemas.microsoft.com/office/drawing/2014/main" id="{D01DEDD3-43FC-4CDB-8D97-8B6187CE7415}"/>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903B0780-EF73-4074-90A6-70F572A41D68}"/>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40F92907-24D7-4014-A404-44570C35ED71}"/>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Insulin is broken down into glycogen to provide a store.">
            <a:extLst xmlns:a="http://schemas.openxmlformats.org/drawingml/2006/main">
              <a:ext uri="{FF2B5EF4-FFF2-40B4-BE49-F238E27FC236}">
                <a16:creationId xmlns:a16="http://schemas.microsoft.com/office/drawing/2014/main" id="{718CD52A-28BF-4933-8BF9-CF0F2C3D286E}"/>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Insulin is broken down into glycogen to provide a store.</a:t>
            </a:r>
          </a:p>
        </p:txBody>
      </p:sp>
    </p:spTree>
    <p:extLst>
      <p:ext uri="{BB962C8B-B14F-4D97-AF65-F5344CB8AC3E}">
        <p14:creationId xmlns:p14="http://schemas.microsoft.com/office/powerpoint/2010/main" val="102499842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542CB27-E772-413A-B433-2A2CE6A27D2D}"/>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889F89E-AAC2-4F79-8486-F03EF039F33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CCBE0F5-7962-49B6-B622-CAC596AC9BC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66A23279-E2E4-4469-9FE1-396A276B7A0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4C864AEE-B197-4C76-8ADE-63056A5160E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 min">
            <a:extLst xmlns:a="http://schemas.openxmlformats.org/drawingml/2006/main">
              <a:ext uri="{FF2B5EF4-FFF2-40B4-BE49-F238E27FC236}">
                <a16:creationId xmlns:a16="http://schemas.microsoft.com/office/drawing/2014/main" id="{693D6ECE-0DC4-4C21-B733-63C4FAD6B50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 min</a:t>
            </a:r>
          </a:p>
        </p:txBody>
      </p:sp>
      <p:sp>
        <p:nvSpPr>
          <p:cNvPr id="7" name="Write a defensible evidence note">
            <a:extLst xmlns:a="http://schemas.openxmlformats.org/drawingml/2006/main">
              <a:ext uri="{FF2B5EF4-FFF2-40B4-BE49-F238E27FC236}">
                <a16:creationId xmlns:a16="http://schemas.microsoft.com/office/drawing/2014/main" id="{1635D4DA-A950-4B26-A286-2D2D222DAD4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Write a defensible evidence note</a:t>
            </a:r>
          </a:p>
        </p:txBody>
      </p:sp>
      <p:sp>
        <p:nvSpPr>
          <p:cNvPr id="8" name="surface">
            <a:extLst xmlns:a="http://schemas.openxmlformats.org/drawingml/2006/main">
              <a:ext uri="{FF2B5EF4-FFF2-40B4-BE49-F238E27FC236}">
                <a16:creationId xmlns:a16="http://schemas.microsoft.com/office/drawing/2014/main" id="{E9D702D6-315D-4F2D-8123-EEBFD0AFCA9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22C12D8A-9448-46B4-9C87-7244F154BB6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10 / 15">
            <a:extLst xmlns:a="http://schemas.openxmlformats.org/drawingml/2006/main">
              <a:ext uri="{FF2B5EF4-FFF2-40B4-BE49-F238E27FC236}">
                <a16:creationId xmlns:a16="http://schemas.microsoft.com/office/drawing/2014/main" id="{C48CEEA9-0980-4DEF-B73D-3AC9DA5E3B9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15</a:t>
            </a:r>
          </a:p>
        </p:txBody>
      </p:sp>
      <p:sp>
        <p:nvSpPr>
          <p:cNvPr id="11" name="Choose one route.">
            <a:extLst xmlns:a="http://schemas.openxmlformats.org/drawingml/2006/main">
              <a:ext uri="{FF2B5EF4-FFF2-40B4-BE49-F238E27FC236}">
                <a16:creationId xmlns:a16="http://schemas.microsoft.com/office/drawing/2014/main" id="{E952A8E3-8925-4CA6-83CC-82CA534278FC}"/>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Choose one route.</a:t>
            </a:r>
          </a:p>
        </p:txBody>
      </p:sp>
      <p:sp>
        <p:nvSpPr>
          <p:cNvPr id="12" name="Include a calculation, a mechanism and a limit.">
            <a:extLst xmlns:a="http://schemas.openxmlformats.org/drawingml/2006/main">
              <a:ext uri="{FF2B5EF4-FFF2-40B4-BE49-F238E27FC236}">
                <a16:creationId xmlns:a16="http://schemas.microsoft.com/office/drawing/2014/main" id="{C70F43F3-8FBF-45C2-AFD8-3E8469B49452}"/>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Include a calculation, a mechanism and a limit.</a:t>
            </a:r>
          </a:p>
        </p:txBody>
      </p:sp>
    </p:spTree>
    <p:extLst>
      <p:ext uri="{BB962C8B-B14F-4D97-AF65-F5344CB8AC3E}">
        <p14:creationId xmlns:p14="http://schemas.microsoft.com/office/powerpoint/2010/main" val="7173626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66D01FA-1CF9-4BA4-9C15-4471D985A7F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759745F-3F95-450F-B28F-257720319F6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085AFD0-0C76-4F34-9D71-9CAC7A85F5E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F11B0F3B-8F84-4F6C-88F6-7493F323F87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LAUNCH SCIENCE</a:t>
            </a:r>
          </a:p>
        </p:txBody>
      </p:sp>
      <p:sp>
        <p:nvSpPr>
          <p:cNvPr id="5" name="You do">
            <a:extLst xmlns:a="http://schemas.openxmlformats.org/drawingml/2006/main">
              <a:ext uri="{FF2B5EF4-FFF2-40B4-BE49-F238E27FC236}">
                <a16:creationId xmlns:a16="http://schemas.microsoft.com/office/drawing/2014/main" id="{7CD0A702-B107-425F-8D70-E9C8770F9EE1}"/>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C513F185-8C48-4475-96CB-0ACD61D2485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Use the data; qualify the claim">
            <a:extLst xmlns:a="http://schemas.openxmlformats.org/drawingml/2006/main">
              <a:ext uri="{FF2B5EF4-FFF2-40B4-BE49-F238E27FC236}">
                <a16:creationId xmlns:a16="http://schemas.microsoft.com/office/drawing/2014/main" id="{CFCFBA52-DB9D-4B3F-8227-784EF7FD34F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Use the data; qualify the claim</a:t>
            </a:r>
          </a:p>
        </p:txBody>
      </p:sp>
      <p:sp>
        <p:nvSpPr>
          <p:cNvPr id="8" name="surface">
            <a:extLst xmlns:a="http://schemas.openxmlformats.org/drawingml/2006/main">
              <a:ext uri="{FF2B5EF4-FFF2-40B4-BE49-F238E27FC236}">
                <a16:creationId xmlns:a16="http://schemas.microsoft.com/office/drawing/2014/main" id="{2827C09D-989F-4976-85DB-EB9E18419C7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0834C928-19F1-450B-ADFD-7C7CF560A17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11 / 15">
            <a:extLst xmlns:a="http://schemas.openxmlformats.org/drawingml/2006/main">
              <a:ext uri="{FF2B5EF4-FFF2-40B4-BE49-F238E27FC236}">
                <a16:creationId xmlns:a16="http://schemas.microsoft.com/office/drawing/2014/main" id="{5B76D343-90E2-411A-91C1-73E7F0A9657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15</a:t>
            </a:r>
          </a:p>
        </p:txBody>
      </p:sp>
      <p:sp>
        <p:nvSpPr>
          <p:cNvPr id="11" name="Cite a named record or controlled pair.">
            <a:extLst xmlns:a="http://schemas.openxmlformats.org/drawingml/2006/main">
              <a:ext uri="{FF2B5EF4-FFF2-40B4-BE49-F238E27FC236}">
                <a16:creationId xmlns:a16="http://schemas.microsoft.com/office/drawing/2014/main" id="{24960C9B-CD63-4D9E-9B27-B3F81ABF87F9}"/>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Cite a named record or controlled pair.</a:t>
            </a:r>
          </a:p>
        </p:txBody>
      </p:sp>
      <p:sp>
        <p:nvSpPr>
          <p:cNvPr id="12" name="Explain what the model cannot establish.">
            <a:extLst xmlns:a="http://schemas.openxmlformats.org/drawingml/2006/main">
              <a:ext uri="{FF2B5EF4-FFF2-40B4-BE49-F238E27FC236}">
                <a16:creationId xmlns:a16="http://schemas.microsoft.com/office/drawing/2014/main" id="{4F2ADAB3-D538-4906-B3E3-4CAF9E28DA18}"/>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Explain what the model cannot establish.</a:t>
            </a:r>
          </a:p>
        </p:txBody>
      </p:sp>
    </p:spTree>
    <p:extLst>
      <p:ext uri="{BB962C8B-B14F-4D97-AF65-F5344CB8AC3E}">
        <p14:creationId xmlns:p14="http://schemas.microsoft.com/office/powerpoint/2010/main" val="9574134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BE2BFEEA-242B-49AF-82E7-B82F8081147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D727314-5AE2-4587-A5B1-DFB3C798A3F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7906248-292B-4492-856C-EBCEB663549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F366B4C1-A116-4C97-A7AB-9921F16E10D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9F2D33A5-8CA9-45CD-9625-372B1C997DF5}"/>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2 min">
            <a:extLst xmlns:a="http://schemas.openxmlformats.org/drawingml/2006/main">
              <a:ext uri="{FF2B5EF4-FFF2-40B4-BE49-F238E27FC236}">
                <a16:creationId xmlns:a16="http://schemas.microsoft.com/office/drawing/2014/main" id="{A1B346D0-87CE-4F70-8E1C-7CA5ED60230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Audience: ask for the missing evidence">
            <a:extLst xmlns:a="http://schemas.openxmlformats.org/drawingml/2006/main">
              <a:ext uri="{FF2B5EF4-FFF2-40B4-BE49-F238E27FC236}">
                <a16:creationId xmlns:a16="http://schemas.microsoft.com/office/drawing/2014/main" id="{B8042440-FA27-41D5-A0FE-71A74A576A4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Audience: ask for the missing evidence</a:t>
            </a:r>
          </a:p>
        </p:txBody>
      </p:sp>
      <p:sp>
        <p:nvSpPr>
          <p:cNvPr id="8" name="surface">
            <a:extLst xmlns:a="http://schemas.openxmlformats.org/drawingml/2006/main">
              <a:ext uri="{FF2B5EF4-FFF2-40B4-BE49-F238E27FC236}">
                <a16:creationId xmlns:a16="http://schemas.microsoft.com/office/drawing/2014/main" id="{61F4596A-F603-4C6D-AE6A-86204CE2310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AC0281A8-8F73-4B12-93E7-3D64D36A4E7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12 / 15">
            <a:extLst xmlns:a="http://schemas.openxmlformats.org/drawingml/2006/main">
              <a:ext uri="{FF2B5EF4-FFF2-40B4-BE49-F238E27FC236}">
                <a16:creationId xmlns:a16="http://schemas.microsoft.com/office/drawing/2014/main" id="{8832C235-E868-4EA8-9A71-A07777455B6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15</a:t>
            </a:r>
          </a:p>
        </p:txBody>
      </p:sp>
      <p:sp>
        <p:nvSpPr>
          <p:cNvPr id="11" name="L1. Share one claim with a quiet partner or adult.">
            <a:extLst xmlns:a="http://schemas.openxmlformats.org/drawingml/2006/main">
              <a:ext uri="{FF2B5EF4-FFF2-40B4-BE49-F238E27FC236}">
                <a16:creationId xmlns:a16="http://schemas.microsoft.com/office/drawing/2014/main" id="{FF105E9E-A7D1-41B6-BFE9-3694B34F39A2}"/>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L1. Share one claim with a quiet partner or adult.</a:t>
            </a:r>
          </a:p>
        </p:txBody>
      </p:sp>
      <p:sp>
        <p:nvSpPr>
          <p:cNvPr id="12" name="Audience asks: what would you need to measure next?">
            <a:extLst xmlns:a="http://schemas.openxmlformats.org/drawingml/2006/main">
              <a:ext uri="{FF2B5EF4-FFF2-40B4-BE49-F238E27FC236}">
                <a16:creationId xmlns:a16="http://schemas.microsoft.com/office/drawing/2014/main" id="{4271FAFE-4D3F-4B8E-AD9D-11ED5F6859C9}"/>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Audience asks: what would you need to measure next?</a:t>
            </a:r>
          </a:p>
        </p:txBody>
      </p:sp>
    </p:spTree>
    <p:extLst>
      <p:ext uri="{BB962C8B-B14F-4D97-AF65-F5344CB8AC3E}">
        <p14:creationId xmlns:p14="http://schemas.microsoft.com/office/powerpoint/2010/main" val="13617388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urface">
            <a:extLst xmlns:a="http://schemas.openxmlformats.org/drawingml/2006/main">
              <a:ext uri="{FF2B5EF4-FFF2-40B4-BE49-F238E27FC236}">
                <a16:creationId xmlns:a16="http://schemas.microsoft.com/office/drawing/2014/main" id="{AF279135-7556-4867-B4F5-C875D8EC064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0BC2CE5-316C-45EE-8C1D-10C226470CA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AACD31C-BDA4-463D-8F7E-0C7192722B7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7D506E71-F99F-43AC-8033-300CCCA5051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Review">
            <a:extLst xmlns:a="http://schemas.openxmlformats.org/drawingml/2006/main">
              <a:ext uri="{FF2B5EF4-FFF2-40B4-BE49-F238E27FC236}">
                <a16:creationId xmlns:a16="http://schemas.microsoft.com/office/drawing/2014/main" id="{DAD3C05C-76E9-44E7-B70F-0E19E7E9038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Review</a:t>
            </a:r>
          </a:p>
        </p:txBody>
      </p:sp>
      <p:sp>
        <p:nvSpPr>
          <p:cNvPr id="6" name="1 min">
            <a:extLst xmlns:a="http://schemas.openxmlformats.org/drawingml/2006/main">
              <a:ext uri="{FF2B5EF4-FFF2-40B4-BE49-F238E27FC236}">
                <a16:creationId xmlns:a16="http://schemas.microsoft.com/office/drawing/2014/main" id="{F69FDCC4-C79A-46A0-B8D2-2EBCDF0DB28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 min</a:t>
            </a:r>
          </a:p>
        </p:txBody>
      </p:sp>
      <p:sp>
        <p:nvSpPr>
          <p:cNvPr id="7" name="Make one claim stronger">
            <a:extLst xmlns:a="http://schemas.openxmlformats.org/drawingml/2006/main">
              <a:ext uri="{FF2B5EF4-FFF2-40B4-BE49-F238E27FC236}">
                <a16:creationId xmlns:a16="http://schemas.microsoft.com/office/drawing/2014/main" id="{52AA81CB-2144-40C6-831C-3F95CD39813B}"/>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one claim stronger</a:t>
            </a:r>
          </a:p>
        </p:txBody>
      </p:sp>
      <p:sp>
        <p:nvSpPr>
          <p:cNvPr id="8" name="surface">
            <a:extLst xmlns:a="http://schemas.openxmlformats.org/drawingml/2006/main">
              <a:ext uri="{FF2B5EF4-FFF2-40B4-BE49-F238E27FC236}">
                <a16:creationId xmlns:a16="http://schemas.microsoft.com/office/drawing/2014/main" id="{314F0C06-0A8B-4484-86C1-533B2F43B3D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6F60DA2C-0A37-4B0E-82CA-B7E85FF5C065}"/>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13 / 15">
            <a:extLst xmlns:a="http://schemas.openxmlformats.org/drawingml/2006/main">
              <a:ext uri="{FF2B5EF4-FFF2-40B4-BE49-F238E27FC236}">
                <a16:creationId xmlns:a16="http://schemas.microsoft.com/office/drawing/2014/main" id="{D10D4B5F-8560-4782-9C6E-0F52B5EE71CD}"/>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15</a:t>
            </a:r>
          </a:p>
        </p:txBody>
      </p:sp>
      <p:sp>
        <p:nvSpPr>
          <p:cNvPr id="11" name="Add a unit, a controlled comparison or a model limit.">
            <a:extLst xmlns:a="http://schemas.openxmlformats.org/drawingml/2006/main">
              <a:ext uri="{FF2B5EF4-FFF2-40B4-BE49-F238E27FC236}">
                <a16:creationId xmlns:a16="http://schemas.microsoft.com/office/drawing/2014/main" id="{FEF336C9-8DBB-43B2-813A-B1CCEB61063D}"/>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Add a unit, a controlled comparison or a model limit.</a:t>
            </a:r>
          </a:p>
        </p:txBody>
      </p:sp>
    </p:spTree>
    <p:extLst>
      <p:ext uri="{BB962C8B-B14F-4D97-AF65-F5344CB8AC3E}">
        <p14:creationId xmlns:p14="http://schemas.microsoft.com/office/powerpoint/2010/main" val="7907188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11DD412B-A619-4D5F-9B43-2D0049B85696}"/>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B9EB3F9-CA23-404D-94CF-A9CE5F0C7B0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53D1A9D-2F30-45F7-AA6B-BB3840F5587B}"/>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5CBA2668-6EBB-4507-9DE5-BA4FD0D38F5E}"/>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Exit">
            <a:extLst xmlns:a="http://schemas.openxmlformats.org/drawingml/2006/main">
              <a:ext uri="{FF2B5EF4-FFF2-40B4-BE49-F238E27FC236}">
                <a16:creationId xmlns:a16="http://schemas.microsoft.com/office/drawing/2014/main" id="{B5FF68E4-71B6-4395-A5EA-D183325CB76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Exit</a:t>
            </a:r>
          </a:p>
        </p:txBody>
      </p:sp>
      <p:sp>
        <p:nvSpPr>
          <p:cNvPr id="6" name="1 min">
            <a:extLst xmlns:a="http://schemas.openxmlformats.org/drawingml/2006/main">
              <a:ext uri="{FF2B5EF4-FFF2-40B4-BE49-F238E27FC236}">
                <a16:creationId xmlns:a16="http://schemas.microsoft.com/office/drawing/2014/main" id="{F18807D3-3760-4F7E-A373-67601B3E270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 min</a:t>
            </a:r>
          </a:p>
        </p:txBody>
      </p:sp>
      <p:sp>
        <p:nvSpPr>
          <p:cNvPr id="7" name="Three quick evidence checks">
            <a:extLst xmlns:a="http://schemas.openxmlformats.org/drawingml/2006/main">
              <a:ext uri="{FF2B5EF4-FFF2-40B4-BE49-F238E27FC236}">
                <a16:creationId xmlns:a16="http://schemas.microsoft.com/office/drawing/2014/main" id="{0D772695-9C59-4E03-97BB-B1E4D0ECAC4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quick evidence checks</a:t>
            </a:r>
          </a:p>
        </p:txBody>
      </p:sp>
      <p:sp>
        <p:nvSpPr>
          <p:cNvPr id="8" name="surface">
            <a:extLst xmlns:a="http://schemas.openxmlformats.org/drawingml/2006/main">
              <a:ext uri="{FF2B5EF4-FFF2-40B4-BE49-F238E27FC236}">
                <a16:creationId xmlns:a16="http://schemas.microsoft.com/office/drawing/2014/main" id="{C55628B4-4840-4A25-97AD-A4F5E5B0061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Animal systems: the evidence challenge">
            <a:extLst xmlns:a="http://schemas.openxmlformats.org/drawingml/2006/main">
              <a:ext uri="{FF2B5EF4-FFF2-40B4-BE49-F238E27FC236}">
                <a16:creationId xmlns:a16="http://schemas.microsoft.com/office/drawing/2014/main" id="{A6F32D7B-C2D8-47E4-923B-9C5D90298AA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10" name="14 / 15">
            <a:extLst xmlns:a="http://schemas.openxmlformats.org/drawingml/2006/main">
              <a:ext uri="{FF2B5EF4-FFF2-40B4-BE49-F238E27FC236}">
                <a16:creationId xmlns:a16="http://schemas.microsoft.com/office/drawing/2014/main" id="{7A4DCC12-BE2B-4C09-A292-3D29D0C45FA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15</a:t>
            </a:r>
          </a:p>
        </p:txBody>
      </p:sp>
      <p:sp>
        <p:nvSpPr>
          <p:cNvPr id="11" name="E1. Calculate 80 beats/min × 50 mL/beat in L/min.">
            <a:extLst xmlns:a="http://schemas.openxmlformats.org/drawingml/2006/main">
              <a:ext uri="{FF2B5EF4-FFF2-40B4-BE49-F238E27FC236}">
                <a16:creationId xmlns:a16="http://schemas.microsoft.com/office/drawing/2014/main" id="{86D489C1-6295-4AED-81E5-978FEE598827}"/>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E1. Calculate 80 beats/min × 50 mL/beat in L/min.</a:t>
            </a:r>
          </a:p>
        </p:txBody>
      </p:sp>
      <p:sp>
        <p:nvSpPr>
          <p:cNvPr id="12" name="E2. Why is X/Y not an area-only test?">
            <a:extLst xmlns:a="http://schemas.openxmlformats.org/drawingml/2006/main">
              <a:ext uri="{FF2B5EF4-FFF2-40B4-BE49-F238E27FC236}">
                <a16:creationId xmlns:a16="http://schemas.microsoft.com/office/drawing/2014/main" id="{9CE44F0B-0A1D-4197-972A-89E636F0575C}"/>
              </a:ext>
            </a:extLst>
          </p:cNvPr>
          <p:cNvSpPr>
            <a:spLocks xmlns:a="http://schemas.openxmlformats.org/drawingml/2006/main" noGrp="1"/>
          </p:cNvSpPr>
          <p:nvPr/>
        </p:nvSpPr>
        <p:spPr>
          <a:xfrm xmlns:a="http://schemas.openxmlformats.org/drawingml/2006/main">
            <a:off x="762000" y="2582228"/>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E2. Why is X/Y not an area-only test?</a:t>
            </a:r>
          </a:p>
        </p:txBody>
      </p:sp>
      <p:sp>
        <p:nvSpPr>
          <p:cNvPr id="13" name="E3. Name one missing quantity for oxygen adequacy.">
            <a:extLst xmlns:a="http://schemas.openxmlformats.org/drawingml/2006/main">
              <a:ext uri="{FF2B5EF4-FFF2-40B4-BE49-F238E27FC236}">
                <a16:creationId xmlns:a16="http://schemas.microsoft.com/office/drawing/2014/main" id="{E208B64A-4AFD-46A6-9729-D0CF9BB7E9F2}"/>
              </a:ext>
            </a:extLst>
          </p:cNvPr>
          <p:cNvSpPr>
            <a:spLocks xmlns:a="http://schemas.openxmlformats.org/drawingml/2006/main" noGrp="1"/>
          </p:cNvSpPr>
          <p:nvPr/>
        </p:nvSpPr>
        <p:spPr>
          <a:xfrm xmlns:a="http://schemas.openxmlformats.org/drawingml/2006/main">
            <a:off x="762000" y="3135630"/>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E3. Name one missing quantity for oxygen adequacy.</a:t>
            </a:r>
          </a:p>
        </p:txBody>
      </p:sp>
    </p:spTree>
    <p:extLst>
      <p:ext uri="{BB962C8B-B14F-4D97-AF65-F5344CB8AC3E}">
        <p14:creationId xmlns:p14="http://schemas.microsoft.com/office/powerpoint/2010/main" val="17137510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urface">
            <a:extLst xmlns:a="http://schemas.openxmlformats.org/drawingml/2006/main">
              <a:ext uri="{FF2B5EF4-FFF2-40B4-BE49-F238E27FC236}">
                <a16:creationId xmlns:a16="http://schemas.microsoft.com/office/drawing/2014/main" id="{58C0C44D-D468-47E5-9D42-3B564405D19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346B949F-40C4-45BD-8579-B347B6A5609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FD75725A-063B-4FD9-B5AE-9A5581D9868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4" name="LAUNCH SCIENCE">
            <a:extLst xmlns:a="http://schemas.openxmlformats.org/drawingml/2006/main">
              <a:ext uri="{FF2B5EF4-FFF2-40B4-BE49-F238E27FC236}">
                <a16:creationId xmlns:a16="http://schemas.microsoft.com/office/drawing/2014/main" id="{11AF856E-54B8-4375-8E33-C4A431DEA9E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LAUNCH SCIENCE</a:t>
            </a:r>
          </a:p>
        </p:txBody>
      </p:sp>
      <p:sp>
        <p:nvSpPr>
          <p:cNvPr id="5" name="Exit">
            <a:extLst xmlns:a="http://schemas.openxmlformats.org/drawingml/2006/main">
              <a:ext uri="{FF2B5EF4-FFF2-40B4-BE49-F238E27FC236}">
                <a16:creationId xmlns:a16="http://schemas.microsoft.com/office/drawing/2014/main" id="{B462E32F-669B-46D3-B015-4A7EC1E9913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7A5C9E"/>
                </a:solidFill>
                <a:latin typeface="Nimbus Sans"/>
                <a:ea typeface="Nimbus Sans"/>
                <a:cs typeface="Nimbus Sans"/>
              </a:defRPr>
            </a:pPr>
            <a:r>
              <a:rPr sz="1800" b="1">
                <a:solidFill>
                  <a:srgbClr val="7A5C9E"/>
                </a:solidFill>
                <a:latin typeface="Nimbus Sans"/>
                <a:ea typeface="Nimbus Sans"/>
                <a:cs typeface="Nimbus Sans"/>
              </a:rPr>
              <a:t>Exit</a:t>
            </a:r>
          </a:p>
        </p:txBody>
      </p:sp>
      <p:sp>
        <p:nvSpPr>
          <p:cNvPr id="6" name="Choose the next practice">
            <a:extLst xmlns:a="http://schemas.openxmlformats.org/drawingml/2006/main">
              <a:ext uri="{FF2B5EF4-FFF2-40B4-BE49-F238E27FC236}">
                <a16:creationId xmlns:a16="http://schemas.microsoft.com/office/drawing/2014/main" id="{EE435042-6FE0-448B-83B4-D47E680125C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Choose the next practice</a:t>
            </a:r>
          </a:p>
        </p:txBody>
      </p:sp>
      <p:sp>
        <p:nvSpPr>
          <p:cNvPr id="7" name="surface">
            <a:extLst xmlns:a="http://schemas.openxmlformats.org/drawingml/2006/main">
              <a:ext uri="{FF2B5EF4-FFF2-40B4-BE49-F238E27FC236}">
                <a16:creationId xmlns:a16="http://schemas.microsoft.com/office/drawing/2014/main" id="{48F85E9A-59A8-42A5-852E-407174F3D31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Animal systems: the evidence challenge">
            <a:extLst xmlns:a="http://schemas.openxmlformats.org/drawingml/2006/main">
              <a:ext uri="{FF2B5EF4-FFF2-40B4-BE49-F238E27FC236}">
                <a16:creationId xmlns:a16="http://schemas.microsoft.com/office/drawing/2014/main" id="{E7CF3BF9-63A6-4D0A-A7D3-F8CEA81494E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Animal systems: the evidence challenge</a:t>
            </a:r>
          </a:p>
        </p:txBody>
      </p:sp>
      <p:sp>
        <p:nvSpPr>
          <p:cNvPr id="9" name="15 / 15">
            <a:extLst xmlns:a="http://schemas.openxmlformats.org/drawingml/2006/main">
              <a:ext uri="{FF2B5EF4-FFF2-40B4-BE49-F238E27FC236}">
                <a16:creationId xmlns:a16="http://schemas.microsoft.com/office/drawing/2014/main" id="{F930BAC9-CA19-40BB-8C99-CA6042DD834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15 / 15</a:t>
            </a:r>
          </a:p>
        </p:txBody>
      </p:sp>
      <p:sp>
        <p:nvSpPr>
          <p:cNvPr id="10" name="Units • controlled pairs • hormone roles • limits.">
            <a:extLst xmlns:a="http://schemas.openxmlformats.org/drawingml/2006/main">
              <a:ext uri="{FF2B5EF4-FFF2-40B4-BE49-F238E27FC236}">
                <a16:creationId xmlns:a16="http://schemas.microsoft.com/office/drawing/2014/main" id="{24C1493C-1A6D-4711-B316-3F0B6A6D9D7A}"/>
              </a:ext>
            </a:extLst>
          </p:cNvPr>
          <p:cNvSpPr>
            <a:spLocks xmlns:a="http://schemas.openxmlformats.org/drawingml/2006/main" noGrp="1"/>
          </p:cNvSpPr>
          <p:nvPr/>
        </p:nvSpPr>
        <p:spPr>
          <a:xfrm xmlns:a="http://schemas.openxmlformats.org/drawingml/2006/main">
            <a:off x="762000" y="2028825"/>
            <a:ext cx="10668000" cy="3629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1F2937"/>
                </a:solidFill>
                <a:latin typeface="Nimbus Sans"/>
                <a:ea typeface="Nimbus Sans"/>
                <a:cs typeface="Nimbus Sans"/>
              </a:defRPr>
            </a:pPr>
            <a:r>
              <a:rPr sz="2325" b="0">
                <a:solidFill>
                  <a:srgbClr val="1F2937"/>
                </a:solidFill>
                <a:latin typeface="Nimbus Sans"/>
                <a:ea typeface="Nimbus Sans"/>
                <a:cs typeface="Nimbus Sans"/>
              </a:rPr>
              <a:t>Units • controlled pairs • hormone roles • limits.</a:t>
            </a:r>
          </a:p>
        </p:txBody>
      </p:sp>
    </p:spTree>
    <p:extLst>
      <p:ext uri="{BB962C8B-B14F-4D97-AF65-F5344CB8AC3E}">
        <p14:creationId xmlns:p14="http://schemas.microsoft.com/office/powerpoint/2010/main" val="4257750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2026-09-09T00:04:00.0100000Z</dcterms:created>
  <dcterms:modified xsi:type="dcterms:W3CDTF">2026-09-09T00:04:00.0110000Z</dcterms:modified>
</coreProperties>
</file>