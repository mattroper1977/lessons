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69b02dce5f4d61" /><Relationship Type="http://schemas.openxmlformats.org/officeDocument/2006/relationships/extended-properties" Target="/docProps/app.xml" Id="R02672862d0ae4a52" /><Relationship Type="http://schemas.openxmlformats.org/officeDocument/2006/relationships/officeDocument" Target="/ppt/presentation.xml" Id="R1db2999853e04d5e" /></Relationships>
</file>

<file path=ppt/presentation.xml><?xml version="1.0" encoding="utf-8"?>
<p:presentation xmlns:p="http://schemas.openxmlformats.org/presentationml/2006/main">
  <p:sldMasterIdLst>
    <p:sldMasterId xmlns:r="http://schemas.openxmlformats.org/officeDocument/2006/relationships" id="2147483648" r:id="R1fd8905d8e2b47fa"/>
  </p:sldMasterIdLst>
  <p:notesMasterIdLst>
    <p:notesMasterId xmlns:r="http://schemas.openxmlformats.org/officeDocument/2006/relationships" r:id="R2954744c2b6643f4"/>
  </p:notesMasterIdLst>
  <p:sldIdLst>
    <p:sldId xmlns:r="http://schemas.openxmlformats.org/officeDocument/2006/relationships" id="256" r:id="R69b300d2f4804d42"/>
    <p:sldId xmlns:r="http://schemas.openxmlformats.org/officeDocument/2006/relationships" id="257" r:id="Rca64fc77a9b348b5"/>
    <p:sldId xmlns:r="http://schemas.openxmlformats.org/officeDocument/2006/relationships" id="258" r:id="R3e31803f2e6245e4"/>
    <p:sldId xmlns:r="http://schemas.openxmlformats.org/officeDocument/2006/relationships" id="259" r:id="Radf2b2beea5c405d"/>
    <p:sldId xmlns:r="http://schemas.openxmlformats.org/officeDocument/2006/relationships" id="260" r:id="Rba306fcc610b48c3"/>
    <p:sldId xmlns:r="http://schemas.openxmlformats.org/officeDocument/2006/relationships" id="261" r:id="R8a3826c234694f10"/>
    <p:sldId xmlns:r="http://schemas.openxmlformats.org/officeDocument/2006/relationships" id="262" r:id="R839e014538054d31"/>
    <p:sldId xmlns:r="http://schemas.openxmlformats.org/officeDocument/2006/relationships" id="263" r:id="Rdbb8867456704246"/>
    <p:sldId xmlns:r="http://schemas.openxmlformats.org/officeDocument/2006/relationships" id="264" r:id="R7c84ecc06ebf469f"/>
    <p:sldId xmlns:r="http://schemas.openxmlformats.org/officeDocument/2006/relationships" id="265" r:id="R2c9f170388bb4f68"/>
    <p:sldId xmlns:r="http://schemas.openxmlformats.org/officeDocument/2006/relationships" id="266" r:id="Rb4e31fc362064b63"/>
    <p:sldId xmlns:r="http://schemas.openxmlformats.org/officeDocument/2006/relationships" id="267" r:id="R96697f8a75774094"/>
    <p:sldId xmlns:r="http://schemas.openxmlformats.org/officeDocument/2006/relationships" id="268" r:id="Rfa83c64c965b4468"/>
    <p:sldId xmlns:r="http://schemas.openxmlformats.org/officeDocument/2006/relationships" id="269" r:id="R26bdb107b05f414d"/>
    <p:sldId xmlns:r="http://schemas.openxmlformats.org/officeDocument/2006/relationships" id="270" r:id="R35023020ad424828"/>
    <p:sldId xmlns:r="http://schemas.openxmlformats.org/officeDocument/2006/relationships" id="271" r:id="Raf06ddadb4604e77"/>
    <p:sldId xmlns:r="http://schemas.openxmlformats.org/officeDocument/2006/relationships" id="272" r:id="Rcb8fbb8fc18042a3"/>
    <p:sldId xmlns:r="http://schemas.openxmlformats.org/officeDocument/2006/relationships" id="273" r:id="R64859d3c7edf4402"/>
    <p:sldId xmlns:r="http://schemas.openxmlformats.org/officeDocument/2006/relationships" id="274" r:id="R873a8b0935c34c3a"/>
    <p:sldId xmlns:r="http://schemas.openxmlformats.org/officeDocument/2006/relationships" id="275" r:id="R7d9e74cb087b44c5"/>
    <p:sldId xmlns:r="http://schemas.openxmlformats.org/officeDocument/2006/relationships" id="276" r:id="R3452e9e519bc4855"/>
    <p:sldId xmlns:r="http://schemas.openxmlformats.org/officeDocument/2006/relationships" id="277" r:id="R5e463595094a4418"/>
    <p:sldId xmlns:r="http://schemas.openxmlformats.org/officeDocument/2006/relationships" id="278" r:id="R1bfa2a88292b407e"/>
    <p:sldId xmlns:r="http://schemas.openxmlformats.org/officeDocument/2006/relationships" id="279" r:id="Rc1354edfe4fd46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6b1e1040354442" /><Relationship Type="http://schemas.openxmlformats.org/officeDocument/2006/relationships/slideMaster" Target="/ppt/slideMasters/slideMaster1.xml" Id="R1fd8905d8e2b47fa" /><Relationship Type="http://schemas.openxmlformats.org/officeDocument/2006/relationships/notesMaster" Target="/ppt/notesMasters/notesMaster1.xml" Id="R2954744c2b6643f4" /><Relationship Type="http://schemas.openxmlformats.org/officeDocument/2006/relationships/presProps" Target="/ppt/presProps.xml" Id="R585cd974d9f84d5a" /><Relationship Type="http://schemas.openxmlformats.org/officeDocument/2006/relationships/tableStyles" Target="/ppt/tableStyles.xml" Id="R9ae1ea3bdd204bae" /><Relationship Type="http://schemas.openxmlformats.org/officeDocument/2006/relationships/slide" Target="/ppt/slides/slide1.xml" Id="R69b300d2f4804d42" /><Relationship Type="http://schemas.openxmlformats.org/officeDocument/2006/relationships/slide" Target="/ppt/slides/slide2.xml" Id="Rca64fc77a9b348b5" /><Relationship Type="http://schemas.openxmlformats.org/officeDocument/2006/relationships/slide" Target="/ppt/slides/slide3.xml" Id="R3e31803f2e6245e4" /><Relationship Type="http://schemas.openxmlformats.org/officeDocument/2006/relationships/slide" Target="/ppt/slides/slide4.xml" Id="Radf2b2beea5c405d" /><Relationship Type="http://schemas.openxmlformats.org/officeDocument/2006/relationships/slide" Target="/ppt/slides/slide5.xml" Id="Rba306fcc610b48c3" /><Relationship Type="http://schemas.openxmlformats.org/officeDocument/2006/relationships/slide" Target="/ppt/slides/slide6.xml" Id="R8a3826c234694f10" /><Relationship Type="http://schemas.openxmlformats.org/officeDocument/2006/relationships/slide" Target="/ppt/slides/slide7.xml" Id="R839e014538054d31" /><Relationship Type="http://schemas.openxmlformats.org/officeDocument/2006/relationships/slide" Target="/ppt/slides/slide8.xml" Id="Rdbb8867456704246" /><Relationship Type="http://schemas.openxmlformats.org/officeDocument/2006/relationships/slide" Target="/ppt/slides/slide9.xml" Id="R7c84ecc06ebf469f" /><Relationship Type="http://schemas.openxmlformats.org/officeDocument/2006/relationships/slide" Target="/ppt/slides/slide10.xml" Id="R2c9f170388bb4f68" /><Relationship Type="http://schemas.openxmlformats.org/officeDocument/2006/relationships/slide" Target="/ppt/slides/slide11.xml" Id="Rb4e31fc362064b63" /><Relationship Type="http://schemas.openxmlformats.org/officeDocument/2006/relationships/slide" Target="/ppt/slides/slide12.xml" Id="R96697f8a75774094" /><Relationship Type="http://schemas.openxmlformats.org/officeDocument/2006/relationships/slide" Target="/ppt/slides/slide13.xml" Id="Rfa83c64c965b4468" /><Relationship Type="http://schemas.openxmlformats.org/officeDocument/2006/relationships/slide" Target="/ppt/slides/slide14.xml" Id="R26bdb107b05f414d" /><Relationship Type="http://schemas.openxmlformats.org/officeDocument/2006/relationships/slide" Target="/ppt/slides/slide15.xml" Id="R35023020ad424828" /><Relationship Type="http://schemas.openxmlformats.org/officeDocument/2006/relationships/slide" Target="/ppt/slides/slide16.xml" Id="Raf06ddadb4604e77" /><Relationship Type="http://schemas.openxmlformats.org/officeDocument/2006/relationships/slide" Target="/ppt/slides/slide17.xml" Id="Rcb8fbb8fc18042a3" /><Relationship Type="http://schemas.openxmlformats.org/officeDocument/2006/relationships/slide" Target="/ppt/slides/slide18.xml" Id="R64859d3c7edf4402" /><Relationship Type="http://schemas.openxmlformats.org/officeDocument/2006/relationships/slide" Target="/ppt/slides/slide19.xml" Id="R873a8b0935c34c3a" /><Relationship Type="http://schemas.openxmlformats.org/officeDocument/2006/relationships/slide" Target="/ppt/slides/slide20.xml" Id="R7d9e74cb087b44c5" /><Relationship Type="http://schemas.openxmlformats.org/officeDocument/2006/relationships/slide" Target="/ppt/slides/slide21.xml" Id="R3452e9e519bc4855" /><Relationship Type="http://schemas.openxmlformats.org/officeDocument/2006/relationships/slide" Target="/ppt/slides/slide22.xml" Id="R5e463595094a4418" /><Relationship Type="http://schemas.openxmlformats.org/officeDocument/2006/relationships/slide" Target="/ppt/slides/slide23.xml" Id="R1bfa2a88292b407e" /><Relationship Type="http://schemas.openxmlformats.org/officeDocument/2006/relationships/slide" Target="/ppt/slides/slide24.xml" Id="Rc1354edfe4fd46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8d5e19129d45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901267bf5c40dc" /><Relationship Type="http://schemas.openxmlformats.org/officeDocument/2006/relationships/notesMaster" Target="/ppt/notesMasters/notesMaster1.xml" Id="R8d029a11d8724c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bf1bceccec44e1" /><Relationship Type="http://schemas.openxmlformats.org/officeDocument/2006/relationships/notesMaster" Target="/ppt/notesMasters/notesMaster1.xml" Id="R905c593c92df4c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9aee6ae5474544" /><Relationship Type="http://schemas.openxmlformats.org/officeDocument/2006/relationships/notesMaster" Target="/ppt/notesMasters/notesMaster1.xml" Id="R7d82e34fe25f45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b5a1345c0a4994" /><Relationship Type="http://schemas.openxmlformats.org/officeDocument/2006/relationships/notesMaster" Target="/ppt/notesMasters/notesMaster1.xml" Id="R58e45e78ea1d4d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0b568208464c2f" /><Relationship Type="http://schemas.openxmlformats.org/officeDocument/2006/relationships/notesMaster" Target="/ppt/notesMasters/notesMaster1.xml" Id="Rf28142a6c7794f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4a4aec9d674a40" /><Relationship Type="http://schemas.openxmlformats.org/officeDocument/2006/relationships/notesMaster" Target="/ppt/notesMasters/notesMaster1.xml" Id="R85811005ffaa4e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1fe3cf0d294248" /><Relationship Type="http://schemas.openxmlformats.org/officeDocument/2006/relationships/notesMaster" Target="/ppt/notesMasters/notesMaster1.xml" Id="R3a39f08415c94b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602dbdf6ae4f38" /><Relationship Type="http://schemas.openxmlformats.org/officeDocument/2006/relationships/notesMaster" Target="/ppt/notesMasters/notesMaster1.xml" Id="Rfe0006795fd447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b1ad35c33243c0" /><Relationship Type="http://schemas.openxmlformats.org/officeDocument/2006/relationships/notesMaster" Target="/ppt/notesMasters/notesMaster1.xml" Id="R84908717863b4f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94ac528b814db8" /><Relationship Type="http://schemas.openxmlformats.org/officeDocument/2006/relationships/notesMaster" Target="/ppt/notesMasters/notesMaster1.xml" Id="R8a3c644f459047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40b000e19f4de6" /><Relationship Type="http://schemas.openxmlformats.org/officeDocument/2006/relationships/notesMaster" Target="/ppt/notesMasters/notesMaster1.xml" Id="R8b49bade688941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73a55666a246fb" /><Relationship Type="http://schemas.openxmlformats.org/officeDocument/2006/relationships/notesMaster" Target="/ppt/notesMasters/notesMaster1.xml" Id="Rcf96d38900ee4f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2d019694f2408a" /><Relationship Type="http://schemas.openxmlformats.org/officeDocument/2006/relationships/notesMaster" Target="/ppt/notesMasters/notesMaster1.xml" Id="Rd9eaa6306a334f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f9fa80f831a425c" /><Relationship Type="http://schemas.openxmlformats.org/officeDocument/2006/relationships/notesMaster" Target="/ppt/notesMasters/notesMaster1.xml" Id="R029e21af2fcf4d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1792dd985fa4971" /><Relationship Type="http://schemas.openxmlformats.org/officeDocument/2006/relationships/notesMaster" Target="/ppt/notesMasters/notesMaster1.xml" Id="R11dab73c445142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11a469662f4201" /><Relationship Type="http://schemas.openxmlformats.org/officeDocument/2006/relationships/notesMaster" Target="/ppt/notesMasters/notesMaster1.xml" Id="R7b3c2e98f76b44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23750062ae6477c" /><Relationship Type="http://schemas.openxmlformats.org/officeDocument/2006/relationships/notesMaster" Target="/ppt/notesMasters/notesMaster1.xml" Id="R7a7cca1dbac94e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fe8713a6a1d4462" /><Relationship Type="http://schemas.openxmlformats.org/officeDocument/2006/relationships/notesMaster" Target="/ppt/notesMasters/notesMaster1.xml" Id="R22ea0a9d019642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9d07a05e1dd4b54" /><Relationship Type="http://schemas.openxmlformats.org/officeDocument/2006/relationships/notesMaster" Target="/ppt/notesMasters/notesMaster1.xml" Id="Refceb145b2434d9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4501cb4bd7a4171" /><Relationship Type="http://schemas.openxmlformats.org/officeDocument/2006/relationships/notesMaster" Target="/ppt/notesMasters/notesMaster1.xml" Id="R0c54bba2cb7c49e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6f48f54b87d446d" /><Relationship Type="http://schemas.openxmlformats.org/officeDocument/2006/relationships/notesMaster" Target="/ppt/notesMasters/notesMaster1.xml" Id="R4fa778f11c7a4ce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392a345f7c1422e" /><Relationship Type="http://schemas.openxmlformats.org/officeDocument/2006/relationships/notesMaster" Target="/ppt/notesMasters/notesMaster1.xml" Id="R27c34f9888234e0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5076b0c9c6a4fe0" /><Relationship Type="http://schemas.openxmlformats.org/officeDocument/2006/relationships/notesMaster" Target="/ppt/notesMasters/notesMaster1.xml" Id="R832a52681cc3407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5fdccaa8358474e" /><Relationship Type="http://schemas.openxmlformats.org/officeDocument/2006/relationships/notesMaster" Target="/ppt/notesMasters/notesMaster1.xml" Id="R85e2918803af4f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Overview: 0 minutes TOTAL across all slides in this stage.</a:t>
            </a:r>
          </a:p>
          <a:p xmlns:a="http://schemas.openxmlformats.org/drawingml/2006/main">
            <a:r>
              <a:t/>
            </a:r>
          </a:p>
          <a:p xmlns:a="http://schemas.openxmlformats.org/drawingml/2006/main">
            <a:r>
              <a:t>Prepare the approved local source set and privacy-safe access routes; keep the 1BI0 Foundation decision central.</a:t>
            </a:r>
          </a:p>
          <a:p xmlns:a="http://schemas.openxmlformats.org/drawingml/2006/main">
            <a:r>
              <a:t/>
            </a:r>
          </a:p>
          <a:p xmlns:a="http://schemas.openxmlformats.org/drawingml/2006/main">
            <a:r>
              <a:t>Keep optional IGCSE depth staff-directed and separate from the core class route; do not use legacy 4SS0 framing.</a:t>
            </a:r>
          </a:p>
          <a:p xmlns:a="http://schemas.openxmlformats.org/drawingml/2006/main">
            <a:r>
              <a:t/>
            </a:r>
          </a:p>
          <a:p xmlns:a="http://schemas.openxmlformats.org/drawingml/2006/main">
            <a:r>
              <a:t>Staff preview Keep the 1BI0 Foundation explanation, approved local source set, privacy boundary and learner-authored evidence decision central. Optional IGCSE depth remains staff-directed.</a:t>
            </a:r>
          </a:p>
          <a:p xmlns:a="http://schemas.openxmlformats.org/drawingml/2006/main">
            <a:r>
              <a:t/>
            </a:r>
          </a:p>
          <a:p xmlns:a="http://schemas.openxmlformats.org/drawingml/2006/main">
            <a:r>
              <a:t>Staff qualification / truth boundary Core teaching anchor: Edexcel GCSE Biology 1BI0 Foundation / Combined Science 1SC0 Foundation. IGCSE 4BI1/4CH1/4PH1 is optional stretch for eligible pupils only. No diagnosis or medical advice. The SoW cell adds no unit, code, criterion or level. This lesson imports none of those as new criteria. Staff-only stretch: eligible pupils may use approved 4BI1/4CH1/4PH1 depth. It never governs the core class route. Legacy 4SS0 framing is not the governing route.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LAUNCH · Science · Autumn · Week 14 · Do</a:t>
            </a:r>
          </a:p>
          <a:p xmlns:a="http://schemas.openxmlformats.org/drawingml/2006/main">
            <a:r>
              <a:t>SoW outcome: Research a genetic condition online; present.</a:t>
            </a:r>
          </a:p>
          <a:p xmlns:a="http://schemas.openxmlformats.org/drawingml/2006/main">
            <a:r>
              <a:t>Learning objective: I can present an evidence-led explanation of a teacher-approved genetic condition, credit sources, preserve uncertainty and respond to one audience question safely.</a:t>
            </a:r>
          </a:p>
          <a:p xmlns:a="http://schemas.openxmlformats.org/drawingml/2006/main">
            <a:r>
              <a:t>Success checks for today's activity — not assessment criteria</a:t>
            </a:r>
          </a:p>
          <a:p xmlns:a="http://schemas.openxmlformats.org/drawingml/2006/main">
            <a:r>
              <a:t>Explain the relevant inheritance idea using accurate, bounded language and a clear visual or verbal model.</a:t>
            </a:r>
          </a:p>
          <a:p xmlns:a="http://schemas.openxmlformats.org/drawingml/2006/main">
            <a:r>
              <a:t>Credit at least two approved sources and distinguish evidence, probability, variation and uncertainty.</a:t>
            </a:r>
          </a:p>
          <a:p xmlns:a="http://schemas.openxmlformats.org/drawingml/2006/main">
            <a:r>
              <a:t>Choose a private or small-audience presentation route, respond to one question, and record one justified revision or hold.</a:t>
            </a:r>
          </a:p>
          <a:p xmlns:a="http://schemas.openxmlformats.org/drawingml/2006/main">
            <a:r>
              <a:t>F-L-M-G</a:t>
            </a:r>
          </a:p>
          <a:p xmlns:a="http://schemas.openxmlformats.org/drawingml/2006/main">
            <a:r>
              <a:t>Find · Label · Map · Gap</a:t>
            </a:r>
          </a:p>
          <a:p xmlns:a="http://schemas.openxmlformats.org/drawingml/2006/main">
            <a:r>
              <a:t>research and present without overclaiming</a:t>
            </a:r>
          </a:p>
          <a:p xmlns:a="http://schemas.openxmlformats.org/drawingml/2006/main">
            <a:r>
              <a:t>◆ Supported</a:t>
            </a:r>
          </a:p>
          <a:p xmlns:a="http://schemas.openxmlformats.org/drawingml/2006/main">
            <a:r>
              <a:t>Use a four-panel frame, prepared vocabulary and a private explanation to a trusted adult or approved recording route.</a:t>
            </a:r>
          </a:p>
          <a:p xmlns:a="http://schemas.openxmlformats.org/drawingml/2006/main">
            <a:r>
              <a:t>▲ Standard</a:t>
            </a:r>
          </a:p>
          <a:p xmlns:a="http://schemas.openxmlformats.org/drawingml/2006/main">
            <a:r>
              <a:t>Build an independent evidence-led presentation with two credited sources, one uncertainty and one response-led revision.</a:t>
            </a:r>
          </a:p>
          <a:p xmlns:a="http://schemas.openxmlformats.org/drawingml/2006/main">
            <a:r>
              <a:t>Stretch</a:t>
            </a:r>
          </a:p>
          <a:p xmlns:a="http://schemas.openxmlformats.org/drawingml/2006/main">
            <a:r>
              <a:t>Evaluate a misleading deterministic claim, explain why the evidence does not support it and adapt the presentation for a different audience.</a:t>
            </a:r>
          </a:p>
          <a:p xmlns:a="http://schemas.openxmlformats.org/drawingml/2006/main">
            <a:r>
              <a:t>Previous lesson Pack start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Arrival: 3 minutes TOTAL across all slides in this stage.</a:t>
            </a:r>
          </a:p>
          <a:p xmlns:a="http://schemas.openxmlformats.org/drawingml/2006/main">
            <a:r>
              <a:t/>
            </a:r>
          </a:p>
          <a:p xmlns:a="http://schemas.openxmlformats.org/drawingml/2006/main">
            <a:r>
              <a:t>Offer private retrieval, pointing and a pass-and-return route; never request personal or family information.</a:t>
            </a:r>
          </a:p>
          <a:p xmlns:a="http://schemas.openxmlformats.org/drawingml/2006/main">
            <a:r>
              <a:t/>
            </a:r>
          </a:p>
          <a:p xmlns:a="http://schemas.openxmlformats.org/drawingml/2006/main">
            <a:r>
              <a:t>Change modality, density or number of choices before increasing prompting.</a:t>
            </a:r>
          </a:p>
          <a:p xmlns:a="http://schemas.openxmlformats.org/drawingml/2006/main">
            <a:r>
              <a:t/>
            </a:r>
          </a:p>
          <a:p xmlns:a="http://schemas.openxmlformats.org/drawingml/2006/main">
            <a:r>
              <a:t>Least prompt first Wait → self-prompt → visual cue → general verbal → specific verbal → model → direct support. Record adult support separately.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Choose the delivery route before editing: written display, narrated slides, approved recording, or private explanation to a trusted adult.</a:t>
            </a:r>
          </a:p>
          <a:p xmlns:a="http://schemas.openxmlformats.org/drawingml/2006/main">
            <a:r>
              <a:t>Question Carry the exact bounded W14L1 question. Do not widen it to personal diagnosis, prognosis or advice.</a:t>
            </a:r>
          </a:p>
          <a:p xmlns:a="http://schemas.openxmlformats.org/drawingml/2006/main">
            <a:r>
              <a:t>Evidence matrix Carry the two approved source locators, the agreement, the difference and the uncertainty from W14L2.</a:t>
            </a:r>
          </a:p>
          <a:p xmlns:a="http://schemas.openxmlformats.org/drawingml/2006/main">
            <a:r>
              <a:t>Foundation explanation Prepare the gene/allele and inheritance idea in accessible language, then distinguish probability from certainty.</a:t>
            </a:r>
          </a:p>
          <a:p xmlns:a="http://schemas.openxmlformats.org/drawingml/2006/main">
            <a:r>
              <a:t>Audience route Select privacy, response mode and group size before performance. No pupil is required to disclose a personal connection.</a:t>
            </a:r>
          </a:p>
          <a:p xmlns:a="http://schemas.openxmlformats.org/drawingml/2006/main">
            <a:r>
              <a:t>◆ Supported</a:t>
            </a:r>
          </a:p>
          <a:p xmlns:a="http://schemas.openxmlformats.org/drawingml/2006/main">
            <a:r>
              <a:t>Use a four-panel frame, prepared vocabulary and a private explanation to a trusted adult or approved recording route.</a:t>
            </a:r>
          </a:p>
          <a:p xmlns:a="http://schemas.openxmlformats.org/drawingml/2006/main">
            <a:r>
              <a:t>▲ Standard</a:t>
            </a:r>
          </a:p>
          <a:p xmlns:a="http://schemas.openxmlformats.org/drawingml/2006/main">
            <a:r>
              <a:t>Build an independent evidence-led presentation with two credited sources, one uncertainty and one response-led revision.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Arrival: 3 minutes TOTAL across all slides in this stage.</a:t>
            </a:r>
          </a:p>
          <a:p xmlns:a="http://schemas.openxmlformats.org/drawingml/2006/main">
            <a:r>
              <a:t/>
            </a:r>
          </a:p>
          <a:p xmlns:a="http://schemas.openxmlformats.org/drawingml/2006/main">
            <a:r>
              <a:t>Offer private retrieval, pointing and a pass-and-return route; never request personal or family information.</a:t>
            </a:r>
          </a:p>
          <a:p xmlns:a="http://schemas.openxmlformats.org/drawingml/2006/main">
            <a:r>
              <a:t/>
            </a:r>
          </a:p>
          <a:p xmlns:a="http://schemas.openxmlformats.org/drawingml/2006/main">
            <a:r>
              <a:t>Change modality, density or number of choices before increasing prompting.</a:t>
            </a:r>
          </a:p>
          <a:p xmlns:a="http://schemas.openxmlformats.org/drawingml/2006/main">
            <a:r>
              <a:t/>
            </a:r>
          </a:p>
          <a:p xmlns:a="http://schemas.openxmlformats.org/drawingml/2006/main">
            <a:r>
              <a:t>Least prompt first Wait → self-prompt → visual cue → general verbal → specific verbal → model → direct support. Record adult support separately.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Choose the delivery route before editing: written display, narrated slides, approved recording, or private explanation to a trusted adult.</a:t>
            </a:r>
          </a:p>
          <a:p xmlns:a="http://schemas.openxmlformats.org/drawingml/2006/main">
            <a:r>
              <a:t>Question Carry the exact bounded W14L1 question. Do not widen it to personal diagnosis, prognosis or advice.</a:t>
            </a:r>
          </a:p>
          <a:p xmlns:a="http://schemas.openxmlformats.org/drawingml/2006/main">
            <a:r>
              <a:t>Evidence matrix Carry the two approved source locators, the agreement, the difference and the uncertainty from W14L2.</a:t>
            </a:r>
          </a:p>
          <a:p xmlns:a="http://schemas.openxmlformats.org/drawingml/2006/main">
            <a:r>
              <a:t>Foundation explanation Prepare the gene/allele and inheritance idea in accessible language, then distinguish probability from certainty.</a:t>
            </a:r>
          </a:p>
          <a:p xmlns:a="http://schemas.openxmlformats.org/drawingml/2006/main">
            <a:r>
              <a:t>Audience route Select privacy, response mode and group size before performance. No pupil is required to disclose a personal connection.</a:t>
            </a:r>
          </a:p>
          <a:p xmlns:a="http://schemas.openxmlformats.org/drawingml/2006/main">
            <a:r>
              <a:t>◆ Supported</a:t>
            </a:r>
          </a:p>
          <a:p xmlns:a="http://schemas.openxmlformats.org/drawingml/2006/main">
            <a:r>
              <a:t>Use a four-panel frame, prepared vocabulary and a private explanation to a trusted adult or approved recording route.</a:t>
            </a:r>
          </a:p>
          <a:p xmlns:a="http://schemas.openxmlformats.org/drawingml/2006/main">
            <a:r>
              <a:t>▲ Standard</a:t>
            </a:r>
          </a:p>
          <a:p xmlns:a="http://schemas.openxmlformats.org/drawingml/2006/main">
            <a:r>
              <a:t>Build an independent evidence-led presentation with two credited sources, one uncertainty and one response-led revision.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Starter: 3 minutes TOTAL across all slides in this stage.</a:t>
            </a:r>
          </a:p>
          <a:p xmlns:a="http://schemas.openxmlformats.org/drawingml/2006/main">
            <a:r>
              <a:t/>
            </a:r>
          </a:p>
          <a:p xmlns:a="http://schemas.openxmlformats.org/drawingml/2006/main">
            <a:r>
              <a:t>Receive a first decision before feedback; keep it visible for revision.</a:t>
            </a:r>
          </a:p>
          <a:p xmlns:a="http://schemas.openxmlformats.org/drawingml/2006/main">
            <a:r>
              <a:t/>
            </a:r>
          </a:p>
          <a:p xmlns:a="http://schemas.openxmlformats.org/drawingml/2006/main">
            <a:r>
              <a:t>Ask for the source or boundary clue, not confidence or personal experience.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Find the overclaim in a sample ending that treats inheritance probability as certainty. Replace it with bounded wording.</a:t>
            </a:r>
          </a:p>
          <a:p xmlns:a="http://schemas.openxmlformats.org/drawingml/2006/main">
            <a:r>
              <a:t>Picture first: an evidence-led presentation credits sources, keeps uncertainty visible and never uses personal stories.</a:t>
            </a:r>
          </a:p>
          <a:p xmlns:a="http://schemas.openxmlformats.org/drawingml/2006/main">
            <a:r>
              <a:t>Presentation test</a:t>
            </a:r>
          </a:p>
          <a:p xmlns:a="http://schemas.openxmlformats.org/drawingml/2006/main">
            <a:r>
              <a:t>An accurate ending names the evidence, states the limit and returns to the bounded question. Confidence, volume and polished design never replace a source trail.</a:t>
            </a:r>
          </a:p>
          <a:p xmlns:a="http://schemas.openxmlformats.org/drawingml/2006/main">
            <a:r>
              <a:t>“The sources guarantee what will happen to every person.”</a:t>
            </a:r>
          </a:p>
          <a:p xmlns:a="http://schemas.openxmlformats.org/drawingml/2006/main">
            <a:r>
              <a:t>“The sources explain an inherited pattern but cannot predict one person's experience.”</a:t>
            </a:r>
          </a:p>
          <a:p xmlns:a="http://schemas.openxmlformats.org/drawingml/2006/main">
            <a:r>
              <a:t>“The presentation can tell someone what treatment to choose.”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Starter: 3 minutes TOTAL across all slides in this stage.</a:t>
            </a:r>
          </a:p>
          <a:p xmlns:a="http://schemas.openxmlformats.org/drawingml/2006/main">
            <a:r>
              <a:t/>
            </a:r>
          </a:p>
          <a:p xmlns:a="http://schemas.openxmlformats.org/drawingml/2006/main">
            <a:r>
              <a:t>Receive a first decision before feedback; keep it visible for revision.</a:t>
            </a:r>
          </a:p>
          <a:p xmlns:a="http://schemas.openxmlformats.org/drawingml/2006/main">
            <a:r>
              <a:t/>
            </a:r>
          </a:p>
          <a:p xmlns:a="http://schemas.openxmlformats.org/drawingml/2006/main">
            <a:r>
              <a:t>Ask for the source or boundary clue, not confidence or personal experience.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Find the overclaim in a sample ending that treats inheritance probability as certainty. Replace it with bounded wording.</a:t>
            </a:r>
          </a:p>
          <a:p xmlns:a="http://schemas.openxmlformats.org/drawingml/2006/main">
            <a:r>
              <a:t>Picture first: an evidence-led presentation credits sources, keeps uncertainty visible and never uses personal stories.</a:t>
            </a:r>
          </a:p>
          <a:p xmlns:a="http://schemas.openxmlformats.org/drawingml/2006/main">
            <a:r>
              <a:t>Presentation test</a:t>
            </a:r>
          </a:p>
          <a:p xmlns:a="http://schemas.openxmlformats.org/drawingml/2006/main">
            <a:r>
              <a:t>An accurate ending names the evidence, states the limit and returns to the bounded question. Confidence, volume and polished design never replace a source trail.</a:t>
            </a:r>
          </a:p>
          <a:p xmlns:a="http://schemas.openxmlformats.org/drawingml/2006/main">
            <a:r>
              <a:t>“The sources guarantee what will happen to every person.”</a:t>
            </a:r>
          </a:p>
          <a:p xmlns:a="http://schemas.openxmlformats.org/drawingml/2006/main">
            <a:r>
              <a:t>“The sources explain an inherited pattern but cannot predict one person's experience.”</a:t>
            </a:r>
          </a:p>
          <a:p xmlns:a="http://schemas.openxmlformats.org/drawingml/2006/main">
            <a:r>
              <a:t>“The presentation can tell someone what treatment to choose.”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Starter: 3 minutes TOTAL across all slides in this stage.</a:t>
            </a:r>
          </a:p>
          <a:p xmlns:a="http://schemas.openxmlformats.org/drawingml/2006/main">
            <a:r>
              <a:t/>
            </a:r>
          </a:p>
          <a:p xmlns:a="http://schemas.openxmlformats.org/drawingml/2006/main">
            <a:r>
              <a:t>Receive a first decision before feedback; keep it visible for revision.</a:t>
            </a:r>
          </a:p>
          <a:p xmlns:a="http://schemas.openxmlformats.org/drawingml/2006/main">
            <a:r>
              <a:t/>
            </a:r>
          </a:p>
          <a:p xmlns:a="http://schemas.openxmlformats.org/drawingml/2006/main">
            <a:r>
              <a:t>Ask for the source or boundary clue, not confidence or personal experience.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Find the overclaim in a sample ending that treats inheritance probability as certainty. Replace it with bounded wording.</a:t>
            </a:r>
          </a:p>
          <a:p xmlns:a="http://schemas.openxmlformats.org/drawingml/2006/main">
            <a:r>
              <a:t>Picture first: an evidence-led presentation credits sources, keeps uncertainty visible and never uses personal stories.</a:t>
            </a:r>
          </a:p>
          <a:p xmlns:a="http://schemas.openxmlformats.org/drawingml/2006/main">
            <a:r>
              <a:t>Presentation test</a:t>
            </a:r>
          </a:p>
          <a:p xmlns:a="http://schemas.openxmlformats.org/drawingml/2006/main">
            <a:r>
              <a:t>An accurate ending names the evidence, states the limit and returns to the bounded question. Confidence, volume and polished design never replace a source trail.</a:t>
            </a:r>
          </a:p>
          <a:p xmlns:a="http://schemas.openxmlformats.org/drawingml/2006/main">
            <a:r>
              <a:t>“The sources guarantee what will happen to every person.”</a:t>
            </a:r>
          </a:p>
          <a:p xmlns:a="http://schemas.openxmlformats.org/drawingml/2006/main">
            <a:r>
              <a:t>“The sources explain an inherited pattern but cannot predict one person's experience.”</a:t>
            </a:r>
          </a:p>
          <a:p xmlns:a="http://schemas.openxmlformats.org/drawingml/2006/main">
            <a:r>
              <a:t>“The presentation can tell someone what treatment to choose.”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Presentation line checker</a:t>
            </a:r>
          </a:p>
          <a:p xmlns:a="http://schemas.openxmlformats.org/drawingml/2006/main">
            <a:r>
              <a:t>Press a line from a draft presentation, then judge it.</a:t>
            </a:r>
          </a:p>
          <a:p xmlns:a="http://schemas.openxmlformats.org/drawingml/2006/main">
            <a:r>
              <a:t>According to [source, date], the condition is inherited in this pattern…</a:t>
            </a:r>
          </a:p>
          <a:p xmlns:a="http://schemas.openxmlformats.org/drawingml/2006/main">
            <a:r>
              <a:t>My cousin has it and…</a:t>
            </a:r>
          </a:p>
          <a:p xmlns:a="http://schemas.openxmlformats.org/drawingml/2006/main">
            <a:r>
              <a:t>The two sources disagree on how common it is; the more recent gives…</a:t>
            </a:r>
          </a:p>
          <a:p xmlns:a="http://schemas.openxmlformats.org/drawingml/2006/main">
            <a:r>
              <a:t>Everyone with the condition experiences…</a:t>
            </a:r>
          </a:p>
          <a:p xmlns:a="http://schemas.openxmlformats.org/drawingml/2006/main">
            <a:r>
              <a:t>It is not yet known whether… — the sources say more research is needed</a:t>
            </a:r>
          </a:p>
          <a:p xmlns:a="http://schemas.openxmlformats.org/drawingml/2006/main">
            <a:r>
              <a:t>This treatment cures it</a:t>
            </a:r>
          </a:p>
          <a:p xmlns:a="http://schemas.openxmlformats.org/drawingml/2006/main">
            <a:r>
              <a:t>evidence-led, sourced, careful</a:t>
            </a:r>
          </a:p>
          <a:p xmlns:a="http://schemas.openxmlformats.org/drawingml/2006/main">
            <a:r>
              <a:t>rewrite — personal, absolute or unsourced</a:t>
            </a:r>
          </a:p>
          <a:p xmlns:a="http://schemas.openxmlformats.org/drawingml/2006/main">
            <a:r>
              <a:t>Press a card.</a:t>
            </a:r>
          </a:p>
          <a:p xmlns:a="http://schemas.openxmlformats.org/drawingml/2006/main">
            <a:r>
              <a:t>Frame 1: respectful title and bounded research question.</a:t>
            </a:r>
          </a:p>
          <a:p xmlns:a="http://schemas.openxmlformats.org/drawingml/2006/main">
            <a:r>
              <a:t>Frame 2: relevant inheritance explanation linked to prior gene/allele learning.</a:t>
            </a:r>
          </a:p>
          <a:p xmlns:a="http://schemas.openxmlformats.org/drawingml/2006/main">
            <a:r>
              <a:t>Frames 3–4: source evidence, variation/uncertainty, credits and a no-advice boundary.</a:t>
            </a:r>
          </a:p>
          <a:p xmlns:a="http://schemas.openxmlformats.org/drawingml/2006/main">
            <a:r>
              <a:t>Opening State the question and explain why it is bounded. The audience knows what the presentation will and will not answer.</a:t>
            </a:r>
          </a:p>
          <a:p xmlns:a="http://schemas.openxmlformats.org/drawingml/2006/main">
            <a:r>
              <a:t>Biology core Use gene, allele, inheritance and probability accurately at Foundation level. Define terms before adding detail.</a:t>
            </a:r>
          </a:p>
          <a:p xmlns:a="http://schemas.openxmlformats.org/drawingml/2006/main">
            <a:r>
              <a:t>Evidence comparison Name both approved sources, their relevant agreement and one difference or limitation from the matrix.</a:t>
            </a:r>
          </a:p>
          <a:p xmlns:a="http://schemas.openxmlformats.org/drawingml/2006/main">
            <a:r>
              <a:t>Closing State variation and uncertainty, credit the sources and name the no-diagnosis/no-advice boundary.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Presentation line checker</a:t>
            </a:r>
          </a:p>
          <a:p xmlns:a="http://schemas.openxmlformats.org/drawingml/2006/main">
            <a:r>
              <a:t>Press a line from a draft presentation, then judge it.</a:t>
            </a:r>
          </a:p>
          <a:p xmlns:a="http://schemas.openxmlformats.org/drawingml/2006/main">
            <a:r>
              <a:t>According to [source, date], the condition is inherited in this pattern…</a:t>
            </a:r>
          </a:p>
          <a:p xmlns:a="http://schemas.openxmlformats.org/drawingml/2006/main">
            <a:r>
              <a:t>My cousin has it and…</a:t>
            </a:r>
          </a:p>
          <a:p xmlns:a="http://schemas.openxmlformats.org/drawingml/2006/main">
            <a:r>
              <a:t>The two sources disagree on how common it is; the more recent gives…</a:t>
            </a:r>
          </a:p>
          <a:p xmlns:a="http://schemas.openxmlformats.org/drawingml/2006/main">
            <a:r>
              <a:t>Everyone with the condition experiences…</a:t>
            </a:r>
          </a:p>
          <a:p xmlns:a="http://schemas.openxmlformats.org/drawingml/2006/main">
            <a:r>
              <a:t>It is not yet known whether… — the sources say more research is needed</a:t>
            </a:r>
          </a:p>
          <a:p xmlns:a="http://schemas.openxmlformats.org/drawingml/2006/main">
            <a:r>
              <a:t>This treatment cures it</a:t>
            </a:r>
          </a:p>
          <a:p xmlns:a="http://schemas.openxmlformats.org/drawingml/2006/main">
            <a:r>
              <a:t>evidence-led, sourced, careful</a:t>
            </a:r>
          </a:p>
          <a:p xmlns:a="http://schemas.openxmlformats.org/drawingml/2006/main">
            <a:r>
              <a:t>rewrite — personal, absolute or unsourced</a:t>
            </a:r>
          </a:p>
          <a:p xmlns:a="http://schemas.openxmlformats.org/drawingml/2006/main">
            <a:r>
              <a:t>Press a card.</a:t>
            </a:r>
          </a:p>
          <a:p xmlns:a="http://schemas.openxmlformats.org/drawingml/2006/main">
            <a:r>
              <a:t>Frame 1: respectful title and bounded research question.</a:t>
            </a:r>
          </a:p>
          <a:p xmlns:a="http://schemas.openxmlformats.org/drawingml/2006/main">
            <a:r>
              <a:t>Frame 2: relevant inheritance explanation linked to prior gene/allele learning.</a:t>
            </a:r>
          </a:p>
          <a:p xmlns:a="http://schemas.openxmlformats.org/drawingml/2006/main">
            <a:r>
              <a:t>Frames 3–4: source evidence, variation/uncertainty, credits and a no-advice boundary.</a:t>
            </a:r>
          </a:p>
          <a:p xmlns:a="http://schemas.openxmlformats.org/drawingml/2006/main">
            <a:r>
              <a:t>Opening State the question and explain why it is bounded. The audience knows what the presentation will and will not answer.</a:t>
            </a:r>
          </a:p>
          <a:p xmlns:a="http://schemas.openxmlformats.org/drawingml/2006/main">
            <a:r>
              <a:t>Biology core Use gene, allele, inheritance and probability accurately at Foundation level. Define terms before adding detail.</a:t>
            </a:r>
          </a:p>
          <a:p xmlns:a="http://schemas.openxmlformats.org/drawingml/2006/main">
            <a:r>
              <a:t>Evidence comparison Name both approved sources, their relevant agreement and one difference or limitation from the matrix.</a:t>
            </a:r>
          </a:p>
          <a:p xmlns:a="http://schemas.openxmlformats.org/drawingml/2006/main">
            <a:r>
              <a:t>Closing State variation and uncertainty, credit the sources and name the no-diagnosis/no-advice boundary.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Presentation line checker</a:t>
            </a:r>
          </a:p>
          <a:p xmlns:a="http://schemas.openxmlformats.org/drawingml/2006/main">
            <a:r>
              <a:t>Press a line from a draft presentation, then judge it.</a:t>
            </a:r>
          </a:p>
          <a:p xmlns:a="http://schemas.openxmlformats.org/drawingml/2006/main">
            <a:r>
              <a:t>According to [source, date], the condition is inherited in this pattern…</a:t>
            </a:r>
          </a:p>
          <a:p xmlns:a="http://schemas.openxmlformats.org/drawingml/2006/main">
            <a:r>
              <a:t>My cousin has it and…</a:t>
            </a:r>
          </a:p>
          <a:p xmlns:a="http://schemas.openxmlformats.org/drawingml/2006/main">
            <a:r>
              <a:t>The two sources disagree on how common it is; the more recent gives…</a:t>
            </a:r>
          </a:p>
          <a:p xmlns:a="http://schemas.openxmlformats.org/drawingml/2006/main">
            <a:r>
              <a:t>Everyone with the condition experiences…</a:t>
            </a:r>
          </a:p>
          <a:p xmlns:a="http://schemas.openxmlformats.org/drawingml/2006/main">
            <a:r>
              <a:t>It is not yet known whether… — the sources say more research is needed</a:t>
            </a:r>
          </a:p>
          <a:p xmlns:a="http://schemas.openxmlformats.org/drawingml/2006/main">
            <a:r>
              <a:t>This treatment cures it</a:t>
            </a:r>
          </a:p>
          <a:p xmlns:a="http://schemas.openxmlformats.org/drawingml/2006/main">
            <a:r>
              <a:t>evidence-led, sourced, careful</a:t>
            </a:r>
          </a:p>
          <a:p xmlns:a="http://schemas.openxmlformats.org/drawingml/2006/main">
            <a:r>
              <a:t>rewrite — personal, absolute or unsourced</a:t>
            </a:r>
          </a:p>
          <a:p xmlns:a="http://schemas.openxmlformats.org/drawingml/2006/main">
            <a:r>
              <a:t>Press a card.</a:t>
            </a:r>
          </a:p>
          <a:p xmlns:a="http://schemas.openxmlformats.org/drawingml/2006/main">
            <a:r>
              <a:t>Frame 1: respectful title and bounded research question.</a:t>
            </a:r>
          </a:p>
          <a:p xmlns:a="http://schemas.openxmlformats.org/drawingml/2006/main">
            <a:r>
              <a:t>Frame 2: relevant inheritance explanation linked to prior gene/allele learning.</a:t>
            </a:r>
          </a:p>
          <a:p xmlns:a="http://schemas.openxmlformats.org/drawingml/2006/main">
            <a:r>
              <a:t>Frames 3–4: source evidence, variation/uncertainty, credits and a no-advice boundary.</a:t>
            </a:r>
          </a:p>
          <a:p xmlns:a="http://schemas.openxmlformats.org/drawingml/2006/main">
            <a:r>
              <a:t>Opening State the question and explain why it is bounded. The audience knows what the presentation will and will not answer.</a:t>
            </a:r>
          </a:p>
          <a:p xmlns:a="http://schemas.openxmlformats.org/drawingml/2006/main">
            <a:r>
              <a:t>Biology core Use gene, allele, inheritance and probability accurately at Foundation level. Define terms before adding detail.</a:t>
            </a:r>
          </a:p>
          <a:p xmlns:a="http://schemas.openxmlformats.org/drawingml/2006/main">
            <a:r>
              <a:t>Evidence comparison Name both approved sources, their relevant agreement and one difference or limitation from the matrix.</a:t>
            </a:r>
          </a:p>
          <a:p xmlns:a="http://schemas.openxmlformats.org/drawingml/2006/main">
            <a:r>
              <a:t>Closing State variation and uncertainty, credit the sources and name the no-diagnosis/no-advice boundary.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Presentation line checker</a:t>
            </a:r>
          </a:p>
          <a:p xmlns:a="http://schemas.openxmlformats.org/drawingml/2006/main">
            <a:r>
              <a:t>Press a line from a draft presentation, then judge it.</a:t>
            </a:r>
          </a:p>
          <a:p xmlns:a="http://schemas.openxmlformats.org/drawingml/2006/main">
            <a:r>
              <a:t>According to [source, date], the condition is inherited in this pattern…</a:t>
            </a:r>
          </a:p>
          <a:p xmlns:a="http://schemas.openxmlformats.org/drawingml/2006/main">
            <a:r>
              <a:t>My cousin has it and…</a:t>
            </a:r>
          </a:p>
          <a:p xmlns:a="http://schemas.openxmlformats.org/drawingml/2006/main">
            <a:r>
              <a:t>The two sources disagree on how common it is; the more recent gives…</a:t>
            </a:r>
          </a:p>
          <a:p xmlns:a="http://schemas.openxmlformats.org/drawingml/2006/main">
            <a:r>
              <a:t>Everyone with the condition experiences…</a:t>
            </a:r>
          </a:p>
          <a:p xmlns:a="http://schemas.openxmlformats.org/drawingml/2006/main">
            <a:r>
              <a:t>It is not yet known whether… — the sources say more research is needed</a:t>
            </a:r>
          </a:p>
          <a:p xmlns:a="http://schemas.openxmlformats.org/drawingml/2006/main">
            <a:r>
              <a:t>This treatment cures it</a:t>
            </a:r>
          </a:p>
          <a:p xmlns:a="http://schemas.openxmlformats.org/drawingml/2006/main">
            <a:r>
              <a:t>evidence-led, sourced, careful</a:t>
            </a:r>
          </a:p>
          <a:p xmlns:a="http://schemas.openxmlformats.org/drawingml/2006/main">
            <a:r>
              <a:t>rewrite — personal, absolute or unsourced</a:t>
            </a:r>
          </a:p>
          <a:p xmlns:a="http://schemas.openxmlformats.org/drawingml/2006/main">
            <a:r>
              <a:t>Press a card.</a:t>
            </a:r>
          </a:p>
          <a:p xmlns:a="http://schemas.openxmlformats.org/drawingml/2006/main">
            <a:r>
              <a:t>Frame 1: respectful title and bounded research question.</a:t>
            </a:r>
          </a:p>
          <a:p xmlns:a="http://schemas.openxmlformats.org/drawingml/2006/main">
            <a:r>
              <a:t>Frame 2: relevant inheritance explanation linked to prior gene/allele learning.</a:t>
            </a:r>
          </a:p>
          <a:p xmlns:a="http://schemas.openxmlformats.org/drawingml/2006/main">
            <a:r>
              <a:t>Frames 3–4: source evidence, variation/uncertainty, credits and a no-advice boundary.</a:t>
            </a:r>
          </a:p>
          <a:p xmlns:a="http://schemas.openxmlformats.org/drawingml/2006/main">
            <a:r>
              <a:t>Opening State the question and explain why it is bounded. The audience knows what the presentation will and will not answer.</a:t>
            </a:r>
          </a:p>
          <a:p xmlns:a="http://schemas.openxmlformats.org/drawingml/2006/main">
            <a:r>
              <a:t>Biology core Use gene, allele, inheritance and probability accurately at Foundation level. Define terms before adding detail.</a:t>
            </a:r>
          </a:p>
          <a:p xmlns:a="http://schemas.openxmlformats.org/drawingml/2006/main">
            <a:r>
              <a:t>Evidence comparison Name both approved sources, their relevant agreement and one difference or limitation from the matrix.</a:t>
            </a:r>
          </a:p>
          <a:p xmlns:a="http://schemas.openxmlformats.org/drawingml/2006/main">
            <a:r>
              <a:t>Closing State variation and uncertainty, credit the sources and name the no-diagnosis/no-advice boundary.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We do: 3 minutes TOTAL across all slides in this stage.</a:t>
            </a:r>
          </a:p>
          <a:p xmlns:a="http://schemas.openxmlformats.org/drawingml/2006/main">
            <a:r>
              <a:t/>
            </a:r>
          </a:p>
          <a:p xmlns:a="http://schemas.openxmlformats.org/drawingml/2006/main">
            <a:r>
              <a:t>Give private think time before receiving a spoken, pointed or written choice.</a:t>
            </a:r>
          </a:p>
          <a:p xmlns:a="http://schemas.openxmlformats.org/drawingml/2006/main">
            <a:r>
              <a:t/>
            </a:r>
          </a:p>
          <a:p xmlns:a="http://schemas.openxmlformats.org/drawingml/2006/main">
            <a:r>
              <a:t>Ask what evidence or boundary clue changes the claim.</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Choose one question the evidence can answer and one that must be held for a qualified professional or a better source.</a:t>
            </a:r>
          </a:p>
          <a:p xmlns:a="http://schemas.openxmlformats.org/drawingml/2006/main">
            <a:r>
              <a:t>Answer Use the matrix when the question is within C44 and the approved evidence supports a bounded response.</a:t>
            </a:r>
          </a:p>
          <a:p xmlns:a="http://schemas.openxmlformats.org/drawingml/2006/main">
            <a:r>
              <a:t>Clarify Ask what the audience means when a word such as risk, cause or inherited is ambiguous.</a:t>
            </a:r>
          </a:p>
          <a:p xmlns:a="http://schemas.openxmlformats.org/drawingml/2006/main">
            <a:r>
              <a:t>Hold Say “The approved sources do not answer that” when evidence, scope or professional authority is absent.</a:t>
            </a:r>
          </a:p>
          <a:p xmlns:a="http://schemas.openxmlformats.org/drawingml/2006/main">
            <a:r>
              <a:t>Redirect Move personal health or safeguarding concerns to the school's approved support route, outside the presentation.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We do: 3 minutes TOTAL across all slides in this stage.</a:t>
            </a:r>
          </a:p>
          <a:p xmlns:a="http://schemas.openxmlformats.org/drawingml/2006/main">
            <a:r>
              <a:t/>
            </a:r>
          </a:p>
          <a:p xmlns:a="http://schemas.openxmlformats.org/drawingml/2006/main">
            <a:r>
              <a:t>Give private think time before receiving a spoken, pointed or written choice.</a:t>
            </a:r>
          </a:p>
          <a:p xmlns:a="http://schemas.openxmlformats.org/drawingml/2006/main">
            <a:r>
              <a:t/>
            </a:r>
          </a:p>
          <a:p xmlns:a="http://schemas.openxmlformats.org/drawingml/2006/main">
            <a:r>
              <a:t>Ask what evidence or boundary clue changes the claim.</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Choose one question the evidence can answer and one that must be held for a qualified professional or a better source.</a:t>
            </a:r>
          </a:p>
          <a:p xmlns:a="http://schemas.openxmlformats.org/drawingml/2006/main">
            <a:r>
              <a:t>Answer Use the matrix when the question is within C44 and the approved evidence supports a bounded response.</a:t>
            </a:r>
          </a:p>
          <a:p xmlns:a="http://schemas.openxmlformats.org/drawingml/2006/main">
            <a:r>
              <a:t>Clarify Ask what the audience means when a word such as risk, cause or inherited is ambiguous.</a:t>
            </a:r>
          </a:p>
          <a:p xmlns:a="http://schemas.openxmlformats.org/drawingml/2006/main">
            <a:r>
              <a:t>Hold Say “The approved sources do not answer that” when evidence, scope or professional authority is absent.</a:t>
            </a:r>
          </a:p>
          <a:p xmlns:a="http://schemas.openxmlformats.org/drawingml/2006/main">
            <a:r>
              <a:t>Redirect Move personal health or safeguarding concerns to the school's approved support route, outside the presentation.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 do 2: 3 minutes TOTAL across all slides in this stage.</a:t>
            </a:r>
          </a:p>
          <a:p xmlns:a="http://schemas.openxmlformats.org/drawingml/2006/main">
            <a:r>
              <a:t/>
            </a:r>
          </a:p>
          <a:p xmlns:a="http://schemas.openxmlformats.org/drawingml/2006/main">
            <a:r>
              <a:t>Keep diagnosis, advice, personal data and unsupported certainty outside the model.</a:t>
            </a:r>
          </a:p>
          <a:p xmlns:a="http://schemas.openxmlformats.org/drawingml/2006/main">
            <a:r>
              <a:t/>
            </a:r>
          </a:p>
          <a:p xmlns:a="http://schemas.openxmlformats.org/drawingml/2006/main">
            <a:r>
              <a:t>Model a repair or an honest hold when the source set cannot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Receive the question without requiring public disclosure or immediate performance.</a:t>
            </a:r>
          </a:p>
          <a:p xmlns:a="http://schemas.openxmlformats.org/drawingml/2006/main">
            <a:r>
              <a:t>Revise when the evidence supports a clearer or more accurate statement.</a:t>
            </a:r>
          </a:p>
          <a:p xmlns:a="http://schemas.openxmlformats.org/drawingml/2006/main">
            <a:r>
              <a:t>Hold the wording when the question asks for diagnosis, advice, personal data or evidence the sources do not provide.</a:t>
            </a:r>
          </a:p>
          <a:p xmlns:a="http://schemas.openxmlformats.org/drawingml/2006/main">
            <a:r>
              <a:t>Revise The audience notices a missing source credit, unclear term or wording stronger than the matrix supports.</a:t>
            </a:r>
          </a:p>
          <a:p xmlns:a="http://schemas.openxmlformats.org/drawingml/2006/main">
            <a:r>
              <a:t>Hold The audience asks for certainty, diagnosis, treatment advice or personal/family information.</a:t>
            </a:r>
          </a:p>
          <a:p xmlns:a="http://schemas.openxmlformats.org/drawingml/2006/main">
            <a:r>
              <a:t>Add a gap The question is scientific but the two-source set cannot answer it. Record the gap and a future source-check action.</a:t>
            </a:r>
          </a:p>
          <a:p xmlns:a="http://schemas.openxmlformats.org/drawingml/2006/main">
            <a:r>
              <a:t>Keep authorship The learner chooses the change and explains why. Adult exact-word scribing remains labelled as support.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 do 2: 3 minutes TOTAL across all slides in this stage.</a:t>
            </a:r>
          </a:p>
          <a:p xmlns:a="http://schemas.openxmlformats.org/drawingml/2006/main">
            <a:r>
              <a:t/>
            </a:r>
          </a:p>
          <a:p xmlns:a="http://schemas.openxmlformats.org/drawingml/2006/main">
            <a:r>
              <a:t>Keep diagnosis, advice, personal data and unsupported certainty outside the model.</a:t>
            </a:r>
          </a:p>
          <a:p xmlns:a="http://schemas.openxmlformats.org/drawingml/2006/main">
            <a:r>
              <a:t/>
            </a:r>
          </a:p>
          <a:p xmlns:a="http://schemas.openxmlformats.org/drawingml/2006/main">
            <a:r>
              <a:t>Model a repair or an honest hold when the source set cannot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Receive the question without requiring public disclosure or immediate performance.</a:t>
            </a:r>
          </a:p>
          <a:p xmlns:a="http://schemas.openxmlformats.org/drawingml/2006/main">
            <a:r>
              <a:t>Revise when the evidence supports a clearer or more accurate statement.</a:t>
            </a:r>
          </a:p>
          <a:p xmlns:a="http://schemas.openxmlformats.org/drawingml/2006/main">
            <a:r>
              <a:t>Hold the wording when the question asks for diagnosis, advice, personal data or evidence the sources do not provide.</a:t>
            </a:r>
          </a:p>
          <a:p xmlns:a="http://schemas.openxmlformats.org/drawingml/2006/main">
            <a:r>
              <a:t>Revise The audience notices a missing source credit, unclear term or wording stronger than the matrix supports.</a:t>
            </a:r>
          </a:p>
          <a:p xmlns:a="http://schemas.openxmlformats.org/drawingml/2006/main">
            <a:r>
              <a:t>Hold The audience asks for certainty, diagnosis, treatment advice or personal/family information.</a:t>
            </a:r>
          </a:p>
          <a:p xmlns:a="http://schemas.openxmlformats.org/drawingml/2006/main">
            <a:r>
              <a:t>Add a gap The question is scientific but the two-source set cannot answer it. Record the gap and a future source-check action.</a:t>
            </a:r>
          </a:p>
          <a:p xmlns:a="http://schemas.openxmlformats.org/drawingml/2006/main">
            <a:r>
              <a:t>Keep authorship The learner chooses the change and explains why. Adult exact-word scribing remains labelled as support.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We do 2: 4 minutes TOTAL across all slides in this stage.</a:t>
            </a:r>
          </a:p>
          <a:p xmlns:a="http://schemas.openxmlformats.org/drawingml/2006/main">
            <a:r>
              <a:t/>
            </a:r>
          </a:p>
          <a:p xmlns:a="http://schemas.openxmlformats.org/drawingml/2006/main">
            <a:r>
              <a:t>Let the learner operate or direct the shared source map.</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Point to the exact slide, card or sentence where each source is credited.</a:t>
            </a:r>
          </a:p>
          <a:p xmlns:a="http://schemas.openxmlformats.org/drawingml/2006/main">
            <a:r>
              <a:t>2 · Connect</a:t>
            </a:r>
          </a:p>
          <a:p xmlns:a="http://schemas.openxmlformats.org/drawingml/2006/main">
            <a:r>
              <a:t>Explain how one source finding supports the bounded inheritance statement.</a:t>
            </a:r>
          </a:p>
          <a:p xmlns:a="http://schemas.openxmlformats.org/drawingml/2006/main">
            <a:r>
              <a:t>3 · Limit</a:t>
            </a:r>
          </a:p>
          <a:p xmlns:a="http://schemas.openxmlformats.org/drawingml/2006/main">
            <a:r>
              <a:t>Rehearse a safe hold sentence for a question outside the evidence or authority boundary.</a:t>
            </a:r>
          </a:p>
          <a:p xmlns:a="http://schemas.openxmlformats.org/drawingml/2006/main">
            <a:r>
              <a:t>Opening rehearsal Question, respectful title and one-sentence Foundation core explanation.</a:t>
            </a:r>
          </a:p>
          <a:p xmlns:a="http://schemas.openxmlformats.org/drawingml/2006/main">
            <a:r>
              <a:t>Evidence rehearsal Agreement, difference and uncertainty with both local source locators visible.</a:t>
            </a:r>
          </a:p>
          <a:p xmlns:a="http://schemas.openxmlformats.org/drawingml/2006/main">
            <a:r>
              <a:t>Audience rehearsal Private think time, one approved question and the choice to answer, clarify, hold or redirect.</a:t>
            </a:r>
          </a:p>
          <a:p xmlns:a="http://schemas.openxmlformats.org/drawingml/2006/main">
            <a:r>
              <a:t>Closing rehearsal State what the evidence supports, what it cannot predict and which source check could happen next.</a:t>
            </a:r>
          </a:p>
          <a:p xmlns:a="http://schemas.openxmlformats.org/drawingml/2006/main">
            <a:r>
              <a:t>The W14L2 evidence matrix, its two teacher-approved local sources, and current-main LAUNCH Science W12–W13 lessons.</a:t>
            </a:r>
          </a:p>
          <a:p xmlns:a="http://schemas.openxmlformats.org/drawingml/2006/main">
            <a:r>
              <a:t>Run a sixty-second paired rehearsal without personal examples. The listener names one source link and asks one bounded question; the speaker records a justified revise/hold decision.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We do 2: 4 minutes TOTAL across all slides in this stage.</a:t>
            </a:r>
          </a:p>
          <a:p xmlns:a="http://schemas.openxmlformats.org/drawingml/2006/main">
            <a:r>
              <a:t/>
            </a:r>
          </a:p>
          <a:p xmlns:a="http://schemas.openxmlformats.org/drawingml/2006/main">
            <a:r>
              <a:t>Let the learner operate or direct the shared source map.</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Point to the exact slide, card or sentence where each source is credited.</a:t>
            </a:r>
          </a:p>
          <a:p xmlns:a="http://schemas.openxmlformats.org/drawingml/2006/main">
            <a:r>
              <a:t>2 · Connect</a:t>
            </a:r>
          </a:p>
          <a:p xmlns:a="http://schemas.openxmlformats.org/drawingml/2006/main">
            <a:r>
              <a:t>Explain how one source finding supports the bounded inheritance statement.</a:t>
            </a:r>
          </a:p>
          <a:p xmlns:a="http://schemas.openxmlformats.org/drawingml/2006/main">
            <a:r>
              <a:t>3 · Limit</a:t>
            </a:r>
          </a:p>
          <a:p xmlns:a="http://schemas.openxmlformats.org/drawingml/2006/main">
            <a:r>
              <a:t>Rehearse a safe hold sentence for a question outside the evidence or authority boundary.</a:t>
            </a:r>
          </a:p>
          <a:p xmlns:a="http://schemas.openxmlformats.org/drawingml/2006/main">
            <a:r>
              <a:t>Opening rehearsal Question, respectful title and one-sentence Foundation core explanation.</a:t>
            </a:r>
          </a:p>
          <a:p xmlns:a="http://schemas.openxmlformats.org/drawingml/2006/main">
            <a:r>
              <a:t>Evidence rehearsal Agreement, difference and uncertainty with both local source locators visible.</a:t>
            </a:r>
          </a:p>
          <a:p xmlns:a="http://schemas.openxmlformats.org/drawingml/2006/main">
            <a:r>
              <a:t>Audience rehearsal Private think time, one approved question and the choice to answer, clarify, hold or redirect.</a:t>
            </a:r>
          </a:p>
          <a:p xmlns:a="http://schemas.openxmlformats.org/drawingml/2006/main">
            <a:r>
              <a:t>Closing rehearsal State what the evidence supports, what it cannot predict and which source check could happen next.</a:t>
            </a:r>
          </a:p>
          <a:p xmlns:a="http://schemas.openxmlformats.org/drawingml/2006/main">
            <a:r>
              <a:t>The W14L2 evidence matrix, its two teacher-approved local sources, and current-main LAUNCH Science W12–W13 lessons.</a:t>
            </a:r>
          </a:p>
          <a:p xmlns:a="http://schemas.openxmlformats.org/drawingml/2006/main">
            <a:r>
              <a:t>Run a sixty-second paired rehearsal without personal examples. The listener names one source link and asks one bounded question; the speaker records a justified revise/hold decision.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We do 2: 4 minutes TOTAL across all slides in this stage.</a:t>
            </a:r>
          </a:p>
          <a:p xmlns:a="http://schemas.openxmlformats.org/drawingml/2006/main">
            <a:r>
              <a:t/>
            </a:r>
          </a:p>
          <a:p xmlns:a="http://schemas.openxmlformats.org/drawingml/2006/main">
            <a:r>
              <a:t>Let the learner operate or direct the shared source map.</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Point to the exact slide, card or sentence where each source is credited.</a:t>
            </a:r>
          </a:p>
          <a:p xmlns:a="http://schemas.openxmlformats.org/drawingml/2006/main">
            <a:r>
              <a:t>2 · Connect</a:t>
            </a:r>
          </a:p>
          <a:p xmlns:a="http://schemas.openxmlformats.org/drawingml/2006/main">
            <a:r>
              <a:t>Explain how one source finding supports the bounded inheritance statement.</a:t>
            </a:r>
          </a:p>
          <a:p xmlns:a="http://schemas.openxmlformats.org/drawingml/2006/main">
            <a:r>
              <a:t>3 · Limit</a:t>
            </a:r>
          </a:p>
          <a:p xmlns:a="http://schemas.openxmlformats.org/drawingml/2006/main">
            <a:r>
              <a:t>Rehearse a safe hold sentence for a question outside the evidence or authority boundary.</a:t>
            </a:r>
          </a:p>
          <a:p xmlns:a="http://schemas.openxmlformats.org/drawingml/2006/main">
            <a:r>
              <a:t>Opening rehearsal Question, respectful title and one-sentence Foundation core explanation.</a:t>
            </a:r>
          </a:p>
          <a:p xmlns:a="http://schemas.openxmlformats.org/drawingml/2006/main">
            <a:r>
              <a:t>Evidence rehearsal Agreement, difference and uncertainty with both local source locators visible.</a:t>
            </a:r>
          </a:p>
          <a:p xmlns:a="http://schemas.openxmlformats.org/drawingml/2006/main">
            <a:r>
              <a:t>Audience rehearsal Private think time, one approved question and the choice to answer, clarify, hold or redirect.</a:t>
            </a:r>
          </a:p>
          <a:p xmlns:a="http://schemas.openxmlformats.org/drawingml/2006/main">
            <a:r>
              <a:t>Closing rehearsal State what the evidence supports, what it cannot predict and which source check could happen next.</a:t>
            </a:r>
          </a:p>
          <a:p xmlns:a="http://schemas.openxmlformats.org/drawingml/2006/main">
            <a:r>
              <a:t>The W14L2 evidence matrix, its two teacher-approved local sources, and current-main LAUNCH Science W12–W13 lessons.</a:t>
            </a:r>
          </a:p>
          <a:p xmlns:a="http://schemas.openxmlformats.org/drawingml/2006/main">
            <a:r>
              <a:t>Run a sixty-second paired rehearsal without personal examples. The listener names one source link and asks one bounded question; the speaker records a justified revise/hold decision.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and deliver the presentation through the agreed private or small-audience route. Include the question, inheritance explanation, two credited source findings, variation/uncertainty and the boundary. Record the audience question and your evidence-led revise/hold decision.</a:t>
            </a:r>
          </a:p>
          <a:p xmlns:a="http://schemas.openxmlformats.org/drawingml/2006/main">
            <a:r>
              <a:t>A · Build Create four clear sections: question, Foundation biology, two-source evidence comparison, and variation/uncertainty with source credits.</a:t>
            </a:r>
          </a:p>
          <a:p xmlns:a="http://schemas.openxmlformats.org/drawingml/2006/main">
            <a:r>
              <a:t>B · Deliver Use the agreed written, narrated, recorded or private route. Do not require public performance or a personal connection.</a:t>
            </a:r>
          </a:p>
          <a:p xmlns:a="http://schemas.openxmlformats.org/drawingml/2006/main">
            <a:r>
              <a:t>C · Receive Take one approved audience question. Answer from evidence, ask for clarification, hold, or redirect safely.</a:t>
            </a:r>
          </a:p>
          <a:p xmlns:a="http://schemas.openxmlformats.org/drawingml/2006/main">
            <a:r>
              <a:t>D · Record influence Write the question, the decision to revise or hold, the evidence reason and the exact visible change or future check.</a:t>
            </a:r>
          </a:p>
          <a:p xmlns:a="http://schemas.openxmlformats.org/drawingml/2006/main">
            <a:r>
              <a:t>Opening check State the bounded question, why it matters to the C44 research outcome and which approved sources will be used. Do not open with a dramatic personal story, an unverified statistic or a question that invites the audience to disclose health or family information.</a:t>
            </a:r>
          </a:p>
          <a:p xmlns:a="http://schemas.openxmlformats.org/drawingml/2006/main">
            <a:r>
              <a:t>Science check Explain the Foundation relationship among gene, allele, inherited combination, probability and variation before adding detail. Keep source evidence separate from learner reasoning. A presentation should help the audience follow the biology, not reward technical vocabulary that has not been explained.</a:t>
            </a:r>
          </a:p>
          <a:p xmlns:a="http://schemas.openxmlformats.org/drawingml/2006/main">
            <a:r>
              <a:t>Credit check Place a short publisher and local-locator credit beside each used finding, then keep the fuller source trail in the evidence matrix. An image, diagram or number needs the same trace as prose. Remove material whose origin or relevance cannot be checked.</a:t>
            </a:r>
          </a:p>
          <a:p xmlns:a="http://schemas.openxmlformats.org/drawingml/2006/main">
            <a:r>
              <a:t>Audience check Invite a question about the science or evidence, not about anyone's body or family. Receive it, classify it as answer, clarify, hold or redirect, and state the reason. A respectful hold is stronger than a confident answer the approved sources do not support.</a:t>
            </a:r>
          </a:p>
          <a:p xmlns:a="http://schemas.openxmlformats.org/drawingml/2006/main">
            <a:r>
              <a:t>◆ Supported</a:t>
            </a:r>
          </a:p>
          <a:p xmlns:a="http://schemas.openxmlformats.org/drawingml/2006/main">
            <a:r>
              <a:t>Use a four-panel frame, prepared vocabulary and a private explanation to a trusted adult or approved recording route.</a:t>
            </a:r>
          </a:p>
          <a:p xmlns:a="http://schemas.openxmlformats.org/drawingml/2006/main">
            <a:r>
              <a:t>▲ Standard</a:t>
            </a:r>
          </a:p>
          <a:p xmlns:a="http://schemas.openxmlformats.org/drawingml/2006/main">
            <a:r>
              <a:t>Build an independent evidence-led presentation with two credited sources, one uncertainty and one response-led revision.</a:t>
            </a:r>
          </a:p>
          <a:p xmlns:a="http://schemas.openxmlformats.org/drawingml/2006/main">
            <a:r>
              <a:t>Stretch</a:t>
            </a:r>
          </a:p>
          <a:p xmlns:a="http://schemas.openxmlformats.org/drawingml/2006/main">
            <a:r>
              <a:t>Evaluate a misleading deterministic claim, explain why the evidence does not support it and adapt the presentation for a different audience.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and deliver the presentation through the agreed private or small-audience route. Include the question, inheritance explanation, two credited source findings, variation/uncertainty and the boundary. Record the audience question and your evidence-led revise/hold decision.</a:t>
            </a:r>
          </a:p>
          <a:p xmlns:a="http://schemas.openxmlformats.org/drawingml/2006/main">
            <a:r>
              <a:t>A · Build Create four clear sections: question, Foundation biology, two-source evidence comparison, and variation/uncertainty with source credits.</a:t>
            </a:r>
          </a:p>
          <a:p xmlns:a="http://schemas.openxmlformats.org/drawingml/2006/main">
            <a:r>
              <a:t>B · Deliver Use the agreed written, narrated, recorded or private route. Do not require public performance or a personal connection.</a:t>
            </a:r>
          </a:p>
          <a:p xmlns:a="http://schemas.openxmlformats.org/drawingml/2006/main">
            <a:r>
              <a:t>C · Receive Take one approved audience question. Answer from evidence, ask for clarification, hold, or redirect safely.</a:t>
            </a:r>
          </a:p>
          <a:p xmlns:a="http://schemas.openxmlformats.org/drawingml/2006/main">
            <a:r>
              <a:t>D · Record influence Write the question, the decision to revise or hold, the evidence reason and the exact visible change or future check.</a:t>
            </a:r>
          </a:p>
          <a:p xmlns:a="http://schemas.openxmlformats.org/drawingml/2006/main">
            <a:r>
              <a:t>Opening check State the bounded question, why it matters to the C44 research outcome and which approved sources will be used. Do not open with a dramatic personal story, an unverified statistic or a question that invites the audience to disclose health or family information.</a:t>
            </a:r>
          </a:p>
          <a:p xmlns:a="http://schemas.openxmlformats.org/drawingml/2006/main">
            <a:r>
              <a:t>Science check Explain the Foundation relationship among gene, allele, inherited combination, probability and variation before adding detail. Keep source evidence separate from learner reasoning. A presentation should help the audience follow the biology, not reward technical vocabulary that has not been explained.</a:t>
            </a:r>
          </a:p>
          <a:p xmlns:a="http://schemas.openxmlformats.org/drawingml/2006/main">
            <a:r>
              <a:t>Credit check Place a short publisher and local-locator credit beside each used finding, then keep the fuller source trail in the evidence matrix. An image, diagram or number needs the same trace as prose. Remove material whose origin or relevance cannot be checked.</a:t>
            </a:r>
          </a:p>
          <a:p xmlns:a="http://schemas.openxmlformats.org/drawingml/2006/main">
            <a:r>
              <a:t>Audience check Invite a question about the science or evidence, not about anyone's body or family. Receive it, classify it as answer, clarify, hold or redirect, and state the reason. A respectful hold is stronger than a confident answer the approved sources do not support.</a:t>
            </a:r>
          </a:p>
          <a:p xmlns:a="http://schemas.openxmlformats.org/drawingml/2006/main">
            <a:r>
              <a:t>◆ Supported</a:t>
            </a:r>
          </a:p>
          <a:p xmlns:a="http://schemas.openxmlformats.org/drawingml/2006/main">
            <a:r>
              <a:t>Use a four-panel frame, prepared vocabulary and a private explanation to a trusted adult or approved recording route.</a:t>
            </a:r>
          </a:p>
          <a:p xmlns:a="http://schemas.openxmlformats.org/drawingml/2006/main">
            <a:r>
              <a:t>▲ Standard</a:t>
            </a:r>
          </a:p>
          <a:p xmlns:a="http://schemas.openxmlformats.org/drawingml/2006/main">
            <a:r>
              <a:t>Build an independent evidence-led presentation with two credited sources, one uncertainty and one response-led revision.</a:t>
            </a:r>
          </a:p>
          <a:p xmlns:a="http://schemas.openxmlformats.org/drawingml/2006/main">
            <a:r>
              <a:t>Stretch</a:t>
            </a:r>
          </a:p>
          <a:p xmlns:a="http://schemas.openxmlformats.org/drawingml/2006/main">
            <a:r>
              <a:t>Evaluate a misleading deterministic claim, explain why the evidence does not support it and adapt the presentation for a different audience.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and deliver the presentation through the agreed private or small-audience route. Include the question, inheritance explanation, two credited source findings, variation/uncertainty and the boundary. Record the audience question and your evidence-led revise/hold decision.</a:t>
            </a:r>
          </a:p>
          <a:p xmlns:a="http://schemas.openxmlformats.org/drawingml/2006/main">
            <a:r>
              <a:t>A · Build Create four clear sections: question, Foundation biology, two-source evidence comparison, and variation/uncertainty with source credits.</a:t>
            </a:r>
          </a:p>
          <a:p xmlns:a="http://schemas.openxmlformats.org/drawingml/2006/main">
            <a:r>
              <a:t>B · Deliver Use the agreed written, narrated, recorded or private route. Do not require public performance or a personal connection.</a:t>
            </a:r>
          </a:p>
          <a:p xmlns:a="http://schemas.openxmlformats.org/drawingml/2006/main">
            <a:r>
              <a:t>C · Receive Take one approved audience question. Answer from evidence, ask for clarification, hold, or redirect safely.</a:t>
            </a:r>
          </a:p>
          <a:p xmlns:a="http://schemas.openxmlformats.org/drawingml/2006/main">
            <a:r>
              <a:t>D · Record influence Write the question, the decision to revise or hold, the evidence reason and the exact visible change or future check.</a:t>
            </a:r>
          </a:p>
          <a:p xmlns:a="http://schemas.openxmlformats.org/drawingml/2006/main">
            <a:r>
              <a:t>Opening check State the bounded question, why it matters to the C44 research outcome and which approved sources will be used. Do not open with a dramatic personal story, an unverified statistic or a question that invites the audience to disclose health or family information.</a:t>
            </a:r>
          </a:p>
          <a:p xmlns:a="http://schemas.openxmlformats.org/drawingml/2006/main">
            <a:r>
              <a:t>Science check Explain the Foundation relationship among gene, allele, inherited combination, probability and variation before adding detail. Keep source evidence separate from learner reasoning. A presentation should help the audience follow the biology, not reward technical vocabulary that has not been explained.</a:t>
            </a:r>
          </a:p>
          <a:p xmlns:a="http://schemas.openxmlformats.org/drawingml/2006/main">
            <a:r>
              <a:t>Credit check Place a short publisher and local-locator credit beside each used finding, then keep the fuller source trail in the evidence matrix. An image, diagram or number needs the same trace as prose. Remove material whose origin or relevance cannot be checked.</a:t>
            </a:r>
          </a:p>
          <a:p xmlns:a="http://schemas.openxmlformats.org/drawingml/2006/main">
            <a:r>
              <a:t>Audience check Invite a question about the science or evidence, not about anyone's body or family. Receive it, classify it as answer, clarify, hold or redirect, and state the reason. A respectful hold is stronger than a confident answer the approved sources do not support.</a:t>
            </a:r>
          </a:p>
          <a:p xmlns:a="http://schemas.openxmlformats.org/drawingml/2006/main">
            <a:r>
              <a:t>◆ Supported</a:t>
            </a:r>
          </a:p>
          <a:p xmlns:a="http://schemas.openxmlformats.org/drawingml/2006/main">
            <a:r>
              <a:t>Use a four-panel frame, prepared vocabulary and a private explanation to a trusted adult or approved recording route.</a:t>
            </a:r>
          </a:p>
          <a:p xmlns:a="http://schemas.openxmlformats.org/drawingml/2006/main">
            <a:r>
              <a:t>▲ Standard</a:t>
            </a:r>
          </a:p>
          <a:p xmlns:a="http://schemas.openxmlformats.org/drawingml/2006/main">
            <a:r>
              <a:t>Build an independent evidence-led presentation with two credited sources, one uncertainty and one response-led revision.</a:t>
            </a:r>
          </a:p>
          <a:p xmlns:a="http://schemas.openxmlformats.org/drawingml/2006/main">
            <a:r>
              <a:t>Stretch</a:t>
            </a:r>
          </a:p>
          <a:p xmlns:a="http://schemas.openxmlformats.org/drawingml/2006/main">
            <a:r>
              <a:t>Evaluate a misleading deterministic claim, explain why the evidence does not support it and adapt the presentation for a different audience.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and deliver the presentation through the agreed private or small-audience route. Include the question, inheritance explanation, two credited source findings, variation/uncertainty and the boundary. Record the audience question and your evidence-led revise/hold decision.</a:t>
            </a:r>
          </a:p>
          <a:p xmlns:a="http://schemas.openxmlformats.org/drawingml/2006/main">
            <a:r>
              <a:t>A · Build Create four clear sections: question, Foundation biology, two-source evidence comparison, and variation/uncertainty with source credits.</a:t>
            </a:r>
          </a:p>
          <a:p xmlns:a="http://schemas.openxmlformats.org/drawingml/2006/main">
            <a:r>
              <a:t>B · Deliver Use the agreed written, narrated, recorded or private route. Do not require public performance or a personal connection.</a:t>
            </a:r>
          </a:p>
          <a:p xmlns:a="http://schemas.openxmlformats.org/drawingml/2006/main">
            <a:r>
              <a:t>C · Receive Take one approved audience question. Answer from evidence, ask for clarification, hold, or redirect safely.</a:t>
            </a:r>
          </a:p>
          <a:p xmlns:a="http://schemas.openxmlformats.org/drawingml/2006/main">
            <a:r>
              <a:t>D · Record influence Write the question, the decision to revise or hold, the evidence reason and the exact visible change or future check.</a:t>
            </a:r>
          </a:p>
          <a:p xmlns:a="http://schemas.openxmlformats.org/drawingml/2006/main">
            <a:r>
              <a:t>Opening check State the bounded question, why it matters to the C44 research outcome and which approved sources will be used. Do not open with a dramatic personal story, an unverified statistic or a question that invites the audience to disclose health or family information.</a:t>
            </a:r>
          </a:p>
          <a:p xmlns:a="http://schemas.openxmlformats.org/drawingml/2006/main">
            <a:r>
              <a:t>Science check Explain the Foundation relationship among gene, allele, inherited combination, probability and variation before adding detail. Keep source evidence separate from learner reasoning. A presentation should help the audience follow the biology, not reward technical vocabulary that has not been explained.</a:t>
            </a:r>
          </a:p>
          <a:p xmlns:a="http://schemas.openxmlformats.org/drawingml/2006/main">
            <a:r>
              <a:t>Credit check Place a short publisher and local-locator credit beside each used finding, then keep the fuller source trail in the evidence matrix. An image, diagram or number needs the same trace as prose. Remove material whose origin or relevance cannot be checked.</a:t>
            </a:r>
          </a:p>
          <a:p xmlns:a="http://schemas.openxmlformats.org/drawingml/2006/main">
            <a:r>
              <a:t>Audience check Invite a question about the science or evidence, not about anyone's body or family. Receive it, classify it as answer, clarify, hold or redirect, and state the reason. A respectful hold is stronger than a confident answer the approved sources do not support.</a:t>
            </a:r>
          </a:p>
          <a:p xmlns:a="http://schemas.openxmlformats.org/drawingml/2006/main">
            <a:r>
              <a:t>◆ Supported</a:t>
            </a:r>
          </a:p>
          <a:p xmlns:a="http://schemas.openxmlformats.org/drawingml/2006/main">
            <a:r>
              <a:t>Use a four-panel frame, prepared vocabulary and a private explanation to a trusted adult or approved recording route.</a:t>
            </a:r>
          </a:p>
          <a:p xmlns:a="http://schemas.openxmlformats.org/drawingml/2006/main">
            <a:r>
              <a:t>▲ Standard</a:t>
            </a:r>
          </a:p>
          <a:p xmlns:a="http://schemas.openxmlformats.org/drawingml/2006/main">
            <a:r>
              <a:t>Build an independent evidence-led presentation with two credited sources, one uncertainty and one response-led revision.</a:t>
            </a:r>
          </a:p>
          <a:p xmlns:a="http://schemas.openxmlformats.org/drawingml/2006/main">
            <a:r>
              <a:t>Stretch</a:t>
            </a:r>
          </a:p>
          <a:p xmlns:a="http://schemas.openxmlformats.org/drawingml/2006/main">
            <a:r>
              <a:t>Evaluate a misleading deterministic claim, explain why the evidence does not support it and adapt the presentation for a different audience.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and deliver the presentation through the agreed private or small-audience route. Include the question, inheritance explanation, two credited source findings, variation/uncertainty and the boundary. Record the audience question and your evidence-led revise/hold decision.</a:t>
            </a:r>
          </a:p>
          <a:p xmlns:a="http://schemas.openxmlformats.org/drawingml/2006/main">
            <a:r>
              <a:t>A · Build Create four clear sections: question, Foundation biology, two-source evidence comparison, and variation/uncertainty with source credits.</a:t>
            </a:r>
          </a:p>
          <a:p xmlns:a="http://schemas.openxmlformats.org/drawingml/2006/main">
            <a:r>
              <a:t>B · Deliver Use the agreed written, narrated, recorded or private route. Do not require public performance or a personal connection.</a:t>
            </a:r>
          </a:p>
          <a:p xmlns:a="http://schemas.openxmlformats.org/drawingml/2006/main">
            <a:r>
              <a:t>C · Receive Take one approved audience question. Answer from evidence, ask for clarification, hold, or redirect safely.</a:t>
            </a:r>
          </a:p>
          <a:p xmlns:a="http://schemas.openxmlformats.org/drawingml/2006/main">
            <a:r>
              <a:t>D · Record influence Write the question, the decision to revise or hold, the evidence reason and the exact visible change or future check.</a:t>
            </a:r>
          </a:p>
          <a:p xmlns:a="http://schemas.openxmlformats.org/drawingml/2006/main">
            <a:r>
              <a:t>Opening check State the bounded question, why it matters to the C44 research outcome and which approved sources will be used. Do not open with a dramatic personal story, an unverified statistic or a question that invites the audience to disclose health or family information.</a:t>
            </a:r>
          </a:p>
          <a:p xmlns:a="http://schemas.openxmlformats.org/drawingml/2006/main">
            <a:r>
              <a:t>Science check Explain the Foundation relationship among gene, allele, inherited combination, probability and variation before adding detail. Keep source evidence separate from learner reasoning. A presentation should help the audience follow the biology, not reward technical vocabulary that has not been explained.</a:t>
            </a:r>
          </a:p>
          <a:p xmlns:a="http://schemas.openxmlformats.org/drawingml/2006/main">
            <a:r>
              <a:t>Credit check Place a short publisher and local-locator credit beside each used finding, then keep the fuller source trail in the evidence matrix. An image, diagram or number needs the same trace as prose. Remove material whose origin or relevance cannot be checked.</a:t>
            </a:r>
          </a:p>
          <a:p xmlns:a="http://schemas.openxmlformats.org/drawingml/2006/main">
            <a:r>
              <a:t>Audience check Invite a question about the science or evidence, not about anyone's body or family. Receive it, classify it as answer, clarify, hold or redirect, and state the reason. A respectful hold is stronger than a confident answer the approved sources do not support.</a:t>
            </a:r>
          </a:p>
          <a:p xmlns:a="http://schemas.openxmlformats.org/drawingml/2006/main">
            <a:r>
              <a:t>◆ Supported</a:t>
            </a:r>
          </a:p>
          <a:p xmlns:a="http://schemas.openxmlformats.org/drawingml/2006/main">
            <a:r>
              <a:t>Use a four-panel frame, prepared vocabulary and a private explanation to a trusted adult or approved recording route.</a:t>
            </a:r>
          </a:p>
          <a:p xmlns:a="http://schemas.openxmlformats.org/drawingml/2006/main">
            <a:r>
              <a:t>▲ Standard</a:t>
            </a:r>
          </a:p>
          <a:p xmlns:a="http://schemas.openxmlformats.org/drawingml/2006/main">
            <a:r>
              <a:t>Build an independent evidence-led presentation with two credited sources, one uncertainty and one response-led revision.</a:t>
            </a:r>
          </a:p>
          <a:p xmlns:a="http://schemas.openxmlformats.org/drawingml/2006/main">
            <a:r>
              <a:t>Stretch</a:t>
            </a:r>
          </a:p>
          <a:p xmlns:a="http://schemas.openxmlformats.org/drawingml/2006/main">
            <a:r>
              <a:t>Evaluate a misleading deterministic claim, explain why the evidence does not support it and adapt the presentation for a different audience.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Exit: 4 minutes TOTAL across all slides in this stage.</a:t>
            </a:r>
          </a:p>
          <a:p xmlns:a="http://schemas.openxmlformats.org/drawingml/2006/main">
            <a:r>
              <a:t/>
            </a:r>
          </a:p>
          <a:p xmlns:a="http://schemas.openxmlformats.org/drawingml/2006/main">
            <a:r>
              <a:t>Receive the learner's evidence and limit; do not upgrade either.</a:t>
            </a:r>
          </a:p>
          <a:p xmlns:a="http://schemas.openxmlformats.org/drawingml/2006/main">
            <a:r>
              <a:t/>
            </a:r>
          </a:p>
          <a:p xmlns:a="http://schemas.openxmlformats.org/drawingml/2006/main">
            <a:r>
              <a:t>Name the receiving role and the next report-back point.</a:t>
            </a:r>
          </a:p>
          <a:p xmlns:a="http://schemas.openxmlformats.org/drawingml/2006/main">
            <a:r>
              <a:t/>
            </a:r>
          </a:p>
          <a:p xmlns:a="http://schemas.openxmlformats.org/drawingml/2006/main">
            <a:r>
              <a:t>Close without upgrading The presentation and response trail are potential lesson evidence only; any formal assessment decision follows the approved specification and centre process.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Complete: 'The evidence supports…; it cannot predict…; the audience asked…; I revised/held because…'.</a:t>
            </a:r>
          </a:p>
          <a:p xmlns:a="http://schemas.openxmlformats.org/drawingml/2006/main">
            <a:r>
              <a:t>Evidence link Name one supported inheritance statement and the two approved locators that underpin it.</a:t>
            </a:r>
          </a:p>
          <a:p xmlns:a="http://schemas.openxmlformats.org/drawingml/2006/main">
            <a:r>
              <a:t>Limit State what the evidence cannot diagnose, guarantee or advise for an individual person.</a:t>
            </a:r>
          </a:p>
          <a:p xmlns:a="http://schemas.openxmlformats.org/drawingml/2006/main">
            <a:r>
              <a:t>Audience influence Describe the exact revision or hold and why the matrix justified that response.</a:t>
            </a:r>
          </a:p>
          <a:p xmlns:a="http://schemas.openxmlformats.org/drawingml/2006/main">
            <a:r>
              <a:t>Next check Name one missing source, wording or accessibility action and who owns it.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SCI_L_W14L3_Genetic_Condition_Presentation_Do.html. Exit: 4 minutes TOTAL across all slides in this stage.</a:t>
            </a:r>
          </a:p>
          <a:p xmlns:a="http://schemas.openxmlformats.org/drawingml/2006/main">
            <a:r>
              <a:t/>
            </a:r>
          </a:p>
          <a:p xmlns:a="http://schemas.openxmlformats.org/drawingml/2006/main">
            <a:r>
              <a:t>Receive the learner's evidence and limit; do not upgrade either.</a:t>
            </a:r>
          </a:p>
          <a:p xmlns:a="http://schemas.openxmlformats.org/drawingml/2006/main">
            <a:r>
              <a:t/>
            </a:r>
          </a:p>
          <a:p xmlns:a="http://schemas.openxmlformats.org/drawingml/2006/main">
            <a:r>
              <a:t>Name the receiving role and the next report-back point.</a:t>
            </a:r>
          </a:p>
          <a:p xmlns:a="http://schemas.openxmlformats.org/drawingml/2006/main">
            <a:r>
              <a:t/>
            </a:r>
          </a:p>
          <a:p xmlns:a="http://schemas.openxmlformats.org/drawingml/2006/main">
            <a:r>
              <a:t>Close without upgrading The presentation and response trail are potential lesson evidence only; any formal assessment decision follows the approved specification and centre process.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Complete: 'The evidence supports…; it cannot predict…; the audience asked…; I revised/held because…'.</a:t>
            </a:r>
          </a:p>
          <a:p xmlns:a="http://schemas.openxmlformats.org/drawingml/2006/main">
            <a:r>
              <a:t>Evidence link Name one supported inheritance statement and the two approved locators that underpin it.</a:t>
            </a:r>
          </a:p>
          <a:p xmlns:a="http://schemas.openxmlformats.org/drawingml/2006/main">
            <a:r>
              <a:t>Limit State what the evidence cannot diagnose, guarantee or advise for an individual person.</a:t>
            </a:r>
          </a:p>
          <a:p xmlns:a="http://schemas.openxmlformats.org/drawingml/2006/main">
            <a:r>
              <a:t>Audience influence Describe the exact revision or hold and why the matrix justified that response.</a:t>
            </a:r>
          </a:p>
          <a:p xmlns:a="http://schemas.openxmlformats.org/drawingml/2006/main">
            <a:r>
              <a:t>Next check Name one missing source, wording or accessibility action and who owns it.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SCI_L_W14L3_Genetic_Condition_Presentation_Do.html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9ef96d405a4c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96ff815c414285" /><Relationship Type="http://schemas.openxmlformats.org/officeDocument/2006/relationships/slideLayout" Target="/ppt/slideLayouts/slideLayout1.xml" Id="Rb07f65d28d474c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7f65d28d474c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326db294844a96" /><Relationship Type="http://schemas.openxmlformats.org/officeDocument/2006/relationships/hyperlink" Target="SCI_L_W14L3_Genetic_Condition_Presentation_Do.html" TargetMode="External" Id="Rfad0ce6df8e64b16" /><Relationship Type="http://schemas.openxmlformats.org/officeDocument/2006/relationships/notesSlide" Target="/ppt/notesSlides/notesSlide1.xml" Id="Rf78e412716af4d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18a4a15cb6406f" /><Relationship Type="http://schemas.openxmlformats.org/officeDocument/2006/relationships/notesSlide" Target="/ppt/notesSlides/notesSlide2.xml" Id="Rd5dab79be8d346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7a19443dff4795" /><Relationship Type="http://schemas.openxmlformats.org/officeDocument/2006/relationships/notesSlide" Target="/ppt/notesSlides/notesSlide3.xml" Id="R2fc587fbe4f54d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5f25221be4443d" /><Relationship Type="http://schemas.openxmlformats.org/officeDocument/2006/relationships/notesSlide" Target="/ppt/notesSlides/notesSlide4.xml" Id="R7ea9482a69404a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2183c611b74f1f" /><Relationship Type="http://schemas.openxmlformats.org/officeDocument/2006/relationships/notesSlide" Target="/ppt/notesSlides/notesSlide5.xml" Id="Ra6e713783d084d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0ac0379eb4427f" /><Relationship Type="http://schemas.openxmlformats.org/officeDocument/2006/relationships/image" Target="/ppt/media/image.png" Id="R99a2cb9a124c432e" /><Relationship Type="http://schemas.openxmlformats.org/officeDocument/2006/relationships/notesSlide" Target="/ppt/notesSlides/notesSlide6.xml" Id="Ra1034be4689b40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b6a5b6bd234554" /><Relationship Type="http://schemas.openxmlformats.org/officeDocument/2006/relationships/notesSlide" Target="/ppt/notesSlides/notesSlide7.xml" Id="R23bc7fb64f254d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7f47a8d0624b36" /><Relationship Type="http://schemas.openxmlformats.org/officeDocument/2006/relationships/notesSlide" Target="/ppt/notesSlides/notesSlide8.xml" Id="Rb0a49072832749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7ddb97c6a9418f" /><Relationship Type="http://schemas.openxmlformats.org/officeDocument/2006/relationships/notesSlide" Target="/ppt/notesSlides/notesSlide9.xml" Id="R82addef77e5040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841ac316034c39" /><Relationship Type="http://schemas.openxmlformats.org/officeDocument/2006/relationships/notesSlide" Target="/ppt/notesSlides/notesSlide10.xml" Id="R37ebd7e1214c42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677a201bcf4f32" /><Relationship Type="http://schemas.openxmlformats.org/officeDocument/2006/relationships/notesSlide" Target="/ppt/notesSlides/notesSlide11.xml" Id="Rc704442f03b344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39d04e8ce24834" /><Relationship Type="http://schemas.openxmlformats.org/officeDocument/2006/relationships/notesSlide" Target="/ppt/notesSlides/notesSlide12.xml" Id="R45f1f9c8f09f43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36cd38945554e9e" /><Relationship Type="http://schemas.openxmlformats.org/officeDocument/2006/relationships/notesSlide" Target="/ppt/notesSlides/notesSlide13.xml" Id="Rc0d545b301cd470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4a7fd926d8e4002" /><Relationship Type="http://schemas.openxmlformats.org/officeDocument/2006/relationships/notesSlide" Target="/ppt/notesSlides/notesSlide14.xml" Id="R86767bbc681243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044e268db6b4292" /><Relationship Type="http://schemas.openxmlformats.org/officeDocument/2006/relationships/notesSlide" Target="/ppt/notesSlides/notesSlide15.xml" Id="Rb7ae41bd51e8471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65164f9fe2249c7" /><Relationship Type="http://schemas.openxmlformats.org/officeDocument/2006/relationships/notesSlide" Target="/ppt/notesSlides/notesSlide16.xml" Id="R1b5f04820b85473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e55d33f500843ba" /><Relationship Type="http://schemas.openxmlformats.org/officeDocument/2006/relationships/notesSlide" Target="/ppt/notesSlides/notesSlide17.xml" Id="R47ff4e265ac9472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950d850c5014774" /><Relationship Type="http://schemas.openxmlformats.org/officeDocument/2006/relationships/notesSlide" Target="/ppt/notesSlides/notesSlide18.xml" Id="Rf3349cca9fbc4b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4e28900aeed40bf" /><Relationship Type="http://schemas.openxmlformats.org/officeDocument/2006/relationships/notesSlide" Target="/ppt/notesSlides/notesSlide19.xml" Id="R5b5a8c4e5d27403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cf18d048a884655" /><Relationship Type="http://schemas.openxmlformats.org/officeDocument/2006/relationships/notesSlide" Target="/ppt/notesSlides/notesSlide20.xml" Id="Rfe5336e9f98347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a740d73b407449e" /><Relationship Type="http://schemas.openxmlformats.org/officeDocument/2006/relationships/notesSlide" Target="/ppt/notesSlides/notesSlide21.xml" Id="R84843b0b53434d2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81ac321ede44d07" /><Relationship Type="http://schemas.openxmlformats.org/officeDocument/2006/relationships/notesSlide" Target="/ppt/notesSlides/notesSlide22.xml" Id="R12cd7d0b540d449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379b47582d74ab8" /><Relationship Type="http://schemas.openxmlformats.org/officeDocument/2006/relationships/notesSlide" Target="/ppt/notesSlides/notesSlide23.xml" Id="R51c9da3fbd80434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aa6a3b84e4d4b5a" /><Relationship Type="http://schemas.openxmlformats.org/officeDocument/2006/relationships/notesSlide" Target="/ppt/notesSlides/notesSlide24.xml" Id="R8a393a0d8a8a4493"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4E550719-91A4-4B9C-B8B4-D7C32515A0E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ED474B4-E62A-4B16-9331-A45E901EB6C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D20F4541-DDD4-4FD7-9E0C-5CAD29F898B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DAB07540-A480-4083-9387-143DBC147FA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Genetic Conditions: Present Evidence with Care</a:t>
            </a:r>
          </a:p>
        </p:txBody>
      </p:sp>
      <p:sp>
        <p:nvSpPr>
          <p:cNvPr id="5" name="paper panel">
            <a:extLst xmlns:a="http://schemas.openxmlformats.org/drawingml/2006/main">
              <a:ext uri="{FF2B5EF4-FFF2-40B4-BE49-F238E27FC236}">
                <a16:creationId xmlns:a16="http://schemas.microsoft.com/office/drawing/2014/main" id="{88A270F7-D907-4439-8C29-A17DA035374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A9BC33DB-1DE3-4915-8E4D-62557C1900AA}"/>
              </a:ext>
            </a:extLst>
          </p:cNvPr>
          <p:cNvSpPr>
            <a:spLocks xmlns:a="http://schemas.openxmlformats.org/drawingml/2006/main" noGrp="1"/>
          </p:cNvSpPr>
          <p:nvPr/>
        </p:nvSpPr>
        <p:spPr>
          <a:xfrm xmlns:a="http://schemas.openxmlformats.org/drawingml/2006/main">
            <a:off x="762000" y="2181225"/>
            <a:ext cx="10382250" cy="11252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I can present an evidence-led explanation of a teacher-approved genetic condition, credit sources, preserve uncertainty and respond to one audience question safely.</a:t>
            </a:r>
          </a:p>
        </p:txBody>
      </p:sp>
      <p:sp>
        <p:nvSpPr>
          <p:cNvPr id="7" name="HTML link">
            <a:extLst xmlns:a="http://schemas.openxmlformats.org/drawingml/2006/main">
              <a:ext uri="{FF2B5EF4-FFF2-40B4-BE49-F238E27FC236}">
                <a16:creationId xmlns:a16="http://schemas.microsoft.com/office/drawing/2014/main" id="{CEC1005A-E6DA-4BCE-A454-8FC9F19E76E4}"/>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hlinkClick xmlns:r="http://schemas.openxmlformats.org/officeDocument/2006/relationships" r:id="Rfad0ce6df8e64b16"/>
              </a:rPr>
              <a:t>Open the original interactive lesson</a:t>
            </a:r>
          </a:p>
        </p:txBody>
      </p:sp>
      <p:sp>
        <p:nvSpPr>
          <p:cNvPr id="8" name="time">
            <a:extLst xmlns:a="http://schemas.openxmlformats.org/drawingml/2006/main">
              <a:ext uri="{FF2B5EF4-FFF2-40B4-BE49-F238E27FC236}">
                <a16:creationId xmlns:a16="http://schemas.microsoft.com/office/drawing/2014/main" id="{AA694091-5559-4B82-BBC3-61F0AE38D61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6BDCC2E1-2710-47E0-9E16-5D0DA0AA6F7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24</a:t>
            </a:r>
          </a:p>
        </p:txBody>
      </p:sp>
    </p:spTree>
    <p:extLst>
      <p:ext uri="{BB962C8B-B14F-4D97-AF65-F5344CB8AC3E}">
        <p14:creationId xmlns:p14="http://schemas.microsoft.com/office/powerpoint/2010/main" val="1505183669"/>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7A3743B4-3725-4E5B-8C08-445FDBE5569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C4F672C-7139-4C3E-AECE-F8E219D55C1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97DD149C-7E75-43F7-8406-F8C2564300D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016EB763-E1A2-46F2-91D1-383BC26EB14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Arrival · quiet retrieval</a:t>
            </a:r>
          </a:p>
        </p:txBody>
      </p:sp>
      <p:sp>
        <p:nvSpPr>
          <p:cNvPr id="5" name="paper panel">
            <a:extLst xmlns:a="http://schemas.openxmlformats.org/drawingml/2006/main">
              <a:ext uri="{FF2B5EF4-FFF2-40B4-BE49-F238E27FC236}">
                <a16:creationId xmlns:a16="http://schemas.microsoft.com/office/drawing/2014/main" id="{498251E0-4A06-4779-B0B4-883D6EBF741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6621AB7-068A-4E4C-8BE0-938A9ED3DDA8}"/>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the delivery route before editing: written display, narrated slides, approved recording, or private explanation to a trusted adult.</a:t>
            </a:r>
          </a:p>
        </p:txBody>
      </p:sp>
      <p:sp>
        <p:nvSpPr>
          <p:cNvPr id="7" name="content 1">
            <a:extLst xmlns:a="http://schemas.openxmlformats.org/drawingml/2006/main">
              <a:ext uri="{FF2B5EF4-FFF2-40B4-BE49-F238E27FC236}">
                <a16:creationId xmlns:a16="http://schemas.microsoft.com/office/drawing/2014/main" id="{A5C43A5D-B338-4C07-B3B2-CF4B6A50B7AC}"/>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Question Carry the exact bounded W14L1 question. Do not widen it to personal diagnosis, prognosis or advice.</a:t>
            </a:r>
          </a:p>
        </p:txBody>
      </p:sp>
      <p:sp>
        <p:nvSpPr>
          <p:cNvPr id="8" name="content 2">
            <a:extLst xmlns:a="http://schemas.openxmlformats.org/drawingml/2006/main">
              <a:ext uri="{FF2B5EF4-FFF2-40B4-BE49-F238E27FC236}">
                <a16:creationId xmlns:a16="http://schemas.microsoft.com/office/drawing/2014/main" id="{A7B7EC72-ACB8-46A8-9049-47E159CD423C}"/>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Evidence matrix Carry the two approved source locators, the agreement, the difference and the uncertainty from W14L2.</a:t>
            </a:r>
          </a:p>
        </p:txBody>
      </p:sp>
      <p:sp>
        <p:nvSpPr>
          <p:cNvPr id="9" name="content 3">
            <a:extLst xmlns:a="http://schemas.openxmlformats.org/drawingml/2006/main">
              <a:ext uri="{FF2B5EF4-FFF2-40B4-BE49-F238E27FC236}">
                <a16:creationId xmlns:a16="http://schemas.microsoft.com/office/drawing/2014/main" id="{A03FB333-5785-4A93-B21A-A8821E574A9A}"/>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Foundation explanation Prepare the gene/allele and inheritance idea in accessible language, then distinguish probability from certainty.</a:t>
            </a:r>
          </a:p>
        </p:txBody>
      </p:sp>
      <p:sp>
        <p:nvSpPr>
          <p:cNvPr id="10" name="time">
            <a:extLst xmlns:a="http://schemas.openxmlformats.org/drawingml/2006/main">
              <a:ext uri="{FF2B5EF4-FFF2-40B4-BE49-F238E27FC236}">
                <a16:creationId xmlns:a16="http://schemas.microsoft.com/office/drawing/2014/main" id="{1654730C-1A26-4BA0-A5C6-D6FB8C59579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35DC529F-21B0-4689-A1B7-D6913329D0E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24</a:t>
            </a:r>
          </a:p>
        </p:txBody>
      </p:sp>
    </p:spTree>
    <p:extLst>
      <p:ext uri="{BB962C8B-B14F-4D97-AF65-F5344CB8AC3E}">
        <p14:creationId xmlns:p14="http://schemas.microsoft.com/office/powerpoint/2010/main" val="533624908"/>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560EAD0C-5969-49B5-B7FE-C32808EC44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5C274CE-6121-42E7-8F90-0515A7AE6E0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8619F97D-FFF4-4C89-8FCC-BB120BC1F96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D6DA6C28-D61C-48AA-83CC-5F928EBDE02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Arrival · quiet retrieval</a:t>
            </a:r>
          </a:p>
        </p:txBody>
      </p:sp>
      <p:sp>
        <p:nvSpPr>
          <p:cNvPr id="5" name="paper panel">
            <a:extLst xmlns:a="http://schemas.openxmlformats.org/drawingml/2006/main">
              <a:ext uri="{FF2B5EF4-FFF2-40B4-BE49-F238E27FC236}">
                <a16:creationId xmlns:a16="http://schemas.microsoft.com/office/drawing/2014/main" id="{173E8BB5-81FB-4609-B7C3-ECD620AB5CE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75644A6-454F-4FCD-87D6-D1255300BF90}"/>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Audience route Select privacy, response mode and group size before performance. No pupil is required to disclose a personal connection.</a:t>
            </a:r>
          </a:p>
        </p:txBody>
      </p:sp>
      <p:sp>
        <p:nvSpPr>
          <p:cNvPr id="7" name="content 1">
            <a:extLst xmlns:a="http://schemas.openxmlformats.org/drawingml/2006/main">
              <a:ext uri="{FF2B5EF4-FFF2-40B4-BE49-F238E27FC236}">
                <a16:creationId xmlns:a16="http://schemas.microsoft.com/office/drawing/2014/main" id="{5DBB7270-2AD5-4842-B3BC-61C0F5E1E39E}"/>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8" name="content 2">
            <a:extLst xmlns:a="http://schemas.openxmlformats.org/drawingml/2006/main">
              <a:ext uri="{FF2B5EF4-FFF2-40B4-BE49-F238E27FC236}">
                <a16:creationId xmlns:a16="http://schemas.microsoft.com/office/drawing/2014/main" id="{0DE496B9-6466-46CE-83EB-814F810EBD6B}"/>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a four-panel frame, prepared vocabulary and a private explanation to a trusted adult or approved recording route.</a:t>
            </a:r>
          </a:p>
        </p:txBody>
      </p:sp>
      <p:sp>
        <p:nvSpPr>
          <p:cNvPr id="9" name="content 3">
            <a:extLst xmlns:a="http://schemas.openxmlformats.org/drawingml/2006/main">
              <a:ext uri="{FF2B5EF4-FFF2-40B4-BE49-F238E27FC236}">
                <a16:creationId xmlns:a16="http://schemas.microsoft.com/office/drawing/2014/main" id="{41B379BA-2097-46FD-BBE5-54782FC10D49}"/>
              </a:ext>
            </a:extLst>
          </p:cNvPr>
          <p:cNvSpPr>
            <a:spLocks xmlns:a="http://schemas.openxmlformats.org/drawingml/2006/main" noGrp="1"/>
          </p:cNvSpPr>
          <p:nvPr/>
        </p:nvSpPr>
        <p:spPr>
          <a:xfrm xmlns:a="http://schemas.openxmlformats.org/drawingml/2006/main">
            <a:off x="800100" y="42291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10" name="content 4">
            <a:extLst xmlns:a="http://schemas.openxmlformats.org/drawingml/2006/main">
              <a:ext uri="{FF2B5EF4-FFF2-40B4-BE49-F238E27FC236}">
                <a16:creationId xmlns:a16="http://schemas.microsoft.com/office/drawing/2014/main" id="{728FCA33-85ED-4A97-9154-CC89DBC92BD6}"/>
              </a:ext>
            </a:extLst>
          </p:cNvPr>
          <p:cNvSpPr>
            <a:spLocks xmlns:a="http://schemas.openxmlformats.org/drawingml/2006/main" noGrp="1"/>
          </p:cNvSpPr>
          <p:nvPr/>
        </p:nvSpPr>
        <p:spPr>
          <a:xfrm xmlns:a="http://schemas.openxmlformats.org/drawingml/2006/main">
            <a:off x="800100" y="47053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Build an independent evidence-led presentation with two credited sources, one uncertainty and one response-led revision.</a:t>
            </a:r>
          </a:p>
        </p:txBody>
      </p:sp>
      <p:sp>
        <p:nvSpPr>
          <p:cNvPr id="11" name="time">
            <a:extLst xmlns:a="http://schemas.openxmlformats.org/drawingml/2006/main">
              <a:ext uri="{FF2B5EF4-FFF2-40B4-BE49-F238E27FC236}">
                <a16:creationId xmlns:a16="http://schemas.microsoft.com/office/drawing/2014/main" id="{B418C788-A0F3-42F8-B27E-EE9A365F82C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2" name="number">
            <a:extLst xmlns:a="http://schemas.openxmlformats.org/drawingml/2006/main">
              <a:ext uri="{FF2B5EF4-FFF2-40B4-BE49-F238E27FC236}">
                <a16:creationId xmlns:a16="http://schemas.microsoft.com/office/drawing/2014/main" id="{DDE4827A-D52F-4FFC-9664-CA26A16A770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24</a:t>
            </a:r>
          </a:p>
        </p:txBody>
      </p:sp>
    </p:spTree>
    <p:extLst>
      <p:ext uri="{BB962C8B-B14F-4D97-AF65-F5344CB8AC3E}">
        <p14:creationId xmlns:p14="http://schemas.microsoft.com/office/powerpoint/2010/main" val="1601827633"/>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2FBE7656-BD22-445A-85D0-D49D893AAE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037FC82-8153-462D-A821-EB4452828D9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F4201A00-8D77-4EE0-BEB8-D9DCB155BF1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2EDBF9EA-FB73-46B9-B8D7-60B0E2BB352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Starter · create the question</a:t>
            </a:r>
          </a:p>
        </p:txBody>
      </p:sp>
      <p:sp>
        <p:nvSpPr>
          <p:cNvPr id="5" name="paper panel">
            <a:extLst xmlns:a="http://schemas.openxmlformats.org/drawingml/2006/main">
              <a:ext uri="{FF2B5EF4-FFF2-40B4-BE49-F238E27FC236}">
                <a16:creationId xmlns:a16="http://schemas.microsoft.com/office/drawing/2014/main" id="{6D4EBE6C-5743-4D89-B020-CA1ABB6551E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AD5BDAB-5835-49A0-9A0F-CEF43719991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Find the overclaim in a sample ending that treats inheritance probability as certainty. Replace it with bounded wording.</a:t>
            </a:r>
          </a:p>
        </p:txBody>
      </p:sp>
      <p:sp>
        <p:nvSpPr>
          <p:cNvPr id="7" name="content 1">
            <a:extLst xmlns:a="http://schemas.openxmlformats.org/drawingml/2006/main">
              <a:ext uri="{FF2B5EF4-FFF2-40B4-BE49-F238E27FC236}">
                <a16:creationId xmlns:a16="http://schemas.microsoft.com/office/drawing/2014/main" id="{60E45939-65DA-4533-A3FC-A06E531E815E}"/>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Picture first: an evidence-led presentation credits sources, keeps uncertainty visible and never uses personal stories.</a:t>
            </a:r>
          </a:p>
        </p:txBody>
      </p:sp>
      <p:sp>
        <p:nvSpPr>
          <p:cNvPr id="8" name="content 2">
            <a:extLst xmlns:a="http://schemas.openxmlformats.org/drawingml/2006/main">
              <a:ext uri="{FF2B5EF4-FFF2-40B4-BE49-F238E27FC236}">
                <a16:creationId xmlns:a16="http://schemas.microsoft.com/office/drawing/2014/main" id="{C25A2DCD-457B-4589-8B36-D433B1BB4FD0}"/>
              </a:ext>
            </a:extLst>
          </p:cNvPr>
          <p:cNvSpPr>
            <a:spLocks xmlns:a="http://schemas.openxmlformats.org/drawingml/2006/main" noGrp="1"/>
          </p:cNvSpPr>
          <p:nvPr/>
        </p:nvSpPr>
        <p:spPr>
          <a:xfrm xmlns:a="http://schemas.openxmlformats.org/drawingml/2006/main">
            <a:off x="800100" y="37528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Presentation test</a:t>
            </a:r>
          </a:p>
        </p:txBody>
      </p:sp>
      <p:sp>
        <p:nvSpPr>
          <p:cNvPr id="9" name="content 3">
            <a:extLst xmlns:a="http://schemas.openxmlformats.org/drawingml/2006/main">
              <a:ext uri="{FF2B5EF4-FFF2-40B4-BE49-F238E27FC236}">
                <a16:creationId xmlns:a16="http://schemas.microsoft.com/office/drawing/2014/main" id="{6A8C8C62-3184-4A6B-AB71-5BB66C2E4817}"/>
              </a:ext>
            </a:extLst>
          </p:cNvPr>
          <p:cNvSpPr>
            <a:spLocks xmlns:a="http://schemas.openxmlformats.org/drawingml/2006/main" noGrp="1"/>
          </p:cNvSpPr>
          <p:nvPr/>
        </p:nvSpPr>
        <p:spPr>
          <a:xfrm xmlns:a="http://schemas.openxmlformats.org/drawingml/2006/main">
            <a:off x="800100" y="42100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An accurate ending names the evidence, states the limit and returns to the bounded question. Confidence, volume and polished design never replace a source trail.</a:t>
            </a:r>
          </a:p>
        </p:txBody>
      </p:sp>
      <p:sp>
        <p:nvSpPr>
          <p:cNvPr id="10" name="time">
            <a:extLst xmlns:a="http://schemas.openxmlformats.org/drawingml/2006/main">
              <a:ext uri="{FF2B5EF4-FFF2-40B4-BE49-F238E27FC236}">
                <a16:creationId xmlns:a16="http://schemas.microsoft.com/office/drawing/2014/main" id="{A3252BBF-7BBC-405B-AE6D-A6E94DD6D5D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1" name="number">
            <a:extLst xmlns:a="http://schemas.openxmlformats.org/drawingml/2006/main">
              <a:ext uri="{FF2B5EF4-FFF2-40B4-BE49-F238E27FC236}">
                <a16:creationId xmlns:a16="http://schemas.microsoft.com/office/drawing/2014/main" id="{B1455276-FEAF-4B86-AE1B-AD20F1AD8F1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24</a:t>
            </a:r>
          </a:p>
        </p:txBody>
      </p:sp>
    </p:spTree>
    <p:extLst>
      <p:ext uri="{BB962C8B-B14F-4D97-AF65-F5344CB8AC3E}">
        <p14:creationId xmlns:p14="http://schemas.microsoft.com/office/powerpoint/2010/main" val="2028693359"/>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221A6CB7-51F9-4DDA-A13A-513DBC702B0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A66C15D-4538-4F8D-815E-A996C5A499C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8E637135-8B0E-42A3-8110-E40451F5620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0605389B-918D-428B-8EB4-BBD86397445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Starter · create the question</a:t>
            </a:r>
          </a:p>
        </p:txBody>
      </p:sp>
      <p:sp>
        <p:nvSpPr>
          <p:cNvPr id="5" name="paper panel">
            <a:extLst xmlns:a="http://schemas.openxmlformats.org/drawingml/2006/main">
              <a:ext uri="{FF2B5EF4-FFF2-40B4-BE49-F238E27FC236}">
                <a16:creationId xmlns:a16="http://schemas.microsoft.com/office/drawing/2014/main" id="{D5542DCA-723E-43C2-BD68-243E0DF95A7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4834594-ECFD-4863-B95A-80A1D6A2F1F3}"/>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“The sources guarantee what will happen to every person.”</a:t>
            </a:r>
          </a:p>
        </p:txBody>
      </p:sp>
      <p:sp>
        <p:nvSpPr>
          <p:cNvPr id="7" name="content 1">
            <a:extLst xmlns:a="http://schemas.openxmlformats.org/drawingml/2006/main">
              <a:ext uri="{FF2B5EF4-FFF2-40B4-BE49-F238E27FC236}">
                <a16:creationId xmlns:a16="http://schemas.microsoft.com/office/drawing/2014/main" id="{B2492E14-3446-4C41-8A1E-9B1C0562F454}"/>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“The sources explain an inherited pattern but cannot predict one person's experience.”</a:t>
            </a:r>
          </a:p>
        </p:txBody>
      </p:sp>
      <p:sp>
        <p:nvSpPr>
          <p:cNvPr id="8" name="content 2">
            <a:extLst xmlns:a="http://schemas.openxmlformats.org/drawingml/2006/main">
              <a:ext uri="{FF2B5EF4-FFF2-40B4-BE49-F238E27FC236}">
                <a16:creationId xmlns:a16="http://schemas.microsoft.com/office/drawing/2014/main" id="{3BFBE202-CE48-4C0C-9011-F704520E75B3}"/>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“The presentation can tell someone what treatment to choose.”</a:t>
            </a:r>
          </a:p>
        </p:txBody>
      </p:sp>
      <p:sp>
        <p:nvSpPr>
          <p:cNvPr id="9" name="time">
            <a:extLst xmlns:a="http://schemas.openxmlformats.org/drawingml/2006/main">
              <a:ext uri="{FF2B5EF4-FFF2-40B4-BE49-F238E27FC236}">
                <a16:creationId xmlns:a16="http://schemas.microsoft.com/office/drawing/2014/main" id="{BE2F7745-4261-4905-BB6B-879F1F12378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0" name="number">
            <a:extLst xmlns:a="http://schemas.openxmlformats.org/drawingml/2006/main">
              <a:ext uri="{FF2B5EF4-FFF2-40B4-BE49-F238E27FC236}">
                <a16:creationId xmlns:a16="http://schemas.microsoft.com/office/drawing/2014/main" id="{2228AFED-C238-4C12-B831-B17581BD293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24</a:t>
            </a:r>
          </a:p>
        </p:txBody>
      </p:sp>
    </p:spTree>
    <p:extLst>
      <p:ext uri="{BB962C8B-B14F-4D97-AF65-F5344CB8AC3E}">
        <p14:creationId xmlns:p14="http://schemas.microsoft.com/office/powerpoint/2010/main" val="2063216057"/>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6210E7FF-0B37-483D-AE99-31F693CDD7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AEBE9C17-325C-40B5-9954-F9D34709C21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4A5C2616-1380-42AA-B47F-6C6CDB35659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F1707306-4351-494C-A001-8373B625E7B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Starter · create the question</a:t>
            </a:r>
          </a:p>
        </p:txBody>
      </p:sp>
      <p:sp>
        <p:nvSpPr>
          <p:cNvPr id="5" name="paper panel">
            <a:extLst xmlns:a="http://schemas.openxmlformats.org/drawingml/2006/main">
              <a:ext uri="{FF2B5EF4-FFF2-40B4-BE49-F238E27FC236}">
                <a16:creationId xmlns:a16="http://schemas.microsoft.com/office/drawing/2014/main" id="{285D2BB2-FC56-40E3-B1A0-B7C82E6D1B8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9a2cb9a124c432e"/>
          <a:stretch xmlns:a="http://schemas.openxmlformats.org/drawingml/2006/main"/>
        </p:blipFill>
        <p:spPr>
          <a:xfrm xmlns:a="http://schemas.openxmlformats.org/drawingml/2006/main">
            <a:off x="1990224" y="2181225"/>
            <a:ext cx="8211553" cy="300037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951E4478-6066-4A71-89BD-95D2A223B63E}"/>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33F"/>
                </a:solidFill>
                <a:latin typeface="Arial"/>
                <a:ea typeface="Arial"/>
                <a:cs typeface="Arial"/>
              </a:defRPr>
            </a:pPr>
            <a:r>
              <a:rPr sz="1725" b="0">
                <a:solidFill>
                  <a:srgbClr val="10233F"/>
                </a:solidFill>
                <a:latin typeface="Arial"/>
                <a:ea typeface="Arial"/>
                <a:cs typeface="Arial"/>
              </a:rPr>
              <a:t>Four parts of a respectful research plan</a:t>
            </a:r>
          </a:p>
        </p:txBody>
      </p:sp>
      <p:sp>
        <p:nvSpPr>
          <p:cNvPr id="8" name="time">
            <a:extLst xmlns:a="http://schemas.openxmlformats.org/drawingml/2006/main">
              <a:ext uri="{FF2B5EF4-FFF2-40B4-BE49-F238E27FC236}">
                <a16:creationId xmlns:a16="http://schemas.microsoft.com/office/drawing/2014/main" id="{1D158B31-EC44-4752-A536-FEE92A581D9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0CE0AF83-0CC3-4C5C-908C-31BE4273A6F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24</a:t>
            </a:r>
          </a:p>
        </p:txBody>
      </p:sp>
    </p:spTree>
    <p:extLst>
      <p:ext uri="{BB962C8B-B14F-4D97-AF65-F5344CB8AC3E}">
        <p14:creationId xmlns:p14="http://schemas.microsoft.com/office/powerpoint/2010/main" val="258391834"/>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64E92523-154A-48E3-96F8-8E2F147877A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388F752-8E66-43D8-BE8C-3D4C75FB444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F2703498-ED2C-46DF-A8F5-8A82511E281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52F9CCB8-1E11-47B5-8ED6-8B6C03F3F77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61BB080F-23E1-4B93-9686-135D8C59421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B2EC2CC-8B2E-43EF-92A1-6FC135B294B9}"/>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Presentation line checker</a:t>
            </a:r>
          </a:p>
        </p:txBody>
      </p:sp>
      <p:sp>
        <p:nvSpPr>
          <p:cNvPr id="7" name="content 1">
            <a:extLst xmlns:a="http://schemas.openxmlformats.org/drawingml/2006/main">
              <a:ext uri="{FF2B5EF4-FFF2-40B4-BE49-F238E27FC236}">
                <a16:creationId xmlns:a16="http://schemas.microsoft.com/office/drawing/2014/main" id="{17969D7A-5C0A-420A-BF4D-1CDAD40E4799}"/>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 line from a draft presentation, then judge it.</a:t>
            </a:r>
          </a:p>
        </p:txBody>
      </p:sp>
      <p:sp>
        <p:nvSpPr>
          <p:cNvPr id="8" name="time">
            <a:extLst xmlns:a="http://schemas.openxmlformats.org/drawingml/2006/main">
              <a:ext uri="{FF2B5EF4-FFF2-40B4-BE49-F238E27FC236}">
                <a16:creationId xmlns:a16="http://schemas.microsoft.com/office/drawing/2014/main" id="{E3EB6738-18C5-458D-AC86-92595021F7A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6E512079-563F-4E36-A13D-E0E038AD9F4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24</a:t>
            </a:r>
          </a:p>
        </p:txBody>
      </p:sp>
    </p:spTree>
    <p:extLst>
      <p:ext uri="{BB962C8B-B14F-4D97-AF65-F5344CB8AC3E}">
        <p14:creationId xmlns:p14="http://schemas.microsoft.com/office/powerpoint/2010/main" val="1883863562"/>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28228587-570D-4166-9700-852ED9393F9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20BD106E-DA81-4E9B-AF8E-643EBFFE50F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0A2811BD-63FC-42B6-8FA4-597249ECFB6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46083245-3EDF-45AF-9474-7036A6DC83E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63D24E2F-BFD7-4ABA-B921-78A42BBA431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295EDF3-1C36-4CE1-B873-DD40229CCDCF}"/>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According to [source, date], the condition is inherited in this pattern…</a:t>
            </a:r>
          </a:p>
        </p:txBody>
      </p:sp>
      <p:sp>
        <p:nvSpPr>
          <p:cNvPr id="7" name="content 1">
            <a:extLst xmlns:a="http://schemas.openxmlformats.org/drawingml/2006/main">
              <a:ext uri="{FF2B5EF4-FFF2-40B4-BE49-F238E27FC236}">
                <a16:creationId xmlns:a16="http://schemas.microsoft.com/office/drawing/2014/main" id="{EFABD8C6-523F-411F-9605-078DA082B9E7}"/>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My cousin has it and…</a:t>
            </a:r>
          </a:p>
        </p:txBody>
      </p:sp>
      <p:sp>
        <p:nvSpPr>
          <p:cNvPr id="8" name="content 2">
            <a:extLst xmlns:a="http://schemas.openxmlformats.org/drawingml/2006/main">
              <a:ext uri="{FF2B5EF4-FFF2-40B4-BE49-F238E27FC236}">
                <a16:creationId xmlns:a16="http://schemas.microsoft.com/office/drawing/2014/main" id="{8D427CBC-D39E-4375-9C3F-810E63BE13B9}"/>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The two sources disagree on how common it is; the more recent gives…</a:t>
            </a:r>
          </a:p>
        </p:txBody>
      </p:sp>
      <p:sp>
        <p:nvSpPr>
          <p:cNvPr id="9" name="content 3">
            <a:extLst xmlns:a="http://schemas.openxmlformats.org/drawingml/2006/main">
              <a:ext uri="{FF2B5EF4-FFF2-40B4-BE49-F238E27FC236}">
                <a16:creationId xmlns:a16="http://schemas.microsoft.com/office/drawing/2014/main" id="{6D3E24BE-D34D-4AB3-998A-E5C4BF6E4809}"/>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Everyone with the condition experiences…</a:t>
            </a:r>
          </a:p>
        </p:txBody>
      </p:sp>
      <p:sp>
        <p:nvSpPr>
          <p:cNvPr id="10" name="content 4">
            <a:extLst xmlns:a="http://schemas.openxmlformats.org/drawingml/2006/main">
              <a:ext uri="{FF2B5EF4-FFF2-40B4-BE49-F238E27FC236}">
                <a16:creationId xmlns:a16="http://schemas.microsoft.com/office/drawing/2014/main" id="{00983FFD-A7DA-42E5-B8F4-DD0D1797E02F}"/>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 It is not yet known whether… — the sources say more research is needed</a:t>
            </a:r>
          </a:p>
        </p:txBody>
      </p:sp>
      <p:sp>
        <p:nvSpPr>
          <p:cNvPr id="11" name="content 5">
            <a:extLst xmlns:a="http://schemas.openxmlformats.org/drawingml/2006/main">
              <a:ext uri="{FF2B5EF4-FFF2-40B4-BE49-F238E27FC236}">
                <a16:creationId xmlns:a16="http://schemas.microsoft.com/office/drawing/2014/main" id="{6111A1E1-DE90-4961-A0F2-77313D99E52F}"/>
              </a:ext>
            </a:extLst>
          </p:cNvPr>
          <p:cNvSpPr>
            <a:spLocks xmlns:a="http://schemas.openxmlformats.org/drawingml/2006/main" noGrp="1"/>
          </p:cNvSpPr>
          <p:nvPr/>
        </p:nvSpPr>
        <p:spPr>
          <a:xfrm xmlns:a="http://schemas.openxmlformats.org/drawingml/2006/main">
            <a:off x="800100" y="4457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 This treatment cures it</a:t>
            </a:r>
          </a:p>
        </p:txBody>
      </p:sp>
      <p:sp>
        <p:nvSpPr>
          <p:cNvPr id="12" name="content 6">
            <a:extLst xmlns:a="http://schemas.openxmlformats.org/drawingml/2006/main">
              <a:ext uri="{FF2B5EF4-FFF2-40B4-BE49-F238E27FC236}">
                <a16:creationId xmlns:a16="http://schemas.microsoft.com/office/drawing/2014/main" id="{7DF0C490-E4C6-4CD5-ADD1-9604E8D0A02D}"/>
              </a:ext>
            </a:extLst>
          </p:cNvPr>
          <p:cNvSpPr>
            <a:spLocks xmlns:a="http://schemas.openxmlformats.org/drawingml/2006/main" noGrp="1"/>
          </p:cNvSpPr>
          <p:nvPr/>
        </p:nvSpPr>
        <p:spPr>
          <a:xfrm xmlns:a="http://schemas.openxmlformats.org/drawingml/2006/main">
            <a:off x="800100" y="4914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 evidence-led, sourced, careful</a:t>
            </a:r>
          </a:p>
        </p:txBody>
      </p:sp>
      <p:sp>
        <p:nvSpPr>
          <p:cNvPr id="13" name="content 7">
            <a:extLst xmlns:a="http://schemas.openxmlformats.org/drawingml/2006/main">
              <a:ext uri="{FF2B5EF4-FFF2-40B4-BE49-F238E27FC236}">
                <a16:creationId xmlns:a16="http://schemas.microsoft.com/office/drawing/2014/main" id="{619F331D-EC46-45DB-BB41-880E82FC8873}"/>
              </a:ext>
            </a:extLst>
          </p:cNvPr>
          <p:cNvSpPr>
            <a:spLocks xmlns:a="http://schemas.openxmlformats.org/drawingml/2006/main" noGrp="1"/>
          </p:cNvSpPr>
          <p:nvPr/>
        </p:nvSpPr>
        <p:spPr>
          <a:xfrm xmlns:a="http://schemas.openxmlformats.org/drawingml/2006/main">
            <a:off x="800100" y="5372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 rewrite — personal, absolute or unsourced</a:t>
            </a:r>
          </a:p>
        </p:txBody>
      </p:sp>
      <p:sp>
        <p:nvSpPr>
          <p:cNvPr id="14" name="time">
            <a:extLst xmlns:a="http://schemas.openxmlformats.org/drawingml/2006/main">
              <a:ext uri="{FF2B5EF4-FFF2-40B4-BE49-F238E27FC236}">
                <a16:creationId xmlns:a16="http://schemas.microsoft.com/office/drawing/2014/main" id="{20E81164-C35F-42C3-9B5D-6F9BE38A6F0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5" name="number">
            <a:extLst xmlns:a="http://schemas.openxmlformats.org/drawingml/2006/main">
              <a:ext uri="{FF2B5EF4-FFF2-40B4-BE49-F238E27FC236}">
                <a16:creationId xmlns:a16="http://schemas.microsoft.com/office/drawing/2014/main" id="{FFB4F304-25E8-4090-BF34-CF83E874638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24</a:t>
            </a:r>
          </a:p>
        </p:txBody>
      </p:sp>
    </p:spTree>
    <p:extLst>
      <p:ext uri="{BB962C8B-B14F-4D97-AF65-F5344CB8AC3E}">
        <p14:creationId xmlns:p14="http://schemas.microsoft.com/office/powerpoint/2010/main" val="401167825"/>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5DC70B2D-2C7E-412B-8F93-2BA165F97DB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95CE707-55DA-46A3-A52C-42C2293D961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E5AAF012-35DE-4743-BB18-C9FC2E9A261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A2B854B7-0A67-4ECB-8067-44AB5E1A153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BA8A77F8-BEBF-4AFB-9700-6421C2D8786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901B74D-5A60-430D-9B41-B72112567F3C}"/>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Frames 3–4: source evidence, variation/uncertainty, credits and a no-advice boundary.</a:t>
            </a:r>
          </a:p>
        </p:txBody>
      </p:sp>
      <p:sp>
        <p:nvSpPr>
          <p:cNvPr id="7" name="content 1">
            <a:extLst xmlns:a="http://schemas.openxmlformats.org/drawingml/2006/main">
              <a:ext uri="{FF2B5EF4-FFF2-40B4-BE49-F238E27FC236}">
                <a16:creationId xmlns:a16="http://schemas.microsoft.com/office/drawing/2014/main" id="{F49F6B2F-3510-4130-B878-7B5481D3C3DF}"/>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Opening State the question and explain why it is bounded. The audience knows what the presentation will and will not answer.</a:t>
            </a:r>
          </a:p>
        </p:txBody>
      </p:sp>
      <p:sp>
        <p:nvSpPr>
          <p:cNvPr id="8" name="content 2">
            <a:extLst xmlns:a="http://schemas.openxmlformats.org/drawingml/2006/main">
              <a:ext uri="{FF2B5EF4-FFF2-40B4-BE49-F238E27FC236}">
                <a16:creationId xmlns:a16="http://schemas.microsoft.com/office/drawing/2014/main" id="{5223DC94-B614-48FC-B7ED-EF6131885C49}"/>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Biology core Use gene, allele, inheritance and probability accurately at Foundation level. Define terms before adding detail.</a:t>
            </a:r>
          </a:p>
        </p:txBody>
      </p:sp>
      <p:sp>
        <p:nvSpPr>
          <p:cNvPr id="9" name="content 3">
            <a:extLst xmlns:a="http://schemas.openxmlformats.org/drawingml/2006/main">
              <a:ext uri="{FF2B5EF4-FFF2-40B4-BE49-F238E27FC236}">
                <a16:creationId xmlns:a16="http://schemas.microsoft.com/office/drawing/2014/main" id="{C10A3547-7E45-400B-9800-267152266C17}"/>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Evidence comparison Name both approved sources, their relevant agreement and one difference or limitation from the matrix.</a:t>
            </a:r>
          </a:p>
        </p:txBody>
      </p:sp>
      <p:sp>
        <p:nvSpPr>
          <p:cNvPr id="10" name="time">
            <a:extLst xmlns:a="http://schemas.openxmlformats.org/drawingml/2006/main">
              <a:ext uri="{FF2B5EF4-FFF2-40B4-BE49-F238E27FC236}">
                <a16:creationId xmlns:a16="http://schemas.microsoft.com/office/drawing/2014/main" id="{76DB9161-EEEE-4E51-B57C-6A1DF7B52C2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1" name="number">
            <a:extLst xmlns:a="http://schemas.openxmlformats.org/drawingml/2006/main">
              <a:ext uri="{FF2B5EF4-FFF2-40B4-BE49-F238E27FC236}">
                <a16:creationId xmlns:a16="http://schemas.microsoft.com/office/drawing/2014/main" id="{53C3E5A2-B75E-42D6-8FA6-2E04701109D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24</a:t>
            </a:r>
          </a:p>
        </p:txBody>
      </p:sp>
    </p:spTree>
    <p:extLst>
      <p:ext uri="{BB962C8B-B14F-4D97-AF65-F5344CB8AC3E}">
        <p14:creationId xmlns:p14="http://schemas.microsoft.com/office/powerpoint/2010/main" val="1369163883"/>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D1A6433D-3479-4AD6-9318-C3B38E38DB2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DEBF29A-EDED-41FD-B86F-50FD468E6B1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2E07DD91-C349-4A65-809B-290F8ADD3BE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64CEE2CF-BE90-4197-BA05-B6CBA5BB217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3B02214A-D047-417A-B3F4-E136D45CFEE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EE7F270-7844-4189-9340-B5911F29D93E}"/>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Closing State variation and uncertainty, credit the sources and name the no-diagnosis/no-advice boundary.</a:t>
            </a:r>
          </a:p>
        </p:txBody>
      </p:sp>
      <p:sp>
        <p:nvSpPr>
          <p:cNvPr id="7" name="time">
            <a:extLst xmlns:a="http://schemas.openxmlformats.org/drawingml/2006/main">
              <a:ext uri="{FF2B5EF4-FFF2-40B4-BE49-F238E27FC236}">
                <a16:creationId xmlns:a16="http://schemas.microsoft.com/office/drawing/2014/main" id="{97642E57-515F-4877-BC55-13AA15383C7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8" name="number">
            <a:extLst xmlns:a="http://schemas.openxmlformats.org/drawingml/2006/main">
              <a:ext uri="{FF2B5EF4-FFF2-40B4-BE49-F238E27FC236}">
                <a16:creationId xmlns:a16="http://schemas.microsoft.com/office/drawing/2014/main" id="{3B9F79B8-2F43-44A6-9B17-B661C81AF6D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24</a:t>
            </a:r>
          </a:p>
        </p:txBody>
      </p:sp>
    </p:spTree>
    <p:extLst>
      <p:ext uri="{BB962C8B-B14F-4D97-AF65-F5344CB8AC3E}">
        <p14:creationId xmlns:p14="http://schemas.microsoft.com/office/powerpoint/2010/main" val="83654789"/>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B12A0CB9-7916-4B95-9085-42B1B70AFA0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0737F8F-1A6F-4C73-AFA1-7BE48554283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4274A9DB-36B1-4C1C-AD90-ABC5808268B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00DB9A04-D88F-4D14-B30A-4E71C809250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then justify</a:t>
            </a:r>
          </a:p>
        </p:txBody>
      </p:sp>
      <p:sp>
        <p:nvSpPr>
          <p:cNvPr id="5" name="paper panel">
            <a:extLst xmlns:a="http://schemas.openxmlformats.org/drawingml/2006/main">
              <a:ext uri="{FF2B5EF4-FFF2-40B4-BE49-F238E27FC236}">
                <a16:creationId xmlns:a16="http://schemas.microsoft.com/office/drawing/2014/main" id="{DE79807B-3648-43A8-A179-08BBD424BCF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6E3F6B6-5516-46BC-9448-F680BDA163CF}"/>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one question the evidence can answer and one that must be held for a qualified professional or a better source.</a:t>
            </a:r>
          </a:p>
        </p:txBody>
      </p:sp>
      <p:sp>
        <p:nvSpPr>
          <p:cNvPr id="7" name="content 1">
            <a:extLst xmlns:a="http://schemas.openxmlformats.org/drawingml/2006/main">
              <a:ext uri="{FF2B5EF4-FFF2-40B4-BE49-F238E27FC236}">
                <a16:creationId xmlns:a16="http://schemas.microsoft.com/office/drawing/2014/main" id="{29F6D243-80D3-42B3-A471-09C7D3E31CFA}"/>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Answer Use the matrix when the question is within C44 and the approved evidence supports a bounded response.</a:t>
            </a:r>
          </a:p>
        </p:txBody>
      </p:sp>
      <p:sp>
        <p:nvSpPr>
          <p:cNvPr id="8" name="content 2">
            <a:extLst xmlns:a="http://schemas.openxmlformats.org/drawingml/2006/main">
              <a:ext uri="{FF2B5EF4-FFF2-40B4-BE49-F238E27FC236}">
                <a16:creationId xmlns:a16="http://schemas.microsoft.com/office/drawing/2014/main" id="{1A97BE26-BBE1-42C5-B2C3-6FBC44F65149}"/>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Clarify Ask what the audience means when a word such as risk, cause or inherited is ambiguous.</a:t>
            </a:r>
          </a:p>
        </p:txBody>
      </p:sp>
      <p:sp>
        <p:nvSpPr>
          <p:cNvPr id="9" name="content 3">
            <a:extLst xmlns:a="http://schemas.openxmlformats.org/drawingml/2006/main">
              <a:ext uri="{FF2B5EF4-FFF2-40B4-BE49-F238E27FC236}">
                <a16:creationId xmlns:a16="http://schemas.microsoft.com/office/drawing/2014/main" id="{444BCE58-AF83-4EB3-B3C5-9EC82A3953AD}"/>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Hold Say “The approved sources do not answer that” when evidence, scope or professional authority is absent.</a:t>
            </a:r>
          </a:p>
        </p:txBody>
      </p:sp>
      <p:sp>
        <p:nvSpPr>
          <p:cNvPr id="10" name="time">
            <a:extLst xmlns:a="http://schemas.openxmlformats.org/drawingml/2006/main">
              <a:ext uri="{FF2B5EF4-FFF2-40B4-BE49-F238E27FC236}">
                <a16:creationId xmlns:a16="http://schemas.microsoft.com/office/drawing/2014/main" id="{39E0E78E-21B5-4E65-8D51-8D41B10AEF6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11" name="number">
            <a:extLst xmlns:a="http://schemas.openxmlformats.org/drawingml/2006/main">
              <a:ext uri="{FF2B5EF4-FFF2-40B4-BE49-F238E27FC236}">
                <a16:creationId xmlns:a16="http://schemas.microsoft.com/office/drawing/2014/main" id="{34D71EDA-E5DC-41DA-8CA3-8E425353B26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24</a:t>
            </a:r>
          </a:p>
        </p:txBody>
      </p:sp>
    </p:spTree>
    <p:extLst>
      <p:ext uri="{BB962C8B-B14F-4D97-AF65-F5344CB8AC3E}">
        <p14:creationId xmlns:p14="http://schemas.microsoft.com/office/powerpoint/2010/main" val="952455642"/>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616B3826-F511-4F61-9C04-9B44B835AE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5FA61AD-A8B2-46C2-A630-B5ABB178D87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613E75C1-8911-4F05-98E2-1C2CD601AB2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3A908257-EBA7-435B-B31E-BFCEB9E6008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then justify</a:t>
            </a:r>
          </a:p>
        </p:txBody>
      </p:sp>
      <p:sp>
        <p:nvSpPr>
          <p:cNvPr id="5" name="paper panel">
            <a:extLst xmlns:a="http://schemas.openxmlformats.org/drawingml/2006/main">
              <a:ext uri="{FF2B5EF4-FFF2-40B4-BE49-F238E27FC236}">
                <a16:creationId xmlns:a16="http://schemas.microsoft.com/office/drawing/2014/main" id="{6C564E2D-1B45-4671-8701-A3778651152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224EAC5-B2C3-40F4-A48D-1DF52124C8B8}"/>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Redirect Move personal health or safeguarding concerns to the school's approved support route, outside the presentation.</a:t>
            </a:r>
          </a:p>
        </p:txBody>
      </p:sp>
      <p:sp>
        <p:nvSpPr>
          <p:cNvPr id="7" name="time">
            <a:extLst xmlns:a="http://schemas.openxmlformats.org/drawingml/2006/main">
              <a:ext uri="{FF2B5EF4-FFF2-40B4-BE49-F238E27FC236}">
                <a16:creationId xmlns:a16="http://schemas.microsoft.com/office/drawing/2014/main" id="{6FEF5C9F-E7C3-41F6-ACA0-70BBA9970C7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8" name="number">
            <a:extLst xmlns:a="http://schemas.openxmlformats.org/drawingml/2006/main">
              <a:ext uri="{FF2B5EF4-FFF2-40B4-BE49-F238E27FC236}">
                <a16:creationId xmlns:a16="http://schemas.microsoft.com/office/drawing/2014/main" id="{AA9A9FC2-4D4C-4A18-BC1D-73E775182CA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24</a:t>
            </a:r>
          </a:p>
        </p:txBody>
      </p:sp>
    </p:spTree>
    <p:extLst>
      <p:ext uri="{BB962C8B-B14F-4D97-AF65-F5344CB8AC3E}">
        <p14:creationId xmlns:p14="http://schemas.microsoft.com/office/powerpoint/2010/main" val="1395164125"/>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8539563D-41A6-4B62-8EC3-9EA10F65F8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A3D6C1E9-5FB8-4D3A-8B40-F82A7CC15AC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CF57280D-7B35-4922-99CD-B483BE9F43C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98964B00-7EAA-4209-8167-A889959F19B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Accuracy includes limits</a:t>
            </a:r>
          </a:p>
        </p:txBody>
      </p:sp>
      <p:sp>
        <p:nvSpPr>
          <p:cNvPr id="5" name="paper panel">
            <a:extLst xmlns:a="http://schemas.openxmlformats.org/drawingml/2006/main">
              <a:ext uri="{FF2B5EF4-FFF2-40B4-BE49-F238E27FC236}">
                <a16:creationId xmlns:a16="http://schemas.microsoft.com/office/drawing/2014/main" id="{92D1AA9E-1C4E-4C04-92A3-6C6A0B40838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67EBE43-0B9D-49AB-80DB-8A63F1D3CAB3}"/>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Receive the question without requiring public disclosure or immediate performance.</a:t>
            </a:r>
          </a:p>
        </p:txBody>
      </p:sp>
      <p:sp>
        <p:nvSpPr>
          <p:cNvPr id="7" name="content 1">
            <a:extLst xmlns:a="http://schemas.openxmlformats.org/drawingml/2006/main">
              <a:ext uri="{FF2B5EF4-FFF2-40B4-BE49-F238E27FC236}">
                <a16:creationId xmlns:a16="http://schemas.microsoft.com/office/drawing/2014/main" id="{3FC94C8C-0423-4F45-A505-3BC6ED2DCC23}"/>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Revise when the evidence supports a clearer or more accurate statement.</a:t>
            </a:r>
          </a:p>
        </p:txBody>
      </p:sp>
      <p:sp>
        <p:nvSpPr>
          <p:cNvPr id="8" name="content 2">
            <a:extLst xmlns:a="http://schemas.openxmlformats.org/drawingml/2006/main">
              <a:ext uri="{FF2B5EF4-FFF2-40B4-BE49-F238E27FC236}">
                <a16:creationId xmlns:a16="http://schemas.microsoft.com/office/drawing/2014/main" id="{CA03368B-9812-4F71-8289-8E88166ACFF3}"/>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Hold the wording when the question asks for diagnosis, advice, personal data or evidence the sources do not provide.</a:t>
            </a:r>
          </a:p>
        </p:txBody>
      </p:sp>
      <p:sp>
        <p:nvSpPr>
          <p:cNvPr id="9" name="content 3">
            <a:extLst xmlns:a="http://schemas.openxmlformats.org/drawingml/2006/main">
              <a:ext uri="{FF2B5EF4-FFF2-40B4-BE49-F238E27FC236}">
                <a16:creationId xmlns:a16="http://schemas.microsoft.com/office/drawing/2014/main" id="{3DD96069-3B4C-4B2E-B884-31ED631640D1}"/>
              </a:ext>
            </a:extLst>
          </p:cNvPr>
          <p:cNvSpPr>
            <a:spLocks xmlns:a="http://schemas.openxmlformats.org/drawingml/2006/main" noGrp="1"/>
          </p:cNvSpPr>
          <p:nvPr/>
        </p:nvSpPr>
        <p:spPr>
          <a:xfrm xmlns:a="http://schemas.openxmlformats.org/drawingml/2006/main">
            <a:off x="800100" y="42100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Revise The audience notices a missing source credit, unclear term or wording stronger than the matrix supports.</a:t>
            </a:r>
          </a:p>
        </p:txBody>
      </p:sp>
      <p:sp>
        <p:nvSpPr>
          <p:cNvPr id="10" name="content 4">
            <a:extLst xmlns:a="http://schemas.openxmlformats.org/drawingml/2006/main">
              <a:ext uri="{FF2B5EF4-FFF2-40B4-BE49-F238E27FC236}">
                <a16:creationId xmlns:a16="http://schemas.microsoft.com/office/drawing/2014/main" id="{FB594856-9BAB-4ABE-89F3-9266B9D8A7E3}"/>
              </a:ext>
            </a:extLst>
          </p:cNvPr>
          <p:cNvSpPr>
            <a:spLocks xmlns:a="http://schemas.openxmlformats.org/drawingml/2006/main" noGrp="1"/>
          </p:cNvSpPr>
          <p:nvPr/>
        </p:nvSpPr>
        <p:spPr>
          <a:xfrm xmlns:a="http://schemas.openxmlformats.org/drawingml/2006/main">
            <a:off x="800100" y="5000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Hold The audience asks for certainty, diagnosis, treatment advice or personal/family information.</a:t>
            </a:r>
          </a:p>
        </p:txBody>
      </p:sp>
      <p:sp>
        <p:nvSpPr>
          <p:cNvPr id="11" name="time">
            <a:extLst xmlns:a="http://schemas.openxmlformats.org/drawingml/2006/main">
              <a:ext uri="{FF2B5EF4-FFF2-40B4-BE49-F238E27FC236}">
                <a16:creationId xmlns:a16="http://schemas.microsoft.com/office/drawing/2014/main" id="{A5015102-1185-4DDE-B02B-F808ABA3E9A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2" name="number">
            <a:extLst xmlns:a="http://schemas.openxmlformats.org/drawingml/2006/main">
              <a:ext uri="{FF2B5EF4-FFF2-40B4-BE49-F238E27FC236}">
                <a16:creationId xmlns:a16="http://schemas.microsoft.com/office/drawing/2014/main" id="{4BDEBB0D-8CF5-4E60-A4F9-53CD609A5D5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24</a:t>
            </a:r>
          </a:p>
        </p:txBody>
      </p:sp>
    </p:spTree>
    <p:extLst>
      <p:ext uri="{BB962C8B-B14F-4D97-AF65-F5344CB8AC3E}">
        <p14:creationId xmlns:p14="http://schemas.microsoft.com/office/powerpoint/2010/main" val="1195635032"/>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C40304CD-F4D4-4EBB-8BEC-F00D82E86F0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CF59279-A21E-4E1F-99C8-2BF32553AC5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F5DB280A-DBA8-4C3E-ACF2-7F0629A726C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A6FB73D3-096B-45A4-8FE0-4A5DE6A7681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Accuracy includes limits</a:t>
            </a:r>
          </a:p>
        </p:txBody>
      </p:sp>
      <p:sp>
        <p:nvSpPr>
          <p:cNvPr id="5" name="paper panel">
            <a:extLst xmlns:a="http://schemas.openxmlformats.org/drawingml/2006/main">
              <a:ext uri="{FF2B5EF4-FFF2-40B4-BE49-F238E27FC236}">
                <a16:creationId xmlns:a16="http://schemas.microsoft.com/office/drawing/2014/main" id="{135C0DCB-F433-43BE-951D-A2ABE90D3CA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07CA462-9152-4C6F-8F6F-4BA82F63B492}"/>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Add a gap The question is scientific but the two-source set cannot answer it. Record the gap and a future source-check action.</a:t>
            </a:r>
          </a:p>
        </p:txBody>
      </p:sp>
      <p:sp>
        <p:nvSpPr>
          <p:cNvPr id="7" name="content 1">
            <a:extLst xmlns:a="http://schemas.openxmlformats.org/drawingml/2006/main">
              <a:ext uri="{FF2B5EF4-FFF2-40B4-BE49-F238E27FC236}">
                <a16:creationId xmlns:a16="http://schemas.microsoft.com/office/drawing/2014/main" id="{2AEF89C0-9375-49E4-BC6B-3D88ABB00DEA}"/>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Keep authorship The learner chooses the change and explains why. Adult exact-word scribing remains labelled as support.</a:t>
            </a:r>
          </a:p>
        </p:txBody>
      </p:sp>
      <p:sp>
        <p:nvSpPr>
          <p:cNvPr id="8" name="time">
            <a:extLst xmlns:a="http://schemas.openxmlformats.org/drawingml/2006/main">
              <a:ext uri="{FF2B5EF4-FFF2-40B4-BE49-F238E27FC236}">
                <a16:creationId xmlns:a16="http://schemas.microsoft.com/office/drawing/2014/main" id="{09AD29CB-C86E-44AE-8CB7-F7E9A2CEC26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9" name="number">
            <a:extLst xmlns:a="http://schemas.openxmlformats.org/drawingml/2006/main">
              <a:ext uri="{FF2B5EF4-FFF2-40B4-BE49-F238E27FC236}">
                <a16:creationId xmlns:a16="http://schemas.microsoft.com/office/drawing/2014/main" id="{498BF837-B848-4539-87AB-395915F336C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24</a:t>
            </a:r>
          </a:p>
        </p:txBody>
      </p:sp>
    </p:spTree>
    <p:extLst>
      <p:ext uri="{BB962C8B-B14F-4D97-AF65-F5344CB8AC3E}">
        <p14:creationId xmlns:p14="http://schemas.microsoft.com/office/powerpoint/2010/main" val="610479199"/>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DAD485EA-7FD4-4614-9E71-3E491E6EDD4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21499454-8205-4B9A-8A99-449A5702F9B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D3C11C06-8B22-4213-AB95-C9AAC27C838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F4C7EC4B-10BF-4A4A-A1E4-C19389B08FA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6F66C67C-9C27-44E4-B3AC-E35BB36210F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F538B7B-D3DB-47E5-954D-2519B1B7E7EF}"/>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1 · Locate</a:t>
            </a:r>
          </a:p>
        </p:txBody>
      </p:sp>
      <p:sp>
        <p:nvSpPr>
          <p:cNvPr id="7" name="content 1">
            <a:extLst xmlns:a="http://schemas.openxmlformats.org/drawingml/2006/main">
              <a:ext uri="{FF2B5EF4-FFF2-40B4-BE49-F238E27FC236}">
                <a16:creationId xmlns:a16="http://schemas.microsoft.com/office/drawing/2014/main" id="{607C733C-0BEE-417E-86A8-963862D600F0}"/>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Point to the exact slide, card or sentence where each source is credited.</a:t>
            </a:r>
          </a:p>
        </p:txBody>
      </p:sp>
      <p:sp>
        <p:nvSpPr>
          <p:cNvPr id="8" name="content 2">
            <a:extLst xmlns:a="http://schemas.openxmlformats.org/drawingml/2006/main">
              <a:ext uri="{FF2B5EF4-FFF2-40B4-BE49-F238E27FC236}">
                <a16:creationId xmlns:a16="http://schemas.microsoft.com/office/drawing/2014/main" id="{522A9946-E9CB-4AFA-AD11-D324BA24CD8F}"/>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2 · Connect</a:t>
            </a:r>
          </a:p>
        </p:txBody>
      </p:sp>
      <p:sp>
        <p:nvSpPr>
          <p:cNvPr id="9" name="content 3">
            <a:extLst xmlns:a="http://schemas.openxmlformats.org/drawingml/2006/main">
              <a:ext uri="{FF2B5EF4-FFF2-40B4-BE49-F238E27FC236}">
                <a16:creationId xmlns:a16="http://schemas.microsoft.com/office/drawing/2014/main" id="{144D0ECA-12C4-4778-BF1E-1B62D6339DDF}"/>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Explain how one source finding supports the bounded inheritance statement.</a:t>
            </a:r>
          </a:p>
        </p:txBody>
      </p:sp>
      <p:sp>
        <p:nvSpPr>
          <p:cNvPr id="10" name="content 4">
            <a:extLst xmlns:a="http://schemas.openxmlformats.org/drawingml/2006/main">
              <a:ext uri="{FF2B5EF4-FFF2-40B4-BE49-F238E27FC236}">
                <a16:creationId xmlns:a16="http://schemas.microsoft.com/office/drawing/2014/main" id="{5F48F99C-468D-454C-9C6B-0BE6D1A75091}"/>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3 · Limit</a:t>
            </a:r>
          </a:p>
        </p:txBody>
      </p:sp>
      <p:sp>
        <p:nvSpPr>
          <p:cNvPr id="11" name="content 5">
            <a:extLst xmlns:a="http://schemas.openxmlformats.org/drawingml/2006/main">
              <a:ext uri="{FF2B5EF4-FFF2-40B4-BE49-F238E27FC236}">
                <a16:creationId xmlns:a16="http://schemas.microsoft.com/office/drawing/2014/main" id="{4C1D0BDB-88D1-4B33-BBB8-0A7723757EF0}"/>
              </a:ext>
            </a:extLst>
          </p:cNvPr>
          <p:cNvSpPr>
            <a:spLocks xmlns:a="http://schemas.openxmlformats.org/drawingml/2006/main" noGrp="1"/>
          </p:cNvSpPr>
          <p:nvPr/>
        </p:nvSpPr>
        <p:spPr>
          <a:xfrm xmlns:a="http://schemas.openxmlformats.org/drawingml/2006/main">
            <a:off x="800100" y="4457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Rehearse a safe hold sentence for a question outside the evidence or authority boundary.</a:t>
            </a:r>
          </a:p>
        </p:txBody>
      </p:sp>
      <p:sp>
        <p:nvSpPr>
          <p:cNvPr id="12" name="time">
            <a:extLst xmlns:a="http://schemas.openxmlformats.org/drawingml/2006/main">
              <a:ext uri="{FF2B5EF4-FFF2-40B4-BE49-F238E27FC236}">
                <a16:creationId xmlns:a16="http://schemas.microsoft.com/office/drawing/2014/main" id="{876D9F74-E50A-4E77-AC7A-D2F4A1907D5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3" name="number">
            <a:extLst xmlns:a="http://schemas.openxmlformats.org/drawingml/2006/main">
              <a:ext uri="{FF2B5EF4-FFF2-40B4-BE49-F238E27FC236}">
                <a16:creationId xmlns:a16="http://schemas.microsoft.com/office/drawing/2014/main" id="{DCCCC524-279B-4E9D-9416-E8F5B691DDD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24</a:t>
            </a:r>
          </a:p>
        </p:txBody>
      </p:sp>
    </p:spTree>
    <p:extLst>
      <p:ext uri="{BB962C8B-B14F-4D97-AF65-F5344CB8AC3E}">
        <p14:creationId xmlns:p14="http://schemas.microsoft.com/office/powerpoint/2010/main" val="1341334361"/>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FA7934BE-86F0-4949-B363-B9DFD5B9F20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0E6E859-C7C4-4A29-B023-88CE00C027F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4137E439-26A9-47D8-A395-B61E5922174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2A0D0F0A-D035-439C-9023-4E92AF610EB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48969BFD-E975-44DC-AB76-06637E99072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4FC81D4-87C6-42E2-B35B-5F8D9AAD222B}"/>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Opening rehearsal Question, respectful title and one-sentence Foundation core explanation.</a:t>
            </a:r>
          </a:p>
        </p:txBody>
      </p:sp>
      <p:sp>
        <p:nvSpPr>
          <p:cNvPr id="7" name="content 1">
            <a:extLst xmlns:a="http://schemas.openxmlformats.org/drawingml/2006/main">
              <a:ext uri="{FF2B5EF4-FFF2-40B4-BE49-F238E27FC236}">
                <a16:creationId xmlns:a16="http://schemas.microsoft.com/office/drawing/2014/main" id="{EC781F4E-9070-420D-BA9E-4F84357A9248}"/>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Evidence rehearsal Agreement, difference and uncertainty with both local source locators visible.</a:t>
            </a:r>
          </a:p>
        </p:txBody>
      </p:sp>
      <p:sp>
        <p:nvSpPr>
          <p:cNvPr id="8" name="content 2">
            <a:extLst xmlns:a="http://schemas.openxmlformats.org/drawingml/2006/main">
              <a:ext uri="{FF2B5EF4-FFF2-40B4-BE49-F238E27FC236}">
                <a16:creationId xmlns:a16="http://schemas.microsoft.com/office/drawing/2014/main" id="{43779A7B-83EE-4286-B607-5E708C52F5BE}"/>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Audience rehearsal Private think time, one approved question and the choice to answer, clarify, hold or redirect.</a:t>
            </a:r>
          </a:p>
        </p:txBody>
      </p:sp>
      <p:sp>
        <p:nvSpPr>
          <p:cNvPr id="9" name="content 3">
            <a:extLst xmlns:a="http://schemas.openxmlformats.org/drawingml/2006/main">
              <a:ext uri="{FF2B5EF4-FFF2-40B4-BE49-F238E27FC236}">
                <a16:creationId xmlns:a16="http://schemas.microsoft.com/office/drawing/2014/main" id="{6A4585F3-E270-4874-AA6E-39FDA97CDFFE}"/>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Closing rehearsal State what the evidence supports, what it cannot predict and which source check could happen next.</a:t>
            </a:r>
          </a:p>
        </p:txBody>
      </p:sp>
      <p:sp>
        <p:nvSpPr>
          <p:cNvPr id="10" name="time">
            <a:extLst xmlns:a="http://schemas.openxmlformats.org/drawingml/2006/main">
              <a:ext uri="{FF2B5EF4-FFF2-40B4-BE49-F238E27FC236}">
                <a16:creationId xmlns:a16="http://schemas.microsoft.com/office/drawing/2014/main" id="{22218831-68DF-4D8B-B777-E9D76251099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1" name="number">
            <a:extLst xmlns:a="http://schemas.openxmlformats.org/drawingml/2006/main">
              <a:ext uri="{FF2B5EF4-FFF2-40B4-BE49-F238E27FC236}">
                <a16:creationId xmlns:a16="http://schemas.microsoft.com/office/drawing/2014/main" id="{A9CD8F4C-C67B-49A5-BBCD-15A247E5052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24</a:t>
            </a:r>
          </a:p>
        </p:txBody>
      </p:sp>
    </p:spTree>
    <p:extLst>
      <p:ext uri="{BB962C8B-B14F-4D97-AF65-F5344CB8AC3E}">
        <p14:creationId xmlns:p14="http://schemas.microsoft.com/office/powerpoint/2010/main" val="2025037093"/>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F9EB0B16-D855-455F-993C-A32529755AF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9377D10-D27A-4C35-8EF5-A2CE760A552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4E86142A-A144-4E35-B23D-B68DC22F022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CD5ABE51-50F4-4343-9F1E-6E7FCED2485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31564131-DF22-429E-9009-A7B7A86446C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D0F2569-889B-4C6D-92F6-FD2F10AE2EB0}"/>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W14L2 evidence matrix, its two teacher-approved local sources, and current-main LAUNCH Science W12–W13 lessons.</a:t>
            </a:r>
          </a:p>
        </p:txBody>
      </p:sp>
      <p:sp>
        <p:nvSpPr>
          <p:cNvPr id="7" name="content 1">
            <a:extLst xmlns:a="http://schemas.openxmlformats.org/drawingml/2006/main">
              <a:ext uri="{FF2B5EF4-FFF2-40B4-BE49-F238E27FC236}">
                <a16:creationId xmlns:a16="http://schemas.microsoft.com/office/drawing/2014/main" id="{462107C5-02E6-41B8-AD4B-DD93FEBF6008}"/>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Run a sixty-second paired rehearsal without personal examples. The listener names one source link and asks one bounded question; the speaker records a justified revise/hold decision.</a:t>
            </a:r>
          </a:p>
        </p:txBody>
      </p:sp>
      <p:sp>
        <p:nvSpPr>
          <p:cNvPr id="8" name="time">
            <a:extLst xmlns:a="http://schemas.openxmlformats.org/drawingml/2006/main">
              <a:ext uri="{FF2B5EF4-FFF2-40B4-BE49-F238E27FC236}">
                <a16:creationId xmlns:a16="http://schemas.microsoft.com/office/drawing/2014/main" id="{5D1ADE81-472F-41E5-901E-C0353590086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9" name="number">
            <a:extLst xmlns:a="http://schemas.openxmlformats.org/drawingml/2006/main">
              <a:ext uri="{FF2B5EF4-FFF2-40B4-BE49-F238E27FC236}">
                <a16:creationId xmlns:a16="http://schemas.microsoft.com/office/drawing/2014/main" id="{C075D4B9-85EB-43EE-AA36-A53A63DEB93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24</a:t>
            </a:r>
          </a:p>
        </p:txBody>
      </p:sp>
    </p:spTree>
    <p:extLst>
      <p:ext uri="{BB962C8B-B14F-4D97-AF65-F5344CB8AC3E}">
        <p14:creationId xmlns:p14="http://schemas.microsoft.com/office/powerpoint/2010/main" val="687566399"/>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37D7F237-07BE-4B3B-820D-752D6821929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AB0C2DD9-1205-40CF-88BB-DE852B3E62C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410ED27A-4E14-468F-9B98-DD8F5BDF051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AC96885C-F03B-4CF5-A133-66BB361140A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4B01A876-80CD-4FA4-B4CB-7AEA2063B37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A3C8865-D514-4475-A55F-D20E31592E45}"/>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Create and deliver the presentation through the agreed private or small-audience route. Include the question, inheritance explanation, two credited source findings, variation/uncertainty and the boundary. Record the audience question and your evidence-led revise/hold decision.</a:t>
            </a:r>
          </a:p>
        </p:txBody>
      </p:sp>
      <p:sp>
        <p:nvSpPr>
          <p:cNvPr id="7" name="content 1">
            <a:extLst xmlns:a="http://schemas.openxmlformats.org/drawingml/2006/main">
              <a:ext uri="{FF2B5EF4-FFF2-40B4-BE49-F238E27FC236}">
                <a16:creationId xmlns:a16="http://schemas.microsoft.com/office/drawing/2014/main" id="{4EFB574F-FF88-40B0-83B1-A4CDED99EA71}"/>
              </a:ext>
            </a:extLst>
          </p:cNvPr>
          <p:cNvSpPr>
            <a:spLocks xmlns:a="http://schemas.openxmlformats.org/drawingml/2006/main" noGrp="1"/>
          </p:cNvSpPr>
          <p:nvPr/>
        </p:nvSpPr>
        <p:spPr>
          <a:xfrm xmlns:a="http://schemas.openxmlformats.org/drawingml/2006/main">
            <a:off x="800100" y="3629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 Build Create four clear sections: question, Foundation biology, two-source evidence comparison, and variation/uncertainty with source credits.</a:t>
            </a:r>
          </a:p>
        </p:txBody>
      </p:sp>
      <p:sp>
        <p:nvSpPr>
          <p:cNvPr id="8" name="content 2">
            <a:extLst xmlns:a="http://schemas.openxmlformats.org/drawingml/2006/main">
              <a:ext uri="{FF2B5EF4-FFF2-40B4-BE49-F238E27FC236}">
                <a16:creationId xmlns:a16="http://schemas.microsoft.com/office/drawing/2014/main" id="{2762B887-F074-415D-A7F2-EB1053284C3A}"/>
              </a:ext>
            </a:extLst>
          </p:cNvPr>
          <p:cNvSpPr>
            <a:spLocks xmlns:a="http://schemas.openxmlformats.org/drawingml/2006/main" noGrp="1"/>
          </p:cNvSpPr>
          <p:nvPr/>
        </p:nvSpPr>
        <p:spPr>
          <a:xfrm xmlns:a="http://schemas.openxmlformats.org/drawingml/2006/main">
            <a:off x="800100" y="44196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 Deliver Use the agreed written, narrated, recorded or private route. Do not require public performance or a personal connection.</a:t>
            </a:r>
          </a:p>
        </p:txBody>
      </p:sp>
      <p:sp>
        <p:nvSpPr>
          <p:cNvPr id="9" name="time">
            <a:extLst xmlns:a="http://schemas.openxmlformats.org/drawingml/2006/main">
              <a:ext uri="{FF2B5EF4-FFF2-40B4-BE49-F238E27FC236}">
                <a16:creationId xmlns:a16="http://schemas.microsoft.com/office/drawing/2014/main" id="{939DD69D-F889-4A88-8BEF-F14057DD293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5B52A158-D200-4745-9F42-1732AC1C0D7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24</a:t>
            </a:r>
          </a:p>
        </p:txBody>
      </p:sp>
    </p:spTree>
    <p:extLst>
      <p:ext uri="{BB962C8B-B14F-4D97-AF65-F5344CB8AC3E}">
        <p14:creationId xmlns:p14="http://schemas.microsoft.com/office/powerpoint/2010/main" val="1493251857"/>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C9EF0FBF-4171-41D3-9F97-8621405E14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13736E2-0ABD-49A4-B5DD-38633021DEB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5D40B10D-37C8-444E-B780-A84AC43F0AE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AE29FFC7-DB59-4CD9-95BA-CF8AF9DB10D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33484F7B-A9D8-4611-B3E8-F2BA3DA4204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BFFA29E-DDD9-4557-A850-ED7CFE0CD1AD}"/>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 Receive Take one approved audience question. Answer from evidence, ask for clarification, hold, or redirect safely.</a:t>
            </a:r>
          </a:p>
        </p:txBody>
      </p:sp>
      <p:sp>
        <p:nvSpPr>
          <p:cNvPr id="7" name="content 1">
            <a:extLst xmlns:a="http://schemas.openxmlformats.org/drawingml/2006/main">
              <a:ext uri="{FF2B5EF4-FFF2-40B4-BE49-F238E27FC236}">
                <a16:creationId xmlns:a16="http://schemas.microsoft.com/office/drawing/2014/main" id="{2FC6E669-D6B3-47BA-8F85-5AD53B32A54D}"/>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 Record influence Write the question, the decision to revise or hold, the evidence reason and the exact visible change or future check.</a:t>
            </a:r>
          </a:p>
        </p:txBody>
      </p:sp>
      <p:sp>
        <p:nvSpPr>
          <p:cNvPr id="8" name="content 2">
            <a:extLst xmlns:a="http://schemas.openxmlformats.org/drawingml/2006/main">
              <a:ext uri="{FF2B5EF4-FFF2-40B4-BE49-F238E27FC236}">
                <a16:creationId xmlns:a16="http://schemas.microsoft.com/office/drawing/2014/main" id="{F2CEE34C-6E8C-4504-9BAF-188C4C992EEB}"/>
              </a:ext>
            </a:extLst>
          </p:cNvPr>
          <p:cNvSpPr>
            <a:spLocks xmlns:a="http://schemas.openxmlformats.org/drawingml/2006/main" noGrp="1"/>
          </p:cNvSpPr>
          <p:nvPr/>
        </p:nvSpPr>
        <p:spPr>
          <a:xfrm xmlns:a="http://schemas.openxmlformats.org/drawingml/2006/main">
            <a:off x="800100" y="375285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Opening check State the bounded question, why it matters to the C44 research outcome and which approved sources will be used. Do not open with a dramatic personal story, an unverified statistic or a question that invites the audience to disclose health or family information.</a:t>
            </a:r>
          </a:p>
        </p:txBody>
      </p:sp>
      <p:sp>
        <p:nvSpPr>
          <p:cNvPr id="9" name="time">
            <a:extLst xmlns:a="http://schemas.openxmlformats.org/drawingml/2006/main">
              <a:ext uri="{FF2B5EF4-FFF2-40B4-BE49-F238E27FC236}">
                <a16:creationId xmlns:a16="http://schemas.microsoft.com/office/drawing/2014/main" id="{EEC473A2-7D99-4140-933A-6D5301B592E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A27591A3-6A6F-4801-B11C-A6BD910E672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24</a:t>
            </a:r>
          </a:p>
        </p:txBody>
      </p:sp>
    </p:spTree>
    <p:extLst>
      <p:ext uri="{BB962C8B-B14F-4D97-AF65-F5344CB8AC3E}">
        <p14:creationId xmlns:p14="http://schemas.microsoft.com/office/powerpoint/2010/main" val="1552519514"/>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6FF3F014-D59A-429A-BB63-120B9192136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F4605F2-50EC-486C-A49E-0EE7E95C187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F1FFE470-D2E3-4EC0-9F96-097437AE4FC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4B48FD26-8FA6-485E-A00F-CDA619D78EC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EC407A3A-6C97-46D5-AC90-F61B9581AA8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BD96A06-2FFB-4FFB-958B-E1B54BD21083}"/>
              </a:ext>
            </a:extLst>
          </p:cNvPr>
          <p:cNvSpPr>
            <a:spLocks xmlns:a="http://schemas.openxmlformats.org/drawingml/2006/main" noGrp="1"/>
          </p:cNvSpPr>
          <p:nvPr/>
        </p:nvSpPr>
        <p:spPr>
          <a:xfrm xmlns:a="http://schemas.openxmlformats.org/drawingml/2006/main">
            <a:off x="800100" y="2171700"/>
            <a:ext cx="105918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Science check Explain the Foundation relationship among gene, allele, inherited combination, probability and variation before adding detail. Keep source evidence separate from learner reasoning. A presentation should help the audience follow the biology, not reward technical vocabulary that has not been explained.</a:t>
            </a:r>
          </a:p>
        </p:txBody>
      </p:sp>
      <p:sp>
        <p:nvSpPr>
          <p:cNvPr id="7" name="content 1">
            <a:extLst xmlns:a="http://schemas.openxmlformats.org/drawingml/2006/main">
              <a:ext uri="{FF2B5EF4-FFF2-40B4-BE49-F238E27FC236}">
                <a16:creationId xmlns:a16="http://schemas.microsoft.com/office/drawing/2014/main" id="{36EC5AAE-DCC2-42E7-8CE6-331CA96CA21E}"/>
              </a:ext>
            </a:extLst>
          </p:cNvPr>
          <p:cNvSpPr>
            <a:spLocks xmlns:a="http://schemas.openxmlformats.org/drawingml/2006/main" noGrp="1"/>
          </p:cNvSpPr>
          <p:nvPr/>
        </p:nvSpPr>
        <p:spPr>
          <a:xfrm xmlns:a="http://schemas.openxmlformats.org/drawingml/2006/main">
            <a:off x="800100" y="39624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Credit check Place a short publisher and local-locator credit beside each used finding, then keep the fuller source trail in the evidence matrix. An image, diagram or number needs the same trace as prose. Remove material whose origin or relevance cannot be checked.</a:t>
            </a:r>
          </a:p>
        </p:txBody>
      </p:sp>
      <p:sp>
        <p:nvSpPr>
          <p:cNvPr id="8" name="time">
            <a:extLst xmlns:a="http://schemas.openxmlformats.org/drawingml/2006/main">
              <a:ext uri="{FF2B5EF4-FFF2-40B4-BE49-F238E27FC236}">
                <a16:creationId xmlns:a16="http://schemas.microsoft.com/office/drawing/2014/main" id="{9ED0B020-5DC4-4E86-AC8A-E58EE3E3914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9" name="number">
            <a:extLst xmlns:a="http://schemas.openxmlformats.org/drawingml/2006/main">
              <a:ext uri="{FF2B5EF4-FFF2-40B4-BE49-F238E27FC236}">
                <a16:creationId xmlns:a16="http://schemas.microsoft.com/office/drawing/2014/main" id="{9A2663DF-6E90-4631-A1E9-F4E6AA6A350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20 / 24</a:t>
            </a:r>
          </a:p>
        </p:txBody>
      </p:sp>
    </p:spTree>
    <p:extLst>
      <p:ext uri="{BB962C8B-B14F-4D97-AF65-F5344CB8AC3E}">
        <p14:creationId xmlns:p14="http://schemas.microsoft.com/office/powerpoint/2010/main" val="1642556616"/>
      </p:ext>
    </p:extLst>
  </p:cSld>
</p:sld>
</file>

<file path=ppt/slides/slide2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F8DB323E-2D5B-4860-B6A8-9289715F9B0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436B072-35AE-4E4F-B60F-CF34410FB3B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2C219257-17DE-4383-B9B7-D0271F4C165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B9091051-7FB0-490A-B240-3F4765AE8C0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8B4EA385-08E8-4008-B388-191C5BED5581}"/>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4DF19FA-7C5A-4E3F-9BCD-4C46CFD0EC94}"/>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Audience check Invite a question about the science or evidence, not about anyone's body or family. Receive it, classify it as answer, clarify, hold or redirect, and state the reason. A respectful hold is stronger than a confident answer the approved sources do not support.</a:t>
            </a:r>
          </a:p>
        </p:txBody>
      </p:sp>
      <p:sp>
        <p:nvSpPr>
          <p:cNvPr id="7" name="content 1">
            <a:extLst xmlns:a="http://schemas.openxmlformats.org/drawingml/2006/main">
              <a:ext uri="{FF2B5EF4-FFF2-40B4-BE49-F238E27FC236}">
                <a16:creationId xmlns:a16="http://schemas.microsoft.com/office/drawing/2014/main" id="{E6FFE275-B484-451B-B518-82C0E7038889}"/>
              </a:ext>
            </a:extLst>
          </p:cNvPr>
          <p:cNvSpPr>
            <a:spLocks xmlns:a="http://schemas.openxmlformats.org/drawingml/2006/main" noGrp="1"/>
          </p:cNvSpPr>
          <p:nvPr/>
        </p:nvSpPr>
        <p:spPr>
          <a:xfrm xmlns:a="http://schemas.openxmlformats.org/drawingml/2006/main">
            <a:off x="800100" y="36290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8" name="content 2">
            <a:extLst xmlns:a="http://schemas.openxmlformats.org/drawingml/2006/main">
              <a:ext uri="{FF2B5EF4-FFF2-40B4-BE49-F238E27FC236}">
                <a16:creationId xmlns:a16="http://schemas.microsoft.com/office/drawing/2014/main" id="{275ADF8E-315C-47BB-BD5D-2262F99155DB}"/>
              </a:ext>
            </a:extLst>
          </p:cNvPr>
          <p:cNvSpPr>
            <a:spLocks xmlns:a="http://schemas.openxmlformats.org/drawingml/2006/main" noGrp="1"/>
          </p:cNvSpPr>
          <p:nvPr/>
        </p:nvSpPr>
        <p:spPr>
          <a:xfrm xmlns:a="http://schemas.openxmlformats.org/drawingml/2006/main">
            <a:off x="800100" y="4105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a four-panel frame, prepared vocabulary and a private explanation to a trusted adult or approved recording route.</a:t>
            </a:r>
          </a:p>
        </p:txBody>
      </p:sp>
      <p:sp>
        <p:nvSpPr>
          <p:cNvPr id="9" name="content 3">
            <a:extLst xmlns:a="http://schemas.openxmlformats.org/drawingml/2006/main">
              <a:ext uri="{FF2B5EF4-FFF2-40B4-BE49-F238E27FC236}">
                <a16:creationId xmlns:a16="http://schemas.microsoft.com/office/drawing/2014/main" id="{E9B5ADFC-B05E-4040-88B2-087280578603}"/>
              </a:ext>
            </a:extLst>
          </p:cNvPr>
          <p:cNvSpPr>
            <a:spLocks xmlns:a="http://schemas.openxmlformats.org/drawingml/2006/main" noGrp="1"/>
          </p:cNvSpPr>
          <p:nvPr/>
        </p:nvSpPr>
        <p:spPr>
          <a:xfrm xmlns:a="http://schemas.openxmlformats.org/drawingml/2006/main">
            <a:off x="800100" y="48958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10" name="time">
            <a:extLst xmlns:a="http://schemas.openxmlformats.org/drawingml/2006/main">
              <a:ext uri="{FF2B5EF4-FFF2-40B4-BE49-F238E27FC236}">
                <a16:creationId xmlns:a16="http://schemas.microsoft.com/office/drawing/2014/main" id="{48765B8A-2C59-4642-83A6-2A3047343ED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1" name="number">
            <a:extLst xmlns:a="http://schemas.openxmlformats.org/drawingml/2006/main">
              <a:ext uri="{FF2B5EF4-FFF2-40B4-BE49-F238E27FC236}">
                <a16:creationId xmlns:a16="http://schemas.microsoft.com/office/drawing/2014/main" id="{6CC9CFF0-E5F2-43A6-93EC-5EDC4417DE7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21 / 24</a:t>
            </a:r>
          </a:p>
        </p:txBody>
      </p:sp>
    </p:spTree>
    <p:extLst>
      <p:ext uri="{BB962C8B-B14F-4D97-AF65-F5344CB8AC3E}">
        <p14:creationId xmlns:p14="http://schemas.microsoft.com/office/powerpoint/2010/main" val="782883111"/>
      </p:ext>
    </p:extLst>
  </p:cSld>
</p:sld>
</file>

<file path=ppt/slides/slide2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28487616-C857-49FD-8ABB-226BCAEBED0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024846F-5805-43F7-96C1-531B6BFF97E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3631E697-E63A-42D2-BC0C-0BB5DF08838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59BB6ABD-589A-4E32-928C-82569B492C6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D7E7F58A-07E0-4531-BF3A-0EBE22DC5A3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CE484D3-2D6C-4D07-AF6A-C3E1303F955A}"/>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Build an independent evidence-led presentation with two credited sources, one uncertainty and one response-led revision.</a:t>
            </a:r>
          </a:p>
        </p:txBody>
      </p:sp>
      <p:sp>
        <p:nvSpPr>
          <p:cNvPr id="7" name="content 1">
            <a:extLst xmlns:a="http://schemas.openxmlformats.org/drawingml/2006/main">
              <a:ext uri="{FF2B5EF4-FFF2-40B4-BE49-F238E27FC236}">
                <a16:creationId xmlns:a16="http://schemas.microsoft.com/office/drawing/2014/main" id="{1EAF72AD-A0E9-4CBB-A8F1-9207BA84BEDF}"/>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8" name="content 2">
            <a:extLst xmlns:a="http://schemas.openxmlformats.org/drawingml/2006/main">
              <a:ext uri="{FF2B5EF4-FFF2-40B4-BE49-F238E27FC236}">
                <a16:creationId xmlns:a16="http://schemas.microsoft.com/office/drawing/2014/main" id="{2C4BAA7F-8540-4FD6-AEE2-7C33A98744FD}"/>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Evaluate a misleading deterministic claim, explain why the evidence does not support it and adapt the presentation for a different audience.</a:t>
            </a:r>
          </a:p>
        </p:txBody>
      </p:sp>
      <p:sp>
        <p:nvSpPr>
          <p:cNvPr id="9" name="time">
            <a:extLst xmlns:a="http://schemas.openxmlformats.org/drawingml/2006/main">
              <a:ext uri="{FF2B5EF4-FFF2-40B4-BE49-F238E27FC236}">
                <a16:creationId xmlns:a16="http://schemas.microsoft.com/office/drawing/2014/main" id="{AC62BE0A-EBAF-4DA0-8D08-6FAFE955EC6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1C4B74E5-9670-4BCA-BB40-352E8CC490F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22 / 24</a:t>
            </a:r>
          </a:p>
        </p:txBody>
      </p:sp>
    </p:spTree>
    <p:extLst>
      <p:ext uri="{BB962C8B-B14F-4D97-AF65-F5344CB8AC3E}">
        <p14:creationId xmlns:p14="http://schemas.microsoft.com/office/powerpoint/2010/main" val="772516802"/>
      </p:ext>
    </p:extLst>
  </p:cSld>
</p:sld>
</file>

<file path=ppt/slides/slide2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90F9EC9B-D773-471B-B6EC-9F30DA1899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A34B532-2443-4860-9870-D057688F436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451736CD-6B01-45A7-B966-DC06DBF6CF7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64611E36-7296-4252-9319-F3CDFB38164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One evidence link, one limit, one next step</a:t>
            </a:r>
          </a:p>
        </p:txBody>
      </p:sp>
      <p:sp>
        <p:nvSpPr>
          <p:cNvPr id="5" name="paper panel">
            <a:extLst xmlns:a="http://schemas.openxmlformats.org/drawingml/2006/main">
              <a:ext uri="{FF2B5EF4-FFF2-40B4-BE49-F238E27FC236}">
                <a16:creationId xmlns:a16="http://schemas.microsoft.com/office/drawing/2014/main" id="{22DCEA53-2321-4B41-ADCF-6B7D32B4F59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2940010-76A9-468B-9E06-C0226A0FAD1C}"/>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Complete: 'The evidence supports…; it cannot predict…; the audience asked…; I revised/held because…'.</a:t>
            </a:r>
          </a:p>
        </p:txBody>
      </p:sp>
      <p:sp>
        <p:nvSpPr>
          <p:cNvPr id="7" name="content 1">
            <a:extLst xmlns:a="http://schemas.openxmlformats.org/drawingml/2006/main">
              <a:ext uri="{FF2B5EF4-FFF2-40B4-BE49-F238E27FC236}">
                <a16:creationId xmlns:a16="http://schemas.microsoft.com/office/drawing/2014/main" id="{77C93C1A-D4E0-4FD5-9B52-95D46B2DAFC1}"/>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Evidence link Name one supported inheritance statement and the two approved locators that underpin it.</a:t>
            </a:r>
          </a:p>
        </p:txBody>
      </p:sp>
      <p:sp>
        <p:nvSpPr>
          <p:cNvPr id="8" name="content 2">
            <a:extLst xmlns:a="http://schemas.openxmlformats.org/drawingml/2006/main">
              <a:ext uri="{FF2B5EF4-FFF2-40B4-BE49-F238E27FC236}">
                <a16:creationId xmlns:a16="http://schemas.microsoft.com/office/drawing/2014/main" id="{E8F1E94F-7AA7-4D00-AB3D-190E4CBD3B84}"/>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Limit State what the evidence cannot diagnose, guarantee or advise for an individual person.</a:t>
            </a:r>
          </a:p>
        </p:txBody>
      </p:sp>
      <p:sp>
        <p:nvSpPr>
          <p:cNvPr id="9" name="content 3">
            <a:extLst xmlns:a="http://schemas.openxmlformats.org/drawingml/2006/main">
              <a:ext uri="{FF2B5EF4-FFF2-40B4-BE49-F238E27FC236}">
                <a16:creationId xmlns:a16="http://schemas.microsoft.com/office/drawing/2014/main" id="{DB823451-F3A7-4BA1-8332-6BBF70A7ED05}"/>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Audience influence Describe the exact revision or hold and why the matrix justified that response.</a:t>
            </a:r>
          </a:p>
        </p:txBody>
      </p:sp>
      <p:sp>
        <p:nvSpPr>
          <p:cNvPr id="10" name="time">
            <a:extLst xmlns:a="http://schemas.openxmlformats.org/drawingml/2006/main">
              <a:ext uri="{FF2B5EF4-FFF2-40B4-BE49-F238E27FC236}">
                <a16:creationId xmlns:a16="http://schemas.microsoft.com/office/drawing/2014/main" id="{26546C72-6905-41B1-92DD-CA8D83B7AA7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11" name="number">
            <a:extLst xmlns:a="http://schemas.openxmlformats.org/drawingml/2006/main">
              <a:ext uri="{FF2B5EF4-FFF2-40B4-BE49-F238E27FC236}">
                <a16:creationId xmlns:a16="http://schemas.microsoft.com/office/drawing/2014/main" id="{FA869086-9A55-48AC-8311-E0316843553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23 / 24</a:t>
            </a:r>
          </a:p>
        </p:txBody>
      </p:sp>
    </p:spTree>
    <p:extLst>
      <p:ext uri="{BB962C8B-B14F-4D97-AF65-F5344CB8AC3E}">
        <p14:creationId xmlns:p14="http://schemas.microsoft.com/office/powerpoint/2010/main" val="1499466674"/>
      </p:ext>
    </p:extLst>
  </p:cSld>
</p:sld>
</file>

<file path=ppt/slides/slide2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5F218835-9480-4FCD-BFA7-50932E4B62C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2174641-93D9-4ED9-979F-658EECD4DBD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7ECAE29E-C614-4D6C-A02E-B920644C93C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20BAC5DA-BA97-48C4-BA0B-D1FD54286ED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One evidence link, one limit, one next step</a:t>
            </a:r>
          </a:p>
        </p:txBody>
      </p:sp>
      <p:sp>
        <p:nvSpPr>
          <p:cNvPr id="5" name="paper panel">
            <a:extLst xmlns:a="http://schemas.openxmlformats.org/drawingml/2006/main">
              <a:ext uri="{FF2B5EF4-FFF2-40B4-BE49-F238E27FC236}">
                <a16:creationId xmlns:a16="http://schemas.microsoft.com/office/drawing/2014/main" id="{BB514A5D-AFDC-4CB9-B8E8-2F94B5D07B4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F9298F9-1EA2-4B77-B0E6-B48457657A03}"/>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Next check Name one missing source, wording or accessibility action and who owns it.</a:t>
            </a:r>
          </a:p>
        </p:txBody>
      </p:sp>
      <p:sp>
        <p:nvSpPr>
          <p:cNvPr id="7" name="time">
            <a:extLst xmlns:a="http://schemas.openxmlformats.org/drawingml/2006/main">
              <a:ext uri="{FF2B5EF4-FFF2-40B4-BE49-F238E27FC236}">
                <a16:creationId xmlns:a16="http://schemas.microsoft.com/office/drawing/2014/main" id="{17E7847E-1B2D-4261-A6B7-F5BE72A7CD1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8" name="number">
            <a:extLst xmlns:a="http://schemas.openxmlformats.org/drawingml/2006/main">
              <a:ext uri="{FF2B5EF4-FFF2-40B4-BE49-F238E27FC236}">
                <a16:creationId xmlns:a16="http://schemas.microsoft.com/office/drawing/2014/main" id="{EDD872BF-CDE6-4749-94C0-64CA5C02954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24 / 24</a:t>
            </a:r>
          </a:p>
        </p:txBody>
      </p:sp>
    </p:spTree>
    <p:extLst>
      <p:ext uri="{BB962C8B-B14F-4D97-AF65-F5344CB8AC3E}">
        <p14:creationId xmlns:p14="http://schemas.microsoft.com/office/powerpoint/2010/main" val="8212271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2026-09-08T09:10:21.4710000Z</dcterms:created>
  <dcterms:modified xsi:type="dcterms:W3CDTF">2026-09-08T09:10:21.4710000Z</dcterms:modified>
</coreProperties>
</file>