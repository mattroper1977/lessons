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b0daf10f1924350" /><Relationship Type="http://schemas.openxmlformats.org/officeDocument/2006/relationships/extended-properties" Target="/docProps/app.xml" Id="R7342c866e3984b31" /><Relationship Type="http://schemas.openxmlformats.org/officeDocument/2006/relationships/officeDocument" Target="/ppt/presentation.xml" Id="Rb6a753b0ae1647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9383e75df784302"/>
  </p:sldMasterIdLst>
  <p:notesMasterIdLst>
    <p:notesMasterId xmlns:r="http://schemas.openxmlformats.org/officeDocument/2006/relationships" r:id="R09e274573fd74bfd"/>
  </p:notesMasterIdLst>
  <p:sldIdLst>
    <p:sldId xmlns:r="http://schemas.openxmlformats.org/officeDocument/2006/relationships" id="256" r:id="R754cbbaf01ac4f71"/>
    <p:sldId xmlns:r="http://schemas.openxmlformats.org/officeDocument/2006/relationships" id="257" r:id="R65302f66d58b4886"/>
    <p:sldId xmlns:r="http://schemas.openxmlformats.org/officeDocument/2006/relationships" id="258" r:id="R9333e62c5dcb489f"/>
    <p:sldId xmlns:r="http://schemas.openxmlformats.org/officeDocument/2006/relationships" id="259" r:id="R6bb5ca40cff1444c"/>
    <p:sldId xmlns:r="http://schemas.openxmlformats.org/officeDocument/2006/relationships" id="260" r:id="R2c8d9fec987f4fe5"/>
    <p:sldId xmlns:r="http://schemas.openxmlformats.org/officeDocument/2006/relationships" id="261" r:id="R8270e2af18924b0d"/>
    <p:sldId xmlns:r="http://schemas.openxmlformats.org/officeDocument/2006/relationships" id="262" r:id="Re71617f116904894"/>
    <p:sldId xmlns:r="http://schemas.openxmlformats.org/officeDocument/2006/relationships" id="263" r:id="Redac625a2d7c4fb0"/>
    <p:sldId xmlns:r="http://schemas.openxmlformats.org/officeDocument/2006/relationships" id="264" r:id="R9b8ee2b4ff0e48c0"/>
    <p:sldId xmlns:r="http://schemas.openxmlformats.org/officeDocument/2006/relationships" id="265" r:id="R0360f9f7a01949d7"/>
    <p:sldId xmlns:r="http://schemas.openxmlformats.org/officeDocument/2006/relationships" id="266" r:id="R53d034812d8a4cf8"/>
    <p:sldId xmlns:r="http://schemas.openxmlformats.org/officeDocument/2006/relationships" id="267" r:id="R011dc8c5a5824b2f"/>
    <p:sldId xmlns:r="http://schemas.openxmlformats.org/officeDocument/2006/relationships" id="268" r:id="Rf5cdcdd1ff3e4875"/>
    <p:sldId xmlns:r="http://schemas.openxmlformats.org/officeDocument/2006/relationships" id="269" r:id="Rd60ca8e9aaf0482a"/>
    <p:sldId xmlns:r="http://schemas.openxmlformats.org/officeDocument/2006/relationships" id="270" r:id="Ra013739de11a4538"/>
    <p:sldId xmlns:r="http://schemas.openxmlformats.org/officeDocument/2006/relationships" id="271" r:id="R83a7d00e8ec84f3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82b5252a454a14" /><Relationship Type="http://schemas.openxmlformats.org/officeDocument/2006/relationships/slideMaster" Target="/ppt/slideMasters/slideMaster1.xml" Id="R09383e75df784302" /><Relationship Type="http://schemas.openxmlformats.org/officeDocument/2006/relationships/notesMaster" Target="/ppt/notesMasters/notesMaster1.xml" Id="R09e274573fd74bfd" /><Relationship Type="http://schemas.openxmlformats.org/officeDocument/2006/relationships/presProps" Target="/ppt/presProps.xml" Id="Ra3c938508bcd4207" /><Relationship Type="http://schemas.openxmlformats.org/officeDocument/2006/relationships/tableStyles" Target="/ppt/tableStyles.xml" Id="R3a6da7ad043241a1" /><Relationship Type="http://schemas.openxmlformats.org/officeDocument/2006/relationships/slide" Target="/ppt/slides/slide1.xml" Id="R754cbbaf01ac4f71" /><Relationship Type="http://schemas.openxmlformats.org/officeDocument/2006/relationships/slide" Target="/ppt/slides/slide2.xml" Id="R65302f66d58b4886" /><Relationship Type="http://schemas.openxmlformats.org/officeDocument/2006/relationships/slide" Target="/ppt/slides/slide3.xml" Id="R9333e62c5dcb489f" /><Relationship Type="http://schemas.openxmlformats.org/officeDocument/2006/relationships/slide" Target="/ppt/slides/slide4.xml" Id="R6bb5ca40cff1444c" /><Relationship Type="http://schemas.openxmlformats.org/officeDocument/2006/relationships/slide" Target="/ppt/slides/slide5.xml" Id="R2c8d9fec987f4fe5" /><Relationship Type="http://schemas.openxmlformats.org/officeDocument/2006/relationships/slide" Target="/ppt/slides/slide6.xml" Id="R8270e2af18924b0d" /><Relationship Type="http://schemas.openxmlformats.org/officeDocument/2006/relationships/slide" Target="/ppt/slides/slide7.xml" Id="Re71617f116904894" /><Relationship Type="http://schemas.openxmlformats.org/officeDocument/2006/relationships/slide" Target="/ppt/slides/slide8.xml" Id="Redac625a2d7c4fb0" /><Relationship Type="http://schemas.openxmlformats.org/officeDocument/2006/relationships/slide" Target="/ppt/slides/slide9.xml" Id="R9b8ee2b4ff0e48c0" /><Relationship Type="http://schemas.openxmlformats.org/officeDocument/2006/relationships/slide" Target="/ppt/slides/slide10.xml" Id="R0360f9f7a01949d7" /><Relationship Type="http://schemas.openxmlformats.org/officeDocument/2006/relationships/slide" Target="/ppt/slides/slide11.xml" Id="R53d034812d8a4cf8" /><Relationship Type="http://schemas.openxmlformats.org/officeDocument/2006/relationships/slide" Target="/ppt/slides/slide12.xml" Id="R011dc8c5a5824b2f" /><Relationship Type="http://schemas.openxmlformats.org/officeDocument/2006/relationships/slide" Target="/ppt/slides/slide13.xml" Id="Rf5cdcdd1ff3e4875" /><Relationship Type="http://schemas.openxmlformats.org/officeDocument/2006/relationships/slide" Target="/ppt/slides/slide14.xml" Id="Rd60ca8e9aaf0482a" /><Relationship Type="http://schemas.openxmlformats.org/officeDocument/2006/relationships/slide" Target="/ppt/slides/slide15.xml" Id="Ra013739de11a4538" /><Relationship Type="http://schemas.openxmlformats.org/officeDocument/2006/relationships/slide" Target="/ppt/slides/slide16.xml" Id="R83a7d00e8ec84f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c643613a2648b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1c617ce46e645d3" /><Relationship Type="http://schemas.openxmlformats.org/officeDocument/2006/relationships/notesMaster" Target="/ppt/notesMasters/notesMaster1.xml" Id="Rcca29841688d4c9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0d56010df5c472f" /><Relationship Type="http://schemas.openxmlformats.org/officeDocument/2006/relationships/notesMaster" Target="/ppt/notesMasters/notesMaster1.xml" Id="R443fa09f3376439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7ab391e685b4ea6" /><Relationship Type="http://schemas.openxmlformats.org/officeDocument/2006/relationships/notesMaster" Target="/ppt/notesMasters/notesMaster1.xml" Id="R0916979560504aa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c39f23042864fd7" /><Relationship Type="http://schemas.openxmlformats.org/officeDocument/2006/relationships/notesMaster" Target="/ppt/notesMasters/notesMaster1.xml" Id="R59d9d07cd5174b7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a166e40fb0f4502" /><Relationship Type="http://schemas.openxmlformats.org/officeDocument/2006/relationships/notesMaster" Target="/ppt/notesMasters/notesMaster1.xml" Id="Raad8add4dae34f7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a01d850271146ae" /><Relationship Type="http://schemas.openxmlformats.org/officeDocument/2006/relationships/notesMaster" Target="/ppt/notesMasters/notesMaster1.xml" Id="R1fb12c9c18c64fd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07deb7a9aec4373" /><Relationship Type="http://schemas.openxmlformats.org/officeDocument/2006/relationships/notesMaster" Target="/ppt/notesMasters/notesMaster1.xml" Id="R59c08048cd0c46a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dda3f37c3c84edb" /><Relationship Type="http://schemas.openxmlformats.org/officeDocument/2006/relationships/notesMaster" Target="/ppt/notesMasters/notesMaster1.xml" Id="Rc08258c8c7324dd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2ec0593129742d6" /><Relationship Type="http://schemas.openxmlformats.org/officeDocument/2006/relationships/notesMaster" Target="/ppt/notesMasters/notesMaster1.xml" Id="Redd8a25f9b9d444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14bb704964d4a4e" /><Relationship Type="http://schemas.openxmlformats.org/officeDocument/2006/relationships/notesMaster" Target="/ppt/notesMasters/notesMaster1.xml" Id="R88e4b012a9e9424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35a6440e5dd4bf4" /><Relationship Type="http://schemas.openxmlformats.org/officeDocument/2006/relationships/notesMaster" Target="/ppt/notesMasters/notesMaster1.xml" Id="Rfa5b0c7d8aec429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3926b1938d24565" /><Relationship Type="http://schemas.openxmlformats.org/officeDocument/2006/relationships/notesMaster" Target="/ppt/notesMasters/notesMaster1.xml" Id="Rc5ad5d9fd6c14b4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b86a7bfd14540d1" /><Relationship Type="http://schemas.openxmlformats.org/officeDocument/2006/relationships/notesMaster" Target="/ppt/notesMasters/notesMaster1.xml" Id="Rca0f80d7121048a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4465f5758e64abf" /><Relationship Type="http://schemas.openxmlformats.org/officeDocument/2006/relationships/notesMaster" Target="/ppt/notesMasters/notesMaster1.xml" Id="Rcf7e8e53cdfb434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f7aad6ced45403e" /><Relationship Type="http://schemas.openxmlformats.org/officeDocument/2006/relationships/notesMaster" Target="/ppt/notesMasters/notesMaster1.xml" Id="Rfb65be4bd0594b3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340bd62bdea468e" /><Relationship Type="http://schemas.openxmlformats.org/officeDocument/2006/relationships/notesMaster" Target="/ppt/notesMasters/notesMaster1.xml" Id="Rad2f1308689a41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SCI_L_W8L2_Amylase_pH_Core_Practical_Explore.html. Overview: 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setup, safety and sensory notes before pupils enter.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Set predictable Space and keep the learning goal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iodine colour is a threshold judgement, not a continuous measure of starch concentration. Sampling intervals limit time precision, and the classroom method does not show molecular collisions or active-site shape directly.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LAUNCH · GCSE Biology · Week 8 Enrichment · Explore</a:t>
            </a:r>
          </a:p>
          <a:p xmlns:a="http://schemas.openxmlformats.org/drawingml/2006/main">
            <a:r>
              <a:t>Learning objective: I can follow the centre-approved Pearson method to investigate how pH affects amylase activity, recording safe continuous-sampling evidence accurately.</a:t>
            </a:r>
          </a:p>
          <a:p xmlns:a="http://schemas.openxmlformats.org/drawingml/2006/main">
            <a:r>
              <a:t>Success criteria</a:t>
            </a:r>
          </a:p>
          <a:p xmlns:a="http://schemas.openxmlformats.org/drawingml/2006/main">
            <a:r>
              <a:t>Follow the authorised method and role boundaries, including iodine and temperature-control precautions.</a:t>
            </a:r>
          </a:p>
          <a:p xmlns:a="http://schemas.openxmlformats.org/drawingml/2006/main">
            <a:r>
              <a:t>Sample at the agreed interval and recognise iodine results showing starch detected and starch not detected in the sampled drop.</a:t>
            </a:r>
          </a:p>
          <a:p xmlns:a="http://schemas.openxmlformats.org/drawingml/2006/main">
            <a:r>
              <a:t>Record pH, endpoint time and observations without changing or hiding an uncertain result.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SCI_L_W8L2_Amylase_pH_Core_Practical_Explore.html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SCI_L_W8L2_Amylase_pH_Core_Practical_Explore.html. Overview: 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setup, safety and sensory notes before pupils enter.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Set predictable Space and keep the learning goal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iodine colour is a threshold judgement, not a continuous measure of starch concentration. Sampling intervals limit time precision, and the classroom method does not show molecular collisions or active-site shape directly.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LAUNCH · GCSE Biology · Week 8 Enrichment · Explore</a:t>
            </a:r>
          </a:p>
          <a:p xmlns:a="http://schemas.openxmlformats.org/drawingml/2006/main">
            <a:r>
              <a:t>Learning objective: I can follow the centre-approved Pearson method to investigate how pH affects amylase activity, recording safe continuous-sampling evidence accurately.</a:t>
            </a:r>
          </a:p>
          <a:p xmlns:a="http://schemas.openxmlformats.org/drawingml/2006/main">
            <a:r>
              <a:t>Success criteria</a:t>
            </a:r>
          </a:p>
          <a:p xmlns:a="http://schemas.openxmlformats.org/drawingml/2006/main">
            <a:r>
              <a:t>Follow the authorised method and role boundaries, including iodine and temperature-control precautions.</a:t>
            </a:r>
          </a:p>
          <a:p xmlns:a="http://schemas.openxmlformats.org/drawingml/2006/main">
            <a:r>
              <a:t>Sample at the agreed interval and recognise iodine results showing starch detected and starch not detected in the sampled drop.</a:t>
            </a:r>
          </a:p>
          <a:p xmlns:a="http://schemas.openxmlformats.org/drawingml/2006/main">
            <a:r>
              <a:t>Record pH, endpoint time and observations without changing or hiding an uncertain result.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SCI_L_W8L2_Amylase_pH_Core_Practical_Explore.html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SCI_L_W8L2_Amylase_pH_Core_Practical_Explore.html. Arrival: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Wait, regulate and retrieve through the lightest workable route.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recall is inaccessible, point to one retrieval sentence; do not teach today’s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iodine colour is a threshold judgement, not a continuous measure of starch concentration. Sampling intervals limit time precision, and the classroom method does not show molecular collisions or active-site shape directly.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 only what has already been taught</a:t>
            </a:r>
          </a:p>
          <a:p xmlns:a="http://schemas.openxmlformats.org/drawingml/2006/main">
            <a:r>
              <a:t>Last lesson: amylase is an enzyme whose active site is specific to starch.</a:t>
            </a:r>
          </a:p>
          <a:p xmlns:a="http://schemas.openxmlformats.org/drawingml/2006/main">
            <a:r>
              <a:t>Last lesson: IV = buffer pH; DV = endpoint time; temperature, volumes/concentrations and sampling interval are controlled.</a:t>
            </a:r>
          </a:p>
          <a:p xmlns:a="http://schemas.openxmlformats.org/drawingml/2006/main">
            <a:r>
              <a:t>Last lesson: iodine turns blue-black when starch is detected and stays orange-brown when starch is not detected in the sampled drop.</a:t>
            </a:r>
          </a:p>
          <a:p xmlns:a="http://schemas.openxmlformats.org/drawingml/2006/main">
            <a:r>
              <a:t>Lead-in: the practical starts only when the teacher confirms the centre-approved method and risk assessment.</a:t>
            </a:r>
          </a:p>
          <a:p xmlns:a="http://schemas.openxmlformats.org/drawingml/2006/main">
            <a:r>
              <a:t>New to this class, absent, or not sure? Everything needed is in the retrieval box above. Read it, point to it or ask a familiar adult to read it exactly.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State the independent and dependent variables.</a:t>
            </a:r>
          </a:p>
          <a:p xmlns:a="http://schemas.openxmlformats.org/drawingml/2006/main">
            <a:r>
              <a:t>Name two variables that must stay constant.</a:t>
            </a:r>
          </a:p>
          <a:p xmlns:a="http://schemas.openxmlformats.org/drawingml/2006/main">
            <a:r>
              <a:t>State what the iodine endpoint means.</a:t>
            </a:r>
          </a:p>
          <a:p xmlns:a="http://schemas.openxmlformats.org/drawingml/2006/main">
            <a:r>
              <a:t>Lead-in: explain why all iodine wells should be prepared before the reaction starts.</a:t>
            </a:r>
          </a:p>
          <a:p xmlns:a="http://schemas.openxmlformats.org/drawingml/2006/main">
            <a:r>
              <a:t>Read-aloud route: a familiar adult may read the task exactly while the text remains visible. No device voice or media permission is required.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SCI_L_W8L2_Amylase_pH_Core_Practical_Explore.html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SCI_L_W8L2_Amylase_pH_Core_Practical_Explore.html. Starter: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curiosity: receive every first idea without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‘What makes you think that?’ and preserve the prediction for later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iodine colour is a threshold judgement, not a continuous measure of starch concentration. Sampling intervals limit time precision, and the classroom method does not show molecular collisions or active-site shape directly.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VISUAL HOOK · FRAME 1</a:t>
            </a:r>
          </a:p>
          <a:p xmlns:a="http://schemas.openxmlformats.org/drawingml/2006/main">
            <a:r>
              <a:t>Sample a drop every 30 seconds onto iodine.</a:t>
            </a:r>
          </a:p>
          <a:p xmlns:a="http://schemas.openxmlformats.org/drawingml/2006/main">
            <a:r>
              <a:t>Same interval every time. That is what makes the times comparable.</a:t>
            </a:r>
          </a:p>
          <a:p xmlns:a="http://schemas.openxmlformats.org/drawingml/2006/main">
            <a:r>
              <a:t>LOCAL VISUAL HOOK · FRAME 2</a:t>
            </a:r>
          </a:p>
          <a:p xmlns:a="http://schemas.openxmlformats.org/drawingml/2006/main">
            <a:r>
              <a:t>The endpoint is the first drop that stays orange-brown.</a:t>
            </a:r>
          </a:p>
          <a:p xmlns:a="http://schemas.openxmlformats.org/drawingml/2006/main">
            <a:r>
              <a:t>Record the time of that drop. Do not round to the answer you expected.</a:t>
            </a:r>
          </a:p>
          <a:p xmlns:a="http://schemas.openxmlformats.org/drawingml/2006/main">
            <a:r>
              <a:t>LOCAL VISUAL HOOK · FRAME 3</a:t>
            </a:r>
          </a:p>
          <a:p xmlns:a="http://schemas.openxmlformats.org/drawingml/2006/main">
            <a:r>
              <a:t>No change by the end? That is a result too.</a:t>
            </a:r>
          </a:p>
          <a:p xmlns:a="http://schemas.openxmlformats.org/drawingml/2006/main">
            <a:r>
              <a:t>Record it honestly: “starch still present at 300 s”. An uncertain drop is recorded as uncertain.</a:t>
            </a:r>
          </a:p>
          <a:p xmlns:a="http://schemas.openxmlformats.org/drawingml/2006/main">
            <a:r>
              <a:t>Commit one first idea. Predictions are held, not marked. Pointing, selecting, saying or signing all count.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>The method is fine because the reaction can wait while the tile is prepared.</a:t>
            </a:r>
          </a:p>
          <a:p xmlns:a="http://schemas.openxmlformats.org/drawingml/2006/main">
            <a:r>
              <a:t>Pause and reset: prepare the iodine wells first so sampling can begin at the agreed time.</a:t>
            </a:r>
          </a:p>
          <a:p xmlns:a="http://schemas.openxmlformats.org/drawingml/2006/main">
            <a:r>
              <a:t>Add extra amylase to make up for the delay.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SCI_L_W8L2_Amylase_pH_Core_Practical_Explore.html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SCI_L_W8L2_Amylase_pH_Core_Practical_Explore.html. Starter: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curiosity: receive every first idea without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‘What makes you think that?’ and preserve the prediction for later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iodine colour is a threshold judgement, not a continuous measure of starch concentration. Sampling intervals limit time precision, and the classroom method does not show molecular collisions or active-site shape directly.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VISUAL HOOK · FRAME 1</a:t>
            </a:r>
          </a:p>
          <a:p xmlns:a="http://schemas.openxmlformats.org/drawingml/2006/main">
            <a:r>
              <a:t>Sample a drop every 30 seconds onto iodine.</a:t>
            </a:r>
          </a:p>
          <a:p xmlns:a="http://schemas.openxmlformats.org/drawingml/2006/main">
            <a:r>
              <a:t>Same interval every time. That is what makes the times comparable.</a:t>
            </a:r>
          </a:p>
          <a:p xmlns:a="http://schemas.openxmlformats.org/drawingml/2006/main">
            <a:r>
              <a:t>LOCAL VISUAL HOOK · FRAME 2</a:t>
            </a:r>
          </a:p>
          <a:p xmlns:a="http://schemas.openxmlformats.org/drawingml/2006/main">
            <a:r>
              <a:t>The endpoint is the first drop that stays orange-brown.</a:t>
            </a:r>
          </a:p>
          <a:p xmlns:a="http://schemas.openxmlformats.org/drawingml/2006/main">
            <a:r>
              <a:t>Record the time of that drop. Do not round to the answer you expected.</a:t>
            </a:r>
          </a:p>
          <a:p xmlns:a="http://schemas.openxmlformats.org/drawingml/2006/main">
            <a:r>
              <a:t>LOCAL VISUAL HOOK · FRAME 3</a:t>
            </a:r>
          </a:p>
          <a:p xmlns:a="http://schemas.openxmlformats.org/drawingml/2006/main">
            <a:r>
              <a:t>No change by the end? That is a result too.</a:t>
            </a:r>
          </a:p>
          <a:p xmlns:a="http://schemas.openxmlformats.org/drawingml/2006/main">
            <a:r>
              <a:t>Record it honestly: “starch still present at 300 s”. An uncertain drop is recorded as uncertain.</a:t>
            </a:r>
          </a:p>
          <a:p xmlns:a="http://schemas.openxmlformats.org/drawingml/2006/main">
            <a:r>
              <a:t>Commit one first idea. Predictions are held, not marked. Pointing, selecting, saying or signing all count.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>The method is fine because the reaction can wait while the tile is prepared.</a:t>
            </a:r>
          </a:p>
          <a:p xmlns:a="http://schemas.openxmlformats.org/drawingml/2006/main">
            <a:r>
              <a:t>Pause and reset: prepare the iodine wells first so sampling can begin at the agreed time.</a:t>
            </a:r>
          </a:p>
          <a:p xmlns:a="http://schemas.openxmlformats.org/drawingml/2006/main">
            <a:r>
              <a:t>Add extra amylase to make up for the delay.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SCI_L_W8L2_Amylase_pH_Core_Practical_Explore.html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SCI_L_W8L2_Amylase_pH_Core_Practical_Explore.html. I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teacher/model carry the explanation; pupils watch, point or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a visual cue only if access is the barrier, then fade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iodine colour is a threshold judgement, not a continuous measure of starch concentration. Sampling intervals limit time precision, and the classroom method does not show molecular collisions or active-site shape directly.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CONTINUOUS SAMPLING test small samples over time removing and testing small samples at regular intervals while a reaction continues</a:t>
            </a:r>
          </a:p>
          <a:p xmlns:a="http://schemas.openxmlformats.org/drawingml/2006/main">
            <a:r>
              <a:t>ENDPOINT the stopping observation the agreed observable result used to decide that the measured reaction stage has been reached</a:t>
            </a:r>
          </a:p>
          <a:p xmlns:a="http://schemas.openxmlformats.org/drawingml/2006/main">
            <a:r>
              <a:t>VALIDITY tests the intended question the extent to which a method and evidence support the conclusion being made</a:t>
            </a:r>
          </a:p>
          <a:p xmlns:a="http://schemas.openxmlformats.org/drawingml/2006/main">
            <a:r>
              <a:t>WHAT THIS MODEL HELPS US SEE</a:t>
            </a:r>
          </a:p>
          <a:p xmlns:a="http://schemas.openxmlformats.org/drawingml/2006/main">
            <a:r>
              <a:t>The tile timeline makes starch disappearance visible as a sequence of tested samples and supports a defensible endpoint decision.</a:t>
            </a:r>
          </a:p>
          <a:p xmlns:a="http://schemas.openxmlformats.org/drawingml/2006/main">
            <a:r>
              <a:t>WHAT THIS MODEL DOES NOT SHOW</a:t>
            </a:r>
          </a:p>
          <a:p xmlns:a="http://schemas.openxmlformats.org/drawingml/2006/main">
            <a:r>
              <a:t>The iodine colour is a threshold judgement, not a continuous measure of starch concentration. Sampling intervals limit time precision, and the classroom method does not show molecular collisions or active-site shape directly.</a:t>
            </a:r>
          </a:p>
          <a:p xmlns:a="http://schemas.openxmlformats.org/drawingml/2006/main">
            <a:r>
              <a:t>Step 1</a:t>
            </a:r>
          </a:p>
          <a:p xmlns:a="http://schemas.openxmlformats.org/drawingml/2006/main">
            <a:r>
              <a:t>Teacher checks goggles, labelled solutions, tile layout, clean transfer equipment, timing roles and the authorised temperature-control arrangement before permission to begin.</a:t>
            </a:r>
          </a:p>
          <a:p xmlns:a="http://schemas.openxmlformats.org/drawingml/2006/main">
            <a:r>
              <a:t>Step 2</a:t>
            </a:r>
          </a:p>
          <a:p xmlns:a="http://schemas.openxmlformats.org/drawingml/2006/main">
            <a:r>
              <a:t>Prepare the specified small iodine volume in each labelled tile well before mixing amylase, buffer and starch in the authorised order.</a:t>
            </a:r>
          </a:p>
          <a:p xmlns:a="http://schemas.openxmlformats.org/drawingml/2006/main">
            <a:r>
              <a:t>Step 3</a:t>
            </a:r>
          </a:p>
          <a:p xmlns:a="http://schemas.openxmlformats.org/drawingml/2006/main">
            <a:r>
              <a:t>Start timing at the exact method-defined event. At each fixed interval transfer one clean sample to a new iodine well and record the colour honestly.</a:t>
            </a:r>
          </a:p>
          <a:p xmlns:a="http://schemas.openxmlformats.org/drawingml/2006/main">
            <a:r>
              <a:t>Continuous-sampling simulator · pick a pH, sample every 30 s</a:t>
            </a:r>
          </a:p>
          <a:p xmlns:a="http://schemas.openxmlformats.org/drawingml/2006/main">
            <a:r>
              <a:t>Simulated data for rehearsal only — your real results replace these. Iodine and the water bath stay with the adult in the real practical.</a:t>
            </a:r>
          </a:p>
          <a:p xmlns:a="http://schemas.openxmlformats.org/drawingml/2006/main">
            <a:r>
              <a:t>pH 3</a:t>
            </a:r>
          </a:p>
          <a:p xmlns:a="http://schemas.openxmlformats.org/drawingml/2006/main">
            <a:r>
              <a:t>pH 5</a:t>
            </a:r>
          </a:p>
          <a:p xmlns:a="http://schemas.openxmlformats.org/drawingml/2006/main">
            <a:r>
              <a:t>pH 7</a:t>
            </a:r>
          </a:p>
          <a:p xmlns:a="http://schemas.openxmlformats.org/drawingml/2006/main">
            <a:r>
              <a:t>pH 9</a:t>
            </a:r>
          </a:p>
          <a:p xmlns:a="http://schemas.openxmlformats.org/drawingml/2006/main">
            <a:r>
              <a:t>pH 11</a:t>
            </a:r>
          </a:p>
          <a:p xmlns:a="http://schemas.openxmlformats.org/drawingml/2006/main">
            <a:r>
              <a:t>Take the next sample (+30 s)</a:t>
            </a:r>
          </a:p>
          <a:p xmlns:a="http://schemas.openxmlformats.org/drawingml/2006/main">
            <a:r>
              <a:t>Record endpoint</a:t>
            </a:r>
          </a:p>
          <a:p xmlns:a="http://schemas.openxmlformats.org/drawingml/2006/main">
            <a:r>
              <a:t>↺ New run</a:t>
            </a:r>
          </a:p>
          <a:p xmlns:a="http://schemas.openxmlformats.org/drawingml/2006/main">
            <a:r>
              <a:t>Pick a pH to start the clock.</a:t>
            </a:r>
          </a:p>
          <a:p xmlns:a="http://schemas.openxmlformats.org/drawingml/2006/main">
            <a:r>
              <a:t>Results table: —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SCI_L_W8L2_Amylase_pH_Core_Practical_Explore.html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SCI_L_W8L2_Amylase_pH_Core_Practical_Explore.html. I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teacher/model carry the explanation; pupils watch, point or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a visual cue only if access is the barrier, then fade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iodine colour is a threshold judgement, not a continuous measure of starch concentration. Sampling intervals limit time precision, and the classroom method does not show molecular collisions or active-site shape directly.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CONTINUOUS SAMPLING test small samples over time removing and testing small samples at regular intervals while a reaction continues</a:t>
            </a:r>
          </a:p>
          <a:p xmlns:a="http://schemas.openxmlformats.org/drawingml/2006/main">
            <a:r>
              <a:t>ENDPOINT the stopping observation the agreed observable result used to decide that the measured reaction stage has been reached</a:t>
            </a:r>
          </a:p>
          <a:p xmlns:a="http://schemas.openxmlformats.org/drawingml/2006/main">
            <a:r>
              <a:t>VALIDITY tests the intended question the extent to which a method and evidence support the conclusion being made</a:t>
            </a:r>
          </a:p>
          <a:p xmlns:a="http://schemas.openxmlformats.org/drawingml/2006/main">
            <a:r>
              <a:t>WHAT THIS MODEL HELPS US SEE</a:t>
            </a:r>
          </a:p>
          <a:p xmlns:a="http://schemas.openxmlformats.org/drawingml/2006/main">
            <a:r>
              <a:t>The tile timeline makes starch disappearance visible as a sequence of tested samples and supports a defensible endpoint decision.</a:t>
            </a:r>
          </a:p>
          <a:p xmlns:a="http://schemas.openxmlformats.org/drawingml/2006/main">
            <a:r>
              <a:t>WHAT THIS MODEL DOES NOT SHOW</a:t>
            </a:r>
          </a:p>
          <a:p xmlns:a="http://schemas.openxmlformats.org/drawingml/2006/main">
            <a:r>
              <a:t>The iodine colour is a threshold judgement, not a continuous measure of starch concentration. Sampling intervals limit time precision, and the classroom method does not show molecular collisions or active-site shape directly.</a:t>
            </a:r>
          </a:p>
          <a:p xmlns:a="http://schemas.openxmlformats.org/drawingml/2006/main">
            <a:r>
              <a:t>Step 1</a:t>
            </a:r>
          </a:p>
          <a:p xmlns:a="http://schemas.openxmlformats.org/drawingml/2006/main">
            <a:r>
              <a:t>Teacher checks goggles, labelled solutions, tile layout, clean transfer equipment, timing roles and the authorised temperature-control arrangement before permission to begin.</a:t>
            </a:r>
          </a:p>
          <a:p xmlns:a="http://schemas.openxmlformats.org/drawingml/2006/main">
            <a:r>
              <a:t>Step 2</a:t>
            </a:r>
          </a:p>
          <a:p xmlns:a="http://schemas.openxmlformats.org/drawingml/2006/main">
            <a:r>
              <a:t>Prepare the specified small iodine volume in each labelled tile well before mixing amylase, buffer and starch in the authorised order.</a:t>
            </a:r>
          </a:p>
          <a:p xmlns:a="http://schemas.openxmlformats.org/drawingml/2006/main">
            <a:r>
              <a:t>Step 3</a:t>
            </a:r>
          </a:p>
          <a:p xmlns:a="http://schemas.openxmlformats.org/drawingml/2006/main">
            <a:r>
              <a:t>Start timing at the exact method-defined event. At each fixed interval transfer one clean sample to a new iodine well and record the colour honestly.</a:t>
            </a:r>
          </a:p>
          <a:p xmlns:a="http://schemas.openxmlformats.org/drawingml/2006/main">
            <a:r>
              <a:t>Continuous-sampling simulator · pick a pH, sample every 30 s</a:t>
            </a:r>
          </a:p>
          <a:p xmlns:a="http://schemas.openxmlformats.org/drawingml/2006/main">
            <a:r>
              <a:t>Simulated data for rehearsal only — your real results replace these. Iodine and the water bath stay with the adult in the real practical.</a:t>
            </a:r>
          </a:p>
          <a:p xmlns:a="http://schemas.openxmlformats.org/drawingml/2006/main">
            <a:r>
              <a:t>pH 3</a:t>
            </a:r>
          </a:p>
          <a:p xmlns:a="http://schemas.openxmlformats.org/drawingml/2006/main">
            <a:r>
              <a:t>pH 5</a:t>
            </a:r>
          </a:p>
          <a:p xmlns:a="http://schemas.openxmlformats.org/drawingml/2006/main">
            <a:r>
              <a:t>pH 7</a:t>
            </a:r>
          </a:p>
          <a:p xmlns:a="http://schemas.openxmlformats.org/drawingml/2006/main">
            <a:r>
              <a:t>pH 9</a:t>
            </a:r>
          </a:p>
          <a:p xmlns:a="http://schemas.openxmlformats.org/drawingml/2006/main">
            <a:r>
              <a:t>pH 11</a:t>
            </a:r>
          </a:p>
          <a:p xmlns:a="http://schemas.openxmlformats.org/drawingml/2006/main">
            <a:r>
              <a:t>Take the next sample (+30 s)</a:t>
            </a:r>
          </a:p>
          <a:p xmlns:a="http://schemas.openxmlformats.org/drawingml/2006/main">
            <a:r>
              <a:t>Record endpoint</a:t>
            </a:r>
          </a:p>
          <a:p xmlns:a="http://schemas.openxmlformats.org/drawingml/2006/main">
            <a:r>
              <a:t>↺ New run</a:t>
            </a:r>
          </a:p>
          <a:p xmlns:a="http://schemas.openxmlformats.org/drawingml/2006/main">
            <a:r>
              <a:t>Pick a pH to start the clock.</a:t>
            </a:r>
          </a:p>
          <a:p xmlns:a="http://schemas.openxmlformats.org/drawingml/2006/main">
            <a:r>
              <a:t>Results table: —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SCI_L_W8L2_Amylase_pH_Core_Practical_Explore.html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SCI_L_W8L2_Amylase_pH_Core_Practical_Explore.html. I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teacher/model carry the explanation; pupils watch, point or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a visual cue only if access is the barrier, then fade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iodine colour is a threshold judgement, not a continuous measure of starch concentration. Sampling intervals limit time precision, and the classroom method does not show molecular collisions or active-site shape directly.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CONTINUOUS SAMPLING test small samples over time removing and testing small samples at regular intervals while a reaction continues</a:t>
            </a:r>
          </a:p>
          <a:p xmlns:a="http://schemas.openxmlformats.org/drawingml/2006/main">
            <a:r>
              <a:t>ENDPOINT the stopping observation the agreed observable result used to decide that the measured reaction stage has been reached</a:t>
            </a:r>
          </a:p>
          <a:p xmlns:a="http://schemas.openxmlformats.org/drawingml/2006/main">
            <a:r>
              <a:t>VALIDITY tests the intended question the extent to which a method and evidence support the conclusion being made</a:t>
            </a:r>
          </a:p>
          <a:p xmlns:a="http://schemas.openxmlformats.org/drawingml/2006/main">
            <a:r>
              <a:t>WHAT THIS MODEL HELPS US SEE</a:t>
            </a:r>
          </a:p>
          <a:p xmlns:a="http://schemas.openxmlformats.org/drawingml/2006/main">
            <a:r>
              <a:t>The tile timeline makes starch disappearance visible as a sequence of tested samples and supports a defensible endpoint decision.</a:t>
            </a:r>
          </a:p>
          <a:p xmlns:a="http://schemas.openxmlformats.org/drawingml/2006/main">
            <a:r>
              <a:t>WHAT THIS MODEL DOES NOT SHOW</a:t>
            </a:r>
          </a:p>
          <a:p xmlns:a="http://schemas.openxmlformats.org/drawingml/2006/main">
            <a:r>
              <a:t>The iodine colour is a threshold judgement, not a continuous measure of starch concentration. Sampling intervals limit time precision, and the classroom method does not show molecular collisions or active-site shape directly.</a:t>
            </a:r>
          </a:p>
          <a:p xmlns:a="http://schemas.openxmlformats.org/drawingml/2006/main">
            <a:r>
              <a:t>Step 1</a:t>
            </a:r>
          </a:p>
          <a:p xmlns:a="http://schemas.openxmlformats.org/drawingml/2006/main">
            <a:r>
              <a:t>Teacher checks goggles, labelled solutions, tile layout, clean transfer equipment, timing roles and the authorised temperature-control arrangement before permission to begin.</a:t>
            </a:r>
          </a:p>
          <a:p xmlns:a="http://schemas.openxmlformats.org/drawingml/2006/main">
            <a:r>
              <a:t>Step 2</a:t>
            </a:r>
          </a:p>
          <a:p xmlns:a="http://schemas.openxmlformats.org/drawingml/2006/main">
            <a:r>
              <a:t>Prepare the specified small iodine volume in each labelled tile well before mixing amylase, buffer and starch in the authorised order.</a:t>
            </a:r>
          </a:p>
          <a:p xmlns:a="http://schemas.openxmlformats.org/drawingml/2006/main">
            <a:r>
              <a:t>Step 3</a:t>
            </a:r>
          </a:p>
          <a:p xmlns:a="http://schemas.openxmlformats.org/drawingml/2006/main">
            <a:r>
              <a:t>Start timing at the exact method-defined event. At each fixed interval transfer one clean sample to a new iodine well and record the colour honestly.</a:t>
            </a:r>
          </a:p>
          <a:p xmlns:a="http://schemas.openxmlformats.org/drawingml/2006/main">
            <a:r>
              <a:t>Continuous-sampling simulator · pick a pH, sample every 30 s</a:t>
            </a:r>
          </a:p>
          <a:p xmlns:a="http://schemas.openxmlformats.org/drawingml/2006/main">
            <a:r>
              <a:t>Simulated data for rehearsal only — your real results replace these. Iodine and the water bath stay with the adult in the real practical.</a:t>
            </a:r>
          </a:p>
          <a:p xmlns:a="http://schemas.openxmlformats.org/drawingml/2006/main">
            <a:r>
              <a:t>pH 3</a:t>
            </a:r>
          </a:p>
          <a:p xmlns:a="http://schemas.openxmlformats.org/drawingml/2006/main">
            <a:r>
              <a:t>pH 5</a:t>
            </a:r>
          </a:p>
          <a:p xmlns:a="http://schemas.openxmlformats.org/drawingml/2006/main">
            <a:r>
              <a:t>pH 7</a:t>
            </a:r>
          </a:p>
          <a:p xmlns:a="http://schemas.openxmlformats.org/drawingml/2006/main">
            <a:r>
              <a:t>pH 9</a:t>
            </a:r>
          </a:p>
          <a:p xmlns:a="http://schemas.openxmlformats.org/drawingml/2006/main">
            <a:r>
              <a:t>pH 11</a:t>
            </a:r>
          </a:p>
          <a:p xmlns:a="http://schemas.openxmlformats.org/drawingml/2006/main">
            <a:r>
              <a:t>Take the next sample (+30 s)</a:t>
            </a:r>
          </a:p>
          <a:p xmlns:a="http://schemas.openxmlformats.org/drawingml/2006/main">
            <a:r>
              <a:t>Record endpoint</a:t>
            </a:r>
          </a:p>
          <a:p xmlns:a="http://schemas.openxmlformats.org/drawingml/2006/main">
            <a:r>
              <a:t>↺ New run</a:t>
            </a:r>
          </a:p>
          <a:p xmlns:a="http://schemas.openxmlformats.org/drawingml/2006/main">
            <a:r>
              <a:t>Pick a pH to start the clock.</a:t>
            </a:r>
          </a:p>
          <a:p xmlns:a="http://schemas.openxmlformats.org/drawingml/2006/main">
            <a:r>
              <a:t>Results table: —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SCI_L_W8L2_Amylase_pH_Core_Practical_Explore.html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SCI_L_W8L2_Amylase_pH_Core_Practical_Explore.html. We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Scan every response mode. Do not infer understanding from handwriting or confidence.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Secure: transfer. Mixed: contrast. Misconception: counterexample then a fresh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iodine colour is a threshold judgement, not a continuous measure of starch concentration. Sampling intervals limit time precision, and the classroom method does not show molecular collisions or active-site shape directly.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Everyone commits before explanation.</a:t>
            </a:r>
          </a:p>
          <a:p xmlns:a="http://schemas.openxmlformats.org/drawingml/2006/main">
            <a:r>
              <a:t>Use a button, point, say/sign or let an adult operate the chosen button. A retry is information, not a penalty.</a:t>
            </a:r>
          </a:p>
          <a:p xmlns:a="http://schemas.openxmlformats.org/drawingml/2006/main">
            <a:r>
              <a:t>Audience move: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>60 s, because starch was definitely present then.</a:t>
            </a:r>
          </a:p>
          <a:p xmlns:a="http://schemas.openxmlformats.org/drawingml/2006/main">
            <a:r>
              <a:t>90 s, the first sampled time at which starch was not detected, with interval uncertainty acknowledged.</a:t>
            </a:r>
          </a:p>
          <a:p xmlns:a="http://schemas.openxmlformats.org/drawingml/2006/main">
            <a:r>
              <a:t>75 s exactly, because the colour must have changed at the midpoint.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SCI_L_W8L2_Amylase_pH_Core_Practical_Explore.html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SCI_L_W8L2_Amylase_pH_Core_Practical_Explore.html. I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complete evidence-to-explanation sentence, then pause.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the science words; change density, modality or adult role before changing the goal.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iodine colour is a threshold judgement, not a continuous measure of starch concentration. Sampling intervals limit time precision, and the classroom method does not show molecular collisions or active-site shape directly.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Connection: the model is useful when its visible pattern is translated into a scientific explanation.</a:t>
            </a:r>
          </a:p>
          <a:p xmlns:a="http://schemas.openxmlformats.org/drawingml/2006/main">
            <a:r>
              <a:t>Connection 1</a:t>
            </a:r>
          </a:p>
          <a:p xmlns:a="http://schemas.openxmlformats.org/drawingml/2006/main">
            <a:r>
              <a:t>Keep roles clear: one trained pupil samples, one calls the interval, one records, and one checks the tile map; rotate roles only when the teacher says it is safe.</a:t>
            </a:r>
          </a:p>
          <a:p xmlns:a="http://schemas.openxmlformats.org/drawingml/2006/main">
            <a:r>
              <a:t>Connection 2</a:t>
            </a:r>
          </a:p>
          <a:p xmlns:a="http://schemas.openxmlformats.org/drawingml/2006/main">
            <a:r>
              <a:t>Use separate labelled transfer equipment as directed to reduce cross-contamination. Never return a sample to a stock solution or reaction tube.</a:t>
            </a:r>
          </a:p>
          <a:p xmlns:a="http://schemas.openxmlformats.org/drawingml/2006/main">
            <a:r>
              <a:t>Connection 3</a:t>
            </a:r>
          </a:p>
          <a:p xmlns:a="http://schemas.openxmlformats.org/drawingml/2006/main">
            <a:r>
              <a:t>If a sample is missed, a colour is ambiguous or equipment is contaminated, preserve the raw record, tell the adult and mark the result for repeat or cautious interpretation rather than fabricating a value.</a:t>
            </a:r>
          </a:p>
          <a:p xmlns:a="http://schemas.openxmlformats.org/drawingml/2006/main">
            <a:r>
              <a:t>MODEL STRENGTH</a:t>
            </a:r>
          </a:p>
          <a:p xmlns:a="http://schemas.openxmlformats.org/drawingml/2006/main">
            <a:r>
              <a:t>The tile timeline makes starch disappearance visible as a sequence of tested samples and supports a defensible endpoint decision.</a:t>
            </a:r>
          </a:p>
          <a:p xmlns:a="http://schemas.openxmlformats.org/drawingml/2006/main">
            <a:r>
              <a:t>MODEL LIMIT</a:t>
            </a:r>
          </a:p>
          <a:p xmlns:a="http://schemas.openxmlformats.org/drawingml/2006/main">
            <a:r>
              <a:t>The iodine colour is a threshold judgement, not a continuous measure of starch concentration. Sampling intervals limit time precision, and the classroom method does not show molecular collisions or active-site shape directly.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SCI_L_W8L2_Amylase_pH_Core_Practical_Explore.html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SCI_L_W8L2_Amylase_pH_Core_Practical_Explore.html. I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complete evidence-to-explanation sentence, then pause.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the science words; change density, modality or adult role before changing the goal.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iodine colour is a threshold judgement, not a continuous measure of starch concentration. Sampling intervals limit time precision, and the classroom method does not show molecular collisions or active-site shape directly.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Connection: the model is useful when its visible pattern is translated into a scientific explanation.</a:t>
            </a:r>
          </a:p>
          <a:p xmlns:a="http://schemas.openxmlformats.org/drawingml/2006/main">
            <a:r>
              <a:t>Connection 1</a:t>
            </a:r>
          </a:p>
          <a:p xmlns:a="http://schemas.openxmlformats.org/drawingml/2006/main">
            <a:r>
              <a:t>Keep roles clear: one trained pupil samples, one calls the interval, one records, and one checks the tile map; rotate roles only when the teacher says it is safe.</a:t>
            </a:r>
          </a:p>
          <a:p xmlns:a="http://schemas.openxmlformats.org/drawingml/2006/main">
            <a:r>
              <a:t>Connection 2</a:t>
            </a:r>
          </a:p>
          <a:p xmlns:a="http://schemas.openxmlformats.org/drawingml/2006/main">
            <a:r>
              <a:t>Use separate labelled transfer equipment as directed to reduce cross-contamination. Never return a sample to a stock solution or reaction tube.</a:t>
            </a:r>
          </a:p>
          <a:p xmlns:a="http://schemas.openxmlformats.org/drawingml/2006/main">
            <a:r>
              <a:t>Connection 3</a:t>
            </a:r>
          </a:p>
          <a:p xmlns:a="http://schemas.openxmlformats.org/drawingml/2006/main">
            <a:r>
              <a:t>If a sample is missed, a colour is ambiguous or equipment is contaminated, preserve the raw record, tell the adult and mark the result for repeat or cautious interpretation rather than fabricating a value.</a:t>
            </a:r>
          </a:p>
          <a:p xmlns:a="http://schemas.openxmlformats.org/drawingml/2006/main">
            <a:r>
              <a:t>MODEL STRENGTH</a:t>
            </a:r>
          </a:p>
          <a:p xmlns:a="http://schemas.openxmlformats.org/drawingml/2006/main">
            <a:r>
              <a:t>The tile timeline makes starch disappearance visible as a sequence of tested samples and supports a defensible endpoint decision.</a:t>
            </a:r>
          </a:p>
          <a:p xmlns:a="http://schemas.openxmlformats.org/drawingml/2006/main">
            <a:r>
              <a:t>MODEL LIMIT</a:t>
            </a:r>
          </a:p>
          <a:p xmlns:a="http://schemas.openxmlformats.org/drawingml/2006/main">
            <a:r>
              <a:t>The iodine colour is a threshold judgement, not a continuous measure of starch concentration. Sampling intervals limit time precision, and the classroom method does not show molecular collisions or active-site shape directly.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SCI_L_W8L2_Amylase_pH_Core_Practical_Explore.html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SCI_L_W8L2_Amylase_pH_Core_Practical_Explore.html. We do 2: 5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pupil operation and thinking; support handling only where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changed and what stayed the same before supplying a scientific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iodine colour is a threshold judgement, not a continuous measure of starch concentration. Sampling intervals limit time precision, and the classroom method does not show molecular collisions or active-site shape directly.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Before or during the physical practical, classify each situation as continue, stop/check, or record-and-repeat.</a:t>
            </a:r>
          </a:p>
          <a:p xmlns:a="http://schemas.openxmlformats.org/drawingml/2006/main">
            <a:r>
              <a:t>Choose one live-lab situation. Commit it to the safest scientific response. Use feedback to repair role or evidence decisions. Freeze the checkpoint, then carry out only the authorised physical step.</a:t>
            </a:r>
          </a:p>
          <a:p xmlns:a="http://schemas.openxmlformats.org/drawingml/2006/main">
            <a:r>
              <a:t>Cards to place</a:t>
            </a:r>
          </a:p>
          <a:p xmlns:a="http://schemas.openxmlformats.org/drawingml/2006/main">
            <a:r>
              <a:t>Ready tile Goggles are on, iodine wells and labels are ready, roles are agreed and the teacher has authorised the setup.</a:t>
            </a:r>
          </a:p>
          <a:p xmlns:a="http://schemas.openxmlformats.org/drawingml/2006/main">
            <a:r>
              <a:t>Iodine spill Iodine is spilled on the bench or skin.</a:t>
            </a:r>
          </a:p>
          <a:p xmlns:a="http://schemas.openxmlformats.org/drawingml/2006/main">
            <a:r>
              <a:t>Unlabelled buffer A buffer container has no clear pH label.</a:t>
            </a:r>
          </a:p>
          <a:p xmlns:a="http://schemas.openxmlformats.org/drawingml/2006/main">
            <a:r>
              <a:t>Missed interval The 60 s sample was missed but the reaction and later observations are otherwise intact.</a:t>
            </a:r>
          </a:p>
          <a:p xmlns:a="http://schemas.openxmlformats.org/drawingml/2006/main">
            <a:r>
              <a:t>Borderline colour A well looks purple-brown and the agreed endpoint cannot be judged confidently.</a:t>
            </a:r>
          </a:p>
          <a:p xmlns:a="http://schemas.openxmlformats.org/drawingml/2006/main">
            <a:r>
              <a:t>Clean fixed sample A clean transfer is made at the agreed interval to the next labelled iodine well.</a:t>
            </a:r>
          </a:p>
          <a:p xmlns:a="http://schemas.openxmlformats.org/drawingml/2006/main">
            <a:r>
              <a:t>Temperature outside range The monitored temperature is outside the tolerance in the centre method.</a:t>
            </a:r>
          </a:p>
          <a:p xmlns:a="http://schemas.openxmlformats.org/drawingml/2006/main">
            <a:r>
              <a:t>Matching groups</a:t>
            </a:r>
          </a:p>
          <a:p xmlns:a="http://schemas.openxmlformats.org/drawingml/2006/main">
            <a:r>
              <a:t>CONTINUE AS AUTHORISED</a:t>
            </a:r>
          </a:p>
          <a:p xmlns:a="http://schemas.openxmlformats.org/drawingml/2006/main">
            <a:r>
              <a:t>RECORD, THEN REPEAT IF AUTHORISED</a:t>
            </a:r>
          </a:p>
          <a:p xmlns:a="http://schemas.openxmlformats.org/drawingml/2006/main">
            <a:r>
              <a:t>Freeze evidence</a:t>
            </a:r>
          </a:p>
          <a:p xmlns:a="http://schemas.openxmlformats.org/drawingml/2006/main">
            <a:r>
              <a:t>↺ Reset and retry</a:t>
            </a:r>
          </a:p>
          <a:p xmlns:a="http://schemas.openxmlformats.org/drawingml/2006/main">
            <a:r>
              <a:t>Science glitch · find and repair it</a:t>
            </a:r>
          </a:p>
          <a:p xmlns:a="http://schemas.openxmlformats.org/drawingml/2006/main">
            <a:r>
              <a:t>Claim: Evidence glitch: if the colour is hard to judge, record the time that makes the graph look smooth.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>Keep it: a smooth graph is more scientific.</a:t>
            </a:r>
          </a:p>
          <a:p xmlns:a="http://schemas.openxmlformats.org/drawingml/2006/main">
            <a:r>
              <a:t>Repair it: record the observed uncertainty and repeat if authorised; never choose a preferred value.</a:t>
            </a:r>
          </a:p>
          <a:p xmlns:a="http://schemas.openxmlformats.org/drawingml/2006/main">
            <a:r>
              <a:t>Repair it: delete the entire table so no one sees the uncertain trial.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SCI_L_W8L2_Amylase_pH_Core_Practical_Explore.html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SCI_L_W8L2_Amylase_pH_Core_Practical_Explore.html. We do 2: 5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pupil operation and thinking; support handling only where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changed and what stayed the same before supplying a scientific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iodine colour is a threshold judgement, not a continuous measure of starch concentration. Sampling intervals limit time precision, and the classroom method does not show molecular collisions or active-site shape directly.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Before or during the physical practical, classify each situation as continue, stop/check, or record-and-repeat.</a:t>
            </a:r>
          </a:p>
          <a:p xmlns:a="http://schemas.openxmlformats.org/drawingml/2006/main">
            <a:r>
              <a:t>Choose one live-lab situation. Commit it to the safest scientific response. Use feedback to repair role or evidence decisions. Freeze the checkpoint, then carry out only the authorised physical step.</a:t>
            </a:r>
          </a:p>
          <a:p xmlns:a="http://schemas.openxmlformats.org/drawingml/2006/main">
            <a:r>
              <a:t>Cards to place</a:t>
            </a:r>
          </a:p>
          <a:p xmlns:a="http://schemas.openxmlformats.org/drawingml/2006/main">
            <a:r>
              <a:t>Ready tile Goggles are on, iodine wells and labels are ready, roles are agreed and the teacher has authorised the setup.</a:t>
            </a:r>
          </a:p>
          <a:p xmlns:a="http://schemas.openxmlformats.org/drawingml/2006/main">
            <a:r>
              <a:t>Iodine spill Iodine is spilled on the bench or skin.</a:t>
            </a:r>
          </a:p>
          <a:p xmlns:a="http://schemas.openxmlformats.org/drawingml/2006/main">
            <a:r>
              <a:t>Unlabelled buffer A buffer container has no clear pH label.</a:t>
            </a:r>
          </a:p>
          <a:p xmlns:a="http://schemas.openxmlformats.org/drawingml/2006/main">
            <a:r>
              <a:t>Missed interval The 60 s sample was missed but the reaction and later observations are otherwise intact.</a:t>
            </a:r>
          </a:p>
          <a:p xmlns:a="http://schemas.openxmlformats.org/drawingml/2006/main">
            <a:r>
              <a:t>Borderline colour A well looks purple-brown and the agreed endpoint cannot be judged confidently.</a:t>
            </a:r>
          </a:p>
          <a:p xmlns:a="http://schemas.openxmlformats.org/drawingml/2006/main">
            <a:r>
              <a:t>Clean fixed sample A clean transfer is made at the agreed interval to the next labelled iodine well.</a:t>
            </a:r>
          </a:p>
          <a:p xmlns:a="http://schemas.openxmlformats.org/drawingml/2006/main">
            <a:r>
              <a:t>Temperature outside range The monitored temperature is outside the tolerance in the centre method.</a:t>
            </a:r>
          </a:p>
          <a:p xmlns:a="http://schemas.openxmlformats.org/drawingml/2006/main">
            <a:r>
              <a:t>Matching groups</a:t>
            </a:r>
          </a:p>
          <a:p xmlns:a="http://schemas.openxmlformats.org/drawingml/2006/main">
            <a:r>
              <a:t>CONTINUE AS AUTHORISED</a:t>
            </a:r>
          </a:p>
          <a:p xmlns:a="http://schemas.openxmlformats.org/drawingml/2006/main">
            <a:r>
              <a:t>RECORD, THEN REPEAT IF AUTHORISED</a:t>
            </a:r>
          </a:p>
          <a:p xmlns:a="http://schemas.openxmlformats.org/drawingml/2006/main">
            <a:r>
              <a:t>Freeze evidence</a:t>
            </a:r>
          </a:p>
          <a:p xmlns:a="http://schemas.openxmlformats.org/drawingml/2006/main">
            <a:r>
              <a:t>↺ Reset and retry</a:t>
            </a:r>
          </a:p>
          <a:p xmlns:a="http://schemas.openxmlformats.org/drawingml/2006/main">
            <a:r>
              <a:t>Science glitch · find and repair it</a:t>
            </a:r>
          </a:p>
          <a:p xmlns:a="http://schemas.openxmlformats.org/drawingml/2006/main">
            <a:r>
              <a:t>Claim: Evidence glitch: if the colour is hard to judge, record the time that makes the graph look smooth.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>Keep it: a smooth graph is more scientific.</a:t>
            </a:r>
          </a:p>
          <a:p xmlns:a="http://schemas.openxmlformats.org/drawingml/2006/main">
            <a:r>
              <a:t>Repair it: record the observed uncertainty and repeat if authorised; never choose a preferred value.</a:t>
            </a:r>
          </a:p>
          <a:p xmlns:a="http://schemas.openxmlformats.org/drawingml/2006/main">
            <a:r>
              <a:t>Repair it: delete the entire table so no one sees the uncertain trial.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SCI_L_W8L2_Amylase_pH_Core_Practical_Explore.html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SCI_L_W8L2_Amylase_pH_Core_Practical_Explore.html. Independent: 12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independence. Accept equivalent evidence routes and scribe exact meaning.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 only as much as needed; fade as soon as the pupil continues.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iodine colour is a threshold judgement, not a continuous measure of starch concentration. Sampling intervals limit time precision, and the classroom method does not show molecular collisions or active-site shape directly.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 route</a:t>
            </a:r>
          </a:p>
          <a:p xmlns:a="http://schemas.openxmlformats.org/drawingml/2006/main">
            <a:r>
              <a:t>Only the apparatus and prepared solutions listed in the centre's current Pearson-aligned CP 1.10 method: typically labelled amylase, starch and buffer solutions, iodine spotting tile setup, clean transfer equipment, reaction vessels, timer and authorised temperature-control equipment.</a:t>
            </a:r>
          </a:p>
          <a:p xmlns:a="http://schemas.openxmlformats.org/drawingml/2006/main">
            <a:r>
              <a:t>Same outcome: I can follow the centre-approved Pearson method to investigate how pH affects amylase activity, recording safe continuous-sampling evidence accurately.</a:t>
            </a:r>
          </a:p>
          <a:p xmlns:a="http://schemas.openxmlformats.org/drawingml/2006/main">
            <a:r>
              <a:t>Offline digital / director route</a:t>
            </a:r>
          </a:p>
          <a:p xmlns:a="http://schemas.openxmlformats.org/drawingml/2006/main">
            <a:r>
              <a:t>If wet work is not authorised or accessible, use the included time-sequenced colour observations to practise endpoint recording. This parity route develops reasoning but does not establish that the centre-approved practical was completed.</a:t>
            </a:r>
          </a:p>
          <a:p xmlns:a="http://schemas.openxmlformats.org/drawingml/2006/main">
            <a:r>
              <a:t>Same evidence: A dated raw table with pH, each sampled colour, first observed endpoint time, anomalies/uncertainty and the pupil's own method note. The page itself makes no CP-completion claim.</a:t>
            </a:r>
          </a:p>
          <a:p xmlns:a="http://schemas.openxmlformats.org/drawingml/2006/main">
            <a:r>
              <a:t>Equipment / setup Only the apparatus and prepared solutions listed in the centre's current Pearson-aligned CP 1.10 method: typically labelled amylase, starch and buffer solutions, iodine spotting tile setup, clean transfer equipment, reaction vessels, timer and authorised temperature-control equipment.</a:t>
            </a:r>
          </a:p>
          <a:p xmlns:a="http://schemas.openxmlformats.org/drawingml/2006/main">
            <a:r>
              <a:t>Safety / sensory Teacher/technician control applies throughout. Wear required eye protection; iodine is hazardous and stains; avoid skin/eye contact and inhalation, never taste or mouth-pipette, keep solutions labelled, follow heating and spill procedures, and use only current COSHH/local risk controls. Stop immediately if the authorised setup differs from the deck summary.</a:t>
            </a:r>
          </a:p>
          <a:p xmlns:a="http://schemas.openxmlformats.org/drawingml/2006/main">
            <a:r>
              <a:t>Offline parity If wet work is not authorised or accessible, use the included time-sequenced colour observations to practise endpoint recording. This parity route develops reasoning but does not establish that the centre-approved practical was completed.</a:t>
            </a:r>
          </a:p>
          <a:p xmlns:a="http://schemas.openxmlformats.org/drawingml/2006/main">
            <a:r>
              <a:t>No-equipment/access route: Take a safe non-contact role—timer, interval caller, observer or exact recorder—or analyse teacher-provided raw observations. The teacher decides whether any practical evidence meets course requirements.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Run or record assigned pH trials, identify endpoint times and annotate one control-variable or uncertainty check.</a:t>
            </a:r>
          </a:p>
          <a:p xmlns:a="http://schemas.openxmlformats.org/drawingml/2006/main">
            <a:r>
              <a:t>Scaffold</a:t>
            </a:r>
          </a:p>
          <a:p xmlns:a="http://schemas.openxmlformats.org/drawingml/2006/main">
            <a:r>
              <a:t>Use the prepared raw table. Write what was observed before writing what it means.</a:t>
            </a:r>
          </a:p>
          <a:p xmlns:a="http://schemas.openxmlformats.org/drawingml/2006/main">
            <a:r>
              <a:t>Evidence gate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SCI_L_W8L2_Amylase_pH_Core_Practical_Explore.html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SCI_L_W8L2_Amylase_pH_Core_Practical_Explore.html. Independent: 12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independence. Accept equivalent evidence routes and scribe exact meaning.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 only as much as needed; fade as soon as the pupil continues.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iodine colour is a threshold judgement, not a continuous measure of starch concentration. Sampling intervals limit time precision, and the classroom method does not show molecular collisions or active-site shape directly.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 route</a:t>
            </a:r>
          </a:p>
          <a:p xmlns:a="http://schemas.openxmlformats.org/drawingml/2006/main">
            <a:r>
              <a:t>Only the apparatus and prepared solutions listed in the centre's current Pearson-aligned CP 1.10 method: typically labelled amylase, starch and buffer solutions, iodine spotting tile setup, clean transfer equipment, reaction vessels, timer and authorised temperature-control equipment.</a:t>
            </a:r>
          </a:p>
          <a:p xmlns:a="http://schemas.openxmlformats.org/drawingml/2006/main">
            <a:r>
              <a:t>Same outcome: I can follow the centre-approved Pearson method to investigate how pH affects amylase activity, recording safe continuous-sampling evidence accurately.</a:t>
            </a:r>
          </a:p>
          <a:p xmlns:a="http://schemas.openxmlformats.org/drawingml/2006/main">
            <a:r>
              <a:t>Offline digital / director route</a:t>
            </a:r>
          </a:p>
          <a:p xmlns:a="http://schemas.openxmlformats.org/drawingml/2006/main">
            <a:r>
              <a:t>If wet work is not authorised or accessible, use the included time-sequenced colour observations to practise endpoint recording. This parity route develops reasoning but does not establish that the centre-approved practical was completed.</a:t>
            </a:r>
          </a:p>
          <a:p xmlns:a="http://schemas.openxmlformats.org/drawingml/2006/main">
            <a:r>
              <a:t>Same evidence: A dated raw table with pH, each sampled colour, first observed endpoint time, anomalies/uncertainty and the pupil's own method note. The page itself makes no CP-completion claim.</a:t>
            </a:r>
          </a:p>
          <a:p xmlns:a="http://schemas.openxmlformats.org/drawingml/2006/main">
            <a:r>
              <a:t>Equipment / setup Only the apparatus and prepared solutions listed in the centre's current Pearson-aligned CP 1.10 method: typically labelled amylase, starch and buffer solutions, iodine spotting tile setup, clean transfer equipment, reaction vessels, timer and authorised temperature-control equipment.</a:t>
            </a:r>
          </a:p>
          <a:p xmlns:a="http://schemas.openxmlformats.org/drawingml/2006/main">
            <a:r>
              <a:t>Safety / sensory Teacher/technician control applies throughout. Wear required eye protection; iodine is hazardous and stains; avoid skin/eye contact and inhalation, never taste or mouth-pipette, keep solutions labelled, follow heating and spill procedures, and use only current COSHH/local risk controls. Stop immediately if the authorised setup differs from the deck summary.</a:t>
            </a:r>
          </a:p>
          <a:p xmlns:a="http://schemas.openxmlformats.org/drawingml/2006/main">
            <a:r>
              <a:t>Offline parity If wet work is not authorised or accessible, use the included time-sequenced colour observations to practise endpoint recording. This parity route develops reasoning but does not establish that the centre-approved practical was completed.</a:t>
            </a:r>
          </a:p>
          <a:p xmlns:a="http://schemas.openxmlformats.org/drawingml/2006/main">
            <a:r>
              <a:t>No-equipment/access route: Take a safe non-contact role—timer, interval caller, observer or exact recorder—or analyse teacher-provided raw observations. The teacher decides whether any practical evidence meets course requirements.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Run or record assigned pH trials, identify endpoint times and annotate one control-variable or uncertainty check.</a:t>
            </a:r>
          </a:p>
          <a:p xmlns:a="http://schemas.openxmlformats.org/drawingml/2006/main">
            <a:r>
              <a:t>Scaffold</a:t>
            </a:r>
          </a:p>
          <a:p xmlns:a="http://schemas.openxmlformats.org/drawingml/2006/main">
            <a:r>
              <a:t>Use the prepared raw table. Write what was observed before writing what it means.</a:t>
            </a:r>
          </a:p>
          <a:p xmlns:a="http://schemas.openxmlformats.org/drawingml/2006/main">
            <a:r>
              <a:t>Evidence gate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SCI_L_W8L2_Amylase_pH_Core_Practical_Explore.html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SCI_L_W8L2_Amylase_pH_Core_Practical_Explore.html. Exit: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Genuinely receive one final response and name back the Science heard or seen.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Give one next move; the pupil edits or re-attempts on the existing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iodine colour is a threshold judgement, not a continuous measure of starch concentration. Sampling intervals limit time precision, and the classroom method does not show molecular collisions or active-site shape directly.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Standard</a:t>
            </a:r>
          </a:p>
          <a:p xmlns:a="http://schemas.openxmlformats.org/drawingml/2006/main">
            <a:r>
              <a:t>State the endpoint for one trial and explain why a shorter time indicates greater amylase activity.</a:t>
            </a:r>
          </a:p>
          <a:p xmlns:a="http://schemas.openxmlformats.org/drawingml/2006/main">
            <a:r>
              <a:t>Adult Audience</a:t>
            </a:r>
          </a:p>
          <a:p xmlns:a="http://schemas.openxmlformats.org/drawingml/2006/main">
            <a:r>
              <a:t>The familiar adult genuinely receives the pupil response, then says back the Science they heard or saw. The adult does not add a score or rewrite the pupil.</a:t>
            </a:r>
          </a:p>
          <a:p xmlns:a="http://schemas.openxmlformats.org/drawingml/2006/main">
            <a:r>
              <a:t>I changed / next I will …</a:t>
            </a:r>
          </a:p>
          <a:p xmlns:a="http://schemas.openxmlformats.org/drawingml/2006/main">
            <a:r>
              <a:t>Adult feedback that produced the edit / re-attempt: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SCI_L_W8L2_Amylase_pH_Core_Practical_Explore.html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ce4d6bc56c4b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10ac7c15db74959" /><Relationship Type="http://schemas.openxmlformats.org/officeDocument/2006/relationships/slideLayout" Target="/ppt/slideLayouts/slideLayout1.xml" Id="R566097e83b9f4eb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6097e83b9f4eb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fbf93d2abb46a4" /><Relationship Type="http://schemas.openxmlformats.org/officeDocument/2006/relationships/hyperlink" Target="SCI_L_W8L2_Amylase_pH_Core_Practical_Explore.html" TargetMode="External" Id="Rf9d6e9da745c4edd" /><Relationship Type="http://schemas.openxmlformats.org/officeDocument/2006/relationships/notesSlide" Target="/ppt/notesSlides/notesSlide1.xml" Id="R5c3216645d84427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30581a6ff744fa" /><Relationship Type="http://schemas.openxmlformats.org/officeDocument/2006/relationships/notesSlide" Target="/ppt/notesSlides/notesSlide2.xml" Id="R86e398b1c8d743e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d51c6aabc1475d" /><Relationship Type="http://schemas.openxmlformats.org/officeDocument/2006/relationships/notesSlide" Target="/ppt/notesSlides/notesSlide3.xml" Id="R858e7c7a5a5a40b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66b2e5112847dc" /><Relationship Type="http://schemas.openxmlformats.org/officeDocument/2006/relationships/notesSlide" Target="/ppt/notesSlides/notesSlide4.xml" Id="Ra5f3454577d047e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5366bdc1cb43b8" /><Relationship Type="http://schemas.openxmlformats.org/officeDocument/2006/relationships/image" Target="/ppt/media/image.png" Id="Rcb2b5df522b7473a" /><Relationship Type="http://schemas.openxmlformats.org/officeDocument/2006/relationships/image" Target="/ppt/media/image2.png" Id="R4f01b11a91b644a8" /><Relationship Type="http://schemas.openxmlformats.org/officeDocument/2006/relationships/image" Target="/ppt/media/image3.png" Id="R87441fb6e3ce41f3" /><Relationship Type="http://schemas.openxmlformats.org/officeDocument/2006/relationships/notesSlide" Target="/ppt/notesSlides/notesSlide5.xml" Id="R481b2bad959b471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d74c5125904dc9" /><Relationship Type="http://schemas.openxmlformats.org/officeDocument/2006/relationships/notesSlide" Target="/ppt/notesSlides/notesSlide6.xml" Id="Rd9ad9bb36f7148d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59ce7af4294f84" /><Relationship Type="http://schemas.openxmlformats.org/officeDocument/2006/relationships/notesSlide" Target="/ppt/notesSlides/notesSlide7.xml" Id="Rbd7059ce7fea421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484b18ca0d406e" /><Relationship Type="http://schemas.openxmlformats.org/officeDocument/2006/relationships/image" Target="/ppt/media/image4.png" Id="Rc796632a76cc45c5" /><Relationship Type="http://schemas.openxmlformats.org/officeDocument/2006/relationships/notesSlide" Target="/ppt/notesSlides/notesSlide8.xml" Id="R37885597249e45e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7ff87547274937" /><Relationship Type="http://schemas.openxmlformats.org/officeDocument/2006/relationships/notesSlide" Target="/ppt/notesSlides/notesSlide9.xml" Id="R80378d1f6c1f439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ca703fb36b469d" /><Relationship Type="http://schemas.openxmlformats.org/officeDocument/2006/relationships/notesSlide" Target="/ppt/notesSlides/notesSlide10.xml" Id="R1e4c5d5c19af414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568a7f77fe4ec4" /><Relationship Type="http://schemas.openxmlformats.org/officeDocument/2006/relationships/notesSlide" Target="/ppt/notesSlides/notesSlide11.xml" Id="R46a0c96f7d814db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56aa4073124fd0" /><Relationship Type="http://schemas.openxmlformats.org/officeDocument/2006/relationships/notesSlide" Target="/ppt/notesSlides/notesSlide12.xml" Id="R3fbf114efd174c8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7c346b7e9944b3" /><Relationship Type="http://schemas.openxmlformats.org/officeDocument/2006/relationships/notesSlide" Target="/ppt/notesSlides/notesSlide13.xml" Id="Rb6ed910ab0ca488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f0e10eb5eb4939" /><Relationship Type="http://schemas.openxmlformats.org/officeDocument/2006/relationships/notesSlide" Target="/ppt/notesSlides/notesSlide14.xml" Id="Rbac27bd8547c47a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40e75e1dd64c90" /><Relationship Type="http://schemas.openxmlformats.org/officeDocument/2006/relationships/notesSlide" Target="/ppt/notesSlides/notesSlide15.xml" Id="Rb34c9c571b76494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7f031c42484c61" /><Relationship Type="http://schemas.openxmlformats.org/officeDocument/2006/relationships/notesSlide" Target="/ppt/notesSlides/notesSlide16.xml" Id="R404d621d2eaa496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hase edge">
            <a:extLst xmlns:a="http://schemas.openxmlformats.org/drawingml/2006/main">
              <a:ext uri="{FF2B5EF4-FFF2-40B4-BE49-F238E27FC236}">
                <a16:creationId xmlns:a16="http://schemas.microsoft.com/office/drawing/2014/main" id="{24C3D50F-3B0E-44D1-A35C-358A3C38E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E2E59106-F3C1-4135-AA0A-8079E9B0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62ED236B-09B7-47CC-BF7F-8267F1182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632D4CB-4148-48E3-AB06-D6DD9B826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Amylase and pH: Continuous-Sampling Investigation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09E35E37-3743-41CA-9B61-537B66662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objective 0">
            <a:extLst xmlns:a="http://schemas.openxmlformats.org/drawingml/2006/main">
              <a:ext uri="{FF2B5EF4-FFF2-40B4-BE49-F238E27FC236}">
                <a16:creationId xmlns:a16="http://schemas.microsoft.com/office/drawing/2014/main" id="{A3F9D34F-E90E-4671-8E7E-72F221175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81225"/>
            <a:ext cx="5924550" cy="14622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I can follow the centre-approved Pearson method to investigate how pH affects amylase activity, recording safe continuous-sampling evidence accurately.</a:t>
            </a:r>
          </a:p>
        </p:txBody>
      </p:sp>
      <p:sp>
        <p:nvSpPr>
          <p:cNvPr id="7" name="learning move 0">
            <a:extLst xmlns:a="http://schemas.openxmlformats.org/drawingml/2006/main">
              <a:ext uri="{FF2B5EF4-FFF2-40B4-BE49-F238E27FC236}">
                <a16:creationId xmlns:a16="http://schemas.microsoft.com/office/drawing/2014/main" id="{A0F6C2EA-DDE0-4B50-B698-12AF15CE2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05050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8" name="move 0">
            <a:extLst xmlns:a="http://schemas.openxmlformats.org/drawingml/2006/main">
              <a:ext uri="{FF2B5EF4-FFF2-40B4-BE49-F238E27FC236}">
                <a16:creationId xmlns:a16="http://schemas.microsoft.com/office/drawing/2014/main" id="{551F26E3-83C3-4B6E-BC74-9A5FF9061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2887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IODINE WELLS</a:t>
            </a:r>
          </a:p>
        </p:txBody>
      </p:sp>
      <p:sp>
        <p:nvSpPr>
          <p:cNvPr id="9" name="move detail 0">
            <a:extLst xmlns:a="http://schemas.openxmlformats.org/drawingml/2006/main">
              <a:ext uri="{FF2B5EF4-FFF2-40B4-BE49-F238E27FC236}">
                <a16:creationId xmlns:a16="http://schemas.microsoft.com/office/drawing/2014/main" id="{3B74B292-20F3-4279-8A0B-A6DFA027D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7177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prepared first</a:t>
            </a:r>
          </a:p>
        </p:txBody>
      </p:sp>
      <p:sp>
        <p:nvSpPr>
          <p:cNvPr id="10" name="learning move 1">
            <a:extLst xmlns:a="http://schemas.openxmlformats.org/drawingml/2006/main">
              <a:ext uri="{FF2B5EF4-FFF2-40B4-BE49-F238E27FC236}">
                <a16:creationId xmlns:a16="http://schemas.microsoft.com/office/drawing/2014/main" id="{52021968-9C26-4724-8C4E-8C63A5DA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248025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11" name="move 1">
            <a:extLst xmlns:a="http://schemas.openxmlformats.org/drawingml/2006/main">
              <a:ext uri="{FF2B5EF4-FFF2-40B4-BE49-F238E27FC236}">
                <a16:creationId xmlns:a16="http://schemas.microsoft.com/office/drawing/2014/main" id="{3E698858-4A0F-41D6-8FBC-56107DE55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37185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FIXED INTERVAL</a:t>
            </a:r>
          </a:p>
        </p:txBody>
      </p:sp>
      <p:sp>
        <p:nvSpPr>
          <p:cNvPr id="12" name="move detail 1">
            <a:extLst xmlns:a="http://schemas.openxmlformats.org/drawingml/2006/main">
              <a:ext uri="{FF2B5EF4-FFF2-40B4-BE49-F238E27FC236}">
                <a16:creationId xmlns:a16="http://schemas.microsoft.com/office/drawing/2014/main" id="{00F7AD91-18FB-49FB-8A7F-E08885622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71475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continuous sample</a:t>
            </a:r>
          </a:p>
        </p:txBody>
      </p:sp>
      <p:sp>
        <p:nvSpPr>
          <p:cNvPr id="13" name="learning move 2">
            <a:extLst xmlns:a="http://schemas.openxmlformats.org/drawingml/2006/main">
              <a:ext uri="{FF2B5EF4-FFF2-40B4-BE49-F238E27FC236}">
                <a16:creationId xmlns:a16="http://schemas.microsoft.com/office/drawing/2014/main" id="{399BFFAD-F5FC-4815-93C4-245E9CFC7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91000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14" name="move 2">
            <a:extLst xmlns:a="http://schemas.openxmlformats.org/drawingml/2006/main">
              <a:ext uri="{FF2B5EF4-FFF2-40B4-BE49-F238E27FC236}">
                <a16:creationId xmlns:a16="http://schemas.microsoft.com/office/drawing/2014/main" id="{2977F976-7B10-4C78-8704-C4A5BD27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31482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RAW RESULTS</a:t>
            </a:r>
          </a:p>
        </p:txBody>
      </p:sp>
      <p:sp>
        <p:nvSpPr>
          <p:cNvPr id="15" name="move detail 2">
            <a:extLst xmlns:a="http://schemas.openxmlformats.org/drawingml/2006/main">
              <a:ext uri="{FF2B5EF4-FFF2-40B4-BE49-F238E27FC236}">
                <a16:creationId xmlns:a16="http://schemas.microsoft.com/office/drawing/2014/main" id="{6B468E13-4F8C-4C2B-B5CE-129D4FD2E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65772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preserve evidence</a:t>
            </a:r>
          </a:p>
        </p:txBody>
      </p:sp>
      <p:sp>
        <p:nvSpPr>
          <p:cNvPr id="16" name="HTML link">
            <a:extLst xmlns:a="http://schemas.openxmlformats.org/drawingml/2006/main">
              <a:ext uri="{FF2B5EF4-FFF2-40B4-BE49-F238E27FC236}">
                <a16:creationId xmlns:a16="http://schemas.microsoft.com/office/drawing/2014/main" id="{8B541174-EED3-41DD-9B6C-0413F21CE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95925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7A5C9E"/>
                </a:solidFill>
                <a:latin typeface="Arial"/>
                <a:ea typeface="Arial"/>
                <a:cs typeface="Arial"/>
                <a:hlinkClick xmlns:r="http://schemas.openxmlformats.org/officeDocument/2006/relationships" r:id="Rf9d6e9da745c4edd"/>
              </a:rPr>
              <a:t>Open the original interactive lesson</a:t>
            </a:r>
          </a:p>
        </p:txBody>
      </p:sp>
      <p:sp>
        <p:nvSpPr>
          <p:cNvPr id="17" name="time">
            <a:extLst xmlns:a="http://schemas.openxmlformats.org/drawingml/2006/main">
              <a:ext uri="{FF2B5EF4-FFF2-40B4-BE49-F238E27FC236}">
                <a16:creationId xmlns:a16="http://schemas.microsoft.com/office/drawing/2014/main" id="{D239FD9E-98DC-4F5E-B2C8-76A12AB6F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40 MINUTES</a:t>
            </a:r>
          </a:p>
        </p:txBody>
      </p:sp>
      <p:sp>
        <p:nvSpPr>
          <p:cNvPr id="18" name="number">
            <a:extLst xmlns:a="http://schemas.openxmlformats.org/drawingml/2006/main">
              <a:ext uri="{FF2B5EF4-FFF2-40B4-BE49-F238E27FC236}">
                <a16:creationId xmlns:a16="http://schemas.microsoft.com/office/drawing/2014/main" id="{B4737ACB-42F7-4B21-833A-D3AF0E64A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 / 16</a:t>
            </a:r>
          </a:p>
        </p:txBody>
      </p:sp>
    </p:spTree>
    <p:extLst>
      <p:ext uri="{BB962C8B-B14F-4D97-AF65-F5344CB8AC3E}">
        <p14:creationId xmlns:p14="http://schemas.microsoft.com/office/powerpoint/2010/main" val="2959725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5E67887F-CDAB-4130-9BA3-D9B0D5361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57FB20E7-029E-4631-981D-F23DD6F02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3C74B8B0-754F-4D9D-B999-A05A30103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8FE53F6-2401-44FE-8665-FF64476CD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What success looks like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70806413-B8B7-45BF-8A61-5AB34DBA3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883ED53F-3B34-49EA-9C38-76C3C34FC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Follow the authorised method and role boundaries, including iodine and temperature-control precautions.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EB1E415C-6C52-41BB-97E9-5CD8BE0E9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Sample at the agreed interval and recognise iodine results showing starch detected and starch not detected in the sampled drop.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46AF6FB2-AD7D-413F-A734-0FF2C87BF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Record pH, endpoint time and observations without changing or hiding an uncertain result.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A8887805-1C67-493E-A1CC-717745D98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40 MINUTES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FD806565-0E72-48F7-98A5-7C56EA7C4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2 / 16</a:t>
            </a:r>
          </a:p>
        </p:txBody>
      </p:sp>
    </p:spTree>
    <p:extLst>
      <p:ext uri="{BB962C8B-B14F-4D97-AF65-F5344CB8AC3E}">
        <p14:creationId xmlns:p14="http://schemas.microsoft.com/office/powerpoint/2010/main" val="17252293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39240A2C-1BBB-4B28-A626-C0FE17657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E228D327-F617-457C-B665-D03CF0105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358AB475-33C6-45A3-B8F7-C46C6B1A1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ARRIVAL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410727C-2191-41A8-AAE5-8487FD134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Retrieve and reconnect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3C582B51-8772-4CBC-92D4-FD7E8FF0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B9607747-7DA9-401E-9112-9AAF57E77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State the independent and dependent variables.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C8962A80-64C0-425D-81B9-1233B60CB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Name two variables that must stay constant.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2CDA2B5A-42B6-4E72-AB3D-F9CFC7027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State what the iodine endpoint means.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DB33FC99-6909-48F2-9E8F-81A7364A7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Lead-in: explain why all iodine wells should be prepared before the reaction starts.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74700E0C-8322-4492-9869-BDD2EAA9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ARRIVAL · 3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72997233-5814-4561-A136-733FA59C8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3 / 16</a:t>
            </a:r>
          </a:p>
        </p:txBody>
      </p:sp>
    </p:spTree>
    <p:extLst>
      <p:ext uri="{BB962C8B-B14F-4D97-AF65-F5344CB8AC3E}">
        <p14:creationId xmlns:p14="http://schemas.microsoft.com/office/powerpoint/2010/main" val="19382287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9900B626-80A3-4A52-98B7-0432133D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2C2BF2DB-7481-433B-863E-8616FDC5E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AAC769CF-149F-455D-B618-C07EDF0E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6E03DD2-8C88-4B3E-A078-492B1D486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A group starts the reaction and only then begins adding iodine to the spotting tile. What is your first judgement?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626A87C8-E67B-4422-9BC1-3AD7E69E9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5727A912-24FD-4682-8CC9-CB927FDB3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Think first. Point, say, sign or write your choice. Give one reason.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D4C8E5AD-31DE-4B54-9711-3D7DA207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The method is fine because the reaction can wait while the tile is prepared.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282ECC05-5C38-41C8-A36D-7D316FE05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Pause and reset: prepare the iodine wells first so sampling can begin at the agreed time.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37ECE6D1-E535-40C6-B7DB-5A06ACAA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00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Add extra amylase to make up for the delay.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D209FF1E-D330-4BDE-858C-CA22DE0B2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STARTER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3FCC2016-FB28-499C-A454-AFA868721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 / 16</a:t>
            </a:r>
          </a:p>
        </p:txBody>
      </p:sp>
    </p:spTree>
    <p:extLst>
      <p:ext uri="{BB962C8B-B14F-4D97-AF65-F5344CB8AC3E}">
        <p14:creationId xmlns:p14="http://schemas.microsoft.com/office/powerpoint/2010/main" val="548052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hase edge">
            <a:extLst xmlns:a="http://schemas.openxmlformats.org/drawingml/2006/main">
              <a:ext uri="{FF2B5EF4-FFF2-40B4-BE49-F238E27FC236}">
                <a16:creationId xmlns:a16="http://schemas.microsoft.com/office/drawing/2014/main" id="{FF8954DB-2739-4DAF-BB10-D2C92BF32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50140517-46BC-47E8-902F-33E0E102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EA282A87-A306-4095-A9E0-09DD407AB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CA2D06D-5F61-4CF9-AD22-E7F95030F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Look closely · what is the evidence?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CD7502E2-5DB7-4FDF-BF2A-8A884A482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2b5df522b7473a"/>
          <a:stretch xmlns:a="http://schemas.openxmlformats.org/drawingml/2006/main"/>
        </p:blipFill>
        <p:spPr>
          <a:xfrm xmlns:a="http://schemas.openxmlformats.org/drawingml/2006/main">
            <a:off x="800100" y="2883782"/>
            <a:ext cx="3378200" cy="1595261"/>
          </a:xfrm>
          <a:prstGeom xmlns:a="http://schemas.openxmlformats.org/drawingml/2006/main" prst="rect">
            <a:avLst/>
          </a:prstGeom>
        </p:spPr>
      </p:pic>
      <p:sp>
        <p:nvSpPr>
          <p:cNvPr id="7" name="visual caption 0">
            <a:extLst xmlns:a="http://schemas.openxmlformats.org/drawingml/2006/main">
              <a:ext uri="{FF2B5EF4-FFF2-40B4-BE49-F238E27FC236}">
                <a16:creationId xmlns:a16="http://schemas.microsoft.com/office/drawing/2014/main" id="{BC35E023-CEF9-4DBC-8A75-BD0B4C39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Spotting tile with three blue-black drops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01b11a91b644a8"/>
          <a:stretch xmlns:a="http://schemas.openxmlformats.org/drawingml/2006/main"/>
        </p:blipFill>
        <p:spPr>
          <a:xfrm xmlns:a="http://schemas.openxmlformats.org/drawingml/2006/main">
            <a:off x="4406900" y="2883782"/>
            <a:ext cx="3378200" cy="1595261"/>
          </a:xfrm>
          <a:prstGeom xmlns:a="http://schemas.openxmlformats.org/drawingml/2006/main" prst="rect">
            <a:avLst/>
          </a:prstGeom>
        </p:spPr>
      </p:pic>
      <p:sp>
        <p:nvSpPr>
          <p:cNvPr id="9" name="visual caption 1">
            <a:extLst xmlns:a="http://schemas.openxmlformats.org/drawingml/2006/main">
              <a:ext uri="{FF2B5EF4-FFF2-40B4-BE49-F238E27FC236}">
                <a16:creationId xmlns:a16="http://schemas.microsoft.com/office/drawing/2014/main" id="{45F5B882-2990-41FE-AA4E-35C677623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Tile showing the change from blue-black to orange-brown at 150 s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441fb6e3ce41f3"/>
          <a:stretch xmlns:a="http://schemas.openxmlformats.org/drawingml/2006/main"/>
        </p:blipFill>
        <p:spPr>
          <a:xfrm xmlns:a="http://schemas.openxmlformats.org/drawingml/2006/main">
            <a:off x="8013700" y="2883782"/>
            <a:ext cx="3378200" cy="1595261"/>
          </a:xfrm>
          <a:prstGeom xmlns:a="http://schemas.openxmlformats.org/drawingml/2006/main" prst="rect">
            <a:avLst/>
          </a:prstGeom>
        </p:spPr>
      </p:pic>
      <p:sp>
        <p:nvSpPr>
          <p:cNvPr id="11" name="visual caption 2">
            <a:extLst xmlns:a="http://schemas.openxmlformats.org/drawingml/2006/main">
              <a:ext uri="{FF2B5EF4-FFF2-40B4-BE49-F238E27FC236}">
                <a16:creationId xmlns:a16="http://schemas.microsoft.com/office/drawing/2014/main" id="{AF1AA97B-88ED-477E-BE8D-7B12314FC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Tile with all ten drops blue-black</a:t>
            </a:r>
          </a:p>
        </p:txBody>
      </p:sp>
      <p:sp>
        <p:nvSpPr>
          <p:cNvPr id="12" name="time">
            <a:extLst xmlns:a="http://schemas.openxmlformats.org/drawingml/2006/main">
              <a:ext uri="{FF2B5EF4-FFF2-40B4-BE49-F238E27FC236}">
                <a16:creationId xmlns:a16="http://schemas.microsoft.com/office/drawing/2014/main" id="{262B93DE-40C0-4FFC-AD22-81C1AD58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STARTER · 4 min across this stage</a:t>
            </a:r>
          </a:p>
        </p:txBody>
      </p:sp>
      <p:sp>
        <p:nvSpPr>
          <p:cNvPr id="13" name="number">
            <a:extLst xmlns:a="http://schemas.openxmlformats.org/drawingml/2006/main">
              <a:ext uri="{FF2B5EF4-FFF2-40B4-BE49-F238E27FC236}">
                <a16:creationId xmlns:a16="http://schemas.microsoft.com/office/drawing/2014/main" id="{164A291B-F3A1-4537-856A-426018E67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5 / 16</a:t>
            </a:r>
          </a:p>
        </p:txBody>
      </p:sp>
    </p:spTree>
    <p:extLst>
      <p:ext uri="{BB962C8B-B14F-4D97-AF65-F5344CB8AC3E}">
        <p14:creationId xmlns:p14="http://schemas.microsoft.com/office/powerpoint/2010/main" val="6456833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2CA2D243-AB31-4C3C-8496-8228E39C2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3776D444-331F-4F02-8EFC-26854A54E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05A06212-F502-4303-AFFD-8EAB37CD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943DCAE-02D0-4C33-810B-3F3B052BD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Words we will use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7D2D840F-5A78-4550-B496-0CD1826E8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0B4FCB9B-4868-4153-A849-E96003944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continuous sampling — test small samples over time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66F633E8-41BF-45DE-9A72-3D9F1E713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endpoint — the stopping observation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4B939369-C0ED-4511-8281-E9782411F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validity — tests the intended question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0CC94F76-97A3-4CD8-9408-EF66D74A3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· 4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9E8D5A11-F12C-4527-AEE2-C7336A8F3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6 / 16</a:t>
            </a:r>
          </a:p>
        </p:txBody>
      </p:sp>
    </p:spTree>
    <p:extLst>
      <p:ext uri="{BB962C8B-B14F-4D97-AF65-F5344CB8AC3E}">
        <p14:creationId xmlns:p14="http://schemas.microsoft.com/office/powerpoint/2010/main" val="7063234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75854953-0B71-4DEA-9455-3926C6689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E844B89A-ADCE-4C47-ADAA-BE485FDB4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3BD5CE5B-6FF1-4DF2-B155-35232B13F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64E4546-4932-47E9-95A7-B997E759A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Watch the model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8F6B7219-48E0-49B8-A6C8-31BFF3F80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4ED3D7F5-F191-4407-AEFA-C9D8183CE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Teacher checks goggles, labelled solutions, tile layout, clean transfer equipment, timing roles and the authorised temperature-control arrangement before permission to begin.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64133D9A-765B-4EF3-AEAB-C8760A9C4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956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Prepare the specified small iodine volume in each labelled tile well before mixing amylase, buffer and starch in the authorised order.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7B4FB1BA-0C73-42C8-9DF9-4944DE388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8622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Start timing at the exact method-defined event. At each fixed interval transfer one clean sample to a new iodine well and record the colour honestly.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E85793BE-EAA0-4255-B5E9-99A017A2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· 4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61558569-1A01-47DB-864F-DE1B3279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7 / 16</a:t>
            </a:r>
          </a:p>
        </p:txBody>
      </p:sp>
    </p:spTree>
    <p:extLst>
      <p:ext uri="{BB962C8B-B14F-4D97-AF65-F5344CB8AC3E}">
        <p14:creationId xmlns:p14="http://schemas.microsoft.com/office/powerpoint/2010/main" val="2900060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A045AAAF-3276-48A1-8C7D-B76E2E77F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26BEA649-7A25-4E33-990F-243995D8F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D6129003-230A-433E-907B-DDAEAB82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5A9B45C-01AE-4558-BE7B-730C40B3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Watch the model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D1A69176-33FB-46A2-AB4B-397C45B65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96632a76cc45c5"/>
          <a:stretch xmlns:a="http://schemas.openxmlformats.org/drawingml/2006/main"/>
        </p:blipFill>
        <p:spPr>
          <a:xfrm xmlns:a="http://schemas.openxmlformats.org/drawingml/2006/main">
            <a:off x="2919132" y="2181225"/>
            <a:ext cx="6353735" cy="3000375"/>
          </a:xfrm>
          <a:prstGeom xmlns:a="http://schemas.openxmlformats.org/drawingml/2006/main" prst="rect">
            <a:avLst/>
          </a:prstGeom>
        </p:spPr>
      </p:pic>
      <p:sp>
        <p:nvSpPr>
          <p:cNvPr id="7" name="visual caption 0">
            <a:extLst xmlns:a="http://schemas.openxmlformats.org/drawingml/2006/main">
              <a:ext uri="{FF2B5EF4-FFF2-40B4-BE49-F238E27FC236}">
                <a16:creationId xmlns:a16="http://schemas.microsoft.com/office/drawing/2014/main" id="{F6DB10A2-26B2-4B51-9536-CD80337C8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Spotting tile filling with iodine drops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E7FD7D46-B9DD-4638-9FC8-1CDB3AD4C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· 4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DDC22A5F-4553-4EEF-9962-281519ABD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8 / 16</a:t>
            </a:r>
          </a:p>
        </p:txBody>
      </p:sp>
    </p:spTree>
    <p:extLst>
      <p:ext uri="{BB962C8B-B14F-4D97-AF65-F5344CB8AC3E}">
        <p14:creationId xmlns:p14="http://schemas.microsoft.com/office/powerpoint/2010/main" val="16431372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FAD6D97D-8FDB-447D-9A3D-F2E9977E3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790F93B3-C769-411D-A32A-11DA504B0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40A725F7-D0DC-4EC2-BD89-BF2C2560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428F351-6247-4EBB-ACD0-879B02959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At 60 s the iodine well is blue-black; at 90 s it remains orange-brown. What endpoint time should be recorded with this sampling interval?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AF3ABE78-8A52-4D56-AEA0-B0D0C5A8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243CC21E-9F6D-4B56-8CE1-103BAA6E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60 s, because starch was definitely present then.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1E68302B-548F-40BE-A74F-5063B4594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90 s, the first sampled time at which starch was not detected, with interval uncertainty acknowledged.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7213BF2F-8BAB-4613-A67F-4D9488BA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75 s exactly, because the colour must have changed at the midpoint.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80ADAA79-F9A8-4052-B5A3-6386F481D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766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Commit to an answer. Show the evidence you used. Listen, then revise if needed.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FF38A083-FEEA-4723-8001-0EA4D5FF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F899F555-BF2A-4A9F-BEF3-14002E0E4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9 / 16</a:t>
            </a:r>
          </a:p>
        </p:txBody>
      </p:sp>
    </p:spTree>
    <p:extLst>
      <p:ext uri="{BB962C8B-B14F-4D97-AF65-F5344CB8AC3E}">
        <p14:creationId xmlns:p14="http://schemas.microsoft.com/office/powerpoint/2010/main" val="56900112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B2D0F903-8041-4B03-B194-D493F759C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286D3E5F-7B04-4CAA-A3E7-2854C82E4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01C6D20F-8A3F-4704-BD57-898318F84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I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DF8F439-1262-4EB4-9D33-55B6C0069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Build the explanation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E940E5F0-6BCD-4C13-8725-1410729A7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081A84CA-7503-4700-9981-B1A4E46F4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Keep roles clear: one trained pupil samples, one calls the interval, one records, and one checks the tile map; rotate roles only when the teacher says it is safe.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A1DFFFED-ED28-4032-B168-4CEF66D62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95650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Use separate labelled transfer equipment as directed to reduce cross-contamination. Never return a sample to a stock solution or reaction tube.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61EE5FA8-D166-4C69-AAF0-5793EB749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19600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If a sample is missed, a colour is ambiguous or equipment is contaminated, preserve the raw record, tell the adult and mark the result for repeat or cautious interpretation rather than fabricating a value.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6D38B26E-F892-42BA-BCE5-8D640634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2 · 4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9859BD1F-6F22-4E05-B5D1-54865D445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10 / 16</a:t>
            </a:r>
          </a:p>
        </p:txBody>
      </p:sp>
    </p:spTree>
    <p:extLst>
      <p:ext uri="{BB962C8B-B14F-4D97-AF65-F5344CB8AC3E}">
        <p14:creationId xmlns:p14="http://schemas.microsoft.com/office/powerpoint/2010/main" val="201328369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3E74BF5C-1DB7-49ED-B5E0-4C2C17AF1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47AB37DE-F2D4-419A-A19B-94AC20EE5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8D582F48-9086-4E2F-910C-1F8B2FB39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I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B82EB0B-5E62-41C6-8C46-4FAFA1BB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Find and repair the misconception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01B63315-49AC-421B-A9C1-8E3BFEEC2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BDCBBDDD-4A41-44AC-AEEA-34FFAAB30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Evidence glitch: if the colour is hard to judge, record the time that makes the graph look smooth.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74446ADC-08CA-4ABE-99D5-6E3E8498F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Keep it: a smooth graph is more scientific.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2E200DE8-6D22-4E16-BBBA-402215096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Repair it: record the observed uncertainty and repeat if authorised; never choose a preferred value.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488E544A-632D-4D7D-B31F-B61E6A191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00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Repair it: delete the entire table so no one sees the uncertain trial.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70469294-ED5F-4AB4-B2A4-5BC2E1C7A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2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0BD8351E-8CF8-4F21-8501-CBB136E3B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11 / 16</a:t>
            </a:r>
          </a:p>
        </p:txBody>
      </p:sp>
    </p:spTree>
    <p:extLst>
      <p:ext uri="{BB962C8B-B14F-4D97-AF65-F5344CB8AC3E}">
        <p14:creationId xmlns:p14="http://schemas.microsoft.com/office/powerpoint/2010/main" val="65951820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hase edge">
            <a:extLst xmlns:a="http://schemas.openxmlformats.org/drawingml/2006/main">
              <a:ext uri="{FF2B5EF4-FFF2-40B4-BE49-F238E27FC236}">
                <a16:creationId xmlns:a16="http://schemas.microsoft.com/office/drawing/2014/main" id="{E9BD577C-C5C0-45D4-BE82-856228A70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433C3CD6-DB2A-4288-9ACE-70396757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A706C277-9017-4262-A05F-86AD30BC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C8C6D80-F076-4A85-903C-3165529CD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Method-decision checkpoint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1E69742B-7586-4FBD-9264-5D618072B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FC0B6AC8-FA13-49D3-B373-554A9B36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Before or during the physical practical, classify each situation as continue, stop/check, or record-and-repeat.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DF79FA59-9DDA-439A-9982-74C280D7A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Choose one live-lab situation.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0128BD79-4C70-47E7-AA05-9BC14B248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Commit it to the safest scientific response.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44E7D361-2532-43C9-A2B9-A3C9E4838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766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Use feedback to repair role or evidence decisions.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1314C894-5646-457F-BFD6-1EE5EEF2F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338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Freeze the checkpoint, then carry out only the authorised physical step.</a:t>
            </a:r>
          </a:p>
        </p:txBody>
      </p:sp>
      <p:sp>
        <p:nvSpPr>
          <p:cNvPr id="11" name="content 5">
            <a:extLst xmlns:a="http://schemas.openxmlformats.org/drawingml/2006/main">
              <a:ext uri="{FF2B5EF4-FFF2-40B4-BE49-F238E27FC236}">
                <a16:creationId xmlns:a16="http://schemas.microsoft.com/office/drawing/2014/main" id="{E45D378B-93A4-4C4D-AB9E-5368B3F44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910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Use the numbered cards in your pupil pack. Take turns to choose, justify and check. You may direct a partner to move a card.</a:t>
            </a:r>
          </a:p>
        </p:txBody>
      </p:sp>
      <p:sp>
        <p:nvSpPr>
          <p:cNvPr id="12" name="time">
            <a:extLst xmlns:a="http://schemas.openxmlformats.org/drawingml/2006/main">
              <a:ext uri="{FF2B5EF4-FFF2-40B4-BE49-F238E27FC236}">
                <a16:creationId xmlns:a16="http://schemas.microsoft.com/office/drawing/2014/main" id="{F98C044C-41E0-40B9-9D94-8830BCA58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5 min across this stage</a:t>
            </a:r>
          </a:p>
        </p:txBody>
      </p:sp>
      <p:sp>
        <p:nvSpPr>
          <p:cNvPr id="13" name="number">
            <a:extLst xmlns:a="http://schemas.openxmlformats.org/drawingml/2006/main">
              <a:ext uri="{FF2B5EF4-FFF2-40B4-BE49-F238E27FC236}">
                <a16:creationId xmlns:a16="http://schemas.microsoft.com/office/drawing/2014/main" id="{8D0C6AF3-6239-4C7F-B9B4-BEA9965F1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12 / 16</a:t>
            </a:r>
          </a:p>
        </p:txBody>
      </p:sp>
    </p:spTree>
    <p:extLst>
      <p:ext uri="{BB962C8B-B14F-4D97-AF65-F5344CB8AC3E}">
        <p14:creationId xmlns:p14="http://schemas.microsoft.com/office/powerpoint/2010/main" val="144335873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248EB05B-E13E-42E0-B016-B89890B10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C8435547-8C08-4E10-AF20-BB2C2F472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4920A8BE-F374-4025-B105-402BDB49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17A09FD-0874-4744-AD32-543CD8E08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Choose a group · defend your placement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9034AA5C-F973-499C-89A3-9ABDDCC2B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9EE878A2-1E75-4B17-93CB-A72C59343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CONTINUE AS AUTHORISED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5E5FC618-7CCB-40C9-94BA-0712A52AF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STOP AND CHECK ADULT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D9E3D3C0-6D4A-4B91-8D10-7D0409901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RECORD, THEN REPEAT IF AUTHORISED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DD0DFAE7-233B-4103-9168-08ED5958C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Name the condition that allowed continuation or forced a stop/repeat, and link it to safety, validity or honest evidence.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8D4984F0-1E30-491A-9CC0-430FD28CC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5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6ACC00DC-DD8A-4687-8A5B-BB8118857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13 / 16</a:t>
            </a:r>
          </a:p>
        </p:txBody>
      </p:sp>
    </p:spTree>
    <p:extLst>
      <p:ext uri="{BB962C8B-B14F-4D97-AF65-F5344CB8AC3E}">
        <p14:creationId xmlns:p14="http://schemas.microsoft.com/office/powerpoint/2010/main" val="168888913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C0ED927D-DBF7-4C58-8AE1-5E3E7E67C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3665654A-8831-476F-94AD-4178698E3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819A5CE5-0837-4FF8-B018-D58E20E4A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5B40505-B7BD-479C-9096-54D14991A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Your independent mission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60CC303D-5572-47DD-A428-BDBAD7B3C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05BB2775-2792-4832-9011-C3F529007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Carry out the assigned part of the centre-approved amylase-pH investigation and preserve a complete raw evidence record.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4994820C-EAB2-4A53-8925-D89C9FCE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Record: A dated raw table with pH, each sampled colour, first observed endpoint time, anomalies/uncertainty and the pupil's own method note. The page itself makes no CP-completion claim.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639A44EE-BCEE-44AE-9897-3CC8752BF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INDEPENDENT · 12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28771587-1AB8-4446-870A-B868CA5E0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14 / 16</a:t>
            </a:r>
          </a:p>
        </p:txBody>
      </p:sp>
    </p:spTree>
    <p:extLst>
      <p:ext uri="{BB962C8B-B14F-4D97-AF65-F5344CB8AC3E}">
        <p14:creationId xmlns:p14="http://schemas.microsoft.com/office/powerpoint/2010/main" val="26509785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2F2AABFA-873C-48BC-963E-6D66D09B0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75443B42-CB79-4E49-A442-81BF7A907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672D7FB6-242D-4B42-8AF3-F4A6EECE1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078B2E9-BC44-48FA-987B-FC0A77A3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Choose your support and challenge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894567AC-D5E3-4771-8A6E-1C446D31F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97155FB9-6325-47FA-8A29-41B0EE8E9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Supported: Complete one clearly labelled reaction timeline with an adult-authorised role; circle the first orange-brown endpoint and state whether starch is detected.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D0F6D5C1-0D14-412C-9B76-8B77D4F1E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956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Standard: Run or record assigned pH trials, identify endpoint times and annotate one control-variable or uncertainty check.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8C7CFE2F-2017-4399-B379-D0B425A59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8622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Stretch: Preserve full sampling evidence, estimate the maximum endpoint-time uncertainty from the interval and justify whether a repeat is needed.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17835841-4B5B-4354-ABC2-BD9619B8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INDEPENDENT · 12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DA3C1121-8E3F-4397-B783-4F008FD6B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15 / 16</a:t>
            </a:r>
          </a:p>
        </p:txBody>
      </p:sp>
    </p:spTree>
    <p:extLst>
      <p:ext uri="{BB962C8B-B14F-4D97-AF65-F5344CB8AC3E}">
        <p14:creationId xmlns:p14="http://schemas.microsoft.com/office/powerpoint/2010/main" val="70957350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92A61FE9-5AB6-4E9F-B296-4C462E2DF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2EE3A56E-A389-47D2-B335-BB2D227E2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B6F21AFA-9911-4705-B473-D3899DD69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EXIT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D2B3C46-A85E-4DDE-A711-1FFB0208E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Show what you know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A30592FA-45B6-4D31-9D8E-1B070265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EC6A0FA4-C7D7-459F-819E-913AE3AAA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State the endpoint for one trial and explain why a shorter time indicates greater amylase activity.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5D944C7B-0955-4339-9114-8CA69C98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Point to, read or explain the evidence you made. Choose one next step after the adult has listened.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ACA86260-2042-4B88-B8BA-C45F6E7CC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EXIT · 4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D1D5D4A4-45A3-4823-8AE6-AF27B7A7A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16 / 16</a:t>
            </a:r>
          </a:p>
        </p:txBody>
      </p:sp>
    </p:spTree>
    <p:extLst>
      <p:ext uri="{BB962C8B-B14F-4D97-AF65-F5344CB8AC3E}">
        <p14:creationId xmlns:p14="http://schemas.microsoft.com/office/powerpoint/2010/main" val="9007352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2026-09-08T09:15:38.9600000Z</dcterms:created>
  <dcterms:modified xsi:type="dcterms:W3CDTF">2026-09-08T09:15:38.9600000Z</dcterms:modified>
</coreProperties>
</file>