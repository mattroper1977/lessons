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18456280574474" /><Relationship Type="http://schemas.openxmlformats.org/officeDocument/2006/relationships/extended-properties" Target="/docProps/app.xml" Id="R1ebe6d2a5a134f7d" /><Relationship Type="http://schemas.openxmlformats.org/officeDocument/2006/relationships/officeDocument" Target="/ppt/presentation.xml" Id="R84f95da46f1745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a2f6f518374f4a"/>
  </p:sldMasterIdLst>
  <p:notesMasterIdLst>
    <p:notesMasterId xmlns:r="http://schemas.openxmlformats.org/officeDocument/2006/relationships" r:id="R9c7c803f9063480f"/>
  </p:notesMasterIdLst>
  <p:sldIdLst>
    <p:sldId xmlns:r="http://schemas.openxmlformats.org/officeDocument/2006/relationships" id="256" r:id="R082f8670d9954722"/>
    <p:sldId xmlns:r="http://schemas.openxmlformats.org/officeDocument/2006/relationships" id="257" r:id="Rb7fdbae67dee4e8d"/>
    <p:sldId xmlns:r="http://schemas.openxmlformats.org/officeDocument/2006/relationships" id="258" r:id="Rc1a3c20614504b7c"/>
    <p:sldId xmlns:r="http://schemas.openxmlformats.org/officeDocument/2006/relationships" id="259" r:id="R7d49401943c34a23"/>
    <p:sldId xmlns:r="http://schemas.openxmlformats.org/officeDocument/2006/relationships" id="260" r:id="R1cb1cc0e34bf43d4"/>
    <p:sldId xmlns:r="http://schemas.openxmlformats.org/officeDocument/2006/relationships" id="261" r:id="R18544510fbd64b8a"/>
    <p:sldId xmlns:r="http://schemas.openxmlformats.org/officeDocument/2006/relationships" id="262" r:id="R85ce7b35ab544279"/>
    <p:sldId xmlns:r="http://schemas.openxmlformats.org/officeDocument/2006/relationships" id="263" r:id="R1af15f4c54674923"/>
    <p:sldId xmlns:r="http://schemas.openxmlformats.org/officeDocument/2006/relationships" id="264" r:id="R209d8172fe02495b"/>
    <p:sldId xmlns:r="http://schemas.openxmlformats.org/officeDocument/2006/relationships" id="265" r:id="R5b60c03e7eef4037"/>
    <p:sldId xmlns:r="http://schemas.openxmlformats.org/officeDocument/2006/relationships" id="266" r:id="R2980f8a45e57403b"/>
    <p:sldId xmlns:r="http://schemas.openxmlformats.org/officeDocument/2006/relationships" id="267" r:id="R2b6ae7e73ff6482b"/>
    <p:sldId xmlns:r="http://schemas.openxmlformats.org/officeDocument/2006/relationships" id="268" r:id="R6b4582e9456b4c11"/>
    <p:sldId xmlns:r="http://schemas.openxmlformats.org/officeDocument/2006/relationships" id="269" r:id="R4edb857b5feb4752"/>
    <p:sldId xmlns:r="http://schemas.openxmlformats.org/officeDocument/2006/relationships" id="270" r:id="Rcf9b4851f703429d"/>
    <p:sldId xmlns:r="http://schemas.openxmlformats.org/officeDocument/2006/relationships" id="271" r:id="R2eeba39a71054b04"/>
    <p:sldId xmlns:r="http://schemas.openxmlformats.org/officeDocument/2006/relationships" id="272" r:id="Rb0440fe5d5f547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4b6daa47094068" /><Relationship Type="http://schemas.openxmlformats.org/officeDocument/2006/relationships/slideMaster" Target="/ppt/slideMasters/slideMaster1.xml" Id="R11a2f6f518374f4a" /><Relationship Type="http://schemas.openxmlformats.org/officeDocument/2006/relationships/notesMaster" Target="/ppt/notesMasters/notesMaster1.xml" Id="R9c7c803f9063480f" /><Relationship Type="http://schemas.openxmlformats.org/officeDocument/2006/relationships/presProps" Target="/ppt/presProps.xml" Id="R873483923e754953" /><Relationship Type="http://schemas.openxmlformats.org/officeDocument/2006/relationships/tableStyles" Target="/ppt/tableStyles.xml" Id="R4d047962535440ed" /><Relationship Type="http://schemas.openxmlformats.org/officeDocument/2006/relationships/slide" Target="/ppt/slides/slide1.xml" Id="R082f8670d9954722" /><Relationship Type="http://schemas.openxmlformats.org/officeDocument/2006/relationships/slide" Target="/ppt/slides/slide2.xml" Id="Rb7fdbae67dee4e8d" /><Relationship Type="http://schemas.openxmlformats.org/officeDocument/2006/relationships/slide" Target="/ppt/slides/slide3.xml" Id="Rc1a3c20614504b7c" /><Relationship Type="http://schemas.openxmlformats.org/officeDocument/2006/relationships/slide" Target="/ppt/slides/slide4.xml" Id="R7d49401943c34a23" /><Relationship Type="http://schemas.openxmlformats.org/officeDocument/2006/relationships/slide" Target="/ppt/slides/slide5.xml" Id="R1cb1cc0e34bf43d4" /><Relationship Type="http://schemas.openxmlformats.org/officeDocument/2006/relationships/slide" Target="/ppt/slides/slide6.xml" Id="R18544510fbd64b8a" /><Relationship Type="http://schemas.openxmlformats.org/officeDocument/2006/relationships/slide" Target="/ppt/slides/slide7.xml" Id="R85ce7b35ab544279" /><Relationship Type="http://schemas.openxmlformats.org/officeDocument/2006/relationships/slide" Target="/ppt/slides/slide8.xml" Id="R1af15f4c54674923" /><Relationship Type="http://schemas.openxmlformats.org/officeDocument/2006/relationships/slide" Target="/ppt/slides/slide9.xml" Id="R209d8172fe02495b" /><Relationship Type="http://schemas.openxmlformats.org/officeDocument/2006/relationships/slide" Target="/ppt/slides/slide10.xml" Id="R5b60c03e7eef4037" /><Relationship Type="http://schemas.openxmlformats.org/officeDocument/2006/relationships/slide" Target="/ppt/slides/slide11.xml" Id="R2980f8a45e57403b" /><Relationship Type="http://schemas.openxmlformats.org/officeDocument/2006/relationships/slide" Target="/ppt/slides/slide12.xml" Id="R2b6ae7e73ff6482b" /><Relationship Type="http://schemas.openxmlformats.org/officeDocument/2006/relationships/slide" Target="/ppt/slides/slide13.xml" Id="R6b4582e9456b4c11" /><Relationship Type="http://schemas.openxmlformats.org/officeDocument/2006/relationships/slide" Target="/ppt/slides/slide14.xml" Id="R4edb857b5feb4752" /><Relationship Type="http://schemas.openxmlformats.org/officeDocument/2006/relationships/slide" Target="/ppt/slides/slide15.xml" Id="Rcf9b4851f703429d" /><Relationship Type="http://schemas.openxmlformats.org/officeDocument/2006/relationships/slide" Target="/ppt/slides/slide16.xml" Id="R2eeba39a71054b04" /><Relationship Type="http://schemas.openxmlformats.org/officeDocument/2006/relationships/slide" Target="/ppt/slides/slide17.xml" Id="Rb0440fe5d5f547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b82c8d56194c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34904c5dda43af" /><Relationship Type="http://schemas.openxmlformats.org/officeDocument/2006/relationships/notesMaster" Target="/ppt/notesMasters/notesMaster1.xml" Id="Rf3ad94fa4a3144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485f69a5b945e8" /><Relationship Type="http://schemas.openxmlformats.org/officeDocument/2006/relationships/notesMaster" Target="/ppt/notesMasters/notesMaster1.xml" Id="Re69baad728be49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f8f902a9e54576" /><Relationship Type="http://schemas.openxmlformats.org/officeDocument/2006/relationships/notesMaster" Target="/ppt/notesMasters/notesMaster1.xml" Id="R52f3155f04ee44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d4cb0a1a17437f" /><Relationship Type="http://schemas.openxmlformats.org/officeDocument/2006/relationships/notesMaster" Target="/ppt/notesMasters/notesMaster1.xml" Id="R9a1764b6da3441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e2e13f79d446d6" /><Relationship Type="http://schemas.openxmlformats.org/officeDocument/2006/relationships/notesMaster" Target="/ppt/notesMasters/notesMaster1.xml" Id="Rac2962fa362448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a34614265a4e97" /><Relationship Type="http://schemas.openxmlformats.org/officeDocument/2006/relationships/notesMaster" Target="/ppt/notesMasters/notesMaster1.xml" Id="R37e2b25bb65d44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3fb710b94645c6" /><Relationship Type="http://schemas.openxmlformats.org/officeDocument/2006/relationships/notesMaster" Target="/ppt/notesMasters/notesMaster1.xml" Id="R1699663e5f6b4a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c674677faa4493" /><Relationship Type="http://schemas.openxmlformats.org/officeDocument/2006/relationships/notesMaster" Target="/ppt/notesMasters/notesMaster1.xml" Id="R5d59d3d75e7e43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e6ce2b47484d74" /><Relationship Type="http://schemas.openxmlformats.org/officeDocument/2006/relationships/notesMaster" Target="/ppt/notesMasters/notesMaster1.xml" Id="R66bd6ea370e44f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b0e1e1b8b24ee2" /><Relationship Type="http://schemas.openxmlformats.org/officeDocument/2006/relationships/notesMaster" Target="/ppt/notesMasters/notesMaster1.xml" Id="R1f4f6e57455147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0d8baf891743e3" /><Relationship Type="http://schemas.openxmlformats.org/officeDocument/2006/relationships/notesMaster" Target="/ppt/notesMasters/notesMaster1.xml" Id="R08823c4e168e4c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e46a6194844819" /><Relationship Type="http://schemas.openxmlformats.org/officeDocument/2006/relationships/notesMaster" Target="/ppt/notesMasters/notesMaster1.xml" Id="Rfbdaad71f77b41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1abffa8cb74ac1" /><Relationship Type="http://schemas.openxmlformats.org/officeDocument/2006/relationships/notesMaster" Target="/ppt/notesMasters/notesMaster1.xml" Id="Ra192cfebe1f441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0d3f05ebc14388" /><Relationship Type="http://schemas.openxmlformats.org/officeDocument/2006/relationships/notesMaster" Target="/ppt/notesMasters/notesMaster1.xml" Id="R460439812c0c42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688f53412f4aa0" /><Relationship Type="http://schemas.openxmlformats.org/officeDocument/2006/relationships/notesMaster" Target="/ppt/notesMasters/notesMaster1.xml" Id="Rcd251544948f49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a4a86608a94f03" /><Relationship Type="http://schemas.openxmlformats.org/officeDocument/2006/relationships/notesMaster" Target="/ppt/notesMasters/notesMaster1.xml" Id="R7bee34b19da04e0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31cff62a934e0b" /><Relationship Type="http://schemas.openxmlformats.org/officeDocument/2006/relationships/notesMaster" Target="/ppt/notesMasters/notesMaster1.xml" Id="R07661c3de80247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SCI_L_W11L2_Benefit_Risk_Uncertainty_Explore.html.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11 · Explore</a:t>
            </a:r>
          </a:p>
          <a:p xmlns:a="http://schemas.openxmlformats.org/drawingml/2006/main">
            <a:r>
              <a:t>Learning objective: I can analyse simulated stem-cell evidence by calculating outcomes and identifying benefits, risks and limitations.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calculate an outcome percentage from a frequency.</a:t>
            </a:r>
          </a:p>
          <a:p xmlns:a="http://schemas.openxmlformats.org/drawingml/2006/main">
            <a:r>
              <a:t>I can distinguish a possible benefit from a possible risk.</a:t>
            </a:r>
          </a:p>
          <a:p xmlns:a="http://schemas.openxmlformats.org/drawingml/2006/main">
            <a:r>
              <a:t>I can identify why a small, short study leaves uncertainty.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SCI_L_W11L2_Benefit_Risk_Uncertainty_Explore.html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SCI_L_W11L2_Benefit_Risk_Uncertainty_Explore.html.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11 · Explore</a:t>
            </a:r>
          </a:p>
          <a:p xmlns:a="http://schemas.openxmlformats.org/drawingml/2006/main">
            <a:r>
              <a:t>Learning objective: I can analyse simulated stem-cell evidence by calculating outcomes and identifying benefits, risks and limitations.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calculate an outcome percentage from a frequency.</a:t>
            </a:r>
          </a:p>
          <a:p xmlns:a="http://schemas.openxmlformats.org/drawingml/2006/main">
            <a:r>
              <a:t>I can distinguish a possible benefit from a possible risk.</a:t>
            </a:r>
          </a:p>
          <a:p xmlns:a="http://schemas.openxmlformats.org/drawingml/2006/main">
            <a:r>
              <a:t>I can identify why a small, short study leaves uncertainty.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SCI_L_W11L2_Benefit_Risk_Uncertainty_Explore.html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SCI_L_W11L2_Benefit_Risk_Uncertainty_Explore.html.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W11L1: stem cells can divide and differentiate.</a:t>
            </a:r>
          </a:p>
          <a:p xmlns:a="http://schemas.openxmlformats.org/drawingml/2006/main">
            <a:r>
              <a:t>W11L1: evidence, ethical concern and uncertainty are different.</a:t>
            </a:r>
          </a:p>
          <a:p xmlns:a="http://schemas.openxmlformats.org/drawingml/2006/main">
            <a:r>
              <a:t>W5: percentage change made fair comparisons possible.</a:t>
            </a:r>
          </a:p>
          <a:p xmlns:a="http://schemas.openxmlformats.org/drawingml/2006/main">
            <a:r>
              <a:t>Lead-in: what must be known before 12 improved outcomes can be interpreted?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Define benefit in this scientific context.</a:t>
            </a:r>
          </a:p>
          <a:p xmlns:a="http://schemas.openxmlformats.org/drawingml/2006/main">
            <a:r>
              <a:t>Define risk without making it sound certain.</a:t>
            </a:r>
          </a:p>
          <a:p xmlns:a="http://schemas.openxmlformats.org/drawingml/2006/main">
            <a:r>
              <a:t>Calculate 10 ÷ 20 × 100.</a:t>
            </a:r>
          </a:p>
          <a:p xmlns:a="http://schemas.openxmlformats.org/drawingml/2006/main">
            <a:r>
              <a:t>Lead-in: why must a study's total number be reported?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SCI_L_W11L2_Benefit_Risk_Uncertainty_Explore.html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SCI_L_W11L2_Benefit_Risk_Uncertainty_Explore.html.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FREQUENCY · number observed</a:t>
            </a:r>
          </a:p>
          <a:p xmlns:a="http://schemas.openxmlformats.org/drawingml/2006/main">
            <a:r>
              <a:t>Simulated data. Read the frequency in each group.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TOTAL · number studied</a:t>
            </a:r>
          </a:p>
          <a:p xmlns:a="http://schemas.openxmlformats.org/drawingml/2006/main">
            <a:r>
              <a:t>Both groups: 20. Small.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PERCENTAGE · frequency ÷ total × 100</a:t>
            </a:r>
          </a:p>
          <a:p xmlns:a="http://schemas.openxmlformats.org/drawingml/2006/main">
            <a:r>
              <a:t>Describe only what the table supports.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How many participants were in the group.</a:t>
            </a:r>
          </a:p>
          <a:p xmlns:a="http://schemas.openxmlformats.org/drawingml/2006/main">
            <a:r>
              <a:t>The colour of the data table.</a:t>
            </a:r>
          </a:p>
          <a:p xmlns:a="http://schemas.openxmlformats.org/drawingml/2006/main">
            <a:r>
              <a:t>Whether a headline called it a breakthrough.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SCI_L_W11L2_Benefit_Risk_Uncertainty_Explore.html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SCI_L_W11L2_Benefit_Risk_Uncertainty_Explore.html.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FREQUENCY · number observed</a:t>
            </a:r>
          </a:p>
          <a:p xmlns:a="http://schemas.openxmlformats.org/drawingml/2006/main">
            <a:r>
              <a:t>Simulated data. Read the frequency in each group.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TOTAL · number studied</a:t>
            </a:r>
          </a:p>
          <a:p xmlns:a="http://schemas.openxmlformats.org/drawingml/2006/main">
            <a:r>
              <a:t>Both groups: 20. Small.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PERCENTAGE · frequency ÷ total × 100</a:t>
            </a:r>
          </a:p>
          <a:p xmlns:a="http://schemas.openxmlformats.org/drawingml/2006/main">
            <a:r>
              <a:t>Describe only what the table supports.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How many participants were in the group.</a:t>
            </a:r>
          </a:p>
          <a:p xmlns:a="http://schemas.openxmlformats.org/drawingml/2006/main">
            <a:r>
              <a:t>The colour of the data table.</a:t>
            </a:r>
          </a:p>
          <a:p xmlns:a="http://schemas.openxmlformats.org/drawingml/2006/main">
            <a:r>
              <a:t>Whether a headline called it a breakthrough.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SCI_L_W11L2_Benefit_Risk_Uncertainty_Explore.html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SCI_L_W11L2_Benefit_Risk_Uncertainty_Explore.html.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FREQUENCY · number observed</a:t>
            </a:r>
          </a:p>
          <a:p xmlns:a="http://schemas.openxmlformats.org/drawingml/2006/main">
            <a:r>
              <a:t>Simulated data. Read the frequency in each group.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TOTAL · number studied</a:t>
            </a:r>
          </a:p>
          <a:p xmlns:a="http://schemas.openxmlformats.org/drawingml/2006/main">
            <a:r>
              <a:t>Both groups: 20. Small.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PERCENTAGE · frequency ÷ total × 100</a:t>
            </a:r>
          </a:p>
          <a:p xmlns:a="http://schemas.openxmlformats.org/drawingml/2006/main">
            <a:r>
              <a:t>Describe only what the table supports.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How many participants were in the group.</a:t>
            </a:r>
          </a:p>
          <a:p xmlns:a="http://schemas.openxmlformats.org/drawingml/2006/main">
            <a:r>
              <a:t>The colour of the data table.</a:t>
            </a:r>
          </a:p>
          <a:p xmlns:a="http://schemas.openxmlformats.org/drawingml/2006/main">
            <a:r>
              <a:t>Whether a headline called it a breakthrough.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SCI_L_W11L2_Benefit_Risk_Uncertainty_Explore.html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SCI_L_W11L2_Benefit_Risk_Uncertainty_Explore.html.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BENEFIT possible helpful outcome a favourable outcome supported or suggested by evidence</a:t>
            </a:r>
          </a:p>
          <a:p xmlns:a="http://schemas.openxmlformats.org/drawingml/2006/main">
            <a:r>
              <a:t>RISK chance of harm the probability and seriousness of a possible harmful outcome</a:t>
            </a:r>
          </a:p>
          <a:p xmlns:a="http://schemas.openxmlformats.org/drawingml/2006/main">
            <a:r>
              <a:t>UNCERTAINTY what is not yet secure a limit on what can be concluded from the available evidence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table makes frequencies, totals and percentages comparable and keeps benefit, risk and uncertainty in the same view.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Label the table SIMULATED TRAINING DATA. Treatment: 12 of 20 improved; comparison: 6 of 20 improved.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Calculate 12 ÷ 20 × 100 = 60% and 6 ÷ 20 × 100 = 30%.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Describe only what the table supports: improvement was recorded more often in the treatment group in this simulation.</a:t>
            </a:r>
          </a:p>
          <a:p xmlns:a="http://schemas.openxmlformats.org/drawingml/2006/main">
            <a:r>
              <a:t>Benefit · risk · uncertainty desk</a:t>
            </a:r>
          </a:p>
          <a:p xmlns:a="http://schemas.openxmlformats.org/drawingml/2006/main">
            <a:r>
              <a:t>Simulated: treated 12/20 improved, 3/20 had side effects; control 6/20 improved, 0/20 side effects.</a:t>
            </a:r>
          </a:p>
          <a:p xmlns:a="http://schemas.openxmlformats.org/drawingml/2006/main">
            <a:r>
              <a:t>Improvement: 60% vs 30%</a:t>
            </a:r>
          </a:p>
          <a:p xmlns:a="http://schemas.openxmlformats.org/drawingml/2006/main">
            <a:r>
              <a:t>Improvement: 12% vs 6%</a:t>
            </a:r>
          </a:p>
          <a:p xmlns:a="http://schemas.openxmlformats.org/drawingml/2006/main">
            <a:r>
              <a:t>Side effects: 15% vs 0%</a:t>
            </a:r>
          </a:p>
          <a:p xmlns:a="http://schemas.openxmlformats.org/drawingml/2006/main">
            <a:r>
              <a:t>Which calculations are right?</a:t>
            </a:r>
          </a:p>
          <a:p xmlns:a="http://schemas.openxmlformats.org/drawingml/2006/main">
            <a:r>
              <a:t>Which sentence keeps within the evidence?</a:t>
            </a:r>
          </a:p>
          <a:p xmlns:a="http://schemas.openxmlformats.org/drawingml/2006/main">
            <a:r>
              <a:t>“The treatment works.”</a:t>
            </a:r>
          </a:p>
          <a:p xmlns:a="http://schemas.openxmlformats.org/drawingml/2006/main">
            <a:r>
              <a:t>“Improvement was recorded twice as often in the treated group, but with side effects in 15%, in a small short simulated study.”</a:t>
            </a:r>
          </a:p>
          <a:p xmlns:a="http://schemas.openxmlformats.org/drawingml/2006/main">
            <a:r>
              <a:t>Benefit, risk AND uncertainty in one sentence.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SCI_L_W11L2_Benefit_Risk_Uncertainty_Explore.html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SCI_L_W11L2_Benefit_Risk_Uncertainty_Explore.html.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BENEFIT possible helpful outcome a favourable outcome supported or suggested by evidence</a:t>
            </a:r>
          </a:p>
          <a:p xmlns:a="http://schemas.openxmlformats.org/drawingml/2006/main">
            <a:r>
              <a:t>RISK chance of harm the probability and seriousness of a possible harmful outcome</a:t>
            </a:r>
          </a:p>
          <a:p xmlns:a="http://schemas.openxmlformats.org/drawingml/2006/main">
            <a:r>
              <a:t>UNCERTAINTY what is not yet secure a limit on what can be concluded from the available evidence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table makes frequencies, totals and percentages comparable and keeps benefit, risk and uncertainty in the same view.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Label the table SIMULATED TRAINING DATA. Treatment: 12 of 20 improved; comparison: 6 of 20 improved.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Calculate 12 ÷ 20 × 100 = 60% and 6 ÷ 20 × 100 = 30%.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Describe only what the table supports: improvement was recorded more often in the treatment group in this simulation.</a:t>
            </a:r>
          </a:p>
          <a:p xmlns:a="http://schemas.openxmlformats.org/drawingml/2006/main">
            <a:r>
              <a:t>Benefit · risk · uncertainty desk</a:t>
            </a:r>
          </a:p>
          <a:p xmlns:a="http://schemas.openxmlformats.org/drawingml/2006/main">
            <a:r>
              <a:t>Simulated: treated 12/20 improved, 3/20 had side effects; control 6/20 improved, 0/20 side effects.</a:t>
            </a:r>
          </a:p>
          <a:p xmlns:a="http://schemas.openxmlformats.org/drawingml/2006/main">
            <a:r>
              <a:t>Improvement: 60% vs 30%</a:t>
            </a:r>
          </a:p>
          <a:p xmlns:a="http://schemas.openxmlformats.org/drawingml/2006/main">
            <a:r>
              <a:t>Improvement: 12% vs 6%</a:t>
            </a:r>
          </a:p>
          <a:p xmlns:a="http://schemas.openxmlformats.org/drawingml/2006/main">
            <a:r>
              <a:t>Side effects: 15% vs 0%</a:t>
            </a:r>
          </a:p>
          <a:p xmlns:a="http://schemas.openxmlformats.org/drawingml/2006/main">
            <a:r>
              <a:t>Which calculations are right?</a:t>
            </a:r>
          </a:p>
          <a:p xmlns:a="http://schemas.openxmlformats.org/drawingml/2006/main">
            <a:r>
              <a:t>Which sentence keeps within the evidence?</a:t>
            </a:r>
          </a:p>
          <a:p xmlns:a="http://schemas.openxmlformats.org/drawingml/2006/main">
            <a:r>
              <a:t>“The treatment works.”</a:t>
            </a:r>
          </a:p>
          <a:p xmlns:a="http://schemas.openxmlformats.org/drawingml/2006/main">
            <a:r>
              <a:t>“Improvement was recorded twice as often in the treated group, but with side effects in 15%, in a small short simulated study.”</a:t>
            </a:r>
          </a:p>
          <a:p xmlns:a="http://schemas.openxmlformats.org/drawingml/2006/main">
            <a:r>
              <a:t>Benefit, risk AND uncertainty in one sentence.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SCI_L_W11L2_Benefit_Risk_Uncertainty_Explore.html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SCI_L_W11L2_Benefit_Risk_Uncertainty_Explore.html. We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4 ÷ 20 × 100 = 20%</a:t>
            </a:r>
          </a:p>
          <a:p xmlns:a="http://schemas.openxmlformats.org/drawingml/2006/main">
            <a:r>
              <a:t>20 ÷ 4 × 100 = 500%</a:t>
            </a:r>
          </a:p>
          <a:p xmlns:a="http://schemas.openxmlformats.org/drawingml/2006/main">
            <a:r>
              <a:t>4% because four events occurred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SCI_L_W11L2_Benefit_Risk_Uncertainty_Explore.html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SCI_L_W11L2_Benefit_Risk_Uncertainty_Explore.html.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Add risk: four of 20 treatment participants and one of 20 comparison participants had the defined adverse event.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Add uncertainty: each group is small, follow-up is short and the simulation gives no evidence about long-term outcomes.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A balanced analysis states benefit evidence, risk evidence and at least one limit before any judgement.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table makes frequencies, totals and percentages comparable and keeps benefit, risk and uncertainty in the same view.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SCI_L_W11L2_Benefit_Risk_Uncertainty_Explore.html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SCI_L_W11L2_Benefit_Risk_Uncertainty_Explore.html.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Add risk: four of 20 treatment participants and one of 20 comparison participants had the defined adverse event.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Add uncertainty: each group is small, follow-up is short and the simulation gives no evidence about long-term outcomes.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A balanced analysis states benefit evidence, risk evidence and at least one limit before any judgement.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table makes frequencies, totals and percentages comparable and keeps benefit, risk and uncertainty in the same view.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SCI_L_W11L2_Benefit_Risk_Uncertainty_Explore.html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SCI_L_W11L2_Benefit_Risk_Uncertainty_Explore.html. We do 2: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evidence statement, then use the frozen set to make one cautious analysis.</a:t>
            </a:r>
          </a:p>
          <a:p xmlns:a="http://schemas.openxmlformats.org/drawingml/2006/main">
            <a:r>
              <a:t>READ DATA CALCULATE CLASSIFY LIMIT ANALYSE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Improvement frequency 12/20 in treatment and 6/20 in comparison improved in the simulation.</a:t>
            </a:r>
          </a:p>
          <a:p xmlns:a="http://schemas.openxmlformats.org/drawingml/2006/main">
            <a:r>
              <a:t>Adverse-event frequency 4/20 in treatment and 1/20 in comparison had the defined adverse event.</a:t>
            </a:r>
          </a:p>
          <a:p xmlns:a="http://schemas.openxmlformats.org/drawingml/2006/main">
            <a:r>
              <a:t>Short follow-up Participants were followed for only eight weeks.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BENEFIT EVIDENCE</a:t>
            </a:r>
          </a:p>
          <a:p xmlns:a="http://schemas.openxmlformats.org/drawingml/2006/main">
            <a:r>
              <a:t>RISK EVIDENCE</a:t>
            </a:r>
          </a:p>
          <a:p xmlns:a="http://schemas.openxmlformats.org/drawingml/2006/main">
            <a:r>
              <a:t>UNCERTAINTY / LIMIT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Sixty per cent improved, so the simulated treatment is proven safe and effective.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one percentage proves both benefit and safety.</a:t>
            </a:r>
          </a:p>
          <a:p xmlns:a="http://schemas.openxmlformats.org/drawingml/2006/main">
            <a:r>
              <a:t>Repair it: report the comparison, adverse events and study limitations.</a:t>
            </a:r>
          </a:p>
          <a:p xmlns:a="http://schemas.openxmlformats.org/drawingml/2006/main">
            <a:r>
              <a:t>Repair it: percentages should never be used in Biology.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SCI_L_W11L2_Benefit_Risk_Uncertainty_Explore.html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SCI_L_W11L2_Benefit_Risk_Uncertainty_Explore.html. We do 2: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evidence statement, then use the frozen set to make one cautious analysis.</a:t>
            </a:r>
          </a:p>
          <a:p xmlns:a="http://schemas.openxmlformats.org/drawingml/2006/main">
            <a:r>
              <a:t>READ DATA CALCULATE CLASSIFY LIMIT ANALYSE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Improvement frequency 12/20 in treatment and 6/20 in comparison improved in the simulation.</a:t>
            </a:r>
          </a:p>
          <a:p xmlns:a="http://schemas.openxmlformats.org/drawingml/2006/main">
            <a:r>
              <a:t>Adverse-event frequency 4/20 in treatment and 1/20 in comparison had the defined adverse event.</a:t>
            </a:r>
          </a:p>
          <a:p xmlns:a="http://schemas.openxmlformats.org/drawingml/2006/main">
            <a:r>
              <a:t>Short follow-up Participants were followed for only eight weeks.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BENEFIT EVIDENCE</a:t>
            </a:r>
          </a:p>
          <a:p xmlns:a="http://schemas.openxmlformats.org/drawingml/2006/main">
            <a:r>
              <a:t>RISK EVIDENCE</a:t>
            </a:r>
          </a:p>
          <a:p xmlns:a="http://schemas.openxmlformats.org/drawingml/2006/main">
            <a:r>
              <a:t>UNCERTAINTY / LIMIT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Sixty per cent improved, so the simulated treatment is proven safe and effective.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one percentage proves both benefit and safety.</a:t>
            </a:r>
          </a:p>
          <a:p xmlns:a="http://schemas.openxmlformats.org/drawingml/2006/main">
            <a:r>
              <a:t>Repair it: report the comparison, adverse events and study limitations.</a:t>
            </a:r>
          </a:p>
          <a:p xmlns:a="http://schemas.openxmlformats.org/drawingml/2006/main">
            <a:r>
              <a:t>Repair it: percentages should never be used in Biology.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SCI_L_W11L2_Benefit_Risk_Uncertainty_Explore.html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SCI_L_W11L2_Benefit_Risk_Uncertainty_Explore.html. We do 2: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evidence statement, then use the frozen set to make one cautious analysis.</a:t>
            </a:r>
          </a:p>
          <a:p xmlns:a="http://schemas.openxmlformats.org/drawingml/2006/main">
            <a:r>
              <a:t>READ DATA CALCULATE CLASSIFY LIMIT ANALYSE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Improvement frequency 12/20 in treatment and 6/20 in comparison improved in the simulation.</a:t>
            </a:r>
          </a:p>
          <a:p xmlns:a="http://schemas.openxmlformats.org/drawingml/2006/main">
            <a:r>
              <a:t>Adverse-event frequency 4/20 in treatment and 1/20 in comparison had the defined adverse event.</a:t>
            </a:r>
          </a:p>
          <a:p xmlns:a="http://schemas.openxmlformats.org/drawingml/2006/main">
            <a:r>
              <a:t>Short follow-up Participants were followed for only eight weeks.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BENEFIT EVIDENCE</a:t>
            </a:r>
          </a:p>
          <a:p xmlns:a="http://schemas.openxmlformats.org/drawingml/2006/main">
            <a:r>
              <a:t>RISK EVIDENCE</a:t>
            </a:r>
          </a:p>
          <a:p xmlns:a="http://schemas.openxmlformats.org/drawingml/2006/main">
            <a:r>
              <a:t>UNCERTAINTY / LIMIT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Sixty per cent improved, so the simulated treatment is proven safe and effective.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one percentage proves both benefit and safety.</a:t>
            </a:r>
          </a:p>
          <a:p xmlns:a="http://schemas.openxmlformats.org/drawingml/2006/main">
            <a:r>
              <a:t>Repair it: report the comparison, adverse events and study limitations.</a:t>
            </a:r>
          </a:p>
          <a:p xmlns:a="http://schemas.openxmlformats.org/drawingml/2006/main">
            <a:r>
              <a:t>Repair it: percentages should never be used in Biology.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SCI_L_W11L2_Benefit_Risk_Uncertainty_Explore.html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SCI_L_W11L2_Benefit_Risk_Uncertainty_Explore.html. Independent: 12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Simulated data sheet, calculator, percentage frame, benefit-risk-uncertainty grid and pencil.</a:t>
            </a:r>
          </a:p>
          <a:p xmlns:a="http://schemas.openxmlformats.org/drawingml/2006/main">
            <a:r>
              <a:t>Same outcome: I can analyse simulated stem-cell evidence by calculating outcomes and identifying benefits, risks and limitations.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same local table and card lab; no network, account or real patient data is used.</a:t>
            </a:r>
          </a:p>
          <a:p xmlns:a="http://schemas.openxmlformats.org/drawingml/2006/main">
            <a:r>
              <a:t>Same evidence: Visible percentage working plus a benefit-risk-uncertainty analysis that does not overclaim.</a:t>
            </a:r>
          </a:p>
          <a:p xmlns:a="http://schemas.openxmlformats.org/drawingml/2006/main">
            <a:r>
              <a:t>Equipment / setup Simulated data sheet, calculator, percentage frame, benefit-risk-uncertainty grid and pencil.</a:t>
            </a:r>
          </a:p>
          <a:p xmlns:a="http://schemas.openxmlformats.org/drawingml/2006/main">
            <a:r>
              <a:t>Safety / sensory State repeatedly that the dataset is fictional and not medical advice. Keep all cases impersonal and allow a no-discussion calculation route.</a:t>
            </a:r>
          </a:p>
          <a:p xmlns:a="http://schemas.openxmlformats.org/drawingml/2006/main">
            <a:r>
              <a:t>Offline parity Use the same local table and card lab; no network, account or real patient data is used.</a:t>
            </a:r>
          </a:p>
          <a:p xmlns:a="http://schemas.openxmlformats.org/drawingml/2006/main">
            <a:r>
              <a:t>No-equipment/access route: A pupil selects numerator, denominator and operation while an adult operates the calculator and scribes exact analysis.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Calculate all four percentages and write a three-part analysis.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The data suggest __. However __. We cannot conclude __ because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SCI_L_W11L2_Benefit_Risk_Uncertainty_Explore.html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SCI_L_W11L2_Benefit_Risk_Uncertainty_Explore.html. Independent: 12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Simulated data sheet, calculator, percentage frame, benefit-risk-uncertainty grid and pencil.</a:t>
            </a:r>
          </a:p>
          <a:p xmlns:a="http://schemas.openxmlformats.org/drawingml/2006/main">
            <a:r>
              <a:t>Same outcome: I can analyse simulated stem-cell evidence by calculating outcomes and identifying benefits, risks and limitations.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same local table and card lab; no network, account or real patient data is used.</a:t>
            </a:r>
          </a:p>
          <a:p xmlns:a="http://schemas.openxmlformats.org/drawingml/2006/main">
            <a:r>
              <a:t>Same evidence: Visible percentage working plus a benefit-risk-uncertainty analysis that does not overclaim.</a:t>
            </a:r>
          </a:p>
          <a:p xmlns:a="http://schemas.openxmlformats.org/drawingml/2006/main">
            <a:r>
              <a:t>Equipment / setup Simulated data sheet, calculator, percentage frame, benefit-risk-uncertainty grid and pencil.</a:t>
            </a:r>
          </a:p>
          <a:p xmlns:a="http://schemas.openxmlformats.org/drawingml/2006/main">
            <a:r>
              <a:t>Safety / sensory State repeatedly that the dataset is fictional and not medical advice. Keep all cases impersonal and allow a no-discussion calculation route.</a:t>
            </a:r>
          </a:p>
          <a:p xmlns:a="http://schemas.openxmlformats.org/drawingml/2006/main">
            <a:r>
              <a:t>Offline parity Use the same local table and card lab; no network, account or real patient data is used.</a:t>
            </a:r>
          </a:p>
          <a:p xmlns:a="http://schemas.openxmlformats.org/drawingml/2006/main">
            <a:r>
              <a:t>No-equipment/access route: A pupil selects numerator, denominator and operation while an adult operates the calculator and scribes exact analysis.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Calculate all four percentages and write a three-part analysis.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The data suggest __. However __. We cannot conclude __ because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SCI_L_W11L2_Benefit_Risk_Uncertainty_Explore.html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SCI_L_W11L2_Benefit_Risk_Uncertainty_Explore.html.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next move; the pupil edits or re-attempts on the existing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numbers are invented for classroom reasoning, the sample is small and no real treatment conclusion can be drawn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State one benefit finding and one uncertainty from the simulated data.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I changed / next I will …</a:t>
            </a:r>
          </a:p>
          <a:p xmlns:a="http://schemas.openxmlformats.org/drawingml/2006/main">
            <a:r>
              <a:t>Adult feedback that produced the edit / re-attempt: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SCI_L_W11L2_Benefit_Risk_Uncertainty_Explore.html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2a7a9a0834a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d65e4df841497e" /><Relationship Type="http://schemas.openxmlformats.org/officeDocument/2006/relationships/slideLayout" Target="/ppt/slideLayouts/slideLayout1.xml" Id="R11c74067f70546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c74067f70546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0f10901504a61" /><Relationship Type="http://schemas.openxmlformats.org/officeDocument/2006/relationships/hyperlink" Target="SCI_L_W11L2_Benefit_Risk_Uncertainty_Explore.html" TargetMode="External" Id="R58bc37da8fa64182" /><Relationship Type="http://schemas.openxmlformats.org/officeDocument/2006/relationships/notesSlide" Target="/ppt/notesSlides/notesSlide1.xml" Id="R6821e984189742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a99600b2547f9" /><Relationship Type="http://schemas.openxmlformats.org/officeDocument/2006/relationships/notesSlide" Target="/ppt/notesSlides/notesSlide2.xml" Id="Rbfa9a04a9e3541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6186d1d1d48f9" /><Relationship Type="http://schemas.openxmlformats.org/officeDocument/2006/relationships/notesSlide" Target="/ppt/notesSlides/notesSlide3.xml" Id="R46f47af9d4b249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f04a12e2b4a00" /><Relationship Type="http://schemas.openxmlformats.org/officeDocument/2006/relationships/notesSlide" Target="/ppt/notesSlides/notesSlide4.xml" Id="R298ca352016646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7a8d46c34436f" /><Relationship Type="http://schemas.openxmlformats.org/officeDocument/2006/relationships/notesSlide" Target="/ppt/notesSlides/notesSlide5.xml" Id="R2d532ce9062843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f96f688204cb2" /><Relationship Type="http://schemas.openxmlformats.org/officeDocument/2006/relationships/image" Target="/ppt/media/image.png" Id="R63b414622dc046e4" /><Relationship Type="http://schemas.openxmlformats.org/officeDocument/2006/relationships/image" Target="/ppt/media/image2.png" Id="R0efdf062abe44a1b" /><Relationship Type="http://schemas.openxmlformats.org/officeDocument/2006/relationships/image" Target="/ppt/media/image3.png" Id="R6ac4882d3e5f4830" /><Relationship Type="http://schemas.openxmlformats.org/officeDocument/2006/relationships/notesSlide" Target="/ppt/notesSlides/notesSlide6.xml" Id="Rbafc15a6d6284e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10d8ae4934fa9" /><Relationship Type="http://schemas.openxmlformats.org/officeDocument/2006/relationships/notesSlide" Target="/ppt/notesSlides/notesSlide7.xml" Id="R906cd096a3084d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d2f583b7b4750" /><Relationship Type="http://schemas.openxmlformats.org/officeDocument/2006/relationships/notesSlide" Target="/ppt/notesSlides/notesSlide8.xml" Id="R255f2eac2c854f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b4fc82a1b425e" /><Relationship Type="http://schemas.openxmlformats.org/officeDocument/2006/relationships/notesSlide" Target="/ppt/notesSlides/notesSlide9.xml" Id="R7bd60a0fe3cf46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bb42610ce4730" /><Relationship Type="http://schemas.openxmlformats.org/officeDocument/2006/relationships/notesSlide" Target="/ppt/notesSlides/notesSlide10.xml" Id="R62e25ffffb8247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3f397ef194cc8" /><Relationship Type="http://schemas.openxmlformats.org/officeDocument/2006/relationships/notesSlide" Target="/ppt/notesSlides/notesSlide11.xml" Id="Rd295d7a9b9ca40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c65b2b51e45f8" /><Relationship Type="http://schemas.openxmlformats.org/officeDocument/2006/relationships/notesSlide" Target="/ppt/notesSlides/notesSlide12.xml" Id="Rb26c54c14e314f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5ce0bea7c482d" /><Relationship Type="http://schemas.openxmlformats.org/officeDocument/2006/relationships/notesSlide" Target="/ppt/notesSlides/notesSlide13.xml" Id="R3e7dff3cdd1540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0a747dac14ef1" /><Relationship Type="http://schemas.openxmlformats.org/officeDocument/2006/relationships/notesSlide" Target="/ppt/notesSlides/notesSlide14.xml" Id="Rdd57f62db8584f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0a64a63644197" /><Relationship Type="http://schemas.openxmlformats.org/officeDocument/2006/relationships/notesSlide" Target="/ppt/notesSlides/notesSlide15.xml" Id="R3cdf88207f6b45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19eb4e8424e7b" /><Relationship Type="http://schemas.openxmlformats.org/officeDocument/2006/relationships/notesSlide" Target="/ppt/notesSlides/notesSlide16.xml" Id="R01347f3b682640b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3fe8679ec4906" /><Relationship Type="http://schemas.openxmlformats.org/officeDocument/2006/relationships/notesSlide" Target="/ppt/notesSlides/notesSlide17.xml" Id="Rf34c51c2a7a845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974B9E28-30E0-4794-8DB0-B011B202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9F6F007-9495-4832-BCD0-7C5C0FCE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58F37BD-40CB-41C9-8FA2-04DA931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346B9A-5B68-4B52-9B42-3105A63B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Stem-Cell Evidence: Benefit, Risk, Uncertainty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A51C44C-EC04-4969-811C-5CA9ECEB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A2FD01CA-0FFF-4F45-8A38-4299D135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analyse simulated stem-cell evidence by calculating outcomes and identifying benefits, risks and limitations.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8945F54C-7699-40A1-82BF-49DD1E74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7AD98BDA-550F-4746-A885-48CB36DB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CALCULATE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294C75BC-0E44-4065-8A0B-442F9E48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frequency ÷ total × 100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D125C98E-F43B-4398-A420-6CDA8576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D6ED3A4F-2245-4966-9E18-1046376E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WEIGH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74CAE220-6BCB-438B-8655-A44271BD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benefit and risk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D0AC1DE6-A787-4191-9DAF-FE11A38D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6EA479F0-2654-44A3-9ADB-33C3C151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LIMIT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418A6B15-4894-48D4-9603-76BE88D6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data cannot show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E77A2063-F293-4A5E-8A8C-AE2B62D2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A5C9E"/>
                </a:solidFill>
                <a:latin typeface="Arial"/>
                <a:ea typeface="Arial"/>
                <a:cs typeface="Arial"/>
                <a:hlinkClick xmlns:r="http://schemas.openxmlformats.org/officeDocument/2006/relationships" r:id="R58bc37da8fa64182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7A0D4C64-03E4-4004-8400-0DF35239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374D9CA0-D4A4-4546-835C-6351F568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1755457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ABECAB19-6C0E-4756-81C6-3437CE0C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5CAA2C7-D5E6-45C9-988A-00BF8990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ACD1793-AE4B-498E-BA42-703D63AB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A71B6A-2E4D-43D2-9E48-8BCFCCEA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EBDADF4-3889-442B-8A83-12A106F5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9ECDDC7-33DF-41B1-AA9F-64640F3A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calculate an outcome percentage from a frequency.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C3C768A-600D-4F4B-AEB1-0E48C57C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distinguish a possible benefit from a possible risk.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381183B-37A3-4DAC-88DA-B7F34B61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identify why a small, short study leaves uncertainty.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A6965AD5-91AB-4DD8-86EC-8632AD04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12A318B9-BEA6-4D3A-88DE-7283867A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13210743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E6786582-01E8-4BC1-9FA7-8C9F9CD4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0F5484D-8E60-470D-B7B7-A7FB5F35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FB7A9CD-E742-4391-8CC4-AD1AD325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914FBA-5C7C-4112-BEE9-C2CAB117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72D8F2C-18BA-4EB8-B11C-06C10725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706715E-9E73-45E6-8823-C2BBF678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Define benefit in this scientific context.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37826DF-B4A7-4577-AA3F-59A44046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Define risk without making it sound certain.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736F9BF-8E3E-4A54-927C-D9FBFA89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Calculate 10 ÷ 20 × 100.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5AFFB4D-A94F-418F-8E4A-F28FFB15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why must a study's total number be reported?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2B94BD93-466F-467E-B877-B2FA0A06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2E92A857-40F7-442F-A384-17A75B97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2657951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C34C3B63-549B-4044-AE83-74890AF9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B0A3C11-5DE3-4F52-A760-0CDA8518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95AC7C6-94D9-4312-BBCC-5C94B7BD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2AB319-6A47-4F3A-B2F6-56A7D861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In a fictional training study, 12 participants improved. Which missing fact is needed first?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D6D6112-A551-40B3-8C91-B6C04733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69494EB-48D9-44FD-8EEA-CF25EB8C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1214A23-50CE-453B-B43D-40F788B5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How many participants were in the group.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027E170-7377-49AD-81F6-6AA6F5A6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The colour of the data table.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83882C1-BBA5-40A1-B56D-86616352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Whether a headline called it a breakthrough.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EFB63D1E-89EC-4FF4-9A4A-9E0218D3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7D959BB0-073C-4541-935D-A25D0117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15300841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8FEDB0F0-120F-46A9-9CE2-857F4FC2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345EE14-E674-4F68-911A-FC304855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68F9BBA-6AC0-476E-B3AF-BEE403CF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17811F-884E-4B74-A074-88EBCC49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5E34F0B-5DA1-4C3B-86B4-9D0AC6F2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F734EFC-B050-46C5-A53E-A16573BE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FREQUENCY · number observed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ABC9221-797E-420F-8922-90859C4A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TOTAL · number studied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2CEBB82-FF32-46E6-B6AF-7C65C566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PERCENTAGE · frequency ÷ total × 100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9B9AE297-A320-4356-A01D-3F1E578A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8A4E7E4A-6FFB-468F-8AAC-2FEA8BB0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11623746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FEF94B3C-9D71-4CB5-BD8F-D90457F8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EABC72C-6E6E-448C-8AF6-DDC55B7A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72A841C-3B5F-4D3E-B67D-298DB732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F96ABB-73DB-415C-A8B7-035844AB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40BE895-31A8-4112-A79F-3980BE09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414622dc046e4"/>
          <a:stretch xmlns:a="http://schemas.openxmlformats.org/drawingml/2006/main"/>
        </p:blipFill>
        <p:spPr>
          <a:xfrm xmlns:a="http://schemas.openxmlformats.org/drawingml/2006/main">
            <a:off x="800100" y="3259137"/>
            <a:ext cx="3378200" cy="844550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2E54F447-E77B-42F2-A2A3-B423AF19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Simulated results table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df062abe44a1b"/>
          <a:stretch xmlns:a="http://schemas.openxmlformats.org/drawingml/2006/main"/>
        </p:blipFill>
        <p:spPr>
          <a:xfrm xmlns:a="http://schemas.openxmlformats.org/drawingml/2006/main">
            <a:off x="4406900" y="3259137"/>
            <a:ext cx="3378200" cy="844550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AE53A1CB-2EEA-4FDB-B894-86C00FC3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Totals highlighted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4882d3e5f4830"/>
          <a:stretch xmlns:a="http://schemas.openxmlformats.org/drawingml/2006/main"/>
        </p:blipFill>
        <p:spPr>
          <a:xfrm xmlns:a="http://schemas.openxmlformats.org/drawingml/2006/main">
            <a:off x="8013700" y="3259137"/>
            <a:ext cx="3378200" cy="844550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34DF83D0-D1A5-47EE-853A-A23BA395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Percentages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4290BC88-D92C-4AC6-8EC3-C01A0611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FAE4AB5F-71F2-4ACE-96E1-0CA45106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3828293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F9C1D998-1236-4206-AE78-33F0E6DD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BE8D1B0-155F-4590-A099-216319DB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83D3A0D-1641-40D0-BD02-1CAFA8F9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53F393-757D-4F6D-A664-392B6885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D90B965-7193-43F7-9B29-5781DB64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D3BC0DB-EE92-452E-B8E9-AB6881BA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benefit — possible helpful outcome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A645C65-CCA5-4357-9831-98F81D5C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risk — chance of harm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C23DCF8-DD0D-4C40-9ABD-985D6171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uncertainty — what is not yet secure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A18BB28-731C-4626-B70C-C79049EC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54C373E3-1C95-4122-B8BE-F37ABF8A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18992809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D1EF3745-26CC-4104-A962-50A2F81D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DD6B876-9011-4A8C-AB73-B5658CEE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7FF3750-F66D-46A2-9F59-7CD2E2E5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21C151-A079-4FC3-B449-27989381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E77A50B-C91B-47F1-8726-963DDDD0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082530B-3530-4421-B1AC-EA83A4BF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Label the table SIMULATED TRAINING DATA. Treatment: 12 of 20 improved; comparison: 6 of 20 improved.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6E021A1-9616-4AA1-A652-B6222173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Calculate 12 ÷ 20 × 100 = 60% and 6 ÷ 20 × 100 = 30%.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7610ABA-EA45-433C-8F65-1A96B11F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Describe only what the table supports: improvement was recorded more often in the treatment group in this simulation.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88023F9B-B892-4802-A9B0-922E1DE3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DDBC7F1F-3B1B-48E7-9C25-AC6C18EA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202642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E31F0A49-62A5-4183-BDC5-15AF746D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3F57851-FD74-41B7-B779-D2772B61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DB64547-52FA-43CA-96C2-1813D3A8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A7E6A4-3D36-4EAC-BA8C-9B94CFE8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Four of 20 participants experienced the defined adverse event. Which calculation gives the participant percentage?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C1C7035-8A60-4C27-9492-E8CCF6E2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E24E7BC-E22D-4B5E-A323-DE75952E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4 ÷ 20 × 100 = 20%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6D60FD4-A396-4AC4-B4F2-7D8AB9FC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20 ÷ 4 × 100 = 500%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911D32A-CFF8-4100-8E8D-02DAD5EC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4% because four events occurred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F292884-5AE7-46D4-A81C-82A709B7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936187DB-7A5E-4224-925C-4B229FDD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3728FD6-8D1A-4675-B156-2B86D208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17373722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3EA2FED7-DF6D-4F41-8181-D36D5643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3CA8C2C-7F78-46E8-B852-2CFD681F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1A718F4-8AB7-4D85-AA91-904CBCDB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CD6E52-B3BB-4070-ACAB-C9494B3A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52A1F3B-CE61-4511-B2D7-EB57C424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89B3366-C03D-49C5-B2CB-D94AE10F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Add risk: four of 20 treatment participants and one of 20 comparison participants had the defined adverse event.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1DC92F9-4201-4443-8F8F-8C9C83F7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Add uncertainty: each group is small, follow-up is short and the simulation gives no evidence about long-term outcomes.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D0A39F6-5A70-468D-B3BE-3418D559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 balanced analysis states benefit evidence, risk evidence and at least one limit before any judgement.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58AD1432-20A6-465D-8D0F-EB3C5FFA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C2CBB31E-E6F4-4F95-99DD-902850B9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8985161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8B2F870B-A0F5-40AB-9DD8-4A705243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4109C0B-56F1-484F-94DA-06B22461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4EB49CA-0761-40EB-9325-13C71EC1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4060FE-9E52-487D-B8BF-7235B088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E1C33BB-8853-44FC-B34A-FDD5D0CA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E6D8867-9C63-4495-98A3-D701674A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Sixty per cent improved, so the simulated treatment is proven safe and effective.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ABFBEAC-C498-43AA-AAE8-EC552EE2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one percentage proves both benefit and safety.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43E6C11-2FD9-424D-944B-833B98F5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report the comparison, adverse events and study limitations.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9939B5B-C0E4-44CF-BA61-9ACB3E5F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percentages should never be used in Biology.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E49F8104-0700-44BB-B123-89A2C011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D6154B9-3E89-4D89-8AEC-7C030A70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589587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1A514586-C18F-43AA-BC7B-5B55CF48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444C7B8-621D-4C6A-89BC-F246C6B4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04C0DED-B7B9-46A9-9262-429C6152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45F66C-8456-4EC6-B9D2-D6F3D664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Benefit-risk-uncertainty analysis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5AD407B-12E2-4F6C-841B-E75831D4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0201FE4-2244-43DA-A450-9F7070FC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Place each evidence statement, then use the frozen set to make one cautious analysis.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8E34A02-012F-4B5B-AD69-F307C95F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DATA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5BB4E9A-BAD4-4D05-BAC0-BF208451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CALCULATE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2163547-1CFC-4B35-A15C-BBDBF18C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CLASSIFY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1FC20CA7-DB7E-4C08-82E0-F04BFADB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LIMIT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A7D6B880-ED20-4A94-B97B-4C97269B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ANALYSE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D8DA0E16-B4DA-4A99-9A74-645F09E8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5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996FA8F9-BFB3-482F-9A51-C6EFCE42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8823837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C42DCA94-AA17-439B-B891-C278209B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C28DBC1-BA73-4EB2-8AB5-EAC8305B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D9821A2-6A4F-4FDC-8C3F-BAB4E5C6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B5AF57-0ABF-484E-9DEE-E6A74618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Benefit-risk-uncertainty analysis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D4B7A14-4A3C-4BE7-B829-26A1DCCA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7EE9706-51D9-4B3F-86D3-8BE1A4CF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3CA51127-D9E8-456A-95D6-79A2FBA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5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E9F330E0-85A7-4BF7-AC38-B61A92C0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21304350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02BF0488-0DBB-475B-82AC-F302A3CE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E9FEAAD-1148-47BF-B9E9-20DF8F84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8670447-E086-4A00-85AD-F7FAB766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15B4C0-C25F-47C1-BA44-E5B8A725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BD1EFF4-61DA-470D-8D98-AF757E03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BBC65E8-4AB2-43AC-A92C-E218A1F2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BENEFIT EVIDENCE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A65BC02-AB37-4637-8C83-2AEB6DD1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RISK EVIDENCE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AB620BB-1EE6-4C0A-BBA2-BD8EDE44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UNCERTAINTY / LIMIT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994689E9-F6DE-422D-9EF3-79442C64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benefit, risk and uncertainty must appear in a scientifically cautious analysis?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1B4EF94A-7BEF-4D5E-9802-A5BDA4CD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3468D6D3-9327-4C53-AC92-C2608DE7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8527228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B03D8830-D0F1-4150-B101-1F5E4304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D70B3EA-5869-47D1-B025-2C2CAF21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B7961C7-BDDD-483A-B4C2-FF9EBD81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73C527-1DEE-4907-AB85-CA00952E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88BB844-5205-4E23-B80E-D00C5A2B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9BC5213-A391-4455-96F2-6E026A95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Analyse the simulated table: calculate four percentages, classify benefit and risk, and state two uncertainties.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8584F0B-15A0-40AF-8782-C88698E9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Visible percentage working plus a benefit-risk-uncertainty analysis that does not overclaim.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1F7450A1-9E94-44A7-9375-A02DDE3A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12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ACCC017F-DE12-491B-90D7-9378CB16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1001633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EB8E99A7-67BE-4686-A849-900A1FB3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0751410-6F16-4629-886B-4C32E4D8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502D19A-08CD-47F0-974E-69A6AD4B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8BACC1-1D2D-485C-920A-45C09CFF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2127B24-F68C-498B-879A-665D26E2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BBF1601-AC5D-4920-963E-E4A68453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Complete two percentage calculations with the formula shown, then match one benefit, risk and limit.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AAE8A15-6D5B-46A9-9B45-33E84044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Calculate all four percentages and write a three-part analysis.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D658C06-D80D-40B9-A632-D459CFAF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Calculate all outcomes, compare groups and evaluate how sample size and follow-up affect confidence.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1BD71447-457E-4100-8FC7-2649B437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12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821B6A58-C2CD-4DA8-A791-AC580973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4822898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B2B642DF-EF14-41B0-A7F0-4683430A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F841C8A-8702-4806-B3B3-583A9A93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CEF99BD-7F15-4B90-9A90-A5F2706B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D0F088-C22C-4828-AEB1-D2F8B4EC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4CAEA36-F842-4CF9-AF44-DD378B00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D5AF951-E5D4-4EE8-B995-7B3DCCB4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State one benefit finding and one uncertainty from the simulated data.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7BE85B6-3CEF-420E-A0BE-1BBE410B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64C13305-CC64-4591-86B9-8B8C091B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38D30DC9-8DDD-4B0A-BE5B-B74FD6E9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2061136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2026-09-08T08:54:17.2670000Z</dcterms:created>
  <dcterms:modified xsi:type="dcterms:W3CDTF">2026-09-08T08:54:17.2670000Z</dcterms:modified>
</coreProperties>
</file>