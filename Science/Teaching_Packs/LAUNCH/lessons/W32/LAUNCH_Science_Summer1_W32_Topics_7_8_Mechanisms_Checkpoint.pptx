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3693345da34bd5" /><Relationship Type="http://schemas.openxmlformats.org/officeDocument/2006/relationships/extended-properties" Target="/docProps/app.xml" Id="Rbd53287615ce41dc" /><Relationship Type="http://schemas.openxmlformats.org/officeDocument/2006/relationships/officeDocument" Target="/ppt/presentation.xml" Id="R6d408d6776be45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fc321ea6be4507"/>
  </p:sldMasterIdLst>
  <p:notesMasterIdLst>
    <p:notesMasterId xmlns:r="http://schemas.openxmlformats.org/officeDocument/2006/relationships" r:id="R8854788dbc5b4850"/>
  </p:notesMasterIdLst>
  <p:sldIdLst>
    <p:sldId xmlns:r="http://schemas.openxmlformats.org/officeDocument/2006/relationships" id="256" r:id="Rd2253676a47548cd"/>
    <p:sldId xmlns:r="http://schemas.openxmlformats.org/officeDocument/2006/relationships" id="257" r:id="Rb28b184162ab45be"/>
    <p:sldId xmlns:r="http://schemas.openxmlformats.org/officeDocument/2006/relationships" id="258" r:id="R970bb3fecf8a4415"/>
    <p:sldId xmlns:r="http://schemas.openxmlformats.org/officeDocument/2006/relationships" id="259" r:id="R2e44e30714b64bff"/>
    <p:sldId xmlns:r="http://schemas.openxmlformats.org/officeDocument/2006/relationships" id="260" r:id="R67c9e10fc9e54a3d"/>
    <p:sldId xmlns:r="http://schemas.openxmlformats.org/officeDocument/2006/relationships" id="261" r:id="Rdb30fff9ee564e7b"/>
    <p:sldId xmlns:r="http://schemas.openxmlformats.org/officeDocument/2006/relationships" id="262" r:id="R267b528ffa294f29"/>
    <p:sldId xmlns:r="http://schemas.openxmlformats.org/officeDocument/2006/relationships" id="263" r:id="Rf1a0bd4bc43b48a1"/>
    <p:sldId xmlns:r="http://schemas.openxmlformats.org/officeDocument/2006/relationships" id="264" r:id="R46f139345ec543c5"/>
    <p:sldId xmlns:r="http://schemas.openxmlformats.org/officeDocument/2006/relationships" id="265" r:id="R7197688b86bf4176"/>
    <p:sldId xmlns:r="http://schemas.openxmlformats.org/officeDocument/2006/relationships" id="266" r:id="R1595e3486fb94a93"/>
    <p:sldId xmlns:r="http://schemas.openxmlformats.org/officeDocument/2006/relationships" id="267" r:id="R55fa0edd913b4374"/>
    <p:sldId xmlns:r="http://schemas.openxmlformats.org/officeDocument/2006/relationships" id="268" r:id="Re528dece23464b73"/>
    <p:sldId xmlns:r="http://schemas.openxmlformats.org/officeDocument/2006/relationships" id="269" r:id="R02c417c6997c43e1"/>
    <p:sldId xmlns:r="http://schemas.openxmlformats.org/officeDocument/2006/relationships" id="270" r:id="R8ec472cc773544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4d2c4fe5ec4dfd" /><Relationship Type="http://schemas.openxmlformats.org/officeDocument/2006/relationships/slideMaster" Target="/ppt/slideMasters/slideMaster1.xml" Id="R3afc321ea6be4507" /><Relationship Type="http://schemas.openxmlformats.org/officeDocument/2006/relationships/notesMaster" Target="/ppt/notesMasters/notesMaster1.xml" Id="R8854788dbc5b4850" /><Relationship Type="http://schemas.openxmlformats.org/officeDocument/2006/relationships/presProps" Target="/ppt/presProps.xml" Id="R3b7f2ced8d604035" /><Relationship Type="http://schemas.openxmlformats.org/officeDocument/2006/relationships/tableStyles" Target="/ppt/tableStyles.xml" Id="R9dbb37a5a40740b5" /><Relationship Type="http://schemas.openxmlformats.org/officeDocument/2006/relationships/slide" Target="/ppt/slides/slide1.xml" Id="Rd2253676a47548cd" /><Relationship Type="http://schemas.openxmlformats.org/officeDocument/2006/relationships/slide" Target="/ppt/slides/slide2.xml" Id="Rb28b184162ab45be" /><Relationship Type="http://schemas.openxmlformats.org/officeDocument/2006/relationships/slide" Target="/ppt/slides/slide3.xml" Id="R970bb3fecf8a4415" /><Relationship Type="http://schemas.openxmlformats.org/officeDocument/2006/relationships/slide" Target="/ppt/slides/slide4.xml" Id="R2e44e30714b64bff" /><Relationship Type="http://schemas.openxmlformats.org/officeDocument/2006/relationships/slide" Target="/ppt/slides/slide5.xml" Id="R67c9e10fc9e54a3d" /><Relationship Type="http://schemas.openxmlformats.org/officeDocument/2006/relationships/slide" Target="/ppt/slides/slide6.xml" Id="Rdb30fff9ee564e7b" /><Relationship Type="http://schemas.openxmlformats.org/officeDocument/2006/relationships/slide" Target="/ppt/slides/slide7.xml" Id="R267b528ffa294f29" /><Relationship Type="http://schemas.openxmlformats.org/officeDocument/2006/relationships/slide" Target="/ppt/slides/slide8.xml" Id="Rf1a0bd4bc43b48a1" /><Relationship Type="http://schemas.openxmlformats.org/officeDocument/2006/relationships/slide" Target="/ppt/slides/slide9.xml" Id="R46f139345ec543c5" /><Relationship Type="http://schemas.openxmlformats.org/officeDocument/2006/relationships/slide" Target="/ppt/slides/slide10.xml" Id="R7197688b86bf4176" /><Relationship Type="http://schemas.openxmlformats.org/officeDocument/2006/relationships/slide" Target="/ppt/slides/slide11.xml" Id="R1595e3486fb94a93" /><Relationship Type="http://schemas.openxmlformats.org/officeDocument/2006/relationships/slide" Target="/ppt/slides/slide12.xml" Id="R55fa0edd913b4374" /><Relationship Type="http://schemas.openxmlformats.org/officeDocument/2006/relationships/slide" Target="/ppt/slides/slide13.xml" Id="Re528dece23464b73" /><Relationship Type="http://schemas.openxmlformats.org/officeDocument/2006/relationships/slide" Target="/ppt/slides/slide14.xml" Id="R02c417c6997c43e1" /><Relationship Type="http://schemas.openxmlformats.org/officeDocument/2006/relationships/slide" Target="/ppt/slides/slide15.xml" Id="R8ec472cc773544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40cfab776e43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8e7c7e6ad841bb" /><Relationship Type="http://schemas.openxmlformats.org/officeDocument/2006/relationships/notesMaster" Target="/ppt/notesMasters/notesMaster1.xml" Id="R1b2a15710b7f4d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4b29d5024c4491" /><Relationship Type="http://schemas.openxmlformats.org/officeDocument/2006/relationships/notesMaster" Target="/ppt/notesMasters/notesMaster1.xml" Id="R6128d863d0ee42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08c38885874817" /><Relationship Type="http://schemas.openxmlformats.org/officeDocument/2006/relationships/notesMaster" Target="/ppt/notesMasters/notesMaster1.xml" Id="Rb0ef8a5c501a44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50685c35394ae5" /><Relationship Type="http://schemas.openxmlformats.org/officeDocument/2006/relationships/notesMaster" Target="/ppt/notesMasters/notesMaster1.xml" Id="R6314b962b57641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6fc074a10242a3" /><Relationship Type="http://schemas.openxmlformats.org/officeDocument/2006/relationships/notesMaster" Target="/ppt/notesMasters/notesMaster1.xml" Id="R270e2cda752b4d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78c241c43a4787" /><Relationship Type="http://schemas.openxmlformats.org/officeDocument/2006/relationships/notesMaster" Target="/ppt/notesMasters/notesMaster1.xml" Id="R7142359190fd42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749051f6e64e18" /><Relationship Type="http://schemas.openxmlformats.org/officeDocument/2006/relationships/notesMaster" Target="/ppt/notesMasters/notesMaster1.xml" Id="Rdf00224f4ec245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7dc880535e4e91" /><Relationship Type="http://schemas.openxmlformats.org/officeDocument/2006/relationships/notesMaster" Target="/ppt/notesMasters/notesMaster1.xml" Id="Rd15ba2e0630a47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c703e4d64a4a90" /><Relationship Type="http://schemas.openxmlformats.org/officeDocument/2006/relationships/notesMaster" Target="/ppt/notesMasters/notesMaster1.xml" Id="Rc1eaf0ca85b241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a157cc0ef34adc" /><Relationship Type="http://schemas.openxmlformats.org/officeDocument/2006/relationships/notesMaster" Target="/ppt/notesMasters/notesMaster1.xml" Id="R48f50cfa177f45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58de0ec4d94771" /><Relationship Type="http://schemas.openxmlformats.org/officeDocument/2006/relationships/notesMaster" Target="/ppt/notesMasters/notesMaster1.xml" Id="Re0e148d68c3a46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bedf830d404be5" /><Relationship Type="http://schemas.openxmlformats.org/officeDocument/2006/relationships/notesMaster" Target="/ppt/notesMasters/notesMaster1.xml" Id="R9456e4e4614a4b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24f4a17ae84ccb" /><Relationship Type="http://schemas.openxmlformats.org/officeDocument/2006/relationships/notesMaster" Target="/ppt/notesMasters/notesMaster1.xml" Id="Rc45d56d3fbea47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4b6460cc8649b4" /><Relationship Type="http://schemas.openxmlformats.org/officeDocument/2006/relationships/notesMaster" Target="/ppt/notesMasters/notesMaster1.xml" Id="R2f087cefc43641e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81240ab1a24dad" /><Relationship Type="http://schemas.openxmlformats.org/officeDocument/2006/relationships/notesMaster" Target="/ppt/notesMasters/notesMaster1.xml" Id="R2d8612f01bbe40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that this is original selected-topic practice after a recap. Record the chosen route and support. No grade prediction or public score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core insulin and glucose roles.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chamber/vessel routes and valve direction.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and exchange context. All checkpoint items and model data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 blood. R2 ventilation moves air through pressure changes; diffusion is net particle movement down a gradient. Accept spoken or pointed responses.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core insulin and glucose roles.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chamber/vessel routes and valve direction.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and exchange context. All checkpoint items and model data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 through location → carrier → response. This general recap does not rehearse the checkpoint wording. Recognition explains why every cell does not respond identically.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Endocrine transport model: an endocrine gland releases a hormone into circulating blood; the hormone reaches tissues, but only appropriate target cells respond. Arrows show information/material transport, not a private gland-to-organ 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core insulin and glucose roles.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chamber/vessel routes and valve direction.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and exchange context. All checkpoint items and model data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Trace right ventricle → pulmonary artery → lungs. It carries relatively oxygen-poor blood away from the heart. Let pupils see how the vessel definition differs from its oxygen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Schematic double circulation: body→right heart→lungs→left heart→body. Blue-labelled paths carry relatively oxygen-poor blood; red-labelled paths carry relatively oxygen-rich blood. Colour is accompanied by text. The positions are not anatomical.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core insulin and glucose roles.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chamber/vessel routes and valve direction.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and exchange context. All checkpoint items and model data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Trace one mechanical sequence. Distinguish the resulting airflow from diffusion across the alveolar barrier. This is a recap, not a breathing practical.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Two-panel schematic of quiet breathing. Inhalation: diaphragm contracts/flattens, ribs move up/out, thoracic volume rises and pressure falls below atmospheric pressure so air enters. Quiet exhalation: muscles relax and elastic recoil reduces volume, raising pressure so air leaves.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core insulin and glucose roles.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chamber/vessel routes and valve direction.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and exchange context. All checkpoint items and model data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M = 3,000 mL/min = 3 L/min. Joint N = 4,000 mL/min = 4 L/min. Cancel beat units, then divide by 1,000. These are warm-up records, not checkpoint A/B.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Constructed recap data, separate from the checkpoint. M: 60 beats/min × 50 mL/beat = 3,000 mL/min = 3 L/min. N: 80 × 50 = 4,000 mL/min = 4 L/min.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core insulin and glucose roles.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chamber/vessel routes and valve direction.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and exchange context. All checkpoint items and model data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W2 false: responsiveness/recognition matters. W3 false: it leaves the heart, so it is an artery. Pupils justify with a route rather than merely voting.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core insulin and glucose roles.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chamber/vessel routes and valve direction.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and exchange context. All checkpoint items and model data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No. These are constructed records; health, demand and oxygen content are not measured. Keep the conclusion to the supplied output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core insulin and glucose roles.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chamber/vessel routes and valve direction.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and exchange context. All checkpoint items and model data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Correct: answer independently with agreed support recorded; review afterwards. Read the support record aloud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Record the route and support; answer first; use feedback afterwards.</a:t>
            </a:r>
          </a:p>
          <a:p xmlns:a="http://schemas.openxmlformats.org/drawingml/2006/main">
            <a:r>
              <a:t>Correct. That makes the evidence interpretable and keeps feedback separate from the 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Convert the total directly into a predicted GCSE grade.</a:t>
            </a:r>
          </a:p>
          <a:p xmlns:a="http://schemas.openxmlformats.org/drawingml/2006/main">
            <a:r>
              <a:t>Twenty marks of selected teacher-authored content cannot establish an official 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Copy the worked answers while completing the checkpoint.</a:t>
            </a:r>
          </a:p>
          <a:p xmlns:a="http://schemas.openxmlformats.org/drawingml/2006/main">
            <a:r>
              <a:t>That would hide which ideas the pupil can currently apply.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core insulin and glucose roles.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chamber/vessel routes and valve direction.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and exchange context. All checkpoint items and model data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calculator and read-aloud access. Write the route/support on the feedback page before timing begins. Do not impose a penalty for the route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core insulin and glucose roles.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chamber/vessel routes and valve direction.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and exchange context. All checkpoint items and model data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answer reveals closed. Offer agreed access support without supplying scientific content; record any additional content prompts. Optional challenge audit is unscored and only after the 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core insulin and glucose roles.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chamber/vessel routes and valve direction.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and exchange context. All checkpoint items and model data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five four-mark item guides. A pupil can mark one selected item while teacher completes the rest after class; do not try to read every model answer aloud in two minutes. Preserve the original response before correction.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core insulin and glucose roles.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chamber/vessel routes and valve direction.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and exchange context. All checkpoint items and model data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 a quiet conference. Convert “revise everything” into a specific action, such as pressure direction, mL-to-L conversion or hormone versus storage.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core insulin and glucose roles.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chamber/vessel routes and valve direction.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and exchange context. All checkpoint items and model data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new scored science items. Use Q1–Q5 evidence to justify the chosen practice; avoid labelling a pupil by the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core insulin and glucose roles.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chamber/vessel routes and valve direction.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and exchange context. All checkpoint items and model data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exit minute. Retest with a fresh equivalent item later if useful; do not reuse the same answer as independent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core insulin and glucose roles.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chamber/vessel routes and valve direction.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the lungs work</a:t>
            </a:r>
          </a:p>
          <a:p xmlns:a="http://schemas.openxmlformats.org/drawingml/2006/main">
            <a:r>
              <a:t>https://www.nhlbi.nih.gov/health/lungs</a:t>
            </a:r>
          </a:p>
          <a:p xmlns:a="http://schemas.openxmlformats.org/drawingml/2006/main">
            <a:r>
              <a:t>Checked ventilation and exchange context. All checkpoint items and model data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84aa8bfacd44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ead8590cc04880" /><Relationship Type="http://schemas.openxmlformats.org/officeDocument/2006/relationships/slideLayout" Target="/ppt/slideLayouts/slideLayout1.xml" Id="Raef7fd2a9cfe45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f7fd2a9cfe45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404ab9ac14e04" /><Relationship Type="http://schemas.openxmlformats.org/officeDocument/2006/relationships/notesSlide" Target="/ppt/notesSlides/notesSlide1.xml" Id="Rfc17fb3c5f9d4c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26063df414e73" /><Relationship Type="http://schemas.openxmlformats.org/officeDocument/2006/relationships/notesSlide" Target="/ppt/notesSlides/notesSlide2.xml" Id="R634783022cc941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2296434ec4600" /><Relationship Type="http://schemas.openxmlformats.org/officeDocument/2006/relationships/notesSlide" Target="/ppt/notesSlides/notesSlide3.xml" Id="Rdaed012c7b1840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5acab731c4585" /><Relationship Type="http://schemas.openxmlformats.org/officeDocument/2006/relationships/notesSlide" Target="/ppt/notesSlides/notesSlide4.xml" Id="R62660548b3df4d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04b5014db415d" /><Relationship Type="http://schemas.openxmlformats.org/officeDocument/2006/relationships/notesSlide" Target="/ppt/notesSlides/notesSlide5.xml" Id="R40fd1377051a4c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f72ffa04c4654" /><Relationship Type="http://schemas.openxmlformats.org/officeDocument/2006/relationships/notesSlide" Target="/ppt/notesSlides/notesSlide6.xml" Id="R00ec898fe74d41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4937a2b0042b4" /><Relationship Type="http://schemas.openxmlformats.org/officeDocument/2006/relationships/notesSlide" Target="/ppt/notesSlides/notesSlide7.xml" Id="R3a4ca863cf3e4e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0537285cf410f" /><Relationship Type="http://schemas.openxmlformats.org/officeDocument/2006/relationships/notesSlide" Target="/ppt/notesSlides/notesSlide8.xml" Id="Rcdaab5482fc14a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a8b8d8e52432b" /><Relationship Type="http://schemas.openxmlformats.org/officeDocument/2006/relationships/notesSlide" Target="/ppt/notesSlides/notesSlide9.xml" Id="Re6573ac731c946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557d413384483" /><Relationship Type="http://schemas.openxmlformats.org/officeDocument/2006/relationships/notesSlide" Target="/ppt/notesSlides/notesSlide10.xml" Id="R5a886a4e6ba942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50f2564da4543" /><Relationship Type="http://schemas.openxmlformats.org/officeDocument/2006/relationships/notesSlide" Target="/ppt/notesSlides/notesSlide11.xml" Id="R09de4255866548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75d2ac12b4f70" /><Relationship Type="http://schemas.openxmlformats.org/officeDocument/2006/relationships/notesSlide" Target="/ppt/notesSlides/notesSlide12.xml" Id="Ra79e471a0c3b40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21552325a4211" /><Relationship Type="http://schemas.openxmlformats.org/officeDocument/2006/relationships/notesSlide" Target="/ppt/notesSlides/notesSlide13.xml" Id="R8f33e965a1eb47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6c1e47bd94b75" /><Relationship Type="http://schemas.openxmlformats.org/officeDocument/2006/relationships/notesSlide" Target="/ppt/notesSlides/notesSlide14.xml" Id="Rca1c039a30d94a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4d8c7a4264bf3" /><Relationship Type="http://schemas.openxmlformats.org/officeDocument/2006/relationships/notesSlide" Target="/ppt/notesSlides/notesSlide15.xml" Id="R4c08b1e82e864a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E85A4B2D-5CEF-4166-8B4E-5FE6FEFD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E9D2F81-4B03-4C3C-9628-02E9ADA0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0187B06-CFD9-45A8-8D25-5E89FD61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9CD188E3-C96B-4B61-869F-785517D6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FC294878-3DD8-471D-908F-84D29375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B1AD805E-E033-4CAB-AC6F-7CAF4FA5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A precise checkpoint, then a useful next step">
            <a:extLst xmlns:a="http://schemas.openxmlformats.org/drawingml/2006/main">
              <a:ext uri="{FF2B5EF4-FFF2-40B4-BE49-F238E27FC236}">
                <a16:creationId xmlns:a16="http://schemas.microsoft.com/office/drawing/2014/main" id="{61A2D03E-890B-456C-AEF9-CC2EFE31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precise checkpoint, then a useful next step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F3BD684-3FFE-4FB4-8121-32712571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opics 7–8: mechanisms checkpoint">
            <a:extLst xmlns:a="http://schemas.openxmlformats.org/drawingml/2006/main">
              <a:ext uri="{FF2B5EF4-FFF2-40B4-BE49-F238E27FC236}">
                <a16:creationId xmlns:a16="http://schemas.microsoft.com/office/drawing/2014/main" id="{60E5E4A7-4CC6-4299-B36B-006AEEBD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Topics 7–8: mechanisms checkpoint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92D2BA0B-4997-4900-A34A-3BADED4F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251AD48C-F994-4B32-95AA-1855B251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D3108AA0-0A0D-4810-9745-E83F4C29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0B540F49-431F-42C9-A16A-238C65E3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Apply selected ideas about hormonal control, circulation and exc">
            <a:extLst xmlns:a="http://schemas.openxmlformats.org/drawingml/2006/main">
              <a:ext uri="{FF2B5EF4-FFF2-40B4-BE49-F238E27FC236}">
                <a16:creationId xmlns:a16="http://schemas.microsoft.com/office/drawing/2014/main" id="{025CB582-E09B-459B-9532-852E726F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Apply selected ideas about hormonal control, circulation and exchange, then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evidence to choose a precise next step.</a:t>
            </a:r>
          </a:p>
        </p:txBody>
      </p:sp>
      <p:sp>
        <p:nvSpPr>
          <p:cNvPr id="15" name="Five questions, 20 core marks.">
            <a:extLst xmlns:a="http://schemas.openxmlformats.org/drawingml/2006/main">
              <a:ext uri="{FF2B5EF4-FFF2-40B4-BE49-F238E27FC236}">
                <a16:creationId xmlns:a16="http://schemas.microsoft.com/office/drawing/2014/main" id="{60DAD532-01F9-44BA-83F0-807BBCDE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Five questions, 20 core marks.</a:t>
            </a:r>
          </a:p>
        </p:txBody>
      </p:sp>
      <p:sp>
        <p:nvSpPr>
          <p:cNvPr id="16" name="Short recap first; 18 minutes for independent work.">
            <a:extLst xmlns:a="http://schemas.openxmlformats.org/drawingml/2006/main">
              <a:ext uri="{FF2B5EF4-FFF2-40B4-BE49-F238E27FC236}">
                <a16:creationId xmlns:a16="http://schemas.microsoft.com/office/drawing/2014/main" id="{268CF363-BDBA-4D18-AB69-70D35272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Short recap first; 18 minutes for independent work.</a:t>
            </a:r>
          </a:p>
        </p:txBody>
      </p:sp>
    </p:spTree>
    <p:extLst>
      <p:ext uri="{BB962C8B-B14F-4D97-AF65-F5344CB8AC3E}">
        <p14:creationId xmlns:p14="http://schemas.microsoft.com/office/powerpoint/2010/main" val="6289655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8115A5F5-421B-46B8-AA54-D55E9CC5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9CFF90F-7E9C-4CAB-BFEC-92B9D17D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B851936-A953-4952-A62C-0E266CB9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838FE984-136C-4DD6-9EED-1BE7F740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FEB40B75-BFAE-4461-BF29-81B814E1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DC3019EE-0309-49DF-A5DE-643FCD69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Retrieve a route and a process">
            <a:extLst xmlns:a="http://schemas.openxmlformats.org/drawingml/2006/main">
              <a:ext uri="{FF2B5EF4-FFF2-40B4-BE49-F238E27FC236}">
                <a16:creationId xmlns:a16="http://schemas.microsoft.com/office/drawing/2014/main" id="{489699E4-14BB-4DA8-BB41-0F032624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Retrieve a route and a process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A60B478-8D0A-48D8-9054-B2757EB7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opics 7–8: mechanisms checkpoint">
            <a:extLst xmlns:a="http://schemas.openxmlformats.org/drawingml/2006/main">
              <a:ext uri="{FF2B5EF4-FFF2-40B4-BE49-F238E27FC236}">
                <a16:creationId xmlns:a16="http://schemas.microsoft.com/office/drawing/2014/main" id="{249AF4A5-B780-491A-B0AF-E45DDCB5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Topics 7–8: mechanisms checkpoint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F8A89851-7C7F-4984-AD95-668B7418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What carries an endocrine hormone around the body?">
            <a:extLst xmlns:a="http://schemas.openxmlformats.org/drawingml/2006/main">
              <a:ext uri="{FF2B5EF4-FFF2-40B4-BE49-F238E27FC236}">
                <a16:creationId xmlns:a16="http://schemas.microsoft.com/office/drawing/2014/main" id="{D8428EE0-6228-4A83-8CA8-6B0EA090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What carries an endocrine hormone around the body?</a:t>
            </a:r>
          </a:p>
        </p:txBody>
      </p:sp>
      <p:sp>
        <p:nvSpPr>
          <p:cNvPr id="12" name="R2. What is the difference between ventilation and diffusion?">
            <a:extLst xmlns:a="http://schemas.openxmlformats.org/drawingml/2006/main">
              <a:ext uri="{FF2B5EF4-FFF2-40B4-BE49-F238E27FC236}">
                <a16:creationId xmlns:a16="http://schemas.microsoft.com/office/drawing/2014/main" id="{187A0303-B2E2-49FA-9674-8C47848A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What is the difference between ventilation and diffusion?</a:t>
            </a:r>
          </a:p>
        </p:txBody>
      </p:sp>
    </p:spTree>
    <p:extLst>
      <p:ext uri="{BB962C8B-B14F-4D97-AF65-F5344CB8AC3E}">
        <p14:creationId xmlns:p14="http://schemas.microsoft.com/office/powerpoint/2010/main" val="1694044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5D2CB4B4-F968-4A8A-A1F6-951FE1F5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DDBCE5D-52DF-40ED-8B24-9A3E18CE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DF442B2-2D0A-44DE-B1AC-FE6B004A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06E54F18-1D30-4FB0-97F1-EC846741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47A25E4F-9981-47C9-8E88-AB40116D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89A024E5-EAB4-42DE-8308-C7C17C27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Trace the hormone message">
            <a:extLst xmlns:a="http://schemas.openxmlformats.org/drawingml/2006/main">
              <a:ext uri="{FF2B5EF4-FFF2-40B4-BE49-F238E27FC236}">
                <a16:creationId xmlns:a16="http://schemas.microsoft.com/office/drawing/2014/main" id="{B05C16C1-F0EB-4DC5-BE6D-3D9695E9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Trace the hormone message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1179644-29BA-4946-9674-A13A2D40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opics 7–8: mechanisms checkpoint">
            <a:extLst xmlns:a="http://schemas.openxmlformats.org/drawingml/2006/main">
              <a:ext uri="{FF2B5EF4-FFF2-40B4-BE49-F238E27FC236}">
                <a16:creationId xmlns:a16="http://schemas.microsoft.com/office/drawing/2014/main" id="{D0A25625-F639-4F6B-A9A9-301D34C2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Topics 7–8: mechanisms checkpoint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F2EBD15E-FA5D-4A57-B381-539B517D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One message, three important locations">
            <a:extLst xmlns:a="http://schemas.openxmlformats.org/drawingml/2006/main">
              <a:ext uri="{FF2B5EF4-FFF2-40B4-BE49-F238E27FC236}">
                <a16:creationId xmlns:a16="http://schemas.microsoft.com/office/drawing/2014/main" id="{2CE60BBD-C7B3-4B3A-B2B5-3D2EEE3B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One message, three important locations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2D79DDC-AC82-47F8-8E00-1149984D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3042557"/>
            <a:ext cx="1978734" cy="1269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3" name="Diagram label: Endocrine gland&#10;Hormone released&#10;into blood">
            <a:extLst xmlns:a="http://schemas.openxmlformats.org/drawingml/2006/main">
              <a:ext uri="{FF2B5EF4-FFF2-40B4-BE49-F238E27FC236}">
                <a16:creationId xmlns:a16="http://schemas.microsoft.com/office/drawing/2014/main" id="{A74ECFF1-8FAB-400E-AA9A-BDE1CD5E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221" y="3251631"/>
            <a:ext cx="1829395" cy="896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Endocrine gland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Hormone released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into blood</a:t>
            </a:r>
          </a:p>
        </p:txBody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3BE3E71-E5F9-4E1D-A3F2-C7327269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51954" y="3677245"/>
            <a:ext cx="22027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7A5C9E"/>
            </a:solidFill>
          </a:ln>
        </p:spPr>
      </p:sp>
      <p:sp>
        <p:nvSpPr>
          <p:cNvPr id="1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0CFA7F24-D64F-489F-9D0C-AC8E0519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46094" y="3624977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E667415-3248-459F-8057-11AB6A2A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5" y="3042557"/>
            <a:ext cx="1866730" cy="1269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7" name="Diagram label: Bloodstream&#10;Carries&#10;hormone">
            <a:extLst xmlns:a="http://schemas.openxmlformats.org/drawingml/2006/main">
              <a:ext uri="{FF2B5EF4-FFF2-40B4-BE49-F238E27FC236}">
                <a16:creationId xmlns:a16="http://schemas.microsoft.com/office/drawing/2014/main" id="{A703C48A-405D-4FF8-A101-4601AF8D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304" y="3266565"/>
            <a:ext cx="1717392" cy="896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Bloodstream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Carries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hormone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424DA1E-CE1C-42ED-8E8E-3BA78DD2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04034" y="3677245"/>
            <a:ext cx="22027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7A5C9E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AD645885-8250-4697-B678-28B6DF78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98174" y="3624977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1393B14-92B7-4B86-A343-E7065127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4715" y="3042557"/>
            <a:ext cx="1978734" cy="1269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21" name="Diagram label: Target cells&#10;Recognise signal&#10;Change activity">
            <a:extLst xmlns:a="http://schemas.openxmlformats.org/drawingml/2006/main">
              <a:ext uri="{FF2B5EF4-FFF2-40B4-BE49-F238E27FC236}">
                <a16:creationId xmlns:a16="http://schemas.microsoft.com/office/drawing/2014/main" id="{6C2E0F3B-E5E9-4778-B488-75BAF0C6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053" y="3251631"/>
            <a:ext cx="1680057" cy="896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Target cells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Recognise signal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Change activity</a:t>
            </a:r>
          </a:p>
        </p:txBody>
      </p:sp>
      <p:sp>
        <p:nvSpPr>
          <p:cNvPr id="22" name="Diagram label: The bloodstream distributes the signal.&#10;Cell recognition helps determine the response.">
            <a:extLst xmlns:a="http://schemas.openxmlformats.org/drawingml/2006/main">
              <a:ext uri="{FF2B5EF4-FFF2-40B4-BE49-F238E27FC236}">
                <a16:creationId xmlns:a16="http://schemas.microsoft.com/office/drawing/2014/main" id="{980E2E6E-BCAE-4476-9487-E9C758E8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555" y="4983956"/>
            <a:ext cx="6570889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bloodstream distributes the signal.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Cell recognition helps determine the response.</a:t>
            </a:r>
          </a:p>
        </p:txBody>
      </p:sp>
      <p:sp>
        <p:nvSpPr>
          <p:cNvPr id="23" name="Gland releases a hormone into blood.  Responsive cells recognise">
            <a:extLst xmlns:a="http://schemas.openxmlformats.org/drawingml/2006/main">
              <a:ext uri="{FF2B5EF4-FFF2-40B4-BE49-F238E27FC236}">
                <a16:creationId xmlns:a16="http://schemas.microsoft.com/office/drawing/2014/main" id="{51D4174A-0E77-42AE-B6BE-8A127D8A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Gland releases a hormone into blood. Responsive cells recognise the signal and change activity.</a:t>
            </a:r>
          </a:p>
        </p:txBody>
      </p:sp>
    </p:spTree>
    <p:extLst>
      <p:ext uri="{BB962C8B-B14F-4D97-AF65-F5344CB8AC3E}">
        <p14:creationId xmlns:p14="http://schemas.microsoft.com/office/powerpoint/2010/main" val="13281270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062F5A5A-2407-4810-9EFC-48DC0039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D9C22BF-2D34-45FB-BDCB-7AB8EECB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D5578AE-13B1-41EE-AD66-2B7F7E5B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45EF9752-0FAD-4C3D-BB86-3FF0E465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318F28AA-8598-456A-91F0-C5AF2FE3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F7BB25EB-F22D-487B-9D9C-249FBAFD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Read direction before oxygen content">
            <a:extLst xmlns:a="http://schemas.openxmlformats.org/drawingml/2006/main">
              <a:ext uri="{FF2B5EF4-FFF2-40B4-BE49-F238E27FC236}">
                <a16:creationId xmlns:a16="http://schemas.microsoft.com/office/drawing/2014/main" id="{1E2F2832-04FA-4A31-86CC-35DA2390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direction before oxygen content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268F6E9-7B39-4083-A760-10C97DF1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opics 7–8: mechanisms checkpoint">
            <a:extLst xmlns:a="http://schemas.openxmlformats.org/drawingml/2006/main">
              <a:ext uri="{FF2B5EF4-FFF2-40B4-BE49-F238E27FC236}">
                <a16:creationId xmlns:a16="http://schemas.microsoft.com/office/drawing/2014/main" id="{9FC10C3C-EDB1-4AEB-8503-BA4D04E6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Topics 7–8: mechanisms checkpoint</a:t>
            </a:r>
          </a:p>
        </p:txBody>
      </p:sp>
      <p:sp>
        <p:nvSpPr>
          <p:cNvPr id="10" name="4 / 15">
            <a:extLst xmlns:a="http://schemas.openxmlformats.org/drawingml/2006/main">
              <a:ext uri="{FF2B5EF4-FFF2-40B4-BE49-F238E27FC236}">
                <a16:creationId xmlns:a16="http://schemas.microsoft.com/office/drawing/2014/main" id="{832ED0D9-9A14-4221-9168-783C92EC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1" name="Diagram label: Two linked circuits, one continuous route">
            <a:extLst xmlns:a="http://schemas.openxmlformats.org/drawingml/2006/main">
              <a:ext uri="{FF2B5EF4-FFF2-40B4-BE49-F238E27FC236}">
                <a16:creationId xmlns:a16="http://schemas.microsoft.com/office/drawing/2014/main" id="{73813797-E3F5-4E95-8902-D8D2A9A7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Two linked circuits, one continuous route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E60B018-A8F3-43AC-8560-195FB3BD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3415903"/>
            <a:ext cx="1754726" cy="97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3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3" name="Diagram label: Body tissues">
            <a:extLst xmlns:a="http://schemas.openxmlformats.org/drawingml/2006/main">
              <a:ext uri="{FF2B5EF4-FFF2-40B4-BE49-F238E27FC236}">
                <a16:creationId xmlns:a16="http://schemas.microsoft.com/office/drawing/2014/main" id="{A6642CEF-E0C6-42D4-AD65-F7F6C581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555" y="3639911"/>
            <a:ext cx="1456049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Body tissues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B78093D-5AA4-4536-8C54-6F4B8B5B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7966" y="4423937"/>
            <a:ext cx="1978734" cy="896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5"/>
          </a:solidFill>
          <a:ln xmlns:a="http://schemas.openxmlformats.org/drawingml/2006/main" w="22401">
            <a:solidFill>
              <a:srgbClr val="4D82A0"/>
            </a:solidFill>
          </a:ln>
        </p:spPr>
      </p:sp>
      <p:sp>
        <p:nvSpPr>
          <p:cNvPr id="15" name="Diagram label: Right heart&#10;To the lungs">
            <a:extLst xmlns:a="http://schemas.openxmlformats.org/drawingml/2006/main">
              <a:ext uri="{FF2B5EF4-FFF2-40B4-BE49-F238E27FC236}">
                <a16:creationId xmlns:a16="http://schemas.microsoft.com/office/drawing/2014/main" id="{B16BC990-A5EE-4B3C-A65F-66EDC2D1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304" y="4573276"/>
            <a:ext cx="1680057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Right heart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To the lungs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D80AE46-EF51-485B-86D4-C9E3750F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392" y="3415903"/>
            <a:ext cx="1717392" cy="97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B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7" name="Diagram label: Lungs&#10;Gas exchange">
            <a:extLst xmlns:a="http://schemas.openxmlformats.org/drawingml/2006/main">
              <a:ext uri="{FF2B5EF4-FFF2-40B4-BE49-F238E27FC236}">
                <a16:creationId xmlns:a16="http://schemas.microsoft.com/office/drawing/2014/main" id="{8D263AF9-AA9F-4D08-B102-B39F167B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730" y="3639911"/>
            <a:ext cx="1418715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Lungs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Gas exchange</a:t>
            </a:r>
          </a:p>
        </p:txBody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096F42B-800E-43AA-817F-6C669BBD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7966" y="2557207"/>
            <a:ext cx="1978734" cy="896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5"/>
          </a:solidFill>
          <a:ln xmlns:a="http://schemas.openxmlformats.org/drawingml/2006/main" w="22401">
            <a:solidFill>
              <a:srgbClr val="B34D4D"/>
            </a:solidFill>
          </a:ln>
        </p:spPr>
      </p:sp>
      <p:sp>
        <p:nvSpPr>
          <p:cNvPr id="19" name="Diagram label: Left heart&#10;To the body">
            <a:extLst xmlns:a="http://schemas.openxmlformats.org/drawingml/2006/main">
              <a:ext uri="{FF2B5EF4-FFF2-40B4-BE49-F238E27FC236}">
                <a16:creationId xmlns:a16="http://schemas.microsoft.com/office/drawing/2014/main" id="{3D2F8A06-5F1E-4160-A428-6A510FCE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304" y="2706546"/>
            <a:ext cx="1680057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Left heart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To the body</a:t>
            </a:r>
          </a:p>
        </p:txBody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6286C00-EA98-4E2B-A2A6-E5AE390B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90612" y="4274599"/>
            <a:ext cx="425498" cy="3600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D82A0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50DA23F9-C74E-4168-86A4-05E24D21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14181">
            <a:off x="4883793" y="4599249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65BA288-112B-4C6A-AC6C-3FEDDA11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178703" y="4323038"/>
            <a:ext cx="461035" cy="3622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D82A0"/>
            </a:solidFill>
          </a:ln>
        </p:spPr>
      </p:sp>
      <p:sp>
        <p:nvSpPr>
          <p:cNvPr id="23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C73F19E3-BA6B-4BC2-88CA-4EF06493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10566">
            <a:off x="7608020" y="4254623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522435A-B6B9-4C79-A123-2E4DCCAD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242502" y="3200132"/>
            <a:ext cx="458886" cy="32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B34D4D"/>
            </a:solidFill>
          </a:ln>
        </p:spPr>
      </p:sp>
      <p:sp>
        <p:nvSpPr>
          <p:cNvPr id="2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154CF74F-2145-406B-8852-FC3965B3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267739">
            <a:off x="7168967" y="3132673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34D4D"/>
          </a:solidFill>
          <a:ln xmlns:a="http://schemas.openxmlformats.org/drawingml/2006/main" w="0">
            <a:noFill/>
          </a:ln>
        </p:spPr>
      </p:sp>
      <p:sp>
        <p:nvSpPr>
          <p:cNvPr id="2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B3B8C21-0489-4B33-85F6-7EDCC311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552756" y="3154561"/>
            <a:ext cx="423206" cy="3255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B34D4D"/>
            </a:solidFill>
          </a:ln>
        </p:spPr>
      </p:sp>
      <p:sp>
        <p:nvSpPr>
          <p:cNvPr id="27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FBAB5A12-20D1-42F1-9291-C2879D0D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945884">
            <a:off x="4479773" y="3443770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34D4D"/>
          </a:solidFill>
          <a:ln xmlns:a="http://schemas.openxmlformats.org/drawingml/2006/main" w="0">
            <a:noFill/>
          </a:ln>
        </p:spPr>
      </p:sp>
      <p:sp>
        <p:nvSpPr>
          <p:cNvPr id="28" name="Diagram label: Relatively&#10;oxygen-poor route">
            <a:extLst xmlns:a="http://schemas.openxmlformats.org/drawingml/2006/main">
              <a:ext uri="{FF2B5EF4-FFF2-40B4-BE49-F238E27FC236}">
                <a16:creationId xmlns:a16="http://schemas.microsoft.com/office/drawing/2014/main" id="{7CF931A0-4CDB-43E4-8236-8FD9A122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5021291"/>
            <a:ext cx="2053403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11" b="0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Relatively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11" b="0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oxygen-poor route</a:t>
            </a:r>
          </a:p>
        </p:txBody>
      </p:sp>
      <p:sp>
        <p:nvSpPr>
          <p:cNvPr id="29" name="Diagram label: Relatively&#10;oxygen-rich route">
            <a:extLst xmlns:a="http://schemas.openxmlformats.org/drawingml/2006/main">
              <a:ext uri="{FF2B5EF4-FFF2-40B4-BE49-F238E27FC236}">
                <a16:creationId xmlns:a16="http://schemas.microsoft.com/office/drawing/2014/main" id="{200D0995-4A39-4863-B9A4-C2CD5BFE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711" y="2519873"/>
            <a:ext cx="2090738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11" b="0">
                <a:solidFill>
                  <a:srgbClr val="B34D4D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B34D4D"/>
                </a:solidFill>
                <a:latin typeface="Nimbus Sans"/>
                <a:ea typeface="Nimbus Sans"/>
                <a:cs typeface="Nimbus Sans"/>
              </a:rPr>
              <a:t>Relatively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11" b="0">
                <a:solidFill>
                  <a:srgbClr val="B34D4D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B34D4D"/>
                </a:solidFill>
                <a:latin typeface="Nimbus Sans"/>
                <a:ea typeface="Nimbus Sans"/>
                <a:cs typeface="Nimbus Sans"/>
              </a:rPr>
              <a:t>oxygen-rich route</a:t>
            </a:r>
          </a:p>
        </p:txBody>
      </p:sp>
      <p:sp>
        <p:nvSpPr>
          <p:cNvPr id="30" name="Diagram label: Artery = away from heart; vein = towards heart.">
            <a:extLst xmlns:a="http://schemas.openxmlformats.org/drawingml/2006/main">
              <a:ext uri="{FF2B5EF4-FFF2-40B4-BE49-F238E27FC236}">
                <a16:creationId xmlns:a16="http://schemas.microsoft.com/office/drawing/2014/main" id="{B914ECA9-76B5-4AAD-B5BA-1519E8E1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98" y="5618644"/>
            <a:ext cx="612287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Artery = away from heart; vein = towards heart.</a:t>
            </a:r>
          </a:p>
        </p:txBody>
      </p:sp>
      <p:sp>
        <p:nvSpPr>
          <p:cNvPr id="31" name="An artery takes blood away from the heart.  Follow the lung circ">
            <a:extLst xmlns:a="http://schemas.openxmlformats.org/drawingml/2006/main">
              <a:ext uri="{FF2B5EF4-FFF2-40B4-BE49-F238E27FC236}">
                <a16:creationId xmlns:a16="http://schemas.microsoft.com/office/drawing/2014/main" id="{0FFB289E-8768-4D45-B175-F0FBBC85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 artery takes blood away from the heart. Follow the lung circuit to test the definition.</a:t>
            </a:r>
          </a:p>
        </p:txBody>
      </p:sp>
    </p:spTree>
    <p:extLst>
      <p:ext uri="{BB962C8B-B14F-4D97-AF65-F5344CB8AC3E}">
        <p14:creationId xmlns:p14="http://schemas.microsoft.com/office/powerpoint/2010/main" val="5878144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76919715-02EA-42A9-B33D-BF5378A0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71F88AB-F4B3-4C89-99EC-00FF55FB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407CBDB-70FE-4B29-B782-74D644EB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CE8F0B72-F2A9-49CE-880B-4DB3716A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57AA4408-E084-4170-9C92-ADEBF45C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3277BCFF-493A-4595-916C-218585D3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Volume and pressure explain ventilation">
            <a:extLst xmlns:a="http://schemas.openxmlformats.org/drawingml/2006/main">
              <a:ext uri="{FF2B5EF4-FFF2-40B4-BE49-F238E27FC236}">
                <a16:creationId xmlns:a16="http://schemas.microsoft.com/office/drawing/2014/main" id="{389A8871-76BD-421F-B0B0-9E2BA8EC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Volume and pressure explain ventilation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D78C4F0-2659-4E25-9E49-18AA5144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opics 7–8: mechanisms checkpoint">
            <a:extLst xmlns:a="http://schemas.openxmlformats.org/drawingml/2006/main">
              <a:ext uri="{FF2B5EF4-FFF2-40B4-BE49-F238E27FC236}">
                <a16:creationId xmlns:a16="http://schemas.microsoft.com/office/drawing/2014/main" id="{0579362C-BEA0-48AC-9A4F-3BD4E742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Topics 7–8: mechanisms checkpoint</a:t>
            </a:r>
          </a:p>
        </p:txBody>
      </p:sp>
      <p:sp>
        <p:nvSpPr>
          <p:cNvPr id="10" name="5 / 15">
            <a:extLst xmlns:a="http://schemas.openxmlformats.org/drawingml/2006/main">
              <a:ext uri="{FF2B5EF4-FFF2-40B4-BE49-F238E27FC236}">
                <a16:creationId xmlns:a16="http://schemas.microsoft.com/office/drawing/2014/main" id="{036A9860-4530-4811-9B8C-888CBB0C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1" name="Diagram label: Ventilation changes volume and pressure">
            <a:extLst xmlns:a="http://schemas.openxmlformats.org/drawingml/2006/main">
              <a:ext uri="{FF2B5EF4-FFF2-40B4-BE49-F238E27FC236}">
                <a16:creationId xmlns:a16="http://schemas.microsoft.com/office/drawing/2014/main" id="{B90E5EC0-4F5F-4E26-880D-83EFB2B5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Ventilation changes volume and pressure</a:t>
            </a:r>
          </a:p>
        </p:txBody>
      </p:sp>
      <p:sp>
        <p:nvSpPr>
          <p:cNvPr id="12" name="Diagram label: Inhalation">
            <a:extLst xmlns:a="http://schemas.openxmlformats.org/drawingml/2006/main">
              <a:ext uri="{FF2B5EF4-FFF2-40B4-BE49-F238E27FC236}">
                <a16:creationId xmlns:a16="http://schemas.microsoft.com/office/drawing/2014/main" id="{66B67088-651A-4CBC-BD8A-2A9493D6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221" y="2460137"/>
            <a:ext cx="2912099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Inhalation</a:t>
            </a:r>
          </a:p>
        </p:txBody>
      </p:sp>
      <p:sp>
        <p:nvSpPr>
          <p:cNvPr id="13" name="Diagram label: Quiet exhalation">
            <a:extLst xmlns:a="http://schemas.openxmlformats.org/drawingml/2006/main">
              <a:ext uri="{FF2B5EF4-FFF2-40B4-BE49-F238E27FC236}">
                <a16:creationId xmlns:a16="http://schemas.microsoft.com/office/drawing/2014/main" id="{53187196-DCA8-4D6E-92E4-91E6AFA6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681" y="2460137"/>
            <a:ext cx="2912099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Quiet exhalation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9F6C312-9D47-4103-9A25-A3B8B88F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228" y="3042557"/>
            <a:ext cx="2464083" cy="16800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22401">
            <a:solidFill>
              <a:srgbClr val="4D82A0"/>
            </a:solidFill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00C1297-6ECE-440B-88B6-95281BB8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574" y="3303899"/>
            <a:ext cx="709357" cy="11200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3D4DB22-19E2-442C-818C-43571961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608" y="3303899"/>
            <a:ext cx="709357" cy="11200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EF63908-1EEC-4E82-B6EC-3A925242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29270" y="2818550"/>
            <a:ext cx="953" cy="5406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4D82A0"/>
            </a:solidFill>
          </a:ln>
        </p:spPr>
      </p:sp>
      <p:sp>
        <p:nvSpPr>
          <p:cNvPr id="18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B0B081CE-5296-4D8C-B03B-63776109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166548" y="3327793"/>
            <a:ext cx="125444" cy="1254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516C4D0-84A0-4389-B1DB-BCCF760F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83901" y="4759949"/>
            <a:ext cx="2090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268">
            <a:solidFill>
              <a:srgbClr val="7A5C9E"/>
            </a:solidFill>
          </a:ln>
        </p:spPr>
      </p:sp>
      <p:sp>
        <p:nvSpPr>
          <p:cNvPr id="2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96BF4BA-8C9B-494F-9F22-C1764707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0688" y="3303899"/>
            <a:ext cx="2464083" cy="1418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22401">
            <a:solidFill>
              <a:srgbClr val="4D82A0"/>
            </a:solidFill>
          </a:ln>
        </p:spPr>
      </p:sp>
      <p:sp>
        <p:nvSpPr>
          <p:cNvPr id="2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56F369D-4E7E-441F-8F66-2EC84D4B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034" y="3490572"/>
            <a:ext cx="709357" cy="8586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14416AC-4631-4C32-A3DD-69F07DFD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068" y="3490572"/>
            <a:ext cx="709357" cy="8586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9A4DA15-7FE4-4840-BF2B-D6979EB7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62730" y="2912633"/>
            <a:ext cx="953" cy="5406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4D82A0"/>
            </a:solidFill>
          </a:ln>
        </p:spPr>
      </p:sp>
      <p:sp>
        <p:nvSpPr>
          <p:cNvPr id="24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D40C0BF1-751E-4532-9517-091A53B8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0008" y="2818550"/>
            <a:ext cx="125444" cy="1254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E452FA0-3386-4EC1-82C1-5B386086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917361" y="4423937"/>
            <a:ext cx="1045369" cy="3360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268">
            <a:solidFill>
              <a:srgbClr val="7A5C9E"/>
            </a:solidFill>
          </a:ln>
        </p:spPr>
      </p:sp>
      <p:sp>
        <p:nvSpPr>
          <p:cNvPr id="2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9991764-2506-4706-BFDC-9C4B5E65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62730" y="4423937"/>
            <a:ext cx="1045369" cy="3360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268">
            <a:solidFill>
              <a:srgbClr val="7A5C9E"/>
            </a:solidFill>
          </a:ln>
        </p:spPr>
      </p:sp>
      <p:sp>
        <p:nvSpPr>
          <p:cNvPr id="27" name="Diagram label: Diaphragm contracts/flattens&#10;Volume rises; pressure falls&#10;Air enters">
            <a:extLst xmlns:a="http://schemas.openxmlformats.org/drawingml/2006/main">
              <a:ext uri="{FF2B5EF4-FFF2-40B4-BE49-F238E27FC236}">
                <a16:creationId xmlns:a16="http://schemas.microsoft.com/office/drawing/2014/main" id="{03174B5B-2D05-4B74-BCBB-4E9CE6C6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221" y="4983956"/>
            <a:ext cx="2912099" cy="821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Diaphragm contracts/flattens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Volume rises; pressure falls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Air enters</a:t>
            </a:r>
          </a:p>
        </p:txBody>
      </p:sp>
      <p:sp>
        <p:nvSpPr>
          <p:cNvPr id="28" name="Diagram label: Diaphragm relaxes; recoil&#10;Volume falls; pressure rises&#10;Air leaves">
            <a:extLst xmlns:a="http://schemas.openxmlformats.org/drawingml/2006/main">
              <a:ext uri="{FF2B5EF4-FFF2-40B4-BE49-F238E27FC236}">
                <a16:creationId xmlns:a16="http://schemas.microsoft.com/office/drawing/2014/main" id="{5D1D3DE2-D787-41E1-9B32-AA132EA6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681" y="4983956"/>
            <a:ext cx="2912099" cy="821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Diaphragm relaxes; recoil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Volume falls; pressure rises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Air leaves</a:t>
            </a:r>
          </a:p>
        </p:txBody>
      </p:sp>
      <p:sp>
        <p:nvSpPr>
          <p:cNvPr id="29" name="Inhalation increases volume and lowers pressure.  Quiet exhalati">
            <a:extLst xmlns:a="http://schemas.openxmlformats.org/drawingml/2006/main">
              <a:ext uri="{FF2B5EF4-FFF2-40B4-BE49-F238E27FC236}">
                <a16:creationId xmlns:a16="http://schemas.microsoft.com/office/drawing/2014/main" id="{729BD879-D3FC-4E20-9509-76989BC0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Inhalation increases volume and lowers pressure. Quiet exhalation involves relaxation and recoil.</a:t>
            </a:r>
          </a:p>
        </p:txBody>
      </p:sp>
    </p:spTree>
    <p:extLst>
      <p:ext uri="{BB962C8B-B14F-4D97-AF65-F5344CB8AC3E}">
        <p14:creationId xmlns:p14="http://schemas.microsoft.com/office/powerpoint/2010/main" val="1084182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BA97089A-3EC8-4F14-A8A4-87DC2809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4AC3FA9-F45F-4EED-A552-979A1F5B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CF1C1D8-B7D6-4F19-915C-CF418B55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67930689-7718-40F2-95AB-BE1C7B94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8FBA333C-735E-4CE3-856A-36832627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9761219C-8FA9-4FC9-9B26-F069175D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Use an analogous calculation">
            <a:extLst xmlns:a="http://schemas.openxmlformats.org/drawingml/2006/main">
              <a:ext uri="{FF2B5EF4-FFF2-40B4-BE49-F238E27FC236}">
                <a16:creationId xmlns:a16="http://schemas.microsoft.com/office/drawing/2014/main" id="{D0208ED8-DB30-4F53-A4E5-AF412BFF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an analogous calculation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F589F102-CB80-4311-902D-6311AF46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opics 7–8: mechanisms checkpoint">
            <a:extLst xmlns:a="http://schemas.openxmlformats.org/drawingml/2006/main">
              <a:ext uri="{FF2B5EF4-FFF2-40B4-BE49-F238E27FC236}">
                <a16:creationId xmlns:a16="http://schemas.microsoft.com/office/drawing/2014/main" id="{EAB677A2-8B23-456C-A107-DF6BA109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Topics 7–8: mechanisms checkpoint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38818E58-2238-4A2B-8613-3B62C5B4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Diagram label: Warm-up only: model pump output">
            <a:extLst xmlns:a="http://schemas.openxmlformats.org/drawingml/2006/main">
              <a:ext uri="{FF2B5EF4-FFF2-40B4-BE49-F238E27FC236}">
                <a16:creationId xmlns:a16="http://schemas.microsoft.com/office/drawing/2014/main" id="{75442180-C618-4083-BC00-EFC5C87A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Warm-up only: model pump output</a:t>
            </a:r>
          </a:p>
        </p:txBody>
      </p:sp>
      <p:sp>
        <p:nvSpPr>
          <p:cNvPr id="12" name="Diagram label: Constructed model pump output (L/min)">
            <a:extLst xmlns:a="http://schemas.openxmlformats.org/drawingml/2006/main">
              <a:ext uri="{FF2B5EF4-FFF2-40B4-BE49-F238E27FC236}">
                <a16:creationId xmlns:a16="http://schemas.microsoft.com/office/drawing/2014/main" id="{79AB9ED5-37A2-4EAC-ADBC-C88359A7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373426"/>
            <a:ext cx="6306911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model pump output (L/min)</a:t>
            </a:r>
          </a:p>
        </p:txBody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20BE6D9-624A-46A6-B18D-8774D0DC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5001305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1F2937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35B6500-4285-4C58-85AC-9E82C24A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2793887"/>
            <a:ext cx="953" cy="22074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1F2937"/>
            </a:solidFill>
          </a:ln>
        </p:spPr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9BF7A18-7782-4118-871D-F789B7B4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5001305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16" name="Diagram label: 0">
            <a:extLst xmlns:a="http://schemas.openxmlformats.org/drawingml/2006/main">
              <a:ext uri="{FF2B5EF4-FFF2-40B4-BE49-F238E27FC236}">
                <a16:creationId xmlns:a16="http://schemas.microsoft.com/office/drawing/2014/main" id="{866E85FF-E3B6-49FC-A473-D580B0B8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4875167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842959D-70CB-4D08-88D9-FF722305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4475729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18" name="Diagram label: 1.25">
            <a:extLst xmlns:a="http://schemas.openxmlformats.org/drawingml/2006/main">
              <a:ext uri="{FF2B5EF4-FFF2-40B4-BE49-F238E27FC236}">
                <a16:creationId xmlns:a16="http://schemas.microsoft.com/office/drawing/2014/main" id="{A6DEF615-C792-4229-BC88-E082EA84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4349591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1.25</a:t>
            </a:r>
          </a:p>
        </p:txBody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B303863-2249-4E01-AE0A-5A6F59D4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3950154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20" name="Diagram label: 2.5">
            <a:extLst xmlns:a="http://schemas.openxmlformats.org/drawingml/2006/main">
              <a:ext uri="{FF2B5EF4-FFF2-40B4-BE49-F238E27FC236}">
                <a16:creationId xmlns:a16="http://schemas.microsoft.com/office/drawing/2014/main" id="{0B51EA34-788F-419D-A259-B1DB3122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3824015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2.5</a:t>
            </a:r>
          </a:p>
        </p:txBody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00DEB8B-DD0C-47B2-A991-885E8DA8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3424578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22" name="Diagram label: 3.75">
            <a:extLst xmlns:a="http://schemas.openxmlformats.org/drawingml/2006/main">
              <a:ext uri="{FF2B5EF4-FFF2-40B4-BE49-F238E27FC236}">
                <a16:creationId xmlns:a16="http://schemas.microsoft.com/office/drawing/2014/main" id="{A3E1C579-6A71-4818-AFA3-04BEC675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3298439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3.75</a:t>
            </a:r>
          </a:p>
        </p:txBody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936B877-9D9E-42B5-9693-1447F3FB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2899002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24" name="Diagram label: 5">
            <a:extLst xmlns:a="http://schemas.openxmlformats.org/drawingml/2006/main">
              <a:ext uri="{FF2B5EF4-FFF2-40B4-BE49-F238E27FC236}">
                <a16:creationId xmlns:a16="http://schemas.microsoft.com/office/drawing/2014/main" id="{95EF22EC-5522-400C-A043-BE39087C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2772864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2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331FC1B-9BC9-4950-B255-85E87F4F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351" y="3739923"/>
            <a:ext cx="2347572" cy="12613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EEC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26" name="Diagram label: 3">
            <a:extLst xmlns:a="http://schemas.openxmlformats.org/drawingml/2006/main">
              <a:ext uri="{FF2B5EF4-FFF2-40B4-BE49-F238E27FC236}">
                <a16:creationId xmlns:a16="http://schemas.microsoft.com/office/drawing/2014/main" id="{5C870FCF-16E8-4B7D-9C7F-08984F6D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351" y="3459616"/>
            <a:ext cx="2347572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7" name="Diagram label: M">
            <a:extLst xmlns:a="http://schemas.openxmlformats.org/drawingml/2006/main">
              <a:ext uri="{FF2B5EF4-FFF2-40B4-BE49-F238E27FC236}">
                <a16:creationId xmlns:a16="http://schemas.microsoft.com/office/drawing/2014/main" id="{D33FC260-4088-4048-8E76-36702D7E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5106421"/>
            <a:ext cx="2417649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</a:t>
            </a:r>
          </a:p>
        </p:txBody>
      </p:sp>
      <p:sp>
        <p:nvSpPr>
          <p:cNvPr id="2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1155D81-EEEF-4A54-9D9D-D7D7FFB9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192" y="3319463"/>
            <a:ext cx="2347572" cy="1681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EEC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29" name="Diagram label: 4">
            <a:extLst xmlns:a="http://schemas.openxmlformats.org/drawingml/2006/main">
              <a:ext uri="{FF2B5EF4-FFF2-40B4-BE49-F238E27FC236}">
                <a16:creationId xmlns:a16="http://schemas.microsoft.com/office/drawing/2014/main" id="{BBBAD1C7-A6E9-40EF-8010-4BA51513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192" y="3039155"/>
            <a:ext cx="2347572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30" name="Diagram label: N">
            <a:extLst xmlns:a="http://schemas.openxmlformats.org/drawingml/2006/main">
              <a:ext uri="{FF2B5EF4-FFF2-40B4-BE49-F238E27FC236}">
                <a16:creationId xmlns:a16="http://schemas.microsoft.com/office/drawing/2014/main" id="{2AA54A65-B19D-4030-8CE9-680B91B7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154" y="5106421"/>
            <a:ext cx="2417649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</a:t>
            </a:r>
          </a:p>
        </p:txBody>
      </p:sp>
      <p:sp>
        <p:nvSpPr>
          <p:cNvPr id="31" name="W1. Model M: 60 beats/min × 50 mL/beat.  Model N: 80 beats/min ×">
            <a:extLst xmlns:a="http://schemas.openxmlformats.org/drawingml/2006/main">
              <a:ext uri="{FF2B5EF4-FFF2-40B4-BE49-F238E27FC236}">
                <a16:creationId xmlns:a16="http://schemas.microsoft.com/office/drawing/2014/main" id="{7534E2BC-AE8B-42E1-A1B5-5F9CAE24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W1. Model M: 60 beats/min × 50 mL/beat. Model N: 80 beats/min × 50 mL/beat. Calculate N after the teacher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models M.</a:t>
            </a:r>
          </a:p>
        </p:txBody>
      </p:sp>
    </p:spTree>
    <p:extLst>
      <p:ext uri="{BB962C8B-B14F-4D97-AF65-F5344CB8AC3E}">
        <p14:creationId xmlns:p14="http://schemas.microsoft.com/office/powerpoint/2010/main" val="3160291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C87CC634-9F12-43FA-BF5D-228B384A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99ECB27-DC56-493F-8B28-A1AF0EB9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85CC7F8-3459-4260-8CC4-16428676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94BB5E8-A8B7-4AA5-9502-1B9BEE65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5FE3F3DC-A63D-42D2-BD13-9C86D97B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7907C4A4-A2CC-437F-B3B7-D891EBE8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hallenge a pair of claims">
            <a:extLst xmlns:a="http://schemas.openxmlformats.org/drawingml/2006/main">
              <a:ext uri="{FF2B5EF4-FFF2-40B4-BE49-F238E27FC236}">
                <a16:creationId xmlns:a16="http://schemas.microsoft.com/office/drawing/2014/main" id="{6AC1CF16-4B9D-4F74-8C68-DA84F2DC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Challenge a pair of claims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06D4117-AC52-424C-9BB0-6FE68AFC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opics 7–8: mechanisms checkpoint">
            <a:extLst xmlns:a="http://schemas.openxmlformats.org/drawingml/2006/main">
              <a:ext uri="{FF2B5EF4-FFF2-40B4-BE49-F238E27FC236}">
                <a16:creationId xmlns:a16="http://schemas.microsoft.com/office/drawing/2014/main" id="{E5C95AA7-656D-42D1-AA24-7AECC392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Topics 7–8: mechanisms checkpoint</a:t>
            </a:r>
          </a:p>
        </p:txBody>
      </p:sp>
      <p:sp>
        <p:nvSpPr>
          <p:cNvPr id="10" name="7 / 15">
            <a:extLst xmlns:a="http://schemas.openxmlformats.org/drawingml/2006/main">
              <a:ext uri="{FF2B5EF4-FFF2-40B4-BE49-F238E27FC236}">
                <a16:creationId xmlns:a16="http://schemas.microsoft.com/office/drawing/2014/main" id="{78202075-C586-411D-A00B-1CDC2FB2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1" name="W2. “All blood-carried hormones affect every cell equally.”">
            <a:extLst xmlns:a="http://schemas.openxmlformats.org/drawingml/2006/main">
              <a:ext uri="{FF2B5EF4-FFF2-40B4-BE49-F238E27FC236}">
                <a16:creationId xmlns:a16="http://schemas.microsoft.com/office/drawing/2014/main" id="{20069571-255C-4C77-B1D2-3F97427D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“All blood-carried hormones affect every cell equally.”</a:t>
            </a:r>
          </a:p>
        </p:txBody>
      </p:sp>
      <p:sp>
        <p:nvSpPr>
          <p:cNvPr id="12" name="W3. “The pulmonary artery is a vein because its blood is oxygen-">
            <a:extLst xmlns:a="http://schemas.openxmlformats.org/drawingml/2006/main">
              <a:ext uri="{FF2B5EF4-FFF2-40B4-BE49-F238E27FC236}">
                <a16:creationId xmlns:a16="http://schemas.microsoft.com/office/drawing/2014/main" id="{EF80A242-8830-48EF-B129-22FDBFEB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“The pulmonary artery is a vein because its blood is oxygen-poor.”</a:t>
            </a:r>
          </a:p>
        </p:txBody>
      </p:sp>
    </p:spTree>
    <p:extLst>
      <p:ext uri="{BB962C8B-B14F-4D97-AF65-F5344CB8AC3E}">
        <p14:creationId xmlns:p14="http://schemas.microsoft.com/office/powerpoint/2010/main" val="19289301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547A765A-2BF8-489B-A466-31A7DCD8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021ACE9-96F2-4F6A-91DE-53112669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59FAC3C-381F-4F46-97C0-5632A281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865B9A62-18C9-4E9E-9D33-6165B0BF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712B656A-2320-49D1-951A-ABD68FEE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F1BB0BBB-8ABB-4B56-965D-4516C040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State what the calculation cannot show">
            <a:extLst xmlns:a="http://schemas.openxmlformats.org/drawingml/2006/main">
              <a:ext uri="{FF2B5EF4-FFF2-40B4-BE49-F238E27FC236}">
                <a16:creationId xmlns:a16="http://schemas.microsoft.com/office/drawing/2014/main" id="{D22FB854-78D7-4E8E-A8F3-E8C7FD7C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State what the calculation cannot show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A8DB796-A7A7-439D-AFBA-112763E8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opics 7–8: mechanisms checkpoint">
            <a:extLst xmlns:a="http://schemas.openxmlformats.org/drawingml/2006/main">
              <a:ext uri="{FF2B5EF4-FFF2-40B4-BE49-F238E27FC236}">
                <a16:creationId xmlns:a16="http://schemas.microsoft.com/office/drawing/2014/main" id="{CF5C487D-0D75-4391-82F7-957B560D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Topics 7–8: mechanisms checkpoint</a:t>
            </a:r>
          </a:p>
        </p:txBody>
      </p:sp>
      <p:sp>
        <p:nvSpPr>
          <p:cNvPr id="10" name="8 / 15">
            <a:extLst xmlns:a="http://schemas.openxmlformats.org/drawingml/2006/main">
              <a:ext uri="{FF2B5EF4-FFF2-40B4-BE49-F238E27FC236}">
                <a16:creationId xmlns:a16="http://schemas.microsoft.com/office/drawing/2014/main" id="{56961051-E605-462C-A680-74580661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1" name="Warm-up N has greater volume output than M.">
            <a:extLst xmlns:a="http://schemas.openxmlformats.org/drawingml/2006/main">
              <a:ext uri="{FF2B5EF4-FFF2-40B4-BE49-F238E27FC236}">
                <a16:creationId xmlns:a16="http://schemas.microsoft.com/office/drawing/2014/main" id="{A7FFB392-A1C2-4645-8C1F-1889499C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Warm-up N has greater volume output than M.</a:t>
            </a:r>
          </a:p>
        </p:txBody>
      </p:sp>
      <p:sp>
        <p:nvSpPr>
          <p:cNvPr id="12" name="Does that alone prove a person is healthier?">
            <a:extLst xmlns:a="http://schemas.openxmlformats.org/drawingml/2006/main">
              <a:ext uri="{FF2B5EF4-FFF2-40B4-BE49-F238E27FC236}">
                <a16:creationId xmlns:a16="http://schemas.microsoft.com/office/drawing/2014/main" id="{E39D8DDA-96B3-4407-B2EE-0DCB4D1B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Does that alone prove a person is healthier?</a:t>
            </a:r>
          </a:p>
        </p:txBody>
      </p:sp>
    </p:spTree>
    <p:extLst>
      <p:ext uri="{BB962C8B-B14F-4D97-AF65-F5344CB8AC3E}">
        <p14:creationId xmlns:p14="http://schemas.microsoft.com/office/powerpoint/2010/main" val="12882678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C0947E82-9A79-43AF-BAB9-77E78A67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5687527-0B2D-4B78-9BF3-9C101E56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1C33A79-2244-44C9-929D-9BDBFDC5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49075621-95EE-49CB-A410-55C259CF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5F2A02DE-9604-4267-AF2E-25310DEC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AD9D207E-3081-4173-B429-6FADE808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Before you begin">
            <a:extLst xmlns:a="http://schemas.openxmlformats.org/drawingml/2006/main">
              <a:ext uri="{FF2B5EF4-FFF2-40B4-BE49-F238E27FC236}">
                <a16:creationId xmlns:a16="http://schemas.microsoft.com/office/drawing/2014/main" id="{4AC87CE8-ECA7-4566-B101-20DB4E88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Before you begin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88169CF-5B21-4A60-9C87-24906A6F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opics 7–8: mechanisms checkpoint">
            <a:extLst xmlns:a="http://schemas.openxmlformats.org/drawingml/2006/main">
              <a:ext uri="{FF2B5EF4-FFF2-40B4-BE49-F238E27FC236}">
                <a16:creationId xmlns:a16="http://schemas.microsoft.com/office/drawing/2014/main" id="{ABB8F463-CE38-40FB-8D28-CE3A8115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Topics 7–8: mechanisms checkpoint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18AEFB11-D388-4FAF-9A98-47B705A1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Which practice will give a useful record of learning?">
            <a:extLst xmlns:a="http://schemas.openxmlformats.org/drawingml/2006/main">
              <a:ext uri="{FF2B5EF4-FFF2-40B4-BE49-F238E27FC236}">
                <a16:creationId xmlns:a16="http://schemas.microsoft.com/office/drawing/2014/main" id="{CEA7BF2F-0724-4BA2-BEDE-37ADD146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practice will give a useful record of learning?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5E84BDBD-F40A-48B1-AA52-CAFFB3BD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53A51054-44D5-49C1-9E6B-5DAC684C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64C5EBB1-FD1B-4149-B777-093E7DEC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Record the route and support; answer first; use feedback afterwa">
            <a:extLst xmlns:a="http://schemas.openxmlformats.org/drawingml/2006/main">
              <a:ext uri="{FF2B5EF4-FFF2-40B4-BE49-F238E27FC236}">
                <a16:creationId xmlns:a16="http://schemas.microsoft.com/office/drawing/2014/main" id="{A2DC7DB6-4E86-434A-A46E-278A5A99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Record the route and support; answer first; use feedback afterwards.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EA986A86-072F-4591-9E9E-2B4B6BB2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8A9434BC-E478-4115-94DF-8FA5028F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D3BAC702-6F82-4DA8-A0D6-EB4DB794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Convert the total directly into a predicted GCSE grade.">
            <a:extLst xmlns:a="http://schemas.openxmlformats.org/drawingml/2006/main">
              <a:ext uri="{FF2B5EF4-FFF2-40B4-BE49-F238E27FC236}">
                <a16:creationId xmlns:a16="http://schemas.microsoft.com/office/drawing/2014/main" id="{80C6B703-2525-4212-B537-FBF30E27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Convert the total directly into a predicted GCSE grade.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63AFF4C1-4CEF-4616-A6D3-C17E84B0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C2E13F25-E3AA-48C8-A140-7767FFE5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26690F57-B7A6-4D58-BC90-12F38E55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Copy the worked answers while completing the checkpoint.">
            <a:extLst xmlns:a="http://schemas.openxmlformats.org/drawingml/2006/main">
              <a:ext uri="{FF2B5EF4-FFF2-40B4-BE49-F238E27FC236}">
                <a16:creationId xmlns:a16="http://schemas.microsoft.com/office/drawing/2014/main" id="{339F46D3-A13F-446E-A254-765C8553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Copy the worked answers while completing the checkpoint.</a:t>
            </a:r>
          </a:p>
        </p:txBody>
      </p:sp>
    </p:spTree>
    <p:extLst>
      <p:ext uri="{BB962C8B-B14F-4D97-AF65-F5344CB8AC3E}">
        <p14:creationId xmlns:p14="http://schemas.microsoft.com/office/powerpoint/2010/main" val="13622468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CACC0B0E-9F26-4828-9AF7-389565FD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82797A3-B755-4AD6-A7B4-A650C3E2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19FF5D4-2652-4FAC-BC66-6CCFEA2C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A2128216-2F50-4DDB-9FEA-D352E2D9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BF4B096A-180F-405D-A066-E7555417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6E074126-67E2-4356-A553-5EEE029D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Set up your selected checkpoint route">
            <a:extLst xmlns:a="http://schemas.openxmlformats.org/drawingml/2006/main">
              <a:ext uri="{FF2B5EF4-FFF2-40B4-BE49-F238E27FC236}">
                <a16:creationId xmlns:a16="http://schemas.microsoft.com/office/drawing/2014/main" id="{8F088742-3EB5-475E-AE9A-6698034D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Set up your selected checkpoint route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BB504B9-D5DB-4DEA-A59A-BF78DE0C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opics 7–8: mechanisms checkpoint">
            <a:extLst xmlns:a="http://schemas.openxmlformats.org/drawingml/2006/main">
              <a:ext uri="{FF2B5EF4-FFF2-40B4-BE49-F238E27FC236}">
                <a16:creationId xmlns:a16="http://schemas.microsoft.com/office/drawing/2014/main" id="{03D130C9-1204-4060-8359-B71957FF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Topics 7–8: mechanisms checkpoint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117BCC74-1F20-4D55-AEA3-D6E341E2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Use the shared source page and Q1–Q5.">
            <a:extLst xmlns:a="http://schemas.openxmlformats.org/drawingml/2006/main">
              <a:ext uri="{FF2B5EF4-FFF2-40B4-BE49-F238E27FC236}">
                <a16:creationId xmlns:a16="http://schemas.microsoft.com/office/drawing/2014/main" id="{43C3F762-B9C1-4BD1-8BF5-58F62DE3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shared source page and Q1–Q5.</a:t>
            </a:r>
          </a:p>
        </p:txBody>
      </p:sp>
      <p:sp>
        <p:nvSpPr>
          <p:cNvPr id="12" name="All routes have the same 20 core marks.">
            <a:extLst xmlns:a="http://schemas.openxmlformats.org/drawingml/2006/main">
              <a:ext uri="{FF2B5EF4-FFF2-40B4-BE49-F238E27FC236}">
                <a16:creationId xmlns:a16="http://schemas.microsoft.com/office/drawing/2014/main" id="{9C775772-25E4-4813-BFE3-736528A1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All routes have the same 20 core marks.</a:t>
            </a:r>
          </a:p>
        </p:txBody>
      </p:sp>
    </p:spTree>
    <p:extLst>
      <p:ext uri="{BB962C8B-B14F-4D97-AF65-F5344CB8AC3E}">
        <p14:creationId xmlns:p14="http://schemas.microsoft.com/office/powerpoint/2010/main" val="10135585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447EE829-B4AF-4820-9A15-DF303083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6865E72-8A7D-4A98-A7F6-933E319A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9D40C42-2C56-416A-AE22-35BE717B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8752CB8-3FB4-4DAF-9EA0-3F00E038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CA124905-2D52-4921-AC36-6B9EA3BA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8 min">
            <a:extLst xmlns:a="http://schemas.openxmlformats.org/drawingml/2006/main">
              <a:ext uri="{FF2B5EF4-FFF2-40B4-BE49-F238E27FC236}">
                <a16:creationId xmlns:a16="http://schemas.microsoft.com/office/drawing/2014/main" id="{140E6049-763E-425A-B55E-C585A932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18 min</a:t>
            </a:r>
          </a:p>
        </p:txBody>
      </p:sp>
      <p:sp>
        <p:nvSpPr>
          <p:cNvPr id="7" name="Independent checkpoint: 18 minutes">
            <a:extLst xmlns:a="http://schemas.openxmlformats.org/drawingml/2006/main">
              <a:ext uri="{FF2B5EF4-FFF2-40B4-BE49-F238E27FC236}">
                <a16:creationId xmlns:a16="http://schemas.microsoft.com/office/drawing/2014/main" id="{9E179DEC-D209-493A-80B6-871F0401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Independent checkpoint: 18 minutes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F0A6F22-B207-4D1D-B6E8-C19C5428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opics 7–8: mechanisms checkpoint">
            <a:extLst xmlns:a="http://schemas.openxmlformats.org/drawingml/2006/main">
              <a:ext uri="{FF2B5EF4-FFF2-40B4-BE49-F238E27FC236}">
                <a16:creationId xmlns:a16="http://schemas.microsoft.com/office/drawing/2014/main" id="{BEDBA200-D150-4D83-9556-A96B6209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Topics 7–8: mechanisms checkpoint</a:t>
            </a:r>
          </a:p>
        </p:txBody>
      </p:sp>
      <p:sp>
        <p:nvSpPr>
          <p:cNvPr id="10" name="11 / 15">
            <a:extLst xmlns:a="http://schemas.openxmlformats.org/drawingml/2006/main">
              <a:ext uri="{FF2B5EF4-FFF2-40B4-BE49-F238E27FC236}">
                <a16:creationId xmlns:a16="http://schemas.microsoft.com/office/drawing/2014/main" id="{E19A207C-C2AE-4928-B146-85701A59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1" name="Answer Q1–Q5. Show units and causal links.">
            <a:extLst xmlns:a="http://schemas.openxmlformats.org/drawingml/2006/main">
              <a:ext uri="{FF2B5EF4-FFF2-40B4-BE49-F238E27FC236}">
                <a16:creationId xmlns:a16="http://schemas.microsoft.com/office/drawing/2014/main" id="{539EB284-7B7D-4DCD-95A3-33205163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Answer Q1–Q5. Show units and causal links.</a:t>
            </a:r>
          </a:p>
        </p:txBody>
      </p:sp>
      <p:sp>
        <p:nvSpPr>
          <p:cNvPr id="12" name="If stuck, move on and return.">
            <a:extLst xmlns:a="http://schemas.openxmlformats.org/drawingml/2006/main">
              <a:ext uri="{FF2B5EF4-FFF2-40B4-BE49-F238E27FC236}">
                <a16:creationId xmlns:a16="http://schemas.microsoft.com/office/drawing/2014/main" id="{77B08CE5-178E-4EB5-9E7D-E35773E8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If stuck, move on and return.</a:t>
            </a:r>
          </a:p>
        </p:txBody>
      </p:sp>
    </p:spTree>
    <p:extLst>
      <p:ext uri="{BB962C8B-B14F-4D97-AF65-F5344CB8AC3E}">
        <p14:creationId xmlns:p14="http://schemas.microsoft.com/office/powerpoint/2010/main" val="7357405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4487AA4A-9BD0-493B-B8F4-6FE0D3F9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F242A3E-D531-459C-ADE3-A7F0F99C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E6A28CD-8D6A-440C-AE27-DF81A92A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BC67F86-559A-4FB0-AE97-64A68D7A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D1ED94A2-0713-4BE4-9804-68F5B7C9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D6FDFE95-2990-4D0A-A0C7-68E1648A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Feedback starts now">
            <a:extLst xmlns:a="http://schemas.openxmlformats.org/drawingml/2006/main">
              <a:ext uri="{FF2B5EF4-FFF2-40B4-BE49-F238E27FC236}">
                <a16:creationId xmlns:a16="http://schemas.microsoft.com/office/drawing/2014/main" id="{2B924402-FC7C-47E3-8D05-01D95531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Feedback starts now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4666630-78EB-4CD6-9646-C7FE2EAF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opics 7–8: mechanisms checkpoint">
            <a:extLst xmlns:a="http://schemas.openxmlformats.org/drawingml/2006/main">
              <a:ext uri="{FF2B5EF4-FFF2-40B4-BE49-F238E27FC236}">
                <a16:creationId xmlns:a16="http://schemas.microsoft.com/office/drawing/2014/main" id="{9141B205-9FB8-4B61-8385-AF123B7F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Topics 7–8: mechanisms checkpoint</a:t>
            </a:r>
          </a:p>
        </p:txBody>
      </p:sp>
      <p:sp>
        <p:nvSpPr>
          <p:cNvPr id="10" name="12 / 15">
            <a:extLst xmlns:a="http://schemas.openxmlformats.org/drawingml/2006/main">
              <a:ext uri="{FF2B5EF4-FFF2-40B4-BE49-F238E27FC236}">
                <a16:creationId xmlns:a16="http://schemas.microsoft.com/office/drawing/2014/main" id="{F1399054-9A8E-40A9-9205-B9536F1D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1" name="Pause or collect the first attempt.">
            <a:extLst xmlns:a="http://schemas.openxmlformats.org/drawingml/2006/main">
              <a:ext uri="{FF2B5EF4-FFF2-40B4-BE49-F238E27FC236}">
                <a16:creationId xmlns:a16="http://schemas.microsoft.com/office/drawing/2014/main" id="{2E06E00D-8F4A-4498-BD36-A9FCCC4B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Pause or collect the first attempt.</a:t>
            </a:r>
          </a:p>
        </p:txBody>
      </p:sp>
      <p:sp>
        <p:nvSpPr>
          <p:cNvPr id="12" name="Use item evidence to choose one correction.">
            <a:extLst xmlns:a="http://schemas.openxmlformats.org/drawingml/2006/main">
              <a:ext uri="{FF2B5EF4-FFF2-40B4-BE49-F238E27FC236}">
                <a16:creationId xmlns:a16="http://schemas.microsoft.com/office/drawing/2014/main" id="{96E1EBA4-0C84-44FA-A836-B31B2263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item evidence to choose one correction.</a:t>
            </a:r>
          </a:p>
        </p:txBody>
      </p:sp>
    </p:spTree>
    <p:extLst>
      <p:ext uri="{BB962C8B-B14F-4D97-AF65-F5344CB8AC3E}">
        <p14:creationId xmlns:p14="http://schemas.microsoft.com/office/powerpoint/2010/main" val="14481248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99260D3B-B0CF-425A-8F3E-A1F36DED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88DF7F8-2EBD-45FD-8FAB-300C54F7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F0EFFCB-27D6-4429-84B2-D0F844EA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1BB138E0-ADC8-48D4-AB77-D323DA0D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FEF1A269-5FFD-48E9-BBE7-DCEBE9A3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BFD5FA63-90B8-401E-893C-23ED7294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Audience: identify the next move">
            <a:extLst xmlns:a="http://schemas.openxmlformats.org/drawingml/2006/main">
              <a:ext uri="{FF2B5EF4-FFF2-40B4-BE49-F238E27FC236}">
                <a16:creationId xmlns:a16="http://schemas.microsoft.com/office/drawing/2014/main" id="{B32F6EA0-8DD0-4723-9253-8AD6B11F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Audience: identify the next move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C68866E-42FE-43DE-A3B3-363A614B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opics 7–8: mechanisms checkpoint">
            <a:extLst xmlns:a="http://schemas.openxmlformats.org/drawingml/2006/main">
              <a:ext uri="{FF2B5EF4-FFF2-40B4-BE49-F238E27FC236}">
                <a16:creationId xmlns:a16="http://schemas.microsoft.com/office/drawing/2014/main" id="{DA4F135B-7AFF-47A0-B5DB-93A7C5FB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Topics 7–8: mechanisms checkpoint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580138A1-266D-4BFD-85E3-9A6DF778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L1. Share one correction with an adult or partner.">
            <a:extLst xmlns:a="http://schemas.openxmlformats.org/drawingml/2006/main">
              <a:ext uri="{FF2B5EF4-FFF2-40B4-BE49-F238E27FC236}">
                <a16:creationId xmlns:a16="http://schemas.microsoft.com/office/drawing/2014/main" id="{960480E9-3EAF-4B55-8CE2-C2D6BD40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L1. Share one correction with an adult or partner.</a:t>
            </a:r>
          </a:p>
        </p:txBody>
      </p:sp>
      <p:sp>
        <p:nvSpPr>
          <p:cNvPr id="12" name="Say which mechanism or calculation it improves.">
            <a:extLst xmlns:a="http://schemas.openxmlformats.org/drawingml/2006/main">
              <a:ext uri="{FF2B5EF4-FFF2-40B4-BE49-F238E27FC236}">
                <a16:creationId xmlns:a16="http://schemas.microsoft.com/office/drawing/2014/main" id="{FC5CD6F2-2F1E-4DD8-9E80-044C2957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Say which mechanism or calculation it improves.</a:t>
            </a:r>
          </a:p>
        </p:txBody>
      </p:sp>
    </p:spTree>
    <p:extLst>
      <p:ext uri="{BB962C8B-B14F-4D97-AF65-F5344CB8AC3E}">
        <p14:creationId xmlns:p14="http://schemas.microsoft.com/office/powerpoint/2010/main" val="14657859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D9B2D718-DDDC-47B2-859D-9364C1E0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D1BCFAE-67C2-4870-B476-105EF131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3C8EB05-DBCD-43E3-8893-54F349A1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BB4EC77-33D6-403F-A215-A8934946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E05D2F00-C279-41D5-852A-FBFBA017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618833CC-37D3-46A5-8103-6E057A1F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Finish with a targeted action">
            <a:extLst xmlns:a="http://schemas.openxmlformats.org/drawingml/2006/main">
              <a:ext uri="{FF2B5EF4-FFF2-40B4-BE49-F238E27FC236}">
                <a16:creationId xmlns:a16="http://schemas.microsoft.com/office/drawing/2014/main" id="{C431C95C-1C78-4467-A6AF-364D408F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Finish with a targeted action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3562DDB-ECF4-4F02-89E9-74ABBF2E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opics 7–8: mechanisms checkpoint">
            <a:extLst xmlns:a="http://schemas.openxmlformats.org/drawingml/2006/main">
              <a:ext uri="{FF2B5EF4-FFF2-40B4-BE49-F238E27FC236}">
                <a16:creationId xmlns:a16="http://schemas.microsoft.com/office/drawing/2014/main" id="{5A86FF8B-5A78-4173-97AA-BD4E1AAA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Topics 7–8: mechanisms checkpoint</a:t>
            </a:r>
          </a:p>
        </p:txBody>
      </p:sp>
      <p:sp>
        <p:nvSpPr>
          <p:cNvPr id="10" name="14 / 15">
            <a:extLst xmlns:a="http://schemas.openxmlformats.org/drawingml/2006/main">
              <a:ext uri="{FF2B5EF4-FFF2-40B4-BE49-F238E27FC236}">
                <a16:creationId xmlns:a16="http://schemas.microsoft.com/office/drawing/2014/main" id="{9289E0CF-A2B2-483A-8CC1-410BEEC0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1" name="E1. Name one idea you can now explain.">
            <a:extLst xmlns:a="http://schemas.openxmlformats.org/drawingml/2006/main">
              <a:ext uri="{FF2B5EF4-FFF2-40B4-BE49-F238E27FC236}">
                <a16:creationId xmlns:a16="http://schemas.microsoft.com/office/drawing/2014/main" id="{F680B77F-904C-444C-A8C8-9D40D67C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Name one idea you can now explain.</a:t>
            </a:r>
          </a:p>
        </p:txBody>
      </p:sp>
      <p:sp>
        <p:nvSpPr>
          <p:cNvPr id="12" name="E2. State one practice that would improve your next attempt.">
            <a:extLst xmlns:a="http://schemas.openxmlformats.org/drawingml/2006/main">
              <a:ext uri="{FF2B5EF4-FFF2-40B4-BE49-F238E27FC236}">
                <a16:creationId xmlns:a16="http://schemas.microsoft.com/office/drawing/2014/main" id="{182CE213-939E-4271-944A-50B38BDD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State one practice that would improve your next attempt.</a:t>
            </a:r>
          </a:p>
        </p:txBody>
      </p:sp>
    </p:spTree>
    <p:extLst>
      <p:ext uri="{BB962C8B-B14F-4D97-AF65-F5344CB8AC3E}">
        <p14:creationId xmlns:p14="http://schemas.microsoft.com/office/powerpoint/2010/main" val="13502575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BF2E9B25-4FAB-42DD-BE56-C10DF4B5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906A80B-64F1-4E86-B265-2D42094D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394DDE5-81FA-43D7-83CA-613E1C80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E4F886A2-854B-458D-9903-5A6A7B68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FA8599E9-FB20-4F66-9EE2-0A85D7C8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Store the evidence, not a label">
            <a:extLst xmlns:a="http://schemas.openxmlformats.org/drawingml/2006/main">
              <a:ext uri="{FF2B5EF4-FFF2-40B4-BE49-F238E27FC236}">
                <a16:creationId xmlns:a16="http://schemas.microsoft.com/office/drawing/2014/main" id="{4987E95B-9E45-45DE-8FC1-63EC1E13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Store the evidence, not a label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A26E61D5-859D-40D2-B78E-1ED1E238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opics 7–8: mechanisms checkpoint">
            <a:extLst xmlns:a="http://schemas.openxmlformats.org/drawingml/2006/main">
              <a:ext uri="{FF2B5EF4-FFF2-40B4-BE49-F238E27FC236}">
                <a16:creationId xmlns:a16="http://schemas.microsoft.com/office/drawing/2014/main" id="{46FEB952-3B5A-4CF6-A2CF-011C27AF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Topics 7–8: mechanisms checkpoint</a:t>
            </a:r>
          </a:p>
        </p:txBody>
      </p:sp>
      <p:sp>
        <p:nvSpPr>
          <p:cNvPr id="9" name="15 / 15">
            <a:extLst xmlns:a="http://schemas.openxmlformats.org/drawingml/2006/main">
              <a:ext uri="{FF2B5EF4-FFF2-40B4-BE49-F238E27FC236}">
                <a16:creationId xmlns:a16="http://schemas.microsoft.com/office/drawing/2014/main" id="{C5C0D108-648E-41A2-A1F8-6821B328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0" name="Keep the attempt, route, support and correction together.">
            <a:extLst xmlns:a="http://schemas.openxmlformats.org/drawingml/2006/main">
              <a:ext uri="{FF2B5EF4-FFF2-40B4-BE49-F238E27FC236}">
                <a16:creationId xmlns:a16="http://schemas.microsoft.com/office/drawing/2014/main" id="{CF652A1B-B0C8-4203-8B81-6FE07F17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the attempt, route, support and correction together.</a:t>
            </a:r>
          </a:p>
        </p:txBody>
      </p:sp>
    </p:spTree>
    <p:extLst>
      <p:ext uri="{BB962C8B-B14F-4D97-AF65-F5344CB8AC3E}">
        <p14:creationId xmlns:p14="http://schemas.microsoft.com/office/powerpoint/2010/main" val="231592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2026-09-09T00:04:29.0910000Z</dcterms:created>
  <dcterms:modified xsi:type="dcterms:W3CDTF">2026-09-09T00:04:29.0920000Z</dcterms:modified>
</coreProperties>
</file>