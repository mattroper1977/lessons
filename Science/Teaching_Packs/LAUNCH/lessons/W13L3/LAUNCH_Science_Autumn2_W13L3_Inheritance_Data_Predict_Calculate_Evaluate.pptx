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18c5c9fa7c45e6" /><Relationship Type="http://schemas.openxmlformats.org/officeDocument/2006/relationships/extended-properties" Target="/docProps/app.xml" Id="R8763a5575ae44234" /><Relationship Type="http://schemas.openxmlformats.org/officeDocument/2006/relationships/officeDocument" Target="/ppt/presentation.xml" Id="R603db49e9bf5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eccd76c484a13"/>
  </p:sldMasterIdLst>
  <p:notesMasterIdLst>
    <p:notesMasterId xmlns:r="http://schemas.openxmlformats.org/officeDocument/2006/relationships" r:id="R75e316bf83c148d2"/>
  </p:notesMasterIdLst>
  <p:sldIdLst>
    <p:sldId xmlns:r="http://schemas.openxmlformats.org/officeDocument/2006/relationships" id="256" r:id="R013dd67cb7584c08"/>
    <p:sldId xmlns:r="http://schemas.openxmlformats.org/officeDocument/2006/relationships" id="257" r:id="R4337eab673c94ea9"/>
    <p:sldId xmlns:r="http://schemas.openxmlformats.org/officeDocument/2006/relationships" id="258" r:id="R1b54003a1c9d48b3"/>
    <p:sldId xmlns:r="http://schemas.openxmlformats.org/officeDocument/2006/relationships" id="259" r:id="R9b13b4886e514223"/>
    <p:sldId xmlns:r="http://schemas.openxmlformats.org/officeDocument/2006/relationships" id="260" r:id="R4093ed2f7af14902"/>
    <p:sldId xmlns:r="http://schemas.openxmlformats.org/officeDocument/2006/relationships" id="261" r:id="R594dc81126bf4a28"/>
    <p:sldId xmlns:r="http://schemas.openxmlformats.org/officeDocument/2006/relationships" id="262" r:id="R5a1adaaa0f714596"/>
    <p:sldId xmlns:r="http://schemas.openxmlformats.org/officeDocument/2006/relationships" id="263" r:id="R4f91c81c29d34638"/>
    <p:sldId xmlns:r="http://schemas.openxmlformats.org/officeDocument/2006/relationships" id="264" r:id="R3594b702f961426c"/>
    <p:sldId xmlns:r="http://schemas.openxmlformats.org/officeDocument/2006/relationships" id="265" r:id="R9ed2281d01d84838"/>
    <p:sldId xmlns:r="http://schemas.openxmlformats.org/officeDocument/2006/relationships" id="266" r:id="Rbd7a5b5558fb4f3e"/>
    <p:sldId xmlns:r="http://schemas.openxmlformats.org/officeDocument/2006/relationships" id="267" r:id="Rf2373e8b9fec4712"/>
    <p:sldId xmlns:r="http://schemas.openxmlformats.org/officeDocument/2006/relationships" id="268" r:id="Rc4872ab071f2445f"/>
    <p:sldId xmlns:r="http://schemas.openxmlformats.org/officeDocument/2006/relationships" id="269" r:id="Ra526ed9bbdea4446"/>
    <p:sldId xmlns:r="http://schemas.openxmlformats.org/officeDocument/2006/relationships" id="270" r:id="Re25b62fe7fca4646"/>
    <p:sldId xmlns:r="http://schemas.openxmlformats.org/officeDocument/2006/relationships" id="271" r:id="R14daf678d9394e95"/>
    <p:sldId xmlns:r="http://schemas.openxmlformats.org/officeDocument/2006/relationships" id="272" r:id="R3451a55b569d48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310d1326cf4b47" /><Relationship Type="http://schemas.openxmlformats.org/officeDocument/2006/relationships/slideMaster" Target="/ppt/slideMasters/slideMaster1.xml" Id="Ra13eccd76c484a13" /><Relationship Type="http://schemas.openxmlformats.org/officeDocument/2006/relationships/notesMaster" Target="/ppt/notesMasters/notesMaster1.xml" Id="R75e316bf83c148d2" /><Relationship Type="http://schemas.openxmlformats.org/officeDocument/2006/relationships/presProps" Target="/ppt/presProps.xml" Id="R3885b70d96044f86" /><Relationship Type="http://schemas.openxmlformats.org/officeDocument/2006/relationships/tableStyles" Target="/ppt/tableStyles.xml" Id="R558b7c908c7b4085" /><Relationship Type="http://schemas.openxmlformats.org/officeDocument/2006/relationships/slide" Target="/ppt/slides/slide1.xml" Id="R013dd67cb7584c08" /><Relationship Type="http://schemas.openxmlformats.org/officeDocument/2006/relationships/slide" Target="/ppt/slides/slide2.xml" Id="R4337eab673c94ea9" /><Relationship Type="http://schemas.openxmlformats.org/officeDocument/2006/relationships/slide" Target="/ppt/slides/slide3.xml" Id="R1b54003a1c9d48b3" /><Relationship Type="http://schemas.openxmlformats.org/officeDocument/2006/relationships/slide" Target="/ppt/slides/slide4.xml" Id="R9b13b4886e514223" /><Relationship Type="http://schemas.openxmlformats.org/officeDocument/2006/relationships/slide" Target="/ppt/slides/slide5.xml" Id="R4093ed2f7af14902" /><Relationship Type="http://schemas.openxmlformats.org/officeDocument/2006/relationships/slide" Target="/ppt/slides/slide6.xml" Id="R594dc81126bf4a28" /><Relationship Type="http://schemas.openxmlformats.org/officeDocument/2006/relationships/slide" Target="/ppt/slides/slide7.xml" Id="R5a1adaaa0f714596" /><Relationship Type="http://schemas.openxmlformats.org/officeDocument/2006/relationships/slide" Target="/ppt/slides/slide8.xml" Id="R4f91c81c29d34638" /><Relationship Type="http://schemas.openxmlformats.org/officeDocument/2006/relationships/slide" Target="/ppt/slides/slide9.xml" Id="R3594b702f961426c" /><Relationship Type="http://schemas.openxmlformats.org/officeDocument/2006/relationships/slide" Target="/ppt/slides/slide10.xml" Id="R9ed2281d01d84838" /><Relationship Type="http://schemas.openxmlformats.org/officeDocument/2006/relationships/slide" Target="/ppt/slides/slide11.xml" Id="Rbd7a5b5558fb4f3e" /><Relationship Type="http://schemas.openxmlformats.org/officeDocument/2006/relationships/slide" Target="/ppt/slides/slide12.xml" Id="Rf2373e8b9fec4712" /><Relationship Type="http://schemas.openxmlformats.org/officeDocument/2006/relationships/slide" Target="/ppt/slides/slide13.xml" Id="Rc4872ab071f2445f" /><Relationship Type="http://schemas.openxmlformats.org/officeDocument/2006/relationships/slide" Target="/ppt/slides/slide14.xml" Id="Ra526ed9bbdea4446" /><Relationship Type="http://schemas.openxmlformats.org/officeDocument/2006/relationships/slide" Target="/ppt/slides/slide15.xml" Id="Re25b62fe7fca4646" /><Relationship Type="http://schemas.openxmlformats.org/officeDocument/2006/relationships/slide" Target="/ppt/slides/slide16.xml" Id="R14daf678d9394e95" /><Relationship Type="http://schemas.openxmlformats.org/officeDocument/2006/relationships/slide" Target="/ppt/slides/slide17.xml" Id="R3451a55b569d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ffc01a387b4d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c43efb42044875" /><Relationship Type="http://schemas.openxmlformats.org/officeDocument/2006/relationships/notesMaster" Target="/ppt/notesMasters/notesMaster1.xml" Id="R36db771b9300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af4bdaaa374681" /><Relationship Type="http://schemas.openxmlformats.org/officeDocument/2006/relationships/notesMaster" Target="/ppt/notesMasters/notesMaster1.xml" Id="R81c25a14832044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661bc1273462c" /><Relationship Type="http://schemas.openxmlformats.org/officeDocument/2006/relationships/notesMaster" Target="/ppt/notesMasters/notesMaster1.xml" Id="R27621881d2aa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a36c1b53f34dc5" /><Relationship Type="http://schemas.openxmlformats.org/officeDocument/2006/relationships/notesMaster" Target="/ppt/notesMasters/notesMaster1.xml" Id="Rbb4efd240cb34f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241971d0849fb" /><Relationship Type="http://schemas.openxmlformats.org/officeDocument/2006/relationships/notesMaster" Target="/ppt/notesMasters/notesMaster1.xml" Id="R71a19bc2f1d9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34126d21804586" /><Relationship Type="http://schemas.openxmlformats.org/officeDocument/2006/relationships/notesMaster" Target="/ppt/notesMasters/notesMaster1.xml" Id="Rf2efb5df0bc443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11333d65fe43ac" /><Relationship Type="http://schemas.openxmlformats.org/officeDocument/2006/relationships/notesMaster" Target="/ppt/notesMasters/notesMaster1.xml" Id="R6e236866a3b043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492cc8f4ce413c" /><Relationship Type="http://schemas.openxmlformats.org/officeDocument/2006/relationships/notesMaster" Target="/ppt/notesMasters/notesMaster1.xml" Id="R7ea9f8d2137643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f8a181f4784cfb" /><Relationship Type="http://schemas.openxmlformats.org/officeDocument/2006/relationships/notesMaster" Target="/ppt/notesMasters/notesMaster1.xml" Id="Rcdec14565f0149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29ad88aca84f50" /><Relationship Type="http://schemas.openxmlformats.org/officeDocument/2006/relationships/notesMaster" Target="/ppt/notesMasters/notesMaster1.xml" Id="R244075487e964f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fc6cad0dad4e36" /><Relationship Type="http://schemas.openxmlformats.org/officeDocument/2006/relationships/notesMaster" Target="/ppt/notesMasters/notesMaster1.xml" Id="R077fb9e40bcf48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25fb4905c54805" /><Relationship Type="http://schemas.openxmlformats.org/officeDocument/2006/relationships/notesMaster" Target="/ppt/notesMasters/notesMaster1.xml" Id="R5ea9b62711e54b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c43ed3438c4dea" /><Relationship Type="http://schemas.openxmlformats.org/officeDocument/2006/relationships/notesMaster" Target="/ppt/notesMasters/notesMaster1.xml" Id="R009dec1575214c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45f423491942af" /><Relationship Type="http://schemas.openxmlformats.org/officeDocument/2006/relationships/notesMaster" Target="/ppt/notesMasters/notesMaster1.xml" Id="R6414f4f02cb242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951c9b42154df2" /><Relationship Type="http://schemas.openxmlformats.org/officeDocument/2006/relationships/notesMaster" Target="/ppt/notesMasters/notesMaster1.xml" Id="Ra2b2290fa09441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8597d4b2cc4947" /><Relationship Type="http://schemas.openxmlformats.org/officeDocument/2006/relationships/notesMaster" Target="/ppt/notesMasters/notesMaster1.xml" Id="R4df4253e09bb47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40b2e956a543e9" /><Relationship Type="http://schemas.openxmlformats.org/officeDocument/2006/relationships/notesMaster" Target="/ppt/notesMasters/notesMaster1.xml" Id="R3d8385568f564c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13 · Do</a:t>
            </a:r>
          </a:p>
          <a:p xmlns:a="http://schemas.openxmlformats.org/drawingml/2006/main">
            <a:r>
              <a:t>Learning objective: I can calculate inheritance probabilities, ratios and percentages and evaluate why observed results can differ from predictions.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convert Punnett outcomes into fractions, ratios and percentages.</a:t>
            </a:r>
          </a:p>
          <a:p xmlns:a="http://schemas.openxmlformats.org/drawingml/2006/main">
            <a:r>
              <a:t>I can calculate observed percentages from a dataset.</a:t>
            </a:r>
          </a:p>
          <a:p xmlns:a="http://schemas.openxmlformats.org/drawingml/2006/main">
            <a:r>
              <a:t>I can compare observed and predicted outcomes and explain the role of chance and sample size.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13 · Do</a:t>
            </a:r>
          </a:p>
          <a:p xmlns:a="http://schemas.openxmlformats.org/drawingml/2006/main">
            <a:r>
              <a:t>Learning objective: I can calculate inheritance probabilities, ratios and percentages and evaluate why observed results can differ from predictions.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convert Punnett outcomes into fractions, ratios and percentages.</a:t>
            </a:r>
          </a:p>
          <a:p xmlns:a="http://schemas.openxmlformats.org/drawingml/2006/main">
            <a:r>
              <a:t>I can calculate observed percentages from a dataset.</a:t>
            </a:r>
          </a:p>
          <a:p xmlns:a="http://schemas.openxmlformats.org/drawingml/2006/main">
            <a:r>
              <a:t>I can compare observed and predicted outcomes and explain the role of chance and sample size.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W13L2: Pp × Pp predicts PP, Pp, Pp and pp.</a:t>
            </a:r>
          </a:p>
          <a:p xmlns:a="http://schemas.openxmlformats.org/drawingml/2006/main">
            <a:r>
              <a:t>W13L2: predicted phenotype ratio is 3 purple : 1 white.</a:t>
            </a:r>
          </a:p>
          <a:p xmlns:a="http://schemas.openxmlformats.org/drawingml/2006/main">
            <a:r>
              <a:t>W11: a percentage needs a frequency and a total.</a:t>
            </a:r>
          </a:p>
          <a:p xmlns:a="http://schemas.openxmlformats.org/drawingml/2006/main">
            <a:r>
              <a:t>Lead-in: would 31 purple and 9 white out of 40 contradict a 75% : 25% prediction?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the phenotype ratio for Pp × Pp.</a:t>
            </a:r>
          </a:p>
          <a:p xmlns:a="http://schemas.openxmlformats.org/drawingml/2006/main">
            <a:r>
              <a:t>Convert 1/4 to a percentage.</a:t>
            </a:r>
          </a:p>
          <a:p xmlns:a="http://schemas.openxmlformats.org/drawingml/2006/main">
            <a:r>
              <a:t>Calculate the total of 31 and 9.</a:t>
            </a:r>
          </a:p>
          <a:p xmlns:a="http://schemas.openxmlformats.org/drawingml/2006/main">
            <a:r>
              <a:t>Lead-in: distinguish expected from guaranteed.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EXPECTED · model probability</a:t>
            </a:r>
          </a:p>
          <a:p xmlns:a="http://schemas.openxmlformats.org/drawingml/2006/main">
            <a:r>
              <a:t>Probability × total = expected count.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OBSERVED · recorded frequency</a:t>
            </a:r>
          </a:p>
          <a:p xmlns:a="http://schemas.openxmlformats.org/drawingml/2006/main">
            <a:r>
              <a:t>Close, not identical.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COMPARE · same unit, cautious conclusion</a:t>
            </a:r>
          </a:p>
          <a:p xmlns:a="http://schemas.openxmlformats.org/drawingml/2006/main">
            <a:r>
              <a:t>Observed differs from expected because each outcome is a chance event.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Calculate each frequency ÷ 40 × 100.</a:t>
            </a:r>
          </a:p>
          <a:p xmlns:a="http://schemas.openxmlformats.org/drawingml/2006/main">
            <a:r>
              <a:t>Subtract 9 from 31 and stop.</a:t>
            </a:r>
          </a:p>
          <a:p xmlns:a="http://schemas.openxmlformats.org/drawingml/2006/main">
            <a:r>
              <a:t>Declare the Punnett square wrong because the counts are not exactly 30 and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EXPECTED · model probability</a:t>
            </a:r>
          </a:p>
          <a:p xmlns:a="http://schemas.openxmlformats.org/drawingml/2006/main">
            <a:r>
              <a:t>Probability × total = expected count.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OBSERVED · recorded frequency</a:t>
            </a:r>
          </a:p>
          <a:p xmlns:a="http://schemas.openxmlformats.org/drawingml/2006/main">
            <a:r>
              <a:t>Close, not identical.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COMPARE · same unit, cautious conclusion</a:t>
            </a:r>
          </a:p>
          <a:p xmlns:a="http://schemas.openxmlformats.org/drawingml/2006/main">
            <a:r>
              <a:t>Observed differs from expected because each outcome is a chance event.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Calculate each frequency ÷ 40 × 100.</a:t>
            </a:r>
          </a:p>
          <a:p xmlns:a="http://schemas.openxmlformats.org/drawingml/2006/main">
            <a:r>
              <a:t>Subtract 9 from 31 and stop.</a:t>
            </a:r>
          </a:p>
          <a:p xmlns:a="http://schemas.openxmlformats.org/drawingml/2006/main">
            <a:r>
              <a:t>Declare the Punnett square wrong because the counts are not exactly 30 and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EXPECTED · model probability</a:t>
            </a:r>
          </a:p>
          <a:p xmlns:a="http://schemas.openxmlformats.org/drawingml/2006/main">
            <a:r>
              <a:t>Probability × total = expected count.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OBSERVED · recorded frequency</a:t>
            </a:r>
          </a:p>
          <a:p xmlns:a="http://schemas.openxmlformats.org/drawingml/2006/main">
            <a:r>
              <a:t>Close, not identical.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COMPARE · same unit, cautious conclusion</a:t>
            </a:r>
          </a:p>
          <a:p xmlns:a="http://schemas.openxmlformats.org/drawingml/2006/main">
            <a:r>
              <a:t>Observed differs from expected because each outcome is a chance event.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Calculate each frequency ÷ 40 × 100.</a:t>
            </a:r>
          </a:p>
          <a:p xmlns:a="http://schemas.openxmlformats.org/drawingml/2006/main">
            <a:r>
              <a:t>Subtract 9 from 31 and stop.</a:t>
            </a:r>
          </a:p>
          <a:p xmlns:a="http://schemas.openxmlformats.org/drawingml/2006/main">
            <a:r>
              <a:t>Declare the Punnett square wrong because the counts are not exactly 30 and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PROBABILITY chance of an outcome a numerical measure from 0 to 1, or 0% to 100%, describing how likely an outcome is</a:t>
            </a:r>
          </a:p>
          <a:p xmlns:a="http://schemas.openxmlformats.org/drawingml/2006/main">
            <a:r>
              <a:t>RATIO relative amounts a comparison of quantities written in the same order</a:t>
            </a:r>
          </a:p>
          <a:p xmlns:a="http://schemas.openxmlformats.org/drawingml/2006/main">
            <a:r>
              <a:t>SAMPLE SIZE number observed the total number of individuals or results included in a dataset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expected-versus-observed table puts counts and percentages in the same unit and makes random variation visible.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From Pp × Pp, predict 3/4 purple and 1/4 white: 75% and 25%.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For 40 seedlings, calculate expected counts: 0.75 × 40 = 30 purple; 0.25 × 40 = 10 white.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Calculate observed percentages: 31 ÷ 40 × 100 = 77.5%; 9 ÷ 40 × 100 = 22.5%.</a:t>
            </a:r>
          </a:p>
          <a:p xmlns:a="http://schemas.openxmlformats.org/drawingml/2006/main">
            <a:r>
              <a:t>Expected vs observed</a:t>
            </a:r>
          </a:p>
          <a:p xmlns:a="http://schemas.openxmlformats.org/drawingml/2006/main">
            <a:r>
              <a:t>Pp × Pp. Probability of white = ¼. Press the expected counts, then judge the observed result.</a:t>
            </a:r>
          </a:p>
          <a:p xmlns:a="http://schemas.openxmlformats.org/drawingml/2006/main">
            <a:r>
              <a:t>80 seedlings — expected white?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>¼ × 80 = ?</a:t>
            </a:r>
          </a:p>
          <a:p xmlns:a="http://schemas.openxmlformats.org/drawingml/2006/main">
            <a:r>
              <a:t>Observed 17 white of 80. Which conclusion?</a:t>
            </a:r>
          </a:p>
          <a:p xmlns:a="http://schemas.openxmlformats.org/drawingml/2006/main">
            <a:r>
              <a:t>The model is wrong.</a:t>
            </a:r>
          </a:p>
          <a:p xmlns:a="http://schemas.openxmlformats.org/drawingml/2006/main">
            <a:r>
              <a:t>Consistent with ¼ — 21% observed, chance variation in a sample of 80.</a:t>
            </a:r>
          </a:p>
          <a:p xmlns:a="http://schemas.openxmlformats.org/drawingml/2006/main">
            <a:r>
              <a:t>Same unit (percentages) before you compare.</a:t>
            </a:r>
          </a:p>
          <a:p xmlns:a="http://schemas.openxmlformats.org/drawingml/2006/main">
            <a:r>
              <a:t>Foundation tier: no chi-squared test. Bigger sample → observed usually closer to expected.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PROBABILITY chance of an outcome a numerical measure from 0 to 1, or 0% to 100%, describing how likely an outcome is</a:t>
            </a:r>
          </a:p>
          <a:p xmlns:a="http://schemas.openxmlformats.org/drawingml/2006/main">
            <a:r>
              <a:t>RATIO relative amounts a comparison of quantities written in the same order</a:t>
            </a:r>
          </a:p>
          <a:p xmlns:a="http://schemas.openxmlformats.org/drawingml/2006/main">
            <a:r>
              <a:t>SAMPLE SIZE number observed the total number of individuals or results included in a dataset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expected-versus-observed table puts counts and percentages in the same unit and makes random variation visible.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From Pp × Pp, predict 3/4 purple and 1/4 white: 75% and 25%.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For 40 seedlings, calculate expected counts: 0.75 × 40 = 30 purple; 0.25 × 40 = 10 white.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Calculate observed percentages: 31 ÷ 40 × 100 = 77.5%; 9 ÷ 40 × 100 = 22.5%.</a:t>
            </a:r>
          </a:p>
          <a:p xmlns:a="http://schemas.openxmlformats.org/drawingml/2006/main">
            <a:r>
              <a:t>Expected vs observed</a:t>
            </a:r>
          </a:p>
          <a:p xmlns:a="http://schemas.openxmlformats.org/drawingml/2006/main">
            <a:r>
              <a:t>Pp × Pp. Probability of white = ¼. Press the expected counts, then judge the observed result.</a:t>
            </a:r>
          </a:p>
          <a:p xmlns:a="http://schemas.openxmlformats.org/drawingml/2006/main">
            <a:r>
              <a:t>80 seedlings — expected white?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>¼ × 80 = ?</a:t>
            </a:r>
          </a:p>
          <a:p xmlns:a="http://schemas.openxmlformats.org/drawingml/2006/main">
            <a:r>
              <a:t>Observed 17 white of 80. Which conclusion?</a:t>
            </a:r>
          </a:p>
          <a:p xmlns:a="http://schemas.openxmlformats.org/drawingml/2006/main">
            <a:r>
              <a:t>The model is wrong.</a:t>
            </a:r>
          </a:p>
          <a:p xmlns:a="http://schemas.openxmlformats.org/drawingml/2006/main">
            <a:r>
              <a:t>Consistent with ¼ — 21% observed, chance variation in a sample of 80.</a:t>
            </a:r>
          </a:p>
          <a:p xmlns:a="http://schemas.openxmlformats.org/drawingml/2006/main">
            <a:r>
              <a:t>Same unit (percentages) before you compare.</a:t>
            </a:r>
          </a:p>
          <a:p xmlns:a="http://schemas.openxmlformats.org/drawingml/2006/main">
            <a:r>
              <a:t>Foundation tier: no chi-squared test. Bigger sample → observed usually closer to expected.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Observed 77.5% purple is close to predicted 75%; chance can explain a small difference.</a:t>
            </a:r>
          </a:p>
          <a:p xmlns:a="http://schemas.openxmlformats.org/drawingml/2006/main">
            <a:r>
              <a:t>Any difference proves the Punnett model is false.</a:t>
            </a:r>
          </a:p>
          <a:p xmlns:a="http://schemas.openxmlformats.org/drawingml/2006/main">
            <a:r>
              <a:t>A 3:1 prediction guarantees every batch will be exactly 3:1.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Use repeated batches: individual groups can vary more than the combined total.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 larger sample often gives an observed proportion closer to the expected probability, although exact agreement is not guaranteed.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the model: useful for a simple monohybrid cross, limited for complex traits or unequal gamete/offspring survival.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expected-versus-observed table puts counts and percentages in the same unit and makes random variation visible.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Use repeated batches: individual groups can vary more than the combined total.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 larger sample often gives an observed proportion closer to the expected probability, although exact agreement is not guaranteed.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the model: useful for a simple monohybrid cross, limited for complex traits or unequal gamete/offspring survival.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expected-versus-observed table puts counts and percentages in the same unit and makes random variation visible.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predictions, observations and valid conclusions, then repair the guarantee claim.</a:t>
            </a:r>
          </a:p>
          <a:p xmlns:a="http://schemas.openxmlformats.org/drawingml/2006/main">
            <a:r>
              <a:t>PREDICT COUNT PERCENT COMPARE EVALUATE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75% purple The Punnett square predicts three purple phenotypes out of four possible outcomes.</a:t>
            </a:r>
          </a:p>
          <a:p xmlns:a="http://schemas.openxmlformats.org/drawingml/2006/main">
            <a:r>
              <a:t>31 purple of 40 The simulated seedling dataset records this frequency.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EXPECTED FROM MODEL</a:t>
            </a:r>
          </a:p>
          <a:p xmlns:a="http://schemas.openxmlformats.org/drawingml/2006/main">
            <a:r>
              <a:t>OBSERVED IN DATA</a:t>
            </a:r>
          </a:p>
          <a:p xmlns:a="http://schemas.openxmlformats.org/drawingml/2006/main">
            <a:r>
              <a:t>CAUTIOUS CONCLUSION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The observed ratio is not exactly 3:1, so the Punnett square must be wrong.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probability must match every sample exactly.</a:t>
            </a:r>
          </a:p>
          <a:p xmlns:a="http://schemas.openxmlformats.org/drawingml/2006/main">
            <a:r>
              <a:t>Repair it: chance causes variation; compare percentages and consider sample size.</a:t>
            </a:r>
          </a:p>
          <a:p xmlns:a="http://schemas.openxmlformats.org/drawingml/2006/main">
            <a:r>
              <a:t>Repair it: change one observed seedling so the data fit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predictions, observations and valid conclusions, then repair the guarantee claim.</a:t>
            </a:r>
          </a:p>
          <a:p xmlns:a="http://schemas.openxmlformats.org/drawingml/2006/main">
            <a:r>
              <a:t>PREDICT COUNT PERCENT COMPARE EVALUATE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75% purple The Punnett square predicts three purple phenotypes out of four possible outcomes.</a:t>
            </a:r>
          </a:p>
          <a:p xmlns:a="http://schemas.openxmlformats.org/drawingml/2006/main">
            <a:r>
              <a:t>31 purple of 40 The simulated seedling dataset records this frequency.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EXPECTED FROM MODEL</a:t>
            </a:r>
          </a:p>
          <a:p xmlns:a="http://schemas.openxmlformats.org/drawingml/2006/main">
            <a:r>
              <a:t>OBSERVED IN DATA</a:t>
            </a:r>
          </a:p>
          <a:p xmlns:a="http://schemas.openxmlformats.org/drawingml/2006/main">
            <a:r>
              <a:t>CAUTIOUS CONCLUSION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The observed ratio is not exactly 3:1, so the Punnett square must be wrong.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probability must match every sample exactly.</a:t>
            </a:r>
          </a:p>
          <a:p xmlns:a="http://schemas.openxmlformats.org/drawingml/2006/main">
            <a:r>
              <a:t>Repair it: chance causes variation; compare percentages and consider sample size.</a:t>
            </a:r>
          </a:p>
          <a:p xmlns:a="http://schemas.openxmlformats.org/drawingml/2006/main">
            <a:r>
              <a:t>Repair it: change one observed seedling so the data fit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predictions, observations and valid conclusions, then repair the guarantee claim.</a:t>
            </a:r>
          </a:p>
          <a:p xmlns:a="http://schemas.openxmlformats.org/drawingml/2006/main">
            <a:r>
              <a:t>PREDICT COUNT PERCENT COMPARE EVALUATE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75% purple The Punnett square predicts three purple phenotypes out of four possible outcomes.</a:t>
            </a:r>
          </a:p>
          <a:p xmlns:a="http://schemas.openxmlformats.org/drawingml/2006/main">
            <a:r>
              <a:t>31 purple of 40 The simulated seedling dataset records this frequency.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EXPECTED FROM MODEL</a:t>
            </a:r>
          </a:p>
          <a:p xmlns:a="http://schemas.openxmlformats.org/drawingml/2006/main">
            <a:r>
              <a:t>OBSERVED IN DATA</a:t>
            </a:r>
          </a:p>
          <a:p xmlns:a="http://schemas.openxmlformats.org/drawingml/2006/main">
            <a:r>
              <a:t>CAUTIOUS CONCLUSION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The observed ratio is not exactly 3:1, so the Punnett square must be wrong.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probability must match every sample exactly.</a:t>
            </a:r>
          </a:p>
          <a:p xmlns:a="http://schemas.openxmlformats.org/drawingml/2006/main">
            <a:r>
              <a:t>Repair it: chance causes variation; compare percentages and consider sample size.</a:t>
            </a:r>
          </a:p>
          <a:p xmlns:a="http://schemas.openxmlformats.org/drawingml/2006/main">
            <a:r>
              <a:t>Repair it: change one observed seedling so the data fit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Blank Punnett grids, simulated repeated-batch dataset, calculator, formula strip, graph paper or comparison table and pencil.</a:t>
            </a:r>
          </a:p>
          <a:p xmlns:a="http://schemas.openxmlformats.org/drawingml/2006/main">
            <a:r>
              <a:t>Same outcome: I can calculate inheritance probabilities, ratios and percentages and evaluate why observed results can differ from predictions.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expected/observed lab and calculator route; results remain in session only and are not uploaded.</a:t>
            </a:r>
          </a:p>
          <a:p xmlns:a="http://schemas.openxmlformats.org/drawingml/2006/main">
            <a:r>
              <a:t>Same evidence: Visible working from cross to percentages, a correct expected-observed comparison and an evaluation naming chance, sample size and one model limit.</a:t>
            </a:r>
          </a:p>
          <a:p xmlns:a="http://schemas.openxmlformats.org/drawingml/2006/main">
            <a:r>
              <a:t>Equipment / setup Blank Punnett grids, simulated repeated-batch dataset, calculator, formula strip, graph paper or comparison table and pencil.</a:t>
            </a:r>
          </a:p>
          <a:p xmlns:a="http://schemas.openxmlformats.org/drawingml/2006/main">
            <a:r>
              <a:t>Safety / sensory Use fictional plant data only. No personal genotype, family history or medical-risk calculation is requested.</a:t>
            </a:r>
          </a:p>
          <a:p xmlns:a="http://schemas.openxmlformats.org/drawingml/2006/main">
            <a:r>
              <a:t>Offline parity Use the local expected/observed lab and calculator route; results remain in session only and are not uploaded.</a:t>
            </a:r>
          </a:p>
          <a:p xmlns:a="http://schemas.openxmlformats.org/drawingml/2006/main">
            <a:r>
              <a:t>No-equipment/access route: The pupil selects the operation and dictates reasoning while an adult enters numbers, plots or scribes exact words.</a:t>
            </a:r>
          </a:p>
          <a:p xmlns:a="http://schemas.openxmlformats.org/drawingml/2006/main">
            <a:r>
              <a:t>Next-check card</a:t>
            </a:r>
          </a:p>
          <a:p xmlns:a="http://schemas.openxmlformats.org/drawingml/2006/main">
            <a:r>
              <a:t>The inheritance step I need to retrieve first is</a:t>
            </a:r>
          </a:p>
          <a:p xmlns:a="http://schemas.openxmlformats.org/drawingml/2006/main">
            <a:r>
              <a:t>The evidence that will show I am secure is</a:t>
            </a:r>
          </a:p>
          <a:p xmlns:a="http://schemas.openxmlformats.org/drawingml/2006/main">
            <a:r>
              <a:t>Keep this with the W13 evidence so the next assessment begins with the pupil's actual need.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Build the square, calculate expected counts and observed percentages, then explain the small difference.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Predict → Calculate → Compare → Explain.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Blank Punnett grids, simulated repeated-batch dataset, calculator, formula strip, graph paper or comparison table and pencil.</a:t>
            </a:r>
          </a:p>
          <a:p xmlns:a="http://schemas.openxmlformats.org/drawingml/2006/main">
            <a:r>
              <a:t>Same outcome: I can calculate inheritance probabilities, ratios and percentages and evaluate why observed results can differ from predictions.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expected/observed lab and calculator route; results remain in session only and are not uploaded.</a:t>
            </a:r>
          </a:p>
          <a:p xmlns:a="http://schemas.openxmlformats.org/drawingml/2006/main">
            <a:r>
              <a:t>Same evidence: Visible working from cross to percentages, a correct expected-observed comparison and an evaluation naming chance, sample size and one model limit.</a:t>
            </a:r>
          </a:p>
          <a:p xmlns:a="http://schemas.openxmlformats.org/drawingml/2006/main">
            <a:r>
              <a:t>Equipment / setup Blank Punnett grids, simulated repeated-batch dataset, calculator, formula strip, graph paper or comparison table and pencil.</a:t>
            </a:r>
          </a:p>
          <a:p xmlns:a="http://schemas.openxmlformats.org/drawingml/2006/main">
            <a:r>
              <a:t>Safety / sensory Use fictional plant data only. No personal genotype, family history or medical-risk calculation is requested.</a:t>
            </a:r>
          </a:p>
          <a:p xmlns:a="http://schemas.openxmlformats.org/drawingml/2006/main">
            <a:r>
              <a:t>Offline parity Use the local expected/observed lab and calculator route; results remain in session only and are not uploaded.</a:t>
            </a:r>
          </a:p>
          <a:p xmlns:a="http://schemas.openxmlformats.org/drawingml/2006/main">
            <a:r>
              <a:t>No-equipment/access route: The pupil selects the operation and dictates reasoning while an adult enters numbers, plots or scribes exact words.</a:t>
            </a:r>
          </a:p>
          <a:p xmlns:a="http://schemas.openxmlformats.org/drawingml/2006/main">
            <a:r>
              <a:t>Next-check card</a:t>
            </a:r>
          </a:p>
          <a:p xmlns:a="http://schemas.openxmlformats.org/drawingml/2006/main">
            <a:r>
              <a:t>The inheritance step I need to retrieve first is</a:t>
            </a:r>
          </a:p>
          <a:p xmlns:a="http://schemas.openxmlformats.org/drawingml/2006/main">
            <a:r>
              <a:t>The evidence that will show I am secure is</a:t>
            </a:r>
          </a:p>
          <a:p xmlns:a="http://schemas.openxmlformats.org/drawingml/2006/main">
            <a:r>
              <a:t>Keep this with the W13 evidence so the next assessment begins with the pupil's actual need.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Build the square, calculate expected counts and observed percentages, then explain the small difference.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Predict → Calculate → Compare → Explain.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SCI_L_W13L3_Inheritance_Probability_Do.html.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dataset is simulated, the inheritance model assumes complete dominance and one gene, and closeness alone cannot prove the biological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Compare 77.5% observed with 75% predicted in one cautious sentence.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SCI_L_W13L3_Inheritance_Probability_Do.html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881f5b4e245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86d84fca24d96" /><Relationship Type="http://schemas.openxmlformats.org/officeDocument/2006/relationships/slideLayout" Target="/ppt/slideLayouts/slideLayout1.xml" Id="Re84465fc19f1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4465fc19f1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58c61af434d9e" /><Relationship Type="http://schemas.openxmlformats.org/officeDocument/2006/relationships/hyperlink" Target="SCI_L_W13L3_Inheritance_Probability_Do.html" TargetMode="External" Id="R07df12d0d8a74596" /><Relationship Type="http://schemas.openxmlformats.org/officeDocument/2006/relationships/notesSlide" Target="/ppt/notesSlides/notesSlide1.xml" Id="R8e2bb884c4bd4e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8128c26344e7e" /><Relationship Type="http://schemas.openxmlformats.org/officeDocument/2006/relationships/notesSlide" Target="/ppt/notesSlides/notesSlide2.xml" Id="Re553c7088b074c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10deedab14d56" /><Relationship Type="http://schemas.openxmlformats.org/officeDocument/2006/relationships/notesSlide" Target="/ppt/notesSlides/notesSlide3.xml" Id="R7c607b77e62242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c82824f54cf5" /><Relationship Type="http://schemas.openxmlformats.org/officeDocument/2006/relationships/notesSlide" Target="/ppt/notesSlides/notesSlide4.xml" Id="Rf8623d4d56604d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be5c6d6684004" /><Relationship Type="http://schemas.openxmlformats.org/officeDocument/2006/relationships/notesSlide" Target="/ppt/notesSlides/notesSlide5.xml" Id="R832885201c43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8eeee4fb8438b" /><Relationship Type="http://schemas.openxmlformats.org/officeDocument/2006/relationships/image" Target="/ppt/media/image.png" Id="Rcf18f5fa01a741ab" /><Relationship Type="http://schemas.openxmlformats.org/officeDocument/2006/relationships/image" Target="/ppt/media/image2.png" Id="R394f7bc12c184093" /><Relationship Type="http://schemas.openxmlformats.org/officeDocument/2006/relationships/image" Target="/ppt/media/image3.png" Id="Rb589a719e02f4fa7" /><Relationship Type="http://schemas.openxmlformats.org/officeDocument/2006/relationships/notesSlide" Target="/ppt/notesSlides/notesSlide6.xml" Id="R8ed2cc2d73a748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4a46a26dd400b" /><Relationship Type="http://schemas.openxmlformats.org/officeDocument/2006/relationships/notesSlide" Target="/ppt/notesSlides/notesSlide7.xml" Id="Rd540248767c844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ccb2fc052471b" /><Relationship Type="http://schemas.openxmlformats.org/officeDocument/2006/relationships/notesSlide" Target="/ppt/notesSlides/notesSlide8.xml" Id="R71c0c353fe6b4c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2da04fe524340" /><Relationship Type="http://schemas.openxmlformats.org/officeDocument/2006/relationships/notesSlide" Target="/ppt/notesSlides/notesSlide9.xml" Id="Rb3f328dd473a4e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b8c4617d2434d" /><Relationship Type="http://schemas.openxmlformats.org/officeDocument/2006/relationships/notesSlide" Target="/ppt/notesSlides/notesSlide10.xml" Id="Rc4ac19487bfe4e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054d35b549d4" /><Relationship Type="http://schemas.openxmlformats.org/officeDocument/2006/relationships/notesSlide" Target="/ppt/notesSlides/notesSlide11.xml" Id="R8c08edb4aa7648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1b7019c8e49a2" /><Relationship Type="http://schemas.openxmlformats.org/officeDocument/2006/relationships/notesSlide" Target="/ppt/notesSlides/notesSlide12.xml" Id="Re25e18cb4ef94a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7265e5f094ca0" /><Relationship Type="http://schemas.openxmlformats.org/officeDocument/2006/relationships/notesSlide" Target="/ppt/notesSlides/notesSlide13.xml" Id="R7646d7967cbf4b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071e630c94eff" /><Relationship Type="http://schemas.openxmlformats.org/officeDocument/2006/relationships/notesSlide" Target="/ppt/notesSlides/notesSlide14.xml" Id="R39b334ece7324f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0d137e3e34574" /><Relationship Type="http://schemas.openxmlformats.org/officeDocument/2006/relationships/notesSlide" Target="/ppt/notesSlides/notesSlide15.xml" Id="R2d2368fb1d7748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20488bb3b4f36" /><Relationship Type="http://schemas.openxmlformats.org/officeDocument/2006/relationships/notesSlide" Target="/ppt/notesSlides/notesSlide16.xml" Id="Re18dfd31d38c4b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b19779eb9449c" /><Relationship Type="http://schemas.openxmlformats.org/officeDocument/2006/relationships/notesSlide" Target="/ppt/notesSlides/notesSlide17.xml" Id="Rb12f284c873045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714BE2-F489-4172-8900-A0E97A6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3116500-AAAE-4F30-A510-9FF3606F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E3EA69B-92ED-4694-BB2D-1F8603A0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F27038-4CEF-4F70-835E-3C771ECD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Inheritance Data: Predict, Calculate, Evaluate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AB7DB18-72EC-4267-815E-0F6BE5A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2B8F2C1F-25CD-4726-9D2B-3944000A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calculate inheritance probabilities, ratios and percentages and evaluate why observed results can differ from predictions.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7E62C837-8167-4A25-8B38-5598F89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3658C1DA-CB05-420C-9050-9580F221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BA7A3C42-316B-4DF2-B5B3-BE9E107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from the square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F5BC205C-8E67-4F84-976D-6C00AE97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7808B851-FC6E-41EA-9434-00FB1EE2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6AED2225-FF92-49FC-BDE1-887B3F06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frequency ÷ total × 100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81F4095E-D789-47E2-ABAD-B4DA59B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AAD9EC56-D731-4323-BEBD-7AFEDECD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86BA697D-8307-4336-BC71-089674A5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chance and sample size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EDC0D1D0-5EDA-4AE2-93D6-1A95F68C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07df12d0d8a74596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6E0CE4FA-1FD4-47B5-9C33-26E04CD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EA179B3C-839A-465B-975A-5345A01E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528804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EB6FCAB-7636-4534-A9A9-D1185106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E9A318E-8406-492C-BC13-77629971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C346554-471B-4458-BBC6-30F7BB5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51FF6B-8860-47D7-AD89-AFD85B10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08DD8C6-00DD-4C87-9EC2-0C3BA700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3DB90B0-2AB1-4976-BD1F-862A1F2F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convert Punnett outcomes into fractions, ratios and percentages.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946DE5C-9518-4B4E-A2DF-17C77AB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calculate observed percentages from a dataset.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8355147-0989-4DE3-B343-0F866EF6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compare observed and predicted outcomes and explain the role of chance and sample size.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B27B28B-7F8A-44B8-B870-51E11DE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D10AD55-F227-4A0F-A432-0B761EB7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465858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550F7C5-B825-4B5B-917D-6DC7D81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B8329B3-A1B8-486D-B361-F3B83D2C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77CD57-74EE-4F8C-88EA-27AFE59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D1E21D-0E61-4DCE-BB84-5CF0386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1B40287-BF7D-4319-B280-B1CBB1D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7EA1FF8-8446-4F65-8DC2-D739CABE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the phenotype ratio for Pp × Pp.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715389F-254A-4CF4-858A-A8C0508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Convert 1/4 to a percentage.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C8A9D19-7BA1-4A7C-B2BE-A793CA8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the total of 31 and 9.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2D16348-A395-4097-AB2C-39C434B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distinguish expected from guaranteed.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7F805A3-8471-4CC4-888B-C8352837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8D8FFD2-8BFE-4643-9840-E6593D5E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163325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CFD5541-4CE8-4C26-93CF-F9DC3096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2E6450F-CF5A-46A5-BAAD-2272BC2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EE61E3D-0C9D-44BF-A817-B105AEAA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E31D79-056E-4DE8-81F3-43AE7C2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Pp × Pp cross produced 31 purple and 9 white seedlings. Which first calculation enables comparison with 75% : 25%?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0F42F03-B89D-4F89-9EC7-9B028896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0BEBEA1-7386-4E89-BECF-D21940B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FB34A84-3062-4887-AA1D-1C4E382C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Calculate each frequency ÷ 40 × 100.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C60F030-769E-4250-BE0B-9700FDA0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Subtract 9 from 31 and stop.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C7B7ED8-2D90-4D68-9180-C5DD0EE4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Declare the Punnett square wrong because the counts are not exactly 30 and 10.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93D2878-1C42-49A0-B39C-018DC1CE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AD3D103-0152-487F-94E5-068E009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523706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170A56F-6863-4023-92BF-0302B88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00E20FA-CDC6-4329-9B60-7317A092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5C6FE82-357C-4744-BB32-6B4F04B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F9B200-97DC-4CAE-8DB0-AFD74754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21CFE49-6C5B-4AD0-91E7-610E7AD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29CBA1D-1315-4E3D-AB43-F38094AE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EXPECTED · model probability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6287740-B318-4048-9994-F15DE94B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OBSERVED · recorded frequency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2F19062-84CB-497C-9BC2-58398501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 · same unit, cautious conclusion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9AD9E7A-97CF-4992-9372-F6299D8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7C56026-3BC0-4B55-8E66-E043CF10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558473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EAA22CE-6C91-4699-A54E-FC3EC38F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4F97142-678C-459A-90E8-963F205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22AE369-3852-41B4-AAA8-76075462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CFCE58-4223-48BD-A0E1-42A6149C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21B56E4-F26D-497A-85CB-2167A0A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8f5fa01a741ab"/>
          <a:stretch xmlns:a="http://schemas.openxmlformats.org/drawingml/2006/main"/>
        </p:blipFill>
        <p:spPr>
          <a:xfrm xmlns:a="http://schemas.openxmlformats.org/drawingml/2006/main">
            <a:off x="8001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FE12BD6F-5C48-45CB-B0B4-8D5CA41B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f7bc12c184093"/>
          <a:stretch xmlns:a="http://schemas.openxmlformats.org/drawingml/2006/main"/>
        </p:blipFill>
        <p:spPr>
          <a:xfrm xmlns:a="http://schemas.openxmlformats.org/drawingml/2006/main">
            <a:off x="44069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CB533C3-D622-4BD5-98E8-6EA2B07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9a719e02f4fa7"/>
          <a:stretch xmlns:a="http://schemas.openxmlformats.org/drawingml/2006/main"/>
        </p:blipFill>
        <p:spPr>
          <a:xfrm xmlns:a="http://schemas.openxmlformats.org/drawingml/2006/main">
            <a:off x="80137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D9005DE8-FF35-4887-AC54-D364E797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CB127CA0-E26A-4FE1-B766-CB3FC69E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FABC68A2-51A7-420D-BC62-569D0B1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132996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7F641AF-6DA8-4830-A914-6EB64CD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BBE1E7E-99CD-400F-BB81-FC0A46FF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CD7E92A-4C05-4D6B-AED3-F326D28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1EEA12-7760-4628-B32A-BACAF4D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A7AB941-F829-4085-A67C-DA766DA3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2089DC7-CFCB-4078-8E8E-07762026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probability — chance of an outcome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6C73E8A-898A-442E-8850-0342696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ratio — relative amounts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DF938ED-412D-4DA9-AF62-1C8AAF48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sample size — number observed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02F3604-B263-47FD-9041-BBCE547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FF18978-18F9-4AF6-9EA7-EB00E159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452806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8D8456D-221B-4459-908E-CF37706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2AF72C3-F931-4A35-90C5-08FFA6E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13AEA27-4DBC-4CD8-BDF2-E516C257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7EB158-2D65-456E-8F03-21D172E8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6967EA4-BEC6-43C0-A2FA-6AE73821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CDF9D0-3CD1-4248-A450-B659273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From Pp × Pp, predict 3/4 purple and 1/4 white: 75% and 25%.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D7A2606-CAD8-4C60-8E08-C72E3BE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 40 seedlings, calculate expected counts: 0.75 × 40 = 30 purple; 0.25 × 40 = 10 white.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4A34BC8-9D58-4E86-B86A-D333E62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observed percentages: 31 ÷ 40 × 100 = 77.5%; 9 ÷ 40 × 100 = 22.5%.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96ECDA9-F919-489F-B7D8-73D4D39D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4EF0905-482F-439E-B498-D978FDC8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502759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B8DDA7F-707C-4A4F-B4FB-9FD8C4F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C6B840-CEDE-428E-8F4B-0CF02EE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B8F69AA-E918-4A8A-B91E-2236F47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BD0B2B-6D8F-400F-9A3A-8A3A9C00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comparison is scientifically correct?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75577E6-17AB-43F1-89FD-D5264D7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A5A3036-F3DA-4E50-9636-882B14D2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Observed 77.5% purple is close to predicted 75%; chance can explain a small difference.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EB32C7A-D697-4CE6-A145-0DB5CE6D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Any difference proves the Punnett model is false.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6F444F0-7A03-4EF7-9CE4-A48E6A8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 3:1 prediction guarantees every batch will be exactly 3:1.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BC54AA7-89F4-47ED-8DF0-BE7504F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09EAF37-E550-4CCC-81CF-9532CFFD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89E6A25-ACA7-44BD-BE8C-4C524FE5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318455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63081F7-866F-414B-B983-E6F8D0C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D08512A-FFDB-44A0-A436-5A980A26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1FB0082-D46B-460A-AAE3-A9F39CF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73ABD8-76C4-4F45-8A24-BE14971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BDCDB7A-57BC-4A39-A629-7AF614C7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A29ED4F-DE2E-43CC-884C-A4DA0ED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repeated batches: individual groups can vary more than the combined total.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D3A965E-85BF-4FA7-8A76-CE9AFB10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larger sample often gives an observed proportion closer to the expected probability, although exact agreement is not guaranteed.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D5F467C-7666-44B7-A31A-6EEE2208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 the model: useful for a simple monohybrid cross, limited for complex traits or unequal gamete/offspring survival.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1265611-CFEE-4B78-8CA2-8493E4FA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B9DFEE3-2175-4609-A30A-E75FEFE7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250508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89DB21D-C2D1-43E5-AC00-5E3138E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89D5333-5A67-4AAB-A5DA-81F7A90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166E887-9F17-4F14-B17D-CE1F858C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2344A2-F09D-49D4-B1F3-5CF7424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5A9A4B-645B-4910-B8AC-254ECAEE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2377AE3-31E7-4B66-A517-D79D22A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observed ratio is not exactly 3:1, so the Punnett square must be wrong.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6B4EE00-6177-4DB0-A611-2554865A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probability must match every sample exactly.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2FE4A19-2E93-4BB3-BF61-4201CF7F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chance causes variation; compare percentages and consider sample size.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C96999B-3F27-4B69-B7BE-E5E76A80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change one observed seedling so the data fit the model.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BA841B1-825D-4883-A0CB-049AB0EA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37EB6F8-9029-4DB4-9126-D73A3C7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9229122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12AAD688-B6EB-4C38-98AA-0E869DC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69068AC-EF0A-4F84-B1EA-F017A97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2DCB674-6724-4E7F-B72A-0DF7EDC8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725C27-BE10-4DAE-AEA0-C719DEEB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Expected versus observed data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1966C9-5912-4554-AA74-81F64F8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10534A7-8861-4626-87BE-304CB8FF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Classify predictions, observations and valid conclusions, then repair the guarantee claim.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79FF288-DAE8-443D-9158-EE928DB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PREDICT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D947DC-A4E7-47B3-B0BD-1E6A3875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COUNT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E5BD68B-5842-4CB3-884A-04C0ED8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PERCENT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65B5EF0-C89B-4308-8BEB-60552998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390C5AA6-1E74-48D1-8F25-B42B5825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2D3D9C31-FD75-4809-9075-1C4ADA2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E5C99DA-8C01-4E8E-9FF3-134C8EE4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1964124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925A5371-6267-42FC-8F39-CD8D30B7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5F1D317-3743-4DC7-87EB-18CC119D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82D5C33-A8BA-4EFF-9936-9C4D234B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7341C5-4574-4915-B65D-DEE71C5D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Expected versus observed data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3C1631D-32D7-4F8F-B418-FC8C16C7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F3ECE17-982C-4B59-B4C7-2E253A72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B2A86667-C7A9-4198-B591-5235CA5E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1F69873-B98D-4221-A208-3C7FA1A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2285795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6173313-64D7-4624-99E9-67874FBD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8F3D83E-329F-4938-AD05-D06D45D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8FB759-E1CD-4020-BE78-9FE94568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B74D55-DB5C-4B8E-BD61-97E6611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44572DE-F8B3-4637-BC0C-77A71E9A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36A4602-3345-41BF-B65E-5A98C72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EXPECTED FROM MODEL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87386FF-8356-47C4-93B6-B900A36E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OBSERVED IN DATA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6574F78-CBC7-4B51-8F55-60A1F84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CAUTIOUS CONCLUSION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DA96A4B-A20E-4F7E-8480-A31314BA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the difference, explain why it can occur and name one model limitation.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5CA4500-14E3-4BA1-ADB3-D3E4AB6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21DABB6-3A02-4788-A2BE-5D9AF51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469091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CD55BCA-5190-454B-82A3-E0432B34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607637D-53EC-433C-AB32-1454FA3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1EA068-7AB6-4227-B971-E9BA4D8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291D65-FDF9-415F-AB88-599A417A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4237ADB-D767-4F67-B87E-C572C7D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ED6F34C-DC47-466F-8AC3-FD30651E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Complete a full inheritance data response: Punnett prediction, ratios, probabilities, observed percentages and evaluation.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1585BCB-8927-4D58-9C68-81DF589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Visible working from cross to percentages, a correct expected-observed comparison and an evaluation naming chance, sample size and one model limit.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86C07FC-35AA-4CDA-B447-2B071A42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7F210CF-92AC-4DDE-946F-E2B545CF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5146302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0EE9672-AD28-4595-8030-D7A37B1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E4A054F-861D-4E6F-BAC8-9036A31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4F1047E-8CC9-42A7-B03D-1C06325B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DD473B-EE92-4B4B-B713-2C806B3F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5251F1B-C269-4576-9C73-2F53D485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E2726A3-A449-43C2-B7A8-8DC936BC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a partly filled square, convert 3/4 and 1/4 to percentages, then choose the valid data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19DAF01-1F42-4A7F-B241-24F3229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Build the square, calculate expected counts and observed percentages, then explain the small difference.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19B0630-7565-483D-8D33-5A746BCC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Analyse repeated batches and the combined sample, then evaluate sample size and the monohybrid model's limits.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F46FDA6-9453-41C8-A2D4-3EE0CCD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B4D4987-84A1-4C6B-AE52-A2F332C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194267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575A03A3-8886-4146-A582-7259F56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DC02954-9AE3-4F36-9363-27927393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0E321D-1DBB-482D-9E2A-D9A73CBA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2DEEB2-33E7-4BAB-B4E6-A0C73A3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F85D18E-9F51-45B1-8261-07069E1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DA09969-BD62-4F71-AA31-CADBB88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 77.5% observed with 75% predicted in one cautious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C42B523-4A39-4DB5-8E06-459C2F68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F09F9B6-1CC9-4D7F-9B83-BE4470D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C0F9084-97F0-478C-A455-A845879A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991798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2026-09-08T08:54:23.9590000Z</dcterms:created>
  <dcterms:modified xsi:type="dcterms:W3CDTF">2026-09-08T08:54:23.9590000Z</dcterms:modified>
</coreProperties>
</file>