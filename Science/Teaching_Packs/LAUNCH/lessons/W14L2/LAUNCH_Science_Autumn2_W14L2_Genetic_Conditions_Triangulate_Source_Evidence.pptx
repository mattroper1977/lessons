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4c0b0e3e304ec0" /><Relationship Type="http://schemas.openxmlformats.org/officeDocument/2006/relationships/extended-properties" Target="/docProps/app.xml" Id="R91937a83a69b45d3" /><Relationship Type="http://schemas.openxmlformats.org/officeDocument/2006/relationships/officeDocument" Target="/ppt/presentation.xml" Id="R2e47face130e4c84" /></Relationships>
</file>

<file path=ppt/presentation.xml><?xml version="1.0" encoding="utf-8"?>
<p:presentation xmlns:p="http://schemas.openxmlformats.org/presentationml/2006/main">
  <p:sldMasterIdLst>
    <p:sldMasterId xmlns:r="http://schemas.openxmlformats.org/officeDocument/2006/relationships" id="2147483648" r:id="Rc9bbd6354e914c85"/>
  </p:sldMasterIdLst>
  <p:notesMasterIdLst>
    <p:notesMasterId xmlns:r="http://schemas.openxmlformats.org/officeDocument/2006/relationships" r:id="R6973256928ae4c08"/>
  </p:notesMasterIdLst>
  <p:sldIdLst>
    <p:sldId xmlns:r="http://schemas.openxmlformats.org/officeDocument/2006/relationships" id="256" r:id="Rf90ce3f4588d49b7"/>
    <p:sldId xmlns:r="http://schemas.openxmlformats.org/officeDocument/2006/relationships" id="257" r:id="Rfee3f60461704572"/>
    <p:sldId xmlns:r="http://schemas.openxmlformats.org/officeDocument/2006/relationships" id="258" r:id="R48793e1a4d5b4104"/>
    <p:sldId xmlns:r="http://schemas.openxmlformats.org/officeDocument/2006/relationships" id="259" r:id="R79c674e54a374838"/>
    <p:sldId xmlns:r="http://schemas.openxmlformats.org/officeDocument/2006/relationships" id="260" r:id="R79f5ae4cfa5b4710"/>
    <p:sldId xmlns:r="http://schemas.openxmlformats.org/officeDocument/2006/relationships" id="261" r:id="Rd5077c84fb414f97"/>
    <p:sldId xmlns:r="http://schemas.openxmlformats.org/officeDocument/2006/relationships" id="262" r:id="R4526a0d0471740db"/>
    <p:sldId xmlns:r="http://schemas.openxmlformats.org/officeDocument/2006/relationships" id="263" r:id="R4ffe182415264ef4"/>
    <p:sldId xmlns:r="http://schemas.openxmlformats.org/officeDocument/2006/relationships" id="264" r:id="R958e2ad215b940e3"/>
    <p:sldId xmlns:r="http://schemas.openxmlformats.org/officeDocument/2006/relationships" id="265" r:id="Ra8e58e87a31e4b01"/>
    <p:sldId xmlns:r="http://schemas.openxmlformats.org/officeDocument/2006/relationships" id="266" r:id="Raf87a942e09b4b55"/>
    <p:sldId xmlns:r="http://schemas.openxmlformats.org/officeDocument/2006/relationships" id="267" r:id="R1b4e888ed601477e"/>
    <p:sldId xmlns:r="http://schemas.openxmlformats.org/officeDocument/2006/relationships" id="268" r:id="R20e5763bfd554ae6"/>
    <p:sldId xmlns:r="http://schemas.openxmlformats.org/officeDocument/2006/relationships" id="269" r:id="Rb8222adfa6984473"/>
    <p:sldId xmlns:r="http://schemas.openxmlformats.org/officeDocument/2006/relationships" id="270" r:id="R2f56305927a64f6c"/>
    <p:sldId xmlns:r="http://schemas.openxmlformats.org/officeDocument/2006/relationships" id="271" r:id="R63d2d0b4925749f1"/>
    <p:sldId xmlns:r="http://schemas.openxmlformats.org/officeDocument/2006/relationships" id="272" r:id="R8c99240580b64ae9"/>
    <p:sldId xmlns:r="http://schemas.openxmlformats.org/officeDocument/2006/relationships" id="273" r:id="Rd920589b98284f5e"/>
    <p:sldId xmlns:r="http://schemas.openxmlformats.org/officeDocument/2006/relationships" id="274" r:id="R13267be0bc134eb3"/>
    <p:sldId xmlns:r="http://schemas.openxmlformats.org/officeDocument/2006/relationships" id="275" r:id="R09e3b3465f08458a"/>
    <p:sldId xmlns:r="http://schemas.openxmlformats.org/officeDocument/2006/relationships" id="276" r:id="Re149ae4c50fb4bac"/>
    <p:sldId xmlns:r="http://schemas.openxmlformats.org/officeDocument/2006/relationships" id="277" r:id="R7afb8ce96af34743"/>
    <p:sldId xmlns:r="http://schemas.openxmlformats.org/officeDocument/2006/relationships" id="278" r:id="R3ca7addb9611455a"/>
    <p:sldId xmlns:r="http://schemas.openxmlformats.org/officeDocument/2006/relationships" id="279" r:id="R3562f6672a2c41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370bd8564b4282" /><Relationship Type="http://schemas.openxmlformats.org/officeDocument/2006/relationships/slideMaster" Target="/ppt/slideMasters/slideMaster1.xml" Id="Rc9bbd6354e914c85" /><Relationship Type="http://schemas.openxmlformats.org/officeDocument/2006/relationships/notesMaster" Target="/ppt/notesMasters/notesMaster1.xml" Id="R6973256928ae4c08" /><Relationship Type="http://schemas.openxmlformats.org/officeDocument/2006/relationships/presProps" Target="/ppt/presProps.xml" Id="Rd1d5bef04fda4e17" /><Relationship Type="http://schemas.openxmlformats.org/officeDocument/2006/relationships/tableStyles" Target="/ppt/tableStyles.xml" Id="Rad051fe95bb64862" /><Relationship Type="http://schemas.openxmlformats.org/officeDocument/2006/relationships/slide" Target="/ppt/slides/slide1.xml" Id="Rf90ce3f4588d49b7" /><Relationship Type="http://schemas.openxmlformats.org/officeDocument/2006/relationships/slide" Target="/ppt/slides/slide2.xml" Id="Rfee3f60461704572" /><Relationship Type="http://schemas.openxmlformats.org/officeDocument/2006/relationships/slide" Target="/ppt/slides/slide3.xml" Id="R48793e1a4d5b4104" /><Relationship Type="http://schemas.openxmlformats.org/officeDocument/2006/relationships/slide" Target="/ppt/slides/slide4.xml" Id="R79c674e54a374838" /><Relationship Type="http://schemas.openxmlformats.org/officeDocument/2006/relationships/slide" Target="/ppt/slides/slide5.xml" Id="R79f5ae4cfa5b4710" /><Relationship Type="http://schemas.openxmlformats.org/officeDocument/2006/relationships/slide" Target="/ppt/slides/slide6.xml" Id="Rd5077c84fb414f97" /><Relationship Type="http://schemas.openxmlformats.org/officeDocument/2006/relationships/slide" Target="/ppt/slides/slide7.xml" Id="R4526a0d0471740db" /><Relationship Type="http://schemas.openxmlformats.org/officeDocument/2006/relationships/slide" Target="/ppt/slides/slide8.xml" Id="R4ffe182415264ef4" /><Relationship Type="http://schemas.openxmlformats.org/officeDocument/2006/relationships/slide" Target="/ppt/slides/slide9.xml" Id="R958e2ad215b940e3" /><Relationship Type="http://schemas.openxmlformats.org/officeDocument/2006/relationships/slide" Target="/ppt/slides/slide10.xml" Id="Ra8e58e87a31e4b01" /><Relationship Type="http://schemas.openxmlformats.org/officeDocument/2006/relationships/slide" Target="/ppt/slides/slide11.xml" Id="Raf87a942e09b4b55" /><Relationship Type="http://schemas.openxmlformats.org/officeDocument/2006/relationships/slide" Target="/ppt/slides/slide12.xml" Id="R1b4e888ed601477e" /><Relationship Type="http://schemas.openxmlformats.org/officeDocument/2006/relationships/slide" Target="/ppt/slides/slide13.xml" Id="R20e5763bfd554ae6" /><Relationship Type="http://schemas.openxmlformats.org/officeDocument/2006/relationships/slide" Target="/ppt/slides/slide14.xml" Id="Rb8222adfa6984473" /><Relationship Type="http://schemas.openxmlformats.org/officeDocument/2006/relationships/slide" Target="/ppt/slides/slide15.xml" Id="R2f56305927a64f6c" /><Relationship Type="http://schemas.openxmlformats.org/officeDocument/2006/relationships/slide" Target="/ppt/slides/slide16.xml" Id="R63d2d0b4925749f1" /><Relationship Type="http://schemas.openxmlformats.org/officeDocument/2006/relationships/slide" Target="/ppt/slides/slide17.xml" Id="R8c99240580b64ae9" /><Relationship Type="http://schemas.openxmlformats.org/officeDocument/2006/relationships/slide" Target="/ppt/slides/slide18.xml" Id="Rd920589b98284f5e" /><Relationship Type="http://schemas.openxmlformats.org/officeDocument/2006/relationships/slide" Target="/ppt/slides/slide19.xml" Id="R13267be0bc134eb3" /><Relationship Type="http://schemas.openxmlformats.org/officeDocument/2006/relationships/slide" Target="/ppt/slides/slide20.xml" Id="R09e3b3465f08458a" /><Relationship Type="http://schemas.openxmlformats.org/officeDocument/2006/relationships/slide" Target="/ppt/slides/slide21.xml" Id="Re149ae4c50fb4bac" /><Relationship Type="http://schemas.openxmlformats.org/officeDocument/2006/relationships/slide" Target="/ppt/slides/slide22.xml" Id="R7afb8ce96af34743" /><Relationship Type="http://schemas.openxmlformats.org/officeDocument/2006/relationships/slide" Target="/ppt/slides/slide23.xml" Id="R3ca7addb9611455a" /><Relationship Type="http://schemas.openxmlformats.org/officeDocument/2006/relationships/slide" Target="/ppt/slides/slide24.xml" Id="R3562f6672a2c41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88b5a227724e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4fd49c7e6b4813" /><Relationship Type="http://schemas.openxmlformats.org/officeDocument/2006/relationships/notesMaster" Target="/ppt/notesMasters/notesMaster1.xml" Id="Ra49f22080a6445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62949d36df4d3a" /><Relationship Type="http://schemas.openxmlformats.org/officeDocument/2006/relationships/notesMaster" Target="/ppt/notesMasters/notesMaster1.xml" Id="Ra17e480744b945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44ea31f91f4ccb" /><Relationship Type="http://schemas.openxmlformats.org/officeDocument/2006/relationships/notesMaster" Target="/ppt/notesMasters/notesMaster1.xml" Id="R2326606c86d54c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8c19b1d8ae4018" /><Relationship Type="http://schemas.openxmlformats.org/officeDocument/2006/relationships/notesMaster" Target="/ppt/notesMasters/notesMaster1.xml" Id="Rc1e6728ce9584d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35e07ac80843c9" /><Relationship Type="http://schemas.openxmlformats.org/officeDocument/2006/relationships/notesMaster" Target="/ppt/notesMasters/notesMaster1.xml" Id="Rda082f3caea143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50988eeb73412f" /><Relationship Type="http://schemas.openxmlformats.org/officeDocument/2006/relationships/notesMaster" Target="/ppt/notesMasters/notesMaster1.xml" Id="Ra665ff9945104d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353c4baff1446c" /><Relationship Type="http://schemas.openxmlformats.org/officeDocument/2006/relationships/notesMaster" Target="/ppt/notesMasters/notesMaster1.xml" Id="R1541da310d554b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3e35e2b97d4f93" /><Relationship Type="http://schemas.openxmlformats.org/officeDocument/2006/relationships/notesMaster" Target="/ppt/notesMasters/notesMaster1.xml" Id="R84d20b18d2124d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75da6e76fb48e2" /><Relationship Type="http://schemas.openxmlformats.org/officeDocument/2006/relationships/notesMaster" Target="/ppt/notesMasters/notesMaster1.xml" Id="Ra6df3c89f68648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d34f83be9c4861" /><Relationship Type="http://schemas.openxmlformats.org/officeDocument/2006/relationships/notesMaster" Target="/ppt/notesMasters/notesMaster1.xml" Id="R381cae5a430a40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42c12fec6a4989" /><Relationship Type="http://schemas.openxmlformats.org/officeDocument/2006/relationships/notesMaster" Target="/ppt/notesMasters/notesMaster1.xml" Id="Re5db930760144e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14a7f6fcce4296" /><Relationship Type="http://schemas.openxmlformats.org/officeDocument/2006/relationships/notesMaster" Target="/ppt/notesMasters/notesMaster1.xml" Id="Re3dca647ed374c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7123e6dc72485d" /><Relationship Type="http://schemas.openxmlformats.org/officeDocument/2006/relationships/notesMaster" Target="/ppt/notesMasters/notesMaster1.xml" Id="R9a6e8efdee9944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a15a9380444d02" /><Relationship Type="http://schemas.openxmlformats.org/officeDocument/2006/relationships/notesMaster" Target="/ppt/notesMasters/notesMaster1.xml" Id="Ra196efd5468d42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89db23c3a74d6f" /><Relationship Type="http://schemas.openxmlformats.org/officeDocument/2006/relationships/notesMaster" Target="/ppt/notesMasters/notesMaster1.xml" Id="Rbc68b3c6e2d243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237d7dd59a4091" /><Relationship Type="http://schemas.openxmlformats.org/officeDocument/2006/relationships/notesMaster" Target="/ppt/notesMasters/notesMaster1.xml" Id="R75914ac9952a40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232dd94efd49cb" /><Relationship Type="http://schemas.openxmlformats.org/officeDocument/2006/relationships/notesMaster" Target="/ppt/notesMasters/notesMaster1.xml" Id="R17828aa817a14d4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b5c277d47a4b36" /><Relationship Type="http://schemas.openxmlformats.org/officeDocument/2006/relationships/notesMaster" Target="/ppt/notesMasters/notesMaster1.xml" Id="Rfeec10314604406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a6816834584fbe" /><Relationship Type="http://schemas.openxmlformats.org/officeDocument/2006/relationships/notesMaster" Target="/ppt/notesMasters/notesMaster1.xml" Id="R15c3a36f434d42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2e3435e0b74857" /><Relationship Type="http://schemas.openxmlformats.org/officeDocument/2006/relationships/notesMaster" Target="/ppt/notesMasters/notesMaster1.xml" Id="Re8a6165b46204f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4186bdbb1a4d0b" /><Relationship Type="http://schemas.openxmlformats.org/officeDocument/2006/relationships/notesMaster" Target="/ppt/notesMasters/notesMaster1.xml" Id="R64f0db5e81ce4e1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2f65c39df9a4536" /><Relationship Type="http://schemas.openxmlformats.org/officeDocument/2006/relationships/notesMaster" Target="/ppt/notesMasters/notesMaster1.xml" Id="Rf2c1fa1c81e942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d9bd102ad064245" /><Relationship Type="http://schemas.openxmlformats.org/officeDocument/2006/relationships/notesMaster" Target="/ppt/notesMasters/notesMaster1.xml" Id="Rd656d630aae84ad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093e118d5474284" /><Relationship Type="http://schemas.openxmlformats.org/officeDocument/2006/relationships/notesMaster" Target="/ppt/notesMasters/notesMaster1.xml" Id="Rae03a80f63bf47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Overview: 0 minutes TOTAL across all slides in this stage.</a:t>
            </a:r>
          </a:p>
          <a:p xmlns:a="http://schemas.openxmlformats.org/drawingml/2006/main">
            <a:r>
              <a:t/>
            </a:r>
          </a:p>
          <a:p xmlns:a="http://schemas.openxmlformats.org/drawingml/2006/main">
            <a:r>
              <a:t>Prepare the approved local source set and privacy-safe access routes; keep the 1BI0 Foundation decision central.</a:t>
            </a:r>
          </a:p>
          <a:p xmlns:a="http://schemas.openxmlformats.org/drawingml/2006/main">
            <a:r>
              <a:t/>
            </a:r>
          </a:p>
          <a:p xmlns:a="http://schemas.openxmlformats.org/drawingml/2006/main">
            <a:r>
              <a:t>Keep optional IGCSE depth staff-directed and separate from the core class route; do not use legacy 4SS0 framing.</a:t>
            </a:r>
          </a:p>
          <a:p xmlns:a="http://schemas.openxmlformats.org/drawingml/2006/main">
            <a:r>
              <a:t/>
            </a:r>
          </a:p>
          <a:p xmlns:a="http://schemas.openxmlformats.org/drawingml/2006/main">
            <a:r>
              <a:t>Staff preview Keep the 1BI0 Foundation explanation, approved local source set, privacy boundary and learner-authored evidence decision central. Optional IGCSE depth remains staff-directed.</a:t>
            </a:r>
          </a:p>
          <a:p xmlns:a="http://schemas.openxmlformats.org/drawingml/2006/main">
            <a:r>
              <a:t/>
            </a:r>
          </a:p>
          <a:p xmlns:a="http://schemas.openxmlformats.org/drawingml/2006/main">
            <a:r>
              <a:t>Staff qualification / truth boundary Core teaching anchor: Edexcel GCSE Biology 1BI0 Foundation / Combined Science 1SC0 Foundation. IGCSE stretch remains optional for eligible pupils. No diagnosis, advice or personal disclosure. The SoW cell adds no unit, code, criterion or level. This lesson imports none of those as new criteria. Staff-only stretch: eligible pupils may use approved 4BI1/4CH1/4PH1 depth. It never governs the core class route. Legacy 4SS0 framing is not the governing route.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LAUNCH · Science · Autumn · Week 14 · Explore</a:t>
            </a:r>
          </a:p>
          <a:p xmlns:a="http://schemas.openxmlformats.org/drawingml/2006/main">
            <a:r>
              <a:t>SoW outcome: Research a genetic condition online; present.</a:t>
            </a:r>
          </a:p>
          <a:p xmlns:a="http://schemas.openxmlformats.org/drawingml/2006/main">
            <a:r>
              <a:t>Learning objective: I can compare school-approved sources, extract evidence relevant to my question, and record agreement, difference and uncertainty without copying or overclaiming.</a:t>
            </a:r>
          </a:p>
          <a:p xmlns:a="http://schemas.openxmlformats.org/drawingml/2006/main">
            <a:r>
              <a:t>Success checks for today's activity — not assessment criteria</a:t>
            </a:r>
          </a:p>
          <a:p xmlns:a="http://schemas.openxmlformats.org/drawingml/2006/main">
            <a:r>
              <a:t>Record each source's publisher, date, purpose and the exact idea used in my own notes.</a:t>
            </a:r>
          </a:p>
          <a:p xmlns:a="http://schemas.openxmlformats.org/drawingml/2006/main">
            <a:r>
              <a:t>Identify at least one point of agreement and one difference in emphasis, scope or certainty.</a:t>
            </a:r>
          </a:p>
          <a:p xmlns:a="http://schemas.openxmlformats.org/drawingml/2006/main">
            <a:r>
              <a:t>Write a bounded evidence statement and a limitation that the final presentation will preserve.</a:t>
            </a:r>
          </a:p>
          <a:p xmlns:a="http://schemas.openxmlformats.org/drawingml/2006/main">
            <a:r>
              <a:t>F-L-M-G</a:t>
            </a:r>
          </a:p>
          <a:p xmlns:a="http://schemas.openxmlformats.org/drawingml/2006/main">
            <a:r>
              <a:t>Find · Label · Map · Gap</a:t>
            </a:r>
          </a:p>
          <a:p xmlns:a="http://schemas.openxmlformats.org/drawingml/2006/main">
            <a:r>
              <a:t>research and present without overclaiming</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Stretch</a:t>
            </a:r>
          </a:p>
          <a:p xmlns:a="http://schemas.openxmlformats.org/drawingml/2006/main">
            <a:r>
              <a:t>Evaluate source purpose, evidence type and missing perspective; qualify a claim and identify what additional evidence would be needed.</a:t>
            </a:r>
          </a:p>
          <a:p xmlns:a="http://schemas.openxmlformats.org/drawingml/2006/main">
            <a:r>
              <a:t>Previous lesson Next lesson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Arrival: 3 minutes TOTAL across all slides in this stage.</a:t>
            </a:r>
          </a:p>
          <a:p xmlns:a="http://schemas.openxmlformats.org/drawingml/2006/main">
            <a:r>
              <a:t/>
            </a:r>
          </a:p>
          <a:p xmlns:a="http://schemas.openxmlformats.org/drawingml/2006/main">
            <a:r>
              <a:t>Offer private retrieval, pointing and a pass-and-return route; never request personal or family information.</a:t>
            </a:r>
          </a:p>
          <a:p xmlns:a="http://schemas.openxmlformats.org/drawingml/2006/main">
            <a:r>
              <a:t/>
            </a:r>
          </a:p>
          <a:p xmlns:a="http://schemas.openxmlformats.org/drawingml/2006/main">
            <a:r>
              <a:t>Change modality, density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Retrieve the W14L1 question. Highlight the key concept, not the name of a person or any personal detail.</a:t>
            </a:r>
          </a:p>
          <a:p xmlns:a="http://schemas.openxmlformats.org/drawingml/2006/main">
            <a:r>
              <a:t>Question boundary Read the exact research question and point to the word that keeps it neutral and source-answerable.</a:t>
            </a:r>
          </a:p>
          <a:p xmlns:a="http://schemas.openxmlformats.org/drawingml/2006/main">
            <a:r>
              <a:t>Foundation core Recall gene, allele, inheritance, probability and variation. These terms organise the evidence; none gives a diagnosis.</a:t>
            </a:r>
          </a:p>
          <a:p xmlns:a="http://schemas.openxmlformats.org/drawingml/2006/main">
            <a:r>
              <a:t>Source fields Prepare publisher, date, purpose and local locator. A remembered fact without a source trail remains a claim to check.</a:t>
            </a:r>
          </a:p>
          <a:p xmlns:a="http://schemas.openxmlformats.org/drawingml/2006/main">
            <a:r>
              <a:t>Privacy boundary Use only the teacher-approved condition and source set. No diagnosis, advice or personal disclosure.</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Arrival: 3 minutes TOTAL across all slides in this stage.</a:t>
            </a:r>
          </a:p>
          <a:p xmlns:a="http://schemas.openxmlformats.org/drawingml/2006/main">
            <a:r>
              <a:t/>
            </a:r>
          </a:p>
          <a:p xmlns:a="http://schemas.openxmlformats.org/drawingml/2006/main">
            <a:r>
              <a:t>Offer private retrieval, pointing and a pass-and-return route; never request personal or family information.</a:t>
            </a:r>
          </a:p>
          <a:p xmlns:a="http://schemas.openxmlformats.org/drawingml/2006/main">
            <a:r>
              <a:t/>
            </a:r>
          </a:p>
          <a:p xmlns:a="http://schemas.openxmlformats.org/drawingml/2006/main">
            <a:r>
              <a:t>Change modality, density or number of choices before increasing prompting.</a:t>
            </a:r>
          </a:p>
          <a:p xmlns:a="http://schemas.openxmlformats.org/drawingml/2006/main">
            <a:r>
              <a:t/>
            </a:r>
          </a:p>
          <a:p xmlns:a="http://schemas.openxmlformats.org/drawingml/2006/main">
            <a:r>
              <a:t>Least prompt first Wait → self-prompt → visual cue → general verbal → specific verbal → model → direct support. Record adult support separately.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Retrieve the W14L1 question. Highlight the key concept, not the name of a person or any personal detail.</a:t>
            </a:r>
          </a:p>
          <a:p xmlns:a="http://schemas.openxmlformats.org/drawingml/2006/main">
            <a:r>
              <a:t>Question boundary Read the exact research question and point to the word that keeps it neutral and source-answerable.</a:t>
            </a:r>
          </a:p>
          <a:p xmlns:a="http://schemas.openxmlformats.org/drawingml/2006/main">
            <a:r>
              <a:t>Foundation core Recall gene, allele, inheritance, probability and variation. These terms organise the evidence; none gives a diagnosis.</a:t>
            </a:r>
          </a:p>
          <a:p xmlns:a="http://schemas.openxmlformats.org/drawingml/2006/main">
            <a:r>
              <a:t>Source fields Prepare publisher, date, purpose and local locator. A remembered fact without a source trail remains a claim to check.</a:t>
            </a:r>
          </a:p>
          <a:p xmlns:a="http://schemas.openxmlformats.org/drawingml/2006/main">
            <a:r>
              <a:t>Privacy boundary Use only the teacher-approved condition and source set. No diagnosis, advice or personal disclosure.</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Two sources can both be credible yet emphasise different evidence. Predict one reason: audience, purpose, date, evidence base or scope.</a:t>
            </a:r>
          </a:p>
          <a:p xmlns:a="http://schemas.openxmlformats.org/drawingml/2006/main">
            <a:r>
              <a:t>Picture first: compare approved sources on author, date and purpose before you compare their claims.</a:t>
            </a:r>
          </a:p>
          <a:p xmlns:a="http://schemas.openxmlformats.org/drawingml/2006/main">
            <a:r>
              <a:t>Comparison rule</a:t>
            </a:r>
          </a:p>
          <a:p xmlns:a="http://schemas.openxmlformats.org/drawingml/2006/main">
            <a:r>
              <a:t>Agreement is not proved by shared vocabulary alone. Difference is not contradiction by default. Compare the exact idea, the evidence attached to it, the population or scope, and the strength of the wording.</a:t>
            </a:r>
          </a:p>
          <a:p xmlns:a="http://schemas.openxmlformats.org/drawingml/2006/main">
            <a:r>
              <a:t>Different intended audiences</a:t>
            </a:r>
          </a:p>
          <a:p xmlns:a="http://schemas.openxmlformats.org/drawingml/2006/main">
            <a:r>
              <a:t>Different purpose or evidence base</a:t>
            </a:r>
          </a:p>
          <a:p xmlns:a="http://schemas.openxmlformats.org/drawingml/2006/main">
            <a:r>
              <a:t>One page looks more polished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Two sources can both be credible yet emphasise different evidence. Predict one reason: audience, purpose, date, evidence base or scope.</a:t>
            </a:r>
          </a:p>
          <a:p xmlns:a="http://schemas.openxmlformats.org/drawingml/2006/main">
            <a:r>
              <a:t>Picture first: compare approved sources on author, date and purpose before you compare their claims.</a:t>
            </a:r>
          </a:p>
          <a:p xmlns:a="http://schemas.openxmlformats.org/drawingml/2006/main">
            <a:r>
              <a:t>Comparison rule</a:t>
            </a:r>
          </a:p>
          <a:p xmlns:a="http://schemas.openxmlformats.org/drawingml/2006/main">
            <a:r>
              <a:t>Agreement is not proved by shared vocabulary alone. Difference is not contradiction by default. Compare the exact idea, the evidence attached to it, the population or scope, and the strength of the wording.</a:t>
            </a:r>
          </a:p>
          <a:p xmlns:a="http://schemas.openxmlformats.org/drawingml/2006/main">
            <a:r>
              <a:t>Different intended audiences</a:t>
            </a:r>
          </a:p>
          <a:p xmlns:a="http://schemas.openxmlformats.org/drawingml/2006/main">
            <a:r>
              <a:t>Different purpose or evidence base</a:t>
            </a:r>
          </a:p>
          <a:p xmlns:a="http://schemas.openxmlformats.org/drawingml/2006/main">
            <a:r>
              <a:t>One page looks more polished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Starter: 3 minutes TOTAL across all slides in this stage.</a:t>
            </a:r>
          </a:p>
          <a:p xmlns:a="http://schemas.openxmlformats.org/drawingml/2006/main">
            <a:r>
              <a:t/>
            </a:r>
          </a:p>
          <a:p xmlns:a="http://schemas.openxmlformats.org/drawingml/2006/main">
            <a:r>
              <a:t>Receive a first decision before feedback; keep it visible for revision.</a:t>
            </a:r>
          </a:p>
          <a:p xmlns:a="http://schemas.openxmlformats.org/drawingml/2006/main">
            <a:r>
              <a:t/>
            </a:r>
          </a:p>
          <a:p xmlns:a="http://schemas.openxmlformats.org/drawingml/2006/main">
            <a:r>
              <a:t>Ask for the source or boundary clue, not confidence or personal experience.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Two sources can both be credible yet emphasise different evidence. Predict one reason: audience, purpose, date, evidence base or scope.</a:t>
            </a:r>
          </a:p>
          <a:p xmlns:a="http://schemas.openxmlformats.org/drawingml/2006/main">
            <a:r>
              <a:t>Picture first: compare approved sources on author, date and purpose before you compare their claims.</a:t>
            </a:r>
          </a:p>
          <a:p xmlns:a="http://schemas.openxmlformats.org/drawingml/2006/main">
            <a:r>
              <a:t>Comparison rule</a:t>
            </a:r>
          </a:p>
          <a:p xmlns:a="http://schemas.openxmlformats.org/drawingml/2006/main">
            <a:r>
              <a:t>Agreement is not proved by shared vocabulary alone. Difference is not contradiction by default. Compare the exact idea, the evidence attached to it, the population or scope, and the strength of the wording.</a:t>
            </a:r>
          </a:p>
          <a:p xmlns:a="http://schemas.openxmlformats.org/drawingml/2006/main">
            <a:r>
              <a:t>Different intended audiences</a:t>
            </a:r>
          </a:p>
          <a:p xmlns:a="http://schemas.openxmlformats.org/drawingml/2006/main">
            <a:r>
              <a:t>Different purpose or evidence base</a:t>
            </a:r>
          </a:p>
          <a:p xmlns:a="http://schemas.openxmlformats.org/drawingml/2006/main">
            <a:r>
              <a:t>One page looks more polished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Source evidence sorter</a:t>
            </a:r>
          </a:p>
          <a:p xmlns:a="http://schemas.openxmlformats.org/drawingml/2006/main">
            <a:r>
              <a:t>Press a note you took, then what it is.</a:t>
            </a:r>
          </a:p>
          <a:p xmlns:a="http://schemas.openxmlformats.org/drawingml/2006/main">
            <a:r>
              <a:t>Source A and Source B both describe the same inheritance pattern</a:t>
            </a:r>
          </a:p>
          <a:p xmlns:a="http://schemas.openxmlformats.org/drawingml/2006/main">
            <a:r>
              <a:t>Source A gives one frequency; Source B gives a different figure with a different date</a:t>
            </a:r>
          </a:p>
          <a:p xmlns:a="http://schemas.openxmlformats.org/drawingml/2006/main">
            <a:r>
              <a:t>Neither source says how a proposed treatment performed in trials</a:t>
            </a:r>
          </a:p>
          <a:p xmlns:a="http://schemas.openxmlformats.org/drawingml/2006/main">
            <a:r>
              <a:t>Both name the same gene</a:t>
            </a:r>
          </a:p>
          <a:p xmlns:a="http://schemas.openxmlformats.org/drawingml/2006/main">
            <a:r>
              <a:t>One source is a charity page, the other a textbook: different purposes</a:t>
            </a:r>
          </a:p>
          <a:p xmlns:a="http://schemas.openxmlformats.org/drawingml/2006/main">
            <a:r>
              <a:t>A statistic has no date or population attached</a:t>
            </a:r>
          </a:p>
          <a:p xmlns:a="http://schemas.openxmlformats.org/drawingml/2006/main">
            <a:r>
              <a:t>agreement</a:t>
            </a:r>
          </a:p>
          <a:p xmlns:a="http://schemas.openxmlformats.org/drawingml/2006/main">
            <a:r>
              <a:t>↔ difference — record both</a:t>
            </a:r>
          </a:p>
          <a:p xmlns:a="http://schemas.openxmlformats.org/drawingml/2006/main">
            <a:r>
              <a:t>uncertainty — keep visible</a:t>
            </a:r>
          </a:p>
          <a:p xmlns:a="http://schemas.openxmlformats.org/drawingml/2006/main">
            <a:r>
              <a:t>Press a card.</a:t>
            </a:r>
          </a:p>
          <a:p xmlns:a="http://schemas.openxmlformats.org/drawingml/2006/main">
            <a:r>
              <a:t>Read for the research question; do not copy a whole paragraph.</a:t>
            </a:r>
          </a:p>
          <a:p xmlns:a="http://schemas.openxmlformats.org/drawingml/2006/main">
            <a:r>
              <a:t>Record publisher/date and paraphrase one relevant idea beside its source locator.</a:t>
            </a:r>
          </a:p>
          <a:p xmlns:a="http://schemas.openxmlformats.org/drawingml/2006/main">
            <a:r>
              <a:t>Compare with a second source: agreement, difference and uncertainty remain separate.</a:t>
            </a:r>
          </a:p>
          <a:p xmlns:a="http://schemas.openxmlformats.org/drawingml/2006/main">
            <a:r>
              <a:t>Source A record Write who published it, its date or review date, intended purpose and the page/card/section locator.</a:t>
            </a:r>
          </a:p>
          <a:p xmlns:a="http://schemas.openxmlformats.org/drawingml/2006/main">
            <a:r>
              <a:t>Relevant idea Paraphrase only the idea that answers the question. Keep scientific terms visible and place the locator on the same row.</a:t>
            </a:r>
          </a:p>
          <a:p xmlns:a="http://schemas.openxmlformats.org/drawingml/2006/main">
            <a:r>
              <a:t>Source B record Repeat the process independently before comparing. Do not edit B so it appears to agree with A.</a:t>
            </a:r>
          </a:p>
          <a:p xmlns:a="http://schemas.openxmlformats.org/drawingml/2006/main">
            <a:r>
              <a:t>Comparison sentence Use “Both explain …; A emphasises …; B adds/limits …; neither source establishes …”</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Source evidence sorter</a:t>
            </a:r>
          </a:p>
          <a:p xmlns:a="http://schemas.openxmlformats.org/drawingml/2006/main">
            <a:r>
              <a:t>Press a note you took, then what it is.</a:t>
            </a:r>
          </a:p>
          <a:p xmlns:a="http://schemas.openxmlformats.org/drawingml/2006/main">
            <a:r>
              <a:t>Source A and Source B both describe the same inheritance pattern</a:t>
            </a:r>
          </a:p>
          <a:p xmlns:a="http://schemas.openxmlformats.org/drawingml/2006/main">
            <a:r>
              <a:t>Source A gives one frequency; Source B gives a different figure with a different date</a:t>
            </a:r>
          </a:p>
          <a:p xmlns:a="http://schemas.openxmlformats.org/drawingml/2006/main">
            <a:r>
              <a:t>Neither source says how a proposed treatment performed in trials</a:t>
            </a:r>
          </a:p>
          <a:p xmlns:a="http://schemas.openxmlformats.org/drawingml/2006/main">
            <a:r>
              <a:t>Both name the same gene</a:t>
            </a:r>
          </a:p>
          <a:p xmlns:a="http://schemas.openxmlformats.org/drawingml/2006/main">
            <a:r>
              <a:t>One source is a charity page, the other a textbook: different purposes</a:t>
            </a:r>
          </a:p>
          <a:p xmlns:a="http://schemas.openxmlformats.org/drawingml/2006/main">
            <a:r>
              <a:t>A statistic has no date or population attached</a:t>
            </a:r>
          </a:p>
          <a:p xmlns:a="http://schemas.openxmlformats.org/drawingml/2006/main">
            <a:r>
              <a:t>agreement</a:t>
            </a:r>
          </a:p>
          <a:p xmlns:a="http://schemas.openxmlformats.org/drawingml/2006/main">
            <a:r>
              <a:t>↔ difference — record both</a:t>
            </a:r>
          </a:p>
          <a:p xmlns:a="http://schemas.openxmlformats.org/drawingml/2006/main">
            <a:r>
              <a:t>uncertainty — keep visible</a:t>
            </a:r>
          </a:p>
          <a:p xmlns:a="http://schemas.openxmlformats.org/drawingml/2006/main">
            <a:r>
              <a:t>Press a card.</a:t>
            </a:r>
          </a:p>
          <a:p xmlns:a="http://schemas.openxmlformats.org/drawingml/2006/main">
            <a:r>
              <a:t>Read for the research question; do not copy a whole paragraph.</a:t>
            </a:r>
          </a:p>
          <a:p xmlns:a="http://schemas.openxmlformats.org/drawingml/2006/main">
            <a:r>
              <a:t>Record publisher/date and paraphrase one relevant idea beside its source locator.</a:t>
            </a:r>
          </a:p>
          <a:p xmlns:a="http://schemas.openxmlformats.org/drawingml/2006/main">
            <a:r>
              <a:t>Compare with a second source: agreement, difference and uncertainty remain separate.</a:t>
            </a:r>
          </a:p>
          <a:p xmlns:a="http://schemas.openxmlformats.org/drawingml/2006/main">
            <a:r>
              <a:t>Source A record Write who published it, its date or review date, intended purpose and the page/card/section locator.</a:t>
            </a:r>
          </a:p>
          <a:p xmlns:a="http://schemas.openxmlformats.org/drawingml/2006/main">
            <a:r>
              <a:t>Relevant idea Paraphrase only the idea that answers the question. Keep scientific terms visible and place the locator on the same row.</a:t>
            </a:r>
          </a:p>
          <a:p xmlns:a="http://schemas.openxmlformats.org/drawingml/2006/main">
            <a:r>
              <a:t>Source B record Repeat the process independently before comparing. Do not edit B so it appears to agree with A.</a:t>
            </a:r>
          </a:p>
          <a:p xmlns:a="http://schemas.openxmlformats.org/drawingml/2006/main">
            <a:r>
              <a:t>Comparison sentence Use “Both explain …; A emphasises …; B adds/limits …; neither source establishes …”</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Source evidence sorter</a:t>
            </a:r>
          </a:p>
          <a:p xmlns:a="http://schemas.openxmlformats.org/drawingml/2006/main">
            <a:r>
              <a:t>Press a note you took, then what it is.</a:t>
            </a:r>
          </a:p>
          <a:p xmlns:a="http://schemas.openxmlformats.org/drawingml/2006/main">
            <a:r>
              <a:t>Source A and Source B both describe the same inheritance pattern</a:t>
            </a:r>
          </a:p>
          <a:p xmlns:a="http://schemas.openxmlformats.org/drawingml/2006/main">
            <a:r>
              <a:t>Source A gives one frequency; Source B gives a different figure with a different date</a:t>
            </a:r>
          </a:p>
          <a:p xmlns:a="http://schemas.openxmlformats.org/drawingml/2006/main">
            <a:r>
              <a:t>Neither source says how a proposed treatment performed in trials</a:t>
            </a:r>
          </a:p>
          <a:p xmlns:a="http://schemas.openxmlformats.org/drawingml/2006/main">
            <a:r>
              <a:t>Both name the same gene</a:t>
            </a:r>
          </a:p>
          <a:p xmlns:a="http://schemas.openxmlformats.org/drawingml/2006/main">
            <a:r>
              <a:t>One source is a charity page, the other a textbook: different purposes</a:t>
            </a:r>
          </a:p>
          <a:p xmlns:a="http://schemas.openxmlformats.org/drawingml/2006/main">
            <a:r>
              <a:t>A statistic has no date or population attached</a:t>
            </a:r>
          </a:p>
          <a:p xmlns:a="http://schemas.openxmlformats.org/drawingml/2006/main">
            <a:r>
              <a:t>agreement</a:t>
            </a:r>
          </a:p>
          <a:p xmlns:a="http://schemas.openxmlformats.org/drawingml/2006/main">
            <a:r>
              <a:t>↔ difference — record both</a:t>
            </a:r>
          </a:p>
          <a:p xmlns:a="http://schemas.openxmlformats.org/drawingml/2006/main">
            <a:r>
              <a:t>uncertainty — keep visible</a:t>
            </a:r>
          </a:p>
          <a:p xmlns:a="http://schemas.openxmlformats.org/drawingml/2006/main">
            <a:r>
              <a:t>Press a card.</a:t>
            </a:r>
          </a:p>
          <a:p xmlns:a="http://schemas.openxmlformats.org/drawingml/2006/main">
            <a:r>
              <a:t>Read for the research question; do not copy a whole paragraph.</a:t>
            </a:r>
          </a:p>
          <a:p xmlns:a="http://schemas.openxmlformats.org/drawingml/2006/main">
            <a:r>
              <a:t>Record publisher/date and paraphrase one relevant idea beside its source locator.</a:t>
            </a:r>
          </a:p>
          <a:p xmlns:a="http://schemas.openxmlformats.org/drawingml/2006/main">
            <a:r>
              <a:t>Compare with a second source: agreement, difference and uncertainty remain separate.</a:t>
            </a:r>
          </a:p>
          <a:p xmlns:a="http://schemas.openxmlformats.org/drawingml/2006/main">
            <a:r>
              <a:t>Source A record Write who published it, its date or review date, intended purpose and the page/card/section locator.</a:t>
            </a:r>
          </a:p>
          <a:p xmlns:a="http://schemas.openxmlformats.org/drawingml/2006/main">
            <a:r>
              <a:t>Relevant idea Paraphrase only the idea that answers the question. Keep scientific terms visible and place the locator on the same row.</a:t>
            </a:r>
          </a:p>
          <a:p xmlns:a="http://schemas.openxmlformats.org/drawingml/2006/main">
            <a:r>
              <a:t>Source B record Repeat the process independently before comparing. Do not edit B so it appears to agree with A.</a:t>
            </a:r>
          </a:p>
          <a:p xmlns:a="http://schemas.openxmlformats.org/drawingml/2006/main">
            <a:r>
              <a:t>Comparison sentence Use “Both explain …; A emphasises …; B adds/limits …; neither source establishes …”</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 do: 4 minutes TOTAL across all slides in this stage.</a:t>
            </a:r>
          </a:p>
          <a:p xmlns:a="http://schemas.openxmlformats.org/drawingml/2006/main">
            <a:r>
              <a:t/>
            </a:r>
          </a:p>
          <a:p xmlns:a="http://schemas.openxmlformats.org/drawingml/2006/main">
            <a:r>
              <a:t>Model a neutral teacher-approved example; do not invent a learner biography, diagnosis or completed evidence.</a:t>
            </a:r>
          </a:p>
          <a:p xmlns:a="http://schemas.openxmlformats.org/drawingml/2006/main">
            <a:r>
              <a:t/>
            </a:r>
          </a:p>
          <a:p xmlns:a="http://schemas.openxmlformats.org/drawingml/2006/main">
            <a:r>
              <a:t>Name question, evidence, reasoning and limit as separate moves.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Source evidence sorter</a:t>
            </a:r>
          </a:p>
          <a:p xmlns:a="http://schemas.openxmlformats.org/drawingml/2006/main">
            <a:r>
              <a:t>Press a note you took, then what it is.</a:t>
            </a:r>
          </a:p>
          <a:p xmlns:a="http://schemas.openxmlformats.org/drawingml/2006/main">
            <a:r>
              <a:t>Source A and Source B both describe the same inheritance pattern</a:t>
            </a:r>
          </a:p>
          <a:p xmlns:a="http://schemas.openxmlformats.org/drawingml/2006/main">
            <a:r>
              <a:t>Source A gives one frequency; Source B gives a different figure with a different date</a:t>
            </a:r>
          </a:p>
          <a:p xmlns:a="http://schemas.openxmlformats.org/drawingml/2006/main">
            <a:r>
              <a:t>Neither source says how a proposed treatment performed in trials</a:t>
            </a:r>
          </a:p>
          <a:p xmlns:a="http://schemas.openxmlformats.org/drawingml/2006/main">
            <a:r>
              <a:t>Both name the same gene</a:t>
            </a:r>
          </a:p>
          <a:p xmlns:a="http://schemas.openxmlformats.org/drawingml/2006/main">
            <a:r>
              <a:t>One source is a charity page, the other a textbook: different purposes</a:t>
            </a:r>
          </a:p>
          <a:p xmlns:a="http://schemas.openxmlformats.org/drawingml/2006/main">
            <a:r>
              <a:t>A statistic has no date or population attached</a:t>
            </a:r>
          </a:p>
          <a:p xmlns:a="http://schemas.openxmlformats.org/drawingml/2006/main">
            <a:r>
              <a:t>agreement</a:t>
            </a:r>
          </a:p>
          <a:p xmlns:a="http://schemas.openxmlformats.org/drawingml/2006/main">
            <a:r>
              <a:t>↔ difference — record both</a:t>
            </a:r>
          </a:p>
          <a:p xmlns:a="http://schemas.openxmlformats.org/drawingml/2006/main">
            <a:r>
              <a:t>uncertainty — keep visible</a:t>
            </a:r>
          </a:p>
          <a:p xmlns:a="http://schemas.openxmlformats.org/drawingml/2006/main">
            <a:r>
              <a:t>Press a card.</a:t>
            </a:r>
          </a:p>
          <a:p xmlns:a="http://schemas.openxmlformats.org/drawingml/2006/main">
            <a:r>
              <a:t>Read for the research question; do not copy a whole paragraph.</a:t>
            </a:r>
          </a:p>
          <a:p xmlns:a="http://schemas.openxmlformats.org/drawingml/2006/main">
            <a:r>
              <a:t>Record publisher/date and paraphrase one relevant idea beside its source locator.</a:t>
            </a:r>
          </a:p>
          <a:p xmlns:a="http://schemas.openxmlformats.org/drawingml/2006/main">
            <a:r>
              <a:t>Compare with a second source: agreement, difference and uncertainty remain separate.</a:t>
            </a:r>
          </a:p>
          <a:p xmlns:a="http://schemas.openxmlformats.org/drawingml/2006/main">
            <a:r>
              <a:t>Source A record Write who published it, its date or review date, intended purpose and the page/card/section locator.</a:t>
            </a:r>
          </a:p>
          <a:p xmlns:a="http://schemas.openxmlformats.org/drawingml/2006/main">
            <a:r>
              <a:t>Relevant idea Paraphrase only the idea that answers the question. Keep scientific terms visible and place the locator on the same row.</a:t>
            </a:r>
          </a:p>
          <a:p xmlns:a="http://schemas.openxmlformats.org/drawingml/2006/main">
            <a:r>
              <a:t>Source B record Repeat the process independently before comparing. Do not edit B so it appears to agree with A.</a:t>
            </a:r>
          </a:p>
          <a:p xmlns:a="http://schemas.openxmlformats.org/drawingml/2006/main">
            <a:r>
              <a:t>Comparison sentence Use “Both explain …; A emphasises …; B adds/limits …; neither source establishes …”</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We do: 3 minutes TOTAL across all slides in this stage.</a:t>
            </a:r>
          </a:p>
          <a:p xmlns:a="http://schemas.openxmlformats.org/drawingml/2006/main">
            <a:r>
              <a:t/>
            </a:r>
          </a:p>
          <a:p xmlns:a="http://schemas.openxmlformats.org/drawingml/2006/main">
            <a:r>
              <a:t>Give private think time before receiving a spoken, pointed or written choice.</a:t>
            </a:r>
          </a:p>
          <a:p xmlns:a="http://schemas.openxmlformats.org/drawingml/2006/main">
            <a:r>
              <a:t/>
            </a:r>
          </a:p>
          <a:p xmlns:a="http://schemas.openxmlformats.org/drawingml/2006/main">
            <a:r>
              <a:t>Ask what evidence or boundary clue changes the claim.</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Classify each note, then decide how the classification changes the wording of the final claim.</a:t>
            </a:r>
          </a:p>
          <a:p xmlns:a="http://schemas.openxmlformats.org/drawingml/2006/main">
            <a:r>
              <a:t>Established evidence Both approved sources explain the same relevant biology and provide a traceable basis for the bounded statement.</a:t>
            </a:r>
          </a:p>
          <a:p xmlns:a="http://schemas.openxmlformats.org/drawingml/2006/main">
            <a:r>
              <a:t>Different emphasis One source may foreground inheritance while another foregrounds variation or lived experience. Record both without forcing sameness.</a:t>
            </a:r>
          </a:p>
          <a:p xmlns:a="http://schemas.openxmlformats.org/drawingml/2006/main">
            <a:r>
              <a:t>Different certainty Words such as may, can, often and is associated with carry different strength from always, proves or will.</a:t>
            </a:r>
          </a:p>
          <a:p xmlns:a="http://schemas.openxmlformats.org/drawingml/2006/main">
            <a:r>
              <a:t>Missing perspective A source set may omit detail, a population, a current review or lived-experience variation. Missing is a limit, not permission to invent.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We do: 3 minutes TOTAL across all slides in this stage.</a:t>
            </a:r>
          </a:p>
          <a:p xmlns:a="http://schemas.openxmlformats.org/drawingml/2006/main">
            <a:r>
              <a:t/>
            </a:r>
          </a:p>
          <a:p xmlns:a="http://schemas.openxmlformats.org/drawingml/2006/main">
            <a:r>
              <a:t>Give private think time before receiving a spoken, pointed or written choice.</a:t>
            </a:r>
          </a:p>
          <a:p xmlns:a="http://schemas.openxmlformats.org/drawingml/2006/main">
            <a:r>
              <a:t/>
            </a:r>
          </a:p>
          <a:p xmlns:a="http://schemas.openxmlformats.org/drawingml/2006/main">
            <a:r>
              <a:t>Ask what evidence or boundary clue changes the claim.</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Classify each note, then decide how the classification changes the wording of the final claim.</a:t>
            </a:r>
          </a:p>
          <a:p xmlns:a="http://schemas.openxmlformats.org/drawingml/2006/main">
            <a:r>
              <a:t>Established evidence Both approved sources explain the same relevant biology and provide a traceable basis for the bounded statement.</a:t>
            </a:r>
          </a:p>
          <a:p xmlns:a="http://schemas.openxmlformats.org/drawingml/2006/main">
            <a:r>
              <a:t>Different emphasis One source may foreground inheritance while another foregrounds variation or lived experience. Record both without forcing sameness.</a:t>
            </a:r>
          </a:p>
          <a:p xmlns:a="http://schemas.openxmlformats.org/drawingml/2006/main">
            <a:r>
              <a:t>Different certainty Words such as may, can, often and is associated with carry different strength from always, proves or will.</a:t>
            </a:r>
          </a:p>
          <a:p xmlns:a="http://schemas.openxmlformats.org/drawingml/2006/main">
            <a:r>
              <a:t>Missing perspective A source set may omit detail, a population, a current review or lived-experience variation. Missing is a limit, not permission to invent.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 do 2: 3 minutes TOTAL across all slides in this stage.</a:t>
            </a:r>
          </a:p>
          <a:p xmlns:a="http://schemas.openxmlformats.org/drawingml/2006/main">
            <a:r>
              <a:t/>
            </a:r>
          </a:p>
          <a:p xmlns:a="http://schemas.openxmlformats.org/drawingml/2006/main">
            <a:r>
              <a:t>Keep diagnosis, advice, personal data and unsupported certainty outside the model.</a:t>
            </a:r>
          </a:p>
          <a:p xmlns:a="http://schemas.openxmlformats.org/drawingml/2006/main">
            <a:r>
              <a:t/>
            </a:r>
          </a:p>
          <a:p xmlns:a="http://schemas.openxmlformats.org/drawingml/2006/main">
            <a:r>
              <a:t>Model a repair or an honest hold when the source set cannot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Paraphrase accurately and keep the source locator.</a:t>
            </a:r>
          </a:p>
          <a:p xmlns:a="http://schemas.openxmlformats.org/drawingml/2006/main">
            <a:r>
              <a:t>Use “may”, “can” or a probability statement where evidence is not deterministic.</a:t>
            </a:r>
          </a:p>
          <a:p xmlns:a="http://schemas.openxmlformats.org/drawingml/2006/main">
            <a:r>
              <a:t>Do not turn a population pattern into a prediction, label or instruction for an individual.</a:t>
            </a:r>
          </a:p>
          <a:p xmlns:a="http://schemas.openxmlformats.org/drawingml/2006/main">
            <a:r>
              <a:t>Claim A statement the presentation may make when it is supported by the two-source record.</a:t>
            </a:r>
          </a:p>
          <a:p xmlns:a="http://schemas.openxmlformats.org/drawingml/2006/main">
            <a:r>
              <a:t>Evidence The approved, locatable information used to support or challenge that statement.</a:t>
            </a:r>
          </a:p>
          <a:p xmlns:a="http://schemas.openxmlformats.org/drawingml/2006/main">
            <a:r>
              <a:t>Reasoning The explanation of how the evidence answers the bounded inheritance question.</a:t>
            </a:r>
          </a:p>
          <a:p xmlns:a="http://schemas.openxmlformats.org/drawingml/2006/main">
            <a:r>
              <a:t>Limit What the sources do not show, cannot generalise or cannot decide for one person.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 do 2: 3 minutes TOTAL across all slides in this stage.</a:t>
            </a:r>
          </a:p>
          <a:p xmlns:a="http://schemas.openxmlformats.org/drawingml/2006/main">
            <a:r>
              <a:t/>
            </a:r>
          </a:p>
          <a:p xmlns:a="http://schemas.openxmlformats.org/drawingml/2006/main">
            <a:r>
              <a:t>Keep diagnosis, advice, personal data and unsupported certainty outside the model.</a:t>
            </a:r>
          </a:p>
          <a:p xmlns:a="http://schemas.openxmlformats.org/drawingml/2006/main">
            <a:r>
              <a:t/>
            </a:r>
          </a:p>
          <a:p xmlns:a="http://schemas.openxmlformats.org/drawingml/2006/main">
            <a:r>
              <a:t>Model a repair or an honest hold when the source set cannot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Paraphrase accurately and keep the source locator.</a:t>
            </a:r>
          </a:p>
          <a:p xmlns:a="http://schemas.openxmlformats.org/drawingml/2006/main">
            <a:r>
              <a:t>Use “may”, “can” or a probability statement where evidence is not deterministic.</a:t>
            </a:r>
          </a:p>
          <a:p xmlns:a="http://schemas.openxmlformats.org/drawingml/2006/main">
            <a:r>
              <a:t>Do not turn a population pattern into a prediction, label or instruction for an individual.</a:t>
            </a:r>
          </a:p>
          <a:p xmlns:a="http://schemas.openxmlformats.org/drawingml/2006/main">
            <a:r>
              <a:t>Claim A statement the presentation may make when it is supported by the two-source record.</a:t>
            </a:r>
          </a:p>
          <a:p xmlns:a="http://schemas.openxmlformats.org/drawingml/2006/main">
            <a:r>
              <a:t>Evidence The approved, locatable information used to support or challenge that statement.</a:t>
            </a:r>
          </a:p>
          <a:p xmlns:a="http://schemas.openxmlformats.org/drawingml/2006/main">
            <a:r>
              <a:t>Reasoning The explanation of how the evidence answers the bounded inheritance question.</a:t>
            </a:r>
          </a:p>
          <a:p xmlns:a="http://schemas.openxmlformats.org/drawingml/2006/main">
            <a:r>
              <a:t>Limit What the sources do not show, cannot generalise or cannot decide for one person.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Place each paraphrased idea beside publisher, date, purpose and local locator.</a:t>
            </a:r>
          </a:p>
          <a:p xmlns:a="http://schemas.openxmlformats.org/drawingml/2006/main">
            <a:r>
              <a:t>2 · Connect</a:t>
            </a:r>
          </a:p>
          <a:p xmlns:a="http://schemas.openxmlformats.org/drawingml/2006/main">
            <a:r>
              <a:t>Draw a line from each idea to the exact part of the research question it supports.</a:t>
            </a:r>
          </a:p>
          <a:p xmlns:a="http://schemas.openxmlformats.org/drawingml/2006/main">
            <a:r>
              <a:t>3 · Limit</a:t>
            </a:r>
          </a:p>
          <a:p xmlns:a="http://schemas.openxmlformats.org/drawingml/2006/main">
            <a:r>
              <a:t>Record agreement, difference and one unresolved uncertainty in separate fields.</a:t>
            </a:r>
          </a:p>
          <a:p xmlns:a="http://schemas.openxmlformats.org/drawingml/2006/main">
            <a:r>
              <a:t>Compare meaning Do the sources describe the same inherited process, or do similar words hide a difference in scope?</a:t>
            </a:r>
          </a:p>
          <a:p xmlns:a="http://schemas.openxmlformats.org/drawingml/2006/main">
            <a:r>
              <a:t>Compare evidence Does each source name the evidence type or provide a route to it? A source can be useful while still being a summary.</a:t>
            </a:r>
          </a:p>
          <a:p xmlns:a="http://schemas.openxmlformats.org/drawingml/2006/main">
            <a:r>
              <a:t>Compare purpose Public information, teaching material and technical reporting serve different audiences and may need different caution.</a:t>
            </a:r>
          </a:p>
          <a:p xmlns:a="http://schemas.openxmlformats.org/drawingml/2006/main">
            <a:r>
              <a:t>Compare uncertainty Which source states limits clearly? If neither does, record the missing limit rather than writing certainty into the gap.</a:t>
            </a:r>
          </a:p>
          <a:p xmlns:a="http://schemas.openxmlformats.org/drawingml/2006/main">
            <a:r>
              <a:t>Teacher-approved local source cards plus current-main W12–W13 LAUNCH Science lessons; no new external URL or runtime request.</a:t>
            </a:r>
          </a:p>
          <a:p xmlns:a="http://schemas.openxmlformats.org/drawingml/2006/main">
            <a:r>
              <a:t>Build one shared matrix row, then check it aloud: source identity, own-word note, agreement/difference, question link and limit must all remain findable.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Place each paraphrased idea beside publisher, date, purpose and local locator.</a:t>
            </a:r>
          </a:p>
          <a:p xmlns:a="http://schemas.openxmlformats.org/drawingml/2006/main">
            <a:r>
              <a:t>2 · Connect</a:t>
            </a:r>
          </a:p>
          <a:p xmlns:a="http://schemas.openxmlformats.org/drawingml/2006/main">
            <a:r>
              <a:t>Draw a line from each idea to the exact part of the research question it supports.</a:t>
            </a:r>
          </a:p>
          <a:p xmlns:a="http://schemas.openxmlformats.org/drawingml/2006/main">
            <a:r>
              <a:t>3 · Limit</a:t>
            </a:r>
          </a:p>
          <a:p xmlns:a="http://schemas.openxmlformats.org/drawingml/2006/main">
            <a:r>
              <a:t>Record agreement, difference and one unresolved uncertainty in separate fields.</a:t>
            </a:r>
          </a:p>
          <a:p xmlns:a="http://schemas.openxmlformats.org/drawingml/2006/main">
            <a:r>
              <a:t>Compare meaning Do the sources describe the same inherited process, or do similar words hide a difference in scope?</a:t>
            </a:r>
          </a:p>
          <a:p xmlns:a="http://schemas.openxmlformats.org/drawingml/2006/main">
            <a:r>
              <a:t>Compare evidence Does each source name the evidence type or provide a route to it? A source can be useful while still being a summary.</a:t>
            </a:r>
          </a:p>
          <a:p xmlns:a="http://schemas.openxmlformats.org/drawingml/2006/main">
            <a:r>
              <a:t>Compare purpose Public information, teaching material and technical reporting serve different audiences and may need different caution.</a:t>
            </a:r>
          </a:p>
          <a:p xmlns:a="http://schemas.openxmlformats.org/drawingml/2006/main">
            <a:r>
              <a:t>Compare uncertainty Which source states limits clearly? If neither does, record the missing limit rather than writing certainty into the gap.</a:t>
            </a:r>
          </a:p>
          <a:p xmlns:a="http://schemas.openxmlformats.org/drawingml/2006/main">
            <a:r>
              <a:t>Teacher-approved local source cards plus current-main W12–W13 LAUNCH Science lessons; no new external URL or runtime request.</a:t>
            </a:r>
          </a:p>
          <a:p xmlns:a="http://schemas.openxmlformats.org/drawingml/2006/main">
            <a:r>
              <a:t>Build one shared matrix row, then check it aloud: source identity, own-word note, agreement/difference, question link and limit must all remain findable.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We do 2: 4 minutes TOTAL across all slides in this stage.</a:t>
            </a:r>
          </a:p>
          <a:p xmlns:a="http://schemas.openxmlformats.org/drawingml/2006/main">
            <a:r>
              <a:t/>
            </a:r>
          </a:p>
          <a:p xmlns:a="http://schemas.openxmlformats.org/drawingml/2006/main">
            <a:r>
              <a:t>Let the learner operate or direct the shared source map.</a:t>
            </a:r>
          </a:p>
          <a:p xmlns:a="http://schemas.openxmlformats.org/drawingml/2006/main">
            <a:r>
              <a:t/>
            </a:r>
          </a:p>
          <a:p xmlns:a="http://schemas.openxmlformats.org/drawingml/2006/main">
            <a:r>
              <a:t>Use the explanation to select the lightest independent scaffold.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1 · Locate</a:t>
            </a:r>
          </a:p>
          <a:p xmlns:a="http://schemas.openxmlformats.org/drawingml/2006/main">
            <a:r>
              <a:t>Place each paraphrased idea beside publisher, date, purpose and local locator.</a:t>
            </a:r>
          </a:p>
          <a:p xmlns:a="http://schemas.openxmlformats.org/drawingml/2006/main">
            <a:r>
              <a:t>2 · Connect</a:t>
            </a:r>
          </a:p>
          <a:p xmlns:a="http://schemas.openxmlformats.org/drawingml/2006/main">
            <a:r>
              <a:t>Draw a line from each idea to the exact part of the research question it supports.</a:t>
            </a:r>
          </a:p>
          <a:p xmlns:a="http://schemas.openxmlformats.org/drawingml/2006/main">
            <a:r>
              <a:t>3 · Limit</a:t>
            </a:r>
          </a:p>
          <a:p xmlns:a="http://schemas.openxmlformats.org/drawingml/2006/main">
            <a:r>
              <a:t>Record agreement, difference and one unresolved uncertainty in separate fields.</a:t>
            </a:r>
          </a:p>
          <a:p xmlns:a="http://schemas.openxmlformats.org/drawingml/2006/main">
            <a:r>
              <a:t>Compare meaning Do the sources describe the same inherited process, or do similar words hide a difference in scope?</a:t>
            </a:r>
          </a:p>
          <a:p xmlns:a="http://schemas.openxmlformats.org/drawingml/2006/main">
            <a:r>
              <a:t>Compare evidence Does each source name the evidence type or provide a route to it? A source can be useful while still being a summary.</a:t>
            </a:r>
          </a:p>
          <a:p xmlns:a="http://schemas.openxmlformats.org/drawingml/2006/main">
            <a:r>
              <a:t>Compare purpose Public information, teaching material and technical reporting serve different audiences and may need different caution.</a:t>
            </a:r>
          </a:p>
          <a:p xmlns:a="http://schemas.openxmlformats.org/drawingml/2006/main">
            <a:r>
              <a:t>Compare uncertainty Which source states limits clearly? If neither does, record the missing limit rather than writing certainty into the gap.</a:t>
            </a:r>
          </a:p>
          <a:p xmlns:a="http://schemas.openxmlformats.org/drawingml/2006/main">
            <a:r>
              <a:t>Teacher-approved local source cards plus current-main W12–W13 LAUNCH Science lessons; no new external URL or runtime request.</a:t>
            </a:r>
          </a:p>
          <a:p xmlns:a="http://schemas.openxmlformats.org/drawingml/2006/main">
            <a:r>
              <a:t>Build one shared matrix row, then check it aloud: source identity, own-word note, agreement/difference, question link and limit must all remain findable.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two-source evidence matrix for the teacher-approved condition. Record source identity, relevant evidence, agreement, difference, uncertainty and a respectful-language check. Write one bounded paragraph in your own words with both source locators.</a:t>
            </a:r>
          </a:p>
          <a:p xmlns:a="http://schemas.openxmlformats.org/drawingml/2006/main">
            <a:r>
              <a:t>A · Source A Record publisher, date, purpose, locator and one paraphrased idea that answers the question.</a:t>
            </a:r>
          </a:p>
          <a:p xmlns:a="http://schemas.openxmlformats.org/drawingml/2006/main">
            <a:r>
              <a:t>B · Source B Record the same fields independently. Keep a blank or NOT FOUND YET status if a field is absent.</a:t>
            </a:r>
          </a:p>
          <a:p xmlns:a="http://schemas.openxmlformats.org/drawingml/2006/main">
            <a:r>
              <a:t>C · Compare Write one agreement and one difference in evidence, emphasis, scope or certainty. Explain why the difference matters or does not matter.</a:t>
            </a:r>
          </a:p>
          <a:p xmlns:a="http://schemas.openxmlformats.org/drawingml/2006/main">
            <a:r>
              <a:t>D · Bound Write one paragraph using both locators, a probability/variation term and a sentence stating what cannot be predicted for an individual.</a:t>
            </a:r>
          </a:p>
          <a:p xmlns:a="http://schemas.openxmlformats.org/drawingml/2006/main">
            <a:r>
              <a:t>Relevance pass For every note, point back to the bounded question and name the exact part it helps answer. A true statement can still be irrelevant. Park interesting detail outside the matrix instead of using it to make the presentation look fuller.</a:t>
            </a:r>
          </a:p>
          <a:p xmlns:a="http://schemas.openxmlformats.org/drawingml/2006/main">
            <a:r>
              <a:t>Paraphrase pass Close the prepared extract before drafting the note. Explain the idea in your own words, reopen the extract, check that meaning and uncertainty remain accurate, then attach the local locator. Quotation marks are used only for exact, teacher-approved wording.</a:t>
            </a:r>
          </a:p>
          <a:p xmlns:a="http://schemas.openxmlformats.org/drawingml/2006/main">
            <a:r>
              <a:t>Comparison pass Agreement is more than two sources using the same topic word. Identify the scientific idea they both support. A difference may concern audience, purpose, evidence type, emphasis, date, scope or certainty; describe it without claiming that difference automatically means error.</a:t>
            </a:r>
          </a:p>
          <a:p xmlns:a="http://schemas.openxmlformats.org/drawingml/2006/main">
            <a:r>
              <a:t>Limit pass Read the bounded paragraph as though it described one real person. Replace certainty, diagnosis or advice with an evidence-led statement about inherited biology, probability, variation and what the source set cannot decide. Keep the gap visible rather than guessing.</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Stretch</a:t>
            </a:r>
          </a:p>
          <a:p xmlns:a="http://schemas.openxmlformats.org/drawingml/2006/main">
            <a:r>
              <a:t>Evaluate source purpose, evidence type and missing perspective; qualify a claim and identify what additional evidence would be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two-source evidence matrix for the teacher-approved condition. Record source identity, relevant evidence, agreement, difference, uncertainty and a respectful-language check. Write one bounded paragraph in your own words with both source locators.</a:t>
            </a:r>
          </a:p>
          <a:p xmlns:a="http://schemas.openxmlformats.org/drawingml/2006/main">
            <a:r>
              <a:t>A · Source A Record publisher, date, purpose, locator and one paraphrased idea that answers the question.</a:t>
            </a:r>
          </a:p>
          <a:p xmlns:a="http://schemas.openxmlformats.org/drawingml/2006/main">
            <a:r>
              <a:t>B · Source B Record the same fields independently. Keep a blank or NOT FOUND YET status if a field is absent.</a:t>
            </a:r>
          </a:p>
          <a:p xmlns:a="http://schemas.openxmlformats.org/drawingml/2006/main">
            <a:r>
              <a:t>C · Compare Write one agreement and one difference in evidence, emphasis, scope or certainty. Explain why the difference matters or does not matter.</a:t>
            </a:r>
          </a:p>
          <a:p xmlns:a="http://schemas.openxmlformats.org/drawingml/2006/main">
            <a:r>
              <a:t>D · Bound Write one paragraph using both locators, a probability/variation term and a sentence stating what cannot be predicted for an individual.</a:t>
            </a:r>
          </a:p>
          <a:p xmlns:a="http://schemas.openxmlformats.org/drawingml/2006/main">
            <a:r>
              <a:t>Relevance pass For every note, point back to the bounded question and name the exact part it helps answer. A true statement can still be irrelevant. Park interesting detail outside the matrix instead of using it to make the presentation look fuller.</a:t>
            </a:r>
          </a:p>
          <a:p xmlns:a="http://schemas.openxmlformats.org/drawingml/2006/main">
            <a:r>
              <a:t>Paraphrase pass Close the prepared extract before drafting the note. Explain the idea in your own words, reopen the extract, check that meaning and uncertainty remain accurate, then attach the local locator. Quotation marks are used only for exact, teacher-approved wording.</a:t>
            </a:r>
          </a:p>
          <a:p xmlns:a="http://schemas.openxmlformats.org/drawingml/2006/main">
            <a:r>
              <a:t>Comparison pass Agreement is more than two sources using the same topic word. Identify the scientific idea they both support. A difference may concern audience, purpose, evidence type, emphasis, date, scope or certainty; describe it without claiming that difference automatically means error.</a:t>
            </a:r>
          </a:p>
          <a:p xmlns:a="http://schemas.openxmlformats.org/drawingml/2006/main">
            <a:r>
              <a:t>Limit pass Read the bounded paragraph as though it described one real person. Replace certainty, diagnosis or advice with an evidence-led statement about inherited biology, probability, variation and what the source set cannot decide. Keep the gap visible rather than guessing.</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Stretch</a:t>
            </a:r>
          </a:p>
          <a:p xmlns:a="http://schemas.openxmlformats.org/drawingml/2006/main">
            <a:r>
              <a:t>Evaluate source purpose, evidence type and missing perspective; qualify a claim and identify what additional evidence would be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two-source evidence matrix for the teacher-approved condition. Record source identity, relevant evidence, agreement, difference, uncertainty and a respectful-language check. Write one bounded paragraph in your own words with both source locators.</a:t>
            </a:r>
          </a:p>
          <a:p xmlns:a="http://schemas.openxmlformats.org/drawingml/2006/main">
            <a:r>
              <a:t>A · Source A Record publisher, date, purpose, locator and one paraphrased idea that answers the question.</a:t>
            </a:r>
          </a:p>
          <a:p xmlns:a="http://schemas.openxmlformats.org/drawingml/2006/main">
            <a:r>
              <a:t>B · Source B Record the same fields independently. Keep a blank or NOT FOUND YET status if a field is absent.</a:t>
            </a:r>
          </a:p>
          <a:p xmlns:a="http://schemas.openxmlformats.org/drawingml/2006/main">
            <a:r>
              <a:t>C · Compare Write one agreement and one difference in evidence, emphasis, scope or certainty. Explain why the difference matters or does not matter.</a:t>
            </a:r>
          </a:p>
          <a:p xmlns:a="http://schemas.openxmlformats.org/drawingml/2006/main">
            <a:r>
              <a:t>D · Bound Write one paragraph using both locators, a probability/variation term and a sentence stating what cannot be predicted for an individual.</a:t>
            </a:r>
          </a:p>
          <a:p xmlns:a="http://schemas.openxmlformats.org/drawingml/2006/main">
            <a:r>
              <a:t>Relevance pass For every note, point back to the bounded question and name the exact part it helps answer. A true statement can still be irrelevant. Park interesting detail outside the matrix instead of using it to make the presentation look fuller.</a:t>
            </a:r>
          </a:p>
          <a:p xmlns:a="http://schemas.openxmlformats.org/drawingml/2006/main">
            <a:r>
              <a:t>Paraphrase pass Close the prepared extract before drafting the note. Explain the idea in your own words, reopen the extract, check that meaning and uncertainty remain accurate, then attach the local locator. Quotation marks are used only for exact, teacher-approved wording.</a:t>
            </a:r>
          </a:p>
          <a:p xmlns:a="http://schemas.openxmlformats.org/drawingml/2006/main">
            <a:r>
              <a:t>Comparison pass Agreement is more than two sources using the same topic word. Identify the scientific idea they both support. A difference may concern audience, purpose, evidence type, emphasis, date, scope or certainty; describe it without claiming that difference automatically means error.</a:t>
            </a:r>
          </a:p>
          <a:p xmlns:a="http://schemas.openxmlformats.org/drawingml/2006/main">
            <a:r>
              <a:t>Limit pass Read the bounded paragraph as though it described one real person. Replace certainty, diagnosis or advice with an evidence-led statement about inherited biology, probability, variation and what the source set cannot decide. Keep the gap visible rather than guessing.</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Stretch</a:t>
            </a:r>
          </a:p>
          <a:p xmlns:a="http://schemas.openxmlformats.org/drawingml/2006/main">
            <a:r>
              <a:t>Evaluate source purpose, evidence type and missing perspective; qualify a claim and identify what additional evidence would be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two-source evidence matrix for the teacher-approved condition. Record source identity, relevant evidence, agreement, difference, uncertainty and a respectful-language check. Write one bounded paragraph in your own words with both source locators.</a:t>
            </a:r>
          </a:p>
          <a:p xmlns:a="http://schemas.openxmlformats.org/drawingml/2006/main">
            <a:r>
              <a:t>A · Source A Record publisher, date, purpose, locator and one paraphrased idea that answers the question.</a:t>
            </a:r>
          </a:p>
          <a:p xmlns:a="http://schemas.openxmlformats.org/drawingml/2006/main">
            <a:r>
              <a:t>B · Source B Record the same fields independently. Keep a blank or NOT FOUND YET status if a field is absent.</a:t>
            </a:r>
          </a:p>
          <a:p xmlns:a="http://schemas.openxmlformats.org/drawingml/2006/main">
            <a:r>
              <a:t>C · Compare Write one agreement and one difference in evidence, emphasis, scope or certainty. Explain why the difference matters or does not matter.</a:t>
            </a:r>
          </a:p>
          <a:p xmlns:a="http://schemas.openxmlformats.org/drawingml/2006/main">
            <a:r>
              <a:t>D · Bound Write one paragraph using both locators, a probability/variation term and a sentence stating what cannot be predicted for an individual.</a:t>
            </a:r>
          </a:p>
          <a:p xmlns:a="http://schemas.openxmlformats.org/drawingml/2006/main">
            <a:r>
              <a:t>Relevance pass For every note, point back to the bounded question and name the exact part it helps answer. A true statement can still be irrelevant. Park interesting detail outside the matrix instead of using it to make the presentation look fuller.</a:t>
            </a:r>
          </a:p>
          <a:p xmlns:a="http://schemas.openxmlformats.org/drawingml/2006/main">
            <a:r>
              <a:t>Paraphrase pass Close the prepared extract before drafting the note. Explain the idea in your own words, reopen the extract, check that meaning and uncertainty remain accurate, then attach the local locator. Quotation marks are used only for exact, teacher-approved wording.</a:t>
            </a:r>
          </a:p>
          <a:p xmlns:a="http://schemas.openxmlformats.org/drawingml/2006/main">
            <a:r>
              <a:t>Comparison pass Agreement is more than two sources using the same topic word. Identify the scientific idea they both support. A difference may concern audience, purpose, evidence type, emphasis, date, scope or certainty; describe it without claiming that difference automatically means error.</a:t>
            </a:r>
          </a:p>
          <a:p xmlns:a="http://schemas.openxmlformats.org/drawingml/2006/main">
            <a:r>
              <a:t>Limit pass Read the bounded paragraph as though it described one real person. Replace certainty, diagnosis or advice with an evidence-led statement about inherited biology, probability, variation and what the source set cannot decide. Keep the gap visible rather than guessing.</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Stretch</a:t>
            </a:r>
          </a:p>
          <a:p xmlns:a="http://schemas.openxmlformats.org/drawingml/2006/main">
            <a:r>
              <a:t>Evaluate source purpose, evidence type and missing perspective; qualify a claim and identify what additional evidence would be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Independent: 16 minutes TOTAL across all slides in this stage.</a:t>
            </a:r>
          </a:p>
          <a:p xmlns:a="http://schemas.openxmlformats.org/drawingml/2006/main">
            <a:r>
              <a:t/>
            </a:r>
          </a:p>
          <a:p xmlns:a="http://schemas.openxmlformats.org/drawingml/2006/main">
            <a:r>
              <a:t>Use least-prompt-first and keep exact-word scribing visibly adult-supported.</a:t>
            </a:r>
          </a:p>
          <a:p xmlns:a="http://schemas.openxmlformats.org/drawingml/2006/main">
            <a:r>
              <a:t/>
            </a:r>
          </a:p>
          <a:p xmlns:a="http://schemas.openxmlformats.org/drawingml/2006/main">
            <a:r>
              <a:t>Capture only genuine learner decisions and meaning; the HTML stores nothing.</a:t>
            </a:r>
          </a:p>
          <a:p xmlns:a="http://schemas.openxmlformats.org/drawingml/2006/main">
            <a:r>
              <a:t/>
            </a:r>
          </a:p>
          <a:p xmlns:a="http://schemas.openxmlformats.org/drawingml/2006/main">
            <a:r>
              <a:t>Do not reconstruct Never backdate, stage an event, invent a result or quotation, convert adult wording into learner voice, or turn this activity into an assessed claim.</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two-source evidence matrix for the teacher-approved condition. Record source identity, relevant evidence, agreement, difference, uncertainty and a respectful-language check. Write one bounded paragraph in your own words with both source locators.</a:t>
            </a:r>
          </a:p>
          <a:p xmlns:a="http://schemas.openxmlformats.org/drawingml/2006/main">
            <a:r>
              <a:t>A · Source A Record publisher, date, purpose, locator and one paraphrased idea that answers the question.</a:t>
            </a:r>
          </a:p>
          <a:p xmlns:a="http://schemas.openxmlformats.org/drawingml/2006/main">
            <a:r>
              <a:t>B · Source B Record the same fields independently. Keep a blank or NOT FOUND YET status if a field is absent.</a:t>
            </a:r>
          </a:p>
          <a:p xmlns:a="http://schemas.openxmlformats.org/drawingml/2006/main">
            <a:r>
              <a:t>C · Compare Write one agreement and one difference in evidence, emphasis, scope or certainty. Explain why the difference matters or does not matter.</a:t>
            </a:r>
          </a:p>
          <a:p xmlns:a="http://schemas.openxmlformats.org/drawingml/2006/main">
            <a:r>
              <a:t>D · Bound Write one paragraph using both locators, a probability/variation term and a sentence stating what cannot be predicted for an individual.</a:t>
            </a:r>
          </a:p>
          <a:p xmlns:a="http://schemas.openxmlformats.org/drawingml/2006/main">
            <a:r>
              <a:t>Relevance pass For every note, point back to the bounded question and name the exact part it helps answer. A true statement can still be irrelevant. Park interesting detail outside the matrix instead of using it to make the presentation look fuller.</a:t>
            </a:r>
          </a:p>
          <a:p xmlns:a="http://schemas.openxmlformats.org/drawingml/2006/main">
            <a:r>
              <a:t>Paraphrase pass Close the prepared extract before drafting the note. Explain the idea in your own words, reopen the extract, check that meaning and uncertainty remain accurate, then attach the local locator. Quotation marks are used only for exact, teacher-approved wording.</a:t>
            </a:r>
          </a:p>
          <a:p xmlns:a="http://schemas.openxmlformats.org/drawingml/2006/main">
            <a:r>
              <a:t>Comparison pass Agreement is more than two sources using the same topic word. Identify the scientific idea they both support. A difference may concern audience, purpose, evidence type, emphasis, date, scope or certainty; describe it without claiming that difference automatically means error.</a:t>
            </a:r>
          </a:p>
          <a:p xmlns:a="http://schemas.openxmlformats.org/drawingml/2006/main">
            <a:r>
              <a:t>Limit pass Read the bounded paragraph as though it described one real person. Replace certainty, diagnosis or advice with an evidence-led statement about inherited biology, probability, variation and what the source set cannot decide. Keep the gap visible rather than guessing.</a:t>
            </a:r>
          </a:p>
          <a:p xmlns:a="http://schemas.openxmlformats.org/drawingml/2006/main">
            <a:r>
              <a:t>◆ Supported</a:t>
            </a:r>
          </a:p>
          <a:p xmlns:a="http://schemas.openxmlformats.org/drawingml/2006/main">
            <a:r>
              <a:t>Use two prepared source cards and a match/difference table; explain one bounded finding with a prompt frame.</a:t>
            </a:r>
          </a:p>
          <a:p xmlns:a="http://schemas.openxmlformats.org/drawingml/2006/main">
            <a:r>
              <a:t>▲ Standard</a:t>
            </a:r>
          </a:p>
          <a:p xmlns:a="http://schemas.openxmlformats.org/drawingml/2006/main">
            <a:r>
              <a:t>Triangulate two approved sources, paraphrase relevant evidence, record uncertainty and build a source trail.</a:t>
            </a:r>
          </a:p>
          <a:p xmlns:a="http://schemas.openxmlformats.org/drawingml/2006/main">
            <a:r>
              <a:t>Stretch</a:t>
            </a:r>
          </a:p>
          <a:p xmlns:a="http://schemas.openxmlformats.org/drawingml/2006/main">
            <a:r>
              <a:t>Evaluate source purpose, evidence type and missing perspective; qualify a claim and identify what additional evidence would be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W14L3 turns the matrix into an accessible presentation with an explicit source and uncertainty trail.</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Read or show the bounded paragraph privately and name the word or phrase that prevents overclaiming.</a:t>
            </a:r>
          </a:p>
          <a:p xmlns:a="http://schemas.openxmlformats.org/drawingml/2006/main">
            <a:r>
              <a:t>Agreement Point to the sentence supported by both approved sources and name both locators.</a:t>
            </a:r>
          </a:p>
          <a:p xmlns:a="http://schemas.openxmlformats.org/drawingml/2006/main">
            <a:r>
              <a:t>Difference State one difference in purpose, scope, evidence or certainty without calling it a contradiction automatically.</a:t>
            </a:r>
          </a:p>
          <a:p xmlns:a="http://schemas.openxmlformats.org/drawingml/2006/main">
            <a:r>
              <a:t>Limit Read the phrase that prevents a population pattern from becoming an individual prediction or diagnosis.</a:t>
            </a:r>
          </a:p>
          <a:p xmlns:a="http://schemas.openxmlformats.org/drawingml/2006/main">
            <a:r>
              <a:t>Next action Name the matrix row or source credit that W14L3 must carry into the presentation.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SCI_L_W14L2_Genetic_Condition_Source_Evidence_Explore.html. Exit: 4 minutes TOTAL across all slides in this stage.</a:t>
            </a:r>
          </a:p>
          <a:p xmlns:a="http://schemas.openxmlformats.org/drawingml/2006/main">
            <a:r>
              <a:t/>
            </a:r>
          </a:p>
          <a:p xmlns:a="http://schemas.openxmlformats.org/drawingml/2006/main">
            <a:r>
              <a:t>Receive the learner's evidence and limit; do not upgrade either.</a:t>
            </a:r>
          </a:p>
          <a:p xmlns:a="http://schemas.openxmlformats.org/drawingml/2006/main">
            <a:r>
              <a:t/>
            </a:r>
          </a:p>
          <a:p xmlns:a="http://schemas.openxmlformats.org/drawingml/2006/main">
            <a:r>
              <a:t>Name the receiving role and the next report-back point.</a:t>
            </a:r>
          </a:p>
          <a:p xmlns:a="http://schemas.openxmlformats.org/drawingml/2006/main">
            <a:r>
              <a:t/>
            </a:r>
          </a:p>
          <a:p xmlns:a="http://schemas.openxmlformats.org/drawingml/2006/main">
            <a:r>
              <a:t>Close without upgrading W14L3 turns the matrix into an accessible presentation with an explicit source and uncertainty trail.</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Read or show the bounded paragraph privately and name the word or phrase that prevents overclaiming.</a:t>
            </a:r>
          </a:p>
          <a:p xmlns:a="http://schemas.openxmlformats.org/drawingml/2006/main">
            <a:r>
              <a:t>Agreement Point to the sentence supported by both approved sources and name both locators.</a:t>
            </a:r>
          </a:p>
          <a:p xmlns:a="http://schemas.openxmlformats.org/drawingml/2006/main">
            <a:r>
              <a:t>Difference State one difference in purpose, scope, evidence or certainty without calling it a contradiction automatically.</a:t>
            </a:r>
          </a:p>
          <a:p xmlns:a="http://schemas.openxmlformats.org/drawingml/2006/main">
            <a:r>
              <a:t>Limit Read the phrase that prevents a population pattern from becoming an individual prediction or diagnosis.</a:t>
            </a:r>
          </a:p>
          <a:p xmlns:a="http://schemas.openxmlformats.org/drawingml/2006/main">
            <a:r>
              <a:t>Next action Name the matrix row or source credit that W14L3 must carry into the presentation.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SCI_L_W14L2_Genetic_Condition_Source_Evidence_Explore.html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f471dc59d546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db007a74da4914" /><Relationship Type="http://schemas.openxmlformats.org/officeDocument/2006/relationships/slideLayout" Target="/ppt/slideLayouts/slideLayout1.xml" Id="R9ae014791f1440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e014791f1440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42865f529540f8" /><Relationship Type="http://schemas.openxmlformats.org/officeDocument/2006/relationships/hyperlink" Target="SCI_L_W14L2_Genetic_Condition_Source_Evidence_Explore.html" TargetMode="External" Id="R08b0325326da42fb" /><Relationship Type="http://schemas.openxmlformats.org/officeDocument/2006/relationships/notesSlide" Target="/ppt/notesSlides/notesSlide1.xml" Id="R70cc84bed0cd45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4c6cc4145c4dd9" /><Relationship Type="http://schemas.openxmlformats.org/officeDocument/2006/relationships/notesSlide" Target="/ppt/notesSlides/notesSlide2.xml" Id="R3bbfc0c3e77e47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e590a984514afe" /><Relationship Type="http://schemas.openxmlformats.org/officeDocument/2006/relationships/notesSlide" Target="/ppt/notesSlides/notesSlide3.xml" Id="R1277e970484747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c649eff69b4b9e" /><Relationship Type="http://schemas.openxmlformats.org/officeDocument/2006/relationships/notesSlide" Target="/ppt/notesSlides/notesSlide4.xml" Id="Raf3414a7a34e44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64141043c84a83" /><Relationship Type="http://schemas.openxmlformats.org/officeDocument/2006/relationships/notesSlide" Target="/ppt/notesSlides/notesSlide5.xml" Id="R9f9fa86a60d047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040d8fb03940ff" /><Relationship Type="http://schemas.openxmlformats.org/officeDocument/2006/relationships/image" Target="/ppt/media/image.png" Id="Re25d6e156d374372" /><Relationship Type="http://schemas.openxmlformats.org/officeDocument/2006/relationships/notesSlide" Target="/ppt/notesSlides/notesSlide6.xml" Id="Rf4fcb6d6535a49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4aa23211c04949" /><Relationship Type="http://schemas.openxmlformats.org/officeDocument/2006/relationships/notesSlide" Target="/ppt/notesSlides/notesSlide7.xml" Id="R8117ead2add740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6945301b694dc7" /><Relationship Type="http://schemas.openxmlformats.org/officeDocument/2006/relationships/notesSlide" Target="/ppt/notesSlides/notesSlide8.xml" Id="R5f7e1706e69a49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b5a3827c3b4e3a" /><Relationship Type="http://schemas.openxmlformats.org/officeDocument/2006/relationships/notesSlide" Target="/ppt/notesSlides/notesSlide9.xml" Id="Rd6c9638bc8b749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babecd165e460c" /><Relationship Type="http://schemas.openxmlformats.org/officeDocument/2006/relationships/notesSlide" Target="/ppt/notesSlides/notesSlide10.xml" Id="R59d73d6adb6b43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9c3a938f3649ed" /><Relationship Type="http://schemas.openxmlformats.org/officeDocument/2006/relationships/notesSlide" Target="/ppt/notesSlides/notesSlide11.xml" Id="Ra02a99b93f844d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53c1a379ac4e29" /><Relationship Type="http://schemas.openxmlformats.org/officeDocument/2006/relationships/notesSlide" Target="/ppt/notesSlides/notesSlide12.xml" Id="Ree6a0d68b5b143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9e28140e3c4533" /><Relationship Type="http://schemas.openxmlformats.org/officeDocument/2006/relationships/notesSlide" Target="/ppt/notesSlides/notesSlide13.xml" Id="R8cd34ab63ba74c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2ed2eb2f784efa" /><Relationship Type="http://schemas.openxmlformats.org/officeDocument/2006/relationships/notesSlide" Target="/ppt/notesSlides/notesSlide14.xml" Id="R4b099f48839245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8a779a3e0949ad" /><Relationship Type="http://schemas.openxmlformats.org/officeDocument/2006/relationships/notesSlide" Target="/ppt/notesSlides/notesSlide15.xml" Id="R95548ef776d047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0df3df3074c4728" /><Relationship Type="http://schemas.openxmlformats.org/officeDocument/2006/relationships/notesSlide" Target="/ppt/notesSlides/notesSlide16.xml" Id="R5e1844ce48094a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65fba5e4287417a" /><Relationship Type="http://schemas.openxmlformats.org/officeDocument/2006/relationships/notesSlide" Target="/ppt/notesSlides/notesSlide17.xml" Id="Raf2e45a2966048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0502dcf995b4b63" /><Relationship Type="http://schemas.openxmlformats.org/officeDocument/2006/relationships/notesSlide" Target="/ppt/notesSlides/notesSlide18.xml" Id="R194cb5c3e1024a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250bfab0a1041d0" /><Relationship Type="http://schemas.openxmlformats.org/officeDocument/2006/relationships/notesSlide" Target="/ppt/notesSlides/notesSlide19.xml" Id="Rc55895835d3144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49c61226e6f4d37" /><Relationship Type="http://schemas.openxmlformats.org/officeDocument/2006/relationships/notesSlide" Target="/ppt/notesSlides/notesSlide20.xml" Id="R6ba50ab927f349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1240f57d14b4f53" /><Relationship Type="http://schemas.openxmlformats.org/officeDocument/2006/relationships/notesSlide" Target="/ppt/notesSlides/notesSlide21.xml" Id="R012cb1f01b824b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57edf0f98a14dfe" /><Relationship Type="http://schemas.openxmlformats.org/officeDocument/2006/relationships/notesSlide" Target="/ppt/notesSlides/notesSlide22.xml" Id="R2dd9b54cc9fb49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6d57a703a464eb5" /><Relationship Type="http://schemas.openxmlformats.org/officeDocument/2006/relationships/notesSlide" Target="/ppt/notesSlides/notesSlide23.xml" Id="R5631b3dc5bb6469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508d0e4bb004573" /><Relationship Type="http://schemas.openxmlformats.org/officeDocument/2006/relationships/notesSlide" Target="/ppt/notesSlides/notesSlide24.xml" Id="Rd6f041961ca34558"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BD9A8D1C-4584-4BEE-B32A-F04AF3D783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F856636-25F0-4B7E-B889-05517D04E9D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3D118F7-7BE9-40D0-8723-36C7ED520BB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DA1F5C5D-F690-4BF3-9A8A-4E75A2376CA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Genetic Conditions: Triangulate Source Evidence</a:t>
            </a:r>
          </a:p>
        </p:txBody>
      </p:sp>
      <p:sp>
        <p:nvSpPr>
          <p:cNvPr id="5" name="paper panel">
            <a:extLst xmlns:a="http://schemas.openxmlformats.org/drawingml/2006/main">
              <a:ext uri="{FF2B5EF4-FFF2-40B4-BE49-F238E27FC236}">
                <a16:creationId xmlns:a16="http://schemas.microsoft.com/office/drawing/2014/main" id="{AF34F3E5-D9D8-4ED4-AFD5-59B831F9751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DDD5198A-CFEA-4CE2-A3E2-333626104040}"/>
              </a:ext>
            </a:extLst>
          </p:cNvPr>
          <p:cNvSpPr>
            <a:spLocks xmlns:a="http://schemas.openxmlformats.org/drawingml/2006/main" noGrp="1"/>
          </p:cNvSpPr>
          <p:nvPr/>
        </p:nvSpPr>
        <p:spPr>
          <a:xfrm xmlns:a="http://schemas.openxmlformats.org/drawingml/2006/main">
            <a:off x="762000" y="2181225"/>
            <a:ext cx="10382250" cy="1125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I can compare school-approved sources, extract evidence relevant to my question, and record agreement, difference and uncertainty without copying or overclaiming.</a:t>
            </a:r>
          </a:p>
        </p:txBody>
      </p:sp>
      <p:sp>
        <p:nvSpPr>
          <p:cNvPr id="7" name="HTML link">
            <a:extLst xmlns:a="http://schemas.openxmlformats.org/drawingml/2006/main">
              <a:ext uri="{FF2B5EF4-FFF2-40B4-BE49-F238E27FC236}">
                <a16:creationId xmlns:a16="http://schemas.microsoft.com/office/drawing/2014/main" id="{8B9EC375-3E38-4C99-B641-63112C6AB62C}"/>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hlinkClick xmlns:r="http://schemas.openxmlformats.org/officeDocument/2006/relationships" r:id="R08b0325326da42fb"/>
              </a:rPr>
              <a:t>Open the original interactive lesson</a:t>
            </a:r>
          </a:p>
        </p:txBody>
      </p:sp>
      <p:sp>
        <p:nvSpPr>
          <p:cNvPr id="8" name="time">
            <a:extLst xmlns:a="http://schemas.openxmlformats.org/drawingml/2006/main">
              <a:ext uri="{FF2B5EF4-FFF2-40B4-BE49-F238E27FC236}">
                <a16:creationId xmlns:a16="http://schemas.microsoft.com/office/drawing/2014/main" id="{835B6998-69AD-44EF-9CBB-1C0A6737917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CB86BB65-1D5B-4367-BE6C-8B751DA61F3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24</a:t>
            </a:r>
          </a:p>
        </p:txBody>
      </p:sp>
    </p:spTree>
    <p:extLst>
      <p:ext uri="{BB962C8B-B14F-4D97-AF65-F5344CB8AC3E}">
        <p14:creationId xmlns:p14="http://schemas.microsoft.com/office/powerpoint/2010/main" val="217563385"/>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E68BE6BC-1D6A-404D-B269-9CD382114C8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DEDD263-2F70-4127-83A5-48C43641AAA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A7700A3B-C0C7-46F4-8B67-D2C38F8428C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98F9D87F-D02E-46D4-A1CC-D207FFCEFD7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Arrival · quiet retrieval</a:t>
            </a:r>
          </a:p>
        </p:txBody>
      </p:sp>
      <p:sp>
        <p:nvSpPr>
          <p:cNvPr id="5" name="paper panel">
            <a:extLst xmlns:a="http://schemas.openxmlformats.org/drawingml/2006/main">
              <a:ext uri="{FF2B5EF4-FFF2-40B4-BE49-F238E27FC236}">
                <a16:creationId xmlns:a16="http://schemas.microsoft.com/office/drawing/2014/main" id="{9F132186-A5EC-4ADE-A0FC-2EDDC37BB1F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5428345-9758-45E3-B6FC-D5FA2424959F}"/>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Retrieve the W14L1 question. Highlight the key concept, not the name of a person or any personal detail.</a:t>
            </a:r>
          </a:p>
        </p:txBody>
      </p:sp>
      <p:sp>
        <p:nvSpPr>
          <p:cNvPr id="7" name="content 1">
            <a:extLst xmlns:a="http://schemas.openxmlformats.org/drawingml/2006/main">
              <a:ext uri="{FF2B5EF4-FFF2-40B4-BE49-F238E27FC236}">
                <a16:creationId xmlns:a16="http://schemas.microsoft.com/office/drawing/2014/main" id="{D8D409B3-20A8-42E2-8712-F8428EE5DAE0}"/>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Question boundary Read the exact research question and point to the word that keeps it neutral and source-answerable.</a:t>
            </a:r>
          </a:p>
        </p:txBody>
      </p:sp>
      <p:sp>
        <p:nvSpPr>
          <p:cNvPr id="8" name="content 2">
            <a:extLst xmlns:a="http://schemas.openxmlformats.org/drawingml/2006/main">
              <a:ext uri="{FF2B5EF4-FFF2-40B4-BE49-F238E27FC236}">
                <a16:creationId xmlns:a16="http://schemas.microsoft.com/office/drawing/2014/main" id="{0E2BEACC-EA9F-4CBA-B9E3-BA75F8E1CDC2}"/>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Foundation core Recall gene, allele, inheritance, probability and variation. These terms organise the evidence; none gives a diagnosis.</a:t>
            </a:r>
          </a:p>
        </p:txBody>
      </p:sp>
      <p:sp>
        <p:nvSpPr>
          <p:cNvPr id="9" name="content 3">
            <a:extLst xmlns:a="http://schemas.openxmlformats.org/drawingml/2006/main">
              <a:ext uri="{FF2B5EF4-FFF2-40B4-BE49-F238E27FC236}">
                <a16:creationId xmlns:a16="http://schemas.microsoft.com/office/drawing/2014/main" id="{77B71E8B-7FDA-4ED0-B411-66D64E2434A5}"/>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Source fields Prepare publisher, date, purpose and local locator. A remembered fact without a source trail remains a claim to check.</a:t>
            </a:r>
          </a:p>
        </p:txBody>
      </p:sp>
      <p:sp>
        <p:nvSpPr>
          <p:cNvPr id="10" name="time">
            <a:extLst xmlns:a="http://schemas.openxmlformats.org/drawingml/2006/main">
              <a:ext uri="{FF2B5EF4-FFF2-40B4-BE49-F238E27FC236}">
                <a16:creationId xmlns:a16="http://schemas.microsoft.com/office/drawing/2014/main" id="{0BAF6BB8-6FA5-4E19-883B-EA6762CFA83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E8470AF0-93B1-4FE6-A2D5-1AB114D6B90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24</a:t>
            </a:r>
          </a:p>
        </p:txBody>
      </p:sp>
    </p:spTree>
    <p:extLst>
      <p:ext uri="{BB962C8B-B14F-4D97-AF65-F5344CB8AC3E}">
        <p14:creationId xmlns:p14="http://schemas.microsoft.com/office/powerpoint/2010/main" val="805647065"/>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D0FEAA32-A7A5-4966-80D3-3324D151212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733A4B5-F421-42D0-8839-2902DE61461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E710F5BC-9CA7-4BCF-8E95-AFB5C642753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9A059243-D068-42DF-93D1-EFE5F7A0F58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Arrival · quiet retrieval</a:t>
            </a:r>
          </a:p>
        </p:txBody>
      </p:sp>
      <p:sp>
        <p:nvSpPr>
          <p:cNvPr id="5" name="paper panel">
            <a:extLst xmlns:a="http://schemas.openxmlformats.org/drawingml/2006/main">
              <a:ext uri="{FF2B5EF4-FFF2-40B4-BE49-F238E27FC236}">
                <a16:creationId xmlns:a16="http://schemas.microsoft.com/office/drawing/2014/main" id="{63BCD48D-571F-4BC9-A032-19289481850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B9DA97B-B059-40B5-B874-3BAAC6FF8675}"/>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Privacy boundary Use only the teacher-approved condition and source set. No diagnosis, advice or personal disclosure.</a:t>
            </a:r>
          </a:p>
        </p:txBody>
      </p:sp>
      <p:sp>
        <p:nvSpPr>
          <p:cNvPr id="7" name="content 1">
            <a:extLst xmlns:a="http://schemas.openxmlformats.org/drawingml/2006/main">
              <a:ext uri="{FF2B5EF4-FFF2-40B4-BE49-F238E27FC236}">
                <a16:creationId xmlns:a16="http://schemas.microsoft.com/office/drawing/2014/main" id="{33293894-D172-4744-B5B2-8CAEF07DA005}"/>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566618F6-3C68-4C97-9EE6-10F963760742}"/>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two prepared source cards and a match/difference table; explain one bounded finding with a prompt frame.</a:t>
            </a:r>
          </a:p>
        </p:txBody>
      </p:sp>
      <p:sp>
        <p:nvSpPr>
          <p:cNvPr id="9" name="content 3">
            <a:extLst xmlns:a="http://schemas.openxmlformats.org/drawingml/2006/main">
              <a:ext uri="{FF2B5EF4-FFF2-40B4-BE49-F238E27FC236}">
                <a16:creationId xmlns:a16="http://schemas.microsoft.com/office/drawing/2014/main" id="{F58FC752-12A3-4359-BEFA-0B47DF213803}"/>
              </a:ext>
            </a:extLst>
          </p:cNvPr>
          <p:cNvSpPr>
            <a:spLocks xmlns:a="http://schemas.openxmlformats.org/drawingml/2006/main" noGrp="1"/>
          </p:cNvSpPr>
          <p:nvPr/>
        </p:nvSpPr>
        <p:spPr>
          <a:xfrm xmlns:a="http://schemas.openxmlformats.org/drawingml/2006/main">
            <a:off x="800100" y="4229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0" name="content 4">
            <a:extLst xmlns:a="http://schemas.openxmlformats.org/drawingml/2006/main">
              <a:ext uri="{FF2B5EF4-FFF2-40B4-BE49-F238E27FC236}">
                <a16:creationId xmlns:a16="http://schemas.microsoft.com/office/drawing/2014/main" id="{56E689AF-6FE1-4151-9E1D-ACE7FBDAAF2D}"/>
              </a:ext>
            </a:extLst>
          </p:cNvPr>
          <p:cNvSpPr>
            <a:spLocks xmlns:a="http://schemas.openxmlformats.org/drawingml/2006/main" noGrp="1"/>
          </p:cNvSpPr>
          <p:nvPr/>
        </p:nvSpPr>
        <p:spPr>
          <a:xfrm xmlns:a="http://schemas.openxmlformats.org/drawingml/2006/main">
            <a:off x="800100" y="4705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Triangulate two approved sources, paraphrase relevant evidence, record uncertainty and build a source trail.</a:t>
            </a:r>
          </a:p>
        </p:txBody>
      </p:sp>
      <p:sp>
        <p:nvSpPr>
          <p:cNvPr id="11" name="time">
            <a:extLst xmlns:a="http://schemas.openxmlformats.org/drawingml/2006/main">
              <a:ext uri="{FF2B5EF4-FFF2-40B4-BE49-F238E27FC236}">
                <a16:creationId xmlns:a16="http://schemas.microsoft.com/office/drawing/2014/main" id="{3E138729-5374-4B05-9723-E1400F91B17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2" name="number">
            <a:extLst xmlns:a="http://schemas.openxmlformats.org/drawingml/2006/main">
              <a:ext uri="{FF2B5EF4-FFF2-40B4-BE49-F238E27FC236}">
                <a16:creationId xmlns:a16="http://schemas.microsoft.com/office/drawing/2014/main" id="{C75F08C7-82F8-4ED7-B142-620E5AB1CF6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24</a:t>
            </a:r>
          </a:p>
        </p:txBody>
      </p:sp>
    </p:spTree>
    <p:extLst>
      <p:ext uri="{BB962C8B-B14F-4D97-AF65-F5344CB8AC3E}">
        <p14:creationId xmlns:p14="http://schemas.microsoft.com/office/powerpoint/2010/main" val="1736870582"/>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86F93369-DBEA-4F2B-9465-547FD142D52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A873B6E-2711-417F-9408-7E6E7B2151C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CC9BF553-17C6-46B0-9358-1DBF22CE829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1056DE8A-0364-468F-9D66-8D53DFD9862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0C9E6B74-2B37-4926-8663-B79869DBF5B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404D4E1-265F-47FA-A7A9-558E5026266A}"/>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Two sources can both be credible yet emphasise different evidence. Predict one reason: audience, purpose, date, evidence base or scope.</a:t>
            </a:r>
          </a:p>
        </p:txBody>
      </p:sp>
      <p:sp>
        <p:nvSpPr>
          <p:cNvPr id="7" name="content 1">
            <a:extLst xmlns:a="http://schemas.openxmlformats.org/drawingml/2006/main">
              <a:ext uri="{FF2B5EF4-FFF2-40B4-BE49-F238E27FC236}">
                <a16:creationId xmlns:a16="http://schemas.microsoft.com/office/drawing/2014/main" id="{C6789EC2-C542-4127-9189-1ABAD0C43F10}"/>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compare approved sources on author, date and purpose before you compare their claims.</a:t>
            </a:r>
          </a:p>
        </p:txBody>
      </p:sp>
      <p:sp>
        <p:nvSpPr>
          <p:cNvPr id="8" name="content 2">
            <a:extLst xmlns:a="http://schemas.openxmlformats.org/drawingml/2006/main">
              <a:ext uri="{FF2B5EF4-FFF2-40B4-BE49-F238E27FC236}">
                <a16:creationId xmlns:a16="http://schemas.microsoft.com/office/drawing/2014/main" id="{88678A9C-857A-4FC6-9A28-AABD4BD746BD}"/>
              </a:ext>
            </a:extLst>
          </p:cNvPr>
          <p:cNvSpPr>
            <a:spLocks xmlns:a="http://schemas.openxmlformats.org/drawingml/2006/main" noGrp="1"/>
          </p:cNvSpPr>
          <p:nvPr/>
        </p:nvSpPr>
        <p:spPr>
          <a:xfrm xmlns:a="http://schemas.openxmlformats.org/drawingml/2006/main">
            <a:off x="800100" y="37528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Comparison rule</a:t>
            </a:r>
          </a:p>
        </p:txBody>
      </p:sp>
      <p:sp>
        <p:nvSpPr>
          <p:cNvPr id="9" name="content 3">
            <a:extLst xmlns:a="http://schemas.openxmlformats.org/drawingml/2006/main">
              <a:ext uri="{FF2B5EF4-FFF2-40B4-BE49-F238E27FC236}">
                <a16:creationId xmlns:a16="http://schemas.microsoft.com/office/drawing/2014/main" id="{2490D545-AAD2-4C8C-B255-FF46154E2EF6}"/>
              </a:ext>
            </a:extLst>
          </p:cNvPr>
          <p:cNvSpPr>
            <a:spLocks xmlns:a="http://schemas.openxmlformats.org/drawingml/2006/main" noGrp="1"/>
          </p:cNvSpPr>
          <p:nvPr/>
        </p:nvSpPr>
        <p:spPr>
          <a:xfrm xmlns:a="http://schemas.openxmlformats.org/drawingml/2006/main">
            <a:off x="800100" y="42100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Agreement is not proved by shared vocabulary alone. Difference is not contradiction by default. Compare the exact idea, the evidence attached to it, the population or scope, and the strength of the wording.</a:t>
            </a:r>
          </a:p>
        </p:txBody>
      </p:sp>
      <p:sp>
        <p:nvSpPr>
          <p:cNvPr id="10" name="time">
            <a:extLst xmlns:a="http://schemas.openxmlformats.org/drawingml/2006/main">
              <a:ext uri="{FF2B5EF4-FFF2-40B4-BE49-F238E27FC236}">
                <a16:creationId xmlns:a16="http://schemas.microsoft.com/office/drawing/2014/main" id="{B703069B-992D-493C-8FF7-AC30A53B0B8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1" name="number">
            <a:extLst xmlns:a="http://schemas.openxmlformats.org/drawingml/2006/main">
              <a:ext uri="{FF2B5EF4-FFF2-40B4-BE49-F238E27FC236}">
                <a16:creationId xmlns:a16="http://schemas.microsoft.com/office/drawing/2014/main" id="{326B86AC-6D8E-4DCC-AB64-C11EFA7B923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24</a:t>
            </a:r>
          </a:p>
        </p:txBody>
      </p:sp>
    </p:spTree>
    <p:extLst>
      <p:ext uri="{BB962C8B-B14F-4D97-AF65-F5344CB8AC3E}">
        <p14:creationId xmlns:p14="http://schemas.microsoft.com/office/powerpoint/2010/main" val="1502899995"/>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31F68A28-20CD-4629-8774-2197A37F44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A275015-070E-4A53-AA43-4F5F453A321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B13DC96-B50D-41E9-B152-37EE2FF3F46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EEDF527F-2F62-4EC6-9345-93F1E01DC41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5CF3DBA9-E860-4E8F-BF02-3CA1F658123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3520538-54FB-4D6D-8266-14E3198CEDC8}"/>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Different intended audiences</a:t>
            </a:r>
          </a:p>
        </p:txBody>
      </p:sp>
      <p:sp>
        <p:nvSpPr>
          <p:cNvPr id="7" name="content 1">
            <a:extLst xmlns:a="http://schemas.openxmlformats.org/drawingml/2006/main">
              <a:ext uri="{FF2B5EF4-FFF2-40B4-BE49-F238E27FC236}">
                <a16:creationId xmlns:a16="http://schemas.microsoft.com/office/drawing/2014/main" id="{11B0CA4C-1F16-4D09-A8AB-E698D6912184}"/>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Different purpose or evidence base</a:t>
            </a:r>
          </a:p>
        </p:txBody>
      </p:sp>
      <p:sp>
        <p:nvSpPr>
          <p:cNvPr id="8" name="content 2">
            <a:extLst xmlns:a="http://schemas.openxmlformats.org/drawingml/2006/main">
              <a:ext uri="{FF2B5EF4-FFF2-40B4-BE49-F238E27FC236}">
                <a16:creationId xmlns:a16="http://schemas.microsoft.com/office/drawing/2014/main" id="{51B75666-92C8-4950-97CE-A01A0ECCE712}"/>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One page looks more polished</a:t>
            </a:r>
          </a:p>
        </p:txBody>
      </p:sp>
      <p:sp>
        <p:nvSpPr>
          <p:cNvPr id="9" name="time">
            <a:extLst xmlns:a="http://schemas.openxmlformats.org/drawingml/2006/main">
              <a:ext uri="{FF2B5EF4-FFF2-40B4-BE49-F238E27FC236}">
                <a16:creationId xmlns:a16="http://schemas.microsoft.com/office/drawing/2014/main" id="{340BE2BE-6B38-4694-91C9-1DDB9F4FD10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0" name="number">
            <a:extLst xmlns:a="http://schemas.openxmlformats.org/drawingml/2006/main">
              <a:ext uri="{FF2B5EF4-FFF2-40B4-BE49-F238E27FC236}">
                <a16:creationId xmlns:a16="http://schemas.microsoft.com/office/drawing/2014/main" id="{4D139A3A-8BC1-44DB-9EEB-073D2319CE4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24</a:t>
            </a:r>
          </a:p>
        </p:txBody>
      </p:sp>
    </p:spTree>
    <p:extLst>
      <p:ext uri="{BB962C8B-B14F-4D97-AF65-F5344CB8AC3E}">
        <p14:creationId xmlns:p14="http://schemas.microsoft.com/office/powerpoint/2010/main" val="191823978"/>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FC980D79-74F6-4275-A8C5-CF6F32D7AD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ADAF547-336F-4A04-82C0-B545F76462C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ADE998F-939C-49C2-8FA0-7F3EA9EB119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3B5FA74-A926-4CB3-BDA2-EE266069B5E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Starter · create the question</a:t>
            </a:r>
          </a:p>
        </p:txBody>
      </p:sp>
      <p:sp>
        <p:nvSpPr>
          <p:cNvPr id="5" name="paper panel">
            <a:extLst xmlns:a="http://schemas.openxmlformats.org/drawingml/2006/main">
              <a:ext uri="{FF2B5EF4-FFF2-40B4-BE49-F238E27FC236}">
                <a16:creationId xmlns:a16="http://schemas.microsoft.com/office/drawing/2014/main" id="{98A3F834-A539-4DEE-A045-7742F26BC40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25d6e156d374372"/>
          <a:stretch xmlns:a="http://schemas.openxmlformats.org/drawingml/2006/main"/>
        </p:blipFill>
        <p:spPr>
          <a:xfrm xmlns:a="http://schemas.openxmlformats.org/drawingml/2006/main">
            <a:off x="1990224" y="2181225"/>
            <a:ext cx="8211553"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4E5991AC-FAAD-4B8C-AF2D-01C09FD62C02}"/>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Four parts of a respectful research plan</a:t>
            </a:r>
          </a:p>
        </p:txBody>
      </p:sp>
      <p:sp>
        <p:nvSpPr>
          <p:cNvPr id="8" name="time">
            <a:extLst xmlns:a="http://schemas.openxmlformats.org/drawingml/2006/main">
              <a:ext uri="{FF2B5EF4-FFF2-40B4-BE49-F238E27FC236}">
                <a16:creationId xmlns:a16="http://schemas.microsoft.com/office/drawing/2014/main" id="{D7871459-B912-427B-8DE2-17808B8E666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2467F75E-4590-451D-857B-5456B982098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24</a:t>
            </a:r>
          </a:p>
        </p:txBody>
      </p:sp>
    </p:spTree>
    <p:extLst>
      <p:ext uri="{BB962C8B-B14F-4D97-AF65-F5344CB8AC3E}">
        <p14:creationId xmlns:p14="http://schemas.microsoft.com/office/powerpoint/2010/main" val="1598816794"/>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98064B58-5294-4F17-A6D9-DB9BA0E22E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C51FB44-F121-41C2-B0F3-9F0169BBC3D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723149F-AC53-49B8-B0D5-CBBC4F24F6A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F2CF5E24-FF44-4F06-A000-BAB131E6B3A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D1578929-49DC-4DE2-98D4-591DD144D44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97316EA-E4BA-4501-9F5E-A4E6A559CDB4}"/>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Source evidence sorter</a:t>
            </a:r>
          </a:p>
        </p:txBody>
      </p:sp>
      <p:sp>
        <p:nvSpPr>
          <p:cNvPr id="7" name="content 1">
            <a:extLst xmlns:a="http://schemas.openxmlformats.org/drawingml/2006/main">
              <a:ext uri="{FF2B5EF4-FFF2-40B4-BE49-F238E27FC236}">
                <a16:creationId xmlns:a16="http://schemas.microsoft.com/office/drawing/2014/main" id="{832DA783-2857-4C52-A9DE-7DFC6F8775B3}"/>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note you took, then what it is.</a:t>
            </a:r>
          </a:p>
        </p:txBody>
      </p:sp>
      <p:sp>
        <p:nvSpPr>
          <p:cNvPr id="8" name="time">
            <a:extLst xmlns:a="http://schemas.openxmlformats.org/drawingml/2006/main">
              <a:ext uri="{FF2B5EF4-FFF2-40B4-BE49-F238E27FC236}">
                <a16:creationId xmlns:a16="http://schemas.microsoft.com/office/drawing/2014/main" id="{0C1C0C45-8CC5-4D20-AABB-3427BC8280A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632EF53C-60A1-47F0-B556-B1551BD1F40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24</a:t>
            </a:r>
          </a:p>
        </p:txBody>
      </p:sp>
    </p:spTree>
    <p:extLst>
      <p:ext uri="{BB962C8B-B14F-4D97-AF65-F5344CB8AC3E}">
        <p14:creationId xmlns:p14="http://schemas.microsoft.com/office/powerpoint/2010/main" val="1388792589"/>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F5A4F2AA-8FF8-46C4-BD52-6EB8723D22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44AB7F6-ED43-427D-96E3-F0903603F7F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BABD36D-BB2C-47DB-890C-1E000748692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9323833C-ED90-4238-A73C-8417E9AFD11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D5C7F2CC-EC55-4AB6-B924-87CF6123CA9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D2D129F-44B6-4EFC-82DB-0BA277EB5795}"/>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Source A and Source B both describe the same inheritance pattern</a:t>
            </a:r>
          </a:p>
        </p:txBody>
      </p:sp>
      <p:sp>
        <p:nvSpPr>
          <p:cNvPr id="7" name="content 1">
            <a:extLst xmlns:a="http://schemas.openxmlformats.org/drawingml/2006/main">
              <a:ext uri="{FF2B5EF4-FFF2-40B4-BE49-F238E27FC236}">
                <a16:creationId xmlns:a16="http://schemas.microsoft.com/office/drawing/2014/main" id="{C38816CB-74E9-4CB2-9EFA-0CA6A64B94A1}"/>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Source A gives one frequency; Source B gives a different figure with a different date</a:t>
            </a:r>
          </a:p>
        </p:txBody>
      </p:sp>
      <p:sp>
        <p:nvSpPr>
          <p:cNvPr id="8" name="content 2">
            <a:extLst xmlns:a="http://schemas.openxmlformats.org/drawingml/2006/main">
              <a:ext uri="{FF2B5EF4-FFF2-40B4-BE49-F238E27FC236}">
                <a16:creationId xmlns:a16="http://schemas.microsoft.com/office/drawing/2014/main" id="{CD45A74C-9134-4717-8F77-D2FE21EEADF6}"/>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Neither source says how a proposed treatment performed in trials</a:t>
            </a:r>
          </a:p>
        </p:txBody>
      </p:sp>
      <p:sp>
        <p:nvSpPr>
          <p:cNvPr id="9" name="content 3">
            <a:extLst xmlns:a="http://schemas.openxmlformats.org/drawingml/2006/main">
              <a:ext uri="{FF2B5EF4-FFF2-40B4-BE49-F238E27FC236}">
                <a16:creationId xmlns:a16="http://schemas.microsoft.com/office/drawing/2014/main" id="{0B3126F6-3112-4394-A6CB-C2BD5FE1A12F}"/>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Both name the same gene</a:t>
            </a:r>
          </a:p>
        </p:txBody>
      </p:sp>
      <p:sp>
        <p:nvSpPr>
          <p:cNvPr id="10" name="content 4">
            <a:extLst xmlns:a="http://schemas.openxmlformats.org/drawingml/2006/main">
              <a:ext uri="{FF2B5EF4-FFF2-40B4-BE49-F238E27FC236}">
                <a16:creationId xmlns:a16="http://schemas.microsoft.com/office/drawing/2014/main" id="{8F4EB4E6-9C8E-4118-8A2D-DAFD75C77588}"/>
              </a:ext>
            </a:extLst>
          </p:cNvPr>
          <p:cNvSpPr>
            <a:spLocks xmlns:a="http://schemas.openxmlformats.org/drawingml/2006/main" noGrp="1"/>
          </p:cNvSpPr>
          <p:nvPr/>
        </p:nvSpPr>
        <p:spPr>
          <a:xfrm xmlns:a="http://schemas.openxmlformats.org/drawingml/2006/main">
            <a:off x="800100" y="43338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One source is a charity page, the other a textbook: different purposes</a:t>
            </a:r>
          </a:p>
        </p:txBody>
      </p:sp>
      <p:sp>
        <p:nvSpPr>
          <p:cNvPr id="11" name="content 5">
            <a:extLst xmlns:a="http://schemas.openxmlformats.org/drawingml/2006/main">
              <a:ext uri="{FF2B5EF4-FFF2-40B4-BE49-F238E27FC236}">
                <a16:creationId xmlns:a16="http://schemas.microsoft.com/office/drawing/2014/main" id="{DA039994-7A4D-457C-A317-EFAEB96DB685}"/>
              </a:ext>
            </a:extLst>
          </p:cNvPr>
          <p:cNvSpPr>
            <a:spLocks xmlns:a="http://schemas.openxmlformats.org/drawingml/2006/main" noGrp="1"/>
          </p:cNvSpPr>
          <p:nvPr/>
        </p:nvSpPr>
        <p:spPr>
          <a:xfrm xmlns:a="http://schemas.openxmlformats.org/drawingml/2006/main">
            <a:off x="800100" y="47910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A statistic has no date or population attached</a:t>
            </a:r>
          </a:p>
        </p:txBody>
      </p:sp>
      <p:sp>
        <p:nvSpPr>
          <p:cNvPr id="12" name="content 6">
            <a:extLst xmlns:a="http://schemas.openxmlformats.org/drawingml/2006/main">
              <a:ext uri="{FF2B5EF4-FFF2-40B4-BE49-F238E27FC236}">
                <a16:creationId xmlns:a16="http://schemas.microsoft.com/office/drawing/2014/main" id="{DC77E937-CA97-41AB-AFC3-5C9418B5C183}"/>
              </a:ext>
            </a:extLst>
          </p:cNvPr>
          <p:cNvSpPr>
            <a:spLocks xmlns:a="http://schemas.openxmlformats.org/drawingml/2006/main" noGrp="1"/>
          </p:cNvSpPr>
          <p:nvPr/>
        </p:nvSpPr>
        <p:spPr>
          <a:xfrm xmlns:a="http://schemas.openxmlformats.org/drawingml/2006/main">
            <a:off x="800100" y="5248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agreement</a:t>
            </a:r>
          </a:p>
        </p:txBody>
      </p:sp>
      <p:sp>
        <p:nvSpPr>
          <p:cNvPr id="13" name="time">
            <a:extLst xmlns:a="http://schemas.openxmlformats.org/drawingml/2006/main">
              <a:ext uri="{FF2B5EF4-FFF2-40B4-BE49-F238E27FC236}">
                <a16:creationId xmlns:a16="http://schemas.microsoft.com/office/drawing/2014/main" id="{5AA9F5FE-2DA0-4DF9-A1A4-C4826438E10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4" name="number">
            <a:extLst xmlns:a="http://schemas.openxmlformats.org/drawingml/2006/main">
              <a:ext uri="{FF2B5EF4-FFF2-40B4-BE49-F238E27FC236}">
                <a16:creationId xmlns:a16="http://schemas.microsoft.com/office/drawing/2014/main" id="{3C7D905E-3241-47EA-B48F-A2A61C98F5D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24</a:t>
            </a:r>
          </a:p>
        </p:txBody>
      </p:sp>
    </p:spTree>
    <p:extLst>
      <p:ext uri="{BB962C8B-B14F-4D97-AF65-F5344CB8AC3E}">
        <p14:creationId xmlns:p14="http://schemas.microsoft.com/office/powerpoint/2010/main" val="485257250"/>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D4F72A97-E194-489E-8870-F715D0ECBA6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6D70726-6000-4996-A234-EB949B119B2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3BB553A-4819-421B-B7F4-F4838CF7465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BDDDE52F-7300-4A14-9533-DC1FB0F4403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069D25EA-F610-44D6-9741-C643565DAEB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3FDDC5B-321D-469E-8A01-7B356DA24B9B}"/>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 ↔ difference — record both</a:t>
            </a:r>
          </a:p>
        </p:txBody>
      </p:sp>
      <p:sp>
        <p:nvSpPr>
          <p:cNvPr id="7" name="content 1">
            <a:extLst xmlns:a="http://schemas.openxmlformats.org/drawingml/2006/main">
              <a:ext uri="{FF2B5EF4-FFF2-40B4-BE49-F238E27FC236}">
                <a16:creationId xmlns:a16="http://schemas.microsoft.com/office/drawing/2014/main" id="{6C9B992D-3030-4756-97B2-410816EAF94D}"/>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 uncertainty — keep visible</a:t>
            </a:r>
          </a:p>
        </p:txBody>
      </p:sp>
      <p:sp>
        <p:nvSpPr>
          <p:cNvPr id="8" name="content 2">
            <a:extLst xmlns:a="http://schemas.openxmlformats.org/drawingml/2006/main">
              <a:ext uri="{FF2B5EF4-FFF2-40B4-BE49-F238E27FC236}">
                <a16:creationId xmlns:a16="http://schemas.microsoft.com/office/drawing/2014/main" id="{B41DCB98-470E-4128-9676-885416893A3C}"/>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Read for the research question; do not copy a whole paragraph.</a:t>
            </a:r>
          </a:p>
        </p:txBody>
      </p:sp>
      <p:sp>
        <p:nvSpPr>
          <p:cNvPr id="9" name="content 3">
            <a:extLst xmlns:a="http://schemas.openxmlformats.org/drawingml/2006/main">
              <a:ext uri="{FF2B5EF4-FFF2-40B4-BE49-F238E27FC236}">
                <a16:creationId xmlns:a16="http://schemas.microsoft.com/office/drawing/2014/main" id="{BC152C2B-FD70-49A6-B173-65ACF1BC5AD4}"/>
              </a:ext>
            </a:extLst>
          </p:cNvPr>
          <p:cNvSpPr>
            <a:spLocks xmlns:a="http://schemas.openxmlformats.org/drawingml/2006/main" noGrp="1"/>
          </p:cNvSpPr>
          <p:nvPr/>
        </p:nvSpPr>
        <p:spPr>
          <a:xfrm xmlns:a="http://schemas.openxmlformats.org/drawingml/2006/main">
            <a:off x="800100" y="3543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Record publisher/date and paraphrase one relevant idea beside its source locator.</a:t>
            </a:r>
          </a:p>
        </p:txBody>
      </p:sp>
      <p:sp>
        <p:nvSpPr>
          <p:cNvPr id="10" name="content 4">
            <a:extLst xmlns:a="http://schemas.openxmlformats.org/drawingml/2006/main">
              <a:ext uri="{FF2B5EF4-FFF2-40B4-BE49-F238E27FC236}">
                <a16:creationId xmlns:a16="http://schemas.microsoft.com/office/drawing/2014/main" id="{50F90E24-BB85-42A9-A383-22014FB722D5}"/>
              </a:ext>
            </a:extLst>
          </p:cNvPr>
          <p:cNvSpPr>
            <a:spLocks xmlns:a="http://schemas.openxmlformats.org/drawingml/2006/main" noGrp="1"/>
          </p:cNvSpPr>
          <p:nvPr/>
        </p:nvSpPr>
        <p:spPr>
          <a:xfrm xmlns:a="http://schemas.openxmlformats.org/drawingml/2006/main">
            <a:off x="800100" y="43338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with a second source: agreement, difference and uncertainty remain separate.</a:t>
            </a:r>
          </a:p>
        </p:txBody>
      </p:sp>
      <p:sp>
        <p:nvSpPr>
          <p:cNvPr id="11" name="time">
            <a:extLst xmlns:a="http://schemas.openxmlformats.org/drawingml/2006/main">
              <a:ext uri="{FF2B5EF4-FFF2-40B4-BE49-F238E27FC236}">
                <a16:creationId xmlns:a16="http://schemas.microsoft.com/office/drawing/2014/main" id="{D00271A3-24E1-47DB-818C-264B960D9B8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2" name="number">
            <a:extLst xmlns:a="http://schemas.openxmlformats.org/drawingml/2006/main">
              <a:ext uri="{FF2B5EF4-FFF2-40B4-BE49-F238E27FC236}">
                <a16:creationId xmlns:a16="http://schemas.microsoft.com/office/drawing/2014/main" id="{C6732291-677D-49C4-9A03-D5345F471B9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24</a:t>
            </a:r>
          </a:p>
        </p:txBody>
      </p:sp>
    </p:spTree>
    <p:extLst>
      <p:ext uri="{BB962C8B-B14F-4D97-AF65-F5344CB8AC3E}">
        <p14:creationId xmlns:p14="http://schemas.microsoft.com/office/powerpoint/2010/main" val="723190218"/>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A634292-AF06-410B-B4A9-5EFE15325B1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BEF513B-1AE6-4C6D-9CD1-61B4F62F36D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61ADCC44-3C8D-4236-AB74-D81073B6115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C2FDDDBD-3F4B-40D5-B1EB-F5F830C0F4F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decision trail</a:t>
            </a:r>
          </a:p>
        </p:txBody>
      </p:sp>
      <p:sp>
        <p:nvSpPr>
          <p:cNvPr id="5" name="paper panel">
            <a:extLst xmlns:a="http://schemas.openxmlformats.org/drawingml/2006/main">
              <a:ext uri="{FF2B5EF4-FFF2-40B4-BE49-F238E27FC236}">
                <a16:creationId xmlns:a16="http://schemas.microsoft.com/office/drawing/2014/main" id="{37161E52-EFE5-4276-A587-49FA053B0B2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0533D84-F463-48F2-9E79-4CDBDFC6820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Source A record Write who published it, its date or review date, intended purpose and the page/card/section locator.</a:t>
            </a:r>
          </a:p>
        </p:txBody>
      </p:sp>
      <p:sp>
        <p:nvSpPr>
          <p:cNvPr id="7" name="content 1">
            <a:extLst xmlns:a="http://schemas.openxmlformats.org/drawingml/2006/main">
              <a:ext uri="{FF2B5EF4-FFF2-40B4-BE49-F238E27FC236}">
                <a16:creationId xmlns:a16="http://schemas.microsoft.com/office/drawing/2014/main" id="{7B3D70E4-A6DE-4DF3-8536-42F9E312159A}"/>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Relevant idea Paraphrase only the idea that answers the question. Keep scientific terms visible and place the locator on the same row.</a:t>
            </a:r>
          </a:p>
        </p:txBody>
      </p:sp>
      <p:sp>
        <p:nvSpPr>
          <p:cNvPr id="8" name="content 2">
            <a:extLst xmlns:a="http://schemas.openxmlformats.org/drawingml/2006/main">
              <a:ext uri="{FF2B5EF4-FFF2-40B4-BE49-F238E27FC236}">
                <a16:creationId xmlns:a16="http://schemas.microsoft.com/office/drawing/2014/main" id="{D3FF3C70-AF05-48FE-96A2-1B4A66AC3D8A}"/>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Source B record Repeat the process independently before comparing. Do not edit B so it appears to agree with A.</a:t>
            </a:r>
          </a:p>
        </p:txBody>
      </p:sp>
      <p:sp>
        <p:nvSpPr>
          <p:cNvPr id="9" name="content 3">
            <a:extLst xmlns:a="http://schemas.openxmlformats.org/drawingml/2006/main">
              <a:ext uri="{FF2B5EF4-FFF2-40B4-BE49-F238E27FC236}">
                <a16:creationId xmlns:a16="http://schemas.microsoft.com/office/drawing/2014/main" id="{88450068-C6E3-4803-9B40-4098E1991EE0}"/>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Comparison sentence Use “Both explain …; A emphasises …; B adds/limits …; neither source establishes …”</a:t>
            </a:r>
          </a:p>
        </p:txBody>
      </p:sp>
      <p:sp>
        <p:nvSpPr>
          <p:cNvPr id="10" name="time">
            <a:extLst xmlns:a="http://schemas.openxmlformats.org/drawingml/2006/main">
              <a:ext uri="{FF2B5EF4-FFF2-40B4-BE49-F238E27FC236}">
                <a16:creationId xmlns:a16="http://schemas.microsoft.com/office/drawing/2014/main" id="{58EF975D-5B71-4568-9DEE-17FF937B5AE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1" name="number">
            <a:extLst xmlns:a="http://schemas.openxmlformats.org/drawingml/2006/main">
              <a:ext uri="{FF2B5EF4-FFF2-40B4-BE49-F238E27FC236}">
                <a16:creationId xmlns:a16="http://schemas.microsoft.com/office/drawing/2014/main" id="{FAFE30AB-28F4-45F5-BAAA-C598DD268A8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24</a:t>
            </a:r>
          </a:p>
        </p:txBody>
      </p:sp>
    </p:spTree>
    <p:extLst>
      <p:ext uri="{BB962C8B-B14F-4D97-AF65-F5344CB8AC3E}">
        <p14:creationId xmlns:p14="http://schemas.microsoft.com/office/powerpoint/2010/main" val="358116933"/>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BCED98FC-0752-42FC-B8F7-E1D1C6D76DA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2950C02-5AA2-439A-9B8B-06E9D9D8940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B622B85F-4F53-430A-A98F-FC8E879D591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04FA0AC6-53FC-4E04-AC35-8A295D6D51F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then justify</a:t>
            </a:r>
          </a:p>
        </p:txBody>
      </p:sp>
      <p:sp>
        <p:nvSpPr>
          <p:cNvPr id="5" name="paper panel">
            <a:extLst xmlns:a="http://schemas.openxmlformats.org/drawingml/2006/main">
              <a:ext uri="{FF2B5EF4-FFF2-40B4-BE49-F238E27FC236}">
                <a16:creationId xmlns:a16="http://schemas.microsoft.com/office/drawing/2014/main" id="{47990628-EB3C-4F55-A019-D46AA54877B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E30C8A6-A9B7-4DA4-B520-2BEDBA772B4A}"/>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Classify each note, then decide how the classification changes the wording of the final claim.</a:t>
            </a:r>
          </a:p>
        </p:txBody>
      </p:sp>
      <p:sp>
        <p:nvSpPr>
          <p:cNvPr id="7" name="content 1">
            <a:extLst xmlns:a="http://schemas.openxmlformats.org/drawingml/2006/main">
              <a:ext uri="{FF2B5EF4-FFF2-40B4-BE49-F238E27FC236}">
                <a16:creationId xmlns:a16="http://schemas.microsoft.com/office/drawing/2014/main" id="{B83420A6-CC3D-4B5E-998B-EFE7E454F088}"/>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Established evidence Both approved sources explain the same relevant biology and provide a traceable basis for the bounded statement.</a:t>
            </a:r>
          </a:p>
        </p:txBody>
      </p:sp>
      <p:sp>
        <p:nvSpPr>
          <p:cNvPr id="8" name="content 2">
            <a:extLst xmlns:a="http://schemas.openxmlformats.org/drawingml/2006/main">
              <a:ext uri="{FF2B5EF4-FFF2-40B4-BE49-F238E27FC236}">
                <a16:creationId xmlns:a16="http://schemas.microsoft.com/office/drawing/2014/main" id="{EC44BBCC-8A90-4E22-954C-F03D27799450}"/>
              </a:ext>
            </a:extLst>
          </p:cNvPr>
          <p:cNvSpPr>
            <a:spLocks xmlns:a="http://schemas.openxmlformats.org/drawingml/2006/main" noGrp="1"/>
          </p:cNvSpPr>
          <p:nvPr/>
        </p:nvSpPr>
        <p:spPr>
          <a:xfrm xmlns:a="http://schemas.openxmlformats.org/drawingml/2006/main">
            <a:off x="800100" y="37528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Different emphasis One source may foreground inheritance while another foregrounds variation or lived experience. Record both without forcing sameness.</a:t>
            </a:r>
          </a:p>
        </p:txBody>
      </p:sp>
      <p:sp>
        <p:nvSpPr>
          <p:cNvPr id="9" name="content 3">
            <a:extLst xmlns:a="http://schemas.openxmlformats.org/drawingml/2006/main">
              <a:ext uri="{FF2B5EF4-FFF2-40B4-BE49-F238E27FC236}">
                <a16:creationId xmlns:a16="http://schemas.microsoft.com/office/drawing/2014/main" id="{CC63D805-A4F7-4B19-BD1E-D121A0D71B00}"/>
              </a:ext>
            </a:extLst>
          </p:cNvPr>
          <p:cNvSpPr>
            <a:spLocks xmlns:a="http://schemas.openxmlformats.org/drawingml/2006/main" noGrp="1"/>
          </p:cNvSpPr>
          <p:nvPr/>
        </p:nvSpPr>
        <p:spPr>
          <a:xfrm xmlns:a="http://schemas.openxmlformats.org/drawingml/2006/main">
            <a:off x="800100" y="48768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Different certainty Words such as may, can, often and is associated with carry different strength from always, proves or will.</a:t>
            </a:r>
          </a:p>
        </p:txBody>
      </p:sp>
      <p:sp>
        <p:nvSpPr>
          <p:cNvPr id="10" name="time">
            <a:extLst xmlns:a="http://schemas.openxmlformats.org/drawingml/2006/main">
              <a:ext uri="{FF2B5EF4-FFF2-40B4-BE49-F238E27FC236}">
                <a16:creationId xmlns:a16="http://schemas.microsoft.com/office/drawing/2014/main" id="{D4ECF4E4-D7CB-4ADF-B24E-1EFB630B396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11" name="number">
            <a:extLst xmlns:a="http://schemas.openxmlformats.org/drawingml/2006/main">
              <a:ext uri="{FF2B5EF4-FFF2-40B4-BE49-F238E27FC236}">
                <a16:creationId xmlns:a16="http://schemas.microsoft.com/office/drawing/2014/main" id="{1F5AF7DE-69B2-4FF5-9FEF-7F5FA39FCFB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24</a:t>
            </a:r>
          </a:p>
        </p:txBody>
      </p:sp>
    </p:spTree>
    <p:extLst>
      <p:ext uri="{BB962C8B-B14F-4D97-AF65-F5344CB8AC3E}">
        <p14:creationId xmlns:p14="http://schemas.microsoft.com/office/powerpoint/2010/main" val="542707259"/>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89AB9C4B-0B79-43F8-9E61-9E94032A6F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2A3005D-988E-4A52-A0E7-A1C2E7F8E19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E9A90F9-A614-4C0B-A9D6-67A04CB0FB5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0CBD3BED-F7AC-4BCE-9F28-4C01402C02D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then justify</a:t>
            </a:r>
          </a:p>
        </p:txBody>
      </p:sp>
      <p:sp>
        <p:nvSpPr>
          <p:cNvPr id="5" name="paper panel">
            <a:extLst xmlns:a="http://schemas.openxmlformats.org/drawingml/2006/main">
              <a:ext uri="{FF2B5EF4-FFF2-40B4-BE49-F238E27FC236}">
                <a16:creationId xmlns:a16="http://schemas.microsoft.com/office/drawing/2014/main" id="{1917DDBA-3E15-4AEE-9B36-636085554FB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6EDF462-E47D-4520-9C2F-1E67A49BA0FE}"/>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Missing perspective A source set may omit detail, a population, a current review or lived-experience variation. Missing is a limit, not permission to invent.</a:t>
            </a:r>
          </a:p>
        </p:txBody>
      </p:sp>
      <p:sp>
        <p:nvSpPr>
          <p:cNvPr id="7" name="time">
            <a:extLst xmlns:a="http://schemas.openxmlformats.org/drawingml/2006/main">
              <a:ext uri="{FF2B5EF4-FFF2-40B4-BE49-F238E27FC236}">
                <a16:creationId xmlns:a16="http://schemas.microsoft.com/office/drawing/2014/main" id="{3D891A01-7855-4BDC-88E5-503CF866103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8" name="number">
            <a:extLst xmlns:a="http://schemas.openxmlformats.org/drawingml/2006/main">
              <a:ext uri="{FF2B5EF4-FFF2-40B4-BE49-F238E27FC236}">
                <a16:creationId xmlns:a16="http://schemas.microsoft.com/office/drawing/2014/main" id="{39FD060B-2828-4621-AF04-43AAF72498C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24</a:t>
            </a:r>
          </a:p>
        </p:txBody>
      </p:sp>
    </p:spTree>
    <p:extLst>
      <p:ext uri="{BB962C8B-B14F-4D97-AF65-F5344CB8AC3E}">
        <p14:creationId xmlns:p14="http://schemas.microsoft.com/office/powerpoint/2010/main" val="1940430220"/>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598217F0-0CD2-41EF-88AC-4075C77A2F7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3AB5548-4E32-4164-996A-7868C9FE244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0206B4BB-FCCE-42BE-87D4-9E9A5A0749D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53A577CC-C86E-435A-9D75-3FA61203527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52B97F08-B1AE-4304-BF90-A5E722C874F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B7A498E-81FA-4911-B16F-7CB213912A9A}"/>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Paraphrase accurately and keep the source locator.</a:t>
            </a:r>
          </a:p>
        </p:txBody>
      </p:sp>
      <p:sp>
        <p:nvSpPr>
          <p:cNvPr id="7" name="content 1">
            <a:extLst xmlns:a="http://schemas.openxmlformats.org/drawingml/2006/main">
              <a:ext uri="{FF2B5EF4-FFF2-40B4-BE49-F238E27FC236}">
                <a16:creationId xmlns:a16="http://schemas.microsoft.com/office/drawing/2014/main" id="{159A06C9-84A5-4763-B1D4-64D8D35AE655}"/>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“may”, “can” or a probability statement where evidence is not deterministic.</a:t>
            </a:r>
          </a:p>
        </p:txBody>
      </p:sp>
      <p:sp>
        <p:nvSpPr>
          <p:cNvPr id="8" name="content 2">
            <a:extLst xmlns:a="http://schemas.openxmlformats.org/drawingml/2006/main">
              <a:ext uri="{FF2B5EF4-FFF2-40B4-BE49-F238E27FC236}">
                <a16:creationId xmlns:a16="http://schemas.microsoft.com/office/drawing/2014/main" id="{41D5F4EE-44F7-409F-BFA2-C11E7A7F9C55}"/>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Do not turn a population pattern into a prediction, label or instruction for an individual.</a:t>
            </a:r>
          </a:p>
        </p:txBody>
      </p:sp>
      <p:sp>
        <p:nvSpPr>
          <p:cNvPr id="9" name="content 3">
            <a:extLst xmlns:a="http://schemas.openxmlformats.org/drawingml/2006/main">
              <a:ext uri="{FF2B5EF4-FFF2-40B4-BE49-F238E27FC236}">
                <a16:creationId xmlns:a16="http://schemas.microsoft.com/office/drawing/2014/main" id="{06B1B74A-505F-4A46-9166-DC914415667C}"/>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Claim A statement the presentation may make when it is supported by the two-source record.</a:t>
            </a:r>
          </a:p>
        </p:txBody>
      </p:sp>
      <p:sp>
        <p:nvSpPr>
          <p:cNvPr id="10" name="content 4">
            <a:extLst xmlns:a="http://schemas.openxmlformats.org/drawingml/2006/main">
              <a:ext uri="{FF2B5EF4-FFF2-40B4-BE49-F238E27FC236}">
                <a16:creationId xmlns:a16="http://schemas.microsoft.com/office/drawing/2014/main" id="{879A430D-3A1B-4353-A60B-2CC0FD5B50FE}"/>
              </a:ext>
            </a:extLst>
          </p:cNvPr>
          <p:cNvSpPr>
            <a:spLocks xmlns:a="http://schemas.openxmlformats.org/drawingml/2006/main" noGrp="1"/>
          </p:cNvSpPr>
          <p:nvPr/>
        </p:nvSpPr>
        <p:spPr>
          <a:xfrm xmlns:a="http://schemas.openxmlformats.org/drawingml/2006/main">
            <a:off x="800100" y="5000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The approved, locatable information used to support or challenge that statement.</a:t>
            </a:r>
          </a:p>
        </p:txBody>
      </p:sp>
      <p:sp>
        <p:nvSpPr>
          <p:cNvPr id="11" name="time">
            <a:extLst xmlns:a="http://schemas.openxmlformats.org/drawingml/2006/main">
              <a:ext uri="{FF2B5EF4-FFF2-40B4-BE49-F238E27FC236}">
                <a16:creationId xmlns:a16="http://schemas.microsoft.com/office/drawing/2014/main" id="{CFB5BE1B-E10D-4D93-BACB-62117CF7483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2" name="number">
            <a:extLst xmlns:a="http://schemas.openxmlformats.org/drawingml/2006/main">
              <a:ext uri="{FF2B5EF4-FFF2-40B4-BE49-F238E27FC236}">
                <a16:creationId xmlns:a16="http://schemas.microsoft.com/office/drawing/2014/main" id="{7EC3EFAD-E2B5-4FE3-82F0-FA1241157FD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24</a:t>
            </a:r>
          </a:p>
        </p:txBody>
      </p:sp>
    </p:spTree>
    <p:extLst>
      <p:ext uri="{BB962C8B-B14F-4D97-AF65-F5344CB8AC3E}">
        <p14:creationId xmlns:p14="http://schemas.microsoft.com/office/powerpoint/2010/main" val="2117076314"/>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7893DA9D-FEC4-4578-BF7E-38429CE815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7EAF77F-75D6-49B6-86A8-C1FEA2CBE89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EFFE438-033F-4110-8078-96F9A334C36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2F6B8B61-0B77-440F-8564-4F0590A419A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Accuracy includes limits</a:t>
            </a:r>
          </a:p>
        </p:txBody>
      </p:sp>
      <p:sp>
        <p:nvSpPr>
          <p:cNvPr id="5" name="paper panel">
            <a:extLst xmlns:a="http://schemas.openxmlformats.org/drawingml/2006/main">
              <a:ext uri="{FF2B5EF4-FFF2-40B4-BE49-F238E27FC236}">
                <a16:creationId xmlns:a16="http://schemas.microsoft.com/office/drawing/2014/main" id="{6953FD57-43BB-4FEA-B037-D269ABAFF5B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877CF6E-5088-4CCA-8774-A0300DA68BBB}"/>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Reasoning The explanation of how the evidence answers the bounded inheritance question.</a:t>
            </a:r>
          </a:p>
        </p:txBody>
      </p:sp>
      <p:sp>
        <p:nvSpPr>
          <p:cNvPr id="7" name="content 1">
            <a:extLst xmlns:a="http://schemas.openxmlformats.org/drawingml/2006/main">
              <a:ext uri="{FF2B5EF4-FFF2-40B4-BE49-F238E27FC236}">
                <a16:creationId xmlns:a16="http://schemas.microsoft.com/office/drawing/2014/main" id="{784BF36E-0776-4A3A-957F-D06662ADD686}"/>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Limit What the sources do not show, cannot generalise or cannot decide for one person.</a:t>
            </a:r>
          </a:p>
        </p:txBody>
      </p:sp>
      <p:sp>
        <p:nvSpPr>
          <p:cNvPr id="8" name="time">
            <a:extLst xmlns:a="http://schemas.openxmlformats.org/drawingml/2006/main">
              <a:ext uri="{FF2B5EF4-FFF2-40B4-BE49-F238E27FC236}">
                <a16:creationId xmlns:a16="http://schemas.microsoft.com/office/drawing/2014/main" id="{14FF6B23-A879-4CDC-8DC5-CDE8FDFC12D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9" name="number">
            <a:extLst xmlns:a="http://schemas.openxmlformats.org/drawingml/2006/main">
              <a:ext uri="{FF2B5EF4-FFF2-40B4-BE49-F238E27FC236}">
                <a16:creationId xmlns:a16="http://schemas.microsoft.com/office/drawing/2014/main" id="{1985E749-1612-42C0-87C3-07E45894B3B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24</a:t>
            </a:r>
          </a:p>
        </p:txBody>
      </p:sp>
    </p:spTree>
    <p:extLst>
      <p:ext uri="{BB962C8B-B14F-4D97-AF65-F5344CB8AC3E}">
        <p14:creationId xmlns:p14="http://schemas.microsoft.com/office/powerpoint/2010/main" val="1107273624"/>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70B3C93B-DE3B-4E70-B454-56E24EFF0D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FEE550A-E47F-4184-B298-C48A219FAED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4E7D782-5A9A-48CF-B51D-51CC1FDCB5C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8522BEE5-0755-48A3-9BD2-626FC8DD144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19D27B01-C29F-49CC-B55F-0FB56FF0C5D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5A99400-039C-4889-AE21-129BA51061A1}"/>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1 · Locate</a:t>
            </a:r>
          </a:p>
        </p:txBody>
      </p:sp>
      <p:sp>
        <p:nvSpPr>
          <p:cNvPr id="7" name="content 1">
            <a:extLst xmlns:a="http://schemas.openxmlformats.org/drawingml/2006/main">
              <a:ext uri="{FF2B5EF4-FFF2-40B4-BE49-F238E27FC236}">
                <a16:creationId xmlns:a16="http://schemas.microsoft.com/office/drawing/2014/main" id="{CC764F8B-7959-4646-AEBB-E2FD7EBEB8D8}"/>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Place each paraphrased idea beside publisher, date, purpose and local locator.</a:t>
            </a:r>
          </a:p>
        </p:txBody>
      </p:sp>
      <p:sp>
        <p:nvSpPr>
          <p:cNvPr id="8" name="content 2">
            <a:extLst xmlns:a="http://schemas.openxmlformats.org/drawingml/2006/main">
              <a:ext uri="{FF2B5EF4-FFF2-40B4-BE49-F238E27FC236}">
                <a16:creationId xmlns:a16="http://schemas.microsoft.com/office/drawing/2014/main" id="{45FA41A7-6165-489F-9B6C-CE230A4F34CD}"/>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2 · Connect</a:t>
            </a:r>
          </a:p>
        </p:txBody>
      </p:sp>
      <p:sp>
        <p:nvSpPr>
          <p:cNvPr id="9" name="content 3">
            <a:extLst xmlns:a="http://schemas.openxmlformats.org/drawingml/2006/main">
              <a:ext uri="{FF2B5EF4-FFF2-40B4-BE49-F238E27FC236}">
                <a16:creationId xmlns:a16="http://schemas.microsoft.com/office/drawing/2014/main" id="{2D03B39B-AE59-478F-A857-2A95835EA455}"/>
              </a:ext>
            </a:extLst>
          </p:cNvPr>
          <p:cNvSpPr>
            <a:spLocks xmlns:a="http://schemas.openxmlformats.org/drawingml/2006/main" noGrp="1"/>
          </p:cNvSpPr>
          <p:nvPr/>
        </p:nvSpPr>
        <p:spPr>
          <a:xfrm xmlns:a="http://schemas.openxmlformats.org/drawingml/2006/main">
            <a:off x="800100" y="3543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Draw a line from each idea to the exact part of the research question it supports.</a:t>
            </a:r>
          </a:p>
        </p:txBody>
      </p:sp>
      <p:sp>
        <p:nvSpPr>
          <p:cNvPr id="10" name="content 4">
            <a:extLst xmlns:a="http://schemas.openxmlformats.org/drawingml/2006/main">
              <a:ext uri="{FF2B5EF4-FFF2-40B4-BE49-F238E27FC236}">
                <a16:creationId xmlns:a16="http://schemas.microsoft.com/office/drawing/2014/main" id="{0876691B-9298-4FC7-BDBA-7CC0D0AF5886}"/>
              </a:ext>
            </a:extLst>
          </p:cNvPr>
          <p:cNvSpPr>
            <a:spLocks xmlns:a="http://schemas.openxmlformats.org/drawingml/2006/main" noGrp="1"/>
          </p:cNvSpPr>
          <p:nvPr/>
        </p:nvSpPr>
        <p:spPr>
          <a:xfrm xmlns:a="http://schemas.openxmlformats.org/drawingml/2006/main">
            <a:off x="800100" y="43338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3 · Limit</a:t>
            </a:r>
          </a:p>
        </p:txBody>
      </p:sp>
      <p:sp>
        <p:nvSpPr>
          <p:cNvPr id="11" name="content 5">
            <a:extLst xmlns:a="http://schemas.openxmlformats.org/drawingml/2006/main">
              <a:ext uri="{FF2B5EF4-FFF2-40B4-BE49-F238E27FC236}">
                <a16:creationId xmlns:a16="http://schemas.microsoft.com/office/drawing/2014/main" id="{1DAE5128-AB8F-4423-9E1D-E5380628BC63}"/>
              </a:ext>
            </a:extLst>
          </p:cNvPr>
          <p:cNvSpPr>
            <a:spLocks xmlns:a="http://schemas.openxmlformats.org/drawingml/2006/main" noGrp="1"/>
          </p:cNvSpPr>
          <p:nvPr/>
        </p:nvSpPr>
        <p:spPr>
          <a:xfrm xmlns:a="http://schemas.openxmlformats.org/drawingml/2006/main">
            <a:off x="800100" y="47910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Record agreement, difference and one unresolved uncertainty in separate fields.</a:t>
            </a:r>
          </a:p>
        </p:txBody>
      </p:sp>
      <p:sp>
        <p:nvSpPr>
          <p:cNvPr id="12" name="time">
            <a:extLst xmlns:a="http://schemas.openxmlformats.org/drawingml/2006/main">
              <a:ext uri="{FF2B5EF4-FFF2-40B4-BE49-F238E27FC236}">
                <a16:creationId xmlns:a16="http://schemas.microsoft.com/office/drawing/2014/main" id="{6656A0C3-095B-404C-877D-A7CD6290F36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3" name="number">
            <a:extLst xmlns:a="http://schemas.openxmlformats.org/drawingml/2006/main">
              <a:ext uri="{FF2B5EF4-FFF2-40B4-BE49-F238E27FC236}">
                <a16:creationId xmlns:a16="http://schemas.microsoft.com/office/drawing/2014/main" id="{957F4C0F-8C31-48C5-8138-D6EF1920B59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24</a:t>
            </a:r>
          </a:p>
        </p:txBody>
      </p:sp>
    </p:spTree>
    <p:extLst>
      <p:ext uri="{BB962C8B-B14F-4D97-AF65-F5344CB8AC3E}">
        <p14:creationId xmlns:p14="http://schemas.microsoft.com/office/powerpoint/2010/main" val="138273391"/>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02B50441-C53E-4F4C-8C3C-4F2691AE806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4DA0D53-C146-4635-A19F-DDE1E749E6D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3934F72-6E77-447B-9F9B-C0543A78419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1C8007DF-4829-4540-9B03-D7E5D50B703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3EBFCB31-E938-4A58-A61A-E4B2F5E0E18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A1C85E0-0B4A-489C-837E-8396188FCE0B}"/>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meaning Do the sources describe the same inherited process, or do similar words hide a difference in scope?</a:t>
            </a:r>
          </a:p>
        </p:txBody>
      </p:sp>
      <p:sp>
        <p:nvSpPr>
          <p:cNvPr id="7" name="content 1">
            <a:extLst xmlns:a="http://schemas.openxmlformats.org/drawingml/2006/main">
              <a:ext uri="{FF2B5EF4-FFF2-40B4-BE49-F238E27FC236}">
                <a16:creationId xmlns:a16="http://schemas.microsoft.com/office/drawing/2014/main" id="{3AB95727-B773-4801-9483-CF3E3AAFA66B}"/>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evidence Does each source name the evidence type or provide a route to it? A source can be useful while still being a summary.</a:t>
            </a:r>
          </a:p>
        </p:txBody>
      </p:sp>
      <p:sp>
        <p:nvSpPr>
          <p:cNvPr id="8" name="content 2">
            <a:extLst xmlns:a="http://schemas.openxmlformats.org/drawingml/2006/main">
              <a:ext uri="{FF2B5EF4-FFF2-40B4-BE49-F238E27FC236}">
                <a16:creationId xmlns:a16="http://schemas.microsoft.com/office/drawing/2014/main" id="{BD4A975B-A021-43C7-9B17-9571C3904916}"/>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purpose Public information, teaching material and technical reporting serve different audiences and may need different caution.</a:t>
            </a:r>
          </a:p>
        </p:txBody>
      </p:sp>
      <p:sp>
        <p:nvSpPr>
          <p:cNvPr id="9" name="content 3">
            <a:extLst xmlns:a="http://schemas.openxmlformats.org/drawingml/2006/main">
              <a:ext uri="{FF2B5EF4-FFF2-40B4-BE49-F238E27FC236}">
                <a16:creationId xmlns:a16="http://schemas.microsoft.com/office/drawing/2014/main" id="{D621A339-553C-49B1-9D4B-A44872F91161}"/>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uncertainty Which source states limits clearly? If neither does, record the missing limit rather than writing certainty into the gap.</a:t>
            </a:r>
          </a:p>
        </p:txBody>
      </p:sp>
      <p:sp>
        <p:nvSpPr>
          <p:cNvPr id="10" name="time">
            <a:extLst xmlns:a="http://schemas.openxmlformats.org/drawingml/2006/main">
              <a:ext uri="{FF2B5EF4-FFF2-40B4-BE49-F238E27FC236}">
                <a16:creationId xmlns:a16="http://schemas.microsoft.com/office/drawing/2014/main" id="{F949F26A-C5EB-43F5-BBB7-4C5B2F8C11F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1" name="number">
            <a:extLst xmlns:a="http://schemas.openxmlformats.org/drawingml/2006/main">
              <a:ext uri="{FF2B5EF4-FFF2-40B4-BE49-F238E27FC236}">
                <a16:creationId xmlns:a16="http://schemas.microsoft.com/office/drawing/2014/main" id="{08EBC564-22AD-4D90-805C-F860EAD5B82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24</a:t>
            </a:r>
          </a:p>
        </p:txBody>
      </p:sp>
    </p:spTree>
    <p:extLst>
      <p:ext uri="{BB962C8B-B14F-4D97-AF65-F5344CB8AC3E}">
        <p14:creationId xmlns:p14="http://schemas.microsoft.com/office/powerpoint/2010/main" val="83615386"/>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4168D345-A8FF-444D-8D4D-5BC678BDE2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8CAC506-10FB-4E59-9777-BDADEA15378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9B2BF4C-2A79-40EE-9063-BA060D12261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47F00302-D996-4745-87A7-FFB0DC2E45E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route together</a:t>
            </a:r>
          </a:p>
        </p:txBody>
      </p:sp>
      <p:sp>
        <p:nvSpPr>
          <p:cNvPr id="5" name="paper panel">
            <a:extLst xmlns:a="http://schemas.openxmlformats.org/drawingml/2006/main">
              <a:ext uri="{FF2B5EF4-FFF2-40B4-BE49-F238E27FC236}">
                <a16:creationId xmlns:a16="http://schemas.microsoft.com/office/drawing/2014/main" id="{6F05DD6C-0F0F-4523-8847-F584A031E60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A7AC661-2703-409A-8D89-CF4F7E001E5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Teacher-approved local source cards plus current-main W12–W13 LAUNCH Science lessons; no new external URL or runtime request.</a:t>
            </a:r>
          </a:p>
        </p:txBody>
      </p:sp>
      <p:sp>
        <p:nvSpPr>
          <p:cNvPr id="7" name="content 1">
            <a:extLst xmlns:a="http://schemas.openxmlformats.org/drawingml/2006/main">
              <a:ext uri="{FF2B5EF4-FFF2-40B4-BE49-F238E27FC236}">
                <a16:creationId xmlns:a16="http://schemas.microsoft.com/office/drawing/2014/main" id="{1B790221-05FC-4CF0-829A-BE54B7D88BD8}"/>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Build one shared matrix row, then check it aloud: source identity, own-word note, agreement/difference, question link and limit must all remain findable.</a:t>
            </a:r>
          </a:p>
        </p:txBody>
      </p:sp>
      <p:sp>
        <p:nvSpPr>
          <p:cNvPr id="8" name="time">
            <a:extLst xmlns:a="http://schemas.openxmlformats.org/drawingml/2006/main">
              <a:ext uri="{FF2B5EF4-FFF2-40B4-BE49-F238E27FC236}">
                <a16:creationId xmlns:a16="http://schemas.microsoft.com/office/drawing/2014/main" id="{6661128B-5300-458B-8750-559887F6086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9" name="number">
            <a:extLst xmlns:a="http://schemas.openxmlformats.org/drawingml/2006/main">
              <a:ext uri="{FF2B5EF4-FFF2-40B4-BE49-F238E27FC236}">
                <a16:creationId xmlns:a16="http://schemas.microsoft.com/office/drawing/2014/main" id="{3F9A3198-264E-47BE-9F8C-959674232BA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24</a:t>
            </a:r>
          </a:p>
        </p:txBody>
      </p:sp>
    </p:spTree>
    <p:extLst>
      <p:ext uri="{BB962C8B-B14F-4D97-AF65-F5344CB8AC3E}">
        <p14:creationId xmlns:p14="http://schemas.microsoft.com/office/powerpoint/2010/main" val="847496316"/>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D46FB22D-C58D-467C-89DA-EC9B110F14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7DB9A2E-40B5-4ED2-9BD2-5F456159C5B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79D08B35-D3A4-4C95-A79C-012E670E2C5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835DE812-FC20-4F93-9CD2-E1429E0AFC3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5962744F-6FCF-4B63-BCAB-2D36B7BCA61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12F54B0-121E-409E-935C-C291ACD8EFD3}"/>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Complete a two-source evidence matrix for the teacher-approved condition. Record source identity, relevant evidence, agreement, difference, uncertainty and a respectful-language check. Write one bounded paragraph in your own words with both source locators.</a:t>
            </a:r>
          </a:p>
        </p:txBody>
      </p:sp>
      <p:sp>
        <p:nvSpPr>
          <p:cNvPr id="7" name="content 1">
            <a:extLst xmlns:a="http://schemas.openxmlformats.org/drawingml/2006/main">
              <a:ext uri="{FF2B5EF4-FFF2-40B4-BE49-F238E27FC236}">
                <a16:creationId xmlns:a16="http://schemas.microsoft.com/office/drawing/2014/main" id="{B2DD6DA6-9EED-4CB4-985F-57B95D79EB19}"/>
              </a:ext>
            </a:extLst>
          </p:cNvPr>
          <p:cNvSpPr>
            <a:spLocks xmlns:a="http://schemas.openxmlformats.org/drawingml/2006/main" noGrp="1"/>
          </p:cNvSpPr>
          <p:nvPr/>
        </p:nvSpPr>
        <p:spPr>
          <a:xfrm xmlns:a="http://schemas.openxmlformats.org/drawingml/2006/main">
            <a:off x="800100" y="3629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 Source A Record publisher, date, purpose, locator and one paraphrased idea that answers the question.</a:t>
            </a:r>
          </a:p>
        </p:txBody>
      </p:sp>
      <p:sp>
        <p:nvSpPr>
          <p:cNvPr id="8" name="content 2">
            <a:extLst xmlns:a="http://schemas.openxmlformats.org/drawingml/2006/main">
              <a:ext uri="{FF2B5EF4-FFF2-40B4-BE49-F238E27FC236}">
                <a16:creationId xmlns:a16="http://schemas.microsoft.com/office/drawing/2014/main" id="{CE2FC6E4-930B-408C-9BAA-CD5ED1B1BA53}"/>
              </a:ext>
            </a:extLst>
          </p:cNvPr>
          <p:cNvSpPr>
            <a:spLocks xmlns:a="http://schemas.openxmlformats.org/drawingml/2006/main" noGrp="1"/>
          </p:cNvSpPr>
          <p:nvPr/>
        </p:nvSpPr>
        <p:spPr>
          <a:xfrm xmlns:a="http://schemas.openxmlformats.org/drawingml/2006/main">
            <a:off x="800100" y="44196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 Source B Record the same fields independently. Keep a blank or NOT FOUND YET status if a field is absent.</a:t>
            </a:r>
          </a:p>
        </p:txBody>
      </p:sp>
      <p:sp>
        <p:nvSpPr>
          <p:cNvPr id="9" name="time">
            <a:extLst xmlns:a="http://schemas.openxmlformats.org/drawingml/2006/main">
              <a:ext uri="{FF2B5EF4-FFF2-40B4-BE49-F238E27FC236}">
                <a16:creationId xmlns:a16="http://schemas.microsoft.com/office/drawing/2014/main" id="{8CDAF8A7-D6A5-40B0-9DA9-BA7F1DF0E69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7674FC39-186B-4F89-AC15-56E454C3302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24</a:t>
            </a:r>
          </a:p>
        </p:txBody>
      </p:sp>
    </p:spTree>
    <p:extLst>
      <p:ext uri="{BB962C8B-B14F-4D97-AF65-F5344CB8AC3E}">
        <p14:creationId xmlns:p14="http://schemas.microsoft.com/office/powerpoint/2010/main" val="1663241641"/>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2E58698A-3ED0-44E0-BDEE-CCEDCF81D5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B8FBC44-7A91-4DFD-9AF1-9B717A77695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F10BDFC0-9E93-4DD9-9773-B214EC2B53D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43575B71-C043-492A-9763-3660275273F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870B4836-1930-4788-ABEE-C04CEF3949F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94D0540-E0F8-4D7C-8898-4F7B56FA5326}"/>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 Compare Write one agreement and one difference in evidence, emphasis, scope or certainty. Explain why the difference matters or does not matter.</a:t>
            </a:r>
          </a:p>
        </p:txBody>
      </p:sp>
      <p:sp>
        <p:nvSpPr>
          <p:cNvPr id="7" name="content 1">
            <a:extLst xmlns:a="http://schemas.openxmlformats.org/drawingml/2006/main">
              <a:ext uri="{FF2B5EF4-FFF2-40B4-BE49-F238E27FC236}">
                <a16:creationId xmlns:a16="http://schemas.microsoft.com/office/drawing/2014/main" id="{BD2A70B8-C002-4CAF-9105-2060769E9902}"/>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 Bound Write one paragraph using both locators, a probability/variation term and a sentence stating what cannot be predicted for an individual.</a:t>
            </a:r>
          </a:p>
        </p:txBody>
      </p:sp>
      <p:sp>
        <p:nvSpPr>
          <p:cNvPr id="8" name="content 2">
            <a:extLst xmlns:a="http://schemas.openxmlformats.org/drawingml/2006/main">
              <a:ext uri="{FF2B5EF4-FFF2-40B4-BE49-F238E27FC236}">
                <a16:creationId xmlns:a16="http://schemas.microsoft.com/office/drawing/2014/main" id="{67B7F89C-4077-444C-A834-EDA1C66C1260}"/>
              </a:ext>
            </a:extLst>
          </p:cNvPr>
          <p:cNvSpPr>
            <a:spLocks xmlns:a="http://schemas.openxmlformats.org/drawingml/2006/main" noGrp="1"/>
          </p:cNvSpPr>
          <p:nvPr/>
        </p:nvSpPr>
        <p:spPr>
          <a:xfrm xmlns:a="http://schemas.openxmlformats.org/drawingml/2006/main">
            <a:off x="800100" y="375285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Relevance pass For every note, point back to the bounded question and name the exact part it helps answer. A true statement can still be irrelevant. Park interesting detail outside the matrix instead of using it to make the presentation look fuller.</a:t>
            </a:r>
          </a:p>
        </p:txBody>
      </p:sp>
      <p:sp>
        <p:nvSpPr>
          <p:cNvPr id="9" name="time">
            <a:extLst xmlns:a="http://schemas.openxmlformats.org/drawingml/2006/main">
              <a:ext uri="{FF2B5EF4-FFF2-40B4-BE49-F238E27FC236}">
                <a16:creationId xmlns:a16="http://schemas.microsoft.com/office/drawing/2014/main" id="{8FE6DE6F-AB86-402F-B786-DCD79E76BD2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4AA80AE2-6237-4651-BBE5-0B180068E03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24</a:t>
            </a:r>
          </a:p>
        </p:txBody>
      </p:sp>
    </p:spTree>
    <p:extLst>
      <p:ext uri="{BB962C8B-B14F-4D97-AF65-F5344CB8AC3E}">
        <p14:creationId xmlns:p14="http://schemas.microsoft.com/office/powerpoint/2010/main" val="521467293"/>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D988CDB6-DD3B-4852-B17C-E99A4B58FF7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EEE5C4F-B630-40F1-B8E3-650DA912D68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A9D9DDB-B485-4F62-A87F-09486AAE06A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20AC29EA-98DD-41F9-AE80-FA56F2F0C4B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73EC95CB-10C5-48EF-A34C-E87B551C4FA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D1D97D1-C270-4BB5-B12D-E3DE92124AD8}"/>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Paraphrase pass Close the prepared extract before drafting the note. Explain the idea in your own words, reopen the extract, check that meaning and uncertainty remain accurate, then attach the local locator. Quotation marks are used only for exact, teacher-approved wording.</a:t>
            </a:r>
          </a:p>
        </p:txBody>
      </p:sp>
      <p:sp>
        <p:nvSpPr>
          <p:cNvPr id="7" name="content 1">
            <a:extLst xmlns:a="http://schemas.openxmlformats.org/drawingml/2006/main">
              <a:ext uri="{FF2B5EF4-FFF2-40B4-BE49-F238E27FC236}">
                <a16:creationId xmlns:a16="http://schemas.microsoft.com/office/drawing/2014/main" id="{10C5B804-945E-476A-A9F6-35650573E9E9}"/>
              </a:ext>
            </a:extLst>
          </p:cNvPr>
          <p:cNvSpPr>
            <a:spLocks xmlns:a="http://schemas.openxmlformats.org/drawingml/2006/main" noGrp="1"/>
          </p:cNvSpPr>
          <p:nvPr/>
        </p:nvSpPr>
        <p:spPr>
          <a:xfrm xmlns:a="http://schemas.openxmlformats.org/drawingml/2006/main">
            <a:off x="800100" y="3629025"/>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Comparison pass Agreement is more than two sources using the same topic word. Identify the scientific idea they both support. A difference may concern audience, purpose, evidence type, emphasis, date, scope or certainty; describe it without claiming that difference automatically means error.</a:t>
            </a:r>
          </a:p>
        </p:txBody>
      </p:sp>
      <p:sp>
        <p:nvSpPr>
          <p:cNvPr id="8" name="time">
            <a:extLst xmlns:a="http://schemas.openxmlformats.org/drawingml/2006/main">
              <a:ext uri="{FF2B5EF4-FFF2-40B4-BE49-F238E27FC236}">
                <a16:creationId xmlns:a16="http://schemas.microsoft.com/office/drawing/2014/main" id="{47EB3C0B-002F-4724-87AA-29745132F88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9" name="number">
            <a:extLst xmlns:a="http://schemas.openxmlformats.org/drawingml/2006/main">
              <a:ext uri="{FF2B5EF4-FFF2-40B4-BE49-F238E27FC236}">
                <a16:creationId xmlns:a16="http://schemas.microsoft.com/office/drawing/2014/main" id="{E05BF07F-3403-492F-83C5-41B476BA446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24</a:t>
            </a:r>
          </a:p>
        </p:txBody>
      </p:sp>
    </p:spTree>
    <p:extLst>
      <p:ext uri="{BB962C8B-B14F-4D97-AF65-F5344CB8AC3E}">
        <p14:creationId xmlns:p14="http://schemas.microsoft.com/office/powerpoint/2010/main" val="815786648"/>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AE023BF8-2960-4EE7-914E-4595E1EC14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8866FE6-DD73-4B80-8C94-02847805F49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A031326-6F4E-41E8-B9EF-F2270A5ACE0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AEBF0274-14DB-4409-BE8E-34960EBC27B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F5D29331-4A1F-4E11-A437-74C0A724C5C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3F80329-EEB7-4D53-962D-6EB38D5DC190}"/>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Limit pass Read the bounded paragraph as though it described one real person. Replace certainty, diagnosis or advice with an evidence-led statement about inherited biology, probability, variation and what the source set cannot decide. Keep the gap visible rather than guessing.</a:t>
            </a:r>
          </a:p>
        </p:txBody>
      </p:sp>
      <p:sp>
        <p:nvSpPr>
          <p:cNvPr id="7" name="content 1">
            <a:extLst xmlns:a="http://schemas.openxmlformats.org/drawingml/2006/main">
              <a:ext uri="{FF2B5EF4-FFF2-40B4-BE49-F238E27FC236}">
                <a16:creationId xmlns:a16="http://schemas.microsoft.com/office/drawing/2014/main" id="{06AA70AF-A45D-46A7-9DC5-B5F381406BF7}"/>
              </a:ext>
            </a:extLst>
          </p:cNvPr>
          <p:cNvSpPr>
            <a:spLocks xmlns:a="http://schemas.openxmlformats.org/drawingml/2006/main" noGrp="1"/>
          </p:cNvSpPr>
          <p:nvPr/>
        </p:nvSpPr>
        <p:spPr>
          <a:xfrm xmlns:a="http://schemas.openxmlformats.org/drawingml/2006/main">
            <a:off x="800100" y="36290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5F3E41AF-F9B7-4E0F-98FC-28D770E9D0BB}"/>
              </a:ext>
            </a:extLst>
          </p:cNvPr>
          <p:cNvSpPr>
            <a:spLocks xmlns:a="http://schemas.openxmlformats.org/drawingml/2006/main" noGrp="1"/>
          </p:cNvSpPr>
          <p:nvPr/>
        </p:nvSpPr>
        <p:spPr>
          <a:xfrm xmlns:a="http://schemas.openxmlformats.org/drawingml/2006/main">
            <a:off x="800100" y="4105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two prepared source cards and a match/difference table; explain one bounded finding with a prompt frame.</a:t>
            </a:r>
          </a:p>
        </p:txBody>
      </p:sp>
      <p:sp>
        <p:nvSpPr>
          <p:cNvPr id="9" name="content 3">
            <a:extLst xmlns:a="http://schemas.openxmlformats.org/drawingml/2006/main">
              <a:ext uri="{FF2B5EF4-FFF2-40B4-BE49-F238E27FC236}">
                <a16:creationId xmlns:a16="http://schemas.microsoft.com/office/drawing/2014/main" id="{E4D4166A-3FAF-49D0-ACC9-6E139FEF2BFD}"/>
              </a:ext>
            </a:extLst>
          </p:cNvPr>
          <p:cNvSpPr>
            <a:spLocks xmlns:a="http://schemas.openxmlformats.org/drawingml/2006/main" noGrp="1"/>
          </p:cNvSpPr>
          <p:nvPr/>
        </p:nvSpPr>
        <p:spPr>
          <a:xfrm xmlns:a="http://schemas.openxmlformats.org/drawingml/2006/main">
            <a:off x="800100" y="4895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0" name="time">
            <a:extLst xmlns:a="http://schemas.openxmlformats.org/drawingml/2006/main">
              <a:ext uri="{FF2B5EF4-FFF2-40B4-BE49-F238E27FC236}">
                <a16:creationId xmlns:a16="http://schemas.microsoft.com/office/drawing/2014/main" id="{77BABCE7-779C-4576-9F18-AEEFE24D974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B7623BE9-9470-4A92-A15E-23C60BA7368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24</a:t>
            </a:r>
          </a:p>
        </p:txBody>
      </p:sp>
    </p:spTree>
    <p:extLst>
      <p:ext uri="{BB962C8B-B14F-4D97-AF65-F5344CB8AC3E}">
        <p14:creationId xmlns:p14="http://schemas.microsoft.com/office/powerpoint/2010/main" val="1259118280"/>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8DB752D4-E97F-48CA-BA24-3E4328164D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FEB3AAF-B8F7-4AF5-9ED5-E8639C7CD64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4E8C7C32-EA86-468C-BD53-30B733FF2DC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13A78C6-7932-48D5-99D6-3E6329FA61D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Make the evidence trail usable</a:t>
            </a:r>
          </a:p>
        </p:txBody>
      </p:sp>
      <p:sp>
        <p:nvSpPr>
          <p:cNvPr id="5" name="paper panel">
            <a:extLst xmlns:a="http://schemas.openxmlformats.org/drawingml/2006/main">
              <a:ext uri="{FF2B5EF4-FFF2-40B4-BE49-F238E27FC236}">
                <a16:creationId xmlns:a16="http://schemas.microsoft.com/office/drawing/2014/main" id="{E4DAFFE4-2A35-4D00-A019-7559C71D27E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44366F2-7382-4AAA-B4B6-DBA9A828B628}"/>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Triangulate two approved sources, paraphrase relevant evidence, record uncertainty and build a source trail.</a:t>
            </a:r>
          </a:p>
        </p:txBody>
      </p:sp>
      <p:sp>
        <p:nvSpPr>
          <p:cNvPr id="7" name="content 1">
            <a:extLst xmlns:a="http://schemas.openxmlformats.org/drawingml/2006/main">
              <a:ext uri="{FF2B5EF4-FFF2-40B4-BE49-F238E27FC236}">
                <a16:creationId xmlns:a16="http://schemas.microsoft.com/office/drawing/2014/main" id="{5FD8CEEA-8986-45BA-91FC-1093CAA0ED3F}"/>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8" name="content 2">
            <a:extLst xmlns:a="http://schemas.openxmlformats.org/drawingml/2006/main">
              <a:ext uri="{FF2B5EF4-FFF2-40B4-BE49-F238E27FC236}">
                <a16:creationId xmlns:a16="http://schemas.microsoft.com/office/drawing/2014/main" id="{E0B08B04-E3A9-48A7-8194-B9ABCF2A872D}"/>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Evaluate source purpose, evidence type and missing perspective; qualify a claim and identify what additional evidence would be needed.</a:t>
            </a:r>
          </a:p>
        </p:txBody>
      </p:sp>
      <p:sp>
        <p:nvSpPr>
          <p:cNvPr id="9" name="time">
            <a:extLst xmlns:a="http://schemas.openxmlformats.org/drawingml/2006/main">
              <a:ext uri="{FF2B5EF4-FFF2-40B4-BE49-F238E27FC236}">
                <a16:creationId xmlns:a16="http://schemas.microsoft.com/office/drawing/2014/main" id="{3D4F3D16-147B-4F3A-98C6-929079F2829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A86653C8-7C48-4664-B01C-66F5041AD41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22 / 24</a:t>
            </a:r>
          </a:p>
        </p:txBody>
      </p:sp>
    </p:spTree>
    <p:extLst>
      <p:ext uri="{BB962C8B-B14F-4D97-AF65-F5344CB8AC3E}">
        <p14:creationId xmlns:p14="http://schemas.microsoft.com/office/powerpoint/2010/main" val="1855144489"/>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FA471D4D-17DC-4DFA-90F4-0AB16923443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8428839-FBB4-4B3D-9551-42E263E23DC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A1702E7C-B0AD-4549-B26F-F1F7710DD05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95732608-A070-4785-A430-11B34FF8D65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2576C7CB-261F-4D34-BAE8-538416BA191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E16C84F-3ED7-4470-8208-DDE4D7BC41B6}"/>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Read or show the bounded paragraph privately and name the word or phrase that prevents overclaiming.</a:t>
            </a:r>
          </a:p>
        </p:txBody>
      </p:sp>
      <p:sp>
        <p:nvSpPr>
          <p:cNvPr id="7" name="content 1">
            <a:extLst xmlns:a="http://schemas.openxmlformats.org/drawingml/2006/main">
              <a:ext uri="{FF2B5EF4-FFF2-40B4-BE49-F238E27FC236}">
                <a16:creationId xmlns:a16="http://schemas.microsoft.com/office/drawing/2014/main" id="{2BFD997A-0136-4447-B4A3-E9818B2CF855}"/>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Agreement Point to the sentence supported by both approved sources and name both locators.</a:t>
            </a:r>
          </a:p>
        </p:txBody>
      </p:sp>
      <p:sp>
        <p:nvSpPr>
          <p:cNvPr id="8" name="content 2">
            <a:extLst xmlns:a="http://schemas.openxmlformats.org/drawingml/2006/main">
              <a:ext uri="{FF2B5EF4-FFF2-40B4-BE49-F238E27FC236}">
                <a16:creationId xmlns:a16="http://schemas.microsoft.com/office/drawing/2014/main" id="{A2A78FDB-472A-4C13-A69E-B62E9ACEB8CB}"/>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Difference State one difference in purpose, scope, evidence or certainty without calling it a contradiction automatically.</a:t>
            </a:r>
          </a:p>
        </p:txBody>
      </p:sp>
      <p:sp>
        <p:nvSpPr>
          <p:cNvPr id="9" name="content 3">
            <a:extLst xmlns:a="http://schemas.openxmlformats.org/drawingml/2006/main">
              <a:ext uri="{FF2B5EF4-FFF2-40B4-BE49-F238E27FC236}">
                <a16:creationId xmlns:a16="http://schemas.microsoft.com/office/drawing/2014/main" id="{27AAB8AE-148B-4335-AE15-E704A35C9539}"/>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Limit Read the phrase that prevents a population pattern from becoming an individual prediction or diagnosis.</a:t>
            </a:r>
          </a:p>
        </p:txBody>
      </p:sp>
      <p:sp>
        <p:nvSpPr>
          <p:cNvPr id="10" name="time">
            <a:extLst xmlns:a="http://schemas.openxmlformats.org/drawingml/2006/main">
              <a:ext uri="{FF2B5EF4-FFF2-40B4-BE49-F238E27FC236}">
                <a16:creationId xmlns:a16="http://schemas.microsoft.com/office/drawing/2014/main" id="{CE471FC6-B188-4494-8B9C-C19768F77BF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11" name="number">
            <a:extLst xmlns:a="http://schemas.openxmlformats.org/drawingml/2006/main">
              <a:ext uri="{FF2B5EF4-FFF2-40B4-BE49-F238E27FC236}">
                <a16:creationId xmlns:a16="http://schemas.microsoft.com/office/drawing/2014/main" id="{3BA2C2B8-98CD-49D1-97B1-975E0CC27D5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23 / 24</a:t>
            </a:r>
          </a:p>
        </p:txBody>
      </p:sp>
    </p:spTree>
    <p:extLst>
      <p:ext uri="{BB962C8B-B14F-4D97-AF65-F5344CB8AC3E}">
        <p14:creationId xmlns:p14="http://schemas.microsoft.com/office/powerpoint/2010/main" val="1657238875"/>
      </p:ext>
    </p:extLst>
  </p:cSld>
</p:sld>
</file>

<file path=ppt/slides/slide2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46F830BF-9ABD-41F4-B65E-15EF78B0F2B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8D8CBB3-EE87-420B-ABBD-EA4F184C5EA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E5430A1-9704-4318-9FA5-9209478E7D8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605B77CD-DA7A-4D83-AF7C-DFDF3918471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One evidence link, one limit, one next step</a:t>
            </a:r>
          </a:p>
        </p:txBody>
      </p:sp>
      <p:sp>
        <p:nvSpPr>
          <p:cNvPr id="5" name="paper panel">
            <a:extLst xmlns:a="http://schemas.openxmlformats.org/drawingml/2006/main">
              <a:ext uri="{FF2B5EF4-FFF2-40B4-BE49-F238E27FC236}">
                <a16:creationId xmlns:a16="http://schemas.microsoft.com/office/drawing/2014/main" id="{FB56046F-2B99-4E34-876F-87B78188BB0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223CF28-159A-49FD-8050-00A3DAC1933A}"/>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Next action Name the matrix row or source credit that W14L3 must carry into the presentation.</a:t>
            </a:r>
          </a:p>
        </p:txBody>
      </p:sp>
      <p:sp>
        <p:nvSpPr>
          <p:cNvPr id="7" name="time">
            <a:extLst xmlns:a="http://schemas.openxmlformats.org/drawingml/2006/main">
              <a:ext uri="{FF2B5EF4-FFF2-40B4-BE49-F238E27FC236}">
                <a16:creationId xmlns:a16="http://schemas.microsoft.com/office/drawing/2014/main" id="{85E1B4FA-6BD3-4BDC-B837-6F36C6DD93A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8" name="number">
            <a:extLst xmlns:a="http://schemas.openxmlformats.org/drawingml/2006/main">
              <a:ext uri="{FF2B5EF4-FFF2-40B4-BE49-F238E27FC236}">
                <a16:creationId xmlns:a16="http://schemas.microsoft.com/office/drawing/2014/main" id="{5BDB12F5-275D-4C46-BED3-15D773D336F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24 / 24</a:t>
            </a:r>
          </a:p>
        </p:txBody>
      </p:sp>
    </p:spTree>
    <p:extLst>
      <p:ext uri="{BB962C8B-B14F-4D97-AF65-F5344CB8AC3E}">
        <p14:creationId xmlns:p14="http://schemas.microsoft.com/office/powerpoint/2010/main" val="16147380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2026-09-08T09:10:20.1220000Z</dcterms:created>
  <dcterms:modified xsi:type="dcterms:W3CDTF">2026-09-08T09:10:20.1220000Z</dcterms:modified>
</coreProperties>
</file>