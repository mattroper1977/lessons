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9c0ca82f24489d" /><Relationship Type="http://schemas.openxmlformats.org/officeDocument/2006/relationships/extended-properties" Target="/docProps/app.xml" Id="R2d02b8d0cc8d4616" /><Relationship Type="http://schemas.openxmlformats.org/officeDocument/2006/relationships/officeDocument" Target="/ppt/presentation.xml" Id="Rac2df00eb88341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82b033d64247b5"/>
  </p:sldMasterIdLst>
  <p:notesMasterIdLst>
    <p:notesMasterId xmlns:r="http://schemas.openxmlformats.org/officeDocument/2006/relationships" r:id="R91183b9033ea401b"/>
  </p:notesMasterIdLst>
  <p:sldIdLst>
    <p:sldId xmlns:r="http://schemas.openxmlformats.org/officeDocument/2006/relationships" id="256" r:id="Rc5e5441af3f24e13"/>
    <p:sldId xmlns:r="http://schemas.openxmlformats.org/officeDocument/2006/relationships" id="257" r:id="R30246b0a645c4543"/>
    <p:sldId xmlns:r="http://schemas.openxmlformats.org/officeDocument/2006/relationships" id="258" r:id="R8a14d61a479b4d2a"/>
    <p:sldId xmlns:r="http://schemas.openxmlformats.org/officeDocument/2006/relationships" id="259" r:id="R0ccfa67355054985"/>
    <p:sldId xmlns:r="http://schemas.openxmlformats.org/officeDocument/2006/relationships" id="260" r:id="R78eb3f32d1164121"/>
    <p:sldId xmlns:r="http://schemas.openxmlformats.org/officeDocument/2006/relationships" id="261" r:id="R6d1aa9c3eab44122"/>
    <p:sldId xmlns:r="http://schemas.openxmlformats.org/officeDocument/2006/relationships" id="262" r:id="Rbc46c464a31c4cdb"/>
    <p:sldId xmlns:r="http://schemas.openxmlformats.org/officeDocument/2006/relationships" id="263" r:id="R77a313ca9f764a2a"/>
    <p:sldId xmlns:r="http://schemas.openxmlformats.org/officeDocument/2006/relationships" id="264" r:id="R5c3699f9a7104006"/>
    <p:sldId xmlns:r="http://schemas.openxmlformats.org/officeDocument/2006/relationships" id="265" r:id="R88bef7c747cb4e40"/>
    <p:sldId xmlns:r="http://schemas.openxmlformats.org/officeDocument/2006/relationships" id="266" r:id="R92a44b2d3b92440e"/>
    <p:sldId xmlns:r="http://schemas.openxmlformats.org/officeDocument/2006/relationships" id="267" r:id="Reedbf0b3b1f74026"/>
    <p:sldId xmlns:r="http://schemas.openxmlformats.org/officeDocument/2006/relationships" id="268" r:id="Rcee374d3dc6745bb"/>
    <p:sldId xmlns:r="http://schemas.openxmlformats.org/officeDocument/2006/relationships" id="269" r:id="Rc3dfcbd894ca427a"/>
    <p:sldId xmlns:r="http://schemas.openxmlformats.org/officeDocument/2006/relationships" id="270" r:id="R695d4374fc5c4b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6b24dc1b854a2f" /><Relationship Type="http://schemas.openxmlformats.org/officeDocument/2006/relationships/slideMaster" Target="/ppt/slideMasters/slideMaster1.xml" Id="R1e82b033d64247b5" /><Relationship Type="http://schemas.openxmlformats.org/officeDocument/2006/relationships/notesMaster" Target="/ppt/notesMasters/notesMaster1.xml" Id="R91183b9033ea401b" /><Relationship Type="http://schemas.openxmlformats.org/officeDocument/2006/relationships/presProps" Target="/ppt/presProps.xml" Id="R30fd75905ce3448e" /><Relationship Type="http://schemas.openxmlformats.org/officeDocument/2006/relationships/tableStyles" Target="/ppt/tableStyles.xml" Id="Re4f32c35b6354f3b" /><Relationship Type="http://schemas.openxmlformats.org/officeDocument/2006/relationships/slide" Target="/ppt/slides/slide1.xml" Id="Rc5e5441af3f24e13" /><Relationship Type="http://schemas.openxmlformats.org/officeDocument/2006/relationships/slide" Target="/ppt/slides/slide2.xml" Id="R30246b0a645c4543" /><Relationship Type="http://schemas.openxmlformats.org/officeDocument/2006/relationships/slide" Target="/ppt/slides/slide3.xml" Id="R8a14d61a479b4d2a" /><Relationship Type="http://schemas.openxmlformats.org/officeDocument/2006/relationships/slide" Target="/ppt/slides/slide4.xml" Id="R0ccfa67355054985" /><Relationship Type="http://schemas.openxmlformats.org/officeDocument/2006/relationships/slide" Target="/ppt/slides/slide5.xml" Id="R78eb3f32d1164121" /><Relationship Type="http://schemas.openxmlformats.org/officeDocument/2006/relationships/slide" Target="/ppt/slides/slide6.xml" Id="R6d1aa9c3eab44122" /><Relationship Type="http://schemas.openxmlformats.org/officeDocument/2006/relationships/slide" Target="/ppt/slides/slide7.xml" Id="Rbc46c464a31c4cdb" /><Relationship Type="http://schemas.openxmlformats.org/officeDocument/2006/relationships/slide" Target="/ppt/slides/slide8.xml" Id="R77a313ca9f764a2a" /><Relationship Type="http://schemas.openxmlformats.org/officeDocument/2006/relationships/slide" Target="/ppt/slides/slide9.xml" Id="R5c3699f9a7104006" /><Relationship Type="http://schemas.openxmlformats.org/officeDocument/2006/relationships/slide" Target="/ppt/slides/slide10.xml" Id="R88bef7c747cb4e40" /><Relationship Type="http://schemas.openxmlformats.org/officeDocument/2006/relationships/slide" Target="/ppt/slides/slide11.xml" Id="R92a44b2d3b92440e" /><Relationship Type="http://schemas.openxmlformats.org/officeDocument/2006/relationships/slide" Target="/ppt/slides/slide12.xml" Id="Reedbf0b3b1f74026" /><Relationship Type="http://schemas.openxmlformats.org/officeDocument/2006/relationships/slide" Target="/ppt/slides/slide13.xml" Id="Rcee374d3dc6745bb" /><Relationship Type="http://schemas.openxmlformats.org/officeDocument/2006/relationships/slide" Target="/ppt/slides/slide14.xml" Id="Rc3dfcbd894ca427a" /><Relationship Type="http://schemas.openxmlformats.org/officeDocument/2006/relationships/slide" Target="/ppt/slides/slide15.xml" Id="R695d4374fc5c4b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1ee4518efd41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f50e854980499a" /><Relationship Type="http://schemas.openxmlformats.org/officeDocument/2006/relationships/notesMaster" Target="/ppt/notesMasters/notesMaster1.xml" Id="Rdb9aef95927649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0cb7d33f034e68" /><Relationship Type="http://schemas.openxmlformats.org/officeDocument/2006/relationships/notesMaster" Target="/ppt/notesMasters/notesMaster1.xml" Id="R4f0e411773a745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4e75c007894105" /><Relationship Type="http://schemas.openxmlformats.org/officeDocument/2006/relationships/notesMaster" Target="/ppt/notesMasters/notesMaster1.xml" Id="Rd4778a2814b644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157cbcc6d3433a" /><Relationship Type="http://schemas.openxmlformats.org/officeDocument/2006/relationships/notesMaster" Target="/ppt/notesMasters/notesMaster1.xml" Id="Rd799d674357e46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4f61989b6142b1" /><Relationship Type="http://schemas.openxmlformats.org/officeDocument/2006/relationships/notesMaster" Target="/ppt/notesMasters/notesMaster1.xml" Id="R0e51eaf343e741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0fb912ef634961" /><Relationship Type="http://schemas.openxmlformats.org/officeDocument/2006/relationships/notesMaster" Target="/ppt/notesMasters/notesMaster1.xml" Id="R0168f226341a42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940e6fff394c6a" /><Relationship Type="http://schemas.openxmlformats.org/officeDocument/2006/relationships/notesMaster" Target="/ppt/notesMasters/notesMaster1.xml" Id="R981f1cbdf05540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6e7655c1014bec" /><Relationship Type="http://schemas.openxmlformats.org/officeDocument/2006/relationships/notesMaster" Target="/ppt/notesMasters/notesMaster1.xml" Id="R5ab1d6f8923a4b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fa1e55285f4116" /><Relationship Type="http://schemas.openxmlformats.org/officeDocument/2006/relationships/notesMaster" Target="/ppt/notesMasters/notesMaster1.xml" Id="R6a6fa47caf6747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fc64a950d243d1" /><Relationship Type="http://schemas.openxmlformats.org/officeDocument/2006/relationships/notesMaster" Target="/ppt/notesMasters/notesMaster1.xml" Id="R880fb1aa7cad42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6dfb6386e3430d" /><Relationship Type="http://schemas.openxmlformats.org/officeDocument/2006/relationships/notesMaster" Target="/ppt/notesMasters/notesMaster1.xml" Id="Rb10b07865a3547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4befe7c4fb4700" /><Relationship Type="http://schemas.openxmlformats.org/officeDocument/2006/relationships/notesMaster" Target="/ppt/notesMasters/notesMaster1.xml" Id="R8da4dda5a06f41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327a4eba724fd2" /><Relationship Type="http://schemas.openxmlformats.org/officeDocument/2006/relationships/notesMaster" Target="/ppt/notesMasters/notesMaster1.xml" Id="Rf2ba85db17ae43e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11912e97c14a3c" /><Relationship Type="http://schemas.openxmlformats.org/officeDocument/2006/relationships/notesMaster" Target="/ppt/notesMasters/notesMaster1.xml" Id="R42f1856b26a447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b7ee4bd66b4e32" /><Relationship Type="http://schemas.openxmlformats.org/officeDocument/2006/relationships/notesMaster" Target="/ppt/notesMasters/notesMaster1.xml" Id="R7a0a6f25d84f4a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prediction; reassure that no personal diet, health or medication disclosure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pancreas/insulin and uptake mechanism. The lesson is about normal control concepts, not diagnosing diabetes.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The endocrine pancreas</a:t>
            </a:r>
          </a:p>
          <a:p xmlns:a="http://schemas.openxmlformats.org/drawingml/2006/main">
            <a:r>
              <a:t>https://openstax.org/books/anatomy-and-physiology-2e/pages/17-9-the-endocrine-pancreas</a:t>
            </a:r>
          </a:p>
          <a:p xmlns:a="http://schemas.openxmlformats.org/drawingml/2006/main">
            <a:r>
              <a:t>Checked insulin, glycogen storage and the separately labelled glucagon extension.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blood. R2: respiration and building/storing materials. R3: the original departure. Introduce glycogen as a store if the word is unfamiliar.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pancreas/insulin and uptake mechanism. The lesson is about normal control concepts, not diagnosing diabetes.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The endocrine pancreas</a:t>
            </a:r>
          </a:p>
          <a:p xmlns:a="http://schemas.openxmlformats.org/drawingml/2006/main">
            <a:r>
              <a:t>https://openstax.org/books/anatomy-and-physiology-2e/pages/17-9-the-endocrine-pancreas</a:t>
            </a:r>
          </a:p>
          <a:p xmlns:a="http://schemas.openxmlformats.org/drawingml/2006/main">
            <a:r>
              <a:t>Checked insulin, glycogen storage and the separately labelled glucagon extension.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 through the four-box model. Some body cells, such as muscle cells, increase uptake; liver and muscle storage as glycogen is promoted. Avoid saying every cell’s uptake always requires insulin.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Core qualitative sequence: blood glucose rises after absorption; pancreatic beta cells release more insulin; responsive tissues increase uptake/storage processes; glucose concentration tends towards the usual suitable range. This is not a fixed-time or dose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pancreas/insulin and uptake mechanism. The lesson is about normal control concepts, not diagnosing diabetes.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The endocrine pancreas</a:t>
            </a:r>
          </a:p>
          <a:p xmlns:a="http://schemas.openxmlformats.org/drawingml/2006/main">
            <a:r>
              <a:t>https://openstax.org/books/anatomy-and-physiology-2e/pages/17-9-the-endocrine-pancreas</a:t>
            </a:r>
          </a:p>
          <a:p xmlns:a="http://schemas.openxmlformats.org/drawingml/2006/main">
            <a:r>
              <a:t>Checked insulin, glycogen storage and the separately labelled glucagon extension.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Trace purple signal arrow and orange material arrow separately. This is a molecule-role model, not a detailed chemical reaction mechanism.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Material-versus-signal model: insulin from pancreas signals liver/muscle storage processes. Separate glucose symbols are joined into a schematic glycogen store. Insulin does not become glycogen; molecule drawings are simplified.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pancreas/insulin and uptake mechanism. The lesson is about normal control concepts, not diagnosing diabetes.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The endocrine pancreas</a:t>
            </a:r>
          </a:p>
          <a:p xmlns:a="http://schemas.openxmlformats.org/drawingml/2006/main">
            <a:r>
              <a:t>https://openstax.org/books/anatomy-and-physiology-2e/pages/17-9-the-endocrine-pancreas</a:t>
            </a:r>
          </a:p>
          <a:p xmlns:a="http://schemas.openxmlformats.org/drawingml/2006/main">
            <a:r>
              <a:t>Checked insulin, glycogen storage and the separately labelled glucagon extension.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Model: “Later is nearer the usual range in this conceptual trace. I cannot read a medical value, a time-to-recovery or treatment from it.” As glucose returns towards usual levels, the stimulus for extra insulin release reduces.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Qualitative conceptual trace across four stages: usual range before input, raised after absorption, still raised while a response develops, and towards the usual range later. Axes have no clinical units or real timings.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pancreas/insulin and uptake mechanism. The lesson is about normal control concepts, not diagnosing diabetes.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The endocrine pancreas</a:t>
            </a:r>
          </a:p>
          <a:p xmlns:a="http://schemas.openxmlformats.org/drawingml/2006/main">
            <a:r>
              <a:t>https://openstax.org/books/anatomy-and-physiology-2e/pages/17-9-the-endocrine-pancreas</a:t>
            </a:r>
          </a:p>
          <a:p xmlns:a="http://schemas.openxmlformats.org/drawingml/2006/main">
            <a:r>
              <a:t>Checked insulin, glycogen storage and the separately labelled glucagon extension.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manual stage controls. Start with usual, then absorption/raised, insulin response, target response and towards usual. Paper alternative orders cards A–D.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pancreas/insulin and uptake mechanism. The lesson is about normal control concepts, not diagnosing diabetes.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The endocrine pancreas</a:t>
            </a:r>
          </a:p>
          <a:p xmlns:a="http://schemas.openxmlformats.org/drawingml/2006/main">
            <a:r>
              <a:t>https://openstax.org/books/anatomy-and-physiology-2e/pages/17-9-the-endocrine-pancreas</a:t>
            </a:r>
          </a:p>
          <a:p xmlns:a="http://schemas.openxmlformats.org/drawingml/2006/main">
            <a:r>
              <a:t>Checked insulin, glycogen storage and the separately labelled glucagon extension.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Glucose units are stored as glycogen; insulin signals target processes. Ask which arrow carries the message and which carries material.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Material-versus-signal model: insulin from pancreas signals liver/muscle storage processes. Separate glucose symbols are joined into a schematic glycogen store. Insulin does not become glycogen; molecule drawings are simplified.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pancreas/insulin and uptake mechanism. The lesson is about normal control concepts, not diagnosing diabetes.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The endocrine pancreas</a:t>
            </a:r>
          </a:p>
          <a:p xmlns:a="http://schemas.openxmlformats.org/drawingml/2006/main">
            <a:r>
              <a:t>https://openstax.org/books/anatomy-and-physiology-2e/pages/17-9-the-endocrine-pancreas</a:t>
            </a:r>
          </a:p>
          <a:p xmlns:a="http://schemas.openxmlformats.org/drawingml/2006/main">
            <a:r>
              <a:t>Checked insulin, glycogen storage and the separately labelled glucagon extension.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No: no calibrated concentrations, times, personal physiology or meal quantities. It is designed for mechanism and direction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Qualitative conceptual trace across four stages: usual range before input, raised after absorption, still raised while a response develops, and towards the usual range later. Axes have no clinical units or real timings.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pancreas/insulin and uptake mechanism. The lesson is about normal control concepts, not diagnosing diabetes.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The endocrine pancreas</a:t>
            </a:r>
          </a:p>
          <a:p xmlns:a="http://schemas.openxmlformats.org/drawingml/2006/main">
            <a:r>
              <a:t>https://openstax.org/books/anatomy-and-physiology-2e/pages/17-9-the-endocrine-pancreas</a:t>
            </a:r>
          </a:p>
          <a:p xmlns:a="http://schemas.openxmlformats.org/drawingml/2006/main">
            <a:r>
              <a:t>Checked insulin, glycogen storage and the separately labelled glucagon extension.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First option correct. If pupil swaps insulin/glucose, return to the two-arrow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Raised glucose → more insulin release → uptake/storage responses.</a:t>
            </a:r>
          </a:p>
          <a:p xmlns:a="http://schemas.openxmlformats.org/drawingml/2006/main">
            <a:r>
              <a:t>Correct. This is the core corrective pathway for raised blood glucose.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Insulin becomes glucose, so blood glucose rises further.</a:t>
            </a:r>
          </a:p>
          <a:p xmlns:a="http://schemas.openxmlformats.org/drawingml/2006/main">
            <a:r>
              <a:t>Insulin is a signal, not a sugar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The picture supplies an exact medicine dose.</a:t>
            </a:r>
          </a:p>
          <a:p xmlns:a="http://schemas.openxmlformats.org/drawingml/2006/main">
            <a:r>
              <a:t>There are no clinical measurements or dose rules in this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pancreas/insulin and uptake mechanism. The lesson is about normal control concepts, not diagnosing diabetes.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The endocrine pancreas</a:t>
            </a:r>
          </a:p>
          <a:p xmlns:a="http://schemas.openxmlformats.org/drawingml/2006/main">
            <a:r>
              <a:t>https://openstax.org/books/anatomy-and-physiology-2e/pages/17-9-the-endocrine-pancreas</a:t>
            </a:r>
          </a:p>
          <a:p xmlns:a="http://schemas.openxmlformats.org/drawingml/2006/main">
            <a:r>
              <a:t>Checked insulin, glycogen storage and the separately labelled glucagon extension.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Higher branch optional and visually distinct. Do not require it for core success.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pancreas/insulin and uptake mechanism. The lesson is about normal control concepts, not diagnosing diabetes.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The endocrine pancreas</a:t>
            </a:r>
          </a:p>
          <a:p xmlns:a="http://schemas.openxmlformats.org/drawingml/2006/main">
            <a:r>
              <a:t>https://openstax.org/books/anatomy-and-physiology-2e/pages/17-9-the-endocrine-pancreas</a:t>
            </a:r>
          </a:p>
          <a:p xmlns:a="http://schemas.openxmlformats.org/drawingml/2006/main">
            <a:r>
              <a:t>Checked insulin, glycogen storage and the separately labelled glucagon extension.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Supported S1–S4; standard M1–M4; stretch T1–T4. T3 is optional Higher glucagon; other evaluation is not a tier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pancreas/insulin and uptake mechanism. The lesson is about normal control concepts, not diagnosing diabetes.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The endocrine pancreas</a:t>
            </a:r>
          </a:p>
          <a:p xmlns:a="http://schemas.openxmlformats.org/drawingml/2006/main">
            <a:r>
              <a:t>https://openstax.org/books/anatomy-and-physiology-2e/pages/17-9-the-endocrine-pancreas</a:t>
            </a:r>
          </a:p>
          <a:p xmlns:a="http://schemas.openxmlformats.org/drawingml/2006/main">
            <a:r>
              <a:t>Checked insulin, glycogen storage and the separately labelled glucagon extension.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traces or labels the two arrows; quiet partner/TA review is acceptable.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pancreas/insulin and uptake mechanism. The lesson is about normal control concepts, not diagnosing diabetes.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The endocrine pancreas</a:t>
            </a:r>
          </a:p>
          <a:p xmlns:a="http://schemas.openxmlformats.org/drawingml/2006/main">
            <a:r>
              <a:t>https://openstax.org/books/anatomy-and-physiology-2e/pages/17-9-the-endocrine-pancreas</a:t>
            </a:r>
          </a:p>
          <a:p xmlns:a="http://schemas.openxmlformats.org/drawingml/2006/main">
            <a:r>
              <a:t>Checked insulin, glycogen storage and the separately labelled glucagon extension.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Restate that qualitative usual/raised labels are not clinical categories for any pupil.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pancreas/insulin and uptake mechanism. The lesson is about normal control concepts, not diagnosing diabetes.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The endocrine pancreas</a:t>
            </a:r>
          </a:p>
          <a:p xmlns:a="http://schemas.openxmlformats.org/drawingml/2006/main">
            <a:r>
              <a:t>https://openstax.org/books/anatomy-and-physiology-2e/pages/17-9-the-endocrine-pancreas</a:t>
            </a:r>
          </a:p>
          <a:p xmlns:a="http://schemas.openxmlformats.org/drawingml/2006/main">
            <a:r>
              <a:t>Checked insulin, glycogen storage and the separately labelled glucagon extension.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E1: pancreas. E2: glucose units. E3: no calibrated clinical or individual information. Re-teach substance roles first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pancreas/insulin and uptake mechanism. The lesson is about normal control concepts, not diagnosing diabetes.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The endocrine pancreas</a:t>
            </a:r>
          </a:p>
          <a:p xmlns:a="http://schemas.openxmlformats.org/drawingml/2006/main">
            <a:r>
              <a:t>https://openstax.org/books/anatomy-and-physiology-2e/pages/17-9-the-endocrine-pancreas</a:t>
            </a:r>
          </a:p>
          <a:p xmlns:a="http://schemas.openxmlformats.org/drawingml/2006/main">
            <a:r>
              <a:t>Checked insulin, glycogen storage and the separately labelled glucagon extension.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exit minute. Accept a labelled route and a spoken limit.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pancreas/insulin and uptake mechanism. The lesson is about normal control concepts, not diagnosing diabetes.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The endocrine pancreas</a:t>
            </a:r>
          </a:p>
          <a:p xmlns:a="http://schemas.openxmlformats.org/drawingml/2006/main">
            <a:r>
              <a:t>https://openstax.org/books/anatomy-and-physiology-2e/pages/17-9-the-endocrine-pancreas</a:t>
            </a:r>
          </a:p>
          <a:p xmlns:a="http://schemas.openxmlformats.org/drawingml/2006/main">
            <a:r>
              <a:t>Checked insulin, glycogen storage and the separately labelled glucagon extension.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53d7a9a0cb44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8c1686c994456a" /><Relationship Type="http://schemas.openxmlformats.org/officeDocument/2006/relationships/slideLayout" Target="/ppt/slideLayouts/slideLayout1.xml" Id="Rc44153a932fb46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4153a932fb46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2a2217db143e8" /><Relationship Type="http://schemas.openxmlformats.org/officeDocument/2006/relationships/notesSlide" Target="/ppt/notesSlides/notesSlide1.xml" Id="R54ba469c0ca040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3f4c93c57464c" /><Relationship Type="http://schemas.openxmlformats.org/officeDocument/2006/relationships/notesSlide" Target="/ppt/notesSlides/notesSlide2.xml" Id="Rb5138086d46340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3a62da78d4ff0" /><Relationship Type="http://schemas.openxmlformats.org/officeDocument/2006/relationships/notesSlide" Target="/ppt/notesSlides/notesSlide3.xml" Id="R96a22ae6023d4c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24c2ca52042aa" /><Relationship Type="http://schemas.openxmlformats.org/officeDocument/2006/relationships/notesSlide" Target="/ppt/notesSlides/notesSlide4.xml" Id="R9451df518b5646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de2c90cec4c65" /><Relationship Type="http://schemas.openxmlformats.org/officeDocument/2006/relationships/notesSlide" Target="/ppt/notesSlides/notesSlide5.xml" Id="Ra1cf048ecd4840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6c4e47934456a" /><Relationship Type="http://schemas.openxmlformats.org/officeDocument/2006/relationships/notesSlide" Target="/ppt/notesSlides/notesSlide6.xml" Id="R81dc49fa120f41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6c1e9765544dd" /><Relationship Type="http://schemas.openxmlformats.org/officeDocument/2006/relationships/notesSlide" Target="/ppt/notesSlides/notesSlide7.xml" Id="R098a981dbb514c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a8897ab5246c7" /><Relationship Type="http://schemas.openxmlformats.org/officeDocument/2006/relationships/notesSlide" Target="/ppt/notesSlides/notesSlide8.xml" Id="Rebccc38f02044d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f7e54e7fb43f7" /><Relationship Type="http://schemas.openxmlformats.org/officeDocument/2006/relationships/notesSlide" Target="/ppt/notesSlides/notesSlide9.xml" Id="Ra6c317325d8448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53dfe86a84860" /><Relationship Type="http://schemas.openxmlformats.org/officeDocument/2006/relationships/notesSlide" Target="/ppt/notesSlides/notesSlide10.xml" Id="R4eae1451fb1041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4a2fe43dd4a29" /><Relationship Type="http://schemas.openxmlformats.org/officeDocument/2006/relationships/notesSlide" Target="/ppt/notesSlides/notesSlide11.xml" Id="R0bde44b486674e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c58fb9f434912" /><Relationship Type="http://schemas.openxmlformats.org/officeDocument/2006/relationships/notesSlide" Target="/ppt/notesSlides/notesSlide12.xml" Id="R52d6edda185b43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fa9776f7247d4" /><Relationship Type="http://schemas.openxmlformats.org/officeDocument/2006/relationships/notesSlide" Target="/ppt/notesSlides/notesSlide13.xml" Id="Rcd3dd667feeb47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e3ab958c24d04" /><Relationship Type="http://schemas.openxmlformats.org/officeDocument/2006/relationships/notesSlide" Target="/ppt/notesSlides/notesSlide14.xml" Id="Rb8075ce7725541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9c1084bac4728" /><Relationship Type="http://schemas.openxmlformats.org/officeDocument/2006/relationships/notesSlide" Target="/ppt/notesSlides/notesSlide15.xml" Id="R6f4875d8008c4d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0DDFDD36-563A-4FF8-B754-1190AAB1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D38F106-108A-46E0-B80F-9596E60E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AA8A1FC-9D93-409F-9017-08AB461C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EF337028-B1AE-4C82-97D2-10F05533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E5EA3103-9248-42EC-B4CE-A6C71FBC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AC1F1D76-8888-49B1-B281-4B75C72F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Build a model that explains a direction">
            <a:extLst xmlns:a="http://schemas.openxmlformats.org/drawingml/2006/main">
              <a:ext uri="{FF2B5EF4-FFF2-40B4-BE49-F238E27FC236}">
                <a16:creationId xmlns:a16="http://schemas.microsoft.com/office/drawing/2014/main" id="{8F480141-05ED-49D6-9546-AFD7D6A1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Build a model that explains a direction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2887CB6-3F98-4070-8CE8-9D106CE6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lood glucose: build the control model">
            <a:extLst xmlns:a="http://schemas.openxmlformats.org/drawingml/2006/main">
              <a:ext uri="{FF2B5EF4-FFF2-40B4-BE49-F238E27FC236}">
                <a16:creationId xmlns:a16="http://schemas.microsoft.com/office/drawing/2014/main" id="{F878F887-51D2-4DBE-848E-6409B595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Blood glucose: build the control model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BE5560F9-E036-4303-9023-C64AB5FA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DB4A60F1-8943-4EB0-A7DD-88ADC464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398B4F2A-A0C5-4B4A-AFB6-39A76883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3B1C5A81-1C4D-422A-9E45-8617378C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Explain the insulin response to raised blood glucose using a qua">
            <a:extLst xmlns:a="http://schemas.openxmlformats.org/drawingml/2006/main">
              <a:ext uri="{FF2B5EF4-FFF2-40B4-BE49-F238E27FC236}">
                <a16:creationId xmlns:a16="http://schemas.microsoft.com/office/drawing/2014/main" id="{09A9E71D-81FF-490F-B393-18E56F0B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the insulin response to raised blood glucose using a qualitative,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controllable model.</a:t>
            </a:r>
          </a:p>
        </p:txBody>
      </p:sp>
      <p:sp>
        <p:nvSpPr>
          <p:cNvPr id="15" name="What could reduce a rise in blood glucose?">
            <a:extLst xmlns:a="http://schemas.openxmlformats.org/drawingml/2006/main">
              <a:ext uri="{FF2B5EF4-FFF2-40B4-BE49-F238E27FC236}">
                <a16:creationId xmlns:a16="http://schemas.microsoft.com/office/drawing/2014/main" id="{D998352A-BEE6-4215-98DB-AC688CB1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could reduce a rise in blood glucose?</a:t>
            </a:r>
          </a:p>
        </p:txBody>
      </p:sp>
      <p:sp>
        <p:nvSpPr>
          <p:cNvPr id="16" name="We will model a mechanism, without medical numbers.">
            <a:extLst xmlns:a="http://schemas.openxmlformats.org/drawingml/2006/main">
              <a:ext uri="{FF2B5EF4-FFF2-40B4-BE49-F238E27FC236}">
                <a16:creationId xmlns:a16="http://schemas.microsoft.com/office/drawing/2014/main" id="{64FD93C9-C21C-41E8-B103-45C9C753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We will model a mechanism, without medical numbers.</a:t>
            </a:r>
          </a:p>
        </p:txBody>
      </p:sp>
    </p:spTree>
    <p:extLst>
      <p:ext uri="{BB962C8B-B14F-4D97-AF65-F5344CB8AC3E}">
        <p14:creationId xmlns:p14="http://schemas.microsoft.com/office/powerpoint/2010/main" val="1786903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EBFAEAF6-B9A5-44B5-86E7-32583C6A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0E4C783-2E53-42A7-AE32-32234150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E69B104-EF72-42A8-A6E7-853CB9E3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98CF4498-9E0A-4591-87E7-E37E1DE6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87154E2D-76ED-4DDF-A56B-CA358C9C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DE325CEA-00AE-45BB-840F-B4A15476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Message, material or store?">
            <a:extLst xmlns:a="http://schemas.openxmlformats.org/drawingml/2006/main">
              <a:ext uri="{FF2B5EF4-FFF2-40B4-BE49-F238E27FC236}">
                <a16:creationId xmlns:a16="http://schemas.microsoft.com/office/drawing/2014/main" id="{040C1950-A7E6-433C-A338-9D695402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Message, material or store?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9124034C-4CF3-42D2-A1C0-BFFCD79A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lood glucose: build the control model">
            <a:extLst xmlns:a="http://schemas.openxmlformats.org/drawingml/2006/main">
              <a:ext uri="{FF2B5EF4-FFF2-40B4-BE49-F238E27FC236}">
                <a16:creationId xmlns:a16="http://schemas.microsoft.com/office/drawing/2014/main" id="{B4389C12-935D-4D34-A28C-4377D78F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Blood glucose: build the control model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CBC2C3D7-D5DE-4DC3-8579-40E43A54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What carries hormones around the body?">
            <a:extLst xmlns:a="http://schemas.openxmlformats.org/drawingml/2006/main">
              <a:ext uri="{FF2B5EF4-FFF2-40B4-BE49-F238E27FC236}">
                <a16:creationId xmlns:a16="http://schemas.microsoft.com/office/drawing/2014/main" id="{911E0A65-CA7F-4830-8FB8-5573CC85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What carries hormones around the body?</a:t>
            </a:r>
          </a:p>
        </p:txBody>
      </p:sp>
      <p:sp>
        <p:nvSpPr>
          <p:cNvPr id="12" name="R2. What can cells use glucose for?">
            <a:extLst xmlns:a="http://schemas.openxmlformats.org/drawingml/2006/main">
              <a:ext uri="{FF2B5EF4-FFF2-40B4-BE49-F238E27FC236}">
                <a16:creationId xmlns:a16="http://schemas.microsoft.com/office/drawing/2014/main" id="{E75AF81C-D178-44D5-8CD1-0717EBC7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What can cells use glucose for?</a:t>
            </a:r>
          </a:p>
        </p:txBody>
      </p:sp>
      <p:sp>
        <p:nvSpPr>
          <p:cNvPr id="13" name="R3. What does negative feedback oppose?">
            <a:extLst xmlns:a="http://schemas.openxmlformats.org/drawingml/2006/main">
              <a:ext uri="{FF2B5EF4-FFF2-40B4-BE49-F238E27FC236}">
                <a16:creationId xmlns:a16="http://schemas.microsoft.com/office/drawing/2014/main" id="{01BCFC84-9858-4064-94A2-C9B81CBB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What does negative feedback oppose?</a:t>
            </a:r>
          </a:p>
        </p:txBody>
      </p:sp>
    </p:spTree>
    <p:extLst>
      <p:ext uri="{BB962C8B-B14F-4D97-AF65-F5344CB8AC3E}">
        <p14:creationId xmlns:p14="http://schemas.microsoft.com/office/powerpoint/2010/main" val="1627664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E06CEC71-C993-4B74-9990-05DAAF9F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CFCA529-B2CC-4C37-ACAC-7BA072A8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60CA04D-2D92-4E70-843B-0A5FD0FF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8DDD528B-9F46-4855-9327-8E1E8658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40498111-545D-45A3-85B2-328D8383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1C336536-126E-401A-8E64-D86E21DB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Trace the core response">
            <a:extLst xmlns:a="http://schemas.openxmlformats.org/drawingml/2006/main">
              <a:ext uri="{FF2B5EF4-FFF2-40B4-BE49-F238E27FC236}">
                <a16:creationId xmlns:a16="http://schemas.microsoft.com/office/drawing/2014/main" id="{5CB88DC1-F5E6-4BD2-AF9B-5760552C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Trace the core response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3632702-E1D8-40EA-9AA6-B599138F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lood glucose: build the control model">
            <a:extLst xmlns:a="http://schemas.openxmlformats.org/drawingml/2006/main">
              <a:ext uri="{FF2B5EF4-FFF2-40B4-BE49-F238E27FC236}">
                <a16:creationId xmlns:a16="http://schemas.microsoft.com/office/drawing/2014/main" id="{76C95027-EAA7-4BAD-83D5-6FFB95F8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Blood glucose: build the control model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B7DA8466-2DAD-4C7B-A1B1-02424514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Raised glucose triggers a corrective response">
            <a:extLst xmlns:a="http://schemas.openxmlformats.org/drawingml/2006/main">
              <a:ext uri="{FF2B5EF4-FFF2-40B4-BE49-F238E27FC236}">
                <a16:creationId xmlns:a16="http://schemas.microsoft.com/office/drawing/2014/main" id="{943A239F-D213-47F2-85A9-8C3620BC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Raised glucose triggers a corrective response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CDD243B-BB36-40F3-BEDF-443DD0AF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2618695"/>
            <a:ext cx="2908187" cy="1016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13" name="Diagram label: Blood glucose rises&#10;After glucose absorption">
            <a:extLst xmlns:a="http://schemas.openxmlformats.org/drawingml/2006/main">
              <a:ext uri="{FF2B5EF4-FFF2-40B4-BE49-F238E27FC236}">
                <a16:creationId xmlns:a16="http://schemas.microsoft.com/office/drawing/2014/main" id="{A0F9975A-4988-485B-87D4-D00F0073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2744833"/>
            <a:ext cx="2627879" cy="805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Blood glucose rises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After glucose absorption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5AFB5AD-E4D4-43B7-A69F-FFD8B590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307" y="2618695"/>
            <a:ext cx="2908187" cy="1016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15" name="Diagram label: Pancreatic beta cells&#10;Release more insulin">
            <a:extLst xmlns:a="http://schemas.openxmlformats.org/drawingml/2006/main">
              <a:ext uri="{FF2B5EF4-FFF2-40B4-BE49-F238E27FC236}">
                <a16:creationId xmlns:a16="http://schemas.microsoft.com/office/drawing/2014/main" id="{D7FC62E7-5977-47AE-BF1C-CA75BCD1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61" y="2744833"/>
            <a:ext cx="2627879" cy="805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Pancreatic beta cells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Release more insulin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7422BF4-F314-43E6-9867-72ACF160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4160384"/>
            <a:ext cx="2908187" cy="1016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17" name="Diagram label: Blood glucose tends&#10;towards suitable limits">
            <a:extLst xmlns:a="http://schemas.openxmlformats.org/drawingml/2006/main">
              <a:ext uri="{FF2B5EF4-FFF2-40B4-BE49-F238E27FC236}">
                <a16:creationId xmlns:a16="http://schemas.microsoft.com/office/drawing/2014/main" id="{4BB75FD5-CF97-4E40-9779-AC8708EE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4286522"/>
            <a:ext cx="2627879" cy="805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Blood glucose tends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towards suitable limits</a:t>
            </a:r>
          </a:p>
        </p:txBody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821C8B3-CB7F-49E8-A6DC-AA759B86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307" y="4160384"/>
            <a:ext cx="2908187" cy="1016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19" name="Diagram label: Responsive tissues&#10;Increase uptake/storage">
            <a:extLst xmlns:a="http://schemas.openxmlformats.org/drawingml/2006/main">
              <a:ext uri="{FF2B5EF4-FFF2-40B4-BE49-F238E27FC236}">
                <a16:creationId xmlns:a16="http://schemas.microsoft.com/office/drawing/2014/main" id="{956B4302-775F-4079-8C91-59ADE272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61" y="4286522"/>
            <a:ext cx="2627879" cy="805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Responsive tissues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Increase uptake/storage</a:t>
            </a:r>
          </a:p>
        </p:txBody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EAFE433-3CA8-4674-8628-E4E48D91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85770" y="3130255"/>
            <a:ext cx="31184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7A5C9E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C451E564-7E17-4330-8E78-F7AD77A1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73084" y="3081201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553FDB0-23ED-4491-8592-735AAE43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47920" y="3725908"/>
            <a:ext cx="953" cy="2697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7A5C9E"/>
            </a:solidFill>
          </a:ln>
        </p:spPr>
      </p:sp>
      <p:sp>
        <p:nvSpPr>
          <p:cNvPr id="23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753CF67D-35C7-4BEE-8111-678823A4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798866" y="3971177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7CCEE72-48E8-4D76-98E2-D936F0EB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994389" y="4664937"/>
            <a:ext cx="31184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7A5C9E"/>
            </a:solidFill>
          </a:ln>
        </p:spPr>
      </p:sp>
      <p:sp>
        <p:nvSpPr>
          <p:cNvPr id="2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314F9499-EA4B-4B36-9788-1032C597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920808" y="4615883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6" name="Diagram label: Core model: insulin response to raised glucose.">
            <a:extLst xmlns:a="http://schemas.openxmlformats.org/drawingml/2006/main">
              <a:ext uri="{FF2B5EF4-FFF2-40B4-BE49-F238E27FC236}">
                <a16:creationId xmlns:a16="http://schemas.microsoft.com/office/drawing/2014/main" id="{9B6FCE98-8027-4CAB-B042-91449FAB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5316651"/>
            <a:ext cx="6447064" cy="315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Core model: insulin response to raised glucose.</a:t>
            </a:r>
          </a:p>
        </p:txBody>
      </p:sp>
      <p:sp>
        <p:nvSpPr>
          <p:cNvPr id="27" name="Raised glucose stimulates pancreatic beta cells.  More insulin i">
            <a:extLst xmlns:a="http://schemas.openxmlformats.org/drawingml/2006/main">
              <a:ext uri="{FF2B5EF4-FFF2-40B4-BE49-F238E27FC236}">
                <a16:creationId xmlns:a16="http://schemas.microsoft.com/office/drawing/2014/main" id="{FEE1F16A-6F60-49AB-8951-9B040E4A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Raised glucose stimulates pancreatic beta cells. More insulin is released into blood. Responsive tissues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change glucose handling.</a:t>
            </a:r>
          </a:p>
        </p:txBody>
      </p:sp>
    </p:spTree>
    <p:extLst>
      <p:ext uri="{BB962C8B-B14F-4D97-AF65-F5344CB8AC3E}">
        <p14:creationId xmlns:p14="http://schemas.microsoft.com/office/powerpoint/2010/main" val="14590224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urface">
            <a:extLst xmlns:a="http://schemas.openxmlformats.org/drawingml/2006/main">
              <a:ext uri="{FF2B5EF4-FFF2-40B4-BE49-F238E27FC236}">
                <a16:creationId xmlns:a16="http://schemas.microsoft.com/office/drawing/2014/main" id="{0FBD694F-5B28-4323-AA6F-70CD0B40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C57A283-3AFD-46AA-B221-187EF841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91C71F8-BC72-4F54-B6AD-6ECB095E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21A06C65-DAB8-4843-8916-9C33571E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6B41C566-664E-41D6-B327-676D120D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883CA804-5520-47D4-B056-C603AAA6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Follow the material separately from the signal">
            <a:extLst xmlns:a="http://schemas.openxmlformats.org/drawingml/2006/main">
              <a:ext uri="{FF2B5EF4-FFF2-40B4-BE49-F238E27FC236}">
                <a16:creationId xmlns:a16="http://schemas.microsoft.com/office/drawing/2014/main" id="{AC317950-C3AA-44C6-B889-556C4638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Follow the material separately from the signal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56FE1E1-0F2A-45BB-A515-D6A7811B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lood glucose: build the control model">
            <a:extLst xmlns:a="http://schemas.openxmlformats.org/drawingml/2006/main">
              <a:ext uri="{FF2B5EF4-FFF2-40B4-BE49-F238E27FC236}">
                <a16:creationId xmlns:a16="http://schemas.microsoft.com/office/drawing/2014/main" id="{23B7736B-5CC0-4255-BDB7-E80DD27D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Blood glucose: build the control model</a:t>
            </a:r>
          </a:p>
        </p:txBody>
      </p:sp>
      <p:sp>
        <p:nvSpPr>
          <p:cNvPr id="10" name="4 / 15">
            <a:extLst xmlns:a="http://schemas.openxmlformats.org/drawingml/2006/main">
              <a:ext uri="{FF2B5EF4-FFF2-40B4-BE49-F238E27FC236}">
                <a16:creationId xmlns:a16="http://schemas.microsoft.com/office/drawing/2014/main" id="{7C6A29D8-BDB0-497B-8BFC-F86B0C8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1" name="Diagram label: A signal is not the stored material">
            <a:extLst xmlns:a="http://schemas.openxmlformats.org/drawingml/2006/main">
              <a:ext uri="{FF2B5EF4-FFF2-40B4-BE49-F238E27FC236}">
                <a16:creationId xmlns:a16="http://schemas.microsoft.com/office/drawing/2014/main" id="{DE18BDF0-8A45-4FAD-BD4A-1EC9D986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signal is not the stored material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7BE84BB-9B68-4F00-9206-BA17FFE5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2688771"/>
            <a:ext cx="1751920" cy="8409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13" name="Diagram label: Pancreas&#10;Insulin signal">
            <a:extLst xmlns:a="http://schemas.openxmlformats.org/drawingml/2006/main">
              <a:ext uri="{FF2B5EF4-FFF2-40B4-BE49-F238E27FC236}">
                <a16:creationId xmlns:a16="http://schemas.microsoft.com/office/drawing/2014/main" id="{51001980-D2C2-4886-BD77-C839D4D4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2863963"/>
            <a:ext cx="1471613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Pancreas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Insulin signal</a:t>
            </a:r>
          </a:p>
        </p:txBody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59CEBB7-D1C4-4C11-A6FA-96736C3E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64541" y="3144271"/>
            <a:ext cx="164330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7A5C9E"/>
            </a:solidFill>
          </a:ln>
        </p:spPr>
      </p:sp>
      <p:sp>
        <p:nvSpPr>
          <p:cNvPr id="1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DD94B15B-6EFE-43EB-948F-9D751CD3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383315" y="3095217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6" name="Diagram label: Hormone in blood">
            <a:extLst xmlns:a="http://schemas.openxmlformats.org/drawingml/2006/main">
              <a:ext uri="{FF2B5EF4-FFF2-40B4-BE49-F238E27FC236}">
                <a16:creationId xmlns:a16="http://schemas.microsoft.com/office/drawing/2014/main" id="{EEB26199-07BA-4D97-A47E-A3C95444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618" y="2688771"/>
            <a:ext cx="1646804" cy="315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Hormone in blood</a:t>
            </a:r>
          </a:p>
        </p:txBody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5C3015A-AC7F-4823-8AFE-F5F7A038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614" y="2618695"/>
            <a:ext cx="2627879" cy="245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EA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8" name="Diagram label: Liver / muscle storage">
            <a:extLst xmlns:a="http://schemas.openxmlformats.org/drawingml/2006/main">
              <a:ext uri="{FF2B5EF4-FFF2-40B4-BE49-F238E27FC236}">
                <a16:creationId xmlns:a16="http://schemas.microsoft.com/office/drawing/2014/main" id="{054C33D2-0B02-4404-84D6-B67DD1D3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768" y="2723810"/>
            <a:ext cx="2347572" cy="38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Liver / muscle storage</a:t>
            </a:r>
          </a:p>
        </p:txBody>
      </p:sp>
      <p:sp>
        <p:nvSpPr>
          <p:cNvPr id="19" name="Diagram label: Glucose units&#10;Material to store">
            <a:extLst xmlns:a="http://schemas.openxmlformats.org/drawingml/2006/main">
              <a:ext uri="{FF2B5EF4-FFF2-40B4-BE49-F238E27FC236}">
                <a16:creationId xmlns:a16="http://schemas.microsoft.com/office/drawing/2014/main" id="{B8BD1C35-4842-45FA-A58E-27299492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4020230"/>
            <a:ext cx="1786958" cy="455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Glucose units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Material to store</a:t>
            </a:r>
          </a:p>
        </p:txBody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0532EA2-644A-4057-BF53-B2BBA244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64541" y="4230461"/>
            <a:ext cx="164330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C9803B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93B9BFB8-74E4-472C-9DC6-CFA0C31B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383315" y="4181407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2" name="Diagram label: Glycogen store model">
            <a:extLst xmlns:a="http://schemas.openxmlformats.org/drawingml/2006/main">
              <a:ext uri="{FF2B5EF4-FFF2-40B4-BE49-F238E27FC236}">
                <a16:creationId xmlns:a16="http://schemas.microsoft.com/office/drawing/2014/main" id="{CFF88438-3889-4222-8C6A-1706A5B7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1883" y="4615883"/>
            <a:ext cx="2172380" cy="315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Glycogen store model</a:t>
            </a:r>
          </a:p>
        </p:txBody>
      </p:sp>
      <p:sp>
        <p:nvSpPr>
          <p:cNvPr id="2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AE55814-6B92-4FE4-86EE-CDB722FC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737" y="3634808"/>
            <a:ext cx="245269" cy="245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7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2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4F44AD0-CECE-4D6D-8FBA-DF9E2F9A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213" y="3634808"/>
            <a:ext cx="245269" cy="245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7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2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1004577-5A6E-4D2E-8BE4-BD171E10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689" y="3634808"/>
            <a:ext cx="245269" cy="245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7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2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32FF0E9-4EE3-4A07-812C-B750D27D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845" y="3774962"/>
            <a:ext cx="280307" cy="2803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7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2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7F5387F-768A-4F10-BCBB-FCBDB9CD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321" y="3774962"/>
            <a:ext cx="280307" cy="2803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7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2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BB7CCB0-E3DB-458E-98E2-B1AABEC8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797" y="3774962"/>
            <a:ext cx="280307" cy="2803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7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2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F83E482-60FE-4F1B-9175-7C19FCE5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273" y="3774962"/>
            <a:ext cx="280307" cy="2803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7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3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19DB95A-9058-493D-B22E-7ECD259F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749" y="3774962"/>
            <a:ext cx="280307" cy="2803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7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3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EC4E3EB-4FDE-4F49-9AE5-5390A8BC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7152" y="3915115"/>
            <a:ext cx="15416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C9803B"/>
            </a:solidFill>
          </a:ln>
        </p:spPr>
      </p:sp>
      <p:sp>
        <p:nvSpPr>
          <p:cNvPr id="3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460F9C6-0094-4198-BC5E-C9D4EDB0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81628" y="3915115"/>
            <a:ext cx="15416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C9803B"/>
            </a:solidFill>
          </a:ln>
        </p:spPr>
      </p:sp>
      <p:sp>
        <p:nvSpPr>
          <p:cNvPr id="3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B0206E1-55EC-44E8-96BA-4FA93344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6104" y="3915115"/>
            <a:ext cx="15416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C9803B"/>
            </a:solidFill>
          </a:ln>
        </p:spPr>
      </p:sp>
      <p:sp>
        <p:nvSpPr>
          <p:cNvPr id="3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DC7ECDC-1DCF-49A6-BE53-1AB7D503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50580" y="3915115"/>
            <a:ext cx="15416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C9803B"/>
            </a:solidFill>
          </a:ln>
        </p:spPr>
      </p:sp>
      <p:sp>
        <p:nvSpPr>
          <p:cNvPr id="35" name="Diagram label: Insulin is a signal; glucose supplies the stored units.">
            <a:extLst xmlns:a="http://schemas.openxmlformats.org/drawingml/2006/main">
              <a:ext uri="{FF2B5EF4-FFF2-40B4-BE49-F238E27FC236}">
                <a16:creationId xmlns:a16="http://schemas.microsoft.com/office/drawing/2014/main" id="{DEC67AA3-8584-4625-B3AA-342A8F3B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545" y="5281613"/>
            <a:ext cx="6306911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Insulin is a signal; glucose supplies the stored units.</a:t>
            </a:r>
          </a:p>
        </p:txBody>
      </p:sp>
      <p:sp>
        <p:nvSpPr>
          <p:cNvPr id="36" name="Insulin is a hormone signal.  Glucose units can be stored as gly">
            <a:extLst xmlns:a="http://schemas.openxmlformats.org/drawingml/2006/main">
              <a:ext uri="{FF2B5EF4-FFF2-40B4-BE49-F238E27FC236}">
                <a16:creationId xmlns:a16="http://schemas.microsoft.com/office/drawing/2014/main" id="{1DB899B2-58C9-4B44-96A8-65F11AFF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Insulin is a hormone signal. Glucose units can be stored as glycogen. The hormone does not become the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store.</a:t>
            </a:r>
          </a:p>
        </p:txBody>
      </p:sp>
    </p:spTree>
    <p:extLst>
      <p:ext uri="{BB962C8B-B14F-4D97-AF65-F5344CB8AC3E}">
        <p14:creationId xmlns:p14="http://schemas.microsoft.com/office/powerpoint/2010/main" val="18438142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urface">
            <a:extLst xmlns:a="http://schemas.openxmlformats.org/drawingml/2006/main">
              <a:ext uri="{FF2B5EF4-FFF2-40B4-BE49-F238E27FC236}">
                <a16:creationId xmlns:a16="http://schemas.microsoft.com/office/drawing/2014/main" id="{192C48AC-96A0-4023-9DA0-D76E0A5D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A3066E1-32C3-490E-A5F6-03CED6A2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37AF9E8-92B1-4971-A89B-BD6BE4F2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17C38BB5-719F-4C98-9DEF-A51DEC8C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9EB14A72-AFE2-4657-916D-5F37A736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C29AD4A0-42DE-4345-9DE0-23EECDF9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A direction model has a clear limit">
            <a:extLst xmlns:a="http://schemas.openxmlformats.org/drawingml/2006/main">
              <a:ext uri="{FF2B5EF4-FFF2-40B4-BE49-F238E27FC236}">
                <a16:creationId xmlns:a16="http://schemas.microsoft.com/office/drawing/2014/main" id="{48EFDC52-9112-4ED3-89E5-FC43F756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direction model has a clear limit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868E463-78EE-4EB6-A90B-546E745E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lood glucose: build the control model">
            <a:extLst xmlns:a="http://schemas.openxmlformats.org/drawingml/2006/main">
              <a:ext uri="{FF2B5EF4-FFF2-40B4-BE49-F238E27FC236}">
                <a16:creationId xmlns:a16="http://schemas.microsoft.com/office/drawing/2014/main" id="{0820FC1C-851D-4138-A63C-7E3D7C98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Blood glucose: build the control model</a:t>
            </a:r>
          </a:p>
        </p:txBody>
      </p:sp>
      <p:sp>
        <p:nvSpPr>
          <p:cNvPr id="10" name="5 / 15">
            <a:extLst xmlns:a="http://schemas.openxmlformats.org/drawingml/2006/main">
              <a:ext uri="{FF2B5EF4-FFF2-40B4-BE49-F238E27FC236}">
                <a16:creationId xmlns:a16="http://schemas.microsoft.com/office/drawing/2014/main" id="{486C51BE-638B-47EF-BBFC-9F8B6177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1" name="Diagram label: Read direction, not a clinical number">
            <a:extLst xmlns:a="http://schemas.openxmlformats.org/drawingml/2006/main">
              <a:ext uri="{FF2B5EF4-FFF2-40B4-BE49-F238E27FC236}">
                <a16:creationId xmlns:a16="http://schemas.microsoft.com/office/drawing/2014/main" id="{FD10963F-B3A0-4732-889B-6D187AC9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direction, not a clinical number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F823D20-A451-4D72-BFD2-D3920435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586" y="4386603"/>
            <a:ext cx="5488186" cy="5226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8"/>
          </a:solidFill>
          <a:ln xmlns:a="http://schemas.openxmlformats.org/drawingml/2006/main" w="22401">
            <a:solidFill>
              <a:srgbClr val="E6F0E8"/>
            </a:solidFill>
          </a:ln>
        </p:spPr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43ED101-2E52-4359-9309-B48782DD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06586" y="5133295"/>
            <a:ext cx="560019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1F2937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50B7BF9-3CDC-4C37-ABFB-CA299FB6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06586" y="2893219"/>
            <a:ext cx="953" cy="22400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1F2937"/>
            </a:solidFill>
          </a:ln>
        </p:spPr>
      </p:sp>
      <p:sp>
        <p:nvSpPr>
          <p:cNvPr id="15" name="Diagram label: Raised">
            <a:extLst xmlns:a="http://schemas.openxmlformats.org/drawingml/2006/main">
              <a:ext uri="{FF2B5EF4-FFF2-40B4-BE49-F238E27FC236}">
                <a16:creationId xmlns:a16="http://schemas.microsoft.com/office/drawing/2014/main" id="{0188A33D-33A6-4B17-82F1-36469F5A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3005223"/>
            <a:ext cx="1045369" cy="48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Raised</a:t>
            </a:r>
          </a:p>
        </p:txBody>
      </p:sp>
      <p:sp>
        <p:nvSpPr>
          <p:cNvPr id="16" name="Diagram label: Usual&#10;range">
            <a:extLst xmlns:a="http://schemas.openxmlformats.org/drawingml/2006/main">
              <a:ext uri="{FF2B5EF4-FFF2-40B4-BE49-F238E27FC236}">
                <a16:creationId xmlns:a16="http://schemas.microsoft.com/office/drawing/2014/main" id="{2CA2801C-9A66-452C-8511-4F7EA8FB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213" y="4423937"/>
            <a:ext cx="1045369" cy="48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Usual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range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90FA572-7684-4C4F-B1F7-22C4943C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17266" y="3191896"/>
            <a:ext cx="1568053" cy="14560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7A5C9E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11B1A0C-5742-4DC0-936B-4CF48789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85319" y="3191896"/>
            <a:ext cx="1568053" cy="3360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7A5C9E"/>
            </a:solidFill>
          </a:ln>
        </p:spPr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1D4084C-AC32-4950-AA92-621FDB22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53373" y="3527907"/>
            <a:ext cx="1568053" cy="10453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7A5C9E"/>
            </a:solidFill>
          </a:ln>
        </p:spPr>
      </p:sp>
      <p:sp>
        <p:nvSpPr>
          <p:cNvPr id="20" name="Diagram label: Before&#10;input">
            <a:extLst xmlns:a="http://schemas.openxmlformats.org/drawingml/2006/main">
              <a:ext uri="{FF2B5EF4-FFF2-40B4-BE49-F238E27FC236}">
                <a16:creationId xmlns:a16="http://schemas.microsoft.com/office/drawing/2014/main" id="{86A0103C-30ED-4A80-92C5-BA9D69BE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917" y="5282633"/>
            <a:ext cx="1082703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Before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input</a:t>
            </a:r>
          </a:p>
        </p:txBody>
      </p:sp>
      <p:sp>
        <p:nvSpPr>
          <p:cNvPr id="21" name="Diagram label: After&#10;absorption">
            <a:extLst xmlns:a="http://schemas.openxmlformats.org/drawingml/2006/main">
              <a:ext uri="{FF2B5EF4-FFF2-40B4-BE49-F238E27FC236}">
                <a16:creationId xmlns:a16="http://schemas.microsoft.com/office/drawing/2014/main" id="{DDBD289D-180C-4898-94B3-1AD62D61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7966" y="5282633"/>
            <a:ext cx="1157373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After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absorption</a:t>
            </a:r>
          </a:p>
        </p:txBody>
      </p:sp>
      <p:sp>
        <p:nvSpPr>
          <p:cNvPr id="22" name="Diagram label: Response&#10;develops">
            <a:extLst xmlns:a="http://schemas.openxmlformats.org/drawingml/2006/main">
              <a:ext uri="{FF2B5EF4-FFF2-40B4-BE49-F238E27FC236}">
                <a16:creationId xmlns:a16="http://schemas.microsoft.com/office/drawing/2014/main" id="{E021A30A-FD96-4EEA-AE70-02435BDF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19" y="5282633"/>
            <a:ext cx="1194707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Response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develops</a:t>
            </a:r>
          </a:p>
        </p:txBody>
      </p:sp>
      <p:sp>
        <p:nvSpPr>
          <p:cNvPr id="23" name="Diagram label: Later">
            <a:extLst xmlns:a="http://schemas.openxmlformats.org/drawingml/2006/main">
              <a:ext uri="{FF2B5EF4-FFF2-40B4-BE49-F238E27FC236}">
                <a16:creationId xmlns:a16="http://schemas.microsoft.com/office/drawing/2014/main" id="{FEEB6D9B-8D0E-462E-8154-1C796834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076" y="5282633"/>
            <a:ext cx="1008034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Later</a:t>
            </a:r>
          </a:p>
        </p:txBody>
      </p:sp>
      <p:sp>
        <p:nvSpPr>
          <p:cNvPr id="24" name="The trace shows a rise and a corrective response.  It has no rea">
            <a:extLst xmlns:a="http://schemas.openxmlformats.org/drawingml/2006/main">
              <a:ext uri="{FF2B5EF4-FFF2-40B4-BE49-F238E27FC236}">
                <a16:creationId xmlns:a16="http://schemas.microsoft.com/office/drawing/2014/main" id="{E479D49D-39E5-4439-B3BA-97B8E8D5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trace shows a rise and a corrective response. It has no real time scale, concentration scale or dose rule.</a:t>
            </a:r>
          </a:p>
        </p:txBody>
      </p:sp>
    </p:spTree>
    <p:extLst>
      <p:ext uri="{BB962C8B-B14F-4D97-AF65-F5344CB8AC3E}">
        <p14:creationId xmlns:p14="http://schemas.microsoft.com/office/powerpoint/2010/main" val="13812023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6FECC22C-01AB-4083-BB33-AEAE7CA5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9A78803-10C3-4ABB-AF34-053C8B46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96A8A52-38ED-47EF-9BE1-A0685F25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39C0CCAF-7FD9-4013-86DA-B9187594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46A384A6-8FF1-4759-A043-55931330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4E33908D-E57C-416E-8C0B-7B5CEA8D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Control-panel challenge">
            <a:extLst xmlns:a="http://schemas.openxmlformats.org/drawingml/2006/main">
              <a:ext uri="{FF2B5EF4-FFF2-40B4-BE49-F238E27FC236}">
                <a16:creationId xmlns:a16="http://schemas.microsoft.com/office/drawing/2014/main" id="{4188245A-9AD2-45AF-975F-C2998FC6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Control-panel challenge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7F22353-CF34-4AA2-B0FA-93EE72DB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lood glucose: build the control model">
            <a:extLst xmlns:a="http://schemas.openxmlformats.org/drawingml/2006/main">
              <a:ext uri="{FF2B5EF4-FFF2-40B4-BE49-F238E27FC236}">
                <a16:creationId xmlns:a16="http://schemas.microsoft.com/office/drawing/2014/main" id="{24FC93CA-F472-46C4-B974-DC743068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Blood glucose: build the control model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BD48EF0E-B5B0-44F3-A78C-C72191DE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W1. Predict the next stage before advancing the model. Explain t">
            <a:extLst xmlns:a="http://schemas.openxmlformats.org/drawingml/2006/main">
              <a:ext uri="{FF2B5EF4-FFF2-40B4-BE49-F238E27FC236}">
                <a16:creationId xmlns:a16="http://schemas.microsoft.com/office/drawing/2014/main" id="{2031D913-3021-4284-B9EC-6638CF2A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W1. Predict the next stage before advancing the model. Explain the link from glucose rise to insulin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release.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581275"/>
          <a:ext xmlns:a="http://schemas.openxmlformats.org/drawingml/2006/main" cx="11125200" cy="311800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72118"/>
                <a:gridCol w="7853082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Card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Core event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Glucose is absorbed into blood; concentration rises.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Pancreatic beta cells release more insulin.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801053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Insulin-responsive tissues increase glucose uptake/storage processes.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801053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The concentration tends towards the usual suitable range; the insulin stimulus reduces.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Qualitative sequence; no individual medical prediction.">
            <a:extLst xmlns:a="http://schemas.openxmlformats.org/drawingml/2006/main">
              <a:ext uri="{FF2B5EF4-FFF2-40B4-BE49-F238E27FC236}">
                <a16:creationId xmlns:a16="http://schemas.microsoft.com/office/drawing/2014/main" id="{FD119958-B1BC-4F39-9D7A-0C8622F5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3584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Qualitative sequence; no individual medical prediction.</a:t>
            </a:r>
          </a:p>
        </p:txBody>
      </p:sp>
    </p:spTree>
    <p:extLst>
      <p:ext uri="{BB962C8B-B14F-4D97-AF65-F5344CB8AC3E}">
        <p14:creationId xmlns:p14="http://schemas.microsoft.com/office/powerpoint/2010/main" val="427457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urface">
            <a:extLst xmlns:a="http://schemas.openxmlformats.org/drawingml/2006/main">
              <a:ext uri="{FF2B5EF4-FFF2-40B4-BE49-F238E27FC236}">
                <a16:creationId xmlns:a16="http://schemas.microsoft.com/office/drawing/2014/main" id="{4F5DD3B7-0355-4C01-9354-C6A5F159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B79CFF6-713E-4BB0-8223-D08AA546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7EAF5AC-521C-4734-B294-DB07FCFE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13C29E4-4969-45B6-88D5-C9853362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50B714BE-FB4C-4339-B3E6-CEBB8B8A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15DBC10E-52DA-4C14-8601-3F9FA054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Repair the substance swap">
            <a:extLst xmlns:a="http://schemas.openxmlformats.org/drawingml/2006/main">
              <a:ext uri="{FF2B5EF4-FFF2-40B4-BE49-F238E27FC236}">
                <a16:creationId xmlns:a16="http://schemas.microsoft.com/office/drawing/2014/main" id="{3041E5B8-DBCB-4A83-AA80-4D3D91D0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Repair the substance swap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F7C15B5-0496-48F4-AFBB-BD578B38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lood glucose: build the control model">
            <a:extLst xmlns:a="http://schemas.openxmlformats.org/drawingml/2006/main">
              <a:ext uri="{FF2B5EF4-FFF2-40B4-BE49-F238E27FC236}">
                <a16:creationId xmlns:a16="http://schemas.microsoft.com/office/drawing/2014/main" id="{5A8614EA-103A-4694-A672-8B4394FB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Blood glucose: build the control model</a:t>
            </a:r>
          </a:p>
        </p:txBody>
      </p:sp>
      <p:sp>
        <p:nvSpPr>
          <p:cNvPr id="10" name="7 / 15">
            <a:extLst xmlns:a="http://schemas.openxmlformats.org/drawingml/2006/main">
              <a:ext uri="{FF2B5EF4-FFF2-40B4-BE49-F238E27FC236}">
                <a16:creationId xmlns:a16="http://schemas.microsoft.com/office/drawing/2014/main" id="{BCA208C1-524E-4301-8234-48E487C8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1" name="Diagram label: A signal is not the stored material">
            <a:extLst xmlns:a="http://schemas.openxmlformats.org/drawingml/2006/main">
              <a:ext uri="{FF2B5EF4-FFF2-40B4-BE49-F238E27FC236}">
                <a16:creationId xmlns:a16="http://schemas.microsoft.com/office/drawing/2014/main" id="{B55C37A6-3BAF-4B09-9203-2FE0AFDD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signal is not the stored material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DA41D89-4F43-4399-8786-25DAEF60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743880"/>
            <a:ext cx="1866730" cy="896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3" name="Diagram label: Pancreas&#10;Insulin signal">
            <a:extLst xmlns:a="http://schemas.openxmlformats.org/drawingml/2006/main">
              <a:ext uri="{FF2B5EF4-FFF2-40B4-BE49-F238E27FC236}">
                <a16:creationId xmlns:a16="http://schemas.microsoft.com/office/drawing/2014/main" id="{C3B24780-ED39-480B-8C5D-3C4DB126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2930553"/>
            <a:ext cx="1568053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Pancreas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Insulin signal</a:t>
            </a:r>
          </a:p>
        </p:txBody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B0F2BF1-4F6D-496E-BDFE-7FA145F8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77285" y="3229230"/>
            <a:ext cx="175099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7A5C9E"/>
            </a:solidFill>
          </a:ln>
        </p:spPr>
      </p:sp>
      <p:sp>
        <p:nvSpPr>
          <p:cNvPr id="1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59B71862-896D-49E0-BE94-BE6330F9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02144" y="3176962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6" name="Diagram label: Hormone in blood">
            <a:extLst xmlns:a="http://schemas.openxmlformats.org/drawingml/2006/main">
              <a:ext uri="{FF2B5EF4-FFF2-40B4-BE49-F238E27FC236}">
                <a16:creationId xmlns:a16="http://schemas.microsoft.com/office/drawing/2014/main" id="{E8E66679-A602-4BD6-A1CC-075FAC90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954" y="2743880"/>
            <a:ext cx="1754726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Hormone in blood</a:t>
            </a:r>
          </a:p>
        </p:txBody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89D7E10-04D1-4480-B6DB-E9E6823A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354" y="2669211"/>
            <a:ext cx="2800095" cy="2613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EA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8" name="Diagram label: Liver / muscle storage">
            <a:extLst xmlns:a="http://schemas.openxmlformats.org/drawingml/2006/main">
              <a:ext uri="{FF2B5EF4-FFF2-40B4-BE49-F238E27FC236}">
                <a16:creationId xmlns:a16="http://schemas.microsoft.com/office/drawing/2014/main" id="{9D4326A6-7345-486E-B8C0-4CAC832F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692" y="2781215"/>
            <a:ext cx="2501418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Liver / muscle storage</a:t>
            </a:r>
          </a:p>
        </p:txBody>
      </p:sp>
      <p:sp>
        <p:nvSpPr>
          <p:cNvPr id="19" name="Diagram label: Glucose units&#10;Material to store">
            <a:extLst xmlns:a="http://schemas.openxmlformats.org/drawingml/2006/main">
              <a:ext uri="{FF2B5EF4-FFF2-40B4-BE49-F238E27FC236}">
                <a16:creationId xmlns:a16="http://schemas.microsoft.com/office/drawing/2014/main" id="{09AE1DD5-7D65-4D6F-BAE6-4A7E5487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555" y="4162595"/>
            <a:ext cx="1904065" cy="48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Glucose units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Material to store</a:t>
            </a:r>
          </a:p>
        </p:txBody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6DDF114-6181-46CA-9F20-363C6BB7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77285" y="4386603"/>
            <a:ext cx="175099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C9803B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DE2A2AFB-4A35-4449-8C39-178C1BF9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02144" y="4334334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2" name="Diagram label: Glycogen store model">
            <a:extLst xmlns:a="http://schemas.openxmlformats.org/drawingml/2006/main">
              <a:ext uri="{FF2B5EF4-FFF2-40B4-BE49-F238E27FC236}">
                <a16:creationId xmlns:a16="http://schemas.microsoft.com/office/drawing/2014/main" id="{23715F51-DC47-46B0-9037-102DB552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696" y="4797283"/>
            <a:ext cx="2314745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Glycogen store model</a:t>
            </a:r>
          </a:p>
        </p:txBody>
      </p:sp>
      <p:sp>
        <p:nvSpPr>
          <p:cNvPr id="2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B961925-D809-4DBD-AAA5-F5BF98C3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559" y="3751915"/>
            <a:ext cx="261342" cy="2613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7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8FC2360-4CC4-4299-9C11-C7D3580D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508" y="3751915"/>
            <a:ext cx="261342" cy="2613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7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194018F-408B-4500-94B7-B0CF8765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457" y="3751915"/>
            <a:ext cx="261342" cy="2613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7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00AB406-EE60-415A-BAEA-0F55BC43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361" y="3901253"/>
            <a:ext cx="298677" cy="2986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7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4E8DBD1-3CEE-446B-96F7-0AD10D27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310" y="3901253"/>
            <a:ext cx="298677" cy="2986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7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E1987DD-5AE5-4E28-AA65-24BA946A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259" y="3901253"/>
            <a:ext cx="298677" cy="2986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7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0ACC832-E665-47F6-9E49-9671B64D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6208" y="3901253"/>
            <a:ext cx="298677" cy="2986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7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3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15CA038-D442-4B2B-8A1B-86ED2727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157" y="3901253"/>
            <a:ext cx="298677" cy="2986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7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3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07A053D-7E40-4B00-B329-29E85302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16038" y="4050591"/>
            <a:ext cx="16427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C9803B"/>
            </a:solidFill>
          </a:ln>
        </p:spPr>
      </p:sp>
      <p:sp>
        <p:nvSpPr>
          <p:cNvPr id="3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B0C488B-2872-4DE7-8345-BDB17B45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78987" y="4050591"/>
            <a:ext cx="16427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C9803B"/>
            </a:solidFill>
          </a:ln>
        </p:spPr>
      </p:sp>
      <p:sp>
        <p:nvSpPr>
          <p:cNvPr id="3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4C49A99-9EE8-4EE0-AC63-1E29549B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41936" y="4050591"/>
            <a:ext cx="16427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C9803B"/>
            </a:solidFill>
          </a:ln>
        </p:spPr>
      </p:sp>
      <p:sp>
        <p:nvSpPr>
          <p:cNvPr id="3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AF7BEF3-4C15-449F-AA37-09F7EF59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04885" y="4050591"/>
            <a:ext cx="16427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C9803B"/>
            </a:solidFill>
          </a:ln>
        </p:spPr>
      </p:sp>
      <p:sp>
        <p:nvSpPr>
          <p:cNvPr id="35" name="Diagram label: Insulin is a signal; glucose supplies the stored units.">
            <a:extLst xmlns:a="http://schemas.openxmlformats.org/drawingml/2006/main">
              <a:ext uri="{FF2B5EF4-FFF2-40B4-BE49-F238E27FC236}">
                <a16:creationId xmlns:a16="http://schemas.microsoft.com/office/drawing/2014/main" id="{D4E30236-21C0-4305-8440-DD1DE0A4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5506641"/>
            <a:ext cx="6720228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Insulin is a signal; glucose supplies the stored units.</a:t>
            </a:r>
          </a:p>
        </p:txBody>
      </p:sp>
      <p:sp>
        <p:nvSpPr>
          <p:cNvPr id="36" name="W2. “Insulin is stored as glycogen.”  Replace the wrong substanc">
            <a:extLst xmlns:a="http://schemas.openxmlformats.org/drawingml/2006/main">
              <a:ext uri="{FF2B5EF4-FFF2-40B4-BE49-F238E27FC236}">
                <a16:creationId xmlns:a16="http://schemas.microsoft.com/office/drawing/2014/main" id="{964549C3-DC3F-47B4-8862-47B50FAA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“Insulin is stored as glycogen.” Replace the wrong substance and explain the hormone’s role.</a:t>
            </a:r>
          </a:p>
        </p:txBody>
      </p:sp>
    </p:spTree>
    <p:extLst>
      <p:ext uri="{BB962C8B-B14F-4D97-AF65-F5344CB8AC3E}">
        <p14:creationId xmlns:p14="http://schemas.microsoft.com/office/powerpoint/2010/main" val="5098763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urface">
            <a:extLst xmlns:a="http://schemas.openxmlformats.org/drawingml/2006/main">
              <a:ext uri="{FF2B5EF4-FFF2-40B4-BE49-F238E27FC236}">
                <a16:creationId xmlns:a16="http://schemas.microsoft.com/office/drawing/2014/main" id="{38225732-7F6D-462C-B62F-520D047E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77FBAD0-119E-4DE6-B418-AB2BCB42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50EA934-E3AA-4E12-88DC-D680FDDF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E6BD5233-E953-4348-86E2-98CD0A58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CECCF7A5-77CC-440B-AD77-0ED5F77F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A1DB5DF1-80BD-4770-8E23-309D0D3A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est what the model cannot claim">
            <a:extLst xmlns:a="http://schemas.openxmlformats.org/drawingml/2006/main">
              <a:ext uri="{FF2B5EF4-FFF2-40B4-BE49-F238E27FC236}">
                <a16:creationId xmlns:a16="http://schemas.microsoft.com/office/drawing/2014/main" id="{1CA85B0F-C906-4A59-B209-DCF73BC5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Test what the model cannot claim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0B89771-34A7-4320-B56A-5065D2A5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lood glucose: build the control model">
            <a:extLst xmlns:a="http://schemas.openxmlformats.org/drawingml/2006/main">
              <a:ext uri="{FF2B5EF4-FFF2-40B4-BE49-F238E27FC236}">
                <a16:creationId xmlns:a16="http://schemas.microsoft.com/office/drawing/2014/main" id="{F8769725-7903-44D2-84BC-C009F94D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Blood glucose: build the control model</a:t>
            </a:r>
          </a:p>
        </p:txBody>
      </p:sp>
      <p:sp>
        <p:nvSpPr>
          <p:cNvPr id="10" name="8 / 15">
            <a:extLst xmlns:a="http://schemas.openxmlformats.org/drawingml/2006/main">
              <a:ext uri="{FF2B5EF4-FFF2-40B4-BE49-F238E27FC236}">
                <a16:creationId xmlns:a16="http://schemas.microsoft.com/office/drawing/2014/main" id="{7145ADEC-2BAE-4A74-8DC1-2803437D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1" name="Diagram label: Read direction, not a clinical number">
            <a:extLst xmlns:a="http://schemas.openxmlformats.org/drawingml/2006/main">
              <a:ext uri="{FF2B5EF4-FFF2-40B4-BE49-F238E27FC236}">
                <a16:creationId xmlns:a16="http://schemas.microsoft.com/office/drawing/2014/main" id="{39291FD7-8D12-4893-8677-D2C0E843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direction, not a clinical number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B9F0DC6-71B0-427F-ABFD-B6E0A903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586" y="4386603"/>
            <a:ext cx="5488186" cy="5226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8"/>
          </a:solidFill>
          <a:ln xmlns:a="http://schemas.openxmlformats.org/drawingml/2006/main" w="22401">
            <a:solidFill>
              <a:srgbClr val="E6F0E8"/>
            </a:solidFill>
          </a:ln>
        </p:spPr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159ADA8-2279-4886-B528-9F9771C3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06586" y="5133295"/>
            <a:ext cx="560019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1F2937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717736A-12E4-4CE1-A7E3-C4D6AAB0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06586" y="2893219"/>
            <a:ext cx="953" cy="22400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1F2937"/>
            </a:solidFill>
          </a:ln>
        </p:spPr>
      </p:sp>
      <p:sp>
        <p:nvSpPr>
          <p:cNvPr id="15" name="Diagram label: Raised">
            <a:extLst xmlns:a="http://schemas.openxmlformats.org/drawingml/2006/main">
              <a:ext uri="{FF2B5EF4-FFF2-40B4-BE49-F238E27FC236}">
                <a16:creationId xmlns:a16="http://schemas.microsoft.com/office/drawing/2014/main" id="{68367736-1D1E-4BD7-A073-65BF84D5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3005223"/>
            <a:ext cx="1045369" cy="48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Raised</a:t>
            </a:r>
          </a:p>
        </p:txBody>
      </p:sp>
      <p:sp>
        <p:nvSpPr>
          <p:cNvPr id="16" name="Diagram label: Usual&#10;range">
            <a:extLst xmlns:a="http://schemas.openxmlformats.org/drawingml/2006/main">
              <a:ext uri="{FF2B5EF4-FFF2-40B4-BE49-F238E27FC236}">
                <a16:creationId xmlns:a16="http://schemas.microsoft.com/office/drawing/2014/main" id="{5E9C01E1-9CAB-41FA-B2B2-4449F46C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213" y="4423937"/>
            <a:ext cx="1045369" cy="48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Usual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range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A997119-53C4-44B6-8EFA-38255345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17266" y="3191896"/>
            <a:ext cx="1568053" cy="14560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7A5C9E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EE13FB0-E784-45EF-8583-9EF9352B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85319" y="3191896"/>
            <a:ext cx="1568053" cy="3360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7A5C9E"/>
            </a:solidFill>
          </a:ln>
        </p:spPr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AB4D911-22BB-40D2-8950-94ADE300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53373" y="3527907"/>
            <a:ext cx="1568053" cy="10453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7A5C9E"/>
            </a:solidFill>
          </a:ln>
        </p:spPr>
      </p:sp>
      <p:sp>
        <p:nvSpPr>
          <p:cNvPr id="20" name="Diagram label: Before&#10;input">
            <a:extLst xmlns:a="http://schemas.openxmlformats.org/drawingml/2006/main">
              <a:ext uri="{FF2B5EF4-FFF2-40B4-BE49-F238E27FC236}">
                <a16:creationId xmlns:a16="http://schemas.microsoft.com/office/drawing/2014/main" id="{5D5CCBEB-CB2D-409C-B07B-07FFA577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917" y="5282633"/>
            <a:ext cx="1082703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Before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input</a:t>
            </a:r>
          </a:p>
        </p:txBody>
      </p:sp>
      <p:sp>
        <p:nvSpPr>
          <p:cNvPr id="21" name="Diagram label: After&#10;absorption">
            <a:extLst xmlns:a="http://schemas.openxmlformats.org/drawingml/2006/main">
              <a:ext uri="{FF2B5EF4-FFF2-40B4-BE49-F238E27FC236}">
                <a16:creationId xmlns:a16="http://schemas.microsoft.com/office/drawing/2014/main" id="{A46A773F-4F13-4CF6-ACBD-6BFCE298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7966" y="5282633"/>
            <a:ext cx="1157373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After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absorption</a:t>
            </a:r>
          </a:p>
        </p:txBody>
      </p:sp>
      <p:sp>
        <p:nvSpPr>
          <p:cNvPr id="22" name="Diagram label: Response&#10;develops">
            <a:extLst xmlns:a="http://schemas.openxmlformats.org/drawingml/2006/main">
              <a:ext uri="{FF2B5EF4-FFF2-40B4-BE49-F238E27FC236}">
                <a16:creationId xmlns:a16="http://schemas.microsoft.com/office/drawing/2014/main" id="{BCD3CEEC-830B-4625-980D-A3720046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19" y="5282633"/>
            <a:ext cx="1194707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Response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develops</a:t>
            </a:r>
          </a:p>
        </p:txBody>
      </p:sp>
      <p:sp>
        <p:nvSpPr>
          <p:cNvPr id="23" name="Diagram label: Later">
            <a:extLst xmlns:a="http://schemas.openxmlformats.org/drawingml/2006/main">
              <a:ext uri="{FF2B5EF4-FFF2-40B4-BE49-F238E27FC236}">
                <a16:creationId xmlns:a16="http://schemas.microsoft.com/office/drawing/2014/main" id="{81F4E9F6-1F3C-4F2E-8512-E35E89E2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076" y="5282633"/>
            <a:ext cx="1008034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Later</a:t>
            </a:r>
          </a:p>
        </p:txBody>
      </p:sp>
      <p:sp>
        <p:nvSpPr>
          <p:cNvPr id="24" name="W3. Can the trace predict an exact reading after a meal?  Name t">
            <a:extLst xmlns:a="http://schemas.openxmlformats.org/drawingml/2006/main">
              <a:ext uri="{FF2B5EF4-FFF2-40B4-BE49-F238E27FC236}">
                <a16:creationId xmlns:a16="http://schemas.microsoft.com/office/drawing/2014/main" id="{D65A27B0-E263-4212-A96F-9265A429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Can the trace predict an exact reading after a meal? Name the missing information.</a:t>
            </a:r>
          </a:p>
        </p:txBody>
      </p:sp>
    </p:spTree>
    <p:extLst>
      <p:ext uri="{BB962C8B-B14F-4D97-AF65-F5344CB8AC3E}">
        <p14:creationId xmlns:p14="http://schemas.microsoft.com/office/powerpoint/2010/main" val="1041292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38B2671F-4328-4A27-B494-5863A132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5D41DA9-B5F7-49BC-B763-D76DBBE5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3532045-B698-4ADA-86D0-5DBBEFA7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05B25E60-5899-4904-9D4B-222A1090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32B4961A-E5BB-42D6-889C-B1F356D6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04F23090-D8F7-4607-97D9-A4606C8A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response belongs in the core model?">
            <a:extLst xmlns:a="http://schemas.openxmlformats.org/drawingml/2006/main">
              <a:ext uri="{FF2B5EF4-FFF2-40B4-BE49-F238E27FC236}">
                <a16:creationId xmlns:a16="http://schemas.microsoft.com/office/drawing/2014/main" id="{5746348E-9A91-4F89-A589-ED25DA70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response belongs in the core model?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DC3135B-A725-4E8C-BB08-0E0155B8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lood glucose: build the control model">
            <a:extLst xmlns:a="http://schemas.openxmlformats.org/drawingml/2006/main">
              <a:ext uri="{FF2B5EF4-FFF2-40B4-BE49-F238E27FC236}">
                <a16:creationId xmlns:a16="http://schemas.microsoft.com/office/drawing/2014/main" id="{D946C639-8307-4475-836A-7291CA9C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Blood glucose: build the control model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4CF68D63-28E2-487C-B1C2-BF2B8FE0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Choose a causal sequence.">
            <a:extLst xmlns:a="http://schemas.openxmlformats.org/drawingml/2006/main">
              <a:ext uri="{FF2B5EF4-FFF2-40B4-BE49-F238E27FC236}">
                <a16:creationId xmlns:a16="http://schemas.microsoft.com/office/drawing/2014/main" id="{CE865033-EAE8-4E08-B857-B3B94C55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a causal sequence.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AEA47DB4-645A-4B16-8585-211D1F89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82CBC275-A28B-43ED-A58C-8F505C8A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C5AC1F5B-956A-44DF-9E84-9191DC50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Raised glucose → more insulin release → uptake/storage responses">
            <a:extLst xmlns:a="http://schemas.openxmlformats.org/drawingml/2006/main">
              <a:ext uri="{FF2B5EF4-FFF2-40B4-BE49-F238E27FC236}">
                <a16:creationId xmlns:a16="http://schemas.microsoft.com/office/drawing/2014/main" id="{FE7743BF-C200-4913-9B8F-5107F3C8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Raised glucose → more insulin release → uptake/storage responses.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69EBD664-DA40-4BFE-A8E9-4378F3D2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D6E5AABA-7CC6-4F39-8243-A46CB845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B026FD32-32D0-4087-9296-1772295C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Insulin becomes glucose, so blood glucose rises further.">
            <a:extLst xmlns:a="http://schemas.openxmlformats.org/drawingml/2006/main">
              <a:ext uri="{FF2B5EF4-FFF2-40B4-BE49-F238E27FC236}">
                <a16:creationId xmlns:a16="http://schemas.microsoft.com/office/drawing/2014/main" id="{DCA47DB2-4BEC-4A6F-AB51-C4C56752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Insulin becomes glucose, so blood glucose rises further.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14CCACC4-1F0B-496C-840A-835766A9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B9B37998-3BC0-4F26-BC85-EBCEC5D0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4D9D84EE-4488-4E78-A76B-C0F7B6FB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The picture supplies an exact medicine dose.">
            <a:extLst xmlns:a="http://schemas.openxmlformats.org/drawingml/2006/main">
              <a:ext uri="{FF2B5EF4-FFF2-40B4-BE49-F238E27FC236}">
                <a16:creationId xmlns:a16="http://schemas.microsoft.com/office/drawing/2014/main" id="{789033CF-32C8-4A6E-860B-FCF17774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picture supplies an exact medicine dose.</a:t>
            </a:r>
          </a:p>
        </p:txBody>
      </p:sp>
    </p:spTree>
    <p:extLst>
      <p:ext uri="{BB962C8B-B14F-4D97-AF65-F5344CB8AC3E}">
        <p14:creationId xmlns:p14="http://schemas.microsoft.com/office/powerpoint/2010/main" val="713168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77F6E3C4-7C09-475C-A5FF-9D84AAEA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01357A2-5085-4572-8FB2-3DD025CD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265261B-A555-4C34-9F43-15F2CEF3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00FD4253-11F2-4D03-8EE2-F225AF2E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B207075B-BA8B-4170-9C8E-AF7C2FBD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A967D765-AD7C-4DFA-BD89-B27F4CEA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Create the explanation that sits behind the controls">
            <a:extLst xmlns:a="http://schemas.openxmlformats.org/drawingml/2006/main">
              <a:ext uri="{FF2B5EF4-FFF2-40B4-BE49-F238E27FC236}">
                <a16:creationId xmlns:a16="http://schemas.microsoft.com/office/drawing/2014/main" id="{576D1BD9-6145-4DDA-9D14-93154BF8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Create the explanation that sits behind the controls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02017C9-C0C4-44F5-9A1C-F90320CA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lood glucose: build the control model">
            <a:extLst xmlns:a="http://schemas.openxmlformats.org/drawingml/2006/main">
              <a:ext uri="{FF2B5EF4-FFF2-40B4-BE49-F238E27FC236}">
                <a16:creationId xmlns:a16="http://schemas.microsoft.com/office/drawing/2014/main" id="{E072267B-18F5-4C1A-834C-7FD17956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Blood glucose: build the control model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343A26BA-7010-429F-8FBA-7DCF77CD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your agreed route.">
            <a:extLst xmlns:a="http://schemas.openxmlformats.org/drawingml/2006/main">
              <a:ext uri="{FF2B5EF4-FFF2-40B4-BE49-F238E27FC236}">
                <a16:creationId xmlns:a16="http://schemas.microsoft.com/office/drawing/2014/main" id="{19C97E36-B8DF-40EC-94C2-1C9D6E1D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agreed route.</a:t>
            </a:r>
          </a:p>
        </p:txBody>
      </p:sp>
      <p:sp>
        <p:nvSpPr>
          <p:cNvPr id="12" name="Core: insulin response. Higher extension: separate glucagon bran">
            <a:extLst xmlns:a="http://schemas.openxmlformats.org/drawingml/2006/main">
              <a:ext uri="{FF2B5EF4-FFF2-40B4-BE49-F238E27FC236}">
                <a16:creationId xmlns:a16="http://schemas.microsoft.com/office/drawing/2014/main" id="{574BF252-BD8A-4081-875B-D7AC0C5C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Core: insulin response. Higher extension: separate glucagon branch.</a:t>
            </a:r>
          </a:p>
        </p:txBody>
      </p:sp>
    </p:spTree>
    <p:extLst>
      <p:ext uri="{BB962C8B-B14F-4D97-AF65-F5344CB8AC3E}">
        <p14:creationId xmlns:p14="http://schemas.microsoft.com/office/powerpoint/2010/main" val="10971650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9DA24059-740F-498C-86C0-BCC9C3B5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548F8FA-F27A-4C10-83AF-CBF2F6A0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52888B5-D090-40D9-BC8C-65D74EC6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C066D71C-472B-4AF5-9300-CADD2AA4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A9D54526-1FC6-41E8-895D-12D13C06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0BAF5A50-8463-4329-A2D4-5CE35A2E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Predict, explain and state a limit">
            <a:extLst xmlns:a="http://schemas.openxmlformats.org/drawingml/2006/main">
              <a:ext uri="{FF2B5EF4-FFF2-40B4-BE49-F238E27FC236}">
                <a16:creationId xmlns:a16="http://schemas.microsoft.com/office/drawing/2014/main" id="{900DD5BC-AC6D-4983-998F-16DD7419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Predict, explain and state a limit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F56FCC7B-E6C3-45DD-9967-2E93E782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lood glucose: build the control model">
            <a:extLst xmlns:a="http://schemas.openxmlformats.org/drawingml/2006/main">
              <a:ext uri="{FF2B5EF4-FFF2-40B4-BE49-F238E27FC236}">
                <a16:creationId xmlns:a16="http://schemas.microsoft.com/office/drawing/2014/main" id="{C4FDA5E3-B45A-4F97-BA3D-83E0978C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Blood glucose: build the control model</a:t>
            </a:r>
          </a:p>
        </p:txBody>
      </p:sp>
      <p:sp>
        <p:nvSpPr>
          <p:cNvPr id="10" name="11 / 15">
            <a:extLst xmlns:a="http://schemas.openxmlformats.org/drawingml/2006/main">
              <a:ext uri="{FF2B5EF4-FFF2-40B4-BE49-F238E27FC236}">
                <a16:creationId xmlns:a16="http://schemas.microsoft.com/office/drawing/2014/main" id="{6242D37B-7BC7-464A-8838-9C782ED4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1" name="Use the qualitative sequence and role diagram.">
            <a:extLst xmlns:a="http://schemas.openxmlformats.org/drawingml/2006/main">
              <a:ext uri="{FF2B5EF4-FFF2-40B4-BE49-F238E27FC236}">
                <a16:creationId xmlns:a16="http://schemas.microsoft.com/office/drawing/2014/main" id="{C2CED1A4-1FA6-4BF2-BDC9-612B512A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qualitative sequence and role diagram.</a:t>
            </a:r>
          </a:p>
        </p:txBody>
      </p:sp>
      <p:sp>
        <p:nvSpPr>
          <p:cNvPr id="12" name="Make one correction to a misleading claim.">
            <a:extLst xmlns:a="http://schemas.openxmlformats.org/drawingml/2006/main">
              <a:ext uri="{FF2B5EF4-FFF2-40B4-BE49-F238E27FC236}">
                <a16:creationId xmlns:a16="http://schemas.microsoft.com/office/drawing/2014/main" id="{B0EE398D-DB70-4729-BD82-D04AED94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one correction to a misleading claim.</a:t>
            </a:r>
          </a:p>
        </p:txBody>
      </p:sp>
    </p:spTree>
    <p:extLst>
      <p:ext uri="{BB962C8B-B14F-4D97-AF65-F5344CB8AC3E}">
        <p14:creationId xmlns:p14="http://schemas.microsoft.com/office/powerpoint/2010/main" val="19458606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814AC7AD-1855-4396-870B-D852487B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A4D5787-D34A-4185-A8BF-5C3D71FE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F5313BE-8342-4769-9923-A9909DA5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77721BB9-60FF-4449-AC3D-C6BB2003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98A27B6B-CFE4-43F6-B8D1-FCF796CC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C168A423-8070-4C84-B775-6D1AA220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Audience: which arrow is the message?">
            <a:extLst xmlns:a="http://schemas.openxmlformats.org/drawingml/2006/main">
              <a:ext uri="{FF2B5EF4-FFF2-40B4-BE49-F238E27FC236}">
                <a16:creationId xmlns:a16="http://schemas.microsoft.com/office/drawing/2014/main" id="{81C3F06B-58BC-4A3F-B22D-C7F4F41C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Audience: which arrow is the message?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F11D06DF-B63E-4136-97CC-B6D4033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lood glucose: build the control model">
            <a:extLst xmlns:a="http://schemas.openxmlformats.org/drawingml/2006/main">
              <a:ext uri="{FF2B5EF4-FFF2-40B4-BE49-F238E27FC236}">
                <a16:creationId xmlns:a16="http://schemas.microsoft.com/office/drawing/2014/main" id="{25B2F4EF-C332-40DC-A813-F8A92D32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Blood glucose: build the control model</a:t>
            </a:r>
          </a:p>
        </p:txBody>
      </p:sp>
      <p:sp>
        <p:nvSpPr>
          <p:cNvPr id="10" name="12 / 15">
            <a:extLst xmlns:a="http://schemas.openxmlformats.org/drawingml/2006/main">
              <a:ext uri="{FF2B5EF4-FFF2-40B4-BE49-F238E27FC236}">
                <a16:creationId xmlns:a16="http://schemas.microsoft.com/office/drawing/2014/main" id="{70732FC7-F819-4D4B-9CFE-CC8A075F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1" name="L1. Share one explanation.">
            <a:extLst xmlns:a="http://schemas.openxmlformats.org/drawingml/2006/main">
              <a:ext uri="{FF2B5EF4-FFF2-40B4-BE49-F238E27FC236}">
                <a16:creationId xmlns:a16="http://schemas.microsoft.com/office/drawing/2014/main" id="{24138D6E-9403-4361-B5DA-459F711B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L1. Share one explanation.</a:t>
            </a:r>
          </a:p>
        </p:txBody>
      </p:sp>
      <p:sp>
        <p:nvSpPr>
          <p:cNvPr id="12" name="Audience asks which substance is signalling and which is stored.">
            <a:extLst xmlns:a="http://schemas.openxmlformats.org/drawingml/2006/main">
              <a:ext uri="{FF2B5EF4-FFF2-40B4-BE49-F238E27FC236}">
                <a16:creationId xmlns:a16="http://schemas.microsoft.com/office/drawing/2014/main" id="{259D6F68-BC9B-4CA2-9F13-2BBBE0A4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 asks which substance is signalling and which is stored.</a:t>
            </a:r>
          </a:p>
        </p:txBody>
      </p:sp>
    </p:spTree>
    <p:extLst>
      <p:ext uri="{BB962C8B-B14F-4D97-AF65-F5344CB8AC3E}">
        <p14:creationId xmlns:p14="http://schemas.microsoft.com/office/powerpoint/2010/main" val="168469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489450A6-3238-45CB-B46A-450C9124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09D0A28-BE8A-4A07-8C46-5E47B532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2E9138C-B873-4738-A4C2-7E5FC695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B654FF91-7C16-4535-BBE3-970C383B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62AEE5D6-92DB-4322-9CBF-36CAE86B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0D4E706E-67F6-4ED5-9896-8FB8305E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An accurate model is deliberately bounded">
            <a:extLst xmlns:a="http://schemas.openxmlformats.org/drawingml/2006/main">
              <a:ext uri="{FF2B5EF4-FFF2-40B4-BE49-F238E27FC236}">
                <a16:creationId xmlns:a16="http://schemas.microsoft.com/office/drawing/2014/main" id="{4B1C706F-81EE-4880-A43F-9AACC677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 accurate model is deliberately bounded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7ABAEF0-7D71-4634-A890-C1977149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lood glucose: build the control model">
            <a:extLst xmlns:a="http://schemas.openxmlformats.org/drawingml/2006/main">
              <a:ext uri="{FF2B5EF4-FFF2-40B4-BE49-F238E27FC236}">
                <a16:creationId xmlns:a16="http://schemas.microsoft.com/office/drawing/2014/main" id="{4E969E95-27A9-4189-BB5F-6308950D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Blood glucose: build the control model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8E50D91B-206D-4857-9D09-58172F80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It explains a feedback mechanism.">
            <a:extLst xmlns:a="http://schemas.openxmlformats.org/drawingml/2006/main">
              <a:ext uri="{FF2B5EF4-FFF2-40B4-BE49-F238E27FC236}">
                <a16:creationId xmlns:a16="http://schemas.microsoft.com/office/drawing/2014/main" id="{B762547E-FFA6-4EDC-AB63-8F7DB5CB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It explains a feedback mechanism.</a:t>
            </a:r>
          </a:p>
        </p:txBody>
      </p:sp>
      <p:sp>
        <p:nvSpPr>
          <p:cNvPr id="12" name="It does not diagnose a condition or prescribe an action.">
            <a:extLst xmlns:a="http://schemas.openxmlformats.org/drawingml/2006/main">
              <a:ext uri="{FF2B5EF4-FFF2-40B4-BE49-F238E27FC236}">
                <a16:creationId xmlns:a16="http://schemas.microsoft.com/office/drawing/2014/main" id="{BC0B5F9D-6648-4708-A7D1-0E0D2474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It does not diagnose a condition or prescribe an action.</a:t>
            </a:r>
          </a:p>
        </p:txBody>
      </p:sp>
    </p:spTree>
    <p:extLst>
      <p:ext uri="{BB962C8B-B14F-4D97-AF65-F5344CB8AC3E}">
        <p14:creationId xmlns:p14="http://schemas.microsoft.com/office/powerpoint/2010/main" val="19629957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77DCB6F6-05C5-4A07-BAF6-D34EB826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EADC82A-5A7E-47FF-83B9-834D6692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FC08434-ADE8-486C-841B-A702299C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D34CB96E-972F-4C75-853B-65351E5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A2D166B4-F4F3-4D0E-A194-BE3B6F8E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51A4192D-A5A4-4C9C-A675-A7FAD90B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Keep the roles distinct">
            <a:extLst xmlns:a="http://schemas.openxmlformats.org/drawingml/2006/main">
              <a:ext uri="{FF2B5EF4-FFF2-40B4-BE49-F238E27FC236}">
                <a16:creationId xmlns:a16="http://schemas.microsoft.com/office/drawing/2014/main" id="{88111764-8B62-4A76-870B-C7D766FA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the roles distinct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90E2AA2-387A-4427-B247-229B090E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Blood glucose: build the control model">
            <a:extLst xmlns:a="http://schemas.openxmlformats.org/drawingml/2006/main">
              <a:ext uri="{FF2B5EF4-FFF2-40B4-BE49-F238E27FC236}">
                <a16:creationId xmlns:a16="http://schemas.microsoft.com/office/drawing/2014/main" id="{D24827C6-DE4C-4D26-B2DB-A56A6718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Blood glucose: build the control model</a:t>
            </a:r>
          </a:p>
        </p:txBody>
      </p:sp>
      <p:sp>
        <p:nvSpPr>
          <p:cNvPr id="10" name="14 / 15">
            <a:extLst xmlns:a="http://schemas.openxmlformats.org/drawingml/2006/main">
              <a:ext uri="{FF2B5EF4-FFF2-40B4-BE49-F238E27FC236}">
                <a16:creationId xmlns:a16="http://schemas.microsoft.com/office/drawing/2014/main" id="{5E70040E-B61B-4A7C-B192-68CC6E3B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1" name="E1. Which organ releases insulin?">
            <a:extLst xmlns:a="http://schemas.openxmlformats.org/drawingml/2006/main">
              <a:ext uri="{FF2B5EF4-FFF2-40B4-BE49-F238E27FC236}">
                <a16:creationId xmlns:a16="http://schemas.microsoft.com/office/drawing/2014/main" id="{7B65D4C2-8512-49AF-B4A7-33531769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Which organ releases insulin?</a:t>
            </a:r>
          </a:p>
        </p:txBody>
      </p:sp>
      <p:sp>
        <p:nvSpPr>
          <p:cNvPr id="12" name="E2. What is stored as glycogen?">
            <a:extLst xmlns:a="http://schemas.openxmlformats.org/drawingml/2006/main">
              <a:ext uri="{FF2B5EF4-FFF2-40B4-BE49-F238E27FC236}">
                <a16:creationId xmlns:a16="http://schemas.microsoft.com/office/drawing/2014/main" id="{0A2B678C-13E6-41E8-9CB5-EAB072E7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What is stored as glycogen?</a:t>
            </a:r>
          </a:p>
        </p:txBody>
      </p:sp>
      <p:sp>
        <p:nvSpPr>
          <p:cNvPr id="13" name="E3. Why can this model not predict a dose?">
            <a:extLst xmlns:a="http://schemas.openxmlformats.org/drawingml/2006/main">
              <a:ext uri="{FF2B5EF4-FFF2-40B4-BE49-F238E27FC236}">
                <a16:creationId xmlns:a16="http://schemas.microsoft.com/office/drawing/2014/main" id="{8DC3167E-B7B4-43B0-85D9-12EDA3BB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Why can this model not predict a dose?</a:t>
            </a:r>
          </a:p>
        </p:txBody>
      </p:sp>
    </p:spTree>
    <p:extLst>
      <p:ext uri="{BB962C8B-B14F-4D97-AF65-F5344CB8AC3E}">
        <p14:creationId xmlns:p14="http://schemas.microsoft.com/office/powerpoint/2010/main" val="5349708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9D87028D-6159-4119-8D65-D7EAE67F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ADF046C-AA51-4A98-8B6A-3E321142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4F719DF-912B-4A7A-9223-D726BDFC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5AAC2C2-609A-4219-8AE6-9C10A2F7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15F3927B-2BDA-422F-8629-98B0CEB6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Next useful step">
            <a:extLst xmlns:a="http://schemas.openxmlformats.org/drawingml/2006/main">
              <a:ext uri="{FF2B5EF4-FFF2-40B4-BE49-F238E27FC236}">
                <a16:creationId xmlns:a16="http://schemas.microsoft.com/office/drawing/2014/main" id="{8ADD6C58-B536-4BEF-A6ED-1C3521FD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Next useful step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F6A5F381-766D-482E-800D-23E8D381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Blood glucose: build the control model">
            <a:extLst xmlns:a="http://schemas.openxmlformats.org/drawingml/2006/main">
              <a:ext uri="{FF2B5EF4-FFF2-40B4-BE49-F238E27FC236}">
                <a16:creationId xmlns:a16="http://schemas.microsoft.com/office/drawing/2014/main" id="{B455D027-3B09-41A5-8B0A-3B365A44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Blood glucose: build the control model</a:t>
            </a:r>
          </a:p>
        </p:txBody>
      </p:sp>
      <p:sp>
        <p:nvSpPr>
          <p:cNvPr id="9" name="15 / 15">
            <a:extLst xmlns:a="http://schemas.openxmlformats.org/drawingml/2006/main">
              <a:ext uri="{FF2B5EF4-FFF2-40B4-BE49-F238E27FC236}">
                <a16:creationId xmlns:a16="http://schemas.microsoft.com/office/drawing/2014/main" id="{72F93F9D-76C5-454B-A221-14116C6A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0" name="Sequence • substance roles • feedback • model limits.">
            <a:extLst xmlns:a="http://schemas.openxmlformats.org/drawingml/2006/main">
              <a:ext uri="{FF2B5EF4-FFF2-40B4-BE49-F238E27FC236}">
                <a16:creationId xmlns:a16="http://schemas.microsoft.com/office/drawing/2014/main" id="{BE0CF635-242F-4E6B-B27E-05F49C42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Sequence • substance roles • feedback • model limits.</a:t>
            </a:r>
          </a:p>
        </p:txBody>
      </p:sp>
    </p:spTree>
    <p:extLst>
      <p:ext uri="{BB962C8B-B14F-4D97-AF65-F5344CB8AC3E}">
        <p14:creationId xmlns:p14="http://schemas.microsoft.com/office/powerpoint/2010/main" val="643495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2026-09-08T23:58:43.1510000Z</dcterms:created>
  <dcterms:modified xsi:type="dcterms:W3CDTF">2026-09-08T23:58:43.1510000Z</dcterms:modified>
</coreProperties>
</file>