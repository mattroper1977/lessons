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344f88a724dd5" /><Relationship Type="http://schemas.openxmlformats.org/officeDocument/2006/relationships/extended-properties" Target="/docProps/app.xml" Id="R2ff6969aa3b642b5" /><Relationship Type="http://schemas.openxmlformats.org/officeDocument/2006/relationships/officeDocument" Target="/ppt/presentation.xml" Id="Rf415adf42a9f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03178ba504722"/>
  </p:sldMasterIdLst>
  <p:notesMasterIdLst>
    <p:notesMasterId xmlns:r="http://schemas.openxmlformats.org/officeDocument/2006/relationships" r:id="R28d5d2e5c5f049f3"/>
  </p:notesMasterIdLst>
  <p:sldIdLst>
    <p:sldId xmlns:r="http://schemas.openxmlformats.org/officeDocument/2006/relationships" id="256" r:id="Rf835042519a549d6"/>
    <p:sldId xmlns:r="http://schemas.openxmlformats.org/officeDocument/2006/relationships" id="257" r:id="R672a1cb23eb842e9"/>
    <p:sldId xmlns:r="http://schemas.openxmlformats.org/officeDocument/2006/relationships" id="258" r:id="R8861fe6820494c12"/>
    <p:sldId xmlns:r="http://schemas.openxmlformats.org/officeDocument/2006/relationships" id="259" r:id="Ra950bf9b6a16428a"/>
    <p:sldId xmlns:r="http://schemas.openxmlformats.org/officeDocument/2006/relationships" id="260" r:id="Rde979ee2a01e4760"/>
    <p:sldId xmlns:r="http://schemas.openxmlformats.org/officeDocument/2006/relationships" id="261" r:id="R3f3e6bcb9cd54688"/>
    <p:sldId xmlns:r="http://schemas.openxmlformats.org/officeDocument/2006/relationships" id="262" r:id="R6bc51580dcb64c8b"/>
    <p:sldId xmlns:r="http://schemas.openxmlformats.org/officeDocument/2006/relationships" id="263" r:id="Rf3a2f52522134162"/>
    <p:sldId xmlns:r="http://schemas.openxmlformats.org/officeDocument/2006/relationships" id="264" r:id="Ra90fa48d060043cf"/>
    <p:sldId xmlns:r="http://schemas.openxmlformats.org/officeDocument/2006/relationships" id="265" r:id="R3b0bb1219fd64bf2"/>
    <p:sldId xmlns:r="http://schemas.openxmlformats.org/officeDocument/2006/relationships" id="266" r:id="R0a417c969003431c"/>
    <p:sldId xmlns:r="http://schemas.openxmlformats.org/officeDocument/2006/relationships" id="267" r:id="R544f716aec414413"/>
    <p:sldId xmlns:r="http://schemas.openxmlformats.org/officeDocument/2006/relationships" id="268" r:id="R35987514b5db47e8"/>
    <p:sldId xmlns:r="http://schemas.openxmlformats.org/officeDocument/2006/relationships" id="269" r:id="R6f093e2558324fa6"/>
    <p:sldId xmlns:r="http://schemas.openxmlformats.org/officeDocument/2006/relationships" id="270" r:id="Rd84c9df3061e49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698bb8f6494c95" /><Relationship Type="http://schemas.openxmlformats.org/officeDocument/2006/relationships/slideMaster" Target="/ppt/slideMasters/slideMaster1.xml" Id="Rcc603178ba504722" /><Relationship Type="http://schemas.openxmlformats.org/officeDocument/2006/relationships/notesMaster" Target="/ppt/notesMasters/notesMaster1.xml" Id="R28d5d2e5c5f049f3" /><Relationship Type="http://schemas.openxmlformats.org/officeDocument/2006/relationships/presProps" Target="/ppt/presProps.xml" Id="R467791cbe2c24e45" /><Relationship Type="http://schemas.openxmlformats.org/officeDocument/2006/relationships/tableStyles" Target="/ppt/tableStyles.xml" Id="Rd3b995606b79448e" /><Relationship Type="http://schemas.openxmlformats.org/officeDocument/2006/relationships/slide" Target="/ppt/slides/slide1.xml" Id="Rf835042519a549d6" /><Relationship Type="http://schemas.openxmlformats.org/officeDocument/2006/relationships/slide" Target="/ppt/slides/slide2.xml" Id="R672a1cb23eb842e9" /><Relationship Type="http://schemas.openxmlformats.org/officeDocument/2006/relationships/slide" Target="/ppt/slides/slide3.xml" Id="R8861fe6820494c12" /><Relationship Type="http://schemas.openxmlformats.org/officeDocument/2006/relationships/slide" Target="/ppt/slides/slide4.xml" Id="Ra950bf9b6a16428a" /><Relationship Type="http://schemas.openxmlformats.org/officeDocument/2006/relationships/slide" Target="/ppt/slides/slide5.xml" Id="Rde979ee2a01e4760" /><Relationship Type="http://schemas.openxmlformats.org/officeDocument/2006/relationships/slide" Target="/ppt/slides/slide6.xml" Id="R3f3e6bcb9cd54688" /><Relationship Type="http://schemas.openxmlformats.org/officeDocument/2006/relationships/slide" Target="/ppt/slides/slide7.xml" Id="R6bc51580dcb64c8b" /><Relationship Type="http://schemas.openxmlformats.org/officeDocument/2006/relationships/slide" Target="/ppt/slides/slide8.xml" Id="Rf3a2f52522134162" /><Relationship Type="http://schemas.openxmlformats.org/officeDocument/2006/relationships/slide" Target="/ppt/slides/slide9.xml" Id="Ra90fa48d060043cf" /><Relationship Type="http://schemas.openxmlformats.org/officeDocument/2006/relationships/slide" Target="/ppt/slides/slide10.xml" Id="R3b0bb1219fd64bf2" /><Relationship Type="http://schemas.openxmlformats.org/officeDocument/2006/relationships/slide" Target="/ppt/slides/slide11.xml" Id="R0a417c969003431c" /><Relationship Type="http://schemas.openxmlformats.org/officeDocument/2006/relationships/slide" Target="/ppt/slides/slide12.xml" Id="R544f716aec414413" /><Relationship Type="http://schemas.openxmlformats.org/officeDocument/2006/relationships/slide" Target="/ppt/slides/slide13.xml" Id="R35987514b5db47e8" /><Relationship Type="http://schemas.openxmlformats.org/officeDocument/2006/relationships/slide" Target="/ppt/slides/slide14.xml" Id="R6f093e2558324fa6" /><Relationship Type="http://schemas.openxmlformats.org/officeDocument/2006/relationships/slide" Target="/ppt/slides/slide15.xml" Id="Rd84c9df3061e49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8035d3604544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db7f38cce444c" /><Relationship Type="http://schemas.openxmlformats.org/officeDocument/2006/relationships/notesMaster" Target="/ppt/notesMasters/notesMaster1.xml" Id="Ra76ecd87b82b40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3d2c2ffdc04ce8" /><Relationship Type="http://schemas.openxmlformats.org/officeDocument/2006/relationships/notesMaster" Target="/ppt/notesMasters/notesMaster1.xml" Id="R68ce6860ccaa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1d37cb41684e3f" /><Relationship Type="http://schemas.openxmlformats.org/officeDocument/2006/relationships/notesMaster" Target="/ppt/notesMasters/notesMaster1.xml" Id="R6cd8e2468b384c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3d943fce4e44d8" /><Relationship Type="http://schemas.openxmlformats.org/officeDocument/2006/relationships/notesMaster" Target="/ppt/notesMasters/notesMaster1.xml" Id="R7add99f0d8b4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ab52d448e94e2c" /><Relationship Type="http://schemas.openxmlformats.org/officeDocument/2006/relationships/notesMaster" Target="/ppt/notesMasters/notesMaster1.xml" Id="R45fc58338ea04b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0f416e3524ff3" /><Relationship Type="http://schemas.openxmlformats.org/officeDocument/2006/relationships/notesMaster" Target="/ppt/notesMasters/notesMaster1.xml" Id="Re1062538c0a24a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ee32934afb4a08" /><Relationship Type="http://schemas.openxmlformats.org/officeDocument/2006/relationships/notesMaster" Target="/ppt/notesMasters/notesMaster1.xml" Id="Rec75600937e643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26a3dd4e24250" /><Relationship Type="http://schemas.openxmlformats.org/officeDocument/2006/relationships/notesMaster" Target="/ppt/notesMasters/notesMaster1.xml" Id="Rbeebaf704bbd40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21793d068c4492" /><Relationship Type="http://schemas.openxmlformats.org/officeDocument/2006/relationships/notesMaster" Target="/ppt/notesMasters/notesMaster1.xml" Id="Radff23b5242742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744dbff68c4515" /><Relationship Type="http://schemas.openxmlformats.org/officeDocument/2006/relationships/notesMaster" Target="/ppt/notesMasters/notesMaster1.xml" Id="R8799a0e8d62f41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1f34c3c0424e8b" /><Relationship Type="http://schemas.openxmlformats.org/officeDocument/2006/relationships/notesMaster" Target="/ppt/notesMasters/notesMaster1.xml" Id="R9aefa7c5858d4c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77e282f2e64891" /><Relationship Type="http://schemas.openxmlformats.org/officeDocument/2006/relationships/notesMaster" Target="/ppt/notesMasters/notesMaster1.xml" Id="R7e5495a563be47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8c5597d0d342c1" /><Relationship Type="http://schemas.openxmlformats.org/officeDocument/2006/relationships/notesMaster" Target="/ppt/notesMasters/notesMaster1.xml" Id="R57f69b293de147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67b778c5d64460" /><Relationship Type="http://schemas.openxmlformats.org/officeDocument/2006/relationships/notesMaster" Target="/ppt/notesMasters/notesMaster1.xml" Id="R317ab7bc1fca4f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f0ecd87f69421a" /><Relationship Type="http://schemas.openxmlformats.org/officeDocument/2006/relationships/notesMaster" Target="/ppt/notesMasters/notesMaster1.xml" Id="Rd5feb31e2437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Display the raw-count claim. Let pupils predict; an answer about proportions requires denominators. The mission is an honest infographic, not identifying a real dangerous town.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relevant whole/population. R2: category labels, numerical axis with units, title, period and source. R3: no. Accept three key labels before adding the full source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source card. Model: “I record WHO, the page title and URL, publication date, data year 2021, global scope and the death measure. I do not relabel 75% as a share of all people.” The page was checked on 8 September 2026; infer no current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12 ÷ 2000 = 0.006, then 0.006 × 1000 = 6. Keep new cases per 1000 people over 7 days in the final unit. This is a cumulative incidence proportion, commonly called a rate in school work; it is not cases per person-year.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Worked constructed example:12 new cases among 2000 people during the same 7 days.12 divided by 2000 times 1000 equals 6 new cases per 1000 people over 7 days. This is a period proportion expressed per 1000, not a person-time incidence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“C recorded 12 more cases than B. That matters for workload, but C has six times B’s population. I cannot infer the higher proportion from the count.” Point to the zero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same 7-day surveillance data: town A 24 new cases, B 18, C 30. A has 3000 people at risk, B 1000 and C 6000. Raw counts alone do not show the greatest proportion affected.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A: 24 ÷ 3000 × 1000 = 8; B = 18; C = 5. Ask pairs or a TA to verify one calculation. A spreadsheet is optional; the teacher guide supplies the exact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has the greatest count (30); B has the greatest value per 1000 (18). Use the controlled count/rate toggle or draw three bars on paper. Both claims can be true; neither proves a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Same constructed 7-day data expressed per 1000 people at risk: A 8, B 18, C 5. B has the highest observed proportion, while C had the greatest count. This does not prove why the towns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Expected: B had the highest recorded new cases per 1000 during the period; the cause of the difference is not established. Suggest comparable testing and exposure information as additional research; pupils do not collect biological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B had the highest recorded cases per 1000 during these 7 days. The table does not establish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is correct. A confuses count and proportion. C confuses the denominator. D confuses publication and data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C has the largest proportion because it has 30 cases.</a:t>
            </a:r>
          </a:p>
          <a:p xmlns:a="http://schemas.openxmlformats.org/drawingml/2006/main">
            <a:r>
              <a:t>C has 6000 people:30/6000×1000=5, below B’s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B recorded 18 new cases per 1000 people in the same 7 days.</a:t>
            </a:r>
          </a:p>
          <a:p xmlns:a="http://schemas.openxmlformats.org/drawingml/2006/main">
            <a:r>
              <a:t>Correct. Yes:18 cases among 1000 people, with the period stated.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The WHO 75% means 75% of all people died.</a:t>
            </a:r>
          </a:p>
          <a:p xmlns:a="http://schemas.openxmlformats.org/drawingml/2006/main">
            <a:r>
              <a:t>The denominator is non-pandemic-related global deaths, not all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A page published 2025 must contain 2025 measurements.</a:t>
            </a:r>
          </a:p>
          <a:p xmlns:a="http://schemas.openxmlformats.org/drawingml/2006/main">
            <a:r>
              <a:t>The source card explicitly describes 2021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use paper or a blank document. All sources and data are supplied; an internet connection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Check the denominator before colour or layout. Accuracy and readability define a useful infographic. Each route supplies chart or response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use the audience question to revise an axis label or caption, or justify an accurate one. Quiet review counts. Avoid rewarding dramatic headlines over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“B has the highest recorded 7-day cases per 1000 in the constructed example.” Ask pupils to verify the caption retains the constructed-data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5 per 1000 for the stated period. E2: publication year can differ from data year; data age affects interpretation. E3: no. Re-teach the fraction first if E1 is incorrect.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Collect the infographic or annotated sketch; keep work private unless the pupil chooses to share.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 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WHO: Noncommunicable diseases</a:t>
            </a:r>
          </a:p>
          <a:p xmlns:a="http://schemas.openxmlformats.org/drawingml/2006/main">
            <a:r>
              <a:t>https://www.who.int/news-room/fact-sheets/detail/noncommunicable-diseases</a:t>
            </a:r>
          </a:p>
          <a:p xmlns:a="http://schemas.openxmlformats.org/drawingml/2006/main">
            <a:r>
              <a:t>Offline source card paraphrases the page dated 25 September 2025: at least 43 million NCD deaths in 2021 and 75% of non-pandemic-related deaths globally. Denominator and data year retained.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CDC Field Epidemiology Manual: Describing Epidemiologic Data</a:t>
            </a:r>
          </a:p>
          <a:p xmlns:a="http://schemas.openxmlformats.org/drawingml/2006/main">
            <a:r>
              <a:t>https://www.cdc.gov/field-epi-manual/php/chapters/describing-epi-data.html</a:t>
            </a:r>
          </a:p>
          <a:p xmlns:a="http://schemas.openxmlformats.org/drawingml/2006/main">
            <a:r>
              <a:t>Checked counts versus population comparisons, time/place/person context and chart labelling; lesson arithmetic and fictional town data are original.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60ee88cdf4b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475bcf95d4121" /><Relationship Type="http://schemas.openxmlformats.org/officeDocument/2006/relationships/slideLayout" Target="/ppt/slideLayouts/slideLayout1.xml" Id="Rbe6a0dc843f6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a0dc843f6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237387b9e49e0" /><Relationship Type="http://schemas.openxmlformats.org/officeDocument/2006/relationships/notesSlide" Target="/ppt/notesSlides/notesSlide1.xml" Id="Rbde72862ee364b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4cdc72083443d" /><Relationship Type="http://schemas.openxmlformats.org/officeDocument/2006/relationships/notesSlide" Target="/ppt/notesSlides/notesSlide2.xml" Id="R6d0e1763577340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abd8550f94b52" /><Relationship Type="http://schemas.openxmlformats.org/officeDocument/2006/relationships/notesSlide" Target="/ppt/notesSlides/notesSlide3.xml" Id="Rf23f027aaa1946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5a60accc84a27" /><Relationship Type="http://schemas.openxmlformats.org/officeDocument/2006/relationships/notesSlide" Target="/ppt/notesSlides/notesSlide4.xml" Id="R617bed8436c84e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7c1816904065" /><Relationship Type="http://schemas.openxmlformats.org/officeDocument/2006/relationships/notesSlide" Target="/ppt/notesSlides/notesSlide5.xml" Id="Rae3277d8dc2e49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2f69d4ce042fc" /><Relationship Type="http://schemas.openxmlformats.org/officeDocument/2006/relationships/notesSlide" Target="/ppt/notesSlides/notesSlide6.xml" Id="R3627c399142a4f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715b4de074ecd" /><Relationship Type="http://schemas.openxmlformats.org/officeDocument/2006/relationships/notesSlide" Target="/ppt/notesSlides/notesSlide7.xml" Id="Rd7bc3052ce3d4e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0fd6620d544cf" /><Relationship Type="http://schemas.openxmlformats.org/officeDocument/2006/relationships/notesSlide" Target="/ppt/notesSlides/notesSlide8.xml" Id="R8f6135944f83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105fbedf4573" /><Relationship Type="http://schemas.openxmlformats.org/officeDocument/2006/relationships/notesSlide" Target="/ppt/notesSlides/notesSlide9.xml" Id="Rba84b63c945644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a6fd9ab9d4c78" /><Relationship Type="http://schemas.openxmlformats.org/officeDocument/2006/relationships/notesSlide" Target="/ppt/notesSlides/notesSlide10.xml" Id="R72587e1276b64c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6794fa61a4338" /><Relationship Type="http://schemas.openxmlformats.org/officeDocument/2006/relationships/notesSlide" Target="/ppt/notesSlides/notesSlide11.xml" Id="R758c4fb67f914e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92436fd444449" /><Relationship Type="http://schemas.openxmlformats.org/officeDocument/2006/relationships/notesSlide" Target="/ppt/notesSlides/notesSlide12.xml" Id="Rc16f79545db24f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2e5372edb4702" /><Relationship Type="http://schemas.openxmlformats.org/officeDocument/2006/relationships/notesSlide" Target="/ppt/notesSlides/notesSlide13.xml" Id="R82d0b203accf49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c592f90474630" /><Relationship Type="http://schemas.openxmlformats.org/officeDocument/2006/relationships/notesSlide" Target="/ppt/notesSlides/notesSlide14.xml" Id="R238dec8491d345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e963b6874465" /><Relationship Type="http://schemas.openxmlformats.org/officeDocument/2006/relationships/notesSlide" Target="/ppt/notesSlides/notesSlide15.xml" Id="R2fb83c71ea3b4a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B9F8F35C-CC58-4EB7-BEE7-18DA3B8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4FF57AB-C368-4101-B03C-F27E7BE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22827F8-6E91-4AFC-A6CB-AEF95621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423A930-E834-438A-809C-1294811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A639F31E-AE6D-40A6-9897-7499BB40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574C85A-8E41-4BD6-A9F2-01779B7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headline can be numerically true and misleading">
            <a:extLst xmlns:a="http://schemas.openxmlformats.org/drawingml/2006/main">
              <a:ext uri="{FF2B5EF4-FFF2-40B4-BE49-F238E27FC236}">
                <a16:creationId xmlns:a16="http://schemas.microsoft.com/office/drawing/2014/main" id="{816870D0-2B49-42D2-94CB-D01F87D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headline can be numerically true and misleading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CAFE94C-4B95-436B-8333-612CD9B7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218F7EF5-D75B-4E2A-86BC-99292E62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278FFD35-199E-45F4-9389-5D085701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FB28686-B3C6-4D7A-9234-4F1A8FBC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F068C30-2901-4C97-A088-F1D1D3B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8E541508-2389-4BE6-9B98-7D651F9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Create an accurate disease-data infographic using a checked sour">
            <a:extLst xmlns:a="http://schemas.openxmlformats.org/drawingml/2006/main">
              <a:ext uri="{FF2B5EF4-FFF2-40B4-BE49-F238E27FC236}">
                <a16:creationId xmlns:a16="http://schemas.microsoft.com/office/drawing/2014/main" id="{7132F79E-36BA-4C2A-9AAF-8B1DCFE8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Create an accurate disease-data infographic using a checked source,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comparable population measures and a cautious conclusion.</a:t>
            </a:r>
          </a:p>
        </p:txBody>
      </p:sp>
      <p:sp>
        <p:nvSpPr>
          <p:cNvPr id="15" name="“Town C has the most cases.”">
            <a:extLst xmlns:a="http://schemas.openxmlformats.org/drawingml/2006/main">
              <a:ext uri="{FF2B5EF4-FFF2-40B4-BE49-F238E27FC236}">
                <a16:creationId xmlns:a16="http://schemas.microsoft.com/office/drawing/2014/main" id="{C0A7112E-2B76-453A-939A-6FA1AFB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“Town C has the most cases.”</a:t>
            </a:r>
          </a:p>
        </p:txBody>
      </p:sp>
      <p:sp>
        <p:nvSpPr>
          <p:cNvPr id="16" name="Does that tell us which town has the largest proportion affected">
            <a:extLst xmlns:a="http://schemas.openxmlformats.org/drawingml/2006/main">
              <a:ext uri="{FF2B5EF4-FFF2-40B4-BE49-F238E27FC236}">
                <a16:creationId xmlns:a16="http://schemas.microsoft.com/office/drawing/2014/main" id="{6F9A6AF0-D5B1-4E3B-B27D-23F6971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that tell us which town has the largest proportion affected?</a:t>
            </a:r>
          </a:p>
        </p:txBody>
      </p:sp>
    </p:spTree>
    <p:extLst>
      <p:ext uri="{BB962C8B-B14F-4D97-AF65-F5344CB8AC3E}">
        <p14:creationId xmlns:p14="http://schemas.microsoft.com/office/powerpoint/2010/main" val="1176690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089085E-982F-43F8-BA1F-7D2834CD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4495489-1969-47ED-A44F-03177377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E6CE5BA-6063-4F79-97F6-844C3603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99B15D1-A747-49BA-B885-B901DE3D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4EFCF200-69BE-409F-AB5F-F111C4C5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D4806F08-2666-4D93-A46B-FFC27237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ad what the number means">
            <a:extLst xmlns:a="http://schemas.openxmlformats.org/drawingml/2006/main">
              <a:ext uri="{FF2B5EF4-FFF2-40B4-BE49-F238E27FC236}">
                <a16:creationId xmlns:a16="http://schemas.microsoft.com/office/drawing/2014/main" id="{5C53F170-ED51-4F56-8EE7-B0C373B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what the number means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AD12601-C76B-4868-9FB7-CCE9CBC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9BBEEE8C-E310-4C56-98B9-BC29ECC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2918F643-9D0A-4CA6-A4AE-BD382454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does a denominator tell us?">
            <a:extLst xmlns:a="http://schemas.openxmlformats.org/drawingml/2006/main">
              <a:ext uri="{FF2B5EF4-FFF2-40B4-BE49-F238E27FC236}">
                <a16:creationId xmlns:a16="http://schemas.microsoft.com/office/drawing/2014/main" id="{259B7C01-B319-46A0-A4F0-5DF6A553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does a denominator tell us?</a:t>
            </a:r>
          </a:p>
        </p:txBody>
      </p:sp>
      <p:sp>
        <p:nvSpPr>
          <p:cNvPr id="12" name="R2. What labels does a bar chart need?">
            <a:extLst xmlns:a="http://schemas.openxmlformats.org/drawingml/2006/main">
              <a:ext uri="{FF2B5EF4-FFF2-40B4-BE49-F238E27FC236}">
                <a16:creationId xmlns:a16="http://schemas.microsoft.com/office/drawing/2014/main" id="{6D5B0F52-87A1-491F-8584-DE572E00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labels does a bar chart need?</a:t>
            </a:r>
          </a:p>
        </p:txBody>
      </p:sp>
      <p:sp>
        <p:nvSpPr>
          <p:cNvPr id="13" name="R3. Does a pattern alone prove a cause?">
            <a:extLst xmlns:a="http://schemas.openxmlformats.org/drawingml/2006/main">
              <a:ext uri="{FF2B5EF4-FFF2-40B4-BE49-F238E27FC236}">
                <a16:creationId xmlns:a16="http://schemas.microsoft.com/office/drawing/2014/main" id="{43E2FA57-B335-42C8-BCD9-3AE5F81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a pattern alone prove a cause?</a:t>
            </a:r>
          </a:p>
        </p:txBody>
      </p:sp>
    </p:spTree>
    <p:extLst>
      <p:ext uri="{BB962C8B-B14F-4D97-AF65-F5344CB8AC3E}">
        <p14:creationId xmlns:p14="http://schemas.microsoft.com/office/powerpoint/2010/main" val="1772224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5E926DA-6DB3-421E-841B-4D8E5CB4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570C3B7-A645-49C8-8B80-D4832342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370FD24-6A58-4A74-901C-49FA66FD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EE5CE9B-2280-4755-AC90-FAE922F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670B6FE-9007-44C2-BBE7-4B5E4E5C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4B72016E-60A1-42CC-8D4C-2B475568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Research the source, not just the number">
            <a:extLst xmlns:a="http://schemas.openxmlformats.org/drawingml/2006/main">
              <a:ext uri="{FF2B5EF4-FFF2-40B4-BE49-F238E27FC236}">
                <a16:creationId xmlns:a16="http://schemas.microsoft.com/office/drawing/2014/main" id="{6C3251D8-C3C3-4617-860E-FBAEE51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Research the source, not just the number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7B4F9ED-57E2-42FC-9BC5-D0244C5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B315FCC0-69F3-469B-BB29-836BFFF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7B76A324-4AEF-442B-B8B7-2700C66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WHO page published 2025; data describe 2021. The statistic measu">
            <a:extLst xmlns:a="http://schemas.openxmlformats.org/drawingml/2006/main">
              <a:ext uri="{FF2B5EF4-FFF2-40B4-BE49-F238E27FC236}">
                <a16:creationId xmlns:a16="http://schemas.microsoft.com/office/drawing/2014/main" id="{3A9E3CFE-789D-4185-A4AE-97F10C19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WHO page published 2025; data describe 2021. The statistic measures deaths, not people infected.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Ask: who counted what, where and when?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6601"/>
                <a:gridCol w="6598599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Source check</a:t>
                      </a:r>
                    </a:p>
                  </a:txBody>
                  <a:tcPr marL="95250" marR="95250" marT="95250" marB="95250" anchor="ctr">
                    <a:solidFill>
                      <a:srgbClr val="C9803B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What the card says</a:t>
                      </a:r>
                    </a:p>
                  </a:txBody>
                  <a:tcPr marL="95250" marR="95250" marT="95250" marB="95250" anchor="ctr">
                    <a:solidFill>
                      <a:srgbClr val="C9803B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Publisher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WHO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Published / data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25 Sep 2025 /2021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Measure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Non-communicable disease deaths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75% denominator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Non-pandemic-related global deaths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al WHO source; figures are estimates for 2021, not today’s sch">
            <a:extLst xmlns:a="http://schemas.openxmlformats.org/drawingml/2006/main">
              <a:ext uri="{FF2B5EF4-FFF2-40B4-BE49-F238E27FC236}">
                <a16:creationId xmlns:a16="http://schemas.microsoft.com/office/drawing/2014/main" id="{2F4857DF-879A-475A-B556-900726E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2208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Real WHO source; figures are estimates for 2021, not today’s school data.</a:t>
            </a:r>
          </a:p>
        </p:txBody>
      </p:sp>
    </p:spTree>
    <p:extLst>
      <p:ext uri="{BB962C8B-B14F-4D97-AF65-F5344CB8AC3E}">
        <p14:creationId xmlns:p14="http://schemas.microsoft.com/office/powerpoint/2010/main" val="863843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90988068-DB99-40B9-B3E6-E122EAD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49D8DDD-9DBF-41A1-A419-3B74BDC4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B1CBEE6-515B-4FDE-A7BB-36FD9B62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10BCE4D-A8A2-4294-9CFE-CEE46A18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F3EA076-3898-485F-9930-2197C799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3618F9E-AC2F-4EC6-BFF2-99C1BB87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ork one fair population comparison">
            <a:extLst xmlns:a="http://schemas.openxmlformats.org/drawingml/2006/main">
              <a:ext uri="{FF2B5EF4-FFF2-40B4-BE49-F238E27FC236}">
                <a16:creationId xmlns:a16="http://schemas.microsoft.com/office/drawing/2014/main" id="{C5E4D1B8-7962-4D72-A75A-B4C6AAA3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Work one fair population comparison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0EC4D57-B35C-4FEE-BCC4-2EAC346D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754BBF2E-80DB-443E-94CC-31AE693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866A8F48-02EB-458D-B9C8-ACA66C1B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I keep the denominator in the calculation">
            <a:extLst xmlns:a="http://schemas.openxmlformats.org/drawingml/2006/main">
              <a:ext uri="{FF2B5EF4-FFF2-40B4-BE49-F238E27FC236}">
                <a16:creationId xmlns:a16="http://schemas.microsoft.com/office/drawing/2014/main" id="{DA258145-B1B2-474C-88E2-C07447B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keep the denominator in the calculation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8FA74B9-3E1F-4BEF-B302-4BC23E44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55884"/>
            <a:ext cx="2688091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12 new cases&#10;2000 people at risk">
            <a:extLst xmlns:a="http://schemas.openxmlformats.org/drawingml/2006/main">
              <a:ext uri="{FF2B5EF4-FFF2-40B4-BE49-F238E27FC236}">
                <a16:creationId xmlns:a16="http://schemas.microsoft.com/office/drawing/2014/main" id="{44B2C0E8-F04E-42A5-BE11-8C603BB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28" y="3005223"/>
            <a:ext cx="2389414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12 new cases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2000 people at risk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73234B3-203A-4404-80C2-F5A40ADB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3341234"/>
            <a:ext cx="85496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D4A408F-4903-47BF-8697-5F1D6002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76813" y="32889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5FD192F-FD2A-4D76-BDAA-022EB18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023" y="2855884"/>
            <a:ext cx="2576087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6 cases per 1000&#10;over 7 days">
            <a:extLst xmlns:a="http://schemas.openxmlformats.org/drawingml/2006/main">
              <a:ext uri="{FF2B5EF4-FFF2-40B4-BE49-F238E27FC236}">
                <a16:creationId xmlns:a16="http://schemas.microsoft.com/office/drawing/2014/main" id="{304D9E76-1E72-47EC-A99F-155B85C4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3027623"/>
            <a:ext cx="2277410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 cases per 1000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over 7 days</a:t>
            </a:r>
          </a:p>
        </p:txBody>
      </p:sp>
      <p:sp>
        <p:nvSpPr>
          <p:cNvPr id="18" name="Diagram label: 12 ÷ 2000 × 1000 = 6">
            <a:extLst xmlns:a="http://schemas.openxmlformats.org/drawingml/2006/main">
              <a:ext uri="{FF2B5EF4-FFF2-40B4-BE49-F238E27FC236}">
                <a16:creationId xmlns:a16="http://schemas.microsoft.com/office/drawing/2014/main" id="{7E1C9CBC-A444-4604-9A7E-2FFB1C24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199930"/>
            <a:ext cx="6458885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3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23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12 ÷ 2000 × 1000 = 6</a:t>
            </a:r>
          </a:p>
        </p:txBody>
      </p:sp>
      <p:sp>
        <p:nvSpPr>
          <p:cNvPr id="19" name="Diagram label: Same disease definition, same period,&#10;comparable recording and population.">
            <a:extLst xmlns:a="http://schemas.openxmlformats.org/drawingml/2006/main">
              <a:ext uri="{FF2B5EF4-FFF2-40B4-BE49-F238E27FC236}">
                <a16:creationId xmlns:a16="http://schemas.microsoft.com/office/drawing/2014/main" id="{5F9F3C9A-6A4C-47C1-894B-6B456EA3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4909287"/>
            <a:ext cx="6346882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disease definition, same period,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comparable recording and population.</a:t>
            </a:r>
          </a:p>
        </p:txBody>
      </p:sp>
      <p:sp>
        <p:nvSpPr>
          <p:cNvPr id="20" name="I divide by the relevant population first.  Then I express the r">
            <a:extLst xmlns:a="http://schemas.openxmlformats.org/drawingml/2006/main">
              <a:ext uri="{FF2B5EF4-FFF2-40B4-BE49-F238E27FC236}">
                <a16:creationId xmlns:a16="http://schemas.microsoft.com/office/drawing/2014/main" id="{9997976E-1E6C-43AC-AAD6-3DC0382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divide by the relevant population first. Then I express the result per 1000.</a:t>
            </a:r>
          </a:p>
        </p:txBody>
      </p:sp>
    </p:spTree>
    <p:extLst>
      <p:ext uri="{BB962C8B-B14F-4D97-AF65-F5344CB8AC3E}">
        <p14:creationId xmlns:p14="http://schemas.microsoft.com/office/powerpoint/2010/main" val="905542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D6E2FD45-37EE-44D7-B02E-786E849D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4D39984-E402-431F-B048-AD827B34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34ED61F-FFFF-4A54-A42B-29A51CB1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7613B93-C7FC-44CE-B60D-5D51D99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C6A1EB76-19ED-48C7-983D-8D08E413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A9D7639-81CE-4CD6-858A-1B5C3D8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count answers one useful question">
            <a:extLst xmlns:a="http://schemas.openxmlformats.org/drawingml/2006/main">
              <a:ext uri="{FF2B5EF4-FFF2-40B4-BE49-F238E27FC236}">
                <a16:creationId xmlns:a16="http://schemas.microsoft.com/office/drawing/2014/main" id="{8D7ED514-B579-46CE-AEE6-271919C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count answers one useful question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5B3143E-9949-40D0-80CC-C3122B9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E489D05B-826E-4D42-8D72-A2713C4E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777F5BC6-CC72-4CEB-B440-A65E005A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Constructed town data: count of new cases">
            <a:extLst xmlns:a="http://schemas.openxmlformats.org/drawingml/2006/main">
              <a:ext uri="{FF2B5EF4-FFF2-40B4-BE49-F238E27FC236}">
                <a16:creationId xmlns:a16="http://schemas.microsoft.com/office/drawing/2014/main" id="{35D9E528-307F-4258-9EDB-3237B86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town data: count of new cases</a:t>
            </a:r>
          </a:p>
        </p:txBody>
      </p:sp>
      <p:sp>
        <p:nvSpPr>
          <p:cNvPr id="12" name="Diagram label: Recorded new cases over 7 days">
            <a:extLst xmlns:a="http://schemas.openxmlformats.org/drawingml/2006/main">
              <a:ext uri="{FF2B5EF4-FFF2-40B4-BE49-F238E27FC236}">
                <a16:creationId xmlns:a16="http://schemas.microsoft.com/office/drawing/2014/main" id="{5DD289E3-7A47-40CB-B7A7-D55D6224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407869"/>
            <a:ext cx="6720228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Recorded new cases over 7 days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F17A1BE-95E9-4C4D-9286-CC210F5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5207964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2091054-5434-4816-A3CD-799D4E8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2855884"/>
            <a:ext cx="953" cy="2352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E513C50-CE4A-4F3E-ACCB-0402318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5207964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5C212C02-E33A-45C8-B597-148DD6D3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5073559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D0F9235-BBE1-4F4E-BA13-1FF4B599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4647945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8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36ACD03B-CB3E-43FC-9365-8ADC73E4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4513540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18F3545-523D-4707-99CD-7EF2AC60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4087926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0" name="Diagram label: 20">
            <a:extLst xmlns:a="http://schemas.openxmlformats.org/drawingml/2006/main">
              <a:ext uri="{FF2B5EF4-FFF2-40B4-BE49-F238E27FC236}">
                <a16:creationId xmlns:a16="http://schemas.microsoft.com/office/drawing/2014/main" id="{C6E5248C-7628-4DD7-922F-DEB4D13E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3953521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BBDF93F-DB79-411D-8193-5E6064EB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3527907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2" name="Diagram label: 30">
            <a:extLst xmlns:a="http://schemas.openxmlformats.org/drawingml/2006/main">
              <a:ext uri="{FF2B5EF4-FFF2-40B4-BE49-F238E27FC236}">
                <a16:creationId xmlns:a16="http://schemas.microsoft.com/office/drawing/2014/main" id="{CE3DB75A-952D-468B-8B26-57A47ED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3393502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90D97BA-BF3B-45D2-91F2-74171451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2967888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4" name="Diagram label: 40">
            <a:extLst xmlns:a="http://schemas.openxmlformats.org/drawingml/2006/main">
              <a:ext uri="{FF2B5EF4-FFF2-40B4-BE49-F238E27FC236}">
                <a16:creationId xmlns:a16="http://schemas.microsoft.com/office/drawing/2014/main" id="{026DD23F-B406-4208-838D-D79CDC64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2833483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40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5B5F120-7B83-407B-B395-FB20FB7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913" y="3863918"/>
            <a:ext cx="1580498" cy="13440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6" name="Diagram label: 24">
            <a:extLst xmlns:a="http://schemas.openxmlformats.org/drawingml/2006/main">
              <a:ext uri="{FF2B5EF4-FFF2-40B4-BE49-F238E27FC236}">
                <a16:creationId xmlns:a16="http://schemas.microsoft.com/office/drawing/2014/main" id="{CF8DD263-630F-46F0-8803-C51CDBC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913" y="3565242"/>
            <a:ext cx="158049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24</a:t>
            </a:r>
          </a:p>
        </p:txBody>
      </p:sp>
      <p:sp>
        <p:nvSpPr>
          <p:cNvPr id="27" name="Diagram label: A">
            <a:extLst xmlns:a="http://schemas.openxmlformats.org/drawingml/2006/main">
              <a:ext uri="{FF2B5EF4-FFF2-40B4-BE49-F238E27FC236}">
                <a16:creationId xmlns:a16="http://schemas.microsoft.com/office/drawing/2014/main" id="{379832D8-9DB4-4166-A157-E68D343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578" y="5319968"/>
            <a:ext cx="165516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98888A6-4A54-469E-BD2F-72B3D50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753" y="4199930"/>
            <a:ext cx="1580498" cy="1008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9" name="Diagram label: 18">
            <a:extLst xmlns:a="http://schemas.openxmlformats.org/drawingml/2006/main">
              <a:ext uri="{FF2B5EF4-FFF2-40B4-BE49-F238E27FC236}">
                <a16:creationId xmlns:a16="http://schemas.microsoft.com/office/drawing/2014/main" id="{78ADD251-F68F-4D1D-80A7-2BBD5A6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753" y="3901253"/>
            <a:ext cx="158049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18</a:t>
            </a:r>
          </a:p>
        </p:txBody>
      </p:sp>
      <p:sp>
        <p:nvSpPr>
          <p:cNvPr id="30" name="Diagram label: B">
            <a:extLst xmlns:a="http://schemas.openxmlformats.org/drawingml/2006/main">
              <a:ext uri="{FF2B5EF4-FFF2-40B4-BE49-F238E27FC236}">
                <a16:creationId xmlns:a16="http://schemas.microsoft.com/office/drawing/2014/main" id="{C885C1AE-E6F1-4EBF-9FA5-E4F974A6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18" y="5319968"/>
            <a:ext cx="165516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8A5C7CB-2881-48AD-BB38-CC242E6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593" y="3527907"/>
            <a:ext cx="1580498" cy="1680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2" name="Diagram label: 30">
            <a:extLst xmlns:a="http://schemas.openxmlformats.org/drawingml/2006/main">
              <a:ext uri="{FF2B5EF4-FFF2-40B4-BE49-F238E27FC236}">
                <a16:creationId xmlns:a16="http://schemas.microsoft.com/office/drawing/2014/main" id="{D01ED87A-5529-4BB4-8153-A460E014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593" y="3229230"/>
            <a:ext cx="158049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33" name="Diagram label: C">
            <a:extLst xmlns:a="http://schemas.openxmlformats.org/drawingml/2006/main">
              <a:ext uri="{FF2B5EF4-FFF2-40B4-BE49-F238E27FC236}">
                <a16:creationId xmlns:a16="http://schemas.microsoft.com/office/drawing/2014/main" id="{587D7615-6714-4698-8713-E57532B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258" y="5319968"/>
            <a:ext cx="165516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4" name="Counts show how many cases were recorded.  C has 30; B has 18.  ">
            <a:extLst xmlns:a="http://schemas.openxmlformats.org/drawingml/2006/main">
              <a:ext uri="{FF2B5EF4-FFF2-40B4-BE49-F238E27FC236}">
                <a16:creationId xmlns:a16="http://schemas.microsoft.com/office/drawing/2014/main" id="{FD8A0AA0-7EDC-4118-B0B6-32AAE63D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Counts show how many cases were recorded. C has 30; B has 18. Population sizes still differ.</a:t>
            </a:r>
          </a:p>
        </p:txBody>
      </p:sp>
    </p:spTree>
    <p:extLst>
      <p:ext uri="{BB962C8B-B14F-4D97-AF65-F5344CB8AC3E}">
        <p14:creationId xmlns:p14="http://schemas.microsoft.com/office/powerpoint/2010/main" val="1572243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F0AF8FF-EEB1-429D-8015-B937721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C828EFE-E3DC-486D-A53B-65C693E4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01A7307-6A1A-491A-AB7E-D4CFDF98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010EB3B-5EBC-45DE-A70F-026AE66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5B0C6CB-A716-4D90-96EA-A73827C0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0AF91BD-ACC2-46DF-A888-929CA1A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Newsroom calculation desk">
            <a:extLst xmlns:a="http://schemas.openxmlformats.org/drawingml/2006/main">
              <a:ext uri="{FF2B5EF4-FFF2-40B4-BE49-F238E27FC236}">
                <a16:creationId xmlns:a16="http://schemas.microsoft.com/office/drawing/2014/main" id="{E3FDD4DA-B7DC-47D4-9629-81BAA9F2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Newsroom calculation desk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1EE3319-6993-4BBE-9D39-EBC2AC5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E2C76046-3B15-40D7-96E5-9D9ECF6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66623495-CDCE-4A49-955F-A935104F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Calculate each town’s cases per 1000. Keep the same 7-day pe">
            <a:extLst xmlns:a="http://schemas.openxmlformats.org/drawingml/2006/main">
              <a:ext uri="{FF2B5EF4-FFF2-40B4-BE49-F238E27FC236}">
                <a16:creationId xmlns:a16="http://schemas.microsoft.com/office/drawing/2014/main" id="{DFFD24C9-155D-4A62-846E-7762AF7B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Calculate each town’s cases per 1000. Keep the same 7-day period in the label.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6070"/>
                <a:gridCol w="3426070"/>
                <a:gridCol w="4273060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Town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New cases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People at risk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3000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18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6000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data: same fictional infection, same 7 days and reco">
            <a:extLst xmlns:a="http://schemas.openxmlformats.org/drawingml/2006/main">
              <a:ext uri="{FF2B5EF4-FFF2-40B4-BE49-F238E27FC236}">
                <a16:creationId xmlns:a16="http://schemas.microsoft.com/office/drawing/2014/main" id="{559F28AF-FC34-486E-9281-58FEAE8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data: same fictional infection, same 7 days and recording method.</a:t>
            </a:r>
          </a:p>
        </p:txBody>
      </p:sp>
    </p:spTree>
    <p:extLst>
      <p:ext uri="{BB962C8B-B14F-4D97-AF65-F5344CB8AC3E}">
        <p14:creationId xmlns:p14="http://schemas.microsoft.com/office/powerpoint/2010/main" val="2135269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38603316-3596-4E06-B2B5-99B3988A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220F73D-BA52-4E69-A72F-D34E935D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0A09F37-806E-431D-A886-CDDD530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A918BDD-D70A-46F8-9658-E2ED5114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E58C529F-A62F-4C8A-968A-4CC5479A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629C9BF2-E76F-422A-AF69-DE8B9DB3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witch the measure, test the headline">
            <a:extLst xmlns:a="http://schemas.openxmlformats.org/drawingml/2006/main">
              <a:ext uri="{FF2B5EF4-FFF2-40B4-BE49-F238E27FC236}">
                <a16:creationId xmlns:a16="http://schemas.microsoft.com/office/drawing/2014/main" id="{11086E44-15F4-495D-A2F4-C9AE0B59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Switch the measure, test the headline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E630CEE-DAEF-4CEF-A921-DB9EC628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94EEB17A-2DDC-4508-B0CB-9D11F08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399BA278-D38A-428D-A5BC-1F910C9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Constructed town data: cases per 1000">
            <a:extLst xmlns:a="http://schemas.openxmlformats.org/drawingml/2006/main">
              <a:ext uri="{FF2B5EF4-FFF2-40B4-BE49-F238E27FC236}">
                <a16:creationId xmlns:a16="http://schemas.microsoft.com/office/drawing/2014/main" id="{9AE025B2-2374-451E-A066-57971CA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town data: cases per 1000</a:t>
            </a:r>
          </a:p>
        </p:txBody>
      </p:sp>
      <p:sp>
        <p:nvSpPr>
          <p:cNvPr id="12" name="Diagram label: Recorded new cases per 1000 people over 7 days">
            <a:extLst xmlns:a="http://schemas.openxmlformats.org/drawingml/2006/main">
              <a:ext uri="{FF2B5EF4-FFF2-40B4-BE49-F238E27FC236}">
                <a16:creationId xmlns:a16="http://schemas.microsoft.com/office/drawing/2014/main" id="{76D8D6DA-B196-4DAA-822C-6B46EC1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407869"/>
            <a:ext cx="6720228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Recorded new cases per 1000 people over 7 days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8BCBA9D-4BA1-4FA3-B038-33CFDA88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5207964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342455F-45D8-457F-B42C-DB4C6FD0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2855884"/>
            <a:ext cx="953" cy="2352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6FB24F1-B3CF-42D9-93E2-55AE46E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5207964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CB1EC90E-94D5-4844-9086-82859E35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5073559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BCE0500-696A-4A22-B674-1A2B949D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4647945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8" name="Diagram label: 5">
            <a:extLst xmlns:a="http://schemas.openxmlformats.org/drawingml/2006/main">
              <a:ext uri="{FF2B5EF4-FFF2-40B4-BE49-F238E27FC236}">
                <a16:creationId xmlns:a16="http://schemas.microsoft.com/office/drawing/2014/main" id="{81B9B347-5F67-400B-A5FB-91FD260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4513540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E018BD6-94C0-4A77-9B20-8917AAC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4087926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0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AC05C731-BE49-4959-8382-8C93CC73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3953521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6FC3748-5918-4CF6-A669-197A59CF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3527907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2" name="Diagram label: 15">
            <a:extLst xmlns:a="http://schemas.openxmlformats.org/drawingml/2006/main">
              <a:ext uri="{FF2B5EF4-FFF2-40B4-BE49-F238E27FC236}">
                <a16:creationId xmlns:a16="http://schemas.microsoft.com/office/drawing/2014/main" id="{A97936C3-506B-43D8-B44D-9BE6833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3393502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8BAA20E-F618-4E71-A1A5-A3AF05F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2967888"/>
            <a:ext cx="60108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4" name="Diagram label: 20">
            <a:extLst xmlns:a="http://schemas.openxmlformats.org/drawingml/2006/main">
              <a:ext uri="{FF2B5EF4-FFF2-40B4-BE49-F238E27FC236}">
                <a16:creationId xmlns:a16="http://schemas.microsoft.com/office/drawing/2014/main" id="{7171844D-2B4B-4A32-93A2-B804F27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2833483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779D2C8-D2DA-4FCC-838E-CC1473A9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913" y="4311933"/>
            <a:ext cx="1580498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6" name="Diagram label: 8">
            <a:extLst xmlns:a="http://schemas.openxmlformats.org/drawingml/2006/main">
              <a:ext uri="{FF2B5EF4-FFF2-40B4-BE49-F238E27FC236}">
                <a16:creationId xmlns:a16="http://schemas.microsoft.com/office/drawing/2014/main" id="{A0407DB9-B8E7-4866-81C0-1A140920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913" y="4013257"/>
            <a:ext cx="158049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27" name="Diagram label: A">
            <a:extLst xmlns:a="http://schemas.openxmlformats.org/drawingml/2006/main">
              <a:ext uri="{FF2B5EF4-FFF2-40B4-BE49-F238E27FC236}">
                <a16:creationId xmlns:a16="http://schemas.microsoft.com/office/drawing/2014/main" id="{55C401EE-BEC3-45A4-AA3B-33335528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578" y="5319968"/>
            <a:ext cx="165516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9D4A7B5-F53A-49A9-8C48-9F7BEBFB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753" y="3191896"/>
            <a:ext cx="1580498" cy="2016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9" name="Diagram label: 18">
            <a:extLst xmlns:a="http://schemas.openxmlformats.org/drawingml/2006/main">
              <a:ext uri="{FF2B5EF4-FFF2-40B4-BE49-F238E27FC236}">
                <a16:creationId xmlns:a16="http://schemas.microsoft.com/office/drawing/2014/main" id="{0D6DD706-91D8-4740-B022-966885D5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753" y="2893219"/>
            <a:ext cx="158049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18</a:t>
            </a:r>
          </a:p>
        </p:txBody>
      </p:sp>
      <p:sp>
        <p:nvSpPr>
          <p:cNvPr id="30" name="Diagram label: B">
            <a:extLst xmlns:a="http://schemas.openxmlformats.org/drawingml/2006/main">
              <a:ext uri="{FF2B5EF4-FFF2-40B4-BE49-F238E27FC236}">
                <a16:creationId xmlns:a16="http://schemas.microsoft.com/office/drawing/2014/main" id="{93D6F190-553A-4DD6-B9D6-23F93431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18" y="5319968"/>
            <a:ext cx="165516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1CE6CD5-23EF-4B44-8F53-84C50F85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593" y="4647945"/>
            <a:ext cx="1580498" cy="5600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2" name="Diagram label: 5">
            <a:extLst xmlns:a="http://schemas.openxmlformats.org/drawingml/2006/main">
              <a:ext uri="{FF2B5EF4-FFF2-40B4-BE49-F238E27FC236}">
                <a16:creationId xmlns:a16="http://schemas.microsoft.com/office/drawing/2014/main" id="{595630C4-9132-46C6-992E-A55F9F78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593" y="4349268"/>
            <a:ext cx="158049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33" name="Diagram label: C">
            <a:extLst xmlns:a="http://schemas.openxmlformats.org/drawingml/2006/main">
              <a:ext uri="{FF2B5EF4-FFF2-40B4-BE49-F238E27FC236}">
                <a16:creationId xmlns:a16="http://schemas.microsoft.com/office/drawing/2014/main" id="{D414B23A-29BC-470A-A861-033B6AFA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258" y="5319968"/>
            <a:ext cx="165516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4" name="W2. Which town leads by count? Which leads per 1000?  Write the ">
            <a:extLst xmlns:a="http://schemas.openxmlformats.org/drawingml/2006/main">
              <a:ext uri="{FF2B5EF4-FFF2-40B4-BE49-F238E27FC236}">
                <a16:creationId xmlns:a16="http://schemas.microsoft.com/office/drawing/2014/main" id="{FAA820BF-BB2B-4C62-A452-04239077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Which town leads by count? Which leads per 1000? Write the two different headlines.</a:t>
            </a:r>
          </a:p>
        </p:txBody>
      </p:sp>
    </p:spTree>
    <p:extLst>
      <p:ext uri="{BB962C8B-B14F-4D97-AF65-F5344CB8AC3E}">
        <p14:creationId xmlns:p14="http://schemas.microsoft.com/office/powerpoint/2010/main" val="1336989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DFF41DE-1F93-4E23-A4E3-55995B2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09AD281-4242-4639-A6DF-AC1D33F4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3F10187-BB23-4227-90EC-6D95F625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01D53F9-C1D9-479C-A229-BA68E9C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35121EB2-F4D4-4BBF-A490-B0C11F66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72CC31F-1381-4CE7-A4AF-97D8DAC9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Editors reject an unsupported cause">
            <a:extLst xmlns:a="http://schemas.openxmlformats.org/drawingml/2006/main">
              <a:ext uri="{FF2B5EF4-FFF2-40B4-BE49-F238E27FC236}">
                <a16:creationId xmlns:a16="http://schemas.microsoft.com/office/drawing/2014/main" id="{41AC6A50-DE75-478C-8FF7-E8B6C047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Editors reject an unsupported cause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7D60D44-3AF4-4195-B71B-147683EA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7A5DDDBF-A99D-47CF-A729-B935AA9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A6B77E9D-AFC2-4EFC-8319-665E6AE2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B’s water caused the difference.”">
            <a:extLst xmlns:a="http://schemas.openxmlformats.org/drawingml/2006/main">
              <a:ext uri="{FF2B5EF4-FFF2-40B4-BE49-F238E27FC236}">
                <a16:creationId xmlns:a16="http://schemas.microsoft.com/office/drawing/2014/main" id="{541D6BCB-D983-43D1-B2FC-84EAB4E1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“B’s water caused the difference.”</a:t>
            </a:r>
          </a:p>
        </p:txBody>
      </p:sp>
      <p:sp>
        <p:nvSpPr>
          <p:cNvPr id="12" name="The table records no water exposure. Improve the claim.">
            <a:extLst xmlns:a="http://schemas.openxmlformats.org/drawingml/2006/main">
              <a:ext uri="{FF2B5EF4-FFF2-40B4-BE49-F238E27FC236}">
                <a16:creationId xmlns:a16="http://schemas.microsoft.com/office/drawing/2014/main" id="{7246AB71-3034-4A19-8757-90122DF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table records no water exposure. Improve the claim.</a:t>
            </a:r>
          </a:p>
        </p:txBody>
      </p:sp>
    </p:spTree>
    <p:extLst>
      <p:ext uri="{BB962C8B-B14F-4D97-AF65-F5344CB8AC3E}">
        <p14:creationId xmlns:p14="http://schemas.microsoft.com/office/powerpoint/2010/main" val="816260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79C1527D-16AE-44E6-B71F-9A361FE1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9C16F7B-BACC-4327-9208-DCCCEC4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C29AB63-7C42-49DB-A9C7-120C020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AE2F82D-DE7B-4C78-A00F-ACE2A05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47C30362-BB4F-4D06-BCCE-734ADC84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37E3738E-9666-4BF6-8F9E-0B5F0B17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caption is accurate?">
            <a:extLst xmlns:a="http://schemas.openxmlformats.org/drawingml/2006/main">
              <a:ext uri="{FF2B5EF4-FFF2-40B4-BE49-F238E27FC236}">
                <a16:creationId xmlns:a16="http://schemas.microsoft.com/office/drawing/2014/main" id="{A6A8BA51-81E2-4DE8-93CE-2313B270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caption is accurate?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8E7305C-F424-4C08-AA7C-757ED4C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DFAC4459-BEB5-444D-86E3-524CCB3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2A1E9BE9-8558-454C-BA97-5A7026E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eck measure, denominator and period.">
            <a:extLst xmlns:a="http://schemas.openxmlformats.org/drawingml/2006/main">
              <a:ext uri="{FF2B5EF4-FFF2-40B4-BE49-F238E27FC236}">
                <a16:creationId xmlns:a16="http://schemas.microsoft.com/office/drawing/2014/main" id="{86424303-4911-44C9-BEC6-766FC878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measure, denominator and period.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CAF6C17-CDAD-42F7-BD59-871C4A1F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7E09CA8-0043-401C-8B85-DC935D39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031E9827-406C-40D7-AD9D-F1B5F413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C has the largest proportion because it has 30 cases.">
            <a:extLst xmlns:a="http://schemas.openxmlformats.org/drawingml/2006/main">
              <a:ext uri="{FF2B5EF4-FFF2-40B4-BE49-F238E27FC236}">
                <a16:creationId xmlns:a16="http://schemas.microsoft.com/office/drawing/2014/main" id="{A9ADD56E-7491-4AE4-8E13-347ED51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 has the largest proportion because it has 30 cases.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6852A01-6D86-4D62-84CF-DCAF3C2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7C01125-8F3B-4CF8-B9ED-05AC9DAF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87E7082-A9D2-4145-BA22-EC483ED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B recorded 18 new cases per 1000 people in the same 7 days.">
            <a:extLst xmlns:a="http://schemas.openxmlformats.org/drawingml/2006/main">
              <a:ext uri="{FF2B5EF4-FFF2-40B4-BE49-F238E27FC236}">
                <a16:creationId xmlns:a16="http://schemas.microsoft.com/office/drawing/2014/main" id="{A1F613C5-BAFD-4EEF-A07C-2A2774BC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 recorded 18 new cases per 1000 people in the same 7 days.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BD38CB05-0215-43E1-91E8-71C868F2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F243D6EB-8CA3-4920-8A2D-A37821B8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3CAB8AC1-32B8-41B7-BA16-1671A50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he WHO 75% means 75% of all people died.">
            <a:extLst xmlns:a="http://schemas.openxmlformats.org/drawingml/2006/main">
              <a:ext uri="{FF2B5EF4-FFF2-40B4-BE49-F238E27FC236}">
                <a16:creationId xmlns:a16="http://schemas.microsoft.com/office/drawing/2014/main" id="{1EA76418-9CA7-4CEA-AD22-13BB95C2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WHO 75% means 75% of all people died.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44B4B669-53FA-40F1-BAFE-C10D6315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203331BD-759B-4C97-BDBE-5FFDD4B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B32F4918-683C-486B-ACA4-A6BA6A5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A page published 2025 must contain 2025 measurements.">
            <a:extLst xmlns:a="http://schemas.openxmlformats.org/drawingml/2006/main">
              <a:ext uri="{FF2B5EF4-FFF2-40B4-BE49-F238E27FC236}">
                <a16:creationId xmlns:a16="http://schemas.microsoft.com/office/drawing/2014/main" id="{B3604CD9-1814-4448-B8E5-27A49D9B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page published 2025 must contain 2025 measurements.</a:t>
            </a:r>
          </a:p>
        </p:txBody>
      </p:sp>
    </p:spTree>
    <p:extLst>
      <p:ext uri="{BB962C8B-B14F-4D97-AF65-F5344CB8AC3E}">
        <p14:creationId xmlns:p14="http://schemas.microsoft.com/office/powerpoint/2010/main" val="860502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489FF0D-2B01-43B1-B730-6A842DE8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B99DD30-21CF-46C4-87DB-AF0FE9D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8E273F3-08FC-4DA0-9B6D-071200CE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156BAA5-B7C7-488E-BD85-709491C3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F4281C6-FFDE-4939-8C59-D9AE495C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1EE36C87-BB53-4495-94EF-4EC21AF4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Make a useful infographic">
            <a:extLst xmlns:a="http://schemas.openxmlformats.org/drawingml/2006/main">
              <a:ext uri="{FF2B5EF4-FFF2-40B4-BE49-F238E27FC236}">
                <a16:creationId xmlns:a16="http://schemas.microsoft.com/office/drawing/2014/main" id="{5301E841-DA07-44DE-AC33-ACAF8D0F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 useful infographic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36099A2-0934-4A21-A51D-C214BB23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2193361D-2F5A-48A1-9272-E1058452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84C0942D-3096-47F0-BB99-7CC07B0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esponse route.">
            <a:extLst xmlns:a="http://schemas.openxmlformats.org/drawingml/2006/main">
              <a:ext uri="{FF2B5EF4-FFF2-40B4-BE49-F238E27FC236}">
                <a16:creationId xmlns:a16="http://schemas.microsoft.com/office/drawing/2014/main" id="{460771E2-3273-4AD6-9741-B891CDD0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response route.</a:t>
            </a:r>
          </a:p>
        </p:txBody>
      </p:sp>
      <p:sp>
        <p:nvSpPr>
          <p:cNvPr id="12" name="Include a fair comparison and a clear source note.">
            <a:extLst xmlns:a="http://schemas.openxmlformats.org/drawingml/2006/main">
              <a:ext uri="{FF2B5EF4-FFF2-40B4-BE49-F238E27FC236}">
                <a16:creationId xmlns:a16="http://schemas.microsoft.com/office/drawing/2014/main" id="{8E28C23C-B935-4062-AE5C-8679583D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Include a fair comparison and a clear source note.</a:t>
            </a:r>
          </a:p>
        </p:txBody>
      </p:sp>
    </p:spTree>
    <p:extLst>
      <p:ext uri="{BB962C8B-B14F-4D97-AF65-F5344CB8AC3E}">
        <p14:creationId xmlns:p14="http://schemas.microsoft.com/office/powerpoint/2010/main" val="953426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8B50841E-2CBA-46CE-AEC8-354D5681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779D39F-D971-43E7-A399-5A47A69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7812B0D-BEB8-491E-806B-9FAEBF8E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D7603EC-AFD7-4A54-8E28-FB88E8E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E9795288-2AF9-4F01-AAF2-B79D8FAC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BB538883-2E41-4E66-A621-B4DA4369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Your one-page newsroom brief">
            <a:extLst xmlns:a="http://schemas.openxmlformats.org/drawingml/2006/main">
              <a:ext uri="{FF2B5EF4-FFF2-40B4-BE49-F238E27FC236}">
                <a16:creationId xmlns:a16="http://schemas.microsoft.com/office/drawing/2014/main" id="{81177B1B-CBD1-4D79-A4DF-7B3187D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one-page newsroom brief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D7FBDDC-E836-41E1-AE88-0075CEF1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3B892EAD-7E95-452A-889E-53CBF55A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3BC3BA91-26C3-4976-B517-C381C78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Headline • labelled bars • one calculation.">
            <a:extLst xmlns:a="http://schemas.openxmlformats.org/drawingml/2006/main">
              <a:ext uri="{FF2B5EF4-FFF2-40B4-BE49-F238E27FC236}">
                <a16:creationId xmlns:a16="http://schemas.microsoft.com/office/drawing/2014/main" id="{581B6D39-341E-44A8-8B9C-3DCB88B4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Headline • labelled bars • one calculation.</a:t>
            </a:r>
          </a:p>
        </p:txBody>
      </p:sp>
      <p:sp>
        <p:nvSpPr>
          <p:cNvPr id="12" name="Source/date • careful conclusion • one limitation.">
            <a:extLst xmlns:a="http://schemas.openxmlformats.org/drawingml/2006/main">
              <a:ext uri="{FF2B5EF4-FFF2-40B4-BE49-F238E27FC236}">
                <a16:creationId xmlns:a16="http://schemas.microsoft.com/office/drawing/2014/main" id="{B0608BFE-B0AF-46D5-9390-1E38DAC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Source/date • careful conclusion • one limitation.</a:t>
            </a:r>
          </a:p>
        </p:txBody>
      </p:sp>
    </p:spTree>
    <p:extLst>
      <p:ext uri="{BB962C8B-B14F-4D97-AF65-F5344CB8AC3E}">
        <p14:creationId xmlns:p14="http://schemas.microsoft.com/office/powerpoint/2010/main" val="767735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44E6BAC-3076-4BE0-8F13-8D7E40D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C93E115-232B-48A6-BD2E-6E25F196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10C93F3-3F2C-44BB-992F-493D6405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7D9B8BE-0D03-460C-8955-F8F8F47F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E300F959-98CE-458E-9A96-7F81EB52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51FFFD08-853D-4778-88F0-439E800D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n editor checks the denominator">
            <a:extLst xmlns:a="http://schemas.openxmlformats.org/drawingml/2006/main">
              <a:ext uri="{FF2B5EF4-FFF2-40B4-BE49-F238E27FC236}">
                <a16:creationId xmlns:a16="http://schemas.microsoft.com/office/drawing/2014/main" id="{34004680-ECEE-4350-B2D6-E423FDE9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editor checks the denominator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D1A173B-BFAA-410D-80DA-EC8D46BD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07FDF453-FD2A-4B8A-A7FC-94310FC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ACBF9B5B-7762-4C9A-AB85-1A2A0A49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ow your infographic to a partner, teacher or TA.">
            <a:extLst xmlns:a="http://schemas.openxmlformats.org/drawingml/2006/main">
              <a:ext uri="{FF2B5EF4-FFF2-40B4-BE49-F238E27FC236}">
                <a16:creationId xmlns:a16="http://schemas.microsoft.com/office/drawing/2014/main" id="{08A89B0D-11C0-4389-AAB5-E223E8A7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Show your infographic to a partner, teacher or TA.</a:t>
            </a:r>
          </a:p>
        </p:txBody>
      </p:sp>
      <p:sp>
        <p:nvSpPr>
          <p:cNvPr id="12" name="Audience asks: “Per 1000 of whom, during what period?”">
            <a:extLst xmlns:a="http://schemas.openxmlformats.org/drawingml/2006/main">
              <a:ext uri="{FF2B5EF4-FFF2-40B4-BE49-F238E27FC236}">
                <a16:creationId xmlns:a16="http://schemas.microsoft.com/office/drawing/2014/main" id="{BD017D43-DC2C-456A-8CC4-ED2271F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asks: “Per 1000 of whom, during what period?”</a:t>
            </a:r>
          </a:p>
        </p:txBody>
      </p:sp>
    </p:spTree>
    <p:extLst>
      <p:ext uri="{BB962C8B-B14F-4D97-AF65-F5344CB8AC3E}">
        <p14:creationId xmlns:p14="http://schemas.microsoft.com/office/powerpoint/2010/main" val="694227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278FFC1-AD44-409F-976D-A1FC43DB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0BFCB4E-DC05-4FC6-A7A5-9900C79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0B31963-166A-459B-840D-0AE19AE3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15D9DE3-937C-4783-AF19-9C23DFD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FC1BEE9-9FA8-4F20-B6F4-F8E510DA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923AE995-83DF-4567-B0E5-F4411B0D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Publish only what the evidence supports">
            <a:extLst xmlns:a="http://schemas.openxmlformats.org/drawingml/2006/main">
              <a:ext uri="{FF2B5EF4-FFF2-40B4-BE49-F238E27FC236}">
                <a16:creationId xmlns:a16="http://schemas.microsoft.com/office/drawing/2014/main" id="{FF977D5A-DA9D-4DAE-955D-13044952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Publish only what the evidence supports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E8741E2-129D-4775-9992-D210A4B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356CA34D-3ACC-4AE8-92FE-0E943F77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EEEACF54-2256-4645-9027-9CCD534F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A count is not a population comparison.">
            <a:extLst xmlns:a="http://schemas.openxmlformats.org/drawingml/2006/main">
              <a:ext uri="{FF2B5EF4-FFF2-40B4-BE49-F238E27FC236}">
                <a16:creationId xmlns:a16="http://schemas.microsoft.com/office/drawing/2014/main" id="{AE0FB417-0047-44CB-80A6-9A73A266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count is not a population comparison.</a:t>
            </a:r>
          </a:p>
        </p:txBody>
      </p:sp>
      <p:sp>
        <p:nvSpPr>
          <p:cNvPr id="12" name="A chart is not proof of a cause.">
            <a:extLst xmlns:a="http://schemas.openxmlformats.org/drawingml/2006/main">
              <a:ext uri="{FF2B5EF4-FFF2-40B4-BE49-F238E27FC236}">
                <a16:creationId xmlns:a16="http://schemas.microsoft.com/office/drawing/2014/main" id="{39460FE6-DE9C-4D36-A0A2-7EE2DAE1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chart is not proof of a cause.</a:t>
            </a:r>
          </a:p>
        </p:txBody>
      </p:sp>
    </p:spTree>
    <p:extLst>
      <p:ext uri="{BB962C8B-B14F-4D97-AF65-F5344CB8AC3E}">
        <p14:creationId xmlns:p14="http://schemas.microsoft.com/office/powerpoint/2010/main" val="253498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997A428-4929-43EB-A081-D2E00BD2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4D79B50-4FF4-4F53-9ECA-BFB887D1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DCF00FE-A0C2-4E75-8645-65571D43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2A91350-CD77-4510-8A41-1BAAEA62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609A4008-DBA3-4F98-9CEF-7B24CC35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6DA39B35-F026-4FC0-9995-BE87BA6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Keep the denominator">
            <a:extLst xmlns:a="http://schemas.openxmlformats.org/drawingml/2006/main">
              <a:ext uri="{FF2B5EF4-FFF2-40B4-BE49-F238E27FC236}">
                <a16:creationId xmlns:a16="http://schemas.microsoft.com/office/drawing/2014/main" id="{14A228DE-0F2F-46B3-A611-6FFB3E46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denominator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80283AB-2765-4927-A01E-FB8FDB9F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DBC384BF-AD66-46EC-8C74-E4584140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0CC0AF29-991E-4A71-9EF4-C8FF1851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 1. Calculate 10 cases among 2000 per 1000.">
            <a:extLst xmlns:a="http://schemas.openxmlformats.org/drawingml/2006/main">
              <a:ext uri="{FF2B5EF4-FFF2-40B4-BE49-F238E27FC236}">
                <a16:creationId xmlns:a16="http://schemas.microsoft.com/office/drawing/2014/main" id="{9F5C6857-21C0-4FF8-8950-97B848A4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1. Calculate 10 cases among 2000 per 1000.</a:t>
            </a:r>
          </a:p>
        </p:txBody>
      </p:sp>
      <p:sp>
        <p:nvSpPr>
          <p:cNvPr id="12" name="E 2. Why give the data year?">
            <a:extLst xmlns:a="http://schemas.openxmlformats.org/drawingml/2006/main">
              <a:ext uri="{FF2B5EF4-FFF2-40B4-BE49-F238E27FC236}">
                <a16:creationId xmlns:a16="http://schemas.microsoft.com/office/drawing/2014/main" id="{53F89DF4-E418-4986-A35C-B91C5D7C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2. Why give the data year?</a:t>
            </a:r>
          </a:p>
        </p:txBody>
      </p:sp>
      <p:sp>
        <p:nvSpPr>
          <p:cNvPr id="13" name="E 3. Does the town table prove a cause?">
            <a:extLst xmlns:a="http://schemas.openxmlformats.org/drawingml/2006/main">
              <a:ext uri="{FF2B5EF4-FFF2-40B4-BE49-F238E27FC236}">
                <a16:creationId xmlns:a16="http://schemas.microsoft.com/office/drawing/2014/main" id="{8493A640-D40C-4F46-8DD7-579DE26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3. Does the town table prove a cause?</a:t>
            </a:r>
          </a:p>
        </p:txBody>
      </p:sp>
    </p:spTree>
    <p:extLst>
      <p:ext uri="{BB962C8B-B14F-4D97-AF65-F5344CB8AC3E}">
        <p14:creationId xmlns:p14="http://schemas.microsoft.com/office/powerpoint/2010/main" val="14870771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A7B2EE2-4BD7-47DD-AA57-13AE7ED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FC70BF3-7733-4740-B2EB-AF54BC05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2F2E8ED-1D27-4A85-8F05-E70EACEA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281F226-4C42-401F-8E8E-67330DCC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2455B7D0-65BC-4A98-A6FB-36CE26D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Next useful step">
            <a:extLst xmlns:a="http://schemas.openxmlformats.org/drawingml/2006/main">
              <a:ext uri="{FF2B5EF4-FFF2-40B4-BE49-F238E27FC236}">
                <a16:creationId xmlns:a16="http://schemas.microsoft.com/office/drawing/2014/main" id="{2136D297-8171-4A80-AD87-87F0D78F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F8287F5-5A79-4C8D-B71F-7A24B081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Disease data newsroom: make the numbers fair">
            <a:extLst xmlns:a="http://schemas.openxmlformats.org/drawingml/2006/main">
              <a:ext uri="{FF2B5EF4-FFF2-40B4-BE49-F238E27FC236}">
                <a16:creationId xmlns:a16="http://schemas.microsoft.com/office/drawing/2014/main" id="{B0E3D623-F78E-4C2E-9871-AE41941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Disease data newsroom: make the numbers fair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E14C9C81-ABEF-4B1C-A868-1ECEC87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Calculate • label • check a source • limit a claim.">
            <a:extLst xmlns:a="http://schemas.openxmlformats.org/drawingml/2006/main">
              <a:ext uri="{FF2B5EF4-FFF2-40B4-BE49-F238E27FC236}">
                <a16:creationId xmlns:a16="http://schemas.microsoft.com/office/drawing/2014/main" id="{6A6ABABA-93EA-4E59-9F02-A2932C81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Calculate • label • check a source • limit a claim.</a:t>
            </a:r>
          </a:p>
        </p:txBody>
      </p:sp>
    </p:spTree>
    <p:extLst>
      <p:ext uri="{BB962C8B-B14F-4D97-AF65-F5344CB8AC3E}">
        <p14:creationId xmlns:p14="http://schemas.microsoft.com/office/powerpoint/2010/main" val="860020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2026-09-08T23:16:24.7900000Z</dcterms:created>
  <dcterms:modified xsi:type="dcterms:W3CDTF">2026-09-08T23:16:24.7900000Z</dcterms:modified>
</coreProperties>
</file>