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fff5a8f5274cb1" /><Relationship Type="http://schemas.openxmlformats.org/officeDocument/2006/relationships/extended-properties" Target="/docProps/app.xml" Id="Reb1158e6117848db" /><Relationship Type="http://schemas.openxmlformats.org/officeDocument/2006/relationships/officeDocument" Target="/ppt/presentation.xml" Id="R762bc71c47fb47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3baa8c3afd4af9"/>
  </p:sldMasterIdLst>
  <p:notesMasterIdLst>
    <p:notesMasterId xmlns:r="http://schemas.openxmlformats.org/officeDocument/2006/relationships" r:id="R9c2ec09be0f2426d"/>
  </p:notesMasterIdLst>
  <p:sldIdLst>
    <p:sldId xmlns:r="http://schemas.openxmlformats.org/officeDocument/2006/relationships" id="256" r:id="R654e8a627e204c29"/>
    <p:sldId xmlns:r="http://schemas.openxmlformats.org/officeDocument/2006/relationships" id="257" r:id="R84c8d22bff9e45d8"/>
    <p:sldId xmlns:r="http://schemas.openxmlformats.org/officeDocument/2006/relationships" id="258" r:id="R28e963318d074c06"/>
    <p:sldId xmlns:r="http://schemas.openxmlformats.org/officeDocument/2006/relationships" id="259" r:id="R1f464c60c0ce418a"/>
    <p:sldId xmlns:r="http://schemas.openxmlformats.org/officeDocument/2006/relationships" id="260" r:id="R5096e24263704d1a"/>
    <p:sldId xmlns:r="http://schemas.openxmlformats.org/officeDocument/2006/relationships" id="261" r:id="Raa2cd27751d64c71"/>
    <p:sldId xmlns:r="http://schemas.openxmlformats.org/officeDocument/2006/relationships" id="262" r:id="R484b8bfb354f40e5"/>
    <p:sldId xmlns:r="http://schemas.openxmlformats.org/officeDocument/2006/relationships" id="263" r:id="R86094b521067427a"/>
    <p:sldId xmlns:r="http://schemas.openxmlformats.org/officeDocument/2006/relationships" id="264" r:id="Rd3f5c12941b143df"/>
    <p:sldId xmlns:r="http://schemas.openxmlformats.org/officeDocument/2006/relationships" id="265" r:id="Rbd7c7a19defa42ac"/>
    <p:sldId xmlns:r="http://schemas.openxmlformats.org/officeDocument/2006/relationships" id="266" r:id="Rbae43d02c03943fe"/>
    <p:sldId xmlns:r="http://schemas.openxmlformats.org/officeDocument/2006/relationships" id="267" r:id="R77f12bc2504e45b6"/>
    <p:sldId xmlns:r="http://schemas.openxmlformats.org/officeDocument/2006/relationships" id="268" r:id="R48b34a389c754124"/>
    <p:sldId xmlns:r="http://schemas.openxmlformats.org/officeDocument/2006/relationships" id="269" r:id="R5eb50d9caa1d426b"/>
    <p:sldId xmlns:r="http://schemas.openxmlformats.org/officeDocument/2006/relationships" id="270" r:id="Rcfc2c6160c4b43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30ba5d49874461" /><Relationship Type="http://schemas.openxmlformats.org/officeDocument/2006/relationships/slideMaster" Target="/ppt/slideMasters/slideMaster1.xml" Id="Reb3baa8c3afd4af9" /><Relationship Type="http://schemas.openxmlformats.org/officeDocument/2006/relationships/notesMaster" Target="/ppt/notesMasters/notesMaster1.xml" Id="R9c2ec09be0f2426d" /><Relationship Type="http://schemas.openxmlformats.org/officeDocument/2006/relationships/presProps" Target="/ppt/presProps.xml" Id="R4ae3b01783cb4059" /><Relationship Type="http://schemas.openxmlformats.org/officeDocument/2006/relationships/tableStyles" Target="/ppt/tableStyles.xml" Id="R2c08065d1f4a4a48" /><Relationship Type="http://schemas.openxmlformats.org/officeDocument/2006/relationships/slide" Target="/ppt/slides/slide1.xml" Id="R654e8a627e204c29" /><Relationship Type="http://schemas.openxmlformats.org/officeDocument/2006/relationships/slide" Target="/ppt/slides/slide2.xml" Id="R84c8d22bff9e45d8" /><Relationship Type="http://schemas.openxmlformats.org/officeDocument/2006/relationships/slide" Target="/ppt/slides/slide3.xml" Id="R28e963318d074c06" /><Relationship Type="http://schemas.openxmlformats.org/officeDocument/2006/relationships/slide" Target="/ppt/slides/slide4.xml" Id="R1f464c60c0ce418a" /><Relationship Type="http://schemas.openxmlformats.org/officeDocument/2006/relationships/slide" Target="/ppt/slides/slide5.xml" Id="R5096e24263704d1a" /><Relationship Type="http://schemas.openxmlformats.org/officeDocument/2006/relationships/slide" Target="/ppt/slides/slide6.xml" Id="Raa2cd27751d64c71" /><Relationship Type="http://schemas.openxmlformats.org/officeDocument/2006/relationships/slide" Target="/ppt/slides/slide7.xml" Id="R484b8bfb354f40e5" /><Relationship Type="http://schemas.openxmlformats.org/officeDocument/2006/relationships/slide" Target="/ppt/slides/slide8.xml" Id="R86094b521067427a" /><Relationship Type="http://schemas.openxmlformats.org/officeDocument/2006/relationships/slide" Target="/ppt/slides/slide9.xml" Id="Rd3f5c12941b143df" /><Relationship Type="http://schemas.openxmlformats.org/officeDocument/2006/relationships/slide" Target="/ppt/slides/slide10.xml" Id="Rbd7c7a19defa42ac" /><Relationship Type="http://schemas.openxmlformats.org/officeDocument/2006/relationships/slide" Target="/ppt/slides/slide11.xml" Id="Rbae43d02c03943fe" /><Relationship Type="http://schemas.openxmlformats.org/officeDocument/2006/relationships/slide" Target="/ppt/slides/slide12.xml" Id="R77f12bc2504e45b6" /><Relationship Type="http://schemas.openxmlformats.org/officeDocument/2006/relationships/slide" Target="/ppt/slides/slide13.xml" Id="R48b34a389c754124" /><Relationship Type="http://schemas.openxmlformats.org/officeDocument/2006/relationships/slide" Target="/ppt/slides/slide14.xml" Id="R5eb50d9caa1d426b" /><Relationship Type="http://schemas.openxmlformats.org/officeDocument/2006/relationships/slide" Target="/ppt/slides/slide15.xml" Id="Rcfc2c6160c4b43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b2ea8f023540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b024ee602b41e8" /><Relationship Type="http://schemas.openxmlformats.org/officeDocument/2006/relationships/notesMaster" Target="/ppt/notesMasters/notesMaster1.xml" Id="Rb7a652e9889749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dfb54a372f49f8" /><Relationship Type="http://schemas.openxmlformats.org/officeDocument/2006/relationships/notesMaster" Target="/ppt/notesMasters/notesMaster1.xml" Id="R1a41dbb7a53245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bdde45981b410e" /><Relationship Type="http://schemas.openxmlformats.org/officeDocument/2006/relationships/notesMaster" Target="/ppt/notesMasters/notesMaster1.xml" Id="Rd165a93b32114d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7ddb083d354f80" /><Relationship Type="http://schemas.openxmlformats.org/officeDocument/2006/relationships/notesMaster" Target="/ppt/notesMasters/notesMaster1.xml" Id="R2afa236a93bc4d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83dd2a9e924f45" /><Relationship Type="http://schemas.openxmlformats.org/officeDocument/2006/relationships/notesMaster" Target="/ppt/notesMasters/notesMaster1.xml" Id="R0f5d4b90b41b40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18443add204e96" /><Relationship Type="http://schemas.openxmlformats.org/officeDocument/2006/relationships/notesMaster" Target="/ppt/notesMasters/notesMaster1.xml" Id="R6a5736c719d74c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9d4f7d73764cb0" /><Relationship Type="http://schemas.openxmlformats.org/officeDocument/2006/relationships/notesMaster" Target="/ppt/notesMasters/notesMaster1.xml" Id="R608c8e1be26e43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ba4faa6a3a4cbc" /><Relationship Type="http://schemas.openxmlformats.org/officeDocument/2006/relationships/notesMaster" Target="/ppt/notesMasters/notesMaster1.xml" Id="R8255a995ae1e4ee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2acb34ef0464faa" /><Relationship Type="http://schemas.openxmlformats.org/officeDocument/2006/relationships/notesMaster" Target="/ppt/notesMasters/notesMaster1.xml" Id="R34bd2444dcb2400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863861b63a4a8c" /><Relationship Type="http://schemas.openxmlformats.org/officeDocument/2006/relationships/notesMaster" Target="/ppt/notesMasters/notesMaster1.xml" Id="R5ab15a3f9def4fb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b7edeb077134939" /><Relationship Type="http://schemas.openxmlformats.org/officeDocument/2006/relationships/notesMaster" Target="/ppt/notesMasters/notesMaster1.xml" Id="Rda630fe308034f7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14a17b8068d46d4" /><Relationship Type="http://schemas.openxmlformats.org/officeDocument/2006/relationships/notesMaster" Target="/ppt/notesMasters/notesMaster1.xml" Id="R18d37fad1ee745d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3d5af4e753746ee" /><Relationship Type="http://schemas.openxmlformats.org/officeDocument/2006/relationships/notesMaster" Target="/ppt/notesMasters/notesMaster1.xml" Id="R305654f9f26349c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b49a4a120ef419f" /><Relationship Type="http://schemas.openxmlformats.org/officeDocument/2006/relationships/notesMaster" Target="/ppt/notesMasters/notesMaster1.xml" Id="R17020370b5da469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4231f00a8284899" /><Relationship Type="http://schemas.openxmlformats.org/officeDocument/2006/relationships/notesMaster" Target="/ppt/notesMasters/notesMaster1.xml" Id="R0787503402244f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“best” needs to mean. Keep the first choice provisional so revision is normal scientific reasoning, not a trick or public failure.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Overview of photosynthesis</a:t>
            </a:r>
          </a:p>
          <a:p xmlns:a="http://schemas.openxmlformats.org/drawingml/2006/main">
            <a:r>
              <a:t>https://openstax.org/books/biology-2e/pages/8-1-overview-of-photosynthesis</a:t>
            </a:r>
          </a:p>
          <a:p xmlns:a="http://schemas.openxmlformats.org/drawingml/2006/main">
            <a:r>
              <a:t>Checked links between light, organic matter production and plant biomass. All greenhouse conditions and numerical outcomes are original constructed data.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Transport of water and solutes in plants</a:t>
            </a:r>
          </a:p>
          <a:p xmlns:a="http://schemas.openxmlformats.org/drawingml/2006/main">
            <a:r>
              <a:t>https://openstax.org/books/biology-2e/pages/30-5-transport-of-water-and-solutes-in-plants</a:t>
            </a:r>
          </a:p>
          <a:p xmlns:a="http://schemas.openxmlformats.org/drawingml/2006/main">
            <a:r>
              <a:t>Checked water supply, stomatal regulation and the distinction between transpiration and water added to soil.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 glucose provides material for organic molecules/biomass; light supplies energy. R2 no: water has several destinations. R3 no. Use an everyday mean example if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Overview of photosynthesis</a:t>
            </a:r>
          </a:p>
          <a:p xmlns:a="http://schemas.openxmlformats.org/drawingml/2006/main">
            <a:r>
              <a:t>https://openstax.org/books/biology-2e/pages/8-1-overview-of-photosynthesis</a:t>
            </a:r>
          </a:p>
          <a:p xmlns:a="http://schemas.openxmlformats.org/drawingml/2006/main">
            <a:r>
              <a:t>Checked links between light, organic matter production and plant biomass. All greenhouse conditions and numerical outcomes are original constructed data.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Transport of water and solutes in plants</a:t>
            </a:r>
          </a:p>
          <a:p xmlns:a="http://schemas.openxmlformats.org/drawingml/2006/main">
            <a:r>
              <a:t>https://openstax.org/books/biology-2e/pages/30-5-transport-of-water-and-solutes-in-plants</a:t>
            </a:r>
          </a:p>
          <a:p xmlns:a="http://schemas.openxmlformats.org/drawingml/2006/main">
            <a:r>
              <a:t>Checked water supply, stomatal regulation and the distinction between transpiration and water added to soil.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Think aloud: “I cannot isolate light by comparing A/B because their water totals also differ. C/D changes the intended light level with 0.15 L supplied in each; other stated conditions match.” Unequal plants could still create variation, so repeats/random assignment matter.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Experimental-design comparison: A(low light,0.30 L), B(high light,0.60 L), C(low light,0.15 L), D(high light,0.15 L). Major conditions other than shown light/water match. C/D isolates the intended light change; A/B changes both light and total water supplied.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Overview of photosynthesis</a:t>
            </a:r>
          </a:p>
          <a:p xmlns:a="http://schemas.openxmlformats.org/drawingml/2006/main">
            <a:r>
              <a:t>https://openstax.org/books/biology-2e/pages/8-1-overview-of-photosynthesis</a:t>
            </a:r>
          </a:p>
          <a:p xmlns:a="http://schemas.openxmlformats.org/drawingml/2006/main">
            <a:r>
              <a:t>Checked links between light, organic matter production and plant biomass. All greenhouse conditions and numerical outcomes are original constructed data.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Transport of water and solutes in plants</a:t>
            </a:r>
          </a:p>
          <a:p xmlns:a="http://schemas.openxmlformats.org/drawingml/2006/main">
            <a:r>
              <a:t>https://openstax.org/books/biology-2e/pages/30-5-transport-of-water-and-solutes-in-plants</a:t>
            </a:r>
          </a:p>
          <a:p xmlns:a="http://schemas.openxmlformats.org/drawingml/2006/main">
            <a:r>
              <a:t>Checked water supply, stomatal regulation and the distinction between transpiration and water added to soil.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Model: “B’s mean gain is 3.0 g, not 3.0 g for every plant. Matching initial/end groups estimates gain without drying the same living plant twice. This table does not directly measure instantaneous photosynthesis.”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Constructed mean dry-biomass gains over 14 days: A 1.8 g, B 3.0 g, C 1.0 g, D 1.1 g, E 2.6 g per plant. Water supplied differs; B has largest mean gain but exceeds the 0.50 L budget. E meets gain at least 2.5 g and supplied water at most 0.50 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Overview of photosynthesis</a:t>
            </a:r>
          </a:p>
          <a:p xmlns:a="http://schemas.openxmlformats.org/drawingml/2006/main">
            <a:r>
              <a:t>https://openstax.org/books/biology-2e/pages/8-1-overview-of-photosynthesis</a:t>
            </a:r>
          </a:p>
          <a:p xmlns:a="http://schemas.openxmlformats.org/drawingml/2006/main">
            <a:r>
              <a:t>Checked links between light, organic matter production and plant biomass. All greenhouse conditions and numerical outcomes are original constructed data.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Transport of water and solutes in plants</a:t>
            </a:r>
          </a:p>
          <a:p xmlns:a="http://schemas.openxmlformats.org/drawingml/2006/main">
            <a:r>
              <a:t>https://openstax.org/books/biology-2e/pages/30-5-transport-of-water-and-solutes-in-plants</a:t>
            </a:r>
          </a:p>
          <a:p xmlns:a="http://schemas.openxmlformats.org/drawingml/2006/main">
            <a:r>
              <a:t>Checked water supply, stomatal regulation and the distinction between transpiration and water added to soil.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an invented example F:2.8 g and 0.70 L. It passes growth but fails water; do not recommend it. Use diagram to show upper-left region. Keep E’s actual decision for collaborative revision.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Constructed scatter plot: water supplied onx-axis and mean dry-biomass gain ony-axis. Target is at least 2.5 g gain and at most 0.50 L supplied water. The shaded upper-left region meets both. Only E of the supplied plans lies there. This is a decision aid, not a biological law.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Overview of photosynthesis</a:t>
            </a:r>
          </a:p>
          <a:p xmlns:a="http://schemas.openxmlformats.org/drawingml/2006/main">
            <a:r>
              <a:t>https://openstax.org/books/biology-2e/pages/8-1-overview-of-photosynthesis</a:t>
            </a:r>
          </a:p>
          <a:p xmlns:a="http://schemas.openxmlformats.org/drawingml/2006/main">
            <a:r>
              <a:t>Checked links between light, organic matter production and plant biomass. All greenhouse conditions and numerical outcomes are original constructed data.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Transport of water and solutes in plants</a:t>
            </a:r>
          </a:p>
          <a:p xmlns:a="http://schemas.openxmlformats.org/drawingml/2006/main">
            <a:r>
              <a:t>https://openstax.org/books/biology-2e/pages/30-5-transport-of-water-and-solutes-in-plants</a:t>
            </a:r>
          </a:p>
          <a:p xmlns:a="http://schemas.openxmlformats.org/drawingml/2006/main">
            <a:r>
              <a:t>Checked water supply, stomatal regulation and the distinction between transpiration and water added to soil.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 largest 3.0 g, but 0.60 L exceeds 0.50 L. A/C/D fail 2.5 g gain. No A–D plan passes both; “none yet” is a valid evidence-based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Overview of photosynthesis</a:t>
            </a:r>
          </a:p>
          <a:p xmlns:a="http://schemas.openxmlformats.org/drawingml/2006/main">
            <a:r>
              <a:t>https://openstax.org/books/biology-2e/pages/8-1-overview-of-photosynthesis</a:t>
            </a:r>
          </a:p>
          <a:p xmlns:a="http://schemas.openxmlformats.org/drawingml/2006/main">
            <a:r>
              <a:t>Checked links between light, organic matter production and plant biomass. All greenhouse conditions and numerical outcomes are original constructed data.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Transport of water and solutes in plants</a:t>
            </a:r>
          </a:p>
          <a:p xmlns:a="http://schemas.openxmlformats.org/drawingml/2006/main">
            <a:r>
              <a:t>https://openstax.org/books/biology-2e/pages/30-5-transport-of-water-and-solutes-in-plants</a:t>
            </a:r>
          </a:p>
          <a:p xmlns:a="http://schemas.openxmlformats.org/drawingml/2006/main">
            <a:r>
              <a:t>Checked water supply, stomatal regulation and the distinction between transpiration and water added to soil.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 passes. Gain margin 2.6−2.5=0.1 g; water headroom 0.50−0.45=0.05 L. The small growth margin makes individual variation/repetition relevant. This is newly supplied constructed evidence, not a guessed interpolation.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Constructed scatter plot: water supplied onx-axis and mean dry-biomass gain ony-axis. Target is at least 2.5 g gain and at most 0.50 L supplied water. The shaded upper-left region meets both. Only E of the supplied plans lies there. This is a decision aid, not a biological law.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Overview of photosynthesis</a:t>
            </a:r>
          </a:p>
          <a:p xmlns:a="http://schemas.openxmlformats.org/drawingml/2006/main">
            <a:r>
              <a:t>https://openstax.org/books/biology-2e/pages/8-1-overview-of-photosynthesis</a:t>
            </a:r>
          </a:p>
          <a:p xmlns:a="http://schemas.openxmlformats.org/drawingml/2006/main">
            <a:r>
              <a:t>Checked links between light, organic matter production and plant biomass. All greenhouse conditions and numerical outcomes are original constructed data.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Transport of water and solutes in plants</a:t>
            </a:r>
          </a:p>
          <a:p xmlns:a="http://schemas.openxmlformats.org/drawingml/2006/main">
            <a:r>
              <a:t>https://openstax.org/books/biology-2e/pages/30-5-transport-of-water-and-solutes-in-plants</a:t>
            </a:r>
          </a:p>
          <a:p xmlns:a="http://schemas.openxmlformats.org/drawingml/2006/main">
            <a:r>
              <a:t>Checked water supply, stomatal regulation and the distinction between transpiration and water added to soil.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Recommend E for a repeat pilot because its mean meets both stated limits in this constructed trial. Need individual values/variation, repeated trials/more plants or independent conditions; no guarantee for each plant.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E meets both mean-based criteria in this constructed trial. Repeat and inspect variation before a wider recommendation.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Overview of photosynthesis</a:t>
            </a:r>
          </a:p>
          <a:p xmlns:a="http://schemas.openxmlformats.org/drawingml/2006/main">
            <a:r>
              <a:t>https://openstax.org/books/biology-2e/pages/8-1-overview-of-photosynthesis</a:t>
            </a:r>
          </a:p>
          <a:p xmlns:a="http://schemas.openxmlformats.org/drawingml/2006/main">
            <a:r>
              <a:t>Checked links between light, organic matter production and plant biomass. All greenhouse conditions and numerical outcomes are original constructed data.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Transport of water and solutes in plants</a:t>
            </a:r>
          </a:p>
          <a:p xmlns:a="http://schemas.openxmlformats.org/drawingml/2006/main">
            <a:r>
              <a:t>https://openstax.org/books/biology-2e/pages/30-5-transport-of-water-and-solutes-in-plants</a:t>
            </a:r>
          </a:p>
          <a:p xmlns:a="http://schemas.openxmlformats.org/drawingml/2006/main">
            <a:r>
              <a:t>Checked water supply, stomatal regulation and the distinction between transpiration and water added to soil.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 correct. A ignores budget; C confuses mean/individual; D confuses variables.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A. B must win because 3.0 g is the largest mean.</a:t>
            </a:r>
          </a:p>
          <a:p xmlns:a="http://schemas.openxmlformats.org/drawingml/2006/main">
            <a:r>
              <a:t>B exceeds the 0.50 L water-supply budget with 0.60 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B. E meets both mean-based criteria in the supplied trial.</a:t>
            </a:r>
          </a:p>
          <a:p xmlns:a="http://schemas.openxmlformats.org/drawingml/2006/main">
            <a:r>
              <a:t>Correct. 2.6 g is at least 2.5 g and 0.45 L is at most 0.50 L; scope stays with this trial.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C. A mean of 2.6 g guarantees every plant gains 2.6 g.</a:t>
            </a:r>
          </a:p>
          <a:p xmlns:a="http://schemas.openxmlformats.org/drawingml/2006/main">
            <a:r>
              <a:t>A mean summarises a group; individual results may differ.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D. A/B isolates light because both are plants.</a:t>
            </a:r>
          </a:p>
          <a:p xmlns:a="http://schemas.openxmlformats.org/drawingml/2006/main">
            <a:r>
              <a:t>Light and water supply differ between A/B; C/D is the supplied light-only pair.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Overview of photosynthesis</a:t>
            </a:r>
          </a:p>
          <a:p xmlns:a="http://schemas.openxmlformats.org/drawingml/2006/main">
            <a:r>
              <a:t>https://openstax.org/books/biology-2e/pages/8-1-overview-of-photosynthesis</a:t>
            </a:r>
          </a:p>
          <a:p xmlns:a="http://schemas.openxmlformats.org/drawingml/2006/main">
            <a:r>
              <a:t>Checked links between light, organic matter production and plant biomass. All greenhouse conditions and numerical outcomes are original constructed data.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Transport of water and solutes in plants</a:t>
            </a:r>
          </a:p>
          <a:p xmlns:a="http://schemas.openxmlformats.org/drawingml/2006/main">
            <a:r>
              <a:t>https://openstax.org/books/biology-2e/pages/30-5-transport-of-water-and-solutes-in-plants</a:t>
            </a:r>
          </a:p>
          <a:p xmlns:a="http://schemas.openxmlformats.org/drawingml/2006/main">
            <a:r>
              <a:t>Checked water supply, stomatal regulation and the distinction between transpiration and water added to soil.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independent product is a recommendation with a proposed next test. All data supplied; no online lookup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Overview of photosynthesis</a:t>
            </a:r>
          </a:p>
          <a:p xmlns:a="http://schemas.openxmlformats.org/drawingml/2006/main">
            <a:r>
              <a:t>https://openstax.org/books/biology-2e/pages/8-1-overview-of-photosynthesis</a:t>
            </a:r>
          </a:p>
          <a:p xmlns:a="http://schemas.openxmlformats.org/drawingml/2006/main">
            <a:r>
              <a:t>Checked links between light, organic matter production and plant biomass. All greenhouse conditions and numerical outcomes are original constructed data.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Transport of water and solutes in plants</a:t>
            </a:r>
          </a:p>
          <a:p xmlns:a="http://schemas.openxmlformats.org/drawingml/2006/main">
            <a:r>
              <a:t>https://openstax.org/books/biology-2e/pages/30-5-transport-of-water-and-solutes-in-plants</a:t>
            </a:r>
          </a:p>
          <a:p xmlns:a="http://schemas.openxmlformats.org/drawingml/2006/main">
            <a:r>
              <a:t>Checked water supply, stomatal regulation and the distinction between transpiration and water added to soil.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Supported S1–S4; standard M1–M4; stretch T1–T4. Label the limiting-factor interaction question optional Higher. Core pupils can succeed through fair comparisons and the two-constraint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Overview of photosynthesis</a:t>
            </a:r>
          </a:p>
          <a:p xmlns:a="http://schemas.openxmlformats.org/drawingml/2006/main">
            <a:r>
              <a:t>https://openstax.org/books/biology-2e/pages/8-1-overview-of-photosynthesis</a:t>
            </a:r>
          </a:p>
          <a:p xmlns:a="http://schemas.openxmlformats.org/drawingml/2006/main">
            <a:r>
              <a:t>Checked links between light, organic matter production and plant biomass. All greenhouse conditions and numerical outcomes are original constructed data.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Transport of water and solutes in plants</a:t>
            </a:r>
          </a:p>
          <a:p xmlns:a="http://schemas.openxmlformats.org/drawingml/2006/main">
            <a:r>
              <a:t>https://openstax.org/books/biology-2e/pages/30-5-transport-of-water-and-solutes-in-plants</a:t>
            </a:r>
          </a:p>
          <a:p xmlns:a="http://schemas.openxmlformats.org/drawingml/2006/main">
            <a:r>
              <a:t>Checked water supply, stomatal regulation and the distinction between transpiration and water added to soil.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teacher, TA or quiet partner can ask. The pupil names evidence that could change the decision: repeated gains below the target, a water requirement above the budget, or large individual variation. Capture a genuine revision or justified confirmation.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Overview of photosynthesis</a:t>
            </a:r>
          </a:p>
          <a:p xmlns:a="http://schemas.openxmlformats.org/drawingml/2006/main">
            <a:r>
              <a:t>https://openstax.org/books/biology-2e/pages/8-1-overview-of-photosynthesis</a:t>
            </a:r>
          </a:p>
          <a:p xmlns:a="http://schemas.openxmlformats.org/drawingml/2006/main">
            <a:r>
              <a:t>Checked links between light, organic matter production and plant biomass. All greenhouse conditions and numerical outcomes are original constructed data.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Transport of water and solutes in plants</a:t>
            </a:r>
          </a:p>
          <a:p xmlns:a="http://schemas.openxmlformats.org/drawingml/2006/main">
            <a:r>
              <a:t>https://openstax.org/books/biology-2e/pages/30-5-transport-of-water-and-solutes-in-plants</a:t>
            </a:r>
          </a:p>
          <a:p xmlns:a="http://schemas.openxmlformats.org/drawingml/2006/main">
            <a:r>
              <a:t>Checked water supply, stomatal regulation and the distinction between transpiration and water added to soil.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a concise recommendation using 2.6 g mean gain and 0.45 L supplied water, followed by a matched repeat and a check of individual variation. Do not infer an optimum light or water level beyond the tested plans.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Overview of photosynthesis</a:t>
            </a:r>
          </a:p>
          <a:p xmlns:a="http://schemas.openxmlformats.org/drawingml/2006/main">
            <a:r>
              <a:t>https://openstax.org/books/biology-2e/pages/8-1-overview-of-photosynthesis</a:t>
            </a:r>
          </a:p>
          <a:p xmlns:a="http://schemas.openxmlformats.org/drawingml/2006/main">
            <a:r>
              <a:t>Checked links between light, organic matter production and plant biomass. All greenhouse conditions and numerical outcomes are original constructed data.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Transport of water and solutes in plants</a:t>
            </a:r>
          </a:p>
          <a:p xmlns:a="http://schemas.openxmlformats.org/drawingml/2006/main">
            <a:r>
              <a:t>https://openstax.org/books/biology-2e/pages/30-5-transport-of-water-and-solutes-in-plants</a:t>
            </a:r>
          </a:p>
          <a:p xmlns:a="http://schemas.openxmlformats.org/drawingml/2006/main">
            <a:r>
              <a:t>Checked water supply, stomatal regulation and the distinction between transpiration and water added to soil.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E1: C/D is the fair pair. E2: 0.60 L exceeds the 0.50 L cap. E3: the result is a trial mean; individual variation and repeatability need checking. Match the next support to the comparison, budget or claim limit.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Overview of photosynthesis</a:t>
            </a:r>
          </a:p>
          <a:p xmlns:a="http://schemas.openxmlformats.org/drawingml/2006/main">
            <a:r>
              <a:t>https://openstax.org/books/biology-2e/pages/8-1-overview-of-photosynthesis</a:t>
            </a:r>
          </a:p>
          <a:p xmlns:a="http://schemas.openxmlformats.org/drawingml/2006/main">
            <a:r>
              <a:t>Checked links between light, organic matter production and plant biomass. All greenhouse conditions and numerical outcomes are original constructed data.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Transport of water and solutes in plants</a:t>
            </a:r>
          </a:p>
          <a:p xmlns:a="http://schemas.openxmlformats.org/drawingml/2006/main">
            <a:r>
              <a:t>https://openstax.org/books/biology-2e/pages/30-5-transport-of-water-and-solutes-in-plants</a:t>
            </a:r>
          </a:p>
          <a:p xmlns:a="http://schemas.openxmlformats.org/drawingml/2006/main">
            <a:r>
              <a:t>Checked water supply, stomatal regulation and the distinction between transpiration and water added to soil.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exit minute. Accept a marked decision table with an accurate spoken reason.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Overview of photosynthesis</a:t>
            </a:r>
          </a:p>
          <a:p xmlns:a="http://schemas.openxmlformats.org/drawingml/2006/main">
            <a:r>
              <a:t>https://openstax.org/books/biology-2e/pages/8-1-overview-of-photosynthesis</a:t>
            </a:r>
          </a:p>
          <a:p xmlns:a="http://schemas.openxmlformats.org/drawingml/2006/main">
            <a:r>
              <a:t>Checked links between light, organic matter production and plant biomass. All greenhouse conditions and numerical outcomes are original constructed data.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Transport of water and solutes in plants</a:t>
            </a:r>
          </a:p>
          <a:p xmlns:a="http://schemas.openxmlformats.org/drawingml/2006/main">
            <a:r>
              <a:t>https://openstax.org/books/biology-2e/pages/30-5-transport-of-water-and-solutes-in-plants</a:t>
            </a:r>
          </a:p>
          <a:p xmlns:a="http://schemas.openxmlformats.org/drawingml/2006/main">
            <a:r>
              <a:t>Checked water supply, stomatal regulation and the distinction between transpiration and water added to soil.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c7b0f3e5e447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754d62b92f47a2" /><Relationship Type="http://schemas.openxmlformats.org/officeDocument/2006/relationships/slideLayout" Target="/ppt/slideLayouts/slideLayout1.xml" Id="R1d4d3c4fbde341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4d3c4fbde341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024039a4c24053" /><Relationship Type="http://schemas.openxmlformats.org/officeDocument/2006/relationships/notesSlide" Target="/ppt/notesSlides/notesSlide1.xml" Id="R279cf04d1b9941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8082b54124303" /><Relationship Type="http://schemas.openxmlformats.org/officeDocument/2006/relationships/notesSlide" Target="/ppt/notesSlides/notesSlide2.xml" Id="R9118ddff219e43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974dba3474e1b" /><Relationship Type="http://schemas.openxmlformats.org/officeDocument/2006/relationships/notesSlide" Target="/ppt/notesSlides/notesSlide3.xml" Id="R23270a2c1f544d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a6d08a4aa14d95" /><Relationship Type="http://schemas.openxmlformats.org/officeDocument/2006/relationships/notesSlide" Target="/ppt/notesSlides/notesSlide4.xml" Id="R5d020e3675b24e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ffb105a4474463" /><Relationship Type="http://schemas.openxmlformats.org/officeDocument/2006/relationships/notesSlide" Target="/ppt/notesSlides/notesSlide5.xml" Id="Rb52f7c5ea49140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9bdad9ba1b436a" /><Relationship Type="http://schemas.openxmlformats.org/officeDocument/2006/relationships/notesSlide" Target="/ppt/notesSlides/notesSlide6.xml" Id="R38e509ba8af54a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ae25069904234" /><Relationship Type="http://schemas.openxmlformats.org/officeDocument/2006/relationships/notesSlide" Target="/ppt/notesSlides/notesSlide7.xml" Id="R0e4d25a9a9c547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05b4ee459e4857" /><Relationship Type="http://schemas.openxmlformats.org/officeDocument/2006/relationships/notesSlide" Target="/ppt/notesSlides/notesSlide8.xml" Id="R425f9c5c73774e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39c1fcd114759" /><Relationship Type="http://schemas.openxmlformats.org/officeDocument/2006/relationships/notesSlide" Target="/ppt/notesSlides/notesSlide9.xml" Id="R4699d5933f8a4c0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bc6521c9f54f85" /><Relationship Type="http://schemas.openxmlformats.org/officeDocument/2006/relationships/notesSlide" Target="/ppt/notesSlides/notesSlide10.xml" Id="Rfc23316dcc2541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60db3c425341fe" /><Relationship Type="http://schemas.openxmlformats.org/officeDocument/2006/relationships/notesSlide" Target="/ppt/notesSlides/notesSlide11.xml" Id="R95b63e6c93b2479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e0b8172fe74552" /><Relationship Type="http://schemas.openxmlformats.org/officeDocument/2006/relationships/notesSlide" Target="/ppt/notesSlides/notesSlide12.xml" Id="Ref8c123d28d84dd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04855467f4d07" /><Relationship Type="http://schemas.openxmlformats.org/officeDocument/2006/relationships/notesSlide" Target="/ppt/notesSlides/notesSlide13.xml" Id="R2da8b543fc354e4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7943f3d16740b9" /><Relationship Type="http://schemas.openxmlformats.org/officeDocument/2006/relationships/notesSlide" Target="/ppt/notesSlides/notesSlide14.xml" Id="R95443a70fd95498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b62fd9f694c8d" /><Relationship Type="http://schemas.openxmlformats.org/officeDocument/2006/relationships/notesSlide" Target="/ppt/notesSlides/notesSlide15.xml" Id="R9ae33b38b59a44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F656A306-AD08-4583-9F69-7A2FE490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0210B038-4341-4E47-8E94-1227F1C2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AADDF068-DBF0-4806-8278-BA559E51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77589A66-23DB-4F81-96F1-6B6A7761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Opening">
            <a:extLst xmlns:a="http://schemas.openxmlformats.org/drawingml/2006/main">
              <a:ext uri="{FF2B5EF4-FFF2-40B4-BE49-F238E27FC236}">
                <a16:creationId xmlns:a16="http://schemas.microsoft.com/office/drawing/2014/main" id="{B170B187-0ECE-4B1E-8A51-FD8301B1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Opening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B5E3225C-807E-492C-8CB7-8EF9CB8B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Can the best grower fail the brief?">
            <a:extLst xmlns:a="http://schemas.openxmlformats.org/drawingml/2006/main">
              <a:ext uri="{FF2B5EF4-FFF2-40B4-BE49-F238E27FC236}">
                <a16:creationId xmlns:a16="http://schemas.microsoft.com/office/drawing/2014/main" id="{8004A822-3151-4EEE-97C2-9565DD75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Can the best grower fail the brief?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0CFAB765-5F67-41FB-A586-60853F25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Greenhouse challenge: grow more with a water budget">
            <a:extLst xmlns:a="http://schemas.openxmlformats.org/drawingml/2006/main">
              <a:ext uri="{FF2B5EF4-FFF2-40B4-BE49-F238E27FC236}">
                <a16:creationId xmlns:a16="http://schemas.microsoft.com/office/drawing/2014/main" id="{A3C0445B-5C7D-4619-B54E-9A240BEE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Greenhouse challenge: grow more with a water budget</a:t>
            </a:r>
          </a:p>
        </p:txBody>
      </p:sp>
      <p:sp>
        <p:nvSpPr>
          <p:cNvPr id="10" name="1 / 15">
            <a:extLst xmlns:a="http://schemas.openxmlformats.org/drawingml/2006/main">
              <a:ext uri="{FF2B5EF4-FFF2-40B4-BE49-F238E27FC236}">
                <a16:creationId xmlns:a16="http://schemas.microsoft.com/office/drawing/2014/main" id="{3D00CFD8-0C19-4C88-BCA0-933F25CD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 / 15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4B321198-3D05-469A-BC88-675EBF4E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11252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7F3236BB-A6D0-49A1-AF06-E8AE47B0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66675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13" name="Learning intention">
            <a:extLst xmlns:a="http://schemas.openxmlformats.org/drawingml/2006/main">
              <a:ext uri="{FF2B5EF4-FFF2-40B4-BE49-F238E27FC236}">
                <a16:creationId xmlns:a16="http://schemas.microsoft.com/office/drawing/2014/main" id="{5DAFFC85-1A80-4218-9DB5-F7D5BEDF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Learning intention</a:t>
            </a:r>
          </a:p>
        </p:txBody>
      </p:sp>
      <p:sp>
        <p:nvSpPr>
          <p:cNvPr id="14" name="Apply plant biology to unfamiliar growth data and justify a plan">
            <a:extLst xmlns:a="http://schemas.openxmlformats.org/drawingml/2006/main">
              <a:ext uri="{FF2B5EF4-FFF2-40B4-BE49-F238E27FC236}">
                <a16:creationId xmlns:a16="http://schemas.microsoft.com/office/drawing/2014/main" id="{E36229BF-C916-44D7-8A80-A3EFFFD5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Apply plant biology to unfamiliar growth data and justify a plan using evidence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and its limitations.</a:t>
            </a:r>
          </a:p>
        </p:txBody>
      </p:sp>
      <p:sp>
        <p:nvSpPr>
          <p:cNvPr id="15" name="Mission: recommend a growing plan with evidence.">
            <a:extLst xmlns:a="http://schemas.openxmlformats.org/drawingml/2006/main">
              <a:ext uri="{FF2B5EF4-FFF2-40B4-BE49-F238E27FC236}">
                <a16:creationId xmlns:a16="http://schemas.microsoft.com/office/drawing/2014/main" id="{B9BE0F47-FFFE-42CD-8D50-CEE24BE8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Mission: recommend a growing plan with evidence.</a:t>
            </a:r>
          </a:p>
        </p:txBody>
      </p:sp>
      <p:sp>
        <p:nvSpPr>
          <p:cNvPr id="16" name="A water budget arrives after the first decision.">
            <a:extLst xmlns:a="http://schemas.openxmlformats.org/drawingml/2006/main">
              <a:ext uri="{FF2B5EF4-FFF2-40B4-BE49-F238E27FC236}">
                <a16:creationId xmlns:a16="http://schemas.microsoft.com/office/drawing/2014/main" id="{40A5A250-B537-4784-909C-B45A378D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57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water budget arrives after the first decision.</a:t>
            </a:r>
          </a:p>
        </p:txBody>
      </p:sp>
    </p:spTree>
    <p:extLst>
      <p:ext uri="{BB962C8B-B14F-4D97-AF65-F5344CB8AC3E}">
        <p14:creationId xmlns:p14="http://schemas.microsoft.com/office/powerpoint/2010/main" val="7101467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0BA38500-DD60-42E2-A45E-596E6971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4EF09F6E-284D-456C-8B2E-5672371B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B2FF62ED-EEA3-470F-838F-1193D9D8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56B4DA07-387E-4104-9B32-FD01F875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Retrieval">
            <a:extLst xmlns:a="http://schemas.openxmlformats.org/drawingml/2006/main">
              <a:ext uri="{FF2B5EF4-FFF2-40B4-BE49-F238E27FC236}">
                <a16:creationId xmlns:a16="http://schemas.microsoft.com/office/drawing/2014/main" id="{39C0B4BB-CE37-4164-BA0E-37C425EF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Retrieval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78C4AB97-7CAA-40A2-B88A-DB37E7F7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Link plants with evidence">
            <a:extLst xmlns:a="http://schemas.openxmlformats.org/drawingml/2006/main">
              <a:ext uri="{FF2B5EF4-FFF2-40B4-BE49-F238E27FC236}">
                <a16:creationId xmlns:a16="http://schemas.microsoft.com/office/drawing/2014/main" id="{B80EAA58-57A6-4919-A088-7EEFC343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Link plants with evidence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5E3D7349-3B08-4958-AF66-686BB1F8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Greenhouse challenge: grow more with a water budget">
            <a:extLst xmlns:a="http://schemas.openxmlformats.org/drawingml/2006/main">
              <a:ext uri="{FF2B5EF4-FFF2-40B4-BE49-F238E27FC236}">
                <a16:creationId xmlns:a16="http://schemas.microsoft.com/office/drawing/2014/main" id="{1C64F851-1AF6-4820-B9BA-7A7E9231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Greenhouse challenge: grow more with a water budget</a:t>
            </a:r>
          </a:p>
        </p:txBody>
      </p:sp>
      <p:sp>
        <p:nvSpPr>
          <p:cNvPr id="10" name="2 / 15">
            <a:extLst xmlns:a="http://schemas.openxmlformats.org/drawingml/2006/main">
              <a:ext uri="{FF2B5EF4-FFF2-40B4-BE49-F238E27FC236}">
                <a16:creationId xmlns:a16="http://schemas.microsoft.com/office/drawing/2014/main" id="{6D2C9889-F5BB-4996-80A8-9951E934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2 / 15</a:t>
            </a:r>
          </a:p>
        </p:txBody>
      </p:sp>
      <p:sp>
        <p:nvSpPr>
          <p:cNvPr id="11" name="R1. How can photosynthesis contribute to biomass?">
            <a:extLst xmlns:a="http://schemas.openxmlformats.org/drawingml/2006/main">
              <a:ext uri="{FF2B5EF4-FFF2-40B4-BE49-F238E27FC236}">
                <a16:creationId xmlns:a16="http://schemas.microsoft.com/office/drawing/2014/main" id="{2BCCCF07-CD87-42DB-AC0E-9EECB110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R1. How can photosynthesis contribute to biomass?</a:t>
            </a:r>
          </a:p>
        </p:txBody>
      </p:sp>
      <p:sp>
        <p:nvSpPr>
          <p:cNvPr id="12" name="R2. Is water supplied the same as water lost?">
            <a:extLst xmlns:a="http://schemas.openxmlformats.org/drawingml/2006/main">
              <a:ext uri="{FF2B5EF4-FFF2-40B4-BE49-F238E27FC236}">
                <a16:creationId xmlns:a16="http://schemas.microsoft.com/office/drawing/2014/main" id="{CC9D13F5-F24E-4C8F-B637-E949C3C3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R2. Is water supplied the same as water lost?</a:t>
            </a:r>
          </a:p>
        </p:txBody>
      </p:sp>
      <p:sp>
        <p:nvSpPr>
          <p:cNvPr id="13" name="R3. Does a group mean describe every individual?">
            <a:extLst xmlns:a="http://schemas.openxmlformats.org/drawingml/2006/main">
              <a:ext uri="{FF2B5EF4-FFF2-40B4-BE49-F238E27FC236}">
                <a16:creationId xmlns:a16="http://schemas.microsoft.com/office/drawing/2014/main" id="{85571DC5-7220-446C-8D26-298413AF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R3. Does a group mean describe every individual?</a:t>
            </a:r>
          </a:p>
        </p:txBody>
      </p:sp>
    </p:spTree>
    <p:extLst>
      <p:ext uri="{BB962C8B-B14F-4D97-AF65-F5344CB8AC3E}">
        <p14:creationId xmlns:p14="http://schemas.microsoft.com/office/powerpoint/2010/main" val="15359610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urface">
            <a:extLst xmlns:a="http://schemas.openxmlformats.org/drawingml/2006/main">
              <a:ext uri="{FF2B5EF4-FFF2-40B4-BE49-F238E27FC236}">
                <a16:creationId xmlns:a16="http://schemas.microsoft.com/office/drawing/2014/main" id="{536D1916-F5D6-4F2B-88B5-6FAEFD76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CF5C1FD3-769C-4122-B0BF-99B7AED4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0193157D-7C33-43E4-AEA3-74431024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9039C8B0-125E-4F75-8A7E-5FB8A5B5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2797EF32-34FD-49BD-9AD3-69B48121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4 min">
            <a:extLst xmlns:a="http://schemas.openxmlformats.org/drawingml/2006/main">
              <a:ext uri="{FF2B5EF4-FFF2-40B4-BE49-F238E27FC236}">
                <a16:creationId xmlns:a16="http://schemas.microsoft.com/office/drawing/2014/main" id="{705F0E83-8320-48D3-A8F0-DC902AD7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4 min</a:t>
            </a:r>
          </a:p>
        </p:txBody>
      </p:sp>
      <p:sp>
        <p:nvSpPr>
          <p:cNvPr id="7" name="I check what actually changed">
            <a:extLst xmlns:a="http://schemas.openxmlformats.org/drawingml/2006/main">
              <a:ext uri="{FF2B5EF4-FFF2-40B4-BE49-F238E27FC236}">
                <a16:creationId xmlns:a16="http://schemas.microsoft.com/office/drawing/2014/main" id="{308576F9-38EB-46FD-A271-AB0F9E87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check what actually changed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EF0FDA7D-022D-494E-8AC5-39E2EAA2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Greenhouse challenge: grow more with a water budget">
            <a:extLst xmlns:a="http://schemas.openxmlformats.org/drawingml/2006/main">
              <a:ext uri="{FF2B5EF4-FFF2-40B4-BE49-F238E27FC236}">
                <a16:creationId xmlns:a16="http://schemas.microsoft.com/office/drawing/2014/main" id="{C686E9A8-95F1-45C2-B611-53F10A29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Greenhouse challenge: grow more with a water budget</a:t>
            </a:r>
          </a:p>
        </p:txBody>
      </p:sp>
      <p:sp>
        <p:nvSpPr>
          <p:cNvPr id="10" name="3 / 15">
            <a:extLst xmlns:a="http://schemas.openxmlformats.org/drawingml/2006/main">
              <a:ext uri="{FF2B5EF4-FFF2-40B4-BE49-F238E27FC236}">
                <a16:creationId xmlns:a16="http://schemas.microsoft.com/office/drawing/2014/main" id="{784C77C9-D3BE-415A-8876-654C2AD5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3 / 15</a:t>
            </a:r>
          </a:p>
        </p:txBody>
      </p:sp>
      <p:sp>
        <p:nvSpPr>
          <p:cNvPr id="11" name="Diagram label: A controlled comparison needs a fair pair">
            <a:extLst xmlns:a="http://schemas.openxmlformats.org/drawingml/2006/main">
              <a:ext uri="{FF2B5EF4-FFF2-40B4-BE49-F238E27FC236}">
                <a16:creationId xmlns:a16="http://schemas.microsoft.com/office/drawing/2014/main" id="{F1B58D91-8B27-40AB-ABC2-72B1EB33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548" y="1997188"/>
            <a:ext cx="7018904" cy="358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controlled comparison needs a fair pair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779A3C07-12C6-49A1-8761-D4EFF388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552" y="2669211"/>
            <a:ext cx="3098772" cy="10827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13" name="Diagram label: A: low light&#10;Water supplied 0.30 L">
            <a:extLst xmlns:a="http://schemas.openxmlformats.org/drawingml/2006/main">
              <a:ext uri="{FF2B5EF4-FFF2-40B4-BE49-F238E27FC236}">
                <a16:creationId xmlns:a16="http://schemas.microsoft.com/office/drawing/2014/main" id="{7158966B-AA8B-4370-B753-A1E2F379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890" y="2803616"/>
            <a:ext cx="2800095" cy="858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A: low light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Water supplied 0.30 L</a:t>
            </a:r>
          </a:p>
        </p:txBody>
      </p:sp>
      <p:sp>
        <p:nvSpPr>
          <p:cNvPr id="1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D6C4EE91-8379-4DCC-840B-A39A5E84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677" y="2669211"/>
            <a:ext cx="3098772" cy="10827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15" name="Diagram label: B: high light&#10;Water supplied 0.60 L">
            <a:extLst xmlns:a="http://schemas.openxmlformats.org/drawingml/2006/main">
              <a:ext uri="{FF2B5EF4-FFF2-40B4-BE49-F238E27FC236}">
                <a16:creationId xmlns:a16="http://schemas.microsoft.com/office/drawing/2014/main" id="{E2C86A8E-5F6E-4DF1-B331-A5F25A7F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015" y="2803616"/>
            <a:ext cx="2800095" cy="858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B: high light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Water supplied 0.60 L</a:t>
            </a:r>
          </a:p>
        </p:txBody>
      </p:sp>
      <p:sp>
        <p:nvSpPr>
          <p:cNvPr id="1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4CE8918E-F5A4-4BA6-BB6E-0CF39071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552" y="4311933"/>
            <a:ext cx="3098772" cy="10827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17" name="Diagram label: C: low light&#10;Water supplied 0.15 L">
            <a:extLst xmlns:a="http://schemas.openxmlformats.org/drawingml/2006/main">
              <a:ext uri="{FF2B5EF4-FFF2-40B4-BE49-F238E27FC236}">
                <a16:creationId xmlns:a16="http://schemas.microsoft.com/office/drawing/2014/main" id="{770BC9D7-C1DD-423E-89E3-C6DF7A41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890" y="4446338"/>
            <a:ext cx="2800095" cy="858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C: low light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Water supplied 0.15 L</a:t>
            </a:r>
          </a:p>
        </p:txBody>
      </p:sp>
      <p:sp>
        <p:nvSpPr>
          <p:cNvPr id="18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43946AB1-2192-46B8-97FF-F6F92C03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677" y="4311933"/>
            <a:ext cx="3098772" cy="10827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5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19" name="Diagram label: D: high light&#10;Water supplied 0.15 L">
            <a:extLst xmlns:a="http://schemas.openxmlformats.org/drawingml/2006/main">
              <a:ext uri="{FF2B5EF4-FFF2-40B4-BE49-F238E27FC236}">
                <a16:creationId xmlns:a16="http://schemas.microsoft.com/office/drawing/2014/main" id="{7AA2A921-76DD-447C-9822-1466DBE6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015" y="4446338"/>
            <a:ext cx="2800095" cy="858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D: high light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Water supplied 0.15 L</a:t>
            </a:r>
          </a:p>
        </p:txBody>
      </p:sp>
      <p:sp>
        <p:nvSpPr>
          <p:cNvPr id="20" name="Diagram label: For a light test, compare C and D: same supplied water.">
            <a:extLst xmlns:a="http://schemas.openxmlformats.org/drawingml/2006/main">
              <a:ext uri="{FF2B5EF4-FFF2-40B4-BE49-F238E27FC236}">
                <a16:creationId xmlns:a16="http://schemas.microsoft.com/office/drawing/2014/main" id="{E059D05D-9BDD-449F-9C44-4521458D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217" y="5543975"/>
            <a:ext cx="6869566" cy="33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For a light test, compare C and D: same supplied water.</a:t>
            </a:r>
          </a:p>
        </p:txBody>
      </p:sp>
      <p:sp>
        <p:nvSpPr>
          <p:cNvPr id="21" name="The table shows light and water supplied.  A versus B changes bo">
            <a:extLst xmlns:a="http://schemas.openxmlformats.org/drawingml/2006/main">
              <a:ext uri="{FF2B5EF4-FFF2-40B4-BE49-F238E27FC236}">
                <a16:creationId xmlns:a16="http://schemas.microsoft.com/office/drawing/2014/main" id="{A51095A1-4DD5-4E7E-9E03-F9734FA2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table shows light and water supplied. A versus B changes both. C versus D keeps supplied water equal.</a:t>
            </a:r>
          </a:p>
        </p:txBody>
      </p:sp>
    </p:spTree>
    <p:extLst>
      <p:ext uri="{BB962C8B-B14F-4D97-AF65-F5344CB8AC3E}">
        <p14:creationId xmlns:p14="http://schemas.microsoft.com/office/powerpoint/2010/main" val="7033202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urface">
            <a:extLst xmlns:a="http://schemas.openxmlformats.org/drawingml/2006/main">
              <a:ext uri="{FF2B5EF4-FFF2-40B4-BE49-F238E27FC236}">
                <a16:creationId xmlns:a16="http://schemas.microsoft.com/office/drawing/2014/main" id="{1482593F-8546-4CCB-9DEA-9DB3FB86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01CDD8AC-068F-429B-B5EE-754C5106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06357B4F-61B9-4EF7-87F3-47B757B8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AE7A1DEC-0D37-493B-AB1D-F64498CC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F41E6AD5-D18C-4FA4-B78B-EEA2D7EF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5BBFD236-E992-4ACC-9733-717A420A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Read the outcome and its limits">
            <a:extLst xmlns:a="http://schemas.openxmlformats.org/drawingml/2006/main">
              <a:ext uri="{FF2B5EF4-FFF2-40B4-BE49-F238E27FC236}">
                <a16:creationId xmlns:a16="http://schemas.microsoft.com/office/drawing/2014/main" id="{D649CE3E-E5B3-4FA0-ADF1-F9C4CDC4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Read the outcome and its limits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B76D7663-BA1B-4678-88A1-DCD3A0C0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Greenhouse challenge: grow more with a water budget">
            <a:extLst xmlns:a="http://schemas.openxmlformats.org/drawingml/2006/main">
              <a:ext uri="{FF2B5EF4-FFF2-40B4-BE49-F238E27FC236}">
                <a16:creationId xmlns:a16="http://schemas.microsoft.com/office/drawing/2014/main" id="{52734F6E-288E-4F58-B9C5-089A58F9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Greenhouse challenge: grow more with a water budget</a:t>
            </a:r>
          </a:p>
        </p:txBody>
      </p:sp>
      <p:sp>
        <p:nvSpPr>
          <p:cNvPr id="10" name="4 / 15">
            <a:extLst xmlns:a="http://schemas.openxmlformats.org/drawingml/2006/main">
              <a:ext uri="{FF2B5EF4-FFF2-40B4-BE49-F238E27FC236}">
                <a16:creationId xmlns:a16="http://schemas.microsoft.com/office/drawing/2014/main" id="{E2E2B4C1-296C-4A0E-AEFE-58566708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4 / 15</a:t>
            </a:r>
          </a:p>
        </p:txBody>
      </p:sp>
      <p:sp>
        <p:nvSpPr>
          <p:cNvPr id="11" name="Diagram label: Constructed results: growth is not the only rule">
            <a:extLst xmlns:a="http://schemas.openxmlformats.org/drawingml/2006/main">
              <a:ext uri="{FF2B5EF4-FFF2-40B4-BE49-F238E27FC236}">
                <a16:creationId xmlns:a16="http://schemas.microsoft.com/office/drawing/2014/main" id="{BD86227A-A347-46EB-9869-17BC216F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2391" y="1988004"/>
            <a:ext cx="6587218" cy="336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Constructed results: growth is not the only rule</a:t>
            </a:r>
          </a:p>
        </p:txBody>
      </p:sp>
      <p:sp>
        <p:nvSpPr>
          <p:cNvPr id="12" name="Diagram label: Mean dry-biomass gain(g/plant) over 14 days">
            <a:extLst xmlns:a="http://schemas.openxmlformats.org/drawingml/2006/main">
              <a:ext uri="{FF2B5EF4-FFF2-40B4-BE49-F238E27FC236}">
                <a16:creationId xmlns:a16="http://schemas.microsoft.com/office/drawing/2014/main" id="{19F21A78-0E38-4A11-A83C-8052A6C8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468" y="2373426"/>
            <a:ext cx="6306911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Mean dry-biomass gain(g/plant) over 14 days</a:t>
            </a:r>
          </a:p>
        </p:txBody>
      </p:sp>
      <p:sp>
        <p:nvSpPr>
          <p:cNvPr id="1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88DDD71D-7E8E-40DA-93E5-9A958E1A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33082" y="5001305"/>
            <a:ext cx="564118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1F2937"/>
            </a:solidFill>
          </a:ln>
        </p:spPr>
      </p:sp>
      <p:sp>
        <p:nvSpPr>
          <p:cNvPr id="1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684EBCB4-9AEB-4E77-ADFB-C77EAE71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33082" y="2793887"/>
            <a:ext cx="953" cy="22074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1F2937"/>
            </a:solidFill>
          </a:ln>
        </p:spPr>
      </p:sp>
      <p:sp>
        <p:nvSpPr>
          <p:cNvPr id="15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64ABDA3C-102E-4026-A966-3A11E8F7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33082" y="5001305"/>
            <a:ext cx="564118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008">
            <a:solidFill>
              <a:srgbClr val="D9D4E0"/>
            </a:solidFill>
          </a:ln>
        </p:spPr>
      </p:sp>
      <p:sp>
        <p:nvSpPr>
          <p:cNvPr id="16" name="Diagram label: 0">
            <a:extLst xmlns:a="http://schemas.openxmlformats.org/drawingml/2006/main">
              <a:ext uri="{FF2B5EF4-FFF2-40B4-BE49-F238E27FC236}">
                <a16:creationId xmlns:a16="http://schemas.microsoft.com/office/drawing/2014/main" id="{9FEDAC24-42BF-470A-B9FB-8A3E5A00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429" y="4875167"/>
            <a:ext cx="490538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0</a:t>
            </a:r>
          </a:p>
        </p:txBody>
      </p:sp>
      <p:sp>
        <p:nvSpPr>
          <p:cNvPr id="17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CDCB50EB-1E20-4BE6-8181-B07FB7C2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33082" y="4475729"/>
            <a:ext cx="564118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008">
            <a:solidFill>
              <a:srgbClr val="D9D4E0"/>
            </a:solidFill>
          </a:ln>
        </p:spPr>
      </p:sp>
      <p:sp>
        <p:nvSpPr>
          <p:cNvPr id="18" name="Diagram label: 1">
            <a:extLst xmlns:a="http://schemas.openxmlformats.org/drawingml/2006/main">
              <a:ext uri="{FF2B5EF4-FFF2-40B4-BE49-F238E27FC236}">
                <a16:creationId xmlns:a16="http://schemas.microsoft.com/office/drawing/2014/main" id="{62D5EF51-3BB5-45AE-A917-20743588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429" y="4349591"/>
            <a:ext cx="490538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19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CB3AA681-3A6F-40A5-A1DD-AF8D0CB8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33082" y="3950154"/>
            <a:ext cx="564118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008">
            <a:solidFill>
              <a:srgbClr val="D9D4E0"/>
            </a:solidFill>
          </a:ln>
        </p:spPr>
      </p:sp>
      <p:sp>
        <p:nvSpPr>
          <p:cNvPr id="20" name="Diagram label: 2">
            <a:extLst xmlns:a="http://schemas.openxmlformats.org/drawingml/2006/main">
              <a:ext uri="{FF2B5EF4-FFF2-40B4-BE49-F238E27FC236}">
                <a16:creationId xmlns:a16="http://schemas.microsoft.com/office/drawing/2014/main" id="{7E93F38B-2F3F-4C6C-9830-6C37258C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429" y="3824015"/>
            <a:ext cx="490538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21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C1DCFB2F-02DB-4FEE-A143-7B3E1EBC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33082" y="3424578"/>
            <a:ext cx="564118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008">
            <a:solidFill>
              <a:srgbClr val="D9D4E0"/>
            </a:solidFill>
          </a:ln>
        </p:spPr>
      </p:sp>
      <p:sp>
        <p:nvSpPr>
          <p:cNvPr id="22" name="Diagram label: 3">
            <a:extLst xmlns:a="http://schemas.openxmlformats.org/drawingml/2006/main">
              <a:ext uri="{FF2B5EF4-FFF2-40B4-BE49-F238E27FC236}">
                <a16:creationId xmlns:a16="http://schemas.microsoft.com/office/drawing/2014/main" id="{4F59AD66-40F8-48CF-98BC-5C7252CE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429" y="3298439"/>
            <a:ext cx="490538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2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D04F3BEE-ED6A-45D6-AB5A-41269E1B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33082" y="2899002"/>
            <a:ext cx="564118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008">
            <a:solidFill>
              <a:srgbClr val="D9D4E0"/>
            </a:solidFill>
          </a:ln>
        </p:spPr>
      </p:sp>
      <p:sp>
        <p:nvSpPr>
          <p:cNvPr id="24" name="Diagram label: 4">
            <a:extLst xmlns:a="http://schemas.openxmlformats.org/drawingml/2006/main">
              <a:ext uri="{FF2B5EF4-FFF2-40B4-BE49-F238E27FC236}">
                <a16:creationId xmlns:a16="http://schemas.microsoft.com/office/drawing/2014/main" id="{CD7F95C8-43F7-44EF-9214-4FA13E25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429" y="2772864"/>
            <a:ext cx="490538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24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  <p:sp>
        <p:nvSpPr>
          <p:cNvPr id="25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46F920CE-8CDE-429B-8649-3CF00B4B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8351" y="4055269"/>
            <a:ext cx="791868" cy="9460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CEEC"/>
          </a:solidFill>
          <a:ln xmlns:a="http://schemas.openxmlformats.org/drawingml/2006/main" w="21023">
            <a:solidFill>
              <a:srgbClr val="7A5C9E"/>
            </a:solidFill>
          </a:ln>
        </p:spPr>
      </p:sp>
      <p:sp>
        <p:nvSpPr>
          <p:cNvPr id="26" name="Diagram label: 1.8">
            <a:extLst xmlns:a="http://schemas.openxmlformats.org/drawingml/2006/main">
              <a:ext uri="{FF2B5EF4-FFF2-40B4-BE49-F238E27FC236}">
                <a16:creationId xmlns:a16="http://schemas.microsoft.com/office/drawing/2014/main" id="{1EE9080F-8710-4608-981B-DEA36217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8351" y="3774962"/>
            <a:ext cx="791868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7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1.8</a:t>
            </a:r>
          </a:p>
        </p:txBody>
      </p:sp>
      <p:sp>
        <p:nvSpPr>
          <p:cNvPr id="27" name="Diagram label: A">
            <a:extLst xmlns:a="http://schemas.openxmlformats.org/drawingml/2006/main">
              <a:ext uri="{FF2B5EF4-FFF2-40B4-BE49-F238E27FC236}">
                <a16:creationId xmlns:a16="http://schemas.microsoft.com/office/drawing/2014/main" id="{69AA5DBB-6FAA-4D23-B286-10062366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313" y="5106421"/>
            <a:ext cx="861944" cy="5255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</a:t>
            </a:r>
          </a:p>
        </p:txBody>
      </p:sp>
      <p:sp>
        <p:nvSpPr>
          <p:cNvPr id="28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1DC903ED-6132-4769-BDCE-45166CD1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5487" y="3424578"/>
            <a:ext cx="791868" cy="1576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CEEC"/>
          </a:solidFill>
          <a:ln xmlns:a="http://schemas.openxmlformats.org/drawingml/2006/main" w="21023">
            <a:solidFill>
              <a:srgbClr val="7A5C9E"/>
            </a:solidFill>
          </a:ln>
        </p:spPr>
      </p:sp>
      <p:sp>
        <p:nvSpPr>
          <p:cNvPr id="29" name="Diagram label: 3.0">
            <a:extLst xmlns:a="http://schemas.openxmlformats.org/drawingml/2006/main">
              <a:ext uri="{FF2B5EF4-FFF2-40B4-BE49-F238E27FC236}">
                <a16:creationId xmlns:a16="http://schemas.microsoft.com/office/drawing/2014/main" id="{AD42F228-E42E-4EC7-8CC8-9CB43291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5487" y="3144271"/>
            <a:ext cx="791868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7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3.0</a:t>
            </a:r>
          </a:p>
        </p:txBody>
      </p:sp>
      <p:sp>
        <p:nvSpPr>
          <p:cNvPr id="30" name="Diagram label: B">
            <a:extLst xmlns:a="http://schemas.openxmlformats.org/drawingml/2006/main">
              <a:ext uri="{FF2B5EF4-FFF2-40B4-BE49-F238E27FC236}">
                <a16:creationId xmlns:a16="http://schemas.microsoft.com/office/drawing/2014/main" id="{E82565B1-E7C4-462E-B02E-A4229CEA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0449" y="5106421"/>
            <a:ext cx="861944" cy="5255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</a:t>
            </a:r>
          </a:p>
        </p:txBody>
      </p:sp>
      <p:sp>
        <p:nvSpPr>
          <p:cNvPr id="3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D41EE963-AC0D-47A5-BB73-EA9D7691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2624" y="4475729"/>
            <a:ext cx="791868" cy="525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CEEC"/>
          </a:solidFill>
          <a:ln xmlns:a="http://schemas.openxmlformats.org/drawingml/2006/main" w="21023">
            <a:solidFill>
              <a:srgbClr val="7A5C9E"/>
            </a:solidFill>
          </a:ln>
        </p:spPr>
      </p:sp>
      <p:sp>
        <p:nvSpPr>
          <p:cNvPr id="32" name="Diagram label: 1.0">
            <a:extLst xmlns:a="http://schemas.openxmlformats.org/drawingml/2006/main">
              <a:ext uri="{FF2B5EF4-FFF2-40B4-BE49-F238E27FC236}">
                <a16:creationId xmlns:a16="http://schemas.microsoft.com/office/drawing/2014/main" id="{315DAA36-67A7-4FCD-BFD2-B3A47561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2624" y="4195422"/>
            <a:ext cx="791868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7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1.0</a:t>
            </a:r>
          </a:p>
        </p:txBody>
      </p:sp>
      <p:sp>
        <p:nvSpPr>
          <p:cNvPr id="33" name="Diagram label: C">
            <a:extLst xmlns:a="http://schemas.openxmlformats.org/drawingml/2006/main">
              <a:ext uri="{FF2B5EF4-FFF2-40B4-BE49-F238E27FC236}">
                <a16:creationId xmlns:a16="http://schemas.microsoft.com/office/drawing/2014/main" id="{68944F10-5F67-4B41-8B9C-72D289BD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585" y="5106421"/>
            <a:ext cx="861944" cy="5255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</a:t>
            </a:r>
          </a:p>
        </p:txBody>
      </p:sp>
      <p:sp>
        <p:nvSpPr>
          <p:cNvPr id="3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962960B7-171E-46AF-85FD-0515BB0E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9760" y="4423172"/>
            <a:ext cx="791868" cy="5781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CEEC"/>
          </a:solidFill>
          <a:ln xmlns:a="http://schemas.openxmlformats.org/drawingml/2006/main" w="21023">
            <a:solidFill>
              <a:srgbClr val="7A5C9E"/>
            </a:solidFill>
          </a:ln>
        </p:spPr>
      </p:sp>
      <p:sp>
        <p:nvSpPr>
          <p:cNvPr id="35" name="Diagram label: 1.1">
            <a:extLst xmlns:a="http://schemas.openxmlformats.org/drawingml/2006/main">
              <a:ext uri="{FF2B5EF4-FFF2-40B4-BE49-F238E27FC236}">
                <a16:creationId xmlns:a16="http://schemas.microsoft.com/office/drawing/2014/main" id="{CF6143DF-F92E-4D85-8CE6-C0D8AA6E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9760" y="4142865"/>
            <a:ext cx="791868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7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1.1</a:t>
            </a:r>
          </a:p>
        </p:txBody>
      </p:sp>
      <p:sp>
        <p:nvSpPr>
          <p:cNvPr id="36" name="Diagram label: D">
            <a:extLst xmlns:a="http://schemas.openxmlformats.org/drawingml/2006/main">
              <a:ext uri="{FF2B5EF4-FFF2-40B4-BE49-F238E27FC236}">
                <a16:creationId xmlns:a16="http://schemas.microsoft.com/office/drawing/2014/main" id="{93A5FAC7-8FFF-4775-9CE2-E58E5CCD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4722" y="5106421"/>
            <a:ext cx="861944" cy="5255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</a:t>
            </a:r>
          </a:p>
        </p:txBody>
      </p:sp>
      <p:sp>
        <p:nvSpPr>
          <p:cNvPr id="37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919B15EC-0466-4407-A472-95B28CB9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6897" y="3634808"/>
            <a:ext cx="791868" cy="13664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CEEC"/>
          </a:solidFill>
          <a:ln xmlns:a="http://schemas.openxmlformats.org/drawingml/2006/main" w="21023">
            <a:solidFill>
              <a:srgbClr val="7A5C9E"/>
            </a:solidFill>
          </a:ln>
        </p:spPr>
      </p:sp>
      <p:sp>
        <p:nvSpPr>
          <p:cNvPr id="38" name="Diagram label: 2.6">
            <a:extLst xmlns:a="http://schemas.openxmlformats.org/drawingml/2006/main">
              <a:ext uri="{FF2B5EF4-FFF2-40B4-BE49-F238E27FC236}">
                <a16:creationId xmlns:a16="http://schemas.microsoft.com/office/drawing/2014/main" id="{AC39930A-9160-4877-A02B-A0B29574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6897" y="3354501"/>
            <a:ext cx="791868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7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2.6</a:t>
            </a:r>
          </a:p>
        </p:txBody>
      </p:sp>
      <p:sp>
        <p:nvSpPr>
          <p:cNvPr id="39" name="Diagram label: E">
            <a:extLst xmlns:a="http://schemas.openxmlformats.org/drawingml/2006/main">
              <a:ext uri="{FF2B5EF4-FFF2-40B4-BE49-F238E27FC236}">
                <a16:creationId xmlns:a16="http://schemas.microsoft.com/office/drawing/2014/main" id="{D21A2CF0-3A10-4399-851C-5A8C4CAA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858" y="5106421"/>
            <a:ext cx="861944" cy="5255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</a:t>
            </a:r>
          </a:p>
        </p:txBody>
      </p:sp>
      <p:sp>
        <p:nvSpPr>
          <p:cNvPr id="40" name="The outcome is mean dry-biomass gain.  Dry mass reduces the effe">
            <a:extLst xmlns:a="http://schemas.openxmlformats.org/drawingml/2006/main">
              <a:ext uri="{FF2B5EF4-FFF2-40B4-BE49-F238E27FC236}">
                <a16:creationId xmlns:a16="http://schemas.microsoft.com/office/drawing/2014/main" id="{2539B8FE-5CF7-4A79-81A6-49690B65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outcome is mean dry-biomass gain. Dry mass reduces the effect of differing water content. A mean still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hides individual variation.</a:t>
            </a:r>
          </a:p>
        </p:txBody>
      </p:sp>
    </p:spTree>
    <p:extLst>
      <p:ext uri="{BB962C8B-B14F-4D97-AF65-F5344CB8AC3E}">
        <p14:creationId xmlns:p14="http://schemas.microsoft.com/office/powerpoint/2010/main" val="17088151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surface">
            <a:extLst xmlns:a="http://schemas.openxmlformats.org/drawingml/2006/main">
              <a:ext uri="{FF2B5EF4-FFF2-40B4-BE49-F238E27FC236}">
                <a16:creationId xmlns:a16="http://schemas.microsoft.com/office/drawing/2014/main" id="{6E53E7A5-6F8D-437B-B6E9-9B946648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50D46E06-6A3A-4488-A527-6A0D82AC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4D7D889F-5E26-420F-AEAA-3663CD68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FF2B3D61-35B2-47E6-8F92-191ED2A4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89D48F82-3366-4D4D-ADE0-20482633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EA532EF3-799B-4E6E-8D9B-8C27E3FF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I use two tests before recommending">
            <a:extLst xmlns:a="http://schemas.openxmlformats.org/drawingml/2006/main">
              <a:ext uri="{FF2B5EF4-FFF2-40B4-BE49-F238E27FC236}">
                <a16:creationId xmlns:a16="http://schemas.microsoft.com/office/drawing/2014/main" id="{C780CD4C-ACAE-43AE-8612-619F495B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use two tests before recommending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A9827CED-93C6-43E2-8D40-C8FA1FF7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Greenhouse challenge: grow more with a water budget">
            <a:extLst xmlns:a="http://schemas.openxmlformats.org/drawingml/2006/main">
              <a:ext uri="{FF2B5EF4-FFF2-40B4-BE49-F238E27FC236}">
                <a16:creationId xmlns:a16="http://schemas.microsoft.com/office/drawing/2014/main" id="{04F101AD-FE6C-4412-A78A-73DC44B2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Greenhouse challenge: grow more with a water budget</a:t>
            </a:r>
          </a:p>
        </p:txBody>
      </p:sp>
      <p:sp>
        <p:nvSpPr>
          <p:cNvPr id="10" name="5 / 15">
            <a:extLst xmlns:a="http://schemas.openxmlformats.org/drawingml/2006/main">
              <a:ext uri="{FF2B5EF4-FFF2-40B4-BE49-F238E27FC236}">
                <a16:creationId xmlns:a16="http://schemas.microsoft.com/office/drawing/2014/main" id="{3F69A9D7-EEB7-47BC-8408-3CA3262C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5 / 15</a:t>
            </a:r>
          </a:p>
        </p:txBody>
      </p:sp>
      <p:sp>
        <p:nvSpPr>
          <p:cNvPr id="11" name="Diagram label: Two requirements make a decision region">
            <a:extLst xmlns:a="http://schemas.openxmlformats.org/drawingml/2006/main">
              <a:ext uri="{FF2B5EF4-FFF2-40B4-BE49-F238E27FC236}">
                <a16:creationId xmlns:a16="http://schemas.microsoft.com/office/drawing/2014/main" id="{8D04C02B-028C-4E0E-BB5D-656E8E4E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548" y="1997188"/>
            <a:ext cx="7018904" cy="358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Two requirements make a decision region</a:t>
            </a:r>
          </a:p>
        </p:txBody>
      </p:sp>
      <p:sp>
        <p:nvSpPr>
          <p:cNvPr id="12" name="Diagram label: Mean dry-biomass gain(g/plant) over 14 days">
            <a:extLst xmlns:a="http://schemas.openxmlformats.org/drawingml/2006/main">
              <a:ext uri="{FF2B5EF4-FFF2-40B4-BE49-F238E27FC236}">
                <a16:creationId xmlns:a16="http://schemas.microsoft.com/office/drawing/2014/main" id="{6F5C4C1C-89FF-4B9B-9896-22B2728F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552" y="2407869"/>
            <a:ext cx="6720228" cy="298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Mean dry-biomass gain(g/plant) over 14 days</a:t>
            </a:r>
          </a:p>
        </p:txBody>
      </p:sp>
      <p:sp>
        <p:nvSpPr>
          <p:cNvPr id="1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868B3082-B5FE-4154-9C57-2B11B84F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240" y="2893219"/>
            <a:ext cx="3994802" cy="634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8"/>
          </a:solidFill>
          <a:ln xmlns:a="http://schemas.openxmlformats.org/drawingml/2006/main" w="22401">
            <a:solidFill>
              <a:srgbClr val="E6F0E8"/>
            </a:solidFill>
          </a:ln>
        </p:spPr>
      </p:sp>
      <p:sp>
        <p:nvSpPr>
          <p:cNvPr id="1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52D6589C-4484-4012-A4AD-789266F1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33240" y="5058625"/>
            <a:ext cx="574952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1F2937"/>
            </a:solidFill>
          </a:ln>
        </p:spPr>
      </p:sp>
      <p:sp>
        <p:nvSpPr>
          <p:cNvPr id="15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B45B190C-299D-4280-8BBE-B740E062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33240" y="2893219"/>
            <a:ext cx="953" cy="21654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1F2937"/>
            </a:solidFill>
          </a:ln>
        </p:spPr>
      </p:sp>
      <p:sp>
        <p:nvSpPr>
          <p:cNvPr id="16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8ADEA192-F2D7-4383-8D52-61F470D4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33240" y="5058625"/>
            <a:ext cx="574952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467">
            <a:solidFill>
              <a:srgbClr val="D9D4E0"/>
            </a:solidFill>
          </a:ln>
        </p:spPr>
      </p:sp>
      <p:sp>
        <p:nvSpPr>
          <p:cNvPr id="17" name="Diagram label: 0">
            <a:extLst xmlns:a="http://schemas.openxmlformats.org/drawingml/2006/main">
              <a:ext uri="{FF2B5EF4-FFF2-40B4-BE49-F238E27FC236}">
                <a16:creationId xmlns:a16="http://schemas.microsoft.com/office/drawing/2014/main" id="{855540F2-8689-4E28-A1FA-07ED71DC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890" y="4931688"/>
            <a:ext cx="373346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0</a:t>
            </a:r>
          </a:p>
        </p:txBody>
      </p:sp>
      <p:sp>
        <p:nvSpPr>
          <p:cNvPr id="18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B87ECC1F-9935-4EF9-B837-372153F4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33240" y="4446338"/>
            <a:ext cx="574952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467">
            <a:solidFill>
              <a:srgbClr val="D9D4E0"/>
            </a:solidFill>
          </a:ln>
        </p:spPr>
      </p:sp>
      <p:sp>
        <p:nvSpPr>
          <p:cNvPr id="19" name="Diagram label: 1">
            <a:extLst xmlns:a="http://schemas.openxmlformats.org/drawingml/2006/main">
              <a:ext uri="{FF2B5EF4-FFF2-40B4-BE49-F238E27FC236}">
                <a16:creationId xmlns:a16="http://schemas.microsoft.com/office/drawing/2014/main" id="{6A3134B9-CB31-4522-A069-8D5D956C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890" y="4319400"/>
            <a:ext cx="373346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20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59C00AD7-A784-48F5-824B-34CDCEFC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33240" y="3834051"/>
            <a:ext cx="574952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467">
            <a:solidFill>
              <a:srgbClr val="D9D4E0"/>
            </a:solidFill>
          </a:ln>
        </p:spPr>
      </p:sp>
      <p:sp>
        <p:nvSpPr>
          <p:cNvPr id="21" name="Diagram label: 2">
            <a:extLst xmlns:a="http://schemas.openxmlformats.org/drawingml/2006/main">
              <a:ext uri="{FF2B5EF4-FFF2-40B4-BE49-F238E27FC236}">
                <a16:creationId xmlns:a16="http://schemas.microsoft.com/office/drawing/2014/main" id="{68FD113B-3031-49A7-AAF3-21DE6779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890" y="3707113"/>
            <a:ext cx="373346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22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9C8F3335-902C-4251-A346-3A3945E0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33240" y="3221763"/>
            <a:ext cx="574952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467">
            <a:solidFill>
              <a:srgbClr val="D9D4E0"/>
            </a:solidFill>
          </a:ln>
        </p:spPr>
      </p:sp>
      <p:sp>
        <p:nvSpPr>
          <p:cNvPr id="23" name="Diagram label: 3">
            <a:extLst xmlns:a="http://schemas.openxmlformats.org/drawingml/2006/main">
              <a:ext uri="{FF2B5EF4-FFF2-40B4-BE49-F238E27FC236}">
                <a16:creationId xmlns:a16="http://schemas.microsoft.com/office/drawing/2014/main" id="{2ECD0EF9-8B4B-47D8-B787-E258C174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890" y="3094826"/>
            <a:ext cx="373346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24" name="Diagram label: 0">
            <a:extLst xmlns:a="http://schemas.openxmlformats.org/drawingml/2006/main">
              <a:ext uri="{FF2B5EF4-FFF2-40B4-BE49-F238E27FC236}">
                <a16:creationId xmlns:a16="http://schemas.microsoft.com/office/drawing/2014/main" id="{27466071-1A55-4F0C-8AE1-36D8888D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98" y="5155695"/>
            <a:ext cx="522684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0</a:t>
            </a:r>
          </a:p>
        </p:txBody>
      </p:sp>
      <p:sp>
        <p:nvSpPr>
          <p:cNvPr id="25" name="Diagram label: 0.2">
            <a:extLst xmlns:a="http://schemas.openxmlformats.org/drawingml/2006/main">
              <a:ext uri="{FF2B5EF4-FFF2-40B4-BE49-F238E27FC236}">
                <a16:creationId xmlns:a16="http://schemas.microsoft.com/office/drawing/2014/main" id="{A3ABE5C6-D282-4CC5-B601-A6B56185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9818" y="5155695"/>
            <a:ext cx="522684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0.2</a:t>
            </a:r>
          </a:p>
        </p:txBody>
      </p:sp>
      <p:sp>
        <p:nvSpPr>
          <p:cNvPr id="26" name="Diagram label: 0.4">
            <a:extLst xmlns:a="http://schemas.openxmlformats.org/drawingml/2006/main">
              <a:ext uri="{FF2B5EF4-FFF2-40B4-BE49-F238E27FC236}">
                <a16:creationId xmlns:a16="http://schemas.microsoft.com/office/drawing/2014/main" id="{E9222E75-319D-4B2D-B0E9-F85FC297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739" y="5155695"/>
            <a:ext cx="522684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0.4</a:t>
            </a:r>
          </a:p>
        </p:txBody>
      </p:sp>
      <p:sp>
        <p:nvSpPr>
          <p:cNvPr id="27" name="Diagram label: 0.6">
            <a:extLst xmlns:a="http://schemas.openxmlformats.org/drawingml/2006/main">
              <a:ext uri="{FF2B5EF4-FFF2-40B4-BE49-F238E27FC236}">
                <a16:creationId xmlns:a16="http://schemas.microsoft.com/office/drawing/2014/main" id="{C3FBAE7E-4111-48DF-9F7E-86A3F81E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5660" y="5155695"/>
            <a:ext cx="522684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0.6</a:t>
            </a:r>
          </a:p>
        </p:txBody>
      </p:sp>
      <p:sp>
        <p:nvSpPr>
          <p:cNvPr id="28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56378771-66E1-43C7-BDC8-7E7CA978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28042" y="2893219"/>
            <a:ext cx="953" cy="21654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29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FA88598F-8CD4-431B-A8B9-7E13D66C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33240" y="3527907"/>
            <a:ext cx="574952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30" name="Diagram label: Water cap 0.50 L">
            <a:extLst xmlns:a="http://schemas.openxmlformats.org/drawingml/2006/main">
              <a:ext uri="{FF2B5EF4-FFF2-40B4-BE49-F238E27FC236}">
                <a16:creationId xmlns:a16="http://schemas.microsoft.com/office/drawing/2014/main" id="{5473BB10-B473-446A-9382-33FD5720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380" y="4162595"/>
            <a:ext cx="1866730" cy="410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11" b="0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411" b="0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Water cap 0.50 L</a:t>
            </a:r>
          </a:p>
        </p:txBody>
      </p:sp>
      <p:sp>
        <p:nvSpPr>
          <p:cNvPr id="31" name="Diagram label: Meets both limits">
            <a:extLst xmlns:a="http://schemas.openxmlformats.org/drawingml/2006/main">
              <a:ext uri="{FF2B5EF4-FFF2-40B4-BE49-F238E27FC236}">
                <a16:creationId xmlns:a16="http://schemas.microsoft.com/office/drawing/2014/main" id="{49FB1EA0-8061-447E-9571-4132712B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7909" y="2990289"/>
            <a:ext cx="3621456" cy="33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7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47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Meets both limits</a:t>
            </a:r>
          </a:p>
        </p:txBody>
      </p:sp>
      <p:sp>
        <p:nvSpPr>
          <p:cNvPr id="32" name="Diagram label: Water supplied(L/plant) over 14 days">
            <a:extLst xmlns:a="http://schemas.openxmlformats.org/drawingml/2006/main">
              <a:ext uri="{FF2B5EF4-FFF2-40B4-BE49-F238E27FC236}">
                <a16:creationId xmlns:a16="http://schemas.microsoft.com/office/drawing/2014/main" id="{5E0FCF0C-A4ED-4A17-8BF0-D81F674E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5924" y="5543975"/>
            <a:ext cx="5376182" cy="298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Water supplied(L/plant) over 14 days</a:t>
            </a:r>
          </a:p>
        </p:txBody>
      </p:sp>
      <p:sp>
        <p:nvSpPr>
          <p:cNvPr id="3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25F51FC8-7D5F-4CAB-A24F-2F18625D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7852" y="3904240"/>
            <a:ext cx="104537" cy="1045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34" name="Diagram label: A">
            <a:extLst xmlns:a="http://schemas.openxmlformats.org/drawingml/2006/main">
              <a:ext uri="{FF2B5EF4-FFF2-40B4-BE49-F238E27FC236}">
                <a16:creationId xmlns:a16="http://schemas.microsoft.com/office/drawing/2014/main" id="{A45914E5-282B-45A8-B4D0-613798CF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24" y="3695166"/>
            <a:ext cx="485350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</a:t>
            </a:r>
          </a:p>
        </p:txBody>
      </p:sp>
      <p:sp>
        <p:nvSpPr>
          <p:cNvPr id="35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5158E886-D60C-4080-A473-F9A5CC4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734" y="3169495"/>
            <a:ext cx="104537" cy="1045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36" name="Diagram label: B">
            <a:extLst xmlns:a="http://schemas.openxmlformats.org/drawingml/2006/main">
              <a:ext uri="{FF2B5EF4-FFF2-40B4-BE49-F238E27FC236}">
                <a16:creationId xmlns:a16="http://schemas.microsoft.com/office/drawing/2014/main" id="{600F8E55-8AEF-4376-8033-687CF77A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605" y="2960421"/>
            <a:ext cx="485350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</a:t>
            </a:r>
          </a:p>
        </p:txBody>
      </p:sp>
      <p:sp>
        <p:nvSpPr>
          <p:cNvPr id="37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533E7AFD-74F7-42E6-89B2-50CDA6F5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9412" y="4394070"/>
            <a:ext cx="104537" cy="1045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38" name="Diagram label: C">
            <a:extLst xmlns:a="http://schemas.openxmlformats.org/drawingml/2006/main">
              <a:ext uri="{FF2B5EF4-FFF2-40B4-BE49-F238E27FC236}">
                <a16:creationId xmlns:a16="http://schemas.microsoft.com/office/drawing/2014/main" id="{2A4197B4-3F66-41C7-9F37-EC8C3335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1000" y="4483673"/>
            <a:ext cx="485350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</a:t>
            </a:r>
          </a:p>
        </p:txBody>
      </p:sp>
      <p:sp>
        <p:nvSpPr>
          <p:cNvPr id="39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22585911-046A-4B74-A3B9-1E2B7F34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9412" y="4332841"/>
            <a:ext cx="104537" cy="1045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40" name="Diagram label: D">
            <a:extLst xmlns:a="http://schemas.openxmlformats.org/drawingml/2006/main">
              <a:ext uri="{FF2B5EF4-FFF2-40B4-BE49-F238E27FC236}">
                <a16:creationId xmlns:a16="http://schemas.microsoft.com/office/drawing/2014/main" id="{DEB6E7C7-A42E-4460-A980-B09E66F9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83" y="4123767"/>
            <a:ext cx="485350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</a:t>
            </a:r>
          </a:p>
        </p:txBody>
      </p:sp>
      <p:sp>
        <p:nvSpPr>
          <p:cNvPr id="4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EA9638E8-6407-428A-B117-15BF5B8C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93" y="3414410"/>
            <a:ext cx="104537" cy="1045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42" name="Diagram label: E">
            <a:extLst xmlns:a="http://schemas.openxmlformats.org/drawingml/2006/main">
              <a:ext uri="{FF2B5EF4-FFF2-40B4-BE49-F238E27FC236}">
                <a16:creationId xmlns:a16="http://schemas.microsoft.com/office/drawing/2014/main" id="{D4309BD4-6DBE-44E4-894C-02E646DC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8165" y="3205336"/>
            <a:ext cx="485350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</a:t>
            </a:r>
          </a:p>
        </p:txBody>
      </p:sp>
      <p:sp>
        <p:nvSpPr>
          <p:cNvPr id="43" name="Target: mean gain at least 2.5 g/plant.  Budget: water supplied ">
            <a:extLst xmlns:a="http://schemas.openxmlformats.org/drawingml/2006/main">
              <a:ext uri="{FF2B5EF4-FFF2-40B4-BE49-F238E27FC236}">
                <a16:creationId xmlns:a16="http://schemas.microsoft.com/office/drawing/2014/main" id="{EF2A7E07-F7F8-4193-A1D1-345E1E05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Target: mean gain at least 2.5 g/plant. Budget: water supplied at most 0.50 L/plant. A plan must pass both.</a:t>
            </a:r>
          </a:p>
        </p:txBody>
      </p:sp>
    </p:spTree>
    <p:extLst>
      <p:ext uri="{BB962C8B-B14F-4D97-AF65-F5344CB8AC3E}">
        <p14:creationId xmlns:p14="http://schemas.microsoft.com/office/powerpoint/2010/main" val="15379917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ED503758-3BD2-435F-B420-9526E417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1B5A1EF2-7780-4B28-93BA-7A765677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319C0C3E-9877-45D3-B5EF-F518F1C1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03DDB192-BE4C-4FD3-A8F2-732F44E7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0CDDE65E-A859-4257-BA04-635F70ED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401EC3B1-2EA9-40FD-85EE-B6E95397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Round 1: choose, then test the brief">
            <a:extLst xmlns:a="http://schemas.openxmlformats.org/drawingml/2006/main">
              <a:ext uri="{FF2B5EF4-FFF2-40B4-BE49-F238E27FC236}">
                <a16:creationId xmlns:a16="http://schemas.microsoft.com/office/drawing/2014/main" id="{5FBD1E84-A99B-4ADF-AD73-CC8F926D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Round 1: choose, then test the brief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87DBC80D-E593-4FC0-8866-2932CCA2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Greenhouse challenge: grow more with a water budget">
            <a:extLst xmlns:a="http://schemas.openxmlformats.org/drawingml/2006/main">
              <a:ext uri="{FF2B5EF4-FFF2-40B4-BE49-F238E27FC236}">
                <a16:creationId xmlns:a16="http://schemas.microsoft.com/office/drawing/2014/main" id="{B0CC722C-D3A2-4B6E-B628-767D1A70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Greenhouse challenge: grow more with a water budget</a:t>
            </a:r>
          </a:p>
        </p:txBody>
      </p:sp>
      <p:sp>
        <p:nvSpPr>
          <p:cNvPr id="10" name="6 / 15">
            <a:extLst xmlns:a="http://schemas.openxmlformats.org/drawingml/2006/main">
              <a:ext uri="{FF2B5EF4-FFF2-40B4-BE49-F238E27FC236}">
                <a16:creationId xmlns:a16="http://schemas.microsoft.com/office/drawing/2014/main" id="{4E5BB0FC-9071-4B1C-A623-0A71C9AA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6 / 15</a:t>
            </a:r>
          </a:p>
        </p:txBody>
      </p:sp>
      <p:sp>
        <p:nvSpPr>
          <p:cNvPr id="11" name="W1. Which A–D plan has the greatest mean gain? Apply both target">
            <a:extLst xmlns:a="http://schemas.openxmlformats.org/drawingml/2006/main">
              <a:ext uri="{FF2B5EF4-FFF2-40B4-BE49-F238E27FC236}">
                <a16:creationId xmlns:a16="http://schemas.microsoft.com/office/drawing/2014/main" id="{BBE70DD8-FA55-4379-8B94-249F8541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95475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W1. Which A–D plan has the greatest mean gain? Apply both targets. Does any A–D plan pass?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533400" y="2295525"/>
          <a:ext xmlns:a="http://schemas.openxmlformats.org/drawingml/2006/main" cx="11125200" cy="2526506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56399"/>
                <a:gridCol w="2456399"/>
                <a:gridCol w="3375997"/>
                <a:gridCol w="2836405"/>
              </a:tblGrid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Plan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Light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Water supplied(L)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Mean gain(g)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Low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0.30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1.8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High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0.60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3.0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Low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0.15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1.0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High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0.15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1.1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Constructed 14-day data;5 plants per matched start/end group.">
            <a:extLst xmlns:a="http://schemas.openxmlformats.org/drawingml/2006/main">
              <a:ext uri="{FF2B5EF4-FFF2-40B4-BE49-F238E27FC236}">
                <a16:creationId xmlns:a16="http://schemas.microsoft.com/office/drawing/2014/main" id="{219E1D3F-1398-4C5A-86CF-96BAE151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36331"/>
            <a:ext cx="11125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Constructed 14-day data;5 plants per matched start/end group.</a:t>
            </a:r>
          </a:p>
        </p:txBody>
      </p:sp>
    </p:spTree>
    <p:extLst>
      <p:ext uri="{BB962C8B-B14F-4D97-AF65-F5344CB8AC3E}">
        <p14:creationId xmlns:p14="http://schemas.microsoft.com/office/powerpoint/2010/main" val="19017245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surface">
            <a:extLst xmlns:a="http://schemas.openxmlformats.org/drawingml/2006/main">
              <a:ext uri="{FF2B5EF4-FFF2-40B4-BE49-F238E27FC236}">
                <a16:creationId xmlns:a16="http://schemas.microsoft.com/office/drawing/2014/main" id="{6FA2CA2B-75C4-4589-BECC-4A06292B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42778BC9-CE58-4830-B092-F9712F32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0F2FE9DE-0D53-4642-A146-A0FFD35C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D160D701-FD6B-4ACE-A106-E7E8FD1B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B5C45496-35F5-43BC-95EE-ED02457E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B2F3BB20-F2CA-4C1F-81A3-A85028DD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Round 2: new evidence changes the options">
            <a:extLst xmlns:a="http://schemas.openxmlformats.org/drawingml/2006/main">
              <a:ext uri="{FF2B5EF4-FFF2-40B4-BE49-F238E27FC236}">
                <a16:creationId xmlns:a16="http://schemas.microsoft.com/office/drawing/2014/main" id="{540AEF02-787B-4D9C-AD19-653F8FD5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Round 2: new evidence changes the options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A816718F-0C01-4678-BE7C-D6BB8847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Greenhouse challenge: grow more with a water budget">
            <a:extLst xmlns:a="http://schemas.openxmlformats.org/drawingml/2006/main">
              <a:ext uri="{FF2B5EF4-FFF2-40B4-BE49-F238E27FC236}">
                <a16:creationId xmlns:a16="http://schemas.microsoft.com/office/drawing/2014/main" id="{A619D935-ACE6-4A21-B60F-905735ED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Greenhouse challenge: grow more with a water budget</a:t>
            </a:r>
          </a:p>
        </p:txBody>
      </p:sp>
      <p:sp>
        <p:nvSpPr>
          <p:cNvPr id="10" name="7 / 15">
            <a:extLst xmlns:a="http://schemas.openxmlformats.org/drawingml/2006/main">
              <a:ext uri="{FF2B5EF4-FFF2-40B4-BE49-F238E27FC236}">
                <a16:creationId xmlns:a16="http://schemas.microsoft.com/office/drawing/2014/main" id="{DBD36BA8-1155-4F02-B566-63E9B5DF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7 / 15</a:t>
            </a:r>
          </a:p>
        </p:txBody>
      </p:sp>
      <p:sp>
        <p:nvSpPr>
          <p:cNvPr id="11" name="Diagram label: Two requirements make a decision region">
            <a:extLst xmlns:a="http://schemas.openxmlformats.org/drawingml/2006/main">
              <a:ext uri="{FF2B5EF4-FFF2-40B4-BE49-F238E27FC236}">
                <a16:creationId xmlns:a16="http://schemas.microsoft.com/office/drawing/2014/main" id="{4BDD0F77-AAD5-4965-A65A-633AEC9F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548" y="1997188"/>
            <a:ext cx="7018904" cy="358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Two requirements make a decision region</a:t>
            </a:r>
          </a:p>
        </p:txBody>
      </p:sp>
      <p:sp>
        <p:nvSpPr>
          <p:cNvPr id="12" name="Diagram label: Mean dry-biomass gain(g/plant) over 14 days">
            <a:extLst xmlns:a="http://schemas.openxmlformats.org/drawingml/2006/main">
              <a:ext uri="{FF2B5EF4-FFF2-40B4-BE49-F238E27FC236}">
                <a16:creationId xmlns:a16="http://schemas.microsoft.com/office/drawing/2014/main" id="{10270CEA-5E8E-4728-8F83-F37651A3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552" y="2407869"/>
            <a:ext cx="6720228" cy="298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Mean dry-biomass gain(g/plant) over 14 days</a:t>
            </a:r>
          </a:p>
        </p:txBody>
      </p:sp>
      <p:sp>
        <p:nvSpPr>
          <p:cNvPr id="1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CC867778-90C9-49C5-9576-278E32AC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240" y="2893219"/>
            <a:ext cx="3994802" cy="634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8"/>
          </a:solidFill>
          <a:ln xmlns:a="http://schemas.openxmlformats.org/drawingml/2006/main" w="22401">
            <a:solidFill>
              <a:srgbClr val="E6F0E8"/>
            </a:solidFill>
          </a:ln>
        </p:spPr>
      </p:sp>
      <p:sp>
        <p:nvSpPr>
          <p:cNvPr id="1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33EDD61F-E716-4A63-BD22-754BB4B8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33240" y="5058625"/>
            <a:ext cx="574952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1F2937"/>
            </a:solidFill>
          </a:ln>
        </p:spPr>
      </p:sp>
      <p:sp>
        <p:nvSpPr>
          <p:cNvPr id="15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BA2AC06A-A882-4F56-A8EA-4812412E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33240" y="2893219"/>
            <a:ext cx="953" cy="21654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1F2937"/>
            </a:solidFill>
          </a:ln>
        </p:spPr>
      </p:sp>
      <p:sp>
        <p:nvSpPr>
          <p:cNvPr id="16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BA668A1F-21A6-4281-B2C7-94F0DD80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33240" y="5058625"/>
            <a:ext cx="574952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467">
            <a:solidFill>
              <a:srgbClr val="D9D4E0"/>
            </a:solidFill>
          </a:ln>
        </p:spPr>
      </p:sp>
      <p:sp>
        <p:nvSpPr>
          <p:cNvPr id="17" name="Diagram label: 0">
            <a:extLst xmlns:a="http://schemas.openxmlformats.org/drawingml/2006/main">
              <a:ext uri="{FF2B5EF4-FFF2-40B4-BE49-F238E27FC236}">
                <a16:creationId xmlns:a16="http://schemas.microsoft.com/office/drawing/2014/main" id="{62BA2CE7-9957-4668-95B3-67C0131A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890" y="4931688"/>
            <a:ext cx="373346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0</a:t>
            </a:r>
          </a:p>
        </p:txBody>
      </p:sp>
      <p:sp>
        <p:nvSpPr>
          <p:cNvPr id="18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F3BB1C3B-7D26-4925-B3DD-FBD057B8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33240" y="4446338"/>
            <a:ext cx="574952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467">
            <a:solidFill>
              <a:srgbClr val="D9D4E0"/>
            </a:solidFill>
          </a:ln>
        </p:spPr>
      </p:sp>
      <p:sp>
        <p:nvSpPr>
          <p:cNvPr id="19" name="Diagram label: 1">
            <a:extLst xmlns:a="http://schemas.openxmlformats.org/drawingml/2006/main">
              <a:ext uri="{FF2B5EF4-FFF2-40B4-BE49-F238E27FC236}">
                <a16:creationId xmlns:a16="http://schemas.microsoft.com/office/drawing/2014/main" id="{78D1A094-EB3D-436A-94CF-2E27D117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890" y="4319400"/>
            <a:ext cx="373346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20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A1024616-EC07-419A-8826-A9955E81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33240" y="3834051"/>
            <a:ext cx="574952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467">
            <a:solidFill>
              <a:srgbClr val="D9D4E0"/>
            </a:solidFill>
          </a:ln>
        </p:spPr>
      </p:sp>
      <p:sp>
        <p:nvSpPr>
          <p:cNvPr id="21" name="Diagram label: 2">
            <a:extLst xmlns:a="http://schemas.openxmlformats.org/drawingml/2006/main">
              <a:ext uri="{FF2B5EF4-FFF2-40B4-BE49-F238E27FC236}">
                <a16:creationId xmlns:a16="http://schemas.microsoft.com/office/drawing/2014/main" id="{2F90AD83-D4E3-4E2D-9121-275F2050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890" y="3707113"/>
            <a:ext cx="373346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22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DE3FF9EA-3055-4FED-B197-9515C627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33240" y="3221763"/>
            <a:ext cx="574952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467">
            <a:solidFill>
              <a:srgbClr val="D9D4E0"/>
            </a:solidFill>
          </a:ln>
        </p:spPr>
      </p:sp>
      <p:sp>
        <p:nvSpPr>
          <p:cNvPr id="23" name="Diagram label: 3">
            <a:extLst xmlns:a="http://schemas.openxmlformats.org/drawingml/2006/main">
              <a:ext uri="{FF2B5EF4-FFF2-40B4-BE49-F238E27FC236}">
                <a16:creationId xmlns:a16="http://schemas.microsoft.com/office/drawing/2014/main" id="{3CF14AAA-E5D1-4541-AF3F-1B5A5E19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890" y="3094826"/>
            <a:ext cx="373346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24" name="Diagram label: 0">
            <a:extLst xmlns:a="http://schemas.openxmlformats.org/drawingml/2006/main">
              <a:ext uri="{FF2B5EF4-FFF2-40B4-BE49-F238E27FC236}">
                <a16:creationId xmlns:a16="http://schemas.microsoft.com/office/drawing/2014/main" id="{EB42C404-9AF2-4CF0-8C6E-FC033E5D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98" y="5155695"/>
            <a:ext cx="522684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0</a:t>
            </a:r>
          </a:p>
        </p:txBody>
      </p:sp>
      <p:sp>
        <p:nvSpPr>
          <p:cNvPr id="25" name="Diagram label: 0.2">
            <a:extLst xmlns:a="http://schemas.openxmlformats.org/drawingml/2006/main">
              <a:ext uri="{FF2B5EF4-FFF2-40B4-BE49-F238E27FC236}">
                <a16:creationId xmlns:a16="http://schemas.microsoft.com/office/drawing/2014/main" id="{9F3C1272-A66A-4791-973D-137BEF39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9818" y="5155695"/>
            <a:ext cx="522684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0.2</a:t>
            </a:r>
          </a:p>
        </p:txBody>
      </p:sp>
      <p:sp>
        <p:nvSpPr>
          <p:cNvPr id="26" name="Diagram label: 0.4">
            <a:extLst xmlns:a="http://schemas.openxmlformats.org/drawingml/2006/main">
              <a:ext uri="{FF2B5EF4-FFF2-40B4-BE49-F238E27FC236}">
                <a16:creationId xmlns:a16="http://schemas.microsoft.com/office/drawing/2014/main" id="{CAFC4AED-7942-4721-80DB-0C5BD713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739" y="5155695"/>
            <a:ext cx="522684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0.4</a:t>
            </a:r>
          </a:p>
        </p:txBody>
      </p:sp>
      <p:sp>
        <p:nvSpPr>
          <p:cNvPr id="27" name="Diagram label: 0.6">
            <a:extLst xmlns:a="http://schemas.openxmlformats.org/drawingml/2006/main">
              <a:ext uri="{FF2B5EF4-FFF2-40B4-BE49-F238E27FC236}">
                <a16:creationId xmlns:a16="http://schemas.microsoft.com/office/drawing/2014/main" id="{886091D4-6F2B-4BCA-A926-2A4FD539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5660" y="5155695"/>
            <a:ext cx="522684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0.6</a:t>
            </a:r>
          </a:p>
        </p:txBody>
      </p:sp>
      <p:sp>
        <p:nvSpPr>
          <p:cNvPr id="28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9D28C8B4-A9B0-4459-8E93-2181510A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28042" y="2893219"/>
            <a:ext cx="953" cy="21654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29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731084AD-9351-49E2-84A3-FBA28A3D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33240" y="3527907"/>
            <a:ext cx="574952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30" name="Diagram label: Water cap 0.50 L">
            <a:extLst xmlns:a="http://schemas.openxmlformats.org/drawingml/2006/main">
              <a:ext uri="{FF2B5EF4-FFF2-40B4-BE49-F238E27FC236}">
                <a16:creationId xmlns:a16="http://schemas.microsoft.com/office/drawing/2014/main" id="{EAE46377-3311-455F-BA4D-C0CB1257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380" y="4162595"/>
            <a:ext cx="1866730" cy="410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11" b="0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411" b="0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Water cap 0.50 L</a:t>
            </a:r>
          </a:p>
        </p:txBody>
      </p:sp>
      <p:sp>
        <p:nvSpPr>
          <p:cNvPr id="31" name="Diagram label: Meets both limits">
            <a:extLst xmlns:a="http://schemas.openxmlformats.org/drawingml/2006/main">
              <a:ext uri="{FF2B5EF4-FFF2-40B4-BE49-F238E27FC236}">
                <a16:creationId xmlns:a16="http://schemas.microsoft.com/office/drawing/2014/main" id="{72CB5984-3D3F-4394-8130-791C44F7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7909" y="2990289"/>
            <a:ext cx="3621456" cy="33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7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47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Meets both limits</a:t>
            </a:r>
          </a:p>
        </p:txBody>
      </p:sp>
      <p:sp>
        <p:nvSpPr>
          <p:cNvPr id="32" name="Diagram label: Water supplied(L/plant) over 14 days">
            <a:extLst xmlns:a="http://schemas.openxmlformats.org/drawingml/2006/main">
              <a:ext uri="{FF2B5EF4-FFF2-40B4-BE49-F238E27FC236}">
                <a16:creationId xmlns:a16="http://schemas.microsoft.com/office/drawing/2014/main" id="{DA8715E8-CDE9-4195-9189-F0592A5D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5924" y="5543975"/>
            <a:ext cx="5376182" cy="298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Water supplied(L/plant) over 14 days</a:t>
            </a:r>
          </a:p>
        </p:txBody>
      </p:sp>
      <p:sp>
        <p:nvSpPr>
          <p:cNvPr id="3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E6E93D2C-6959-4AFB-9AF8-2D8A0B17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7852" y="3904240"/>
            <a:ext cx="104537" cy="1045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34" name="Diagram label: A">
            <a:extLst xmlns:a="http://schemas.openxmlformats.org/drawingml/2006/main">
              <a:ext uri="{FF2B5EF4-FFF2-40B4-BE49-F238E27FC236}">
                <a16:creationId xmlns:a16="http://schemas.microsoft.com/office/drawing/2014/main" id="{CD78987A-2725-4D8E-8321-9763BD8C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24" y="3695166"/>
            <a:ext cx="485350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</a:t>
            </a:r>
          </a:p>
        </p:txBody>
      </p:sp>
      <p:sp>
        <p:nvSpPr>
          <p:cNvPr id="35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217B36CD-D6B1-45B1-94F3-8D169AE4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734" y="3169495"/>
            <a:ext cx="104537" cy="1045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36" name="Diagram label: B">
            <a:extLst xmlns:a="http://schemas.openxmlformats.org/drawingml/2006/main">
              <a:ext uri="{FF2B5EF4-FFF2-40B4-BE49-F238E27FC236}">
                <a16:creationId xmlns:a16="http://schemas.microsoft.com/office/drawing/2014/main" id="{F0584B36-FD16-4069-B33C-367CC577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605" y="2960421"/>
            <a:ext cx="485350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</a:t>
            </a:r>
          </a:p>
        </p:txBody>
      </p:sp>
      <p:sp>
        <p:nvSpPr>
          <p:cNvPr id="37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670582FE-7780-4AC0-A827-6204B159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9412" y="4394070"/>
            <a:ext cx="104537" cy="1045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38" name="Diagram label: C">
            <a:extLst xmlns:a="http://schemas.openxmlformats.org/drawingml/2006/main">
              <a:ext uri="{FF2B5EF4-FFF2-40B4-BE49-F238E27FC236}">
                <a16:creationId xmlns:a16="http://schemas.microsoft.com/office/drawing/2014/main" id="{B09DE02B-2757-42B6-A95C-CAE6AB3D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1000" y="4483673"/>
            <a:ext cx="485350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</a:t>
            </a:r>
          </a:p>
        </p:txBody>
      </p:sp>
      <p:sp>
        <p:nvSpPr>
          <p:cNvPr id="39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8D08E2B7-AD1B-4F23-AEF0-96B72670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9412" y="4332841"/>
            <a:ext cx="104537" cy="1045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40" name="Diagram label: D">
            <a:extLst xmlns:a="http://schemas.openxmlformats.org/drawingml/2006/main">
              <a:ext uri="{FF2B5EF4-FFF2-40B4-BE49-F238E27FC236}">
                <a16:creationId xmlns:a16="http://schemas.microsoft.com/office/drawing/2014/main" id="{B77F0A9E-337B-4F04-A872-28D5BD25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83" y="4123767"/>
            <a:ext cx="485350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</a:t>
            </a:r>
          </a:p>
        </p:txBody>
      </p:sp>
      <p:sp>
        <p:nvSpPr>
          <p:cNvPr id="4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F49F66C6-4FD8-42CA-824C-69713601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93" y="3414410"/>
            <a:ext cx="104537" cy="1045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22401">
            <a:solidFill>
              <a:srgbClr val="7A5C9E"/>
            </a:solidFill>
          </a:ln>
        </p:spPr>
      </p:sp>
      <p:sp>
        <p:nvSpPr>
          <p:cNvPr id="42" name="Diagram label: E">
            <a:extLst xmlns:a="http://schemas.openxmlformats.org/drawingml/2006/main">
              <a:ext uri="{FF2B5EF4-FFF2-40B4-BE49-F238E27FC236}">
                <a16:creationId xmlns:a16="http://schemas.microsoft.com/office/drawing/2014/main" id="{EB4C448E-5C91-4AFF-9E80-0DDA6BEE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8165" y="3205336"/>
            <a:ext cx="485350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</a:t>
            </a:r>
          </a:p>
        </p:txBody>
      </p:sp>
      <p:sp>
        <p:nvSpPr>
          <p:cNvPr id="43" name="W2. Plan E: moderate light,0.45 L supplied,2.6 g mean gain.  Doe">
            <a:extLst xmlns:a="http://schemas.openxmlformats.org/drawingml/2006/main">
              <a:ext uri="{FF2B5EF4-FFF2-40B4-BE49-F238E27FC236}">
                <a16:creationId xmlns:a16="http://schemas.microsoft.com/office/drawing/2014/main" id="{70B6CC19-3D32-451E-A228-D5408FBB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W2. Plan E: moderate light,0.45 L supplied,2.6 g mean gain. Does it meet both targets? Give both margins.</a:t>
            </a:r>
          </a:p>
        </p:txBody>
      </p:sp>
    </p:spTree>
    <p:extLst>
      <p:ext uri="{BB962C8B-B14F-4D97-AF65-F5344CB8AC3E}">
        <p14:creationId xmlns:p14="http://schemas.microsoft.com/office/powerpoint/2010/main" val="10847144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A913D08D-5275-4654-A707-93B0A501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98EA26F5-8226-404C-BFB0-ACBC30C4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D4D79E7B-529C-4DAD-80BA-47309AE0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983629BC-6D98-40EF-856E-CBA76E77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0349C5A5-A6EC-4B9C-826B-85415DD5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217F99E7-DF04-478A-93E6-BB91A476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Round 3: keep the recommendation honest">
            <a:extLst xmlns:a="http://schemas.openxmlformats.org/drawingml/2006/main">
              <a:ext uri="{FF2B5EF4-FFF2-40B4-BE49-F238E27FC236}">
                <a16:creationId xmlns:a16="http://schemas.microsoft.com/office/drawing/2014/main" id="{69C28910-2F8F-447A-9305-EF41ADA3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Round 3: keep the recommendation honest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401764C0-AB4B-40E9-8117-A1EFFA14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Greenhouse challenge: grow more with a water budget">
            <a:extLst xmlns:a="http://schemas.openxmlformats.org/drawingml/2006/main">
              <a:ext uri="{FF2B5EF4-FFF2-40B4-BE49-F238E27FC236}">
                <a16:creationId xmlns:a16="http://schemas.microsoft.com/office/drawing/2014/main" id="{1AD9A781-4299-4E4D-B287-3A16B5B3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Greenhouse challenge: grow more with a water budget</a:t>
            </a:r>
          </a:p>
        </p:txBody>
      </p:sp>
      <p:sp>
        <p:nvSpPr>
          <p:cNvPr id="10" name="8 / 15">
            <a:extLst xmlns:a="http://schemas.openxmlformats.org/drawingml/2006/main">
              <a:ext uri="{FF2B5EF4-FFF2-40B4-BE49-F238E27FC236}">
                <a16:creationId xmlns:a16="http://schemas.microsoft.com/office/drawing/2014/main" id="{85E060EA-0D2B-4C4B-B9FD-F3183D32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8 / 15</a:t>
            </a:r>
          </a:p>
        </p:txBody>
      </p:sp>
      <p:sp>
        <p:nvSpPr>
          <p:cNvPr id="11" name="W3. “E guarantees every plant succeeds.”">
            <a:extLst xmlns:a="http://schemas.openxmlformats.org/drawingml/2006/main">
              <a:ext uri="{FF2B5EF4-FFF2-40B4-BE49-F238E27FC236}">
                <a16:creationId xmlns:a16="http://schemas.microsoft.com/office/drawing/2014/main" id="{935BD8A8-B79E-4A11-9657-62938587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W3. “E guarantees every plant succeeds.”</a:t>
            </a:r>
          </a:p>
        </p:txBody>
      </p:sp>
      <p:sp>
        <p:nvSpPr>
          <p:cNvPr id="12" name="Improve the recommendation and request one check.">
            <a:extLst xmlns:a="http://schemas.openxmlformats.org/drawingml/2006/main">
              <a:ext uri="{FF2B5EF4-FFF2-40B4-BE49-F238E27FC236}">
                <a16:creationId xmlns:a16="http://schemas.microsoft.com/office/drawing/2014/main" id="{47BBC7EE-63C8-45F9-BEDF-7496BA73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Improve the recommendation and request one check.</a:t>
            </a:r>
          </a:p>
        </p:txBody>
      </p:sp>
    </p:spTree>
    <p:extLst>
      <p:ext uri="{BB962C8B-B14F-4D97-AF65-F5344CB8AC3E}">
        <p14:creationId xmlns:p14="http://schemas.microsoft.com/office/powerpoint/2010/main" val="17991287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urface">
            <a:extLst xmlns:a="http://schemas.openxmlformats.org/drawingml/2006/main">
              <a:ext uri="{FF2B5EF4-FFF2-40B4-BE49-F238E27FC236}">
                <a16:creationId xmlns:a16="http://schemas.microsoft.com/office/drawing/2014/main" id="{7F277D40-2529-4052-A995-A62EDF81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4C3C3350-71C7-45DE-BB08-B54A6871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54FFEFA0-4EB5-4E5D-B3DC-96B8AF4A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8BAE47FC-10DB-4612-BAA3-EF8F519E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Hinge">
            <a:extLst xmlns:a="http://schemas.openxmlformats.org/drawingml/2006/main">
              <a:ext uri="{FF2B5EF4-FFF2-40B4-BE49-F238E27FC236}">
                <a16:creationId xmlns:a16="http://schemas.microsoft.com/office/drawing/2014/main" id="{E4CBE5BF-991D-4988-AEB4-933338FE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Hinge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AFAD79CD-5640-4CBF-810A-C70C602F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Which claim survives both checks?">
            <a:extLst xmlns:a="http://schemas.openxmlformats.org/drawingml/2006/main">
              <a:ext uri="{FF2B5EF4-FFF2-40B4-BE49-F238E27FC236}">
                <a16:creationId xmlns:a16="http://schemas.microsoft.com/office/drawing/2014/main" id="{A88930E3-556E-4CE2-9B8F-8692EFB9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Which claim survives both checks?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47DBA9CB-10DA-4BB2-AEA1-EEEEA4C6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Greenhouse challenge: grow more with a water budget">
            <a:extLst xmlns:a="http://schemas.openxmlformats.org/drawingml/2006/main">
              <a:ext uri="{FF2B5EF4-FFF2-40B4-BE49-F238E27FC236}">
                <a16:creationId xmlns:a16="http://schemas.microsoft.com/office/drawing/2014/main" id="{948392EC-77FE-4BBF-961D-CA2FCEA2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Greenhouse challenge: grow more with a water budget</a:t>
            </a:r>
          </a:p>
        </p:txBody>
      </p:sp>
      <p:sp>
        <p:nvSpPr>
          <p:cNvPr id="10" name="9 / 15">
            <a:extLst xmlns:a="http://schemas.openxmlformats.org/drawingml/2006/main">
              <a:ext uri="{FF2B5EF4-FFF2-40B4-BE49-F238E27FC236}">
                <a16:creationId xmlns:a16="http://schemas.microsoft.com/office/drawing/2014/main" id="{21382DDB-0CC5-4F61-A4EE-93EE49AE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9 / 15</a:t>
            </a:r>
          </a:p>
        </p:txBody>
      </p:sp>
      <p:sp>
        <p:nvSpPr>
          <p:cNvPr id="11" name="Choose the claim with correct evidence and scope.">
            <a:extLst xmlns:a="http://schemas.openxmlformats.org/drawingml/2006/main">
              <a:ext uri="{FF2B5EF4-FFF2-40B4-BE49-F238E27FC236}">
                <a16:creationId xmlns:a16="http://schemas.microsoft.com/office/drawing/2014/main" id="{07734B11-E10B-4BB2-9D79-299DE3DF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the claim with correct evidence and scope.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9D382369-7ED0-4BE7-AF4E-08CA3857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1112520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6EB397FB-DDFA-49EF-9551-5FA293B6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5715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4" name="A">
            <a:extLst xmlns:a="http://schemas.openxmlformats.org/drawingml/2006/main">
              <a:ext uri="{FF2B5EF4-FFF2-40B4-BE49-F238E27FC236}">
                <a16:creationId xmlns:a16="http://schemas.microsoft.com/office/drawing/2014/main" id="{315BAC7E-70FB-48D8-A696-ED7EA623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95550"/>
            <a:ext cx="476250" cy="702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A</a:t>
            </a:r>
          </a:p>
        </p:txBody>
      </p:sp>
      <p:sp>
        <p:nvSpPr>
          <p:cNvPr id="15" name="B must win because 3.0 g is the largest mean.">
            <a:extLst xmlns:a="http://schemas.openxmlformats.org/drawingml/2006/main">
              <a:ext uri="{FF2B5EF4-FFF2-40B4-BE49-F238E27FC236}">
                <a16:creationId xmlns:a16="http://schemas.microsoft.com/office/drawing/2014/main" id="{EE208566-53EF-4126-8D8C-FB3B0421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95550"/>
            <a:ext cx="10144125" cy="683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 must win because 3.0 g is the largest mean.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D4BFBBAF-7374-414E-B902-A2BD9B6A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9944"/>
            <a:ext cx="1112520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E3BE8DD6-7002-4B0B-BB94-D196176D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9944"/>
            <a:ext cx="5715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8" name="B">
            <a:extLst xmlns:a="http://schemas.openxmlformats.org/drawingml/2006/main">
              <a:ext uri="{FF2B5EF4-FFF2-40B4-BE49-F238E27FC236}">
                <a16:creationId xmlns:a16="http://schemas.microsoft.com/office/drawing/2014/main" id="{ADA3F3E7-066A-4D24-A935-AE5BF8E7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02819"/>
            <a:ext cx="476250" cy="702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</a:t>
            </a:r>
          </a:p>
        </p:txBody>
      </p:sp>
      <p:sp>
        <p:nvSpPr>
          <p:cNvPr id="19" name="E meets both mean-based criteria in the supplied trial.">
            <a:extLst xmlns:a="http://schemas.openxmlformats.org/drawingml/2006/main">
              <a:ext uri="{FF2B5EF4-FFF2-40B4-BE49-F238E27FC236}">
                <a16:creationId xmlns:a16="http://schemas.microsoft.com/office/drawing/2014/main" id="{7D92B887-115B-4366-A094-60E1297C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502819"/>
            <a:ext cx="10144125" cy="683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 meets both mean-based criteria in the supplied trial.</a:t>
            </a:r>
          </a:p>
        </p:txBody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9F2BEFB5-4ED3-45EB-BAA8-9DA996AB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7213"/>
            <a:ext cx="1112520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EC623C37-EC32-43EC-B5A5-A9B6AAC5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7213"/>
            <a:ext cx="5715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2" name="C">
            <a:extLst xmlns:a="http://schemas.openxmlformats.org/drawingml/2006/main">
              <a:ext uri="{FF2B5EF4-FFF2-40B4-BE49-F238E27FC236}">
                <a16:creationId xmlns:a16="http://schemas.microsoft.com/office/drawing/2014/main" id="{6C60CB63-E564-4550-8FBD-0F94FCC3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510088"/>
            <a:ext cx="476250" cy="702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C</a:t>
            </a:r>
          </a:p>
        </p:txBody>
      </p:sp>
      <p:sp>
        <p:nvSpPr>
          <p:cNvPr id="23" name="A mean of 2.6 g guarantees every plant gains 2.6 g.">
            <a:extLst xmlns:a="http://schemas.openxmlformats.org/drawingml/2006/main">
              <a:ext uri="{FF2B5EF4-FFF2-40B4-BE49-F238E27FC236}">
                <a16:creationId xmlns:a16="http://schemas.microsoft.com/office/drawing/2014/main" id="{927574E0-2C5E-412E-8990-9E2B713F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0088"/>
            <a:ext cx="10144125" cy="683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mean of 2.6 g guarantees every plant gains 2.6 g.</a:t>
            </a:r>
          </a:p>
        </p:txBody>
      </p:sp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FBB17CE9-0C62-4248-A5F4-6BD59286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74481"/>
            <a:ext cx="1112520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5" name="surface">
            <a:extLst xmlns:a="http://schemas.openxmlformats.org/drawingml/2006/main">
              <a:ext uri="{FF2B5EF4-FFF2-40B4-BE49-F238E27FC236}">
                <a16:creationId xmlns:a16="http://schemas.microsoft.com/office/drawing/2014/main" id="{C441A324-72BF-4D79-B9DA-976A00C1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74481"/>
            <a:ext cx="5715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6" name="D">
            <a:extLst xmlns:a="http://schemas.openxmlformats.org/drawingml/2006/main">
              <a:ext uri="{FF2B5EF4-FFF2-40B4-BE49-F238E27FC236}">
                <a16:creationId xmlns:a16="http://schemas.microsoft.com/office/drawing/2014/main" id="{CEC5DF98-A6E4-48E5-B2E1-DEF22F23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517356"/>
            <a:ext cx="476250" cy="702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D</a:t>
            </a:r>
          </a:p>
        </p:txBody>
      </p:sp>
      <p:sp>
        <p:nvSpPr>
          <p:cNvPr id="27" name="A/B isolates light because both are plants.">
            <a:extLst xmlns:a="http://schemas.openxmlformats.org/drawingml/2006/main">
              <a:ext uri="{FF2B5EF4-FFF2-40B4-BE49-F238E27FC236}">
                <a16:creationId xmlns:a16="http://schemas.microsoft.com/office/drawing/2014/main" id="{1321B8D8-F956-47EB-9A29-529B5721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517356"/>
            <a:ext cx="10144125" cy="683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A/B isolates light because both are plants.</a:t>
            </a:r>
          </a:p>
        </p:txBody>
      </p:sp>
    </p:spTree>
    <p:extLst>
      <p:ext uri="{BB962C8B-B14F-4D97-AF65-F5344CB8AC3E}">
        <p14:creationId xmlns:p14="http://schemas.microsoft.com/office/powerpoint/2010/main" val="13482836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0A43455B-3ED5-4DFA-83EC-60D8E17E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B5DD38BD-16D1-4AD3-84E0-437629F7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56FF6158-C229-43D2-BD67-30B974B5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5B0B2412-4EBD-4C39-91CA-3C636712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1B8A888C-1C71-4658-ABC7-B6350BDE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1 min">
            <a:extLst xmlns:a="http://schemas.openxmlformats.org/drawingml/2006/main">
              <a:ext uri="{FF2B5EF4-FFF2-40B4-BE49-F238E27FC236}">
                <a16:creationId xmlns:a16="http://schemas.microsoft.com/office/drawing/2014/main" id="{6D41A584-41D1-4937-8814-6B67086B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 min</a:t>
            </a:r>
          </a:p>
        </p:txBody>
      </p:sp>
      <p:sp>
        <p:nvSpPr>
          <p:cNvPr id="7" name="Write a decision that can be checked">
            <a:extLst xmlns:a="http://schemas.openxmlformats.org/drawingml/2006/main">
              <a:ext uri="{FF2B5EF4-FFF2-40B4-BE49-F238E27FC236}">
                <a16:creationId xmlns:a16="http://schemas.microsoft.com/office/drawing/2014/main" id="{2BB19920-59CA-4DAF-BB31-F81A4950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Write a decision that can be checked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74B42C31-51DF-458B-8E19-8852204E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Greenhouse challenge: grow more with a water budget">
            <a:extLst xmlns:a="http://schemas.openxmlformats.org/drawingml/2006/main">
              <a:ext uri="{FF2B5EF4-FFF2-40B4-BE49-F238E27FC236}">
                <a16:creationId xmlns:a16="http://schemas.microsoft.com/office/drawing/2014/main" id="{1B183444-34C6-4D5E-8425-EE10856F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Greenhouse challenge: grow more with a water budget</a:t>
            </a:r>
          </a:p>
        </p:txBody>
      </p:sp>
      <p:sp>
        <p:nvSpPr>
          <p:cNvPr id="10" name="10 / 15">
            <a:extLst xmlns:a="http://schemas.openxmlformats.org/drawingml/2006/main">
              <a:ext uri="{FF2B5EF4-FFF2-40B4-BE49-F238E27FC236}">
                <a16:creationId xmlns:a16="http://schemas.microsoft.com/office/drawing/2014/main" id="{6313BE74-B0D6-467D-9A2F-2DC3F790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10 / 15</a:t>
            </a:r>
          </a:p>
        </p:txBody>
      </p:sp>
      <p:sp>
        <p:nvSpPr>
          <p:cNvPr id="11" name="Choose your response route.">
            <a:extLst xmlns:a="http://schemas.openxmlformats.org/drawingml/2006/main">
              <a:ext uri="{FF2B5EF4-FFF2-40B4-BE49-F238E27FC236}">
                <a16:creationId xmlns:a16="http://schemas.microsoft.com/office/drawing/2014/main" id="{6429E5C4-84E2-454A-B0BB-74BA6593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your response route.</a:t>
            </a:r>
          </a:p>
        </p:txBody>
      </p:sp>
      <p:sp>
        <p:nvSpPr>
          <p:cNvPr id="12" name="State a plan, evidence, mechanism and limit.">
            <a:extLst xmlns:a="http://schemas.openxmlformats.org/drawingml/2006/main">
              <a:ext uri="{FF2B5EF4-FFF2-40B4-BE49-F238E27FC236}">
                <a16:creationId xmlns:a16="http://schemas.microsoft.com/office/drawing/2014/main" id="{C2472638-FA15-4D63-9229-B56D8D8E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State a plan, evidence, mechanism and limit.</a:t>
            </a:r>
          </a:p>
        </p:txBody>
      </p:sp>
    </p:spTree>
    <p:extLst>
      <p:ext uri="{BB962C8B-B14F-4D97-AF65-F5344CB8AC3E}">
        <p14:creationId xmlns:p14="http://schemas.microsoft.com/office/powerpoint/2010/main" val="19983015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14C05BE6-95B7-4D95-B828-DA6E970F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5EA05F47-CAC8-4523-8F39-B03A7E9F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85C3B88D-B777-400F-8CA6-FD7BE394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85DA724E-0163-44DC-91E9-54956854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AD6B6A79-A92D-4076-8230-8DC6FC8C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10 min">
            <a:extLst xmlns:a="http://schemas.openxmlformats.org/drawingml/2006/main">
              <a:ext uri="{FF2B5EF4-FFF2-40B4-BE49-F238E27FC236}">
                <a16:creationId xmlns:a16="http://schemas.microsoft.com/office/drawing/2014/main" id="{D13F05D9-6589-42A4-89A0-39CAE09B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10 min</a:t>
            </a:r>
          </a:p>
        </p:txBody>
      </p:sp>
      <p:sp>
        <p:nvSpPr>
          <p:cNvPr id="7" name="Make the recommendation useful">
            <a:extLst xmlns:a="http://schemas.openxmlformats.org/drawingml/2006/main">
              <a:ext uri="{FF2B5EF4-FFF2-40B4-BE49-F238E27FC236}">
                <a16:creationId xmlns:a16="http://schemas.microsoft.com/office/drawing/2014/main" id="{71F64AF2-D0C5-4E6B-8F2E-30AAE16E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Make the recommendation useful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F16FAD09-B014-4FB9-A3E8-3FB48DB3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Greenhouse challenge: grow more with a water budget">
            <a:extLst xmlns:a="http://schemas.openxmlformats.org/drawingml/2006/main">
              <a:ext uri="{FF2B5EF4-FFF2-40B4-BE49-F238E27FC236}">
                <a16:creationId xmlns:a16="http://schemas.microsoft.com/office/drawing/2014/main" id="{CF3569B8-9181-4071-85EA-8B08559B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Greenhouse challenge: grow more with a water budget</a:t>
            </a:r>
          </a:p>
        </p:txBody>
      </p:sp>
      <p:sp>
        <p:nvSpPr>
          <p:cNvPr id="10" name="11 / 15">
            <a:extLst xmlns:a="http://schemas.openxmlformats.org/drawingml/2006/main">
              <a:ext uri="{FF2B5EF4-FFF2-40B4-BE49-F238E27FC236}">
                <a16:creationId xmlns:a16="http://schemas.microsoft.com/office/drawing/2014/main" id="{61866506-E21D-4057-8534-E867A5CC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11 / 15</a:t>
            </a:r>
          </a:p>
        </p:txBody>
      </p:sp>
      <p:sp>
        <p:nvSpPr>
          <p:cNvPr id="11" name="Check both conditions before choosing.">
            <a:extLst xmlns:a="http://schemas.openxmlformats.org/drawingml/2006/main">
              <a:ext uri="{FF2B5EF4-FFF2-40B4-BE49-F238E27FC236}">
                <a16:creationId xmlns:a16="http://schemas.microsoft.com/office/drawing/2014/main" id="{2C926BE4-174D-4E11-822E-80930FDB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Check both conditions before choosing.</a:t>
            </a:r>
          </a:p>
        </p:txBody>
      </p:sp>
      <p:sp>
        <p:nvSpPr>
          <p:cNvPr id="12" name="Link plant biology with evidence without claiming certainty.">
            <a:extLst xmlns:a="http://schemas.openxmlformats.org/drawingml/2006/main">
              <a:ext uri="{FF2B5EF4-FFF2-40B4-BE49-F238E27FC236}">
                <a16:creationId xmlns:a16="http://schemas.microsoft.com/office/drawing/2014/main" id="{0CD17272-793F-42FD-B5FC-874977D0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Link plant biology with evidence without claiming certainty.</a:t>
            </a:r>
          </a:p>
        </p:txBody>
      </p:sp>
    </p:spTree>
    <p:extLst>
      <p:ext uri="{BB962C8B-B14F-4D97-AF65-F5344CB8AC3E}">
        <p14:creationId xmlns:p14="http://schemas.microsoft.com/office/powerpoint/2010/main" val="20029428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EDE1934F-3822-4F37-8EA2-D27A7B3B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4DA216BC-A309-474B-B957-0BD7919B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AD2AF4B3-5E56-4184-8891-EAA90613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F16F4483-8D6D-423F-A52B-22A994FB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4D3DE046-F35E-4A50-9F1D-2F74AC94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D0F792E4-5427-4235-BBDB-1FB34FF1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Audience challenge: what could change your mind?">
            <a:extLst xmlns:a="http://schemas.openxmlformats.org/drawingml/2006/main">
              <a:ext uri="{FF2B5EF4-FFF2-40B4-BE49-F238E27FC236}">
                <a16:creationId xmlns:a16="http://schemas.microsoft.com/office/drawing/2014/main" id="{308F0890-D7C1-4ECE-857A-E07D79F6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Audience challenge: what could change your mind?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57A8466A-998F-4AB9-8DB2-BA0FBB5B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Greenhouse challenge: grow more with a water budget">
            <a:extLst xmlns:a="http://schemas.openxmlformats.org/drawingml/2006/main">
              <a:ext uri="{FF2B5EF4-FFF2-40B4-BE49-F238E27FC236}">
                <a16:creationId xmlns:a16="http://schemas.microsoft.com/office/drawing/2014/main" id="{7D9C6A97-B5F1-453A-A723-4D413808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Greenhouse challenge: grow more with a water budget</a:t>
            </a:r>
          </a:p>
        </p:txBody>
      </p:sp>
      <p:sp>
        <p:nvSpPr>
          <p:cNvPr id="10" name="12 / 15">
            <a:extLst xmlns:a="http://schemas.openxmlformats.org/drawingml/2006/main">
              <a:ext uri="{FF2B5EF4-FFF2-40B4-BE49-F238E27FC236}">
                <a16:creationId xmlns:a16="http://schemas.microsoft.com/office/drawing/2014/main" id="{CA727CB0-23C8-492F-9133-BAB2CC18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12 / 15</a:t>
            </a:r>
          </a:p>
        </p:txBody>
      </p:sp>
      <p:sp>
        <p:nvSpPr>
          <p:cNvPr id="11" name="L1. Share your recommendation.">
            <a:extLst xmlns:a="http://schemas.openxmlformats.org/drawingml/2006/main">
              <a:ext uri="{FF2B5EF4-FFF2-40B4-BE49-F238E27FC236}">
                <a16:creationId xmlns:a16="http://schemas.microsoft.com/office/drawing/2014/main" id="{41214A66-F97E-4FA3-AC71-2705AE2E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L1. Share your recommendation.</a:t>
            </a:r>
          </a:p>
        </p:txBody>
      </p:sp>
      <p:sp>
        <p:nvSpPr>
          <p:cNvPr id="12" name="Audience asks for one piece of evidence that could overturn it.">
            <a:extLst xmlns:a="http://schemas.openxmlformats.org/drawingml/2006/main">
              <a:ext uri="{FF2B5EF4-FFF2-40B4-BE49-F238E27FC236}">
                <a16:creationId xmlns:a16="http://schemas.microsoft.com/office/drawing/2014/main" id="{B48C1E6E-F916-4D3D-A82D-CBA5BEA1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Audience asks for one piece of evidence that could overturn it.</a:t>
            </a:r>
          </a:p>
        </p:txBody>
      </p:sp>
    </p:spTree>
    <p:extLst>
      <p:ext uri="{BB962C8B-B14F-4D97-AF65-F5344CB8AC3E}">
        <p14:creationId xmlns:p14="http://schemas.microsoft.com/office/powerpoint/2010/main" val="157552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FA697400-6F2E-4EBE-9B65-0C30FC86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09703B83-A363-4018-BD22-AD651CDD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EAB8FDC9-F08C-4453-B3A6-A88C644A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0BC47F90-ECBA-49A7-80E1-80BD2546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999EB0EF-9447-46E6-AAB6-9D6FEEBD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1 min">
            <a:extLst xmlns:a="http://schemas.openxmlformats.org/drawingml/2006/main">
              <a:ext uri="{FF2B5EF4-FFF2-40B4-BE49-F238E27FC236}">
                <a16:creationId xmlns:a16="http://schemas.microsoft.com/office/drawing/2014/main" id="{BA603162-C403-45B6-848B-5F4AB98F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 min</a:t>
            </a:r>
          </a:p>
        </p:txBody>
      </p:sp>
      <p:sp>
        <p:nvSpPr>
          <p:cNvPr id="7" name="A scientific decision remains testable">
            <a:extLst xmlns:a="http://schemas.openxmlformats.org/drawingml/2006/main">
              <a:ext uri="{FF2B5EF4-FFF2-40B4-BE49-F238E27FC236}">
                <a16:creationId xmlns:a16="http://schemas.microsoft.com/office/drawing/2014/main" id="{F5DF312D-8357-4A28-A0B2-0C6FD778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scientific decision remains testable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48C105B3-5F3A-424E-B6C5-2EDCF9EB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Greenhouse challenge: grow more with a water budget">
            <a:extLst xmlns:a="http://schemas.openxmlformats.org/drawingml/2006/main">
              <a:ext uri="{FF2B5EF4-FFF2-40B4-BE49-F238E27FC236}">
                <a16:creationId xmlns:a16="http://schemas.microsoft.com/office/drawing/2014/main" id="{30765F3B-12AD-4EC8-9062-3E640A6A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Greenhouse challenge: grow more with a water budget</a:t>
            </a:r>
          </a:p>
        </p:txBody>
      </p:sp>
      <p:sp>
        <p:nvSpPr>
          <p:cNvPr id="10" name="13 / 15">
            <a:extLst xmlns:a="http://schemas.openxmlformats.org/drawingml/2006/main">
              <a:ext uri="{FF2B5EF4-FFF2-40B4-BE49-F238E27FC236}">
                <a16:creationId xmlns:a16="http://schemas.microsoft.com/office/drawing/2014/main" id="{BCD64EE3-58DB-43A7-BA9D-1EBE7B29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13 / 15</a:t>
            </a:r>
          </a:p>
        </p:txBody>
      </p:sp>
      <p:sp>
        <p:nvSpPr>
          <p:cNvPr id="11" name="“Recommend E for a repeat pilot” is a claim with a next step.">
            <a:extLst xmlns:a="http://schemas.openxmlformats.org/drawingml/2006/main">
              <a:ext uri="{FF2B5EF4-FFF2-40B4-BE49-F238E27FC236}">
                <a16:creationId xmlns:a16="http://schemas.microsoft.com/office/drawing/2014/main" id="{BE43676C-87D0-4384-8A77-2A0BDDA5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“Recommend E for a repeat pilot” is a claim with a next step.</a:t>
            </a:r>
          </a:p>
        </p:txBody>
      </p:sp>
      <p:sp>
        <p:nvSpPr>
          <p:cNvPr id="12" name="A limitation makes the decision more useful.">
            <a:extLst xmlns:a="http://schemas.openxmlformats.org/drawingml/2006/main">
              <a:ext uri="{FF2B5EF4-FFF2-40B4-BE49-F238E27FC236}">
                <a16:creationId xmlns:a16="http://schemas.microsoft.com/office/drawing/2014/main" id="{16CED0DE-90F8-41D1-9DB1-A9E18506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limitation makes the decision more useful.</a:t>
            </a:r>
          </a:p>
        </p:txBody>
      </p:sp>
    </p:spTree>
    <p:extLst>
      <p:ext uri="{BB962C8B-B14F-4D97-AF65-F5344CB8AC3E}">
        <p14:creationId xmlns:p14="http://schemas.microsoft.com/office/powerpoint/2010/main" val="20381143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2E4F2DF1-CA7B-4DBF-9D3E-A11E4830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01E07CE7-1357-4352-ADDE-63248CD9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436D9453-D6D6-4F64-A0A3-CE312B62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FF088628-2DF9-47A2-A173-4BF28C5D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Exit">
            <a:extLst xmlns:a="http://schemas.openxmlformats.org/drawingml/2006/main">
              <a:ext uri="{FF2B5EF4-FFF2-40B4-BE49-F238E27FC236}">
                <a16:creationId xmlns:a16="http://schemas.microsoft.com/office/drawing/2014/main" id="{C744DC8E-A373-4CA1-BB1D-7F778BC1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Exit</a:t>
            </a:r>
          </a:p>
        </p:txBody>
      </p:sp>
      <p:sp>
        <p:nvSpPr>
          <p:cNvPr id="6" name="1 min">
            <a:extLst xmlns:a="http://schemas.openxmlformats.org/drawingml/2006/main">
              <a:ext uri="{FF2B5EF4-FFF2-40B4-BE49-F238E27FC236}">
                <a16:creationId xmlns:a16="http://schemas.microsoft.com/office/drawing/2014/main" id="{B26EA4FC-1EF2-4277-B2A7-8996679B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 min</a:t>
            </a:r>
          </a:p>
        </p:txBody>
      </p:sp>
      <p:sp>
        <p:nvSpPr>
          <p:cNvPr id="7" name="Use the unfamiliar evidence">
            <a:extLst xmlns:a="http://schemas.openxmlformats.org/drawingml/2006/main">
              <a:ext uri="{FF2B5EF4-FFF2-40B4-BE49-F238E27FC236}">
                <a16:creationId xmlns:a16="http://schemas.microsoft.com/office/drawing/2014/main" id="{3C829E8D-D428-47B1-96CD-79D3CA9F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the unfamiliar evidence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5410D713-5C86-451E-8E41-1049D9D4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Greenhouse challenge: grow more with a water budget">
            <a:extLst xmlns:a="http://schemas.openxmlformats.org/drawingml/2006/main">
              <a:ext uri="{FF2B5EF4-FFF2-40B4-BE49-F238E27FC236}">
                <a16:creationId xmlns:a16="http://schemas.microsoft.com/office/drawing/2014/main" id="{8EC19EB5-E485-492F-B5BF-7C6CBAE3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Greenhouse challenge: grow more with a water budget</a:t>
            </a:r>
          </a:p>
        </p:txBody>
      </p:sp>
      <p:sp>
        <p:nvSpPr>
          <p:cNvPr id="10" name="14 / 15">
            <a:extLst xmlns:a="http://schemas.openxmlformats.org/drawingml/2006/main">
              <a:ext uri="{FF2B5EF4-FFF2-40B4-BE49-F238E27FC236}">
                <a16:creationId xmlns:a16="http://schemas.microsoft.com/office/drawing/2014/main" id="{A0FBC0E9-7DC8-427C-B5E7-DE8CCCAC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14 / 15</a:t>
            </a:r>
          </a:p>
        </p:txBody>
      </p:sp>
      <p:sp>
        <p:nvSpPr>
          <p:cNvPr id="11" name="E1. Which A–D pair changes light with the same water total?">
            <a:extLst xmlns:a="http://schemas.openxmlformats.org/drawingml/2006/main">
              <a:ext uri="{FF2B5EF4-FFF2-40B4-BE49-F238E27FC236}">
                <a16:creationId xmlns:a16="http://schemas.microsoft.com/office/drawing/2014/main" id="{B03CE7D2-DB57-476E-9EDA-980BD431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E1. Which A–D pair changes light with the same water total?</a:t>
            </a:r>
          </a:p>
        </p:txBody>
      </p:sp>
      <p:sp>
        <p:nvSpPr>
          <p:cNvPr id="12" name="E2. Why does B fail the budget brief?">
            <a:extLst xmlns:a="http://schemas.openxmlformats.org/drawingml/2006/main">
              <a:ext uri="{FF2B5EF4-FFF2-40B4-BE49-F238E27FC236}">
                <a16:creationId xmlns:a16="http://schemas.microsoft.com/office/drawing/2014/main" id="{C7E15CE8-8786-4338-8DDB-9D64102E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E2. Why does B fail the budget brief?</a:t>
            </a:r>
          </a:p>
        </p:txBody>
      </p:sp>
      <p:sp>
        <p:nvSpPr>
          <p:cNvPr id="13" name="E3. Why is E a provisional recommendation?">
            <a:extLst xmlns:a="http://schemas.openxmlformats.org/drawingml/2006/main">
              <a:ext uri="{FF2B5EF4-FFF2-40B4-BE49-F238E27FC236}">
                <a16:creationId xmlns:a16="http://schemas.microsoft.com/office/drawing/2014/main" id="{D0CFFAEA-0FAF-49C1-8062-3A22E37A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E3. Why is E a provisional recommendation?</a:t>
            </a:r>
          </a:p>
        </p:txBody>
      </p:sp>
    </p:spTree>
    <p:extLst>
      <p:ext uri="{BB962C8B-B14F-4D97-AF65-F5344CB8AC3E}">
        <p14:creationId xmlns:p14="http://schemas.microsoft.com/office/powerpoint/2010/main" val="12312131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5532E9BD-03D9-4879-AD0D-712F1455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704F21EC-73AD-444B-B9C3-55A1C130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14D3180C-D4E1-4C81-939B-D8BA8E51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B006D2AE-6814-415C-B01E-CBB781C9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Exit">
            <a:extLst xmlns:a="http://schemas.openxmlformats.org/drawingml/2006/main">
              <a:ext uri="{FF2B5EF4-FFF2-40B4-BE49-F238E27FC236}">
                <a16:creationId xmlns:a16="http://schemas.microsoft.com/office/drawing/2014/main" id="{FA0FE731-0144-41BE-9213-0AC52FC0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Exit</a:t>
            </a:r>
          </a:p>
        </p:txBody>
      </p:sp>
      <p:sp>
        <p:nvSpPr>
          <p:cNvPr id="6" name="Next useful step">
            <a:extLst xmlns:a="http://schemas.openxmlformats.org/drawingml/2006/main">
              <a:ext uri="{FF2B5EF4-FFF2-40B4-BE49-F238E27FC236}">
                <a16:creationId xmlns:a16="http://schemas.microsoft.com/office/drawing/2014/main" id="{F19718C4-0ABE-4576-A3CB-7B43176D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Next useful step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C06D5408-B625-4105-A8C0-546F44DF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Greenhouse challenge: grow more with a water budget">
            <a:extLst xmlns:a="http://schemas.openxmlformats.org/drawingml/2006/main">
              <a:ext uri="{FF2B5EF4-FFF2-40B4-BE49-F238E27FC236}">
                <a16:creationId xmlns:a16="http://schemas.microsoft.com/office/drawing/2014/main" id="{1CF9DE86-D74F-4E68-968E-450321EB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Greenhouse challenge: grow more with a water budget</a:t>
            </a:r>
          </a:p>
        </p:txBody>
      </p:sp>
      <p:sp>
        <p:nvSpPr>
          <p:cNvPr id="9" name="15 / 15">
            <a:extLst xmlns:a="http://schemas.openxmlformats.org/drawingml/2006/main">
              <a:ext uri="{FF2B5EF4-FFF2-40B4-BE49-F238E27FC236}">
                <a16:creationId xmlns:a16="http://schemas.microsoft.com/office/drawing/2014/main" id="{AD290A9C-DED9-4F83-94AF-56315802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15 / 15</a:t>
            </a:r>
          </a:p>
        </p:txBody>
      </p:sp>
      <p:sp>
        <p:nvSpPr>
          <p:cNvPr id="10" name="Fair pair • two constraints • mechanism • uncertainty.">
            <a:extLst xmlns:a="http://schemas.openxmlformats.org/drawingml/2006/main">
              <a:ext uri="{FF2B5EF4-FFF2-40B4-BE49-F238E27FC236}">
                <a16:creationId xmlns:a16="http://schemas.microsoft.com/office/drawing/2014/main" id="{55402BEF-EF24-4499-8A4C-932A1EBA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Fair pair • two constraints • mechanism • uncertainty.</a:t>
            </a:r>
          </a:p>
        </p:txBody>
      </p:sp>
    </p:spTree>
    <p:extLst>
      <p:ext uri="{BB962C8B-B14F-4D97-AF65-F5344CB8AC3E}">
        <p14:creationId xmlns:p14="http://schemas.microsoft.com/office/powerpoint/2010/main" val="4678405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2026-09-08T23:20:31.0610000Z</dcterms:created>
  <dcterms:modified xsi:type="dcterms:W3CDTF">2026-09-08T23:20:31.0610000Z</dcterms:modified>
</coreProperties>
</file>