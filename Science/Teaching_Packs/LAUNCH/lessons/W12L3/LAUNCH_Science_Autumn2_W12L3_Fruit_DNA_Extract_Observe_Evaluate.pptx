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2c59bc214142bb" /><Relationship Type="http://schemas.openxmlformats.org/officeDocument/2006/relationships/extended-properties" Target="/docProps/app.xml" Id="R99a6c7a66da8493d" /><Relationship Type="http://schemas.openxmlformats.org/officeDocument/2006/relationships/officeDocument" Target="/ppt/presentation.xml" Id="R9ccf6403537c40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d35abecc7949a1"/>
  </p:sldMasterIdLst>
  <p:notesMasterIdLst>
    <p:notesMasterId xmlns:r="http://schemas.openxmlformats.org/officeDocument/2006/relationships" r:id="R55c49d5154c2418a"/>
  </p:notesMasterIdLst>
  <p:sldIdLst>
    <p:sldId xmlns:r="http://schemas.openxmlformats.org/officeDocument/2006/relationships" id="256" r:id="R23f91f574c534ef3"/>
    <p:sldId xmlns:r="http://schemas.openxmlformats.org/officeDocument/2006/relationships" id="257" r:id="R758dd0df385e459c"/>
    <p:sldId xmlns:r="http://schemas.openxmlformats.org/officeDocument/2006/relationships" id="258" r:id="R7af06f5a38b74f3e"/>
    <p:sldId xmlns:r="http://schemas.openxmlformats.org/officeDocument/2006/relationships" id="259" r:id="R708c312e18244347"/>
    <p:sldId xmlns:r="http://schemas.openxmlformats.org/officeDocument/2006/relationships" id="260" r:id="Rd5438cbfa3dc4860"/>
    <p:sldId xmlns:r="http://schemas.openxmlformats.org/officeDocument/2006/relationships" id="261" r:id="Rff21e9e0bc144fa8"/>
    <p:sldId xmlns:r="http://schemas.openxmlformats.org/officeDocument/2006/relationships" id="262" r:id="R0ba71a7fd58b4b5b"/>
    <p:sldId xmlns:r="http://schemas.openxmlformats.org/officeDocument/2006/relationships" id="263" r:id="Rfe42362edd584559"/>
    <p:sldId xmlns:r="http://schemas.openxmlformats.org/officeDocument/2006/relationships" id="264" r:id="Rcfa8b2ba0d894b58"/>
    <p:sldId xmlns:r="http://schemas.openxmlformats.org/officeDocument/2006/relationships" id="265" r:id="Rf4e445ff5d9243a4"/>
    <p:sldId xmlns:r="http://schemas.openxmlformats.org/officeDocument/2006/relationships" id="266" r:id="Rfb8845f042c1407b"/>
    <p:sldId xmlns:r="http://schemas.openxmlformats.org/officeDocument/2006/relationships" id="267" r:id="R4c56bada36a74aa6"/>
    <p:sldId xmlns:r="http://schemas.openxmlformats.org/officeDocument/2006/relationships" id="268" r:id="Re661eb5e517b4f6d"/>
    <p:sldId xmlns:r="http://schemas.openxmlformats.org/officeDocument/2006/relationships" id="269" r:id="Re2f62cb9fe2c4195"/>
    <p:sldId xmlns:r="http://schemas.openxmlformats.org/officeDocument/2006/relationships" id="270" r:id="R9929969fcebc463f"/>
    <p:sldId xmlns:r="http://schemas.openxmlformats.org/officeDocument/2006/relationships" id="271" r:id="R7fdf4606fe514380"/>
    <p:sldId xmlns:r="http://schemas.openxmlformats.org/officeDocument/2006/relationships" id="272" r:id="R7a7357698f3542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9b2d7487c9409d" /><Relationship Type="http://schemas.openxmlformats.org/officeDocument/2006/relationships/slideMaster" Target="/ppt/slideMasters/slideMaster1.xml" Id="R39d35abecc7949a1" /><Relationship Type="http://schemas.openxmlformats.org/officeDocument/2006/relationships/notesMaster" Target="/ppt/notesMasters/notesMaster1.xml" Id="R55c49d5154c2418a" /><Relationship Type="http://schemas.openxmlformats.org/officeDocument/2006/relationships/presProps" Target="/ppt/presProps.xml" Id="R07a755bec85e4eea" /><Relationship Type="http://schemas.openxmlformats.org/officeDocument/2006/relationships/tableStyles" Target="/ppt/tableStyles.xml" Id="Rf6c778f954af4552" /><Relationship Type="http://schemas.openxmlformats.org/officeDocument/2006/relationships/slide" Target="/ppt/slides/slide1.xml" Id="R23f91f574c534ef3" /><Relationship Type="http://schemas.openxmlformats.org/officeDocument/2006/relationships/slide" Target="/ppt/slides/slide2.xml" Id="R758dd0df385e459c" /><Relationship Type="http://schemas.openxmlformats.org/officeDocument/2006/relationships/slide" Target="/ppt/slides/slide3.xml" Id="R7af06f5a38b74f3e" /><Relationship Type="http://schemas.openxmlformats.org/officeDocument/2006/relationships/slide" Target="/ppt/slides/slide4.xml" Id="R708c312e18244347" /><Relationship Type="http://schemas.openxmlformats.org/officeDocument/2006/relationships/slide" Target="/ppt/slides/slide5.xml" Id="Rd5438cbfa3dc4860" /><Relationship Type="http://schemas.openxmlformats.org/officeDocument/2006/relationships/slide" Target="/ppt/slides/slide6.xml" Id="Rff21e9e0bc144fa8" /><Relationship Type="http://schemas.openxmlformats.org/officeDocument/2006/relationships/slide" Target="/ppt/slides/slide7.xml" Id="R0ba71a7fd58b4b5b" /><Relationship Type="http://schemas.openxmlformats.org/officeDocument/2006/relationships/slide" Target="/ppt/slides/slide8.xml" Id="Rfe42362edd584559" /><Relationship Type="http://schemas.openxmlformats.org/officeDocument/2006/relationships/slide" Target="/ppt/slides/slide9.xml" Id="Rcfa8b2ba0d894b58" /><Relationship Type="http://schemas.openxmlformats.org/officeDocument/2006/relationships/slide" Target="/ppt/slides/slide10.xml" Id="Rf4e445ff5d9243a4" /><Relationship Type="http://schemas.openxmlformats.org/officeDocument/2006/relationships/slide" Target="/ppt/slides/slide11.xml" Id="Rfb8845f042c1407b" /><Relationship Type="http://schemas.openxmlformats.org/officeDocument/2006/relationships/slide" Target="/ppt/slides/slide12.xml" Id="R4c56bada36a74aa6" /><Relationship Type="http://schemas.openxmlformats.org/officeDocument/2006/relationships/slide" Target="/ppt/slides/slide13.xml" Id="Re661eb5e517b4f6d" /><Relationship Type="http://schemas.openxmlformats.org/officeDocument/2006/relationships/slide" Target="/ppt/slides/slide14.xml" Id="Re2f62cb9fe2c4195" /><Relationship Type="http://schemas.openxmlformats.org/officeDocument/2006/relationships/slide" Target="/ppt/slides/slide15.xml" Id="R9929969fcebc463f" /><Relationship Type="http://schemas.openxmlformats.org/officeDocument/2006/relationships/slide" Target="/ppt/slides/slide16.xml" Id="R7fdf4606fe514380" /><Relationship Type="http://schemas.openxmlformats.org/officeDocument/2006/relationships/slide" Target="/ppt/slides/slide17.xml" Id="R7a7357698f3542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6ee706b71a45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ccd0353e484b22" /><Relationship Type="http://schemas.openxmlformats.org/officeDocument/2006/relationships/notesMaster" Target="/ppt/notesMasters/notesMaster1.xml" Id="R9baed99ebbe74b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6ee07a3c55489d" /><Relationship Type="http://schemas.openxmlformats.org/officeDocument/2006/relationships/notesMaster" Target="/ppt/notesMasters/notesMaster1.xml" Id="Rece9c66be7e840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4ee975b7ef4de0" /><Relationship Type="http://schemas.openxmlformats.org/officeDocument/2006/relationships/notesMaster" Target="/ppt/notesMasters/notesMaster1.xml" Id="R3d09462adbdb42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c42af805ca4c52" /><Relationship Type="http://schemas.openxmlformats.org/officeDocument/2006/relationships/notesMaster" Target="/ppt/notesMasters/notesMaster1.xml" Id="Raad5c9a8e36c40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b305318ff04950" /><Relationship Type="http://schemas.openxmlformats.org/officeDocument/2006/relationships/notesMaster" Target="/ppt/notesMasters/notesMaster1.xml" Id="R1cb46f0108934b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fdb4c49ecd4ba4" /><Relationship Type="http://schemas.openxmlformats.org/officeDocument/2006/relationships/notesMaster" Target="/ppt/notesMasters/notesMaster1.xml" Id="Re1d1415a9d9c47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2c0cab7b4446f6" /><Relationship Type="http://schemas.openxmlformats.org/officeDocument/2006/relationships/notesMaster" Target="/ppt/notesMasters/notesMaster1.xml" Id="Ra3960971dfde46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23b53202dc4389" /><Relationship Type="http://schemas.openxmlformats.org/officeDocument/2006/relationships/notesMaster" Target="/ppt/notesMasters/notesMaster1.xml" Id="Red1cdce2240a40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75c283650b4888" /><Relationship Type="http://schemas.openxmlformats.org/officeDocument/2006/relationships/notesMaster" Target="/ppt/notesMasters/notesMaster1.xml" Id="Rc8665f2920d343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8a29439b9f48fe" /><Relationship Type="http://schemas.openxmlformats.org/officeDocument/2006/relationships/notesMaster" Target="/ppt/notesMasters/notesMaster1.xml" Id="R9599d2e44b7047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2c917febfd4e65" /><Relationship Type="http://schemas.openxmlformats.org/officeDocument/2006/relationships/notesMaster" Target="/ppt/notesMasters/notesMaster1.xml" Id="Re8ee9dcb824c4c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edafefd40e426e" /><Relationship Type="http://schemas.openxmlformats.org/officeDocument/2006/relationships/notesMaster" Target="/ppt/notesMasters/notesMaster1.xml" Id="Rd004d5191d4749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165965c4a444d2" /><Relationship Type="http://schemas.openxmlformats.org/officeDocument/2006/relationships/notesMaster" Target="/ppt/notesMasters/notesMaster1.xml" Id="R509e22faf4fd49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913bed526a4f8e" /><Relationship Type="http://schemas.openxmlformats.org/officeDocument/2006/relationships/notesMaster" Target="/ppt/notesMasters/notesMaster1.xml" Id="R44986ed113bf411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3e9f5e63c34417" /><Relationship Type="http://schemas.openxmlformats.org/officeDocument/2006/relationships/notesMaster" Target="/ppt/notesMasters/notesMaster1.xml" Id="R7ff5e629e9dc4c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9b322dd5074bd7" /><Relationship Type="http://schemas.openxmlformats.org/officeDocument/2006/relationships/notesMaster" Target="/ppt/notesMasters/notesMaster1.xml" Id="Rc9ada27fb3b94d2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84e2358ef94264" /><Relationship Type="http://schemas.openxmlformats.org/officeDocument/2006/relationships/notesMaster" Target="/ppt/notesMasters/notesMaster1.xml" Id="R607c8fe6bdb441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SCI_L_W12L3_Fruit_DNA_Evidence_Do.html.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12 · Do</a:t>
            </a:r>
          </a:p>
          <a:p xmlns:a="http://schemas.openxmlformats.org/drawingml/2006/main">
            <a:r>
              <a:t>Learning objective: I can explain the steps in fruit-DNA extraction, record an observation and evaluate the evidence cautiously.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order the extraction method and explain the role of detergent, salt, filtration and cold ethanol.</a:t>
            </a:r>
          </a:p>
          <a:p xmlns:a="http://schemas.openxmlformats.org/drawingml/2006/main">
            <a:r>
              <a:t>I can record the precipitate observation without calling it pure DNA.</a:t>
            </a:r>
          </a:p>
          <a:p xmlns:a="http://schemas.openxmlformats.org/drawingml/2006/main">
            <a:r>
              <a:t>I can connect extracted DNA to chromosomes and genes and state a method limitation.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SCI_L_W12L3_Fruit_DNA_Evidence_Do.html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SCI_L_W12L3_Fruit_DNA_Evidence_Do.html.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12 · Do</a:t>
            </a:r>
          </a:p>
          <a:p xmlns:a="http://schemas.openxmlformats.org/drawingml/2006/main">
            <a:r>
              <a:t>Learning objective: I can explain the steps in fruit-DNA extraction, record an observation and evaluate the evidence cautiously.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order the extraction method and explain the role of detergent, salt, filtration and cold ethanol.</a:t>
            </a:r>
          </a:p>
          <a:p xmlns:a="http://schemas.openxmlformats.org/drawingml/2006/main">
            <a:r>
              <a:t>I can record the precipitate observation without calling it pure DNA.</a:t>
            </a:r>
          </a:p>
          <a:p xmlns:a="http://schemas.openxmlformats.org/drawingml/2006/main">
            <a:r>
              <a:t>I can connect extracted DNA to chromosomes and genes and state a method limitation.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SCI_L_W12L3_Fruit_DNA_Evidence_Do.html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SCI_L_W12L3_Fruit_DNA_Evidence_Do.html.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W12L2: DNA has two complementary strands coiled into a double helix.</a:t>
            </a:r>
          </a:p>
          <a:p xmlns:a="http://schemas.openxmlformats.org/drawingml/2006/main">
            <a:r>
              <a:t>W12L1: chromosomes contain DNA and genes are sections of DNA.</a:t>
            </a:r>
          </a:p>
          <a:p xmlns:a="http://schemas.openxmlformats.org/drawingml/2006/main">
            <a:r>
              <a:t>W5: a method needs controlled handling and honest evaluation.</a:t>
            </a:r>
          </a:p>
          <a:p xmlns:a="http://schemas.openxmlformats.org/drawingml/2006/main">
            <a:r>
              <a:t>Lead-in: why would a white precipitate not prove that a sample is pure DNA?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Describe complementary base pairing.</a:t>
            </a:r>
          </a:p>
          <a:p xmlns:a="http://schemas.openxmlformats.org/drawingml/2006/main">
            <a:r>
              <a:t>State the chromosome-DNA-gene relationship.</a:t>
            </a:r>
          </a:p>
          <a:p xmlns:a="http://schemas.openxmlformats.org/drawingml/2006/main">
            <a:r>
              <a:t>Explain what filtration separates.</a:t>
            </a:r>
          </a:p>
          <a:p xmlns:a="http://schemas.openxmlformats.org/drawingml/2006/main">
            <a:r>
              <a:t>Lead-in: why is observation different from identification?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SCI_L_W12L3_Fruit_DNA_Evidence_Do.html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SCI_L_W12L3_Fruit_DNA_Evidence_Do.html.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RELEASE · disrupt membranes</a:t>
            </a:r>
          </a:p>
          <a:p xmlns:a="http://schemas.openxmlformats.org/drawingml/2006/main">
            <a:r>
              <a:t>Get the DNA out of the cells.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SEPARATE · filter solids</a:t>
            </a:r>
          </a:p>
          <a:p xmlns:a="http://schemas.openxmlformats.org/drawingml/2006/main">
            <a:r>
              <a:t>Keep the liquid.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PRECIPITATE · cold ethanol</a:t>
            </a:r>
          </a:p>
          <a:p xmlns:a="http://schemas.openxmlformats.org/drawingml/2006/main">
            <a:r>
              <a:t>Adult adds ice-cold ethanol slowly. DNA is insoluble in it, so it comes out of solution.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The material is pure DNA and nothing else.</a:t>
            </a:r>
          </a:p>
          <a:p xmlns:a="http://schemas.openxmlformats.org/drawingml/2006/main">
            <a:r>
              <a:t>A DNA-containing precipitate formed; the appearance alone does not show purity.</a:t>
            </a:r>
          </a:p>
          <a:p xmlns:a="http://schemas.openxmlformats.org/drawingml/2006/main">
            <a:r>
              <a:t>Fruit cannot contain DNA because it is not an animal.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SCI_L_W12L3_Fruit_DNA_Evidence_Do.html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SCI_L_W12L3_Fruit_DNA_Evidence_Do.html.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RELEASE · disrupt membranes</a:t>
            </a:r>
          </a:p>
          <a:p xmlns:a="http://schemas.openxmlformats.org/drawingml/2006/main">
            <a:r>
              <a:t>Get the DNA out of the cells.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SEPARATE · filter solids</a:t>
            </a:r>
          </a:p>
          <a:p xmlns:a="http://schemas.openxmlformats.org/drawingml/2006/main">
            <a:r>
              <a:t>Keep the liquid.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PRECIPITATE · cold ethanol</a:t>
            </a:r>
          </a:p>
          <a:p xmlns:a="http://schemas.openxmlformats.org/drawingml/2006/main">
            <a:r>
              <a:t>Adult adds ice-cold ethanol slowly. DNA is insoluble in it, so it comes out of solution.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The material is pure DNA and nothing else.</a:t>
            </a:r>
          </a:p>
          <a:p xmlns:a="http://schemas.openxmlformats.org/drawingml/2006/main">
            <a:r>
              <a:t>A DNA-containing precipitate formed; the appearance alone does not show purity.</a:t>
            </a:r>
          </a:p>
          <a:p xmlns:a="http://schemas.openxmlformats.org/drawingml/2006/main">
            <a:r>
              <a:t>Fruit cannot contain DNA because it is not an animal.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SCI_L_W12L3_Fruit_DNA_Evidence_Do.html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SCI_L_W12L3_Fruit_DNA_Evidence_Do.html.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RELEASE · disrupt membranes</a:t>
            </a:r>
          </a:p>
          <a:p xmlns:a="http://schemas.openxmlformats.org/drawingml/2006/main">
            <a:r>
              <a:t>Get the DNA out of the cells.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SEPARATE · filter solids</a:t>
            </a:r>
          </a:p>
          <a:p xmlns:a="http://schemas.openxmlformats.org/drawingml/2006/main">
            <a:r>
              <a:t>Keep the liquid.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PRECIPITATE · cold ethanol</a:t>
            </a:r>
          </a:p>
          <a:p xmlns:a="http://schemas.openxmlformats.org/drawingml/2006/main">
            <a:r>
              <a:t>Adult adds ice-cold ethanol slowly. DNA is insoluble in it, so it comes out of solution.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The material is pure DNA and nothing else.</a:t>
            </a:r>
          </a:p>
          <a:p xmlns:a="http://schemas.openxmlformats.org/drawingml/2006/main">
            <a:r>
              <a:t>A DNA-containing precipitate formed; the appearance alone does not show purity.</a:t>
            </a:r>
          </a:p>
          <a:p xmlns:a="http://schemas.openxmlformats.org/drawingml/2006/main">
            <a:r>
              <a:t>Fruit cannot contain DNA because it is not an animal.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SCI_L_W12L3_Fruit_DNA_Evidence_Do.html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SCI_L_W12L3_Fruit_DNA_Evidence_Do.html.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FILTRATE liquid through the filter the liquid that passes through filter paper or mesh</a:t>
            </a:r>
          </a:p>
          <a:p xmlns:a="http://schemas.openxmlformats.org/drawingml/2006/main">
            <a:r>
              <a:t>PRECIPITATE material appearing from solution a substance that forms as a visible solid from a solution</a:t>
            </a:r>
          </a:p>
          <a:p xmlns:a="http://schemas.openxmlformats.org/drawingml/2006/main">
            <a:r>
              <a:t>EXTRACT remove from a mixture to separate a substance from material containing it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visible method sequence links cell structures to separation techniques and makes observation-versus-inference explicit.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Mash the fruit with salt-detergent solution: detergent disrupts cell and nuclear membranes, while salt helps DNA strands clump together.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Filter the mixture; collect the filtrate while larger fruit solids remain behind.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An adult slowly adds ice-cold ethanol. With salt present, DNA is insoluble in the ethanol and precipitates as DNA-containing material; record any white/stringy precipitate without claiming purity.</a:t>
            </a:r>
          </a:p>
          <a:p xmlns:a="http://schemas.openxmlformats.org/drawingml/2006/main">
            <a:r>
              <a:t>Extraction sequencer + cautious evaluation</a:t>
            </a:r>
          </a:p>
          <a:p xmlns:a="http://schemas.openxmlformats.org/drawingml/2006/main">
            <a:r>
              <a:t>filter and keep the liquid</a:t>
            </a:r>
          </a:p>
          <a:p xmlns:a="http://schemas.openxmlformats.org/drawingml/2006/main">
            <a:r>
              <a:t>mash fruit with salt and detergent</a:t>
            </a:r>
          </a:p>
          <a:p xmlns:a="http://schemas.openxmlformats.org/drawingml/2006/main">
            <a:r>
              <a:t>adult adds ice-cold ethanol slowly</a:t>
            </a:r>
          </a:p>
          <a:p xmlns:a="http://schemas.openxmlformats.org/drawingml/2006/main">
            <a:r>
              <a:t>warm gently, then cool</a:t>
            </a:r>
          </a:p>
          <a:p xmlns:a="http://schemas.openxmlformats.org/drawingml/2006/main">
            <a:r>
              <a:t>white strands collect at the boundary</a:t>
            </a:r>
          </a:p>
          <a:p xmlns:a="http://schemas.openxmlformats.org/drawingml/2006/main">
            <a:r>
              <a:t>Order: —</a:t>
            </a:r>
          </a:p>
          <a:p xmlns:a="http://schemas.openxmlformats.org/drawingml/2006/main">
            <a:r>
              <a:t>Which conclusion is cautious enough?</a:t>
            </a:r>
          </a:p>
          <a:p xmlns:a="http://schemas.openxmlformats.org/drawingml/2006/main">
            <a:r>
              <a:t>“We saw pure fruit DNA.”</a:t>
            </a:r>
          </a:p>
          <a:p xmlns:a="http://schemas.openxmlformats.org/drawingml/2006/main">
            <a:r>
              <a:t>“The method produced white stringy material consistent with DNA; it is not proof of pure DNA.”</a:t>
            </a:r>
          </a:p>
          <a:p xmlns:a="http://schemas.openxmlformats.org/drawingml/2006/main">
            <a:r>
              <a:t>Say what you saw, then what it is consistent with.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SCI_L_W12L3_Fruit_DNA_Evidence_Do.html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SCI_L_W12L3_Fruit_DNA_Evidence_Do.html.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FILTRATE liquid through the filter the liquid that passes through filter paper or mesh</a:t>
            </a:r>
          </a:p>
          <a:p xmlns:a="http://schemas.openxmlformats.org/drawingml/2006/main">
            <a:r>
              <a:t>PRECIPITATE material appearing from solution a substance that forms as a visible solid from a solution</a:t>
            </a:r>
          </a:p>
          <a:p xmlns:a="http://schemas.openxmlformats.org/drawingml/2006/main">
            <a:r>
              <a:t>EXTRACT remove from a mixture to separate a substance from material containing it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visible method sequence links cell structures to separation techniques and makes observation-versus-inference explicit.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Mash the fruit with salt-detergent solution: detergent disrupts cell and nuclear membranes, while salt helps DNA strands clump together.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Filter the mixture; collect the filtrate while larger fruit solids remain behind.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An adult slowly adds ice-cold ethanol. With salt present, DNA is insoluble in the ethanol and precipitates as DNA-containing material; record any white/stringy precipitate without claiming purity.</a:t>
            </a:r>
          </a:p>
          <a:p xmlns:a="http://schemas.openxmlformats.org/drawingml/2006/main">
            <a:r>
              <a:t>Extraction sequencer + cautious evaluation</a:t>
            </a:r>
          </a:p>
          <a:p xmlns:a="http://schemas.openxmlformats.org/drawingml/2006/main">
            <a:r>
              <a:t>filter and keep the liquid</a:t>
            </a:r>
          </a:p>
          <a:p xmlns:a="http://schemas.openxmlformats.org/drawingml/2006/main">
            <a:r>
              <a:t>mash fruit with salt and detergent</a:t>
            </a:r>
          </a:p>
          <a:p xmlns:a="http://schemas.openxmlformats.org/drawingml/2006/main">
            <a:r>
              <a:t>adult adds ice-cold ethanol slowly</a:t>
            </a:r>
          </a:p>
          <a:p xmlns:a="http://schemas.openxmlformats.org/drawingml/2006/main">
            <a:r>
              <a:t>warm gently, then cool</a:t>
            </a:r>
          </a:p>
          <a:p xmlns:a="http://schemas.openxmlformats.org/drawingml/2006/main">
            <a:r>
              <a:t>white strands collect at the boundary</a:t>
            </a:r>
          </a:p>
          <a:p xmlns:a="http://schemas.openxmlformats.org/drawingml/2006/main">
            <a:r>
              <a:t>Order: —</a:t>
            </a:r>
          </a:p>
          <a:p xmlns:a="http://schemas.openxmlformats.org/drawingml/2006/main">
            <a:r>
              <a:t>Which conclusion is cautious enough?</a:t>
            </a:r>
          </a:p>
          <a:p xmlns:a="http://schemas.openxmlformats.org/drawingml/2006/main">
            <a:r>
              <a:t>“We saw pure fruit DNA.”</a:t>
            </a:r>
          </a:p>
          <a:p xmlns:a="http://schemas.openxmlformats.org/drawingml/2006/main">
            <a:r>
              <a:t>“The method produced white stringy material consistent with DNA; it is not proof of pure DNA.”</a:t>
            </a:r>
          </a:p>
          <a:p xmlns:a="http://schemas.openxmlformats.org/drawingml/2006/main">
            <a:r>
              <a:t>Say what you saw, then what it is consistent with.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SCI_L_W12L3_Fruit_DNA_Evidence_Do.html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SCI_L_W12L3_Fruit_DNA_Evidence_Do.html. We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To disrupt cell and nuclear membranes so DNA can be released.</a:t>
            </a:r>
          </a:p>
          <a:p xmlns:a="http://schemas.openxmlformats.org/drawingml/2006/main">
            <a:r>
              <a:t>To colour each DNA base.</a:t>
            </a:r>
          </a:p>
          <a:p xmlns:a="http://schemas.openxmlformats.org/drawingml/2006/main">
            <a:r>
              <a:t>To copy genes by mitosis in the tube.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SCI_L_W12L3_Fruit_DNA_Evidence_Do.html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SCI_L_W12L3_Fruit_DNA_Evidence_Do.html.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Observation: describe colour, location and texture without writing 'pure DNA'.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Inference: the extraction method is expected to produce DNA-containing material, but appearance alone cannot identify every component.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Connection: the extracted DNA came from fruit-cell chromosomes and contains many genes; the extraction does not reveal individual genes or base sequence.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visible method sequence links cell structures to separation techniques and makes observation-versus-inference explicit.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SCI_L_W12L3_Fruit_DNA_Evidence_Do.html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SCI_L_W12L3_Fruit_DNA_Evidence_Do.html.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Observation: describe colour, location and texture without writing 'pure DNA'.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Inference: the extraction method is expected to produce DNA-containing material, but appearance alone cannot identify every component.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Connection: the extracted DNA came from fruit-cell chromosomes and contains many genes; the extraction does not reveal individual genes or base sequence.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visible method sequence links cell structures to separation techniques and makes observation-versus-inference explicit.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SCI_L_W12L3_Fruit_DNA_Evidence_Do.html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SCI_L_W12L3_Fruit_DNA_Evidence_Do.html.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each statement after the practical or parity dataset, then repair any overclaim.</a:t>
            </a:r>
          </a:p>
          <a:p xmlns:a="http://schemas.openxmlformats.org/drawingml/2006/main">
            <a:r>
              <a:t>METHOD OBSERVE INFER LIMIT CONNECT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White strands White stringy material appeared at the liquid boundary.</a:t>
            </a:r>
          </a:p>
          <a:p xmlns:a="http://schemas.openxmlformats.org/drawingml/2006/main">
            <a:r>
              <a:t>DNA-containing material The method and expected chemistry support that the precipitate contains DNA.</a:t>
            </a:r>
          </a:p>
          <a:p xmlns:a="http://schemas.openxmlformats.org/drawingml/2006/main">
            <a:r>
              <a:t>Purity unknown The white material may contain substances other than DNA.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DIRECT OBSERVATION</a:t>
            </a:r>
          </a:p>
          <a:p xmlns:a="http://schemas.openxmlformats.org/drawingml/2006/main">
            <a:r>
              <a:t>SCIENTIFIC INFERENCE</a:t>
            </a:r>
          </a:p>
          <a:p xmlns:a="http://schemas.openxmlformats.org/drawingml/2006/main">
            <a:r>
              <a:t>METHOD LIMITATION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The white material proves that a pure gene has been seen.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a gene is visible as one white strand.</a:t>
            </a:r>
          </a:p>
          <a:p xmlns:a="http://schemas.openxmlformats.org/drawingml/2006/main">
            <a:r>
              <a:t>Repair it: the precipitate contains DNA, may contain other material and does not reveal individual genes.</a:t>
            </a:r>
          </a:p>
          <a:p xmlns:a="http://schemas.openxmlformats.org/drawingml/2006/main">
            <a:r>
              <a:t>Repair it: only animal cells contain DNA.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SCI_L_W12L3_Fruit_DNA_Evidence_Do.html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SCI_L_W12L3_Fruit_DNA_Evidence_Do.html.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each statement after the practical or parity dataset, then repair any overclaim.</a:t>
            </a:r>
          </a:p>
          <a:p xmlns:a="http://schemas.openxmlformats.org/drawingml/2006/main">
            <a:r>
              <a:t>METHOD OBSERVE INFER LIMIT CONNECT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White strands White stringy material appeared at the liquid boundary.</a:t>
            </a:r>
          </a:p>
          <a:p xmlns:a="http://schemas.openxmlformats.org/drawingml/2006/main">
            <a:r>
              <a:t>DNA-containing material The method and expected chemistry support that the precipitate contains DNA.</a:t>
            </a:r>
          </a:p>
          <a:p xmlns:a="http://schemas.openxmlformats.org/drawingml/2006/main">
            <a:r>
              <a:t>Purity unknown The white material may contain substances other than DNA.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DIRECT OBSERVATION</a:t>
            </a:r>
          </a:p>
          <a:p xmlns:a="http://schemas.openxmlformats.org/drawingml/2006/main">
            <a:r>
              <a:t>SCIENTIFIC INFERENCE</a:t>
            </a:r>
          </a:p>
          <a:p xmlns:a="http://schemas.openxmlformats.org/drawingml/2006/main">
            <a:r>
              <a:t>METHOD LIMITATION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The white material proves that a pure gene has been seen.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a gene is visible as one white strand.</a:t>
            </a:r>
          </a:p>
          <a:p xmlns:a="http://schemas.openxmlformats.org/drawingml/2006/main">
            <a:r>
              <a:t>Repair it: the precipitate contains DNA, may contain other material and does not reveal individual genes.</a:t>
            </a:r>
          </a:p>
          <a:p xmlns:a="http://schemas.openxmlformats.org/drawingml/2006/main">
            <a:r>
              <a:t>Repair it: only animal cells contain DNA.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SCI_L_W12L3_Fruit_DNA_Evidence_Do.html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SCI_L_W12L3_Fruit_DNA_Evidence_Do.html.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each statement after the practical or parity dataset, then repair any overclaim.</a:t>
            </a:r>
          </a:p>
          <a:p xmlns:a="http://schemas.openxmlformats.org/drawingml/2006/main">
            <a:r>
              <a:t>METHOD OBSERVE INFER LIMIT CONNECT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White strands White stringy material appeared at the liquid boundary.</a:t>
            </a:r>
          </a:p>
          <a:p xmlns:a="http://schemas.openxmlformats.org/drawingml/2006/main">
            <a:r>
              <a:t>DNA-containing material The method and expected chemistry support that the precipitate contains DNA.</a:t>
            </a:r>
          </a:p>
          <a:p xmlns:a="http://schemas.openxmlformats.org/drawingml/2006/main">
            <a:r>
              <a:t>Purity unknown The white material may contain substances other than DNA.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DIRECT OBSERVATION</a:t>
            </a:r>
          </a:p>
          <a:p xmlns:a="http://schemas.openxmlformats.org/drawingml/2006/main">
            <a:r>
              <a:t>SCIENTIFIC INFERENCE</a:t>
            </a:r>
          </a:p>
          <a:p xmlns:a="http://schemas.openxmlformats.org/drawingml/2006/main">
            <a:r>
              <a:t>METHOD LIMITATION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The white material proves that a pure gene has been seen.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a gene is visible as one white strand.</a:t>
            </a:r>
          </a:p>
          <a:p xmlns:a="http://schemas.openxmlformats.org/drawingml/2006/main">
            <a:r>
              <a:t>Repair it: the precipitate contains DNA, may contain other material and does not reveal individual genes.</a:t>
            </a:r>
          </a:p>
          <a:p xmlns:a="http://schemas.openxmlformats.org/drawingml/2006/main">
            <a:r>
              <a:t>Repair it: only animal cells contain DNA.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SCI_L_W12L3_Fruit_DNA_Evidence_Do.html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SCI_L_W12L3_Fruit_DNA_Evidence_Do.html.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Adult-prepared fruit, salt-detergent solution, sealable bag, filter/mesh, clear tube, cold ethanol controlled by an adult, tray and observation sheet.</a:t>
            </a:r>
          </a:p>
          <a:p xmlns:a="http://schemas.openxmlformats.org/drawingml/2006/main">
            <a:r>
              <a:t>Same outcome: I can explain the steps in fruit-DNA extraction, record an observation and evaluate the evidence cautiously.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included method sequence and parity observations from a successful and weak extraction; classify observation, inference and limitation.</a:t>
            </a:r>
          </a:p>
          <a:p xmlns:a="http://schemas.openxmlformats.org/drawingml/2006/main">
            <a:r>
              <a:t>Same evidence: An ordered method, precise observation, DNA/chromosome/gene connection and one valid evaluation point.</a:t>
            </a:r>
          </a:p>
          <a:p xmlns:a="http://schemas.openxmlformats.org/drawingml/2006/main">
            <a:r>
              <a:t>Equipment / setup Adult-prepared fruit, salt-detergent solution, sealable bag, filter/mesh, clear tube, cold ethanol controlled by an adult, tray and observation sheet.</a:t>
            </a:r>
          </a:p>
          <a:p xmlns:a="http://schemas.openxmlformats.org/drawingml/2006/main">
            <a:r>
              <a:t>Safety / sensory Local risk assessment required. Ethanol is flammable and adult-handled only; keep away from flames/heat. Wear eye protection as locally required. Do not taste or touch materials; wash hands and clear spills promptly.</a:t>
            </a:r>
          </a:p>
          <a:p xmlns:a="http://schemas.openxmlformats.org/drawingml/2006/main">
            <a:r>
              <a:t>Offline parity Use the included method sequence and parity observations from a successful and weak extraction; classify observation, inference and limitation.</a:t>
            </a:r>
          </a:p>
          <a:p xmlns:a="http://schemas.openxmlformats.org/drawingml/2006/main">
            <a:r>
              <a:t>No-equipment/access route: The pupil directs each method step while an adult handles all liquids, or analyses the parity dataset. Direction, observation and evaluation remain the assessed Science.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Record method and observation, explain two reagent/separation roles and evaluate one limitation.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Observation → Inference → Limitation headings.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SCI_L_W12L3_Fruit_DNA_Evidence_Do.html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SCI_L_W12L3_Fruit_DNA_Evidence_Do.html.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Adult-prepared fruit, salt-detergent solution, sealable bag, filter/mesh, clear tube, cold ethanol controlled by an adult, tray and observation sheet.</a:t>
            </a:r>
          </a:p>
          <a:p xmlns:a="http://schemas.openxmlformats.org/drawingml/2006/main">
            <a:r>
              <a:t>Same outcome: I can explain the steps in fruit-DNA extraction, record an observation and evaluate the evidence cautiously.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included method sequence and parity observations from a successful and weak extraction; classify observation, inference and limitation.</a:t>
            </a:r>
          </a:p>
          <a:p xmlns:a="http://schemas.openxmlformats.org/drawingml/2006/main">
            <a:r>
              <a:t>Same evidence: An ordered method, precise observation, DNA/chromosome/gene connection and one valid evaluation point.</a:t>
            </a:r>
          </a:p>
          <a:p xmlns:a="http://schemas.openxmlformats.org/drawingml/2006/main">
            <a:r>
              <a:t>Equipment / setup Adult-prepared fruit, salt-detergent solution, sealable bag, filter/mesh, clear tube, cold ethanol controlled by an adult, tray and observation sheet.</a:t>
            </a:r>
          </a:p>
          <a:p xmlns:a="http://schemas.openxmlformats.org/drawingml/2006/main">
            <a:r>
              <a:t>Safety / sensory Local risk assessment required. Ethanol is flammable and adult-handled only; keep away from flames/heat. Wear eye protection as locally required. Do not taste or touch materials; wash hands and clear spills promptly.</a:t>
            </a:r>
          </a:p>
          <a:p xmlns:a="http://schemas.openxmlformats.org/drawingml/2006/main">
            <a:r>
              <a:t>Offline parity Use the included method sequence and parity observations from a successful and weak extraction; classify observation, inference and limitation.</a:t>
            </a:r>
          </a:p>
          <a:p xmlns:a="http://schemas.openxmlformats.org/drawingml/2006/main">
            <a:r>
              <a:t>No-equipment/access route: The pupil directs each method step while an adult handles all liquids, or analyses the parity dataset. Direction, observation and evaluation remain the assessed Science.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Record method and observation, explain two reagent/separation roles and evaluate one limitation.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Observation → Inference → Limitation headings.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SCI_L_W12L3_Fruit_DNA_Evidence_Do.html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SCI_L_W12L3_Fruit_DNA_Evidence_Do.html.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next move; the pupil edits or re-attempts on the existing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precipitate is not purified DNA, yield is not measured accurately by appearance and the activity cannot show a gene, base pair or double helix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Why is 'DNA-containing precipitate' better than 'pure DNA'?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I changed / next I will …</a:t>
            </a:r>
          </a:p>
          <a:p xmlns:a="http://schemas.openxmlformats.org/drawingml/2006/main">
            <a:r>
              <a:t>Adult feedback that produced the edit / re-attempt: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SCI_L_W12L3_Fruit_DNA_Evidence_Do.html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50771cd2a842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67d498aa63493d" /><Relationship Type="http://schemas.openxmlformats.org/officeDocument/2006/relationships/slideLayout" Target="/ppt/slideLayouts/slideLayout1.xml" Id="R1f2ef78e7d4e4c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2ef78e7d4e4c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484d97b7c424d" /><Relationship Type="http://schemas.openxmlformats.org/officeDocument/2006/relationships/hyperlink" Target="SCI_L_W12L3_Fruit_DNA_Evidence_Do.html" TargetMode="External" Id="Ra6a3554534574181" /><Relationship Type="http://schemas.openxmlformats.org/officeDocument/2006/relationships/notesSlide" Target="/ppt/notesSlides/notesSlide1.xml" Id="R07e9adb96caf48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b48668c474cac" /><Relationship Type="http://schemas.openxmlformats.org/officeDocument/2006/relationships/notesSlide" Target="/ppt/notesSlides/notesSlide2.xml" Id="Re907ce0336fb47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7abf0f6f74c3b" /><Relationship Type="http://schemas.openxmlformats.org/officeDocument/2006/relationships/notesSlide" Target="/ppt/notesSlides/notesSlide3.xml" Id="R9596947b18b943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88510479846d7" /><Relationship Type="http://schemas.openxmlformats.org/officeDocument/2006/relationships/notesSlide" Target="/ppt/notesSlides/notesSlide4.xml" Id="Rffd110af97bb41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c024dbb304b3d" /><Relationship Type="http://schemas.openxmlformats.org/officeDocument/2006/relationships/notesSlide" Target="/ppt/notesSlides/notesSlide5.xml" Id="R706fe5e9394046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eeebbc49748b9" /><Relationship Type="http://schemas.openxmlformats.org/officeDocument/2006/relationships/image" Target="/ppt/media/image.png" Id="Rf6a7924b698c4ed9" /><Relationship Type="http://schemas.openxmlformats.org/officeDocument/2006/relationships/image" Target="/ppt/media/image2.png" Id="R66587049a2434e2a" /><Relationship Type="http://schemas.openxmlformats.org/officeDocument/2006/relationships/image" Target="/ppt/media/image3.png" Id="R9b7eeb674b2644f5" /><Relationship Type="http://schemas.openxmlformats.org/officeDocument/2006/relationships/notesSlide" Target="/ppt/notesSlides/notesSlide6.xml" Id="R55fb8d3d94b14d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cf71cbacd4081" /><Relationship Type="http://schemas.openxmlformats.org/officeDocument/2006/relationships/notesSlide" Target="/ppt/notesSlides/notesSlide7.xml" Id="Rc01924f7adab4b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4923dd4a74a33" /><Relationship Type="http://schemas.openxmlformats.org/officeDocument/2006/relationships/notesSlide" Target="/ppt/notesSlides/notesSlide8.xml" Id="R4c5ea97f26e243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3227f8de84d2f" /><Relationship Type="http://schemas.openxmlformats.org/officeDocument/2006/relationships/notesSlide" Target="/ppt/notesSlides/notesSlide9.xml" Id="R0209abf04f734f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bb86fb44a467e" /><Relationship Type="http://schemas.openxmlformats.org/officeDocument/2006/relationships/notesSlide" Target="/ppt/notesSlides/notesSlide10.xml" Id="Rc32d3b055b4c4d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e6df6f9244d81" /><Relationship Type="http://schemas.openxmlformats.org/officeDocument/2006/relationships/notesSlide" Target="/ppt/notesSlides/notesSlide11.xml" Id="R8dc21d76b59244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497744669416a" /><Relationship Type="http://schemas.openxmlformats.org/officeDocument/2006/relationships/notesSlide" Target="/ppt/notesSlides/notesSlide12.xml" Id="Re661c2b9bfde4d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c8c9853d74a5d" /><Relationship Type="http://schemas.openxmlformats.org/officeDocument/2006/relationships/notesSlide" Target="/ppt/notesSlides/notesSlide13.xml" Id="R53b47ca12de945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7b293a5e84af1" /><Relationship Type="http://schemas.openxmlformats.org/officeDocument/2006/relationships/notesSlide" Target="/ppt/notesSlides/notesSlide14.xml" Id="R27b5e4d83a0441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47810462c4307" /><Relationship Type="http://schemas.openxmlformats.org/officeDocument/2006/relationships/notesSlide" Target="/ppt/notesSlides/notesSlide15.xml" Id="Rd34f4510aba54c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b6bf1a8a34ee3" /><Relationship Type="http://schemas.openxmlformats.org/officeDocument/2006/relationships/notesSlide" Target="/ppt/notesSlides/notesSlide16.xml" Id="Rf561d47561a4474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76aa6c1224dcc" /><Relationship Type="http://schemas.openxmlformats.org/officeDocument/2006/relationships/notesSlide" Target="/ppt/notesSlides/notesSlide17.xml" Id="Re4d33dbca22444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9729E030-6CC6-4D8E-9075-18626A38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1C05AC6-F439-4057-B283-1AF09A7B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7A1DAE0-1263-4C68-B5E1-938CDF01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5ED8E3-5EBE-46A8-ACA1-C1E6863D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Fruit DNA: Extract, Observe, Evaluate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FE72302-506B-412F-B268-0A52472D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9B46299D-60B3-4646-90A5-F320C3A9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explain the steps in fruit-DNA extraction, record an observation and evaluate the evidence cautiously.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C18FFE28-9F99-4B8F-A4A2-22831386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ACA82498-1BF2-4CFC-87E5-0F2A5017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542FC173-8561-41C4-8AB9-24E845FE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release, filter, precipitate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D5B4106B-9383-4FFB-B40C-BC0A6AD6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DE00D154-B17F-4A27-AE0D-067EF866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A340CF90-9AD7-4D85-94E4-FDF1EC3A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record, do not overclaim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B0A5282B-EA54-4CC1-85C6-88385A4E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64BDD1C7-4311-4B19-AC7E-739864CB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297B1A99-F192-4746-A4A2-3290685B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DNA carries genes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4313E01A-ECDB-4848-AB64-1BD0721F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A5C9E"/>
                </a:solidFill>
                <a:latin typeface="Arial"/>
                <a:ea typeface="Arial"/>
                <a:cs typeface="Arial"/>
                <a:hlinkClick xmlns:r="http://schemas.openxmlformats.org/officeDocument/2006/relationships" r:id="Ra6a3554534574181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08D126A7-AFCB-40F8-9116-A72A41BE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59D69AD4-D5E6-44E0-BAF2-5C44C6C2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1169712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04F28E9A-D070-4726-BAE0-9574D468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3D8FC10-9439-465B-9C8D-2909FD69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86FD411-7D65-4ED2-9244-2896BA92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792935D-8B94-4DA8-A054-3FB96239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8AA1C38-28FD-4B11-A922-268EBB00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65E08E3-3519-457C-91D0-74CFACF2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order the extraction method and explain the role of detergent, salt, filtration and cold ethanol.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0533E76-3264-47EF-96B2-741D9BB5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record the precipitate observation without calling it pure DNA.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6F76519-625D-446D-AEE2-85DF8573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connect extracted DNA to chromosomes and genes and state a method limitation.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7AB1596C-3CCB-42C1-B769-35941EE8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2DA53792-FE19-478A-A044-A7E2ECC3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1538554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2E49A9C8-37D5-41E5-9D26-BEB51434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9E5F6AF-37DC-4836-A28D-7E6CCCBC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0A46DDC-02AB-4168-9895-C88050A8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E345DE-CEF2-4AAE-8D79-9515EF4F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DFBCDB7-9240-429F-A9CD-589E91CA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C7451C7-66E0-4915-B3B8-B072FEDE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Describe complementary base pairing.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CAB6C35-B06A-4C72-923C-8D093E8F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the chromosome-DNA-gene relationship.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5E9B2E7-3D6C-46C8-A3A6-3554196D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what filtration separates.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3C277F4-B66C-463F-81CE-64FA7F3B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why is observation different from identification?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62E7E7AE-19D9-49FE-9555-3CFA2F77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BB94A487-47F2-4C39-801D-6FDD91DB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12458493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FFA6EA8C-A892-4566-8EFD-097EA950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EE7F4F7-4B99-47FA-8A24-21B0A7B8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89D8047-BC27-4797-9D00-38E5B87C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C81D41-724B-4A6F-B4E7-8C1DEB9D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White stringy material appears where the fruit filtrate meets cold ethanol. What is the safest scientific claim?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04FA90D-8E38-4A79-911B-87F330F0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FF8CBC0-6BEF-4F43-9A29-A5BBC6A0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3C14AE3-C632-4EA6-8D02-C06B8699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The material is pure DNA and nothing else.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4A3FCAF-7478-49A1-A2A5-BFDD4D26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A DNA-containing precipitate formed; the appearance alone does not show purity.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7DAD3E4-487C-4182-AA01-F28B0237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Fruit cannot contain DNA because it is not an animal.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CCA21429-D14D-4B45-BEB3-B39939AE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A1F225F8-5FFC-4243-A597-1CC502DB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1736828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DF51271F-5F92-4E6D-8199-F4204ED4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7713966-532E-4D4A-8DEB-D01E6D8D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BBFF696-DBB4-4E5C-B77B-75FF3F53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10079A-57BC-439A-82FE-62B122F1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2B48880-6A50-474F-A85A-E3C2FCC5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6A79746-7200-43D2-B710-646AEDF9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RELEASE · disrupt membranes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5128DD5-FD50-4457-8F56-AF9BFCAF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SEPARATE · filter solids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88F9698-1FC4-44A9-89C1-8C4F9177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PRECIPITATE · DNA-containing material appears in cold ethanol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1F424B13-001A-4ACF-AE61-C7A7E6C4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8A307BDA-19BA-41F1-8E36-4D0F816D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3307610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E2DABB58-BC20-412B-B080-7EF5BE01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F61F1D0-FDEF-4936-8845-E1902859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B3F0570-1FE0-421B-960A-EB93F741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37C730-51A9-4DF3-B872-B6A95508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8147D0B-05A6-4212-BAA3-579890C1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7924b698c4ed9"/>
          <a:stretch xmlns:a="http://schemas.openxmlformats.org/drawingml/2006/main"/>
        </p:blipFill>
        <p:spPr>
          <a:xfrm xmlns:a="http://schemas.openxmlformats.org/drawingml/2006/main">
            <a:off x="800100" y="3259137"/>
            <a:ext cx="3378200" cy="844550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EF8F4035-45A5-4E74-9663-49E36F66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Release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87049a2434e2a"/>
          <a:stretch xmlns:a="http://schemas.openxmlformats.org/drawingml/2006/main"/>
        </p:blipFill>
        <p:spPr>
          <a:xfrm xmlns:a="http://schemas.openxmlformats.org/drawingml/2006/main">
            <a:off x="4406900" y="3259137"/>
            <a:ext cx="3378200" cy="844550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A96965E2-8EDC-4196-B316-EADB5454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eeb674b2644f5"/>
          <a:stretch xmlns:a="http://schemas.openxmlformats.org/drawingml/2006/main"/>
        </p:blipFill>
        <p:spPr>
          <a:xfrm xmlns:a="http://schemas.openxmlformats.org/drawingml/2006/main">
            <a:off x="8013700" y="3259137"/>
            <a:ext cx="3378200" cy="844550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08AEB847-B61A-4736-BDCB-386476E7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Precipitate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8BA132FD-BA21-42DA-9097-0290ACB7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5F31FA1E-1D70-4F74-B131-F8EB9F39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7790202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7DB495D5-A9C5-4F60-8A1B-9ECAE614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D0BE28E-6D6B-422B-AAF4-F6D42046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09E26B0-AC4A-416D-8AE6-6A225A74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AC4F6B-389B-4954-AE6A-5D8AAC2B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6E445C6-7C62-477F-8194-067598F0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CE6B0B1-50E8-4B24-A998-5C56CD0D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filtrate — liquid through the filter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A276CAF-CA8B-4756-98E7-56CD443C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precipitate — material appearing from solution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7A8BAAF-DFD4-40AB-80DE-678744F7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extract — remove from a mixture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8950D4C8-BF5A-43E5-A657-0D10CF29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C9011AE7-5A55-4173-B7CC-BCEC92BC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4306046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4EEA7373-3D41-4260-9659-5D4CAB80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40B1E4D-99F1-4D25-8A27-1FBADE67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3CC38DC-B983-4904-B3BC-F55F1797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2EDF0A-650A-4258-9BA5-21757FCD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97D7318-076B-4BF7-9C60-CC999C70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0574807-127B-4E0D-9CBA-10F226C5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Mash the fruit with salt-detergent solution: detergent disrupts cell and nuclear membranes, while salt helps DNA strands clump together.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543DE79-AD97-4D09-9042-4D2E1475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Filter the mixture; collect the filtrate while larger fruit solids remain behind.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5E7B19D4-C0D6-4C7A-B6D6-431E2282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A406574E-6392-45BF-8A3E-22A5A0AD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14087239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8F1CF0FF-D043-4536-B623-DD89CA4E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7CE5AFA-CDB1-4322-8E63-97841E0E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262B68F-905F-49FF-9B7E-7E3C5C1C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424B369-3340-44B3-93A1-41FC62BA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Why is detergent used in this extraction?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7E7E0C9-FA19-4349-91BC-18F5689A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6814F2B-5ACF-4348-891B-49FCC937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To disrupt cell and nuclear membranes so DNA can be released.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70CF1C1-E2AC-4BF1-9250-D28B3865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To colour each DNA base.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1B11CAA-2B7E-4ECD-8A85-9C197D90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To copy genes by mitosis in the tube.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63E8012-A871-49A5-9290-9EB42D8F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42C27568-F16B-4CD1-9418-AC015D04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8DA29048-F932-42E1-97DB-F87DA79A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5887595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B9C312C7-7E8E-4D9C-A057-F49E697A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96BF127-B9F7-4895-8DFB-E6FA7D02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C57666E-C25E-48C8-B925-CA623280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9920EE-463C-471E-9C44-99B35C6A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8456C72-B8C5-451F-964B-E11D5A19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B66D4E8-C32C-476C-A6BC-2FC35814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Observation: describe colour, location and texture without writing 'pure DNA'.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C7F265B-56A3-4DFD-BCD7-0CAF615A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Inference: the extraction method is expected to produce DNA-containing material, but appearance alone cannot identify every component.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4C5788E-4E44-4323-96C9-A6E5B547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Connection: the extracted DNA came from fruit-cell chromosomes and contains many genes; the extraction does not reveal individual genes or base sequence.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2E55B826-B04B-4C4E-99E1-558BB5B9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279722C9-AD37-4AC6-B55D-9A26E81A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13270739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E1F7C095-4AEA-4D92-83EC-BFF149F3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91224AC-7C42-44BC-90C2-A399E4D8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A7C8E8A-4932-4666-B69C-31B77CC2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19AE586-8FD2-4D18-9412-0FF6ACF0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9478340-CFF0-4B5F-B28D-52794436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E5CF0F7-4B1F-4376-B788-77FD07DC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white material proves that a pure gene has been seen.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9A0F92B-3E6E-47FC-8E51-FFB193E9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a gene is visible as one white strand.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97CC976-6810-4AB4-9845-C357A368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the precipitate contains DNA, may contain other material and does not reveal individual genes.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A85ED94-C306-4EFA-BD35-E599CDC5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only animal cells contain DNA.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49BF04E4-3094-4570-AC66-B0A0BC86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BB0DF9E2-8179-4DBF-AFA2-DBCD22AB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5062873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E4B72309-84CB-4646-BDBB-6E03C5DA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A3C27C8-8165-4BFC-B504-E7EA820A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FD7D5AF-EA1B-42C7-AAA5-C1714ECF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7C1DA3-98AA-4E23-BAE0-A25000DE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Observation, inference or limitation?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21FA687-BB76-478D-9B27-2F925C62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F2EEF67-5DD6-4ABC-AA51-66E1E89E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Classify each statement after the practical or parity dataset, then repair any overclaim.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E865E02-9AF0-48A0-B260-07047A1D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METHOD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56EA689-2B7A-499F-BEAD-884092B1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OBSERVE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E7562B1-8B9E-4FCE-8041-826C5E61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INFER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63F4F791-43E7-4B2A-8CBA-96414CE1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LIMIT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BC5C8299-2344-49FC-8F5B-37B833F2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CONNECT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185B8817-3E78-4224-9335-FB0C19BF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9841CE13-1541-4751-B844-2874FC61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9628063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BCAA4735-CCD7-48BE-8C10-12511A79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B35AC9D-5755-442F-9F8D-6A6EC6B7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8EED4C0-DCA9-4198-987F-680D8CDB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89DD5C-553B-4044-BC1C-576840E3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Observation, inference or limitation?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1580D03-00CF-4A26-BF4E-FFCF8C17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647D03F-4525-446B-82D3-89048044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EEFC8066-6935-46DE-AB74-8AA74419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F5A0747D-9A01-4A32-9EE9-43E2457D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5470150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E5D22123-6CE0-44E1-811C-BB6D98E7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35E4D07-81BE-4780-9BD8-DCA960D9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C88F0C2-77AE-450D-A995-083464A6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A20B60-985C-4DB8-8B2D-9F212EAC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1B241F1-6AFB-46E8-9B93-12715BF2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3ED91EF-76BD-4419-A54E-7AAEDBCD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DIRECT OBSERVATION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448C684-1C25-4C13-BDE2-9C3246CA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SCIENTIFIC INFERENCE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08EF58-FCBB-41FC-AB5C-59A3A5DD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METHOD LIMITATION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BC2C8BB-26FF-46FC-8EA0-1F0CFDCB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Say what was observed, what was inferred and what cannot be concluded.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DE369CE4-CC1E-495B-B0BD-25FC451A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B86CB554-C2E3-4024-AE73-1FD758B3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3432492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2D1DFCC4-C344-4FE7-A4AD-978713D9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C8E9C76-B812-41C0-A351-91B28D6F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5A0BDEC-361F-4CF0-BD48-84616D4F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E17A02-FF71-4AFE-8F0F-CB6650FD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B3B54BD-69E7-475F-A5A0-A905B3EA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3D713A5-3022-48B2-8D2C-63B696A3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Carry out or direct the non-core fruit-DNA extraction, record the result and evaluate the evidence.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6F7042A-8992-4D74-9F10-29A1787F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An ordered method, precise observation, DNA/chromosome/gene connection and one valid evaluation point.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F8247A4C-4D47-4B1B-BA5E-A2EC22E8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D386CF85-0601-4D77-88CB-96627F3D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2589271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0943E253-F2F1-4F28-85EF-707B2C75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46C1E32-8D7A-4D06-8204-4F2FC78E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65E341C-6851-4858-A39C-477E42EF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6F5AFC-0EBC-4974-ACB1-B12A00B9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961B02E-596C-415D-8EC4-1832386A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F2BFBDE-EE4E-4C97-B97B-C23C6350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Order four method pictures, select the observed result and complete one limitation sentence.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1058C02-3DB6-436E-8A9F-5ACC866A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Record method and observation, explain two reagent/separation roles and evaluate one limitation.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2B837E8-41B8-4801-8366-3183A5B8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Compare practical/parity outcomes, identify variables that affect visible yield and propose one fair improvement.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DF8135C2-24C8-494F-8A7D-C5440A14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041C86DA-3AAC-4840-9917-DD052B1C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3059713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F1AEBC01-A0F2-4D41-860F-D8D5B009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623ACED-61E7-44A4-A600-5C386B71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D1A0AC0-FEAA-489F-B357-81198414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94E77F4-1764-410C-8745-276049A1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4359FFB-D8DD-44DF-A196-09B1B8AE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B9FED70-60F2-4FB1-9B19-62647E73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Why is 'DNA-containing precipitate' better than 'pure DNA'?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C932CB2-0307-47B0-B5F6-CBE0E32F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65C3AE54-AA0A-43C3-8DB8-4C1289F1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6BA68724-CB75-4461-B7AC-5FE9339C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680035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2026-09-08T09:10:17.8260000Z</dcterms:created>
  <dcterms:modified xsi:type="dcterms:W3CDTF">2026-09-08T09:10:17.8260000Z</dcterms:modified>
</coreProperties>
</file>