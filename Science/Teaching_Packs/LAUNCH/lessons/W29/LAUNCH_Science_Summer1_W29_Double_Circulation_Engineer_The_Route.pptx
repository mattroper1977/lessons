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3cce2cb1549eb" /><Relationship Type="http://schemas.openxmlformats.org/officeDocument/2006/relationships/extended-properties" Target="/docProps/app.xml" Id="Re7ac256c6a6e4287" /><Relationship Type="http://schemas.openxmlformats.org/officeDocument/2006/relationships/officeDocument" Target="/ppt/presentation.xml" Id="R246969e479314f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bc78fd3374acb"/>
  </p:sldMasterIdLst>
  <p:notesMasterIdLst>
    <p:notesMasterId xmlns:r="http://schemas.openxmlformats.org/officeDocument/2006/relationships" r:id="Ra9a97dcfd54e4349"/>
  </p:notesMasterIdLst>
  <p:sldIdLst>
    <p:sldId xmlns:r="http://schemas.openxmlformats.org/officeDocument/2006/relationships" id="256" r:id="Rb5259765415145b9"/>
    <p:sldId xmlns:r="http://schemas.openxmlformats.org/officeDocument/2006/relationships" id="257" r:id="R49d5dd00e69e4cbf"/>
    <p:sldId xmlns:r="http://schemas.openxmlformats.org/officeDocument/2006/relationships" id="258" r:id="R79c9df0ce7cb4b18"/>
    <p:sldId xmlns:r="http://schemas.openxmlformats.org/officeDocument/2006/relationships" id="259" r:id="R44c11e8aa7ae4546"/>
    <p:sldId xmlns:r="http://schemas.openxmlformats.org/officeDocument/2006/relationships" id="260" r:id="Rca65f5983de74c71"/>
    <p:sldId xmlns:r="http://schemas.openxmlformats.org/officeDocument/2006/relationships" id="261" r:id="R2eacf4b534c046f3"/>
    <p:sldId xmlns:r="http://schemas.openxmlformats.org/officeDocument/2006/relationships" id="262" r:id="R326d75db5ec74e84"/>
    <p:sldId xmlns:r="http://schemas.openxmlformats.org/officeDocument/2006/relationships" id="263" r:id="Rb6b414274d274817"/>
    <p:sldId xmlns:r="http://schemas.openxmlformats.org/officeDocument/2006/relationships" id="264" r:id="Rc7335291f2524ce9"/>
    <p:sldId xmlns:r="http://schemas.openxmlformats.org/officeDocument/2006/relationships" id="265" r:id="Rcca8c9fc550d4b6c"/>
    <p:sldId xmlns:r="http://schemas.openxmlformats.org/officeDocument/2006/relationships" id="266" r:id="R4958001c36924a88"/>
    <p:sldId xmlns:r="http://schemas.openxmlformats.org/officeDocument/2006/relationships" id="267" r:id="Rdf09aef6d30345df"/>
    <p:sldId xmlns:r="http://schemas.openxmlformats.org/officeDocument/2006/relationships" id="268" r:id="R608ae055f58f4756"/>
    <p:sldId xmlns:r="http://schemas.openxmlformats.org/officeDocument/2006/relationships" id="269" r:id="Ra4449ca3b7e84483"/>
    <p:sldId xmlns:r="http://schemas.openxmlformats.org/officeDocument/2006/relationships" id="270" r:id="Rb285fd4e3b0e40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4d0dd4ae6b48c9" /><Relationship Type="http://schemas.openxmlformats.org/officeDocument/2006/relationships/slideMaster" Target="/ppt/slideMasters/slideMaster1.xml" Id="R464bc78fd3374acb" /><Relationship Type="http://schemas.openxmlformats.org/officeDocument/2006/relationships/notesMaster" Target="/ppt/notesMasters/notesMaster1.xml" Id="Ra9a97dcfd54e4349" /><Relationship Type="http://schemas.openxmlformats.org/officeDocument/2006/relationships/presProps" Target="/ppt/presProps.xml" Id="R56edda8cdf95419e" /><Relationship Type="http://schemas.openxmlformats.org/officeDocument/2006/relationships/tableStyles" Target="/ppt/tableStyles.xml" Id="R9180a5b9a8844504" /><Relationship Type="http://schemas.openxmlformats.org/officeDocument/2006/relationships/slide" Target="/ppt/slides/slide1.xml" Id="Rb5259765415145b9" /><Relationship Type="http://schemas.openxmlformats.org/officeDocument/2006/relationships/slide" Target="/ppt/slides/slide2.xml" Id="R49d5dd00e69e4cbf" /><Relationship Type="http://schemas.openxmlformats.org/officeDocument/2006/relationships/slide" Target="/ppt/slides/slide3.xml" Id="R79c9df0ce7cb4b18" /><Relationship Type="http://schemas.openxmlformats.org/officeDocument/2006/relationships/slide" Target="/ppt/slides/slide4.xml" Id="R44c11e8aa7ae4546" /><Relationship Type="http://schemas.openxmlformats.org/officeDocument/2006/relationships/slide" Target="/ppt/slides/slide5.xml" Id="Rca65f5983de74c71" /><Relationship Type="http://schemas.openxmlformats.org/officeDocument/2006/relationships/slide" Target="/ppt/slides/slide6.xml" Id="R2eacf4b534c046f3" /><Relationship Type="http://schemas.openxmlformats.org/officeDocument/2006/relationships/slide" Target="/ppt/slides/slide7.xml" Id="R326d75db5ec74e84" /><Relationship Type="http://schemas.openxmlformats.org/officeDocument/2006/relationships/slide" Target="/ppt/slides/slide8.xml" Id="Rb6b414274d274817" /><Relationship Type="http://schemas.openxmlformats.org/officeDocument/2006/relationships/slide" Target="/ppt/slides/slide9.xml" Id="Rc7335291f2524ce9" /><Relationship Type="http://schemas.openxmlformats.org/officeDocument/2006/relationships/slide" Target="/ppt/slides/slide10.xml" Id="Rcca8c9fc550d4b6c" /><Relationship Type="http://schemas.openxmlformats.org/officeDocument/2006/relationships/slide" Target="/ppt/slides/slide11.xml" Id="R4958001c36924a88" /><Relationship Type="http://schemas.openxmlformats.org/officeDocument/2006/relationships/slide" Target="/ppt/slides/slide12.xml" Id="Rdf09aef6d30345df" /><Relationship Type="http://schemas.openxmlformats.org/officeDocument/2006/relationships/slide" Target="/ppt/slides/slide13.xml" Id="R608ae055f58f4756" /><Relationship Type="http://schemas.openxmlformats.org/officeDocument/2006/relationships/slide" Target="/ppt/slides/slide14.xml" Id="Ra4449ca3b7e84483" /><Relationship Type="http://schemas.openxmlformats.org/officeDocument/2006/relationships/slide" Target="/ppt/slides/slide15.xml" Id="Rb285fd4e3b0e40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2e83d6c1b5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12a18017cd4aec" /><Relationship Type="http://schemas.openxmlformats.org/officeDocument/2006/relationships/notesMaster" Target="/ppt/notesMasters/notesMaster1.xml" Id="R78675f277d9d44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32afb5425438b" /><Relationship Type="http://schemas.openxmlformats.org/officeDocument/2006/relationships/notesMaster" Target="/ppt/notesMasters/notesMaster1.xml" Id="R324d43382abb4c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4bd8fc415140c9" /><Relationship Type="http://schemas.openxmlformats.org/officeDocument/2006/relationships/notesMaster" Target="/ppt/notesMasters/notesMaster1.xml" Id="R2ab99fa7dad5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7eabd05ef4424f" /><Relationship Type="http://schemas.openxmlformats.org/officeDocument/2006/relationships/notesMaster" Target="/ppt/notesMasters/notesMaster1.xml" Id="Re9dc67dfa6414b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bdd7e5a1cb4408" /><Relationship Type="http://schemas.openxmlformats.org/officeDocument/2006/relationships/notesMaster" Target="/ppt/notesMasters/notesMaster1.xml" Id="R2dd01dd0a86b46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7a4c6911e4146" /><Relationship Type="http://schemas.openxmlformats.org/officeDocument/2006/relationships/notesMaster" Target="/ppt/notesMasters/notesMaster1.xml" Id="R77ccb9ba6abb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fa095f4b4d488e" /><Relationship Type="http://schemas.openxmlformats.org/officeDocument/2006/relationships/notesMaster" Target="/ppt/notesMasters/notesMaster1.xml" Id="R8cb026169f094b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1a16faf22d475c" /><Relationship Type="http://schemas.openxmlformats.org/officeDocument/2006/relationships/notesMaster" Target="/ppt/notesMasters/notesMaster1.xml" Id="Rbc54819c893840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0996b9a41547d9" /><Relationship Type="http://schemas.openxmlformats.org/officeDocument/2006/relationships/notesMaster" Target="/ppt/notesMasters/notesMaster1.xml" Id="R38cca1748c1a4e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1142fffb2a4eec" /><Relationship Type="http://schemas.openxmlformats.org/officeDocument/2006/relationships/notesMaster" Target="/ppt/notesMasters/notesMaster1.xml" Id="Rdeae6953df7c46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e164c396674aaa" /><Relationship Type="http://schemas.openxmlformats.org/officeDocument/2006/relationships/notesMaster" Target="/ppt/notesMasters/notesMaster1.xml" Id="R3ff4515ece034b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7bdcb795584332" /><Relationship Type="http://schemas.openxmlformats.org/officeDocument/2006/relationships/notesMaster" Target="/ppt/notesMasters/notesMaster1.xml" Id="R95e5f1c86a614e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cd5e5b323443ea" /><Relationship Type="http://schemas.openxmlformats.org/officeDocument/2006/relationships/notesMaster" Target="/ppt/notesMasters/notesMaster1.xml" Id="Rc2699b50a5ff4e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14128823234863" /><Relationship Type="http://schemas.openxmlformats.org/officeDocument/2006/relationships/notesMaster" Target="/ppt/notesMasters/notesMaster1.xml" Id="R41f83095129f43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e9c53bc3514a37" /><Relationship Type="http://schemas.openxmlformats.org/officeDocument/2006/relationships/notesMaster" Target="/ppt/notesMasters/notesMaster1.xml" Id="R8407051ab2aa4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finger trace or token. Explain that the diagram is a map of flow, not a scale picture of chest anatomy.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lungs. R2 amount and time. R3 no; pressure and volume are different quantities. Accept everyday pump analogies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 around the loop, naming pulmonary artery and pulmonary veins as the oxygen-rule exceptions. “Away/towards” defines the vessel type, not oxygen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Schematic double circulation: body→right heart→lungs→left heart→body. Blue-labelled paths carry relatively oxygen-poor blood; red-labelled paths carry relatively oxygen-rich blood. Colour is accompanied by text. The positions are not anatomical.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 atrium→ventricle on each side. A thicker left-ventricle wall supports greater pressure for the systemic circuit; do not claim it normally pumps a larger long-term volume than the right 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four-chamber map. The body’s right side is shown on the left of the image. Blood passes from each atrium to its ventricle, with a septum separating sides. The thicker left-ventricle outline represents a thicker muscular wall, not a larger volume per beat.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forward and reverse pressure panels. Model output separately: 75 beats/min × 60 mL/beat = 4500 mL/min = 4.5 L/min. These are constructed examples, not a target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Two-panel simplified valve model. Left: a forward pressure difference opens leaflets, permitting flow. Right: reverse pressure closes leaflets, opposing backflow. Valves do not provide the pumping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Body→vena cava→RA→RV→pulmonary artery→lungs→pulmonary veins→LA→LV→aorta→body. Accept abbreviations only after names are understood.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P: 80 × 55 = 4400 mL/min = 4.4 L/min. Q: 100 × 70 = 7000 mL/min = 7.0 L/min. Difference 2600 mL/min. No exercise test or individual health judgement is made.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thicker wall supports higher pressure for the body circuit. In stable circulation the two sides have matching average outputs, otherwise blood would accumulate in one circuit.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Thicker muscle supports the higher pressure needed for the systemic route; it does not imply a permanently larger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option correct. Re-trace pulmonary vessels if pupils classify by oxygen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pulmonary artery is an artery because it carries blood away from the heart.</a:t>
            </a:r>
          </a:p>
          <a:p xmlns:a="http://schemas.openxmlformats.org/drawingml/2006/main">
            <a:r>
              <a:t>Correct. Direction defines an artery, even when its blood is relatively oxygen-poor.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Every vein must carry relatively oxygen-poor blood.</a:t>
            </a:r>
          </a:p>
          <a:p xmlns:a="http://schemas.openxmlformats.org/drawingml/2006/main">
            <a:r>
              <a:t>Pulmonary veins return relatively oxygen-rich blood from lungs to heart.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Valves supply the force that pumps blood.</a:t>
            </a:r>
          </a:p>
          <a:p xmlns:a="http://schemas.openxmlformats.org/drawingml/2006/main">
            <a:r>
              <a:t>Heart muscle creates pressure; valves help direct flow and prevent backflow.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shared route/data page. Pointing with accurate spoken names is a valid access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If stuck, start from lungs→left atrium and build around the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corrects a definition or defends an accurate away/towards explanation. Quiet teacher/TA audience is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4.4 L/min as an output, not heart rate. Ask pupils to add one missing unit or destination.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 right ventricle. E2 greater pressure for systemic circuit. E3 5400 mL/min = 5.4 L/min. Use errors to plan route versus rate re-teaching.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No comparison with a pupil’s pulse or health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circulation route, major vessels and valves. Constructed pump values are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the heart looks like</a:t>
            </a:r>
          </a:p>
          <a:p xmlns:a="http://schemas.openxmlformats.org/drawingml/2006/main">
            <a:r>
              <a:t>https://www.nhlbi.nih.gov/health/heart/anatomy</a:t>
            </a:r>
          </a:p>
          <a:p xmlns:a="http://schemas.openxmlformats.org/drawingml/2006/main">
            <a:r>
              <a:t>Checked chamber roles, septum and muscular structure. All diagrams here are original simplified teaching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2fcd67d6840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fa9d27f144372" /><Relationship Type="http://schemas.openxmlformats.org/officeDocument/2006/relationships/slideLayout" Target="/ppt/slideLayouts/slideLayout1.xml" Id="R257ed650015345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ed650015345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cff90acda4983" /><Relationship Type="http://schemas.openxmlformats.org/officeDocument/2006/relationships/notesSlide" Target="/ppt/notesSlides/notesSlide1.xml" Id="R4d7b0da9061749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4c6dcd05f44eb" /><Relationship Type="http://schemas.openxmlformats.org/officeDocument/2006/relationships/notesSlide" Target="/ppt/notesSlides/notesSlide2.xml" Id="R5ecb141df4ca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8af402aa3438e" /><Relationship Type="http://schemas.openxmlformats.org/officeDocument/2006/relationships/notesSlide" Target="/ppt/notesSlides/notesSlide3.xml" Id="R269c9abbda68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b81bfa9743b5" /><Relationship Type="http://schemas.openxmlformats.org/officeDocument/2006/relationships/notesSlide" Target="/ppt/notesSlides/notesSlide4.xml" Id="R3af89c81755f4f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3b154022442bd" /><Relationship Type="http://schemas.openxmlformats.org/officeDocument/2006/relationships/notesSlide" Target="/ppt/notesSlides/notesSlide5.xml" Id="R9a0ec0104b4d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8d8582a564ee7" /><Relationship Type="http://schemas.openxmlformats.org/officeDocument/2006/relationships/notesSlide" Target="/ppt/notesSlides/notesSlide6.xml" Id="R2f9a6d30e77046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e2d976da94575" /><Relationship Type="http://schemas.openxmlformats.org/officeDocument/2006/relationships/notesSlide" Target="/ppt/notesSlides/notesSlide7.xml" Id="Rc926de85cea84a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5ec802e65488a" /><Relationship Type="http://schemas.openxmlformats.org/officeDocument/2006/relationships/notesSlide" Target="/ppt/notesSlides/notesSlide8.xml" Id="Rf651cf326dca41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3c096ef944d2b" /><Relationship Type="http://schemas.openxmlformats.org/officeDocument/2006/relationships/notesSlide" Target="/ppt/notesSlides/notesSlide9.xml" Id="Rb71ff78a550245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9886539ac4442" /><Relationship Type="http://schemas.openxmlformats.org/officeDocument/2006/relationships/notesSlide" Target="/ppt/notesSlides/notesSlide10.xml" Id="R63f0a40422594a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0efd475fe4aa1" /><Relationship Type="http://schemas.openxmlformats.org/officeDocument/2006/relationships/notesSlide" Target="/ppt/notesSlides/notesSlide11.xml" Id="R3259cf6da35642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3ae66a0e44b7" /><Relationship Type="http://schemas.openxmlformats.org/officeDocument/2006/relationships/notesSlide" Target="/ppt/notesSlides/notesSlide12.xml" Id="R554fe2728bb04a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8f86069e49d5" /><Relationship Type="http://schemas.openxmlformats.org/officeDocument/2006/relationships/notesSlide" Target="/ppt/notesSlides/notesSlide13.xml" Id="R99bf03cbafe547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595002a504600" /><Relationship Type="http://schemas.openxmlformats.org/officeDocument/2006/relationships/notesSlide" Target="/ppt/notesSlides/notesSlide14.xml" Id="R60469f9e346a4a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b43168cfc450a" /><Relationship Type="http://schemas.openxmlformats.org/officeDocument/2006/relationships/notesSlide" Target="/ppt/notesSlides/notesSlide15.xml" Id="Rd470ab008531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6BE0380-A020-4B4C-861B-9AE45030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4042B92-E43F-482A-883A-39BDDA30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9085F20-E0B5-496B-89AD-C6A62F7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CF04220-16AE-4D62-8148-05BB970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BE72AA3A-7225-4922-95ED-AF783324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C3835B5-0A8A-4DD9-9439-B8B4A67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an you design a route with no wrong turn?">
            <a:extLst xmlns:a="http://schemas.openxmlformats.org/drawingml/2006/main">
              <a:ext uri="{FF2B5EF4-FFF2-40B4-BE49-F238E27FC236}">
                <a16:creationId xmlns:a16="http://schemas.microsoft.com/office/drawing/2014/main" id="{587364EB-ACCE-4769-9B61-F954995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you design a route with no wrong turn?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DB01743-3AB2-4334-98B0-7B7DC82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470B192F-4734-41C8-BA67-7A047BE7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D7E934F7-9B2F-4442-9450-57A3319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B063F7CB-7E46-42C7-AEE3-77253600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351BB3D-51E5-4100-B416-5EE0A8E3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EBAFEDED-1DDB-4AE2-980E-1B23B0D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how heart structure supports double circulation and calc">
            <a:extLst xmlns:a="http://schemas.openxmlformats.org/drawingml/2006/main">
              <a:ext uri="{FF2B5EF4-FFF2-40B4-BE49-F238E27FC236}">
                <a16:creationId xmlns:a16="http://schemas.microsoft.com/office/drawing/2014/main" id="{C6BC8C83-0E54-4E48-96D3-760C9AA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how heart structure supports double circulation and calculate cardiac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output from supplied data.</a:t>
            </a:r>
          </a:p>
        </p:txBody>
      </p:sp>
      <p:sp>
        <p:nvSpPr>
          <p:cNvPr id="15" name="Mission: follow blood through two linked circuits.">
            <a:extLst xmlns:a="http://schemas.openxmlformats.org/drawingml/2006/main">
              <a:ext uri="{FF2B5EF4-FFF2-40B4-BE49-F238E27FC236}">
                <a16:creationId xmlns:a16="http://schemas.microsoft.com/office/drawing/2014/main" id="{65114ED2-FFB4-429D-A5FC-C17647C9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Mission: follow blood through two linked circuits.</a:t>
            </a:r>
          </a:p>
        </p:txBody>
      </p:sp>
      <p:sp>
        <p:nvSpPr>
          <p:cNvPr id="16" name="A correct route needs both destination and direction.">
            <a:extLst xmlns:a="http://schemas.openxmlformats.org/drawingml/2006/main">
              <a:ext uri="{FF2B5EF4-FFF2-40B4-BE49-F238E27FC236}">
                <a16:creationId xmlns:a16="http://schemas.microsoft.com/office/drawing/2014/main" id="{3EDEB9C2-7370-4E93-8202-CBF1537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correct route needs both destination and direction.</a:t>
            </a:r>
          </a:p>
        </p:txBody>
      </p:sp>
    </p:spTree>
    <p:extLst>
      <p:ext uri="{BB962C8B-B14F-4D97-AF65-F5344CB8AC3E}">
        <p14:creationId xmlns:p14="http://schemas.microsoft.com/office/powerpoint/2010/main" val="707817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799C9EC-BF5D-4ACB-8334-168A78E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F6A6945-785B-426D-BD88-CC1F09BF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D5D4740-328C-455A-8E30-59618D40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4DD3AAEF-2DEE-4672-8B2D-18D0AC79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AE872A09-5C72-4D1D-BE05-FF1AB5A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BDAAD81-738D-4851-BCF9-ADBEA961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Direction, exchange and rate">
            <a:extLst xmlns:a="http://schemas.openxmlformats.org/drawingml/2006/main">
              <a:ext uri="{FF2B5EF4-FFF2-40B4-BE49-F238E27FC236}">
                <a16:creationId xmlns:a16="http://schemas.microsoft.com/office/drawing/2014/main" id="{EC9CD0D2-401E-434F-80F3-0E76D6DC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Direction, exchange and rate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0E59636-6384-4E8C-8A6F-3AC70ED3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25141AA9-571E-45BE-8426-C5FB9FD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1E519E4E-535C-415A-9CC3-52CE359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ere does blood gain oxygen from air?">
            <a:extLst xmlns:a="http://schemas.openxmlformats.org/drawingml/2006/main">
              <a:ext uri="{FF2B5EF4-FFF2-40B4-BE49-F238E27FC236}">
                <a16:creationId xmlns:a16="http://schemas.microsoft.com/office/drawing/2014/main" id="{C5A6E6BA-FFCA-4AA7-851F-FFFE113B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Where does blood gain oxygen from air?</a:t>
            </a:r>
          </a:p>
        </p:txBody>
      </p:sp>
      <p:sp>
        <p:nvSpPr>
          <p:cNvPr id="12" name="R2. What does a per-minute rate include?">
            <a:extLst xmlns:a="http://schemas.openxmlformats.org/drawingml/2006/main">
              <a:ext uri="{FF2B5EF4-FFF2-40B4-BE49-F238E27FC236}">
                <a16:creationId xmlns:a16="http://schemas.microsoft.com/office/drawing/2014/main" id="{133385BE-AA2F-4A9C-9C69-F3EC47AF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does a per-minute rate include?</a:t>
            </a:r>
          </a:p>
        </p:txBody>
      </p:sp>
      <p:sp>
        <p:nvSpPr>
          <p:cNvPr id="13" name="R3. Does a larger pressure mean the same thing as a larger volum">
            <a:extLst xmlns:a="http://schemas.openxmlformats.org/drawingml/2006/main">
              <a:ext uri="{FF2B5EF4-FFF2-40B4-BE49-F238E27FC236}">
                <a16:creationId xmlns:a16="http://schemas.microsoft.com/office/drawing/2014/main" id="{17A75463-61BE-4988-923D-89CEEB74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a larger pressure mean the same thing as a larger volume?</a:t>
            </a:r>
          </a:p>
        </p:txBody>
      </p:sp>
    </p:spTree>
    <p:extLst>
      <p:ext uri="{BB962C8B-B14F-4D97-AF65-F5344CB8AC3E}">
        <p14:creationId xmlns:p14="http://schemas.microsoft.com/office/powerpoint/2010/main" val="684314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7897B386-EBEA-47C0-B128-2C64ED48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84FE76A-023F-4BF7-AE82-3A828451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3A66233-0B9F-4BA3-AC74-153F920D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C2EECC9-6B68-4750-9AD0-D187AE5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08EF3D6A-36CB-499A-A91F-8720AAE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CD285EBE-6999-4ED7-8473-2132655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race the full double circuit">
            <a:extLst xmlns:a="http://schemas.openxmlformats.org/drawingml/2006/main">
              <a:ext uri="{FF2B5EF4-FFF2-40B4-BE49-F238E27FC236}">
                <a16:creationId xmlns:a16="http://schemas.microsoft.com/office/drawing/2014/main" id="{BF9F64ED-F5E2-4B5A-B1BF-38E4E6F7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the full double circuit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2CAD741-82E9-4C48-838C-B583D3BB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1E1E9D7A-F8D9-499F-A24B-EF298070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F75FB08D-9336-486C-9E5F-2AA4BBA1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Two linked circuits, one continuous route">
            <a:extLst xmlns:a="http://schemas.openxmlformats.org/drawingml/2006/main">
              <a:ext uri="{FF2B5EF4-FFF2-40B4-BE49-F238E27FC236}">
                <a16:creationId xmlns:a16="http://schemas.microsoft.com/office/drawing/2014/main" id="{DDFB6FFE-270F-4FCC-9906-03295F0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Two linked circuits, one continuous route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A73B210-B5F3-4BFC-97C6-92B0EBCF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3415903"/>
            <a:ext cx="1754726" cy="97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3" name="Diagram label: Body tissues">
            <a:extLst xmlns:a="http://schemas.openxmlformats.org/drawingml/2006/main">
              <a:ext uri="{FF2B5EF4-FFF2-40B4-BE49-F238E27FC236}">
                <a16:creationId xmlns:a16="http://schemas.microsoft.com/office/drawing/2014/main" id="{6D260BFB-88B3-41F0-934F-45E1907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3639911"/>
            <a:ext cx="1456049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tissues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2F126BF-8012-4BA3-BF85-293C132F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66" y="4423937"/>
            <a:ext cx="1978734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5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15" name="Diagram label: Right heart&#10;To the lungs">
            <a:extLst xmlns:a="http://schemas.openxmlformats.org/drawingml/2006/main">
              <a:ext uri="{FF2B5EF4-FFF2-40B4-BE49-F238E27FC236}">
                <a16:creationId xmlns:a16="http://schemas.microsoft.com/office/drawing/2014/main" id="{5E3A1FD5-E6D1-4F91-BCBA-30BEB69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4573276"/>
            <a:ext cx="168005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Right heart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the lungs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1621AF2-EE63-4E49-9135-E370D1D4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392" y="3415903"/>
            <a:ext cx="1717392" cy="97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B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Diagram label: Lungs&#10;Gas exchange">
            <a:extLst xmlns:a="http://schemas.openxmlformats.org/drawingml/2006/main">
              <a:ext uri="{FF2B5EF4-FFF2-40B4-BE49-F238E27FC236}">
                <a16:creationId xmlns:a16="http://schemas.microsoft.com/office/drawing/2014/main" id="{5270151C-4172-41E2-8A58-CAF6EBAD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730" y="3639911"/>
            <a:ext cx="1418715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Lungs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Gas exchange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8D3904A-F889-4365-A5BF-5197F92C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66" y="2557207"/>
            <a:ext cx="1978734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22401">
            <a:solidFill>
              <a:srgbClr val="B34D4D"/>
            </a:solidFill>
          </a:ln>
        </p:spPr>
      </p:sp>
      <p:sp>
        <p:nvSpPr>
          <p:cNvPr id="19" name="Diagram label: Left heart&#10;To the body">
            <a:extLst xmlns:a="http://schemas.openxmlformats.org/drawingml/2006/main">
              <a:ext uri="{FF2B5EF4-FFF2-40B4-BE49-F238E27FC236}">
                <a16:creationId xmlns:a16="http://schemas.microsoft.com/office/drawing/2014/main" id="{533D7EA9-A7B5-41E9-8DF3-3BBE375C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2706546"/>
            <a:ext cx="168005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Left heart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the body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F6BB7C3-11F5-4068-A9DD-D4C5CAC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90612" y="4274599"/>
            <a:ext cx="425498" cy="3600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D82A0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018CCCA-4679-43C6-BD5E-937F281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14181">
            <a:off x="4883793" y="4599249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5200929-DA08-486A-9C16-53658806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78703" y="4323038"/>
            <a:ext cx="461035" cy="3622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D82A0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5F4B83E-46FA-42A0-BF7D-9FD65C42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10566">
            <a:off x="7608020" y="425462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FDFB5C7-74B6-4F7E-AF82-AB8CDA0C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42502" y="3200132"/>
            <a:ext cx="458886" cy="32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B34D4D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B9DBC30-24C1-4052-A34B-41A8654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67739">
            <a:off x="7168967" y="313267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4D4D"/>
          </a:solidFill>
          <a:ln xmlns:a="http://schemas.openxmlformats.org/drawingml/2006/main" w="0">
            <a:noFill/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64F905B-3B52-4879-8729-A0F3591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52756" y="3154561"/>
            <a:ext cx="423206" cy="3255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B34D4D"/>
            </a:solidFill>
          </a:ln>
        </p:spPr>
      </p:sp>
      <p:sp>
        <p:nvSpPr>
          <p:cNvPr id="2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4DCFDE8-D979-457A-947D-D143CB22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945884">
            <a:off x="4479773" y="344377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4D4D"/>
          </a:solidFill>
          <a:ln xmlns:a="http://schemas.openxmlformats.org/drawingml/2006/main" w="0">
            <a:noFill/>
          </a:ln>
        </p:spPr>
      </p:sp>
      <p:sp>
        <p:nvSpPr>
          <p:cNvPr id="28" name="Diagram label: Relatively&#10;oxygen-poor route">
            <a:extLst xmlns:a="http://schemas.openxmlformats.org/drawingml/2006/main">
              <a:ext uri="{FF2B5EF4-FFF2-40B4-BE49-F238E27FC236}">
                <a16:creationId xmlns:a16="http://schemas.microsoft.com/office/drawing/2014/main" id="{4291246A-6D7B-4ED6-ABE4-ABA0206B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5021291"/>
            <a:ext cx="2053403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Relatively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oxygen-poor route</a:t>
            </a:r>
          </a:p>
        </p:txBody>
      </p:sp>
      <p:sp>
        <p:nvSpPr>
          <p:cNvPr id="29" name="Diagram label: Relatively&#10;oxygen-rich route">
            <a:extLst xmlns:a="http://schemas.openxmlformats.org/drawingml/2006/main">
              <a:ext uri="{FF2B5EF4-FFF2-40B4-BE49-F238E27FC236}">
                <a16:creationId xmlns:a16="http://schemas.microsoft.com/office/drawing/2014/main" id="{31A00916-0E6E-4762-A52F-31640B2C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711" y="2519873"/>
            <a:ext cx="2090738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rPr>
              <a:t>Relatively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rPr>
              <a:t>oxygen-rich route</a:t>
            </a:r>
          </a:p>
        </p:txBody>
      </p:sp>
      <p:sp>
        <p:nvSpPr>
          <p:cNvPr id="30" name="Diagram label: Artery = away from heart; vein = towards heart.">
            <a:extLst xmlns:a="http://schemas.openxmlformats.org/drawingml/2006/main">
              <a:ext uri="{FF2B5EF4-FFF2-40B4-BE49-F238E27FC236}">
                <a16:creationId xmlns:a16="http://schemas.microsoft.com/office/drawing/2014/main" id="{17B46C0B-59BF-4024-808D-8DA4C4A9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98" y="5618644"/>
            <a:ext cx="612287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Artery = away from heart; vein = towards heart.</a:t>
            </a:r>
          </a:p>
        </p:txBody>
      </p:sp>
      <p:sp>
        <p:nvSpPr>
          <p:cNvPr id="31" name="Body → right heart → lungs → left heart → body.  Arteries go awa">
            <a:extLst xmlns:a="http://schemas.openxmlformats.org/drawingml/2006/main">
              <a:ext uri="{FF2B5EF4-FFF2-40B4-BE49-F238E27FC236}">
                <a16:creationId xmlns:a16="http://schemas.microsoft.com/office/drawing/2014/main" id="{7D49A9D6-7809-4698-A105-A00E05B6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→ right heart → lungs → left heart → body. Arteries go away; veins return towards the heart.</a:t>
            </a:r>
          </a:p>
        </p:txBody>
      </p:sp>
    </p:spTree>
    <p:extLst>
      <p:ext uri="{BB962C8B-B14F-4D97-AF65-F5344CB8AC3E}">
        <p14:creationId xmlns:p14="http://schemas.microsoft.com/office/powerpoint/2010/main" val="1425640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888EE5FF-E9FD-46AC-A596-07BF689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1BB6191-01DC-4BAE-A5E5-2FB19858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A89FBE6-53AA-429D-B4A0-6285A9DC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1B1AFAA4-9335-4928-8637-8A885F15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4797789-F428-46CF-9F5D-66937293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F7795A71-478A-4E3A-9468-40B3C86D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Explain structure using its job">
            <a:extLst xmlns:a="http://schemas.openxmlformats.org/drawingml/2006/main">
              <a:ext uri="{FF2B5EF4-FFF2-40B4-BE49-F238E27FC236}">
                <a16:creationId xmlns:a16="http://schemas.microsoft.com/office/drawing/2014/main" id="{1843C50D-1CB8-4FD6-B830-6FF778A7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structure using its job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1AB669D-C48E-44BA-BDBB-6E5D1420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9E19F996-B902-4785-85A5-72EC86B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F153FFD5-CF34-46BA-9310-2C693E73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Atria receive; ventricles pump out">
            <a:extLst xmlns:a="http://schemas.openxmlformats.org/drawingml/2006/main">
              <a:ext uri="{FF2B5EF4-FFF2-40B4-BE49-F238E27FC236}">
                <a16:creationId xmlns:a16="http://schemas.microsoft.com/office/drawing/2014/main" id="{A34C8D44-BDC2-4FA2-A298-5674078F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Atria receive; ventricles pump out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C1210FE-EFDE-4923-B972-D7B91B3C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90" y="2793887"/>
            <a:ext cx="2452688" cy="87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5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3" name="Diagram label: Right atrium&#10;Receives from body">
            <a:extLst xmlns:a="http://schemas.openxmlformats.org/drawingml/2006/main">
              <a:ext uri="{FF2B5EF4-FFF2-40B4-BE49-F238E27FC236}">
                <a16:creationId xmlns:a16="http://schemas.microsoft.com/office/drawing/2014/main" id="{BC60D72D-B33F-459A-A698-BD59DB83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44" y="2899002"/>
            <a:ext cx="2172380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Right atrium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Receives from body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92370D3-C7D9-47F3-A3A4-0EEE2BE2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90" y="4265499"/>
            <a:ext cx="2452688" cy="94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5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5" name="Diagram label: Right ventricle&#10;Pumps to lungs">
            <a:extLst xmlns:a="http://schemas.openxmlformats.org/drawingml/2006/main">
              <a:ext uri="{FF2B5EF4-FFF2-40B4-BE49-F238E27FC236}">
                <a16:creationId xmlns:a16="http://schemas.microsoft.com/office/drawing/2014/main" id="{ADDAE1EA-022A-4F0E-9AD2-CD1F5B1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44" y="4419668"/>
            <a:ext cx="2172380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Right ventricle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Pumps to lungs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971A85A-BED0-4683-8EFD-3878208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422" y="2793887"/>
            <a:ext cx="2452688" cy="87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21023">
            <a:solidFill>
              <a:srgbClr val="B34D4D"/>
            </a:solidFill>
          </a:ln>
        </p:spPr>
      </p:sp>
      <p:sp>
        <p:nvSpPr>
          <p:cNvPr id="17" name="Diagram label: Left atrium&#10;Receives from lungs">
            <a:extLst xmlns:a="http://schemas.openxmlformats.org/drawingml/2006/main">
              <a:ext uri="{FF2B5EF4-FFF2-40B4-BE49-F238E27FC236}">
                <a16:creationId xmlns:a16="http://schemas.microsoft.com/office/drawing/2014/main" id="{9721FF79-23FA-4E13-B505-B70F7E8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576" y="2899002"/>
            <a:ext cx="2172380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Left atrium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Receives from lungs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29760A1-ABC8-4799-8729-84E1327E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422" y="4265499"/>
            <a:ext cx="2452688" cy="94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84092">
            <a:solidFill>
              <a:srgbClr val="B34D4D"/>
            </a:solidFill>
          </a:ln>
        </p:spPr>
      </p:sp>
      <p:sp>
        <p:nvSpPr>
          <p:cNvPr id="19" name="Diagram label: Left ventricle&#10;Pumps to body">
            <a:extLst xmlns:a="http://schemas.openxmlformats.org/drawingml/2006/main">
              <a:ext uri="{FF2B5EF4-FFF2-40B4-BE49-F238E27FC236}">
                <a16:creationId xmlns:a16="http://schemas.microsoft.com/office/drawing/2014/main" id="{51DA73BC-91FA-4D6A-9B56-3E473547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576" y="4419668"/>
            <a:ext cx="2172380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Left ventricle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Pumps to body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5398068-199D-4CCD-A2E2-2ADE9D06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84234" y="3774962"/>
            <a:ext cx="953" cy="3118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E0E365D-10D2-4CDB-AE03-C39CC23E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35180" y="4062276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483728B-3C22-4BCB-BFA7-9ECA8006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07766" y="3774962"/>
            <a:ext cx="953" cy="3118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B34D4D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65A4F8FB-4CEC-4834-A106-62EE298E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658712" y="4062276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4D4D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75DDE07-F411-4248-8242-2ABE2A60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58848"/>
            <a:ext cx="953" cy="24526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25" name="Diagram label: Septum separates sides">
            <a:extLst xmlns:a="http://schemas.openxmlformats.org/drawingml/2006/main">
              <a:ext uri="{FF2B5EF4-FFF2-40B4-BE49-F238E27FC236}">
                <a16:creationId xmlns:a16="http://schemas.microsoft.com/office/drawing/2014/main" id="{8EE3C06B-3B8B-48EE-80DA-754EF51B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848" y="2408464"/>
            <a:ext cx="2102304" cy="26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Septum separates sides</a:t>
            </a:r>
          </a:p>
        </p:txBody>
      </p:sp>
      <p:sp>
        <p:nvSpPr>
          <p:cNvPr id="26" name="Diagram label: Body’s right is shown left; this is a structure model.">
            <a:extLst xmlns:a="http://schemas.openxmlformats.org/drawingml/2006/main">
              <a:ext uri="{FF2B5EF4-FFF2-40B4-BE49-F238E27FC236}">
                <a16:creationId xmlns:a16="http://schemas.microsoft.com/office/drawing/2014/main" id="{9CBB6975-D055-455F-A38C-FBA63026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5421766"/>
            <a:ext cx="6236834" cy="21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Body’s right is shown left; this is a structure model.</a:t>
            </a:r>
          </a:p>
        </p:txBody>
      </p:sp>
      <p:sp>
        <p:nvSpPr>
          <p:cNvPr id="27" name="Atria receive; ventricles pump out.  The septum separates the tw">
            <a:extLst xmlns:a="http://schemas.openxmlformats.org/drawingml/2006/main">
              <a:ext uri="{FF2B5EF4-FFF2-40B4-BE49-F238E27FC236}">
                <a16:creationId xmlns:a16="http://schemas.microsoft.com/office/drawing/2014/main" id="{B8420538-0894-4E72-A9EC-71312FD7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Atria receive; ventricles pump out. The septum separates the two sides. The left ventricle generates higher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systemic pressure.</a:t>
            </a:r>
          </a:p>
        </p:txBody>
      </p:sp>
    </p:spTree>
    <p:extLst>
      <p:ext uri="{BB962C8B-B14F-4D97-AF65-F5344CB8AC3E}">
        <p14:creationId xmlns:p14="http://schemas.microsoft.com/office/powerpoint/2010/main" val="1986859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E57F317B-E7C9-428A-9B3C-F73AC78D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97A6578-DA44-4751-9145-E3A13AA6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FCB1BE4-BD13-454A-96D4-986F2A4A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BE2B94D-25C2-4BB2-8A13-95E065E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8A7777B1-B088-45B2-8C4A-357F038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0D41B88D-0821-4414-98AC-EC1A1E4D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Separate the pump from the valve">
            <a:extLst xmlns:a="http://schemas.openxmlformats.org/drawingml/2006/main">
              <a:ext uri="{FF2B5EF4-FFF2-40B4-BE49-F238E27FC236}">
                <a16:creationId xmlns:a16="http://schemas.microsoft.com/office/drawing/2014/main" id="{0CFD0A9C-0BC2-4C81-8E03-B1CD0655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Separate the pump from the valve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D2DF072-459E-4ACF-BE7E-C444C66B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6999FE9E-A28B-480E-9C65-06B4BAC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759A94ED-A0C8-4C20-B687-38760CA9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A valve permits forward flow and limits backflow">
            <a:extLst xmlns:a="http://schemas.openxmlformats.org/drawingml/2006/main">
              <a:ext uri="{FF2B5EF4-FFF2-40B4-BE49-F238E27FC236}">
                <a16:creationId xmlns:a16="http://schemas.microsoft.com/office/drawing/2014/main" id="{55662374-A918-4721-A362-06241694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valve permits forward flow and limits backflow</a:t>
            </a:r>
          </a:p>
        </p:txBody>
      </p:sp>
      <p:sp>
        <p:nvSpPr>
          <p:cNvPr id="12" name="Diagram label: Forward pressure: open">
            <a:extLst xmlns:a="http://schemas.openxmlformats.org/drawingml/2006/main">
              <a:ext uri="{FF2B5EF4-FFF2-40B4-BE49-F238E27FC236}">
                <a16:creationId xmlns:a16="http://schemas.microsoft.com/office/drawing/2014/main" id="{8476BAB1-75AF-4DE5-8BA7-C1EBBA1E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548618"/>
            <a:ext cx="2592841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Forward pressure: open</a:t>
            </a:r>
          </a:p>
        </p:txBody>
      </p:sp>
      <p:sp>
        <p:nvSpPr>
          <p:cNvPr id="13" name="Diagram label: Reverse pressure: closed">
            <a:extLst xmlns:a="http://schemas.openxmlformats.org/drawingml/2006/main">
              <a:ext uri="{FF2B5EF4-FFF2-40B4-BE49-F238E27FC236}">
                <a16:creationId xmlns:a16="http://schemas.microsoft.com/office/drawing/2014/main" id="{45C8B74C-5A61-4B52-A52C-4DA2CF04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499" y="2548618"/>
            <a:ext cx="2592841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Reverse pressure: closed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32C905E-37BF-4976-A261-594E816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7660" y="3144271"/>
            <a:ext cx="25928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595AFA0-1465-4E56-921B-B0EDA26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7660" y="4195422"/>
            <a:ext cx="25928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D97DE05-0112-4D77-9934-65378268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03927" y="3144271"/>
            <a:ext cx="490538" cy="245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BBFDC70-8F3F-4467-B8C0-7236DA01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03927" y="3950154"/>
            <a:ext cx="490538" cy="245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0372410-EBB0-4791-B808-19E97765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22852" y="3669846"/>
            <a:ext cx="215416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4D82A0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66F8F6C-7FAD-4726-A55B-C75BC2A2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47580" y="3610982"/>
            <a:ext cx="117729" cy="11772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176D528-1120-416E-9860-039AB94D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1499" y="3144271"/>
            <a:ext cx="25928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1979081-2F67-4167-986A-C6ABE87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1499" y="4195422"/>
            <a:ext cx="25928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D2F1473-3A85-4176-BA11-966844AF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27459" y="3144271"/>
            <a:ext cx="385422" cy="525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16E73EC-54D3-47EC-A785-1304F51F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7459" y="3669846"/>
            <a:ext cx="385422" cy="525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0A9A2E1-3163-42F1-B2B6-39CF97C8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181485" y="3669846"/>
            <a:ext cx="78766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4D82A0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DA35514-7242-42AC-ADC6-67AC955B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093188" y="3610982"/>
            <a:ext cx="117729" cy="11772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iagram label: Flow passes through&#10;when the valve opens">
            <a:extLst xmlns:a="http://schemas.openxmlformats.org/drawingml/2006/main">
              <a:ext uri="{FF2B5EF4-FFF2-40B4-BE49-F238E27FC236}">
                <a16:creationId xmlns:a16="http://schemas.microsoft.com/office/drawing/2014/main" id="{DC678A7F-B831-4C6F-8E1C-CF882AE0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10768"/>
            <a:ext cx="2452688" cy="59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Flow passes through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when the valve opens</a:t>
            </a:r>
          </a:p>
        </p:txBody>
      </p:sp>
      <p:sp>
        <p:nvSpPr>
          <p:cNvPr id="27" name="Diagram label: Leaflets close against&#10;a reverse pressure">
            <a:extLst xmlns:a="http://schemas.openxmlformats.org/drawingml/2006/main">
              <a:ext uri="{FF2B5EF4-FFF2-40B4-BE49-F238E27FC236}">
                <a16:creationId xmlns:a16="http://schemas.microsoft.com/office/drawing/2014/main" id="{D8322D18-E09E-4692-98BA-B5DA1CC5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499" y="4510768"/>
            <a:ext cx="2592841" cy="59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Leaflets close against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reverse pressure</a:t>
            </a:r>
          </a:p>
        </p:txBody>
      </p:sp>
      <p:sp>
        <p:nvSpPr>
          <p:cNvPr id="28" name="Diagram label: Heart muscle creates pressure; valves direct the flow.">
            <a:extLst xmlns:a="http://schemas.openxmlformats.org/drawingml/2006/main">
              <a:ext uri="{FF2B5EF4-FFF2-40B4-BE49-F238E27FC236}">
                <a16:creationId xmlns:a16="http://schemas.microsoft.com/office/drawing/2014/main" id="{D9596173-84FA-43DA-9C33-04711D2F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316651"/>
            <a:ext cx="5886450" cy="26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Heart muscle creates pressure; valves direct the flow.</a:t>
            </a:r>
          </a:p>
        </p:txBody>
      </p:sp>
      <p:sp>
        <p:nvSpPr>
          <p:cNvPr id="29" name="Muscle contraction changes pressure.  Valves open or close as pr">
            <a:extLst xmlns:a="http://schemas.openxmlformats.org/drawingml/2006/main">
              <a:ext uri="{FF2B5EF4-FFF2-40B4-BE49-F238E27FC236}">
                <a16:creationId xmlns:a16="http://schemas.microsoft.com/office/drawing/2014/main" id="{A3501594-A14E-4A3B-9B7C-D73C238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Muscle contraction changes pressure. Valves open or close as pressure differences change. They help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prevent backflow.</a:t>
            </a:r>
          </a:p>
        </p:txBody>
      </p:sp>
    </p:spTree>
    <p:extLst>
      <p:ext uri="{BB962C8B-B14F-4D97-AF65-F5344CB8AC3E}">
        <p14:creationId xmlns:p14="http://schemas.microsoft.com/office/powerpoint/2010/main" val="2091078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DB629EB-5D10-463A-8324-D9E65223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ACCF75D-963A-4B62-8A4B-D2F59EE2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14BB213-F6FF-4FAB-BAE6-10C08225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8AF99D1-64C4-4D30-AB7B-8AC72440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6C721459-16D2-4C76-8B76-DD28E10E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3917A82-D4E9-4D54-8740-9A092C9C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oute engineering desk">
            <a:extLst xmlns:a="http://schemas.openxmlformats.org/drawingml/2006/main">
              <a:ext uri="{FF2B5EF4-FFF2-40B4-BE49-F238E27FC236}">
                <a16:creationId xmlns:a16="http://schemas.microsoft.com/office/drawing/2014/main" id="{07856DDB-0C9D-4E80-89BF-C6919CA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Route engineering desk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9B4E5CA-6FE0-4369-A804-005A51F0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B0854ABF-BF64-4A13-AE97-FE0771AE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C105AEDF-B4B8-440E-90A9-529A69FC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Match the four named vessels to their routes. Add the missin">
            <a:extLst xmlns:a="http://schemas.openxmlformats.org/drawingml/2006/main">
              <a:ext uri="{FF2B5EF4-FFF2-40B4-BE49-F238E27FC236}">
                <a16:creationId xmlns:a16="http://schemas.microsoft.com/office/drawing/2014/main" id="{FB01DFBE-8BD9-49A0-B4FF-C4ACB31E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Match the four named vessels to their routes. Add the missing atrium→ventricle steps.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065894"/>
                <a:gridCol w="5059306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Journey segment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Major vessel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Body → right atrium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Vena cava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Right ventricle → lungs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Pulmonary artery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Lungs → left atrium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Pulmonary veins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Left ventricle → body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Aorta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chematic adult double-circulation route.">
            <a:extLst xmlns:a="http://schemas.openxmlformats.org/drawingml/2006/main">
              <a:ext uri="{FF2B5EF4-FFF2-40B4-BE49-F238E27FC236}">
                <a16:creationId xmlns:a16="http://schemas.microsoft.com/office/drawing/2014/main" id="{DD3C2A71-AAE4-4004-BC6C-723C74DB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6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Schematic adult double-circulation route.</a:t>
            </a:r>
          </a:p>
        </p:txBody>
      </p:sp>
    </p:spTree>
    <p:extLst>
      <p:ext uri="{BB962C8B-B14F-4D97-AF65-F5344CB8AC3E}">
        <p14:creationId xmlns:p14="http://schemas.microsoft.com/office/powerpoint/2010/main" val="1407584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A60B12E-16E2-4000-BCB1-0EDC39F5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1A29997-F8F3-42D2-ADB9-A63D64E8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7C82941-FA03-4821-A3BB-5A24F51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A962365-EC0C-4CAE-955E-92446AF0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18C3A1A6-0922-4B8B-A2F1-07920530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3BDF9E4B-7E4E-4D6B-B63B-60D9ADF4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Pump data challenge">
            <a:extLst xmlns:a="http://schemas.openxmlformats.org/drawingml/2006/main">
              <a:ext uri="{FF2B5EF4-FFF2-40B4-BE49-F238E27FC236}">
                <a16:creationId xmlns:a16="http://schemas.microsoft.com/office/drawing/2014/main" id="{481B502F-7D7C-46A5-B5F7-7ECE4A9A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Pump data challenge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1A42C1D-0670-440A-BD18-5481D88D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65792A64-8331-453B-86D4-948B54C5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14C73503-D7B4-4D66-8B6B-6F3B5CC4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W2. Calculate output for P and Q. Check both heart rate and stro">
            <a:extLst xmlns:a="http://schemas.openxmlformats.org/drawingml/2006/main">
              <a:ext uri="{FF2B5EF4-FFF2-40B4-BE49-F238E27FC236}">
                <a16:creationId xmlns:a16="http://schemas.microsoft.com/office/drawing/2014/main" id="{B71AD0BA-272C-42F2-BEFB-A8D5D3CF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Calculate output for P and Q. Check both heart rate and stroke volume.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151590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08400"/>
                <a:gridCol w="3708400"/>
                <a:gridCol w="3708400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Beats/min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mL/beat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55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pump records; not pupil measurements.">
            <a:extLst xmlns:a="http://schemas.openxmlformats.org/drawingml/2006/main">
              <a:ext uri="{FF2B5EF4-FFF2-40B4-BE49-F238E27FC236}">
                <a16:creationId xmlns:a16="http://schemas.microsoft.com/office/drawing/2014/main" id="{F02406A9-69CC-4873-91A8-F39166F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5729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pump records; not pupil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287427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029EA08-513C-48E0-92ED-6AC223FC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861313E-981F-4FCC-AB21-9C47DB29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FECD566-06A5-448B-B06F-ACA2D33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FD06128-C6FD-43B5-AA58-EA3D81E9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399E57D8-152B-4D9F-B186-3DA449A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772893F-30D7-4C62-AF16-0150E39F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pair the wall claim">
            <a:extLst xmlns:a="http://schemas.openxmlformats.org/drawingml/2006/main">
              <a:ext uri="{FF2B5EF4-FFF2-40B4-BE49-F238E27FC236}">
                <a16:creationId xmlns:a16="http://schemas.microsoft.com/office/drawing/2014/main" id="{2642D111-3C4C-468E-94BD-FA5967AE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wall claim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81FBCA1-FCBE-41F1-B062-AF5160B7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1DA2CE3A-26C0-4BED-8B0A-82993DA4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1815373E-3B0D-4992-8C45-31C17793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“The thicker left ventricle proves it always pumps more bloo">
            <a:extLst xmlns:a="http://schemas.openxmlformats.org/drawingml/2006/main">
              <a:ext uri="{FF2B5EF4-FFF2-40B4-BE49-F238E27FC236}">
                <a16:creationId xmlns:a16="http://schemas.microsoft.com/office/drawing/2014/main" id="{22CEBCED-4B57-4B65-9051-B163461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“The thicker left ventricle proves it always pumps more blood than the right.”</a:t>
            </a:r>
          </a:p>
        </p:txBody>
      </p:sp>
      <p:sp>
        <p:nvSpPr>
          <p:cNvPr id="12" name="Replace volume with the relevant mechanism.">
            <a:extLst xmlns:a="http://schemas.openxmlformats.org/drawingml/2006/main">
              <a:ext uri="{FF2B5EF4-FFF2-40B4-BE49-F238E27FC236}">
                <a16:creationId xmlns:a16="http://schemas.microsoft.com/office/drawing/2014/main" id="{B7B301C1-E729-4417-850C-7BADF8F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Replace volume with the relevant mechanism.</a:t>
            </a:r>
          </a:p>
        </p:txBody>
      </p:sp>
    </p:spTree>
    <p:extLst>
      <p:ext uri="{BB962C8B-B14F-4D97-AF65-F5344CB8AC3E}">
        <p14:creationId xmlns:p14="http://schemas.microsoft.com/office/powerpoint/2010/main" val="1087653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82B2A747-2BBC-47A6-BA93-157C7D58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69DCAE7-BCE1-4E8A-A2E6-3BB7FD38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4D1AA59-4434-465D-9A55-C16D6FCD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7F4F4CC-F11E-4043-8F60-1416A2DE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11DABEA7-0304-4C00-B267-24820B57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00EFBA5-8AF2-4C43-BFE1-1A5205E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definition survives the lung route?">
            <a:extLst xmlns:a="http://schemas.openxmlformats.org/drawingml/2006/main">
              <a:ext uri="{FF2B5EF4-FFF2-40B4-BE49-F238E27FC236}">
                <a16:creationId xmlns:a16="http://schemas.microsoft.com/office/drawing/2014/main" id="{EEF4EF2C-66C5-4F19-93F9-D2ADEF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definition survives the lung route?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3070281-3913-4AC4-8440-5D22D81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F7BE0A32-2CF9-474C-8FA5-6BC9157C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3636DF99-B4C9-4AA1-8597-0AD7D99F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accurate statement.">
            <a:extLst xmlns:a="http://schemas.openxmlformats.org/drawingml/2006/main">
              <a:ext uri="{FF2B5EF4-FFF2-40B4-BE49-F238E27FC236}">
                <a16:creationId xmlns:a16="http://schemas.microsoft.com/office/drawing/2014/main" id="{8CA0E302-76F9-42BC-9DB9-258C86A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accurate statement.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A9EF130-F2D2-4936-92C4-489F56E9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167D468-5446-43C0-B082-2F4BCD0B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E1CEAF7C-5326-472B-8F38-C55A5B45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he pulmonary artery is an artery because it carries blood away ">
            <a:extLst xmlns:a="http://schemas.openxmlformats.org/drawingml/2006/main">
              <a:ext uri="{FF2B5EF4-FFF2-40B4-BE49-F238E27FC236}">
                <a16:creationId xmlns:a16="http://schemas.microsoft.com/office/drawing/2014/main" id="{911898FF-E3C0-4968-A98D-6CD32658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pulmonary artery is an artery because it carries blood away from the heart.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9162041-7343-4608-9160-E49E1AA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AA2EEA99-C6C9-4124-A02C-42937AAF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8813BC5C-C14D-4D69-B214-7116CBEE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Every vein must carry relatively oxygen-poor blood.">
            <a:extLst xmlns:a="http://schemas.openxmlformats.org/drawingml/2006/main">
              <a:ext uri="{FF2B5EF4-FFF2-40B4-BE49-F238E27FC236}">
                <a16:creationId xmlns:a16="http://schemas.microsoft.com/office/drawing/2014/main" id="{629DAFAC-2984-4FFF-99B6-1EDB4918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Every vein must carry relatively oxygen-poor blood.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B53EB93C-79BA-461D-AED8-52DA23B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D35387F9-DADF-4144-BA23-E5D8A68F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553A6DD5-F426-4EBF-89EF-0B2F01F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Valves supply the force that pumps blood.">
            <a:extLst xmlns:a="http://schemas.openxmlformats.org/drawingml/2006/main">
              <a:ext uri="{FF2B5EF4-FFF2-40B4-BE49-F238E27FC236}">
                <a16:creationId xmlns:a16="http://schemas.microsoft.com/office/drawing/2014/main" id="{C4A7FFFD-074D-4E44-8B78-C2730AB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Valves supply the force that pumps blood.</a:t>
            </a:r>
          </a:p>
        </p:txBody>
      </p:sp>
    </p:spTree>
    <p:extLst>
      <p:ext uri="{BB962C8B-B14F-4D97-AF65-F5344CB8AC3E}">
        <p14:creationId xmlns:p14="http://schemas.microsoft.com/office/powerpoint/2010/main" val="2053154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F01B04A-5425-420C-B12D-7CE9A7DF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301D518-25DE-4C72-8AC2-82220C6A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470CAC9-4876-4785-8C0B-00DB474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2E29949-B190-4ED8-ACA3-9FC9EC9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0642024-C473-4EBF-8DAB-0F52C06B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6D660C8C-9859-4DF6-94FA-71A0685A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Produce a route-and-pump brief">
            <a:extLst xmlns:a="http://schemas.openxmlformats.org/drawingml/2006/main">
              <a:ext uri="{FF2B5EF4-FFF2-40B4-BE49-F238E27FC236}">
                <a16:creationId xmlns:a16="http://schemas.microsoft.com/office/drawing/2014/main" id="{DEEF9A39-8D82-47A6-B064-2B8CDF31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Produce a route-and-pump brief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1631DA3-9367-42E6-8B40-751AFF7D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E61C8836-3381-4125-BC82-F22A4FB3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76C5C54A-20FF-4236-9703-A901084C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response route.">
            <a:extLst xmlns:a="http://schemas.openxmlformats.org/drawingml/2006/main">
              <a:ext uri="{FF2B5EF4-FFF2-40B4-BE49-F238E27FC236}">
                <a16:creationId xmlns:a16="http://schemas.microsoft.com/office/drawing/2014/main" id="{626CEFAC-8ADC-4B70-8C18-3A7D8FC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response route.</a:t>
            </a:r>
          </a:p>
        </p:txBody>
      </p:sp>
      <p:sp>
        <p:nvSpPr>
          <p:cNvPr id="12" name="Show the route, a structural reason and one calculation.">
            <a:extLst xmlns:a="http://schemas.openxmlformats.org/drawingml/2006/main">
              <a:ext uri="{FF2B5EF4-FFF2-40B4-BE49-F238E27FC236}">
                <a16:creationId xmlns:a16="http://schemas.microsoft.com/office/drawing/2014/main" id="{AF42421F-FF06-4CE2-99FC-3076DE8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route, a structural reason and one calculation.</a:t>
            </a:r>
          </a:p>
        </p:txBody>
      </p:sp>
    </p:spTree>
    <p:extLst>
      <p:ext uri="{BB962C8B-B14F-4D97-AF65-F5344CB8AC3E}">
        <p14:creationId xmlns:p14="http://schemas.microsoft.com/office/powerpoint/2010/main" val="1357999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19D6A6F-21BC-40E7-BE64-BA952A4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095E456-0CE1-4094-8969-49DA41F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3C0E9A0-CDF2-4C3F-AA66-591D4221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4DBB3A17-C579-4C8D-8694-C7F43329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7DD47791-2AAD-4AD5-94F4-035B0C4A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DD726DD8-7F69-47A0-84C7-BE3F4C4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every arrow explain something">
            <a:extLst xmlns:a="http://schemas.openxmlformats.org/drawingml/2006/main">
              <a:ext uri="{FF2B5EF4-FFF2-40B4-BE49-F238E27FC236}">
                <a16:creationId xmlns:a16="http://schemas.microsoft.com/office/drawing/2014/main" id="{2D74AFDD-4841-4529-B455-5B5C891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every arrow explain something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05A0209-BF33-4CD4-8A64-D14B42A9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0BCE3452-E252-4106-A4A4-A4826D2C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915D01BA-0B81-4196-B160-2D7B2D2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Name the vessel and direction.">
            <a:extLst xmlns:a="http://schemas.openxmlformats.org/drawingml/2006/main">
              <a:ext uri="{FF2B5EF4-FFF2-40B4-BE49-F238E27FC236}">
                <a16:creationId xmlns:a16="http://schemas.microsoft.com/office/drawing/2014/main" id="{0481D9BA-433F-4B11-ACD7-96F9DB1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the vessel and direction.</a:t>
            </a:r>
          </a:p>
        </p:txBody>
      </p:sp>
      <p:sp>
        <p:nvSpPr>
          <p:cNvPr id="12" name="Keep pressure, volume and rate distinct.">
            <a:extLst xmlns:a="http://schemas.openxmlformats.org/drawingml/2006/main">
              <a:ext uri="{FF2B5EF4-FFF2-40B4-BE49-F238E27FC236}">
                <a16:creationId xmlns:a16="http://schemas.microsoft.com/office/drawing/2014/main" id="{9D64B8F4-5213-42CB-967B-39FE993D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pressure, volume and rate distinct.</a:t>
            </a:r>
          </a:p>
        </p:txBody>
      </p:sp>
    </p:spTree>
    <p:extLst>
      <p:ext uri="{BB962C8B-B14F-4D97-AF65-F5344CB8AC3E}">
        <p14:creationId xmlns:p14="http://schemas.microsoft.com/office/powerpoint/2010/main" val="360196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C24D76F-CA4D-45CC-9E40-67C8E86C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EA435A6-5C6B-4118-8D0E-8646656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4485ABF-557B-4E53-8C79-C83DA232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93BF93C-2740-432F-A92F-7DF797E7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4E9BA080-F23B-435F-B9D5-1452015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FD75568-56D6-47D8-B10F-90AA9427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 checks the exception">
            <a:extLst xmlns:a="http://schemas.openxmlformats.org/drawingml/2006/main">
              <a:ext uri="{FF2B5EF4-FFF2-40B4-BE49-F238E27FC236}">
                <a16:creationId xmlns:a16="http://schemas.microsoft.com/office/drawing/2014/main" id="{ADB545A5-DCC0-49A6-A5BC-FE3D354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checks the exception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54826D4-C08A-4E50-8BD1-C5EC1E7E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A4573BB4-7055-4DCB-BEDA-D45841B0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721AF8AC-426F-49D4-8B01-7A1BF891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are one vessel claim.">
            <a:extLst xmlns:a="http://schemas.openxmlformats.org/drawingml/2006/main">
              <a:ext uri="{FF2B5EF4-FFF2-40B4-BE49-F238E27FC236}">
                <a16:creationId xmlns:a16="http://schemas.microsoft.com/office/drawing/2014/main" id="{311DB500-86BD-42D4-92AA-32CC43C5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Share one vessel claim.</a:t>
            </a:r>
          </a:p>
        </p:txBody>
      </p:sp>
      <p:sp>
        <p:nvSpPr>
          <p:cNvPr id="12" name="Audience asks: “Would it still work for the pulmonary vessels?”">
            <a:extLst xmlns:a="http://schemas.openxmlformats.org/drawingml/2006/main">
              <a:ext uri="{FF2B5EF4-FFF2-40B4-BE49-F238E27FC236}">
                <a16:creationId xmlns:a16="http://schemas.microsoft.com/office/drawing/2014/main" id="{4D6F873F-FD51-4FF8-AC54-1E2FCA7C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asks: “Would it still work for the pulmonary vessels?”</a:t>
            </a:r>
          </a:p>
        </p:txBody>
      </p:sp>
    </p:spTree>
    <p:extLst>
      <p:ext uri="{BB962C8B-B14F-4D97-AF65-F5344CB8AC3E}">
        <p14:creationId xmlns:p14="http://schemas.microsoft.com/office/powerpoint/2010/main" val="15695529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E34957B-597E-42D0-8ABC-FDA3F4FC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56F2935-F683-47DC-89C7-B1019AAD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49764E9-13DE-4C9B-A797-79E1D57E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6F1B720-4844-48E0-ABF3-30A9035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5F60B54-44D8-45CB-932F-7B054947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2CA0CB35-048B-4BA5-88E8-2FD8A65E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 route and a calculation need units">
            <a:extLst xmlns:a="http://schemas.openxmlformats.org/drawingml/2006/main">
              <a:ext uri="{FF2B5EF4-FFF2-40B4-BE49-F238E27FC236}">
                <a16:creationId xmlns:a16="http://schemas.microsoft.com/office/drawing/2014/main" id="{2B5FA631-9C1D-4116-A451-EBA7E18A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route and a calculation need units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63B6261-C09F-4F80-A477-F4272C3B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74FE8CB2-21AD-42F5-B411-8E50BBBD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919EB16F-211C-4654-97E5-870D5BA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A correct name tells us where blood goes.">
            <a:extLst xmlns:a="http://schemas.openxmlformats.org/drawingml/2006/main">
              <a:ext uri="{FF2B5EF4-FFF2-40B4-BE49-F238E27FC236}">
                <a16:creationId xmlns:a16="http://schemas.microsoft.com/office/drawing/2014/main" id="{A357811F-A029-4869-83FB-07086BE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correct name tells us where blood goes.</a:t>
            </a:r>
          </a:p>
        </p:txBody>
      </p:sp>
      <p:sp>
        <p:nvSpPr>
          <p:cNvPr id="12" name="A correct unit tells us what the number measures.">
            <a:extLst xmlns:a="http://schemas.openxmlformats.org/drawingml/2006/main">
              <a:ext uri="{FF2B5EF4-FFF2-40B4-BE49-F238E27FC236}">
                <a16:creationId xmlns:a16="http://schemas.microsoft.com/office/drawing/2014/main" id="{78AE0DE5-CD01-443B-8142-D16C0F4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correct unit tells us what the number measures.</a:t>
            </a:r>
          </a:p>
        </p:txBody>
      </p:sp>
    </p:spTree>
    <p:extLst>
      <p:ext uri="{BB962C8B-B14F-4D97-AF65-F5344CB8AC3E}">
        <p14:creationId xmlns:p14="http://schemas.microsoft.com/office/powerpoint/2010/main" val="436476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BECF9DC4-DEF2-425C-A51E-D52B7B15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6D05936-10CA-4974-929E-CA201DF7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57B9823-682E-4B0A-AD86-C29DDC96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155F7E6C-C374-4C61-82E7-5E90728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D47AA51A-FC00-49E4-B14E-69DD7EB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5DA12362-7FC0-45AD-8D39-77B2E1F0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Three useful checks">
            <a:extLst xmlns:a="http://schemas.openxmlformats.org/drawingml/2006/main">
              <a:ext uri="{FF2B5EF4-FFF2-40B4-BE49-F238E27FC236}">
                <a16:creationId xmlns:a16="http://schemas.microsoft.com/office/drawing/2014/main" id="{122EE775-1860-4918-9107-7397A598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useful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59442B6-B7AA-4C95-B4B6-B0687345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A820B7F2-210A-4DA0-9F8B-426AE71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BD5D4B50-302B-4995-BD4F-65553A5B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Which chamber pumps blood to the lungs?">
            <a:extLst xmlns:a="http://schemas.openxmlformats.org/drawingml/2006/main">
              <a:ext uri="{FF2B5EF4-FFF2-40B4-BE49-F238E27FC236}">
                <a16:creationId xmlns:a16="http://schemas.microsoft.com/office/drawing/2014/main" id="{39ACCD0F-06C6-4751-8453-38DD690D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Which chamber pumps blood to the lungs?</a:t>
            </a:r>
          </a:p>
        </p:txBody>
      </p:sp>
      <p:sp>
        <p:nvSpPr>
          <p:cNvPr id="12" name="E2. Why is the left-ventricle wall thicker?">
            <a:extLst xmlns:a="http://schemas.openxmlformats.org/drawingml/2006/main">
              <a:ext uri="{FF2B5EF4-FFF2-40B4-BE49-F238E27FC236}">
                <a16:creationId xmlns:a16="http://schemas.microsoft.com/office/drawing/2014/main" id="{1F605223-3D88-43EF-B482-DFEAECA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Why is the left-ventricle wall thicker?</a:t>
            </a:r>
          </a:p>
        </p:txBody>
      </p:sp>
      <p:sp>
        <p:nvSpPr>
          <p:cNvPr id="13" name="E3. Calculate 60 mL/beat × 90 beats/min.">
            <a:extLst xmlns:a="http://schemas.openxmlformats.org/drawingml/2006/main">
              <a:ext uri="{FF2B5EF4-FFF2-40B4-BE49-F238E27FC236}">
                <a16:creationId xmlns:a16="http://schemas.microsoft.com/office/drawing/2014/main" id="{14846D9D-D0EE-40B6-8651-67BED81A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Calculate 60 mL/beat × 90 beats/min.</a:t>
            </a:r>
          </a:p>
        </p:txBody>
      </p:sp>
    </p:spTree>
    <p:extLst>
      <p:ext uri="{BB962C8B-B14F-4D97-AF65-F5344CB8AC3E}">
        <p14:creationId xmlns:p14="http://schemas.microsoft.com/office/powerpoint/2010/main" val="1372946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E684010D-1B28-4ABE-8B1E-FC66542B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5412DA7-8684-4327-A910-4084EE6C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0E00AE1-015E-41D7-B3AA-5AB1F0BA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89A4DE4-8533-4092-A7A9-15A9BD85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08DA4C70-D2A5-4159-B142-7729758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Next useful step">
            <a:extLst xmlns:a="http://schemas.openxmlformats.org/drawingml/2006/main">
              <a:ext uri="{FF2B5EF4-FFF2-40B4-BE49-F238E27FC236}">
                <a16:creationId xmlns:a16="http://schemas.microsoft.com/office/drawing/2014/main" id="{9E8A7213-32CB-42CE-9EDF-A5E9C6A8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452A8B6-7000-43AF-9B7D-4C7E681E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Double circulation: engineer the route">
            <a:extLst xmlns:a="http://schemas.openxmlformats.org/drawingml/2006/main">
              <a:ext uri="{FF2B5EF4-FFF2-40B4-BE49-F238E27FC236}">
                <a16:creationId xmlns:a16="http://schemas.microsoft.com/office/drawing/2014/main" id="{A6E55104-2F52-42C1-8F49-0298CC1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Double circulation: engineer the route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86B73F6A-F574-44F1-9E1F-0FB08780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Vessel direction • chamber route • pressure • output units.">
            <a:extLst xmlns:a="http://schemas.openxmlformats.org/drawingml/2006/main">
              <a:ext uri="{FF2B5EF4-FFF2-40B4-BE49-F238E27FC236}">
                <a16:creationId xmlns:a16="http://schemas.microsoft.com/office/drawing/2014/main" id="{2308D124-9806-4A44-A9DE-60BA1899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Vessel direction • chamber route • pressure • output units.</a:t>
            </a:r>
          </a:p>
        </p:txBody>
      </p:sp>
    </p:spTree>
    <p:extLst>
      <p:ext uri="{BB962C8B-B14F-4D97-AF65-F5344CB8AC3E}">
        <p14:creationId xmlns:p14="http://schemas.microsoft.com/office/powerpoint/2010/main" val="331029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2026-09-09T00:03:30.1500000Z</dcterms:created>
  <dcterms:modified xsi:type="dcterms:W3CDTF">2026-09-09T00:03:30.1500000Z</dcterms:modified>
</coreProperties>
</file>