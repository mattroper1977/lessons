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daa56ae0be44d5" /><Relationship Type="http://schemas.openxmlformats.org/officeDocument/2006/relationships/extended-properties" Target="/docProps/app.xml" Id="R1ea97b2113914cd0" /><Relationship Type="http://schemas.openxmlformats.org/officeDocument/2006/relationships/officeDocument" Target="/ppt/presentation.xml" Id="R5d8376eb5087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9974811ca4406"/>
  </p:sldMasterIdLst>
  <p:notesMasterIdLst>
    <p:notesMasterId xmlns:r="http://schemas.openxmlformats.org/officeDocument/2006/relationships" r:id="Ree0c1f53495743af"/>
  </p:notesMasterIdLst>
  <p:sldIdLst>
    <p:sldId xmlns:r="http://schemas.openxmlformats.org/officeDocument/2006/relationships" id="256" r:id="R52a5918c99754783"/>
    <p:sldId xmlns:r="http://schemas.openxmlformats.org/officeDocument/2006/relationships" id="257" r:id="R01be1d501600461d"/>
    <p:sldId xmlns:r="http://schemas.openxmlformats.org/officeDocument/2006/relationships" id="258" r:id="R58645cbb53fe4d25"/>
    <p:sldId xmlns:r="http://schemas.openxmlformats.org/officeDocument/2006/relationships" id="259" r:id="R7b9a3c2315874bec"/>
    <p:sldId xmlns:r="http://schemas.openxmlformats.org/officeDocument/2006/relationships" id="260" r:id="Rb1dbf110644c4890"/>
    <p:sldId xmlns:r="http://schemas.openxmlformats.org/officeDocument/2006/relationships" id="261" r:id="R254b94afb90040b0"/>
    <p:sldId xmlns:r="http://schemas.openxmlformats.org/officeDocument/2006/relationships" id="262" r:id="R80f2011151ff4a3f"/>
    <p:sldId xmlns:r="http://schemas.openxmlformats.org/officeDocument/2006/relationships" id="263" r:id="R8dfcee38aca24fdf"/>
    <p:sldId xmlns:r="http://schemas.openxmlformats.org/officeDocument/2006/relationships" id="264" r:id="R044b8c8ca756454b"/>
    <p:sldId xmlns:r="http://schemas.openxmlformats.org/officeDocument/2006/relationships" id="265" r:id="R35912373627843b9"/>
    <p:sldId xmlns:r="http://schemas.openxmlformats.org/officeDocument/2006/relationships" id="266" r:id="Rd68951790f73413d"/>
    <p:sldId xmlns:r="http://schemas.openxmlformats.org/officeDocument/2006/relationships" id="267" r:id="R9e7c39bbe15c40b0"/>
    <p:sldId xmlns:r="http://schemas.openxmlformats.org/officeDocument/2006/relationships" id="268" r:id="Rfb706204e1e44b5a"/>
    <p:sldId xmlns:r="http://schemas.openxmlformats.org/officeDocument/2006/relationships" id="269" r:id="R225c2b0e6e9e4e58"/>
    <p:sldId xmlns:r="http://schemas.openxmlformats.org/officeDocument/2006/relationships" id="270" r:id="R5952eabd87844d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1a20c29134df9" /><Relationship Type="http://schemas.openxmlformats.org/officeDocument/2006/relationships/slideMaster" Target="/ppt/slideMasters/slideMaster1.xml" Id="R6ed9974811ca4406" /><Relationship Type="http://schemas.openxmlformats.org/officeDocument/2006/relationships/notesMaster" Target="/ppt/notesMasters/notesMaster1.xml" Id="Ree0c1f53495743af" /><Relationship Type="http://schemas.openxmlformats.org/officeDocument/2006/relationships/presProps" Target="/ppt/presProps.xml" Id="Re4a1cddf124a412a" /><Relationship Type="http://schemas.openxmlformats.org/officeDocument/2006/relationships/tableStyles" Target="/ppt/tableStyles.xml" Id="R976292de72c1455c" /><Relationship Type="http://schemas.openxmlformats.org/officeDocument/2006/relationships/slide" Target="/ppt/slides/slide1.xml" Id="R52a5918c99754783" /><Relationship Type="http://schemas.openxmlformats.org/officeDocument/2006/relationships/slide" Target="/ppt/slides/slide2.xml" Id="R01be1d501600461d" /><Relationship Type="http://schemas.openxmlformats.org/officeDocument/2006/relationships/slide" Target="/ppt/slides/slide3.xml" Id="R58645cbb53fe4d25" /><Relationship Type="http://schemas.openxmlformats.org/officeDocument/2006/relationships/slide" Target="/ppt/slides/slide4.xml" Id="R7b9a3c2315874bec" /><Relationship Type="http://schemas.openxmlformats.org/officeDocument/2006/relationships/slide" Target="/ppt/slides/slide5.xml" Id="Rb1dbf110644c4890" /><Relationship Type="http://schemas.openxmlformats.org/officeDocument/2006/relationships/slide" Target="/ppt/slides/slide6.xml" Id="R254b94afb90040b0" /><Relationship Type="http://schemas.openxmlformats.org/officeDocument/2006/relationships/slide" Target="/ppt/slides/slide7.xml" Id="R80f2011151ff4a3f" /><Relationship Type="http://schemas.openxmlformats.org/officeDocument/2006/relationships/slide" Target="/ppt/slides/slide8.xml" Id="R8dfcee38aca24fdf" /><Relationship Type="http://schemas.openxmlformats.org/officeDocument/2006/relationships/slide" Target="/ppt/slides/slide9.xml" Id="R044b8c8ca756454b" /><Relationship Type="http://schemas.openxmlformats.org/officeDocument/2006/relationships/slide" Target="/ppt/slides/slide10.xml" Id="R35912373627843b9" /><Relationship Type="http://schemas.openxmlformats.org/officeDocument/2006/relationships/slide" Target="/ppt/slides/slide11.xml" Id="Rd68951790f73413d" /><Relationship Type="http://schemas.openxmlformats.org/officeDocument/2006/relationships/slide" Target="/ppt/slides/slide12.xml" Id="R9e7c39bbe15c40b0" /><Relationship Type="http://schemas.openxmlformats.org/officeDocument/2006/relationships/slide" Target="/ppt/slides/slide13.xml" Id="Rfb706204e1e44b5a" /><Relationship Type="http://schemas.openxmlformats.org/officeDocument/2006/relationships/slide" Target="/ppt/slides/slide14.xml" Id="R225c2b0e6e9e4e58" /><Relationship Type="http://schemas.openxmlformats.org/officeDocument/2006/relationships/slide" Target="/ppt/slides/slide15.xml" Id="R5952eabd87844d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da2d0265274d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06ce03e0a4c82" /><Relationship Type="http://schemas.openxmlformats.org/officeDocument/2006/relationships/notesMaster" Target="/ppt/notesMasters/notesMaster1.xml" Id="Rd000d84327ac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08b7c6878440b0" /><Relationship Type="http://schemas.openxmlformats.org/officeDocument/2006/relationships/notesMaster" Target="/ppt/notesMasters/notesMaster1.xml" Id="R4c1cffd892c54a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8cef5abd7a4533" /><Relationship Type="http://schemas.openxmlformats.org/officeDocument/2006/relationships/notesMaster" Target="/ppt/notesMasters/notesMaster1.xml" Id="R55903c08eb5641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829bcc71fd41e2" /><Relationship Type="http://schemas.openxmlformats.org/officeDocument/2006/relationships/notesMaster" Target="/ppt/notesMasters/notesMaster1.xml" Id="R265cee5daf56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cad3a42f494397" /><Relationship Type="http://schemas.openxmlformats.org/officeDocument/2006/relationships/notesMaster" Target="/ppt/notesMasters/notesMaster1.xml" Id="R5e079bcfc63e43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33980685c4a6b" /><Relationship Type="http://schemas.openxmlformats.org/officeDocument/2006/relationships/notesMaster" Target="/ppt/notesMasters/notesMaster1.xml" Id="Rf609c56b9fbf4a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8660bdc4cb467c" /><Relationship Type="http://schemas.openxmlformats.org/officeDocument/2006/relationships/notesMaster" Target="/ppt/notesMasters/notesMaster1.xml" Id="R0919674a5abd46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6521a1a7f74649" /><Relationship Type="http://schemas.openxmlformats.org/officeDocument/2006/relationships/notesMaster" Target="/ppt/notesMasters/notesMaster1.xml" Id="Rc1df9c96b9444e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4ac28bade4efe" /><Relationship Type="http://schemas.openxmlformats.org/officeDocument/2006/relationships/notesMaster" Target="/ppt/notesMasters/notesMaster1.xml" Id="R739cba7b51ba4b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e180d52a7c43eb" /><Relationship Type="http://schemas.openxmlformats.org/officeDocument/2006/relationships/notesMaster" Target="/ppt/notesMasters/notesMaster1.xml" Id="Ra7a2a23291ba4d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50aa692b874f43" /><Relationship Type="http://schemas.openxmlformats.org/officeDocument/2006/relationships/notesMaster" Target="/ppt/notesMasters/notesMaster1.xml" Id="Rfabf41fbf61e44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3fb94da30f4905" /><Relationship Type="http://schemas.openxmlformats.org/officeDocument/2006/relationships/notesMaster" Target="/ppt/notesMasters/notesMaster1.xml" Id="R42ca5dc8b5974f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bbc2912a2e494e" /><Relationship Type="http://schemas.openxmlformats.org/officeDocument/2006/relationships/notesMaster" Target="/ppt/notesMasters/notesMaster1.xml" Id="R9f312df47f6d49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ec427824814ca0" /><Relationship Type="http://schemas.openxmlformats.org/officeDocument/2006/relationships/notesMaster" Target="/ppt/notesMasters/notesMaster1.xml" Id="Rbd0ee86b6d7e44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a14ded1074472a" /><Relationship Type="http://schemas.openxmlformats.org/officeDocument/2006/relationships/notesMaster" Target="/ppt/notesMasters/notesMaster1.xml" Id="R6330c3628773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a prediction without calling hormones thinking agents. Preview signal route, recognition and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blood. R2: cell reactions/enzymes work effectively under suitable conditions. R3: no; interactions are physical/chemical. Accept plain-language mechanisms.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pancreas releasing insulin into blood; responsive tissues change glucose uptake/storage processes. Keep this preview qualitative. Endocrine secretion is into blood, not an exocrine 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Endocrine transport model: an endocrine gland releases a hormone into circulating blood; the hormone reaches tissues, but only appropriate target cells respond. Arrows show information/material transport, not a private gland-to-organ 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“Both cells are exposed, so travel alone cannot explain the difference. Cell A has the appropriate receptor. The simplified shape represents molecular recognition, not a key operated by a tiny person.”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receptor model: a purple signal is present near two cells. Cell A has a matching receptor and can respond; cell B lacks that receptor. Shapes model recognition only; real receptors are molecules, not conscious 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a raised internal variable and a response tending to lower it. Do not use universal numeric normal ranges. Link suitable temperature to enzyme activity and water balance to cell volume at a conceptual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General negative-feedback model: a condition departs from a suitable range, the change is detected/coordinated, a response opposes the departure, and the condition moves towards the range. This is a control concept, not a claim that all responses are hormonal.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table. All six locations are curriculum gland knowledge; reproductive organs are named matter-of-factly without requiring personal information. Route pancreas→blood→appropriate target tissue.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has matching receptor. Ask for the missing link if pupil says hormone never reaches B; it does reachB but no matching response is represented.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Simplified receptor model: a purple signal is present near two cells. Cell A has a matching receptor and can respond; cell B lacks that receptor. Shapes model recognition only; real receptors are molecules, not conscious 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counteracts the original rise, tending towards suitable limits. Do not claim every biological loop is negative feedback or control is instantaneous.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A negative-feedback response opposes the departure, rather than automatically amplifying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option correct. Re-teach blood distribution versus recognition if wrong.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hormone circulates; appropriate target cells recognise it and respond.</a:t>
            </a:r>
          </a:p>
          <a:p xmlns:a="http://schemas.openxmlformats.org/drawingml/2006/main">
            <a:r>
              <a:t>Correct. Yes. Transport and recognition are different parts of the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The hormone chooses only the cells it likes.</a:t>
            </a:r>
          </a:p>
          <a:p xmlns:a="http://schemas.openxmlformats.org/drawingml/2006/main">
            <a:r>
              <a:t>Hormones do not choose; molecular recognition and cell machinery determine responses.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Homeostasis means no internal value ever changes.</a:t>
            </a:r>
          </a:p>
          <a:p xmlns:a="http://schemas.openxmlformats.org/drawingml/2006/main">
            <a:r>
              <a:t>Regulation responds to changes and helps keep conditions within suitable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routes target message transport, specificity and regulated conditions. No numerical clinical data are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Use a word-bank prompt if needed and record support. Do not require advanced hormone feedback cascades.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quiet teacher/TA review counts. Pupil improves a route label or distinguishes exposure from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a precise limit. Keep homeostasis as dynamic regulation; avoid perfect thermostat equivalence.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E1: in blood. E2: appropriate recognition/receptor absent in the model. E3: internal conditions within suitable limits. Use these to prepare the glucose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Accept a labelled arrow chain instead of extended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NIDDK: What is diabetes?</a:t>
            </a:r>
          </a:p>
          <a:p xmlns:a="http://schemas.openxmlformats.org/drawingml/2006/main">
            <a:r>
              <a:t>https://www.niddk.nih.gov/health-information/diabetes/overview/what-is-diabetes</a:t>
            </a:r>
          </a:p>
          <a:p xmlns:a="http://schemas.openxmlformats.org/drawingml/2006/main">
            <a:r>
              <a:t>Checked the pancreas–insulin example. No diagnostic threshold, medicine choice or treatment advice is taught. Checked 9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Anatomy and Physiology2e: An overview of the endocrine system</a:t>
            </a:r>
          </a:p>
          <a:p xmlns:a="http://schemas.openxmlformats.org/drawingml/2006/main">
            <a:r>
              <a:t>https://openstax.org/books/anatomy-and-physiology-2e/pages/17-1-an-overview-of-the-endocrine-system</a:t>
            </a:r>
          </a:p>
          <a:p xmlns:a="http://schemas.openxmlformats.org/drawingml/2006/main">
            <a:r>
              <a:t>Checked endocrine transport and target-cell specificity; diagrams and classroom cases are original. Checked 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cb5117c354c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6b956e8b944dc5" /><Relationship Type="http://schemas.openxmlformats.org/officeDocument/2006/relationships/slideLayout" Target="/ppt/slideLayouts/slideLayout1.xml" Id="Rbe87e765bf834a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87e765bf834a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411a5d85b49a7" /><Relationship Type="http://schemas.openxmlformats.org/officeDocument/2006/relationships/notesSlide" Target="/ppt/notesSlides/notesSlide1.xml" Id="R0457a58346f4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3b53cc2a44be1" /><Relationship Type="http://schemas.openxmlformats.org/officeDocument/2006/relationships/notesSlide" Target="/ppt/notesSlides/notesSlide2.xml" Id="R07d5905124d944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8c0a7b73b4ee5" /><Relationship Type="http://schemas.openxmlformats.org/officeDocument/2006/relationships/notesSlide" Target="/ppt/notesSlides/notesSlide3.xml" Id="R4cbce553f3e148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86fe035674409" /><Relationship Type="http://schemas.openxmlformats.org/officeDocument/2006/relationships/notesSlide" Target="/ppt/notesSlides/notesSlide4.xml" Id="R75de917642104b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2ce35bdfc4163" /><Relationship Type="http://schemas.openxmlformats.org/officeDocument/2006/relationships/notesSlide" Target="/ppt/notesSlides/notesSlide5.xml" Id="Rd9d28bbe3f1f4c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3f03753d14e8e" /><Relationship Type="http://schemas.openxmlformats.org/officeDocument/2006/relationships/notesSlide" Target="/ppt/notesSlides/notesSlide6.xml" Id="R287568620b534d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10ac2ffd3433e" /><Relationship Type="http://schemas.openxmlformats.org/officeDocument/2006/relationships/notesSlide" Target="/ppt/notesSlides/notesSlide7.xml" Id="R0bf4f0033d7b4f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423cf67b7491c" /><Relationship Type="http://schemas.openxmlformats.org/officeDocument/2006/relationships/notesSlide" Target="/ppt/notesSlides/notesSlide8.xml" Id="R0585dd0951ea4f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5ec35f6624093" /><Relationship Type="http://schemas.openxmlformats.org/officeDocument/2006/relationships/notesSlide" Target="/ppt/notesSlides/notesSlide9.xml" Id="R18821998beaf44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a7ea34b9e46ef" /><Relationship Type="http://schemas.openxmlformats.org/officeDocument/2006/relationships/notesSlide" Target="/ppt/notesSlides/notesSlide10.xml" Id="R747352e093c644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f41446a334666" /><Relationship Type="http://schemas.openxmlformats.org/officeDocument/2006/relationships/notesSlide" Target="/ppt/notesSlides/notesSlide11.xml" Id="R4565c34ba01949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db63215164c83" /><Relationship Type="http://schemas.openxmlformats.org/officeDocument/2006/relationships/notesSlide" Target="/ppt/notesSlides/notesSlide12.xml" Id="Rd1d1030545f84e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edf2012224e3e" /><Relationship Type="http://schemas.openxmlformats.org/officeDocument/2006/relationships/notesSlide" Target="/ppt/notesSlides/notesSlide13.xml" Id="Rb1d77a3f886e4b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c35291aeb403a" /><Relationship Type="http://schemas.openxmlformats.org/officeDocument/2006/relationships/notesSlide" Target="/ppt/notesSlides/notesSlide14.xml" Id="R3b071c3e969640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60854642b40d2" /><Relationship Type="http://schemas.openxmlformats.org/officeDocument/2006/relationships/notesSlide" Target="/ppt/notesSlides/notesSlide15.xml" Id="Rf6c4cfaf9d1d47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AEA7C16A-48DE-4FEC-8572-16F1072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693D65E-250E-4AC6-A821-5C0AB596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7854B8A-A9A6-4E3B-9F15-20D814C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FA63CD4-08E7-4950-AA78-8FF2A686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BC00E402-0BDD-4D47-B1E8-14181FF9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8D18427-8102-44CC-8101-6FC0248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How does a cell receive the right message?">
            <a:extLst xmlns:a="http://schemas.openxmlformats.org/drawingml/2006/main">
              <a:ext uri="{FF2B5EF4-FFF2-40B4-BE49-F238E27FC236}">
                <a16:creationId xmlns:a16="http://schemas.microsoft.com/office/drawing/2014/main" id="{2107DE86-AB0E-4782-A90A-A47DABB7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How does a cell receive the right message?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EAAA10F-4AC1-4B73-829D-E81514BA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914D9E56-3CC2-4E68-8FAC-D8D1F4EA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0AB57F11-512E-4C94-B3DD-B2B6386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9633FD33-ED6F-4F89-A26E-660BC0E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05A4DE5E-0DFE-4D56-9A55-86903293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75149E8D-6E30-4D5E-9985-E1B1859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endocrine signalling and explain why suitable internal ">
            <a:extLst xmlns:a="http://schemas.openxmlformats.org/drawingml/2006/main">
              <a:ext uri="{FF2B5EF4-FFF2-40B4-BE49-F238E27FC236}">
                <a16:creationId xmlns:a16="http://schemas.microsoft.com/office/drawing/2014/main" id="{CD39A772-1398-432C-A8B9-A3DD5865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endocrine signalling and explain why suitable internal conditions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matter.</a:t>
            </a:r>
          </a:p>
        </p:txBody>
      </p:sp>
      <p:sp>
        <p:nvSpPr>
          <p:cNvPr id="15" name="A hormone can travel around the body in blood.">
            <a:extLst xmlns:a="http://schemas.openxmlformats.org/drawingml/2006/main">
              <a:ext uri="{FF2B5EF4-FFF2-40B4-BE49-F238E27FC236}">
                <a16:creationId xmlns:a16="http://schemas.microsoft.com/office/drawing/2014/main" id="{B613EB4A-21CE-4BE7-97DA-360F345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hormone can travel around the body in blood.</a:t>
            </a:r>
          </a:p>
        </p:txBody>
      </p:sp>
      <p:sp>
        <p:nvSpPr>
          <p:cNvPr id="16" name="Why does every cell not react in the same way?">
            <a:extLst xmlns:a="http://schemas.openxmlformats.org/drawingml/2006/main">
              <a:ext uri="{FF2B5EF4-FFF2-40B4-BE49-F238E27FC236}">
                <a16:creationId xmlns:a16="http://schemas.microsoft.com/office/drawing/2014/main" id="{535B8B3B-2BBA-4D8E-A216-F15601AF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Why does every cell not react in the same way?</a:t>
            </a:r>
          </a:p>
        </p:txBody>
      </p:sp>
    </p:spTree>
    <p:extLst>
      <p:ext uri="{BB962C8B-B14F-4D97-AF65-F5344CB8AC3E}">
        <p14:creationId xmlns:p14="http://schemas.microsoft.com/office/powerpoint/2010/main" val="605608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EE797F2-71D2-4B34-BC25-C0AE42B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1829F8C-7FBD-4204-9B3D-A6952174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12B1B10-0DEB-4847-ABE4-EB4D563C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BA48C95-C5CC-4457-B44A-EA1AE171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C9613590-F53A-420F-A26D-FF46780E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B344D2A-5C6C-418D-BB04-E5A55B95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ransport and conditions">
            <a:extLst xmlns:a="http://schemas.openxmlformats.org/drawingml/2006/main">
              <a:ext uri="{FF2B5EF4-FFF2-40B4-BE49-F238E27FC236}">
                <a16:creationId xmlns:a16="http://schemas.microsoft.com/office/drawing/2014/main" id="{D1A9433B-F812-4178-AF1D-5514A823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Transport and conditions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CB329C2-65AF-41FA-8377-3D4BB3FE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C6FFBBE4-2214-4AC4-9EEE-4D15BEE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BC1AC601-59F2-4395-B6E7-25211ECF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carries many dissolved substances around the body?">
            <a:extLst xmlns:a="http://schemas.openxmlformats.org/drawingml/2006/main">
              <a:ext uri="{FF2B5EF4-FFF2-40B4-BE49-F238E27FC236}">
                <a16:creationId xmlns:a16="http://schemas.microsoft.com/office/drawing/2014/main" id="{A4A809C7-7376-43F5-92FE-DAC9E41D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carries many dissolved substances around the body?</a:t>
            </a:r>
          </a:p>
        </p:txBody>
      </p:sp>
      <p:sp>
        <p:nvSpPr>
          <p:cNvPr id="12" name="R2. Why do cells need suitable conditions?">
            <a:extLst xmlns:a="http://schemas.openxmlformats.org/drawingml/2006/main">
              <a:ext uri="{FF2B5EF4-FFF2-40B4-BE49-F238E27FC236}">
                <a16:creationId xmlns:a16="http://schemas.microsoft.com/office/drawing/2014/main" id="{2F3F1E9E-B8CA-473F-818E-7B08E15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Why do cells need suitable conditions?</a:t>
            </a:r>
          </a:p>
        </p:txBody>
      </p:sp>
      <p:sp>
        <p:nvSpPr>
          <p:cNvPr id="13" name="R3. Does a chemical messenger think or choose?">
            <a:extLst xmlns:a="http://schemas.openxmlformats.org/drawingml/2006/main">
              <a:ext uri="{FF2B5EF4-FFF2-40B4-BE49-F238E27FC236}">
                <a16:creationId xmlns:a16="http://schemas.microsoft.com/office/drawing/2014/main" id="{3BA7230D-19A5-4B0B-BA29-3B2D47E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a chemical messenger think or choose?</a:t>
            </a:r>
          </a:p>
        </p:txBody>
      </p:sp>
    </p:spTree>
    <p:extLst>
      <p:ext uri="{BB962C8B-B14F-4D97-AF65-F5344CB8AC3E}">
        <p14:creationId xmlns:p14="http://schemas.microsoft.com/office/powerpoint/2010/main" val="1679572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4C490B5E-2369-4DC9-B82C-224FAAC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C73C3C9-59A7-413F-832F-C4F03001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7EAC512-D746-4013-A5B2-E260D4BC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11858F1-4407-4E34-8735-C5A56767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A2D4356A-3785-41A3-B203-DCDC32EA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A901634F-3765-41BF-924E-C7FA569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I trace the message route">
            <a:extLst xmlns:a="http://schemas.openxmlformats.org/drawingml/2006/main">
              <a:ext uri="{FF2B5EF4-FFF2-40B4-BE49-F238E27FC236}">
                <a16:creationId xmlns:a16="http://schemas.microsoft.com/office/drawing/2014/main" id="{227377D1-4805-4D5D-928C-7DCFE9DA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trace the message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37130BB-9C00-402C-8873-B775D55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7B62414A-B528-4229-8059-446C1C97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CA01746A-C822-4DB3-9538-9210FC4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One message, three important locations">
            <a:extLst xmlns:a="http://schemas.openxmlformats.org/drawingml/2006/main">
              <a:ext uri="{FF2B5EF4-FFF2-40B4-BE49-F238E27FC236}">
                <a16:creationId xmlns:a16="http://schemas.microsoft.com/office/drawing/2014/main" id="{6D622317-68AF-4009-B285-3E482C9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message, three important locations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1C9D856-347F-4F55-926B-C4D6171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3042557"/>
            <a:ext cx="1978734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Endocrine gland&#10;Hormone released&#10;into blood">
            <a:extLst xmlns:a="http://schemas.openxmlformats.org/drawingml/2006/main">
              <a:ext uri="{FF2B5EF4-FFF2-40B4-BE49-F238E27FC236}">
                <a16:creationId xmlns:a16="http://schemas.microsoft.com/office/drawing/2014/main" id="{A772304E-8A42-4706-A6F2-3FB0CA08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3251631"/>
            <a:ext cx="1829395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Endocrine gland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Hormone released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into blood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5703637-88ED-4C00-94F8-41248A9C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51954" y="3677245"/>
            <a:ext cx="22027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658E9B7F-DF4F-4C7E-A548-C3417960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46094" y="362497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5CBFAC9-A948-4B2F-99A4-D9B6E348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5" y="3042557"/>
            <a:ext cx="1866730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Bloodstream&#10;Carries&#10;hormone">
            <a:extLst xmlns:a="http://schemas.openxmlformats.org/drawingml/2006/main">
              <a:ext uri="{FF2B5EF4-FFF2-40B4-BE49-F238E27FC236}">
                <a16:creationId xmlns:a16="http://schemas.microsoft.com/office/drawing/2014/main" id="{1F534095-607D-4F2E-8F70-23B7C106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3266565"/>
            <a:ext cx="1717392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Bloodstream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hormone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1389DEE-AF11-4DAA-A329-D6AE7013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4034" y="3677245"/>
            <a:ext cx="22027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7A5C9E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DB5D51D-9943-4036-8527-7252721A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98174" y="362497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785B173-C45A-41EB-A738-A9C7C05A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715" y="3042557"/>
            <a:ext cx="1978734" cy="1269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1" name="Diagram label: Target cells&#10;Recognise signal&#10;Change activity">
            <a:extLst xmlns:a="http://schemas.openxmlformats.org/drawingml/2006/main">
              <a:ext uri="{FF2B5EF4-FFF2-40B4-BE49-F238E27FC236}">
                <a16:creationId xmlns:a16="http://schemas.microsoft.com/office/drawing/2014/main" id="{624C76A6-A64F-44AB-AF2A-D0D87B4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053" y="3251631"/>
            <a:ext cx="1680057" cy="896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Target cells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Recognise signal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activity</a:t>
            </a:r>
          </a:p>
        </p:txBody>
      </p:sp>
      <p:sp>
        <p:nvSpPr>
          <p:cNvPr id="22" name="Diagram label: The bloodstream distributes the signal.&#10;Cell recognition helps determine the response.">
            <a:extLst xmlns:a="http://schemas.openxmlformats.org/drawingml/2006/main">
              <a:ext uri="{FF2B5EF4-FFF2-40B4-BE49-F238E27FC236}">
                <a16:creationId xmlns:a16="http://schemas.microsoft.com/office/drawing/2014/main" id="{B26EB0D4-3A85-4BCD-8DB6-5B84A7D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4983956"/>
            <a:ext cx="6570889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bloodstream distributes the signal.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Cell recognition helps determine the response.</a:t>
            </a:r>
          </a:p>
        </p:txBody>
      </p:sp>
      <p:sp>
        <p:nvSpPr>
          <p:cNvPr id="23" name="Gland releases → blood carries → target responds.  The hormone i">
            <a:extLst xmlns:a="http://schemas.openxmlformats.org/drawingml/2006/main">
              <a:ext uri="{FF2B5EF4-FFF2-40B4-BE49-F238E27FC236}">
                <a16:creationId xmlns:a16="http://schemas.microsoft.com/office/drawing/2014/main" id="{C23E991F-FF9E-40AF-8212-448E9246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Gland releases → blood carries → target responds. The hormone is a chemical messenger.</a:t>
            </a:r>
          </a:p>
        </p:txBody>
      </p:sp>
    </p:spTree>
    <p:extLst>
      <p:ext uri="{BB962C8B-B14F-4D97-AF65-F5344CB8AC3E}">
        <p14:creationId xmlns:p14="http://schemas.microsoft.com/office/powerpoint/2010/main" val="1879195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20717624-1022-430D-83AD-0B40D162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24A3414-2B65-4990-9259-8DB335D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934A628-FF67-46BA-B27E-B257E253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43DD134-CEDD-4EFD-8919-5D93B0B9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998534F4-A08F-4459-92A8-BCBF22C9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0C044511-1E46-4CB5-92BE-25A137E8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cognition makes the signal specific">
            <a:extLst xmlns:a="http://schemas.openxmlformats.org/drawingml/2006/main">
              <a:ext uri="{FF2B5EF4-FFF2-40B4-BE49-F238E27FC236}">
                <a16:creationId xmlns:a16="http://schemas.microsoft.com/office/drawing/2014/main" id="{8F211DF8-D9FB-4C1F-9E96-47F11D7E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Recognition makes the signal specific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783386C-EB7B-4FAC-B528-802B0A73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900F80B9-E74B-4E00-970B-303AF89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DE7D33E7-5D66-4873-BE4B-35738C7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A circulating hormone needs a matching response">
            <a:extLst xmlns:a="http://schemas.openxmlformats.org/drawingml/2006/main">
              <a:ext uri="{FF2B5EF4-FFF2-40B4-BE49-F238E27FC236}">
                <a16:creationId xmlns:a16="http://schemas.microsoft.com/office/drawing/2014/main" id="{A7247D1F-7580-4468-8098-DC533DB3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circulating hormone needs a matching response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C64E533-0C7E-498D-81BE-CBA226E4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3079892"/>
            <a:ext cx="2165407" cy="16427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EFBEF68-840F-4875-862B-380444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692" y="3079892"/>
            <a:ext cx="2165407" cy="16427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2DE16A2-7574-4D45-9DB8-A2F0FC22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935" y="2818550"/>
            <a:ext cx="298677" cy="448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25F400C-243A-47CE-91A5-56DC4709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869" y="2624410"/>
            <a:ext cx="268809" cy="268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518C406-6CFA-4CBB-BC31-08B5CAC0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991" y="2624410"/>
            <a:ext cx="268809" cy="268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Cell A: matching receptor&#10;A response can occur">
            <a:extLst xmlns:a="http://schemas.openxmlformats.org/drawingml/2006/main">
              <a:ext uri="{FF2B5EF4-FFF2-40B4-BE49-F238E27FC236}">
                <a16:creationId xmlns:a16="http://schemas.microsoft.com/office/drawing/2014/main" id="{8F589A00-448B-40B5-9D7F-9D8E034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4871952"/>
            <a:ext cx="26134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Cell A: matching receptor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response can occur</a:t>
            </a:r>
          </a:p>
        </p:txBody>
      </p:sp>
      <p:sp>
        <p:nvSpPr>
          <p:cNvPr id="18" name="Diagram label: Cell B: no matching receptor&#10;No response to this signal">
            <a:extLst xmlns:a="http://schemas.openxmlformats.org/drawingml/2006/main">
              <a:ext uri="{FF2B5EF4-FFF2-40B4-BE49-F238E27FC236}">
                <a16:creationId xmlns:a16="http://schemas.microsoft.com/office/drawing/2014/main" id="{1875DD2D-E48C-4A1A-9AC6-4E255D0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684" y="4871952"/>
            <a:ext cx="26134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Cell B: no matching receptor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response to this signal</a:t>
            </a:r>
          </a:p>
        </p:txBody>
      </p:sp>
      <p:sp>
        <p:nvSpPr>
          <p:cNvPr id="19" name="Diagram label: Specific&#10;response">
            <a:extLst xmlns:a="http://schemas.openxmlformats.org/drawingml/2006/main">
              <a:ext uri="{FF2B5EF4-FFF2-40B4-BE49-F238E27FC236}">
                <a16:creationId xmlns:a16="http://schemas.microsoft.com/office/drawing/2014/main" id="{5218D930-B8D1-41C0-9015-CBAD863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578" y="3602576"/>
            <a:ext cx="156805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Specific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response</a:t>
            </a:r>
          </a:p>
        </p:txBody>
      </p:sp>
      <p:sp>
        <p:nvSpPr>
          <p:cNvPr id="20" name="Diagram label: Same blood&#10;signal present">
            <a:extLst xmlns:a="http://schemas.openxmlformats.org/drawingml/2006/main">
              <a:ext uri="{FF2B5EF4-FFF2-40B4-BE49-F238E27FC236}">
                <a16:creationId xmlns:a16="http://schemas.microsoft.com/office/drawing/2014/main" id="{549B5BF5-F0BD-44F5-A65F-B4FC3470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369" y="3602576"/>
            <a:ext cx="156805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blood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signal present</a:t>
            </a:r>
          </a:p>
        </p:txBody>
      </p:sp>
      <p:sp>
        <p:nvSpPr>
          <p:cNvPr id="21" name="Blood can bring a signal near many cells.  A target cell can rec">
            <a:extLst xmlns:a="http://schemas.openxmlformats.org/drawingml/2006/main">
              <a:ext uri="{FF2B5EF4-FFF2-40B4-BE49-F238E27FC236}">
                <a16:creationId xmlns:a16="http://schemas.microsoft.com/office/drawing/2014/main" id="{3EFCA610-FB67-4BC1-8844-B5D3D04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Blood can bring a signal near many cells. A target cell can recognise it and respond.</a:t>
            </a:r>
          </a:p>
        </p:txBody>
      </p:sp>
    </p:spTree>
    <p:extLst>
      <p:ext uri="{BB962C8B-B14F-4D97-AF65-F5344CB8AC3E}">
        <p14:creationId xmlns:p14="http://schemas.microsoft.com/office/powerpoint/2010/main" val="755161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8A88219B-AED0-4EE3-A481-0798ED7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11678F1-1B1E-423B-9AFF-B81B1BB5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871C0EE-B6A8-4D0E-B2D1-BBBEF68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A7C9E8C-E72A-40F3-8996-82509F04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082C4989-00D5-4D99-83CC-DAF1952B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5B3F0D0-CA4E-464B-B67D-803B190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Homeostasis keeps conditions suitable">
            <a:extLst xmlns:a="http://schemas.openxmlformats.org/drawingml/2006/main">
              <a:ext uri="{FF2B5EF4-FFF2-40B4-BE49-F238E27FC236}">
                <a16:creationId xmlns:a16="http://schemas.microsoft.com/office/drawing/2014/main" id="{2890989A-72D0-4A30-9C58-4BA8EDA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Homeostasis keeps conditions suitable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7D82967-FE0A-4D25-B99F-A05B1646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DD77EA0C-AC9A-4363-B3CA-E700D329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FBA52E66-91E6-40AF-8BEB-A534AD43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Control reduces a departure">
            <a:extLst xmlns:a="http://schemas.openxmlformats.org/drawingml/2006/main">
              <a:ext uri="{FF2B5EF4-FFF2-40B4-BE49-F238E27FC236}">
                <a16:creationId xmlns:a16="http://schemas.microsoft.com/office/drawing/2014/main" id="{F87A938B-D8AD-489C-93A2-87EAF52B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Control reduces a departure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1DF626E-7FF1-49B0-A75A-5703E557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618695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3" name="Diagram label: Condition departs&#10;from a suitable range">
            <a:extLst xmlns:a="http://schemas.openxmlformats.org/drawingml/2006/main">
              <a:ext uri="{FF2B5EF4-FFF2-40B4-BE49-F238E27FC236}">
                <a16:creationId xmlns:a16="http://schemas.microsoft.com/office/drawing/2014/main" id="{C6E290CB-7335-4DBC-81AA-FD052D5C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744833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Condition departs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from a suitable range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16D5641-AF48-42BC-8F14-41055F65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2618695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5" name="Diagram label: Change is detected&#10;and coordinated">
            <a:extLst xmlns:a="http://schemas.openxmlformats.org/drawingml/2006/main">
              <a:ext uri="{FF2B5EF4-FFF2-40B4-BE49-F238E27FC236}">
                <a16:creationId xmlns:a16="http://schemas.microsoft.com/office/drawing/2014/main" id="{12280CAD-CC39-4265-BCD8-8A122F8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2744833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 is detected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coordinated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08364F0-68B5-4893-AF34-8C011A81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4160384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7" name="Diagram label: Condition moves&#10;towards suitable limits">
            <a:extLst xmlns:a="http://schemas.openxmlformats.org/drawingml/2006/main">
              <a:ext uri="{FF2B5EF4-FFF2-40B4-BE49-F238E27FC236}">
                <a16:creationId xmlns:a16="http://schemas.microsoft.com/office/drawing/2014/main" id="{49D0C865-F8DD-4E77-A236-105EFD67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4286522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Condition moves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towards suitable limits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F148035-4B2C-42D6-8207-6E8B7388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307" y="4160384"/>
            <a:ext cx="2908187" cy="1016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19" name="Diagram label: Response counteracts&#10;the original change">
            <a:extLst xmlns:a="http://schemas.openxmlformats.org/drawingml/2006/main">
              <a:ext uri="{FF2B5EF4-FFF2-40B4-BE49-F238E27FC236}">
                <a16:creationId xmlns:a16="http://schemas.microsoft.com/office/drawing/2014/main" id="{F7121547-9E37-4DF0-9F02-15EE7237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4286522"/>
            <a:ext cx="2627879" cy="805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Response counteracts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original change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58E07D9-13BE-48DC-A834-35FB0D02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85770" y="3130255"/>
            <a:ext cx="31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522A40A-1B73-40CD-93BC-5BA86D25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73084" y="3081201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C89E9CB-C07D-4BF6-8513-8F6DD66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47920" y="3725908"/>
            <a:ext cx="953" cy="269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17B58EC-FB66-4BFD-B5AF-8B2F6AF8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98866" y="3971177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43D8F7A-9341-4C84-8D3B-4E3AFA87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94389" y="4664937"/>
            <a:ext cx="3118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7A5C9E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0B37121-3440-4526-9D57-019592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20808" y="461588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6" name="Diagram label: Homeostasis is active regulation, not perfect stillness.">
            <a:extLst xmlns:a="http://schemas.openxmlformats.org/drawingml/2006/main">
              <a:ext uri="{FF2B5EF4-FFF2-40B4-BE49-F238E27FC236}">
                <a16:creationId xmlns:a16="http://schemas.microsoft.com/office/drawing/2014/main" id="{2D7BED6C-4EA4-4582-8F2E-4C5C9785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5316651"/>
            <a:ext cx="6447064" cy="315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Homeostasis is active regulation, not perfect stillness.</a:t>
            </a:r>
          </a:p>
        </p:txBody>
      </p:sp>
      <p:sp>
        <p:nvSpPr>
          <p:cNvPr id="27" name="Conditions change; regulation limits departures.  A corrective r">
            <a:extLst xmlns:a="http://schemas.openxmlformats.org/drawingml/2006/main">
              <a:ext uri="{FF2B5EF4-FFF2-40B4-BE49-F238E27FC236}">
                <a16:creationId xmlns:a16="http://schemas.microsoft.com/office/drawing/2014/main" id="{DF0E2FE6-C506-427D-BD20-586553A3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Conditions change; regulation limits departures. A corrective response reduces the original change. Some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control uses nerves, some uses hormones.</a:t>
            </a:r>
          </a:p>
        </p:txBody>
      </p:sp>
    </p:spTree>
    <p:extLst>
      <p:ext uri="{BB962C8B-B14F-4D97-AF65-F5344CB8AC3E}">
        <p14:creationId xmlns:p14="http://schemas.microsoft.com/office/powerpoint/2010/main" val="1708072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9ACF582-ED68-4FFA-8ED1-523A845C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659AB4D-40D1-429F-968F-FD6D348D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04202E4-5CBE-47E1-AAA8-6EBE0C3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DFFB69F-6258-4B09-9E1A-D954C7E5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1088FE2D-CA36-4FEB-8AB8-35114C83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02AA6513-94F2-41A8-B802-5B317596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Message-routing desk">
            <a:extLst xmlns:a="http://schemas.openxmlformats.org/drawingml/2006/main">
              <a:ext uri="{FF2B5EF4-FFF2-40B4-BE49-F238E27FC236}">
                <a16:creationId xmlns:a16="http://schemas.microsoft.com/office/drawing/2014/main" id="{D57758F3-3219-47CF-A085-59CC0696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Message-routing desk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8C94B66-6FB7-4053-96EA-C64774C1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3257FA68-9F6C-4775-A064-02AA952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BEF9BF3C-D6AD-484E-B558-61175771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Locate the gland names using the position clues. Then trace ">
            <a:extLst xmlns:a="http://schemas.openxmlformats.org/drawingml/2006/main">
              <a:ext uri="{FF2B5EF4-FFF2-40B4-BE49-F238E27FC236}">
                <a16:creationId xmlns:a16="http://schemas.microsoft.com/office/drawing/2014/main" id="{9E67F3C9-60F0-4D70-BBAF-5A3A10CA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Locate the gland names using the position clues. Then trace a pancreas hormone from release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response.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338375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91273"/>
                <a:gridCol w="5633927"/>
              </a:tblGrid>
              <a:tr h="483394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Endocrine structure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Approximate position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483394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Pituitary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Base of brain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483394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Thyroid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Neck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Pancreas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Upper abdomen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483394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Adrenal glands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Above the kidneys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Ovaries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Pelvis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483394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Testes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7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Scrotum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chematic location guide; different reproductive organs are list">
            <a:extLst xmlns:a="http://schemas.openxmlformats.org/drawingml/2006/main">
              <a:ext uri="{FF2B5EF4-FFF2-40B4-BE49-F238E27FC236}">
                <a16:creationId xmlns:a16="http://schemas.microsoft.com/office/drawing/2014/main" id="{58D106BE-99BB-46BF-8166-121AF8F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9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Schematic location guide; different reproductive organs are listed, not drawn as one anatomy.</a:t>
            </a:r>
          </a:p>
        </p:txBody>
      </p:sp>
    </p:spTree>
    <p:extLst>
      <p:ext uri="{BB962C8B-B14F-4D97-AF65-F5344CB8AC3E}">
        <p14:creationId xmlns:p14="http://schemas.microsoft.com/office/powerpoint/2010/main" val="1369217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72767304-3A04-43EA-A17C-1379CE10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1109481-035A-4E4C-8241-5AA159A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80361BA-7A9C-4CF9-8CA8-C23AA4C8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D088E00-BC09-424A-B9EC-358A60EB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55890EA0-1C72-4322-AD36-EF65540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DE88AF4-9CF2-4347-A656-1F220793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Predict the responding cell">
            <a:extLst xmlns:a="http://schemas.openxmlformats.org/drawingml/2006/main">
              <a:ext uri="{FF2B5EF4-FFF2-40B4-BE49-F238E27FC236}">
                <a16:creationId xmlns:a16="http://schemas.microsoft.com/office/drawing/2014/main" id="{8A481739-111A-45D6-8C61-BC9C6228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Predict the responding cell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C0CFB70-AD77-4EE2-B5EF-378EBC5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5BD0A524-1E4F-4B7F-9925-DBF128A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83910FFC-56D6-4021-8270-D95F4DB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A circulating hormone needs a matching response">
            <a:extLst xmlns:a="http://schemas.openxmlformats.org/drawingml/2006/main">
              <a:ext uri="{FF2B5EF4-FFF2-40B4-BE49-F238E27FC236}">
                <a16:creationId xmlns:a16="http://schemas.microsoft.com/office/drawing/2014/main" id="{8788F4E5-04B4-415C-926C-450ED0D1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circulating hormone needs a matching response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0D07CAB-4CEE-46A8-B910-0F5711E4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3079892"/>
            <a:ext cx="2165407" cy="16427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F8E28CF-6066-4B43-AF08-97B954FC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692" y="3079892"/>
            <a:ext cx="2165407" cy="16427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3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AEEEFB1-989E-49B9-9E4C-08B2471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935" y="2818550"/>
            <a:ext cx="298677" cy="448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14FEA77-63FB-4CCF-B04C-8F63E407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869" y="2624410"/>
            <a:ext cx="268809" cy="268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0290805-6216-4A2F-B7B1-F739780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991" y="2624410"/>
            <a:ext cx="268809" cy="2688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Cell A: matching receptor&#10;A response can occur">
            <a:extLst xmlns:a="http://schemas.openxmlformats.org/drawingml/2006/main">
              <a:ext uri="{FF2B5EF4-FFF2-40B4-BE49-F238E27FC236}">
                <a16:creationId xmlns:a16="http://schemas.microsoft.com/office/drawing/2014/main" id="{E187B6C9-B488-45F7-BF87-DD47D56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4871952"/>
            <a:ext cx="26134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Cell A: matching receptor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response can occur</a:t>
            </a:r>
          </a:p>
        </p:txBody>
      </p:sp>
      <p:sp>
        <p:nvSpPr>
          <p:cNvPr id="18" name="Diagram label: Cell B: no matching receptor&#10;No response to this signal">
            <a:extLst xmlns:a="http://schemas.openxmlformats.org/drawingml/2006/main">
              <a:ext uri="{FF2B5EF4-FFF2-40B4-BE49-F238E27FC236}">
                <a16:creationId xmlns:a16="http://schemas.microsoft.com/office/drawing/2014/main" id="{89E2D6C3-42F8-4246-9E51-B363F6FE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684" y="4871952"/>
            <a:ext cx="261342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Cell B: no matching receptor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response to this signal</a:t>
            </a:r>
          </a:p>
        </p:txBody>
      </p:sp>
      <p:sp>
        <p:nvSpPr>
          <p:cNvPr id="19" name="Diagram label: Specific&#10;response">
            <a:extLst xmlns:a="http://schemas.openxmlformats.org/drawingml/2006/main">
              <a:ext uri="{FF2B5EF4-FFF2-40B4-BE49-F238E27FC236}">
                <a16:creationId xmlns:a16="http://schemas.microsoft.com/office/drawing/2014/main" id="{AD5EA75D-56A3-4B56-8AAD-D4840D6F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578" y="3602576"/>
            <a:ext cx="156805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Specific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response</a:t>
            </a:r>
          </a:p>
        </p:txBody>
      </p:sp>
      <p:sp>
        <p:nvSpPr>
          <p:cNvPr id="20" name="Diagram label: Same blood&#10;signal present">
            <a:extLst xmlns:a="http://schemas.openxmlformats.org/drawingml/2006/main">
              <a:ext uri="{FF2B5EF4-FFF2-40B4-BE49-F238E27FC236}">
                <a16:creationId xmlns:a16="http://schemas.microsoft.com/office/drawing/2014/main" id="{8E55666B-7004-484C-8FE3-5EBEFA8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369" y="3602576"/>
            <a:ext cx="1568053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blood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signal present</a:t>
            </a:r>
          </a:p>
        </p:txBody>
      </p:sp>
      <p:sp>
        <p:nvSpPr>
          <p:cNvPr id="21" name="W2. The same hormone reaches cells A and B.  Which cell is more ">
            <a:extLst xmlns:a="http://schemas.openxmlformats.org/drawingml/2006/main">
              <a:ext uri="{FF2B5EF4-FFF2-40B4-BE49-F238E27FC236}">
                <a16:creationId xmlns:a16="http://schemas.microsoft.com/office/drawing/2014/main" id="{D424CE92-364C-46C5-94E0-763FF476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The same hormone reaches cells A and B. Which cell is more likely to respond in this model?</a:t>
            </a:r>
          </a:p>
        </p:txBody>
      </p:sp>
    </p:spTree>
    <p:extLst>
      <p:ext uri="{BB962C8B-B14F-4D97-AF65-F5344CB8AC3E}">
        <p14:creationId xmlns:p14="http://schemas.microsoft.com/office/powerpoint/2010/main" val="429858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D263F3E-E71F-4E81-BDF9-3049AC9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4FA6203-A239-43AD-8849-D915C689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6C128B9-2BC1-457F-AF77-61CB9243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35313D8-7A92-4E46-A9E2-E7852743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60564F9-71E4-4E5C-B232-69678D0D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A9AF65A-33A7-45D2-B04B-768AE6F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ontrol-room repair">
            <a:extLst xmlns:a="http://schemas.openxmlformats.org/drawingml/2006/main">
              <a:ext uri="{FF2B5EF4-FFF2-40B4-BE49-F238E27FC236}">
                <a16:creationId xmlns:a16="http://schemas.microsoft.com/office/drawing/2014/main" id="{622D94A0-CCEE-42D1-AFC7-6AA19A73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Control-room repair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AD2EA22-2DFC-416B-868E-022D5D05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56D2AE54-8133-49E1-9CBD-CD966A4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5B5CB2C6-87AB-4A0C-844D-EFCB9C2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“The variable rose, so the controller always pushes it furth">
            <a:extLst xmlns:a="http://schemas.openxmlformats.org/drawingml/2006/main">
              <a:ext uri="{FF2B5EF4-FFF2-40B4-BE49-F238E27FC236}">
                <a16:creationId xmlns:a16="http://schemas.microsoft.com/office/drawing/2014/main" id="{45687F30-9742-49C7-84E6-52371C56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“The variable rose, so the controller always pushes it further up.”</a:t>
            </a:r>
          </a:p>
        </p:txBody>
      </p:sp>
      <p:sp>
        <p:nvSpPr>
          <p:cNvPr id="12" name="Explain what a negative-feedback response should do.">
            <a:extLst xmlns:a="http://schemas.openxmlformats.org/drawingml/2006/main">
              <a:ext uri="{FF2B5EF4-FFF2-40B4-BE49-F238E27FC236}">
                <a16:creationId xmlns:a16="http://schemas.microsoft.com/office/drawing/2014/main" id="{573A903F-BBF5-4EF0-940B-000474AB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what a negative-feedback response should do.</a:t>
            </a:r>
          </a:p>
        </p:txBody>
      </p:sp>
    </p:spTree>
    <p:extLst>
      <p:ext uri="{BB962C8B-B14F-4D97-AF65-F5344CB8AC3E}">
        <p14:creationId xmlns:p14="http://schemas.microsoft.com/office/powerpoint/2010/main" val="1855521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469AB1AB-615D-481F-845E-C4DF866E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3B31C3C-E6C8-4F10-A983-47D5A5C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2C98598-D540-4DD2-A38B-18ACFCAA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9C0F889-913D-4AB2-A092-3E043276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AFE1A6AD-7E0F-4F93-81DA-E9F0A0D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339833B-90D7-4D0F-8A87-76FD930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explanation links route and recognition?">
            <a:extLst xmlns:a="http://schemas.openxmlformats.org/drawingml/2006/main">
              <a:ext uri="{FF2B5EF4-FFF2-40B4-BE49-F238E27FC236}">
                <a16:creationId xmlns:a16="http://schemas.microsoft.com/office/drawing/2014/main" id="{4DC8A695-64FD-42AF-9F77-0FB2464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explanation links route and recognition?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60C16B7-42EE-4CFE-AA64-4BAAB73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A6F0199A-86D9-48AF-9762-25B2BFF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35B915CB-7974-41AA-85C7-32A7474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mechanism, not a human-like story.">
            <a:extLst xmlns:a="http://schemas.openxmlformats.org/drawingml/2006/main">
              <a:ext uri="{FF2B5EF4-FFF2-40B4-BE49-F238E27FC236}">
                <a16:creationId xmlns:a16="http://schemas.microsoft.com/office/drawing/2014/main" id="{B2134839-3E0D-4C00-81E8-69E13EDC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mechanism, not a human-like story.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43AB9A8-D6DC-4983-9EF0-1095C0B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1EA6EDB-A3DC-4478-B05D-C9950DA2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3ED50A01-FA76-46C6-A878-F24051F4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he hormone circulates; appropriate target cells recognise it an">
            <a:extLst xmlns:a="http://schemas.openxmlformats.org/drawingml/2006/main">
              <a:ext uri="{FF2B5EF4-FFF2-40B4-BE49-F238E27FC236}">
                <a16:creationId xmlns:a16="http://schemas.microsoft.com/office/drawing/2014/main" id="{B4751F48-0297-4E47-9FED-581D27EA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hormone circulates; appropriate target cells recognise it and respond.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023E7A80-616B-48E1-BCAF-F3B21918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C8C31FA-84A8-4651-8063-46740018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7EDC6ED7-6FDB-4A1F-86A9-FC7B69C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The hormone chooses only the cells it likes.">
            <a:extLst xmlns:a="http://schemas.openxmlformats.org/drawingml/2006/main">
              <a:ext uri="{FF2B5EF4-FFF2-40B4-BE49-F238E27FC236}">
                <a16:creationId xmlns:a16="http://schemas.microsoft.com/office/drawing/2014/main" id="{C1FC63AA-C5C9-40D8-A97E-F3D7613B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hormone chooses only the cells it likes.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619BDE6A-8631-467B-B2BC-344CBC3A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B4702FF9-DBA5-494E-82AB-CAD8A260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7D640C61-D72C-4289-8762-300513E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Homeostasis means no internal value ever changes.">
            <a:extLst xmlns:a="http://schemas.openxmlformats.org/drawingml/2006/main">
              <a:ext uri="{FF2B5EF4-FFF2-40B4-BE49-F238E27FC236}">
                <a16:creationId xmlns:a16="http://schemas.microsoft.com/office/drawing/2014/main" id="{D89EA6CA-EEAB-4D69-ADCB-A5573058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Homeostasis means no internal value ever changes.</a:t>
            </a:r>
          </a:p>
        </p:txBody>
      </p:sp>
    </p:spTree>
    <p:extLst>
      <p:ext uri="{BB962C8B-B14F-4D97-AF65-F5344CB8AC3E}">
        <p14:creationId xmlns:p14="http://schemas.microsoft.com/office/powerpoint/2010/main" val="1687905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FCA5AE9-71DE-4EC2-AEDD-E852B58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D432F08-65AF-46A6-ACF8-3FE61F07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E823B0C-CE19-41EF-B40D-47FC38B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56A7D29-D936-429D-B1DE-B36E8CED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9868EDF0-9807-46F4-AD57-4114CFC3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118B6E07-6688-4A8A-84E1-B2F84AD4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Build a control explanation">
            <a:extLst xmlns:a="http://schemas.openxmlformats.org/drawingml/2006/main">
              <a:ext uri="{FF2B5EF4-FFF2-40B4-BE49-F238E27FC236}">
                <a16:creationId xmlns:a16="http://schemas.microsoft.com/office/drawing/2014/main" id="{43468F2A-F23C-4805-82B9-54673346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 control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F68F9FC-C8B6-418E-9407-8179C65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058B278B-F364-4139-A32C-08641708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E29E936F-6446-4B73-AC9B-F36EB33E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response page.">
            <a:extLst xmlns:a="http://schemas.openxmlformats.org/drawingml/2006/main">
              <a:ext uri="{FF2B5EF4-FFF2-40B4-BE49-F238E27FC236}">
                <a16:creationId xmlns:a16="http://schemas.microsoft.com/office/drawing/2014/main" id="{04A49A16-5FD4-4A4B-AB40-F7941D9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response page.</a:t>
            </a:r>
          </a:p>
        </p:txBody>
      </p:sp>
      <p:sp>
        <p:nvSpPr>
          <p:cNvPr id="12" name="Use a route diagram and a cause-and-effect sentence.">
            <a:extLst xmlns:a="http://schemas.openxmlformats.org/drawingml/2006/main">
              <a:ext uri="{FF2B5EF4-FFF2-40B4-BE49-F238E27FC236}">
                <a16:creationId xmlns:a16="http://schemas.microsoft.com/office/drawing/2014/main" id="{CE1000A1-6034-4EF1-9BD3-BE5238B1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route diagram and a cause-and-effect sentence.</a:t>
            </a:r>
          </a:p>
        </p:txBody>
      </p:sp>
    </p:spTree>
    <p:extLst>
      <p:ext uri="{BB962C8B-B14F-4D97-AF65-F5344CB8AC3E}">
        <p14:creationId xmlns:p14="http://schemas.microsoft.com/office/powerpoint/2010/main" val="1997861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DBCBB74-CBDF-47E7-8A85-F61A353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0BBDF56-AE25-470C-9E6F-B36C1F3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977EDBB-97E3-4E0B-BBBE-13C977D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59DAAF4-7F44-4728-BEA8-B6C08891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507D35C9-9408-4BD2-9973-6D64394F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E9B7A0E2-CE8C-4CC4-9BCC-2C34DC2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the mechanism visible">
            <a:extLst xmlns:a="http://schemas.openxmlformats.org/drawingml/2006/main">
              <a:ext uri="{FF2B5EF4-FFF2-40B4-BE49-F238E27FC236}">
                <a16:creationId xmlns:a16="http://schemas.microsoft.com/office/drawing/2014/main" id="{A706F83D-9923-46A0-BC28-0AE5CE95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mechanism visible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D257B91-E4E5-4D05-8E51-649C1040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8B2AAA76-AFB5-4A25-9850-3B2B800E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EF431300-4881-4091-B17D-50E8444F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Source → transport → target → response.">
            <a:extLst xmlns:a="http://schemas.openxmlformats.org/drawingml/2006/main">
              <a:ext uri="{FF2B5EF4-FFF2-40B4-BE49-F238E27FC236}">
                <a16:creationId xmlns:a16="http://schemas.microsoft.com/office/drawing/2014/main" id="{1324F8D2-68A2-4BE9-95DC-08D0378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Source → transport → target → response.</a:t>
            </a:r>
          </a:p>
        </p:txBody>
      </p:sp>
      <p:sp>
        <p:nvSpPr>
          <p:cNvPr id="12" name="Explain why suitable conditions matter.">
            <a:extLst xmlns:a="http://schemas.openxmlformats.org/drawingml/2006/main">
              <a:ext uri="{FF2B5EF4-FFF2-40B4-BE49-F238E27FC236}">
                <a16:creationId xmlns:a16="http://schemas.microsoft.com/office/drawing/2014/main" id="{7D8143FE-7CE7-45D4-9336-72B81C82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why suitable conditions matter.</a:t>
            </a:r>
          </a:p>
        </p:txBody>
      </p:sp>
    </p:spTree>
    <p:extLst>
      <p:ext uri="{BB962C8B-B14F-4D97-AF65-F5344CB8AC3E}">
        <p14:creationId xmlns:p14="http://schemas.microsoft.com/office/powerpoint/2010/main" val="12842321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DC981CE-2211-462B-8145-284DE74D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95B2311-94E2-45C8-876C-F47265DF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AD828FB-82EF-4BAF-98C1-92C8C8F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C291BE5-E50F-4AB5-AB4D-DCF936F0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CF1B3596-30CB-4359-87A6-9FADDF82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C4229BEA-85D6-443D-A067-472BCF97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 asks about the missing link">
            <a:extLst xmlns:a="http://schemas.openxmlformats.org/drawingml/2006/main">
              <a:ext uri="{FF2B5EF4-FFF2-40B4-BE49-F238E27FC236}">
                <a16:creationId xmlns:a16="http://schemas.microsoft.com/office/drawing/2014/main" id="{78299F4F-12EC-4491-A7D5-81E4A595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 about the missing link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308E7ED-977B-414B-988E-EEE8A2B5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9170252E-0859-49F0-9443-AFB1603D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9B0B5EEE-A2A1-4420-8640-8E50D79A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are a short explanation.">
            <a:extLst xmlns:a="http://schemas.openxmlformats.org/drawingml/2006/main">
              <a:ext uri="{FF2B5EF4-FFF2-40B4-BE49-F238E27FC236}">
                <a16:creationId xmlns:a16="http://schemas.microsoft.com/office/drawing/2014/main" id="{C95507AB-9E45-4E80-9499-AD8B2F2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Share a short explanation.</a:t>
            </a:r>
          </a:p>
        </p:txBody>
      </p:sp>
      <p:sp>
        <p:nvSpPr>
          <p:cNvPr id="12" name="Audience: “How did the message reach that cell, and why did it r">
            <a:extLst xmlns:a="http://schemas.openxmlformats.org/drawingml/2006/main">
              <a:ext uri="{FF2B5EF4-FFF2-40B4-BE49-F238E27FC236}">
                <a16:creationId xmlns:a16="http://schemas.microsoft.com/office/drawing/2014/main" id="{2D04D553-13F1-4532-AAD9-7A5C0BD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Audience: “How did the message reach that cell, and why did it respond?”</a:t>
            </a:r>
          </a:p>
        </p:txBody>
      </p:sp>
    </p:spTree>
    <p:extLst>
      <p:ext uri="{BB962C8B-B14F-4D97-AF65-F5344CB8AC3E}">
        <p14:creationId xmlns:p14="http://schemas.microsoft.com/office/powerpoint/2010/main" val="1199800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8D6533D-CC2A-4D06-87F7-A64045DF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875A885-9FDC-424F-BD57-32479C8B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5B73B29-2F5E-4D38-ABDA-6ED33B3E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34ADC4B1-29E8-4A2F-A159-DB4DF48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802D453B-71EB-4989-A26E-B691784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BA392CDA-74CE-425E-9F15-A961698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 useful model also has a limit">
            <a:extLst xmlns:a="http://schemas.openxmlformats.org/drawingml/2006/main">
              <a:ext uri="{FF2B5EF4-FFF2-40B4-BE49-F238E27FC236}">
                <a16:creationId xmlns:a16="http://schemas.microsoft.com/office/drawing/2014/main" id="{B9AE5D3D-637C-4784-8A0B-BE38C5B0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useful model also has a limit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BFEC341-3E91-4881-8F3D-AC8EFAA7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B8E35960-CD14-4D21-B05C-778B4FA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9A505852-6907-4580-8ED7-8E3092A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The model shows a mechanism.">
            <a:extLst xmlns:a="http://schemas.openxmlformats.org/drawingml/2006/main">
              <a:ext uri="{FF2B5EF4-FFF2-40B4-BE49-F238E27FC236}">
                <a16:creationId xmlns:a16="http://schemas.microsoft.com/office/drawing/2014/main" id="{0BC8F3CC-6BD0-4F2B-AD20-C0B658BE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model shows a mechanism.</a:t>
            </a:r>
          </a:p>
        </p:txBody>
      </p:sp>
      <p:sp>
        <p:nvSpPr>
          <p:cNvPr id="12" name="It does not predict exact timings, hormone amounts or clinical o">
            <a:extLst xmlns:a="http://schemas.openxmlformats.org/drawingml/2006/main">
              <a:ext uri="{FF2B5EF4-FFF2-40B4-BE49-F238E27FC236}">
                <a16:creationId xmlns:a16="http://schemas.microsoft.com/office/drawing/2014/main" id="{00C33334-CB49-405B-B1CB-E428A6BD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does not predict exact timings, hormone amounts or clinical outcomes.</a:t>
            </a:r>
          </a:p>
        </p:txBody>
      </p:sp>
    </p:spTree>
    <p:extLst>
      <p:ext uri="{BB962C8B-B14F-4D97-AF65-F5344CB8AC3E}">
        <p14:creationId xmlns:p14="http://schemas.microsoft.com/office/powerpoint/2010/main" val="2856133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4FFDFC3-A2B8-4E79-990C-2A4F57CE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3D17881-B8DC-4239-8ABB-E74967A6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12907CD-968C-4AA2-B4BE-9E8F0E37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47CFA6B-12AC-458E-ADAB-C40BDA08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347AB3F3-1C0E-49AD-B020-EDEFA1E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A7C4D02A-DFFD-4C01-B1A5-379AAE31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Three linked ideas">
            <a:extLst xmlns:a="http://schemas.openxmlformats.org/drawingml/2006/main">
              <a:ext uri="{FF2B5EF4-FFF2-40B4-BE49-F238E27FC236}">
                <a16:creationId xmlns:a16="http://schemas.microsoft.com/office/drawing/2014/main" id="{E305AAF0-8DEE-4785-92DB-719C78DE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linked ideas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96AAC0F-C3CF-4AFD-9CAF-D495244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63DBA6E5-BB50-4EB8-A348-962AF726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C3A2CCF6-C1F8-4ADD-A472-84369D2A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How are endocrine hormones transported?">
            <a:extLst xmlns:a="http://schemas.openxmlformats.org/drawingml/2006/main">
              <a:ext uri="{FF2B5EF4-FFF2-40B4-BE49-F238E27FC236}">
                <a16:creationId xmlns:a16="http://schemas.microsoft.com/office/drawing/2014/main" id="{2DD57EAB-A27B-4841-A259-359CEB4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How are endocrine hormones transported?</a:t>
            </a:r>
          </a:p>
        </p:txBody>
      </p:sp>
      <p:sp>
        <p:nvSpPr>
          <p:cNvPr id="12" name="E2. Why may a non-target cell not respond?">
            <a:extLst xmlns:a="http://schemas.openxmlformats.org/drawingml/2006/main">
              <a:ext uri="{FF2B5EF4-FFF2-40B4-BE49-F238E27FC236}">
                <a16:creationId xmlns:a16="http://schemas.microsoft.com/office/drawing/2014/main" id="{357ACC1C-A5B4-4005-A0BF-EAAFA377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Why may a non-target cell not respond?</a:t>
            </a:r>
          </a:p>
        </p:txBody>
      </p:sp>
      <p:sp>
        <p:nvSpPr>
          <p:cNvPr id="13" name="E3. What does homeostasis regulate?">
            <a:extLst xmlns:a="http://schemas.openxmlformats.org/drawingml/2006/main">
              <a:ext uri="{FF2B5EF4-FFF2-40B4-BE49-F238E27FC236}">
                <a16:creationId xmlns:a16="http://schemas.microsoft.com/office/drawing/2014/main" id="{F31B96B9-02BB-4399-A290-991F0FD9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What does homeostasis regulate?</a:t>
            </a:r>
          </a:p>
        </p:txBody>
      </p:sp>
    </p:spTree>
    <p:extLst>
      <p:ext uri="{BB962C8B-B14F-4D97-AF65-F5344CB8AC3E}">
        <p14:creationId xmlns:p14="http://schemas.microsoft.com/office/powerpoint/2010/main" val="15307320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3F41E7AA-3486-4208-A864-B3296071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984AE7A-51E7-4FFB-A7EF-C9B62CA6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099DC39-CB28-4FCC-81C7-0618F255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5C55EBE-692A-44A5-9EB3-2A9E3EAE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8BD80714-7396-4D7C-8B22-D800467A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Choose the next useful step">
            <a:extLst xmlns:a="http://schemas.openxmlformats.org/drawingml/2006/main">
              <a:ext uri="{FF2B5EF4-FFF2-40B4-BE49-F238E27FC236}">
                <a16:creationId xmlns:a16="http://schemas.microsoft.com/office/drawing/2014/main" id="{BF2BD689-7743-49C4-A92D-7D6C4027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EFC7337-A876-400F-BF77-4919ABD9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Hormone messages: the control room">
            <a:extLst xmlns:a="http://schemas.openxmlformats.org/drawingml/2006/main">
              <a:ext uri="{FF2B5EF4-FFF2-40B4-BE49-F238E27FC236}">
                <a16:creationId xmlns:a16="http://schemas.microsoft.com/office/drawing/2014/main" id="{E89E20D3-19CC-487E-B0B0-9EFA9F5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Hormone messages: the control room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A7A46184-895D-41AB-8B46-5610A319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Gland location • signal route • target recognition • control.">
            <a:extLst xmlns:a="http://schemas.openxmlformats.org/drawingml/2006/main">
              <a:ext uri="{FF2B5EF4-FFF2-40B4-BE49-F238E27FC236}">
                <a16:creationId xmlns:a16="http://schemas.microsoft.com/office/drawing/2014/main" id="{B895CF49-A5C8-4323-8389-7C70729A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Gland location • signal route • target recognition • control.</a:t>
            </a:r>
          </a:p>
        </p:txBody>
      </p:sp>
    </p:spTree>
    <p:extLst>
      <p:ext uri="{BB962C8B-B14F-4D97-AF65-F5344CB8AC3E}">
        <p14:creationId xmlns:p14="http://schemas.microsoft.com/office/powerpoint/2010/main" val="78786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2026-09-09T00:04:13.5210000Z</dcterms:created>
  <dcterms:modified xsi:type="dcterms:W3CDTF">2026-09-09T00:04:13.5210000Z</dcterms:modified>
</coreProperties>
</file>