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ff55dbe7f74697" /><Relationship Type="http://schemas.openxmlformats.org/officeDocument/2006/relationships/extended-properties" Target="/docProps/app.xml" Id="R671082d28eff49c4" /><Relationship Type="http://schemas.openxmlformats.org/officeDocument/2006/relationships/officeDocument" Target="/ppt/presentation.xml" Id="R03ef274e569741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b4ac882104fa6"/>
  </p:sldMasterIdLst>
  <p:notesMasterIdLst>
    <p:notesMasterId xmlns:r="http://schemas.openxmlformats.org/officeDocument/2006/relationships" r:id="R9de38fb688794e8e"/>
  </p:notesMasterIdLst>
  <p:sldIdLst>
    <p:sldId xmlns:r="http://schemas.openxmlformats.org/officeDocument/2006/relationships" id="256" r:id="R77b2499446174c22"/>
    <p:sldId xmlns:r="http://schemas.openxmlformats.org/officeDocument/2006/relationships" id="257" r:id="Rd709e133805446db"/>
    <p:sldId xmlns:r="http://schemas.openxmlformats.org/officeDocument/2006/relationships" id="258" r:id="R413791b542e34d4d"/>
    <p:sldId xmlns:r="http://schemas.openxmlformats.org/officeDocument/2006/relationships" id="259" r:id="Rd9710d16e02c42e7"/>
    <p:sldId xmlns:r="http://schemas.openxmlformats.org/officeDocument/2006/relationships" id="260" r:id="R529e25dd3fa2401e"/>
    <p:sldId xmlns:r="http://schemas.openxmlformats.org/officeDocument/2006/relationships" id="261" r:id="R1ca5ebe64ea046fe"/>
    <p:sldId xmlns:r="http://schemas.openxmlformats.org/officeDocument/2006/relationships" id="262" r:id="Rca26766e3ee44910"/>
    <p:sldId xmlns:r="http://schemas.openxmlformats.org/officeDocument/2006/relationships" id="263" r:id="R84594a8d95c74b27"/>
    <p:sldId xmlns:r="http://schemas.openxmlformats.org/officeDocument/2006/relationships" id="264" r:id="R68b848d6b6124669"/>
    <p:sldId xmlns:r="http://schemas.openxmlformats.org/officeDocument/2006/relationships" id="265" r:id="R66adb2da8a5b46c1"/>
    <p:sldId xmlns:r="http://schemas.openxmlformats.org/officeDocument/2006/relationships" id="266" r:id="Rd9ee0afc3ad4454f"/>
    <p:sldId xmlns:r="http://schemas.openxmlformats.org/officeDocument/2006/relationships" id="267" r:id="Rc259e36b1db24526"/>
    <p:sldId xmlns:r="http://schemas.openxmlformats.org/officeDocument/2006/relationships" id="268" r:id="R862142873d0c4589"/>
    <p:sldId xmlns:r="http://schemas.openxmlformats.org/officeDocument/2006/relationships" id="269" r:id="R741beffff4674c30"/>
    <p:sldId xmlns:r="http://schemas.openxmlformats.org/officeDocument/2006/relationships" id="270" r:id="R8775779bd26c44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6283e6cc3a41ef" /><Relationship Type="http://schemas.openxmlformats.org/officeDocument/2006/relationships/slideMaster" Target="/ppt/slideMasters/slideMaster1.xml" Id="R110b4ac882104fa6" /><Relationship Type="http://schemas.openxmlformats.org/officeDocument/2006/relationships/notesMaster" Target="/ppt/notesMasters/notesMaster1.xml" Id="R9de38fb688794e8e" /><Relationship Type="http://schemas.openxmlformats.org/officeDocument/2006/relationships/presProps" Target="/ppt/presProps.xml" Id="Rb3cb9b51e28e41c3" /><Relationship Type="http://schemas.openxmlformats.org/officeDocument/2006/relationships/tableStyles" Target="/ppt/tableStyles.xml" Id="R75e24ace4d26404f" /><Relationship Type="http://schemas.openxmlformats.org/officeDocument/2006/relationships/slide" Target="/ppt/slides/slide1.xml" Id="R77b2499446174c22" /><Relationship Type="http://schemas.openxmlformats.org/officeDocument/2006/relationships/slide" Target="/ppt/slides/slide2.xml" Id="Rd709e133805446db" /><Relationship Type="http://schemas.openxmlformats.org/officeDocument/2006/relationships/slide" Target="/ppt/slides/slide3.xml" Id="R413791b542e34d4d" /><Relationship Type="http://schemas.openxmlformats.org/officeDocument/2006/relationships/slide" Target="/ppt/slides/slide4.xml" Id="Rd9710d16e02c42e7" /><Relationship Type="http://schemas.openxmlformats.org/officeDocument/2006/relationships/slide" Target="/ppt/slides/slide5.xml" Id="R529e25dd3fa2401e" /><Relationship Type="http://schemas.openxmlformats.org/officeDocument/2006/relationships/slide" Target="/ppt/slides/slide6.xml" Id="R1ca5ebe64ea046fe" /><Relationship Type="http://schemas.openxmlformats.org/officeDocument/2006/relationships/slide" Target="/ppt/slides/slide7.xml" Id="Rca26766e3ee44910" /><Relationship Type="http://schemas.openxmlformats.org/officeDocument/2006/relationships/slide" Target="/ppt/slides/slide8.xml" Id="R84594a8d95c74b27" /><Relationship Type="http://schemas.openxmlformats.org/officeDocument/2006/relationships/slide" Target="/ppt/slides/slide9.xml" Id="R68b848d6b6124669" /><Relationship Type="http://schemas.openxmlformats.org/officeDocument/2006/relationships/slide" Target="/ppt/slides/slide10.xml" Id="R66adb2da8a5b46c1" /><Relationship Type="http://schemas.openxmlformats.org/officeDocument/2006/relationships/slide" Target="/ppt/slides/slide11.xml" Id="Rd9ee0afc3ad4454f" /><Relationship Type="http://schemas.openxmlformats.org/officeDocument/2006/relationships/slide" Target="/ppt/slides/slide12.xml" Id="Rc259e36b1db24526" /><Relationship Type="http://schemas.openxmlformats.org/officeDocument/2006/relationships/slide" Target="/ppt/slides/slide13.xml" Id="R862142873d0c4589" /><Relationship Type="http://schemas.openxmlformats.org/officeDocument/2006/relationships/slide" Target="/ppt/slides/slide14.xml" Id="R741beffff4674c30" /><Relationship Type="http://schemas.openxmlformats.org/officeDocument/2006/relationships/slide" Target="/ppt/slides/slide15.xml" Id="R8775779bd26c44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c2ff6f4b048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97b83289e74dd8" /><Relationship Type="http://schemas.openxmlformats.org/officeDocument/2006/relationships/notesMaster" Target="/ppt/notesMasters/notesMaster1.xml" Id="Rebca8db27e2541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e1b594d3b43d8" /><Relationship Type="http://schemas.openxmlformats.org/officeDocument/2006/relationships/notesMaster" Target="/ppt/notesMasters/notesMaster1.xml" Id="Rfa18c8bea6f44a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d9d3d2095549e7" /><Relationship Type="http://schemas.openxmlformats.org/officeDocument/2006/relationships/notesMaster" Target="/ppt/notesMasters/notesMaster1.xml" Id="Rc6d72c1ac98643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5b9c3cbf6b403f" /><Relationship Type="http://schemas.openxmlformats.org/officeDocument/2006/relationships/notesMaster" Target="/ppt/notesMasters/notesMaster1.xml" Id="R89fd790120b0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9b2292096148b4" /><Relationship Type="http://schemas.openxmlformats.org/officeDocument/2006/relationships/notesMaster" Target="/ppt/notesMasters/notesMaster1.xml" Id="Rb196e89bc67742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4cef53e6c7465b" /><Relationship Type="http://schemas.openxmlformats.org/officeDocument/2006/relationships/notesMaster" Target="/ppt/notesMasters/notesMaster1.xml" Id="R916700fdbd0943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aa91da26374b1c" /><Relationship Type="http://schemas.openxmlformats.org/officeDocument/2006/relationships/notesMaster" Target="/ppt/notesMasters/notesMaster1.xml" Id="Rcf8eedc049b24a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df749fa05f4ab3" /><Relationship Type="http://schemas.openxmlformats.org/officeDocument/2006/relationships/notesMaster" Target="/ppt/notesMasters/notesMaster1.xml" Id="R4d38fd3071bd45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a5b4e667cb42de" /><Relationship Type="http://schemas.openxmlformats.org/officeDocument/2006/relationships/notesMaster" Target="/ppt/notesMasters/notesMaster1.xml" Id="R1bd6a1b0d7d146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a8e08cde3f4806" /><Relationship Type="http://schemas.openxmlformats.org/officeDocument/2006/relationships/notesMaster" Target="/ppt/notesMasters/notesMaster1.xml" Id="Rd2c284bec28a42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475970482d44e6" /><Relationship Type="http://schemas.openxmlformats.org/officeDocument/2006/relationships/notesMaster" Target="/ppt/notesMasters/notesMaster1.xml" Id="R61170e13200c4b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16d056bc524c81" /><Relationship Type="http://schemas.openxmlformats.org/officeDocument/2006/relationships/notesMaster" Target="/ppt/notesMasters/notesMaster1.xml" Id="R552f690eb6b547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73a8b17f484d6a" /><Relationship Type="http://schemas.openxmlformats.org/officeDocument/2006/relationships/notesMaster" Target="/ppt/notesMasters/notesMaster1.xml" Id="R00d2b939920f42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716b4f8a7b41e2" /><Relationship Type="http://schemas.openxmlformats.org/officeDocument/2006/relationships/notesMaster" Target="/ppt/notesMasters/notesMaster1.xml" Id="R3c3ee12900f741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aa723c11f847c8" /><Relationship Type="http://schemas.openxmlformats.org/officeDocument/2006/relationships/notesMaster" Target="/ppt/notesMasters/notesMaster1.xml" Id="Rcb0d4af605d0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whether a cough proves an infection. Hold the question open until the two cause cards are compared. We classify supplied examples; we do not classify classmates.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no; many microorganisms are harmless or useful. R2 no; the same symptom may have different causes. R3 no. If unsure, use an everyday chance example without asking for health 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“A says bacteria can spread through air, so I classify tuberculosis as communicable. D says asthma is not transmitted. Both can involve coughing, so cough alone cannot decide.”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branching comparison: communicable disease involves a transmissible infectious cause; non-communicable disease is not transmitted. Cough is deliberately shown with both tuberculosis and asthma.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“The protist causes malaria. The mosquito carries it. Therefore I need not draw a direct touch between people. I must not call the mosquito the pathogen.” The simplified route omits the parasite life cycle and does not predict whether an individual bite infects.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malaria transmission model. An infected person may infect a mosquito feeding on them; an infected mosquito can pass the malaria protist to another person when biting. Not every mosquito is a malaria vector; this is a route model, not a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“The heart-disease card gives several influences. It cannot tell me whether a named person will develop disease. A claim blaming one behaviour ignores genes, environment and access to resources.” No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conceptual risk diagram with inherited, environmental and behavioural factors converging on the probability of a non-communicable disease. No numerical prediction or blame is implied.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silent think time. Invite one choice plus reason, then ask another pupil to test the reason with a counterexample. A/B/C/F communicable; D/E non-communicable. Use printable cards or interactive reveal, same science.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Cholera: safer water/food reduces exposure to water/food-borne bacteria. Malaria: mosquito barriers such as insecticide-treated nets can reduce vector bites, depending on use/context. These are mechanism examples, not travel advice. Ask what part of the route is interrupted.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malaria transmission model. An infected person may infect a mosquito feeding on them; an infected mosquito can pass the malaria protist to another person when biting. Not every mosquito is a malaria vector; this is a route model, not a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Expected: cough can have different causes; tuberculosis is communicable, asthma is not. Evidence about cause is needed. Ask the audience to say which exact word was too strong. No actual diagnosis is attempted.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The same symptom can have different causes. These two cause cards belong in different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B. If pupils select A, return to vector diagram; if C, compare cause and symptom; if D, revisit risk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Malaria is non-communicable because a vector is involved.</a:t>
            </a:r>
          </a:p>
          <a:p xmlns:a="http://schemas.openxmlformats.org/drawingml/2006/main">
            <a:r>
              <a:t>A pathogen can spread indirectly through a vector; malaria is communicable.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A communicable disease has an infectious cause that can spread.</a:t>
            </a:r>
          </a:p>
          <a:p xmlns:a="http://schemas.openxmlformats.org/drawingml/2006/main">
            <a:r>
              <a:t>Correct. Yes. Spread can be direct or indirect, including air, water and vectors.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A shared symptom proves the same cause.</a:t>
            </a:r>
          </a:p>
          <a:p xmlns:a="http://schemas.openxmlformats.org/drawingml/2006/main">
            <a:r>
              <a:t>Tuberculosis and asthma can both involve coughing but have different causes.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One risk factor guarantees disease.</a:t>
            </a:r>
          </a:p>
          <a:p xmlns:a="http://schemas.openxmlformats.org/drawingml/2006/main">
            <a:r>
              <a:t>A risk factor affects probability; it does not make disease 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Pupils produce a case classification, a transmission explanation and a cautious conclusion. Route selection responds to current support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Circulate after first classification. For wrong malaria category, trace person–vector–person without revealing the category. For blame statements, redirect to multiple factors.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partner, teacher or TA is an audience; quiet written review is valid. Ask a genuine challenge; pupil improves or defends using source evidence. Do not publicly rank health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 model: “C is communicable: a mosquito can carry the malaria protist between hosts. The mosquito is the vector, not the pathogen.” Ask pupils to amend one term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 transmissible infectious cause. E2 protist; mosquito. E3 different causes can cause a similar symptom. Use responses to plan barrier/immune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Collect one response per pupil, accepting annotated arrows or dictated words. If cause remains insecure, begin next lesson with A versus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Checked the combination of genetic, physiological, environmental and behavioural factors; no current disease burden figures used.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NHS: Antibiotics</a:t>
            </a:r>
          </a:p>
          <a:p xmlns:a="http://schemas.openxmlformats.org/drawingml/2006/main">
            <a:r>
              <a:t>https://www.nhs.uk/medicines/antibiotics/</a:t>
            </a:r>
          </a:p>
          <a:p xmlns:a="http://schemas.openxmlformats.org/drawingml/2006/main">
            <a:r>
              <a:t>Checked that antibiotics can treat some bacterial infections but do not treat viral infections. No prescribing advice is part of this lesson.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e75defece4c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3cf631549458a" /><Relationship Type="http://schemas.openxmlformats.org/officeDocument/2006/relationships/slideLayout" Target="/ppt/slideLayouts/slideLayout1.xml" Id="Rbe1949709412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1949709412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c4fc95b7a4afe" /><Relationship Type="http://schemas.openxmlformats.org/officeDocument/2006/relationships/notesSlide" Target="/ppt/notesSlides/notesSlide1.xml" Id="R075f7ada7fc345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d2d3ba6404990" /><Relationship Type="http://schemas.openxmlformats.org/officeDocument/2006/relationships/notesSlide" Target="/ppt/notesSlides/notesSlide2.xml" Id="Rb72eb6a7078e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a0b84b71d44a3" /><Relationship Type="http://schemas.openxmlformats.org/officeDocument/2006/relationships/notesSlide" Target="/ppt/notesSlides/notesSlide3.xml" Id="R61d5b90cbc9e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3307dd4a04600" /><Relationship Type="http://schemas.openxmlformats.org/officeDocument/2006/relationships/notesSlide" Target="/ppt/notesSlides/notesSlide4.xml" Id="R2a1a7bfb7d4040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0ac1859ca4ad4" /><Relationship Type="http://schemas.openxmlformats.org/officeDocument/2006/relationships/notesSlide" Target="/ppt/notesSlides/notesSlide5.xml" Id="Rb8250a4edabe4f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a4a33e15049fb" /><Relationship Type="http://schemas.openxmlformats.org/officeDocument/2006/relationships/notesSlide" Target="/ppt/notesSlides/notesSlide6.xml" Id="R6f95dcd0a29e4c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65a620d5942ce" /><Relationship Type="http://schemas.openxmlformats.org/officeDocument/2006/relationships/notesSlide" Target="/ppt/notesSlides/notesSlide7.xml" Id="R5d1400afb46d4a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55cfa62c64274" /><Relationship Type="http://schemas.openxmlformats.org/officeDocument/2006/relationships/notesSlide" Target="/ppt/notesSlides/notesSlide8.xml" Id="R3291456a030a45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ba7bec0d14de5" /><Relationship Type="http://schemas.openxmlformats.org/officeDocument/2006/relationships/notesSlide" Target="/ppt/notesSlides/notesSlide9.xml" Id="R5f0035b3585247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ba0886fb64a93" /><Relationship Type="http://schemas.openxmlformats.org/officeDocument/2006/relationships/notesSlide" Target="/ppt/notesSlides/notesSlide10.xml" Id="R2700c9f44b5248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4b4f8790c480a" /><Relationship Type="http://schemas.openxmlformats.org/officeDocument/2006/relationships/notesSlide" Target="/ppt/notesSlides/notesSlide11.xml" Id="R55d3b8804ac74d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4733805d942a9" /><Relationship Type="http://schemas.openxmlformats.org/officeDocument/2006/relationships/notesSlide" Target="/ppt/notesSlides/notesSlide12.xml" Id="R7fdd6e10de3a46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284e313b84ae6" /><Relationship Type="http://schemas.openxmlformats.org/officeDocument/2006/relationships/notesSlide" Target="/ppt/notesSlides/notesSlide13.xml" Id="Rfae6994044744e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261a6285a4749" /><Relationship Type="http://schemas.openxmlformats.org/officeDocument/2006/relationships/notesSlide" Target="/ppt/notesSlides/notesSlide14.xml" Id="Ra3e8ce6c3c2543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1b779de704eda" /><Relationship Type="http://schemas.openxmlformats.org/officeDocument/2006/relationships/notesSlide" Target="/ppt/notesSlides/notesSlide15.xml" Id="Rbce68f862c8540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C2A2536-C352-4D86-A5C8-BC12CB3F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E18C92F-CCFD-436E-8EA4-FBE584D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93AADD4-3E52-4BC8-9BEA-1DD799A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A6A64E6-9B37-401E-9839-964A434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974CAE30-26B4-4D17-ADA1-997442EC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161C5EA-2F24-41EE-969B-9892B66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One symptom. Two explanations.">
            <a:extLst xmlns:a="http://schemas.openxmlformats.org/drawingml/2006/main">
              <a:ext uri="{FF2B5EF4-FFF2-40B4-BE49-F238E27FC236}">
                <a16:creationId xmlns:a16="http://schemas.microsoft.com/office/drawing/2014/main" id="{7829756E-D4A5-45C6-BC40-0B00E34D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symptom. Two explanations.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9756E90-6834-45F5-8885-0A298F2F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496B96F4-5FA8-4523-8DB1-196CECE6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9EF692C5-AEE9-4641-89DC-FC210AB4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3F9D4D8B-AA57-467C-A63F-1B458E42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DFDE2FE-0FE7-4437-8A4A-860E06D5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F0E49514-B973-4FA7-BE75-29E9F425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istinguish communicable and non-communicable disease using caus">
            <a:extLst xmlns:a="http://schemas.openxmlformats.org/drawingml/2006/main">
              <a:ext uri="{FF2B5EF4-FFF2-40B4-BE49-F238E27FC236}">
                <a16:creationId xmlns:a16="http://schemas.microsoft.com/office/drawing/2014/main" id="{F03E3746-8300-4381-9EB3-E0E41061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Distinguish communicable and non-communicable disease using cause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transmission evidence.</a:t>
            </a:r>
          </a:p>
        </p:txBody>
      </p:sp>
      <p:sp>
        <p:nvSpPr>
          <p:cNvPr id="15" name="Mission: solve disease evidence cards without guessing a diagnos">
            <a:extLst xmlns:a="http://schemas.openxmlformats.org/drawingml/2006/main">
              <a:ext uri="{FF2B5EF4-FFF2-40B4-BE49-F238E27FC236}">
                <a16:creationId xmlns:a16="http://schemas.microsoft.com/office/drawing/2014/main" id="{9AAF32AC-5975-4E72-BC9E-A701BD81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Mission: solve disease evidence cards without guessing a diagnosis.</a:t>
            </a:r>
          </a:p>
        </p:txBody>
      </p:sp>
      <p:sp>
        <p:nvSpPr>
          <p:cNvPr id="16" name="You may point, discuss quietly or write.">
            <a:extLst xmlns:a="http://schemas.openxmlformats.org/drawingml/2006/main">
              <a:ext uri="{FF2B5EF4-FFF2-40B4-BE49-F238E27FC236}">
                <a16:creationId xmlns:a16="http://schemas.microsoft.com/office/drawing/2014/main" id="{FA17B4DF-FA02-4899-AF45-A3BE5716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 may point, discuss quietly or write.</a:t>
            </a:r>
          </a:p>
        </p:txBody>
      </p:sp>
    </p:spTree>
    <p:extLst>
      <p:ext uri="{BB962C8B-B14F-4D97-AF65-F5344CB8AC3E}">
        <p14:creationId xmlns:p14="http://schemas.microsoft.com/office/powerpoint/2010/main" val="1476644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EC7E308-A406-4880-9779-5841CEC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0544130-E89D-4AE3-930B-6CD5702B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C9BB39C-7ED8-42C3-ADC9-CB512CBE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AC50BB9-FC7F-4351-A21D-D2ABB6E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D7A417CE-7DB5-4B4B-B246-4E2A329B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36B833D-9634-40D2-821D-F97B6E8D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Cause, symptom or risk?">
            <a:extLst xmlns:a="http://schemas.openxmlformats.org/drawingml/2006/main">
              <a:ext uri="{FF2B5EF4-FFF2-40B4-BE49-F238E27FC236}">
                <a16:creationId xmlns:a16="http://schemas.microsoft.com/office/drawing/2014/main" id="{F52676F9-FA9F-4E1C-B652-06677044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Cause, symptom or risk?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44D168C-FEBF-4F22-8275-1E1F617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E68C97A1-756A-4EC2-822D-54DC0742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D31F0CBF-CED1-4DF4-92C7-41F3CEF9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Are all microorganisms harmful?">
            <a:extLst xmlns:a="http://schemas.openxmlformats.org/drawingml/2006/main">
              <a:ext uri="{FF2B5EF4-FFF2-40B4-BE49-F238E27FC236}">
                <a16:creationId xmlns:a16="http://schemas.microsoft.com/office/drawing/2014/main" id="{F4DC60CE-437E-4CCD-A610-E165C82F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Are all microorganisms harmful?</a:t>
            </a:r>
          </a:p>
        </p:txBody>
      </p:sp>
      <p:sp>
        <p:nvSpPr>
          <p:cNvPr id="12" name="R2. Is a symptom the same as its cause?">
            <a:extLst xmlns:a="http://schemas.openxmlformats.org/drawingml/2006/main">
              <a:ext uri="{FF2B5EF4-FFF2-40B4-BE49-F238E27FC236}">
                <a16:creationId xmlns:a16="http://schemas.microsoft.com/office/drawing/2014/main" id="{69AFBC94-48B7-4404-9FB8-AEC3307F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Is a symptom the same as its cause?</a:t>
            </a:r>
          </a:p>
        </p:txBody>
      </p:sp>
      <p:sp>
        <p:nvSpPr>
          <p:cNvPr id="13" name="R3. Does a higher chance mean certainty?">
            <a:extLst xmlns:a="http://schemas.openxmlformats.org/drawingml/2006/main">
              <a:ext uri="{FF2B5EF4-FFF2-40B4-BE49-F238E27FC236}">
                <a16:creationId xmlns:a16="http://schemas.microsoft.com/office/drawing/2014/main" id="{AAD83993-16EC-4725-96D1-E546551D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a higher chance mean certainty?</a:t>
            </a:r>
          </a:p>
        </p:txBody>
      </p:sp>
    </p:spTree>
    <p:extLst>
      <p:ext uri="{BB962C8B-B14F-4D97-AF65-F5344CB8AC3E}">
        <p14:creationId xmlns:p14="http://schemas.microsoft.com/office/powerpoint/2010/main" val="1857083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31849B04-6B4D-47F3-B73B-3BF252AC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957EDA4-DB53-472B-A38C-3A39B458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5E52484-5C15-48C2-9C66-24495C05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9C83066-C830-46AA-B735-81AA7FF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CFDBC43A-7558-433F-8018-A9CBDBF3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00353A8A-F3C4-43E8-87D8-F9A1A9B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I follow the causal evidence">
            <a:extLst xmlns:a="http://schemas.openxmlformats.org/drawingml/2006/main">
              <a:ext uri="{FF2B5EF4-FFF2-40B4-BE49-F238E27FC236}">
                <a16:creationId xmlns:a16="http://schemas.microsoft.com/office/drawing/2014/main" id="{E54D17F9-AF7D-4AAE-949B-F3358557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the causal evidence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BF0F468-A119-4AB6-9FDB-B8A307D4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07E37221-ADA1-4B82-854A-73444AE3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22D2AB2F-504D-4675-AECF-3E88F028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Classify using the cause, not the symptom">
            <a:extLst xmlns:a="http://schemas.openxmlformats.org/drawingml/2006/main">
              <a:ext uri="{FF2B5EF4-FFF2-40B4-BE49-F238E27FC236}">
                <a16:creationId xmlns:a16="http://schemas.microsoft.com/office/drawing/2014/main" id="{D7CB0612-EDB6-45B2-923F-1044078A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Classify using the cause, not the symptom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8250758-E34C-46BC-AAA6-8F0CBFE2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Communicable&#10;Transmissible pathogen">
            <a:extLst xmlns:a="http://schemas.openxmlformats.org/drawingml/2006/main">
              <a:ext uri="{FF2B5EF4-FFF2-40B4-BE49-F238E27FC236}">
                <a16:creationId xmlns:a16="http://schemas.microsoft.com/office/drawing/2014/main" id="{23270E1B-93D7-4ED0-96FA-949D5065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Communicable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Transmissible pathogen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4BE719E-6B32-4C8C-9E14-B0EFDE7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Diagram label: Non-communicable&#10;Not transmitted">
            <a:extLst xmlns:a="http://schemas.openxmlformats.org/drawingml/2006/main">
              <a:ext uri="{FF2B5EF4-FFF2-40B4-BE49-F238E27FC236}">
                <a16:creationId xmlns:a16="http://schemas.microsoft.com/office/drawing/2014/main" id="{9169C2CE-A0EF-40FC-BD45-A6F5C3E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Non-communicable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transmitted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1FE0121-D00E-4004-8C54-EA315E16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Tuberculosis: bacterium&#10;Can involve coughing">
            <a:extLst xmlns:a="http://schemas.openxmlformats.org/drawingml/2006/main">
              <a:ext uri="{FF2B5EF4-FFF2-40B4-BE49-F238E27FC236}">
                <a16:creationId xmlns:a16="http://schemas.microsoft.com/office/drawing/2014/main" id="{0BDC9D37-4DE4-4243-89F8-CF217DE9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Tuberculosis: bacterium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involve coughing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4B7A195-5E05-4C9A-9FE7-F45883AF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9" name="Diagram label: Asthma: airway condition&#10;Cough can occur">
            <a:extLst xmlns:a="http://schemas.openxmlformats.org/drawingml/2006/main">
              <a:ext uri="{FF2B5EF4-FFF2-40B4-BE49-F238E27FC236}">
                <a16:creationId xmlns:a16="http://schemas.microsoft.com/office/drawing/2014/main" id="{ACC7FC4C-2D73-4E3B-96D9-7635EC1D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Asthma: airway condition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Cough can occur</a:t>
            </a:r>
          </a:p>
        </p:txBody>
      </p:sp>
      <p:sp>
        <p:nvSpPr>
          <p:cNvPr id="20" name="Diagram label: The same symptom can have different causes.">
            <a:extLst xmlns:a="http://schemas.openxmlformats.org/drawingml/2006/main">
              <a:ext uri="{FF2B5EF4-FFF2-40B4-BE49-F238E27FC236}">
                <a16:creationId xmlns:a16="http://schemas.microsoft.com/office/drawing/2014/main" id="{D0B3258A-EB1B-4FF3-A4BA-352076A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543975"/>
            <a:ext cx="686956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same symptom can have different causes.</a:t>
            </a:r>
          </a:p>
        </p:txBody>
      </p:sp>
      <p:sp>
        <p:nvSpPr>
          <p:cNvPr id="21" name="My first question: is there a transmissible infectious cause?  I">
            <a:extLst xmlns:a="http://schemas.openxmlformats.org/drawingml/2006/main">
              <a:ext uri="{FF2B5EF4-FFF2-40B4-BE49-F238E27FC236}">
                <a16:creationId xmlns:a16="http://schemas.microsoft.com/office/drawing/2014/main" id="{9A5F3B9A-4EB4-40D7-8AB4-4808B874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My first question: is there a transmissible infectious cause? I do not classify from how unwell someone looks.</a:t>
            </a:r>
          </a:p>
        </p:txBody>
      </p:sp>
    </p:spTree>
    <p:extLst>
      <p:ext uri="{BB962C8B-B14F-4D97-AF65-F5344CB8AC3E}">
        <p14:creationId xmlns:p14="http://schemas.microsoft.com/office/powerpoint/2010/main" val="126606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8196562F-54A8-40E4-A823-90DA4FDD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40F0B46-9ACD-42F5-BBA9-9F3ED86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334CEEF-5125-4E56-9F0F-B3D1E4E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5189AEF-1FF6-4119-9E45-E62FF8E5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02CA206-33B1-413D-BC96-3BB0441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4F529EC-FC69-4D68-B974-5962B463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ransmission can be indirect">
            <a:extLst xmlns:a="http://schemas.openxmlformats.org/drawingml/2006/main">
              <a:ext uri="{FF2B5EF4-FFF2-40B4-BE49-F238E27FC236}">
                <a16:creationId xmlns:a16="http://schemas.microsoft.com/office/drawing/2014/main" id="{642D3638-E50D-4C25-97F5-37011E6F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Transmission can be indirect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F007893-F706-40C4-9D7E-37B23DA3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F7ACEFE2-3889-4D73-9E27-398B8026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A61B6AB1-094E-490F-AE24-C7BBAA6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Malaria: a vector connects hosts">
            <a:extLst xmlns:a="http://schemas.openxmlformats.org/drawingml/2006/main">
              <a:ext uri="{FF2B5EF4-FFF2-40B4-BE49-F238E27FC236}">
                <a16:creationId xmlns:a16="http://schemas.microsoft.com/office/drawing/2014/main" id="{21B45148-1026-427F-AAFB-99BF1EB6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Malaria: a vector connects hosts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BCD018D-BF19-4850-9275-3AEB920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3042557"/>
            <a:ext cx="1754726" cy="112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Infected&#10;person">
            <a:extLst xmlns:a="http://schemas.openxmlformats.org/drawingml/2006/main">
              <a:ext uri="{FF2B5EF4-FFF2-40B4-BE49-F238E27FC236}">
                <a16:creationId xmlns:a16="http://schemas.microsoft.com/office/drawing/2014/main" id="{64C5BC47-87AF-414B-9B68-53BAD215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3229230"/>
            <a:ext cx="1456049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Infected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person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36C54C8-225C-42A7-8C7E-84518D66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639" y="3117226"/>
            <a:ext cx="1642722" cy="97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abel: Mosquito&#10;vector">
            <a:extLst xmlns:a="http://schemas.openxmlformats.org/drawingml/2006/main">
              <a:ext uri="{FF2B5EF4-FFF2-40B4-BE49-F238E27FC236}">
                <a16:creationId xmlns:a16="http://schemas.microsoft.com/office/drawing/2014/main" id="{65EA0843-0E03-43DE-965A-C0C4F28E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77" y="3303899"/>
            <a:ext cx="1344046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Mosquito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vector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84F5A6B-C690-427C-A851-D19F71EB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053" y="3042557"/>
            <a:ext cx="1792061" cy="112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Another&#10;person">
            <a:extLst xmlns:a="http://schemas.openxmlformats.org/drawingml/2006/main">
              <a:ext uri="{FF2B5EF4-FFF2-40B4-BE49-F238E27FC236}">
                <a16:creationId xmlns:a16="http://schemas.microsoft.com/office/drawing/2014/main" id="{EF51B426-E41A-4FD2-A2B8-37179090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392" y="3214296"/>
            <a:ext cx="1493384" cy="7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Another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person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668F7BB-3B10-43C8-A25D-15527DA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65281" y="3602576"/>
            <a:ext cx="55628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014D843-079F-4546-9AFA-DCD05149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95433" y="3550308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D3BF390-B5CF-4B0B-A25D-491D872F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92030" y="3602576"/>
            <a:ext cx="51895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69C8F48B-060D-48D9-8ED2-CB16DD54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4847" y="3550308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2" name="Diagram label: Pathogen may enter&#10;mosquito during feed">
            <a:extLst xmlns:a="http://schemas.openxmlformats.org/drawingml/2006/main">
              <a:ext uri="{FF2B5EF4-FFF2-40B4-BE49-F238E27FC236}">
                <a16:creationId xmlns:a16="http://schemas.microsoft.com/office/drawing/2014/main" id="{B242C991-8EE9-4F9A-ACC2-6DDE7991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4311933"/>
            <a:ext cx="2240076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Pathogen may enter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mosquito during feed</a:t>
            </a:r>
          </a:p>
        </p:txBody>
      </p:sp>
      <p:sp>
        <p:nvSpPr>
          <p:cNvPr id="23" name="Diagram label: Infected mosquito&#10;may pass pathogen">
            <a:extLst xmlns:a="http://schemas.openxmlformats.org/drawingml/2006/main">
              <a:ext uri="{FF2B5EF4-FFF2-40B4-BE49-F238E27FC236}">
                <a16:creationId xmlns:a16="http://schemas.microsoft.com/office/drawing/2014/main" id="{078A70AF-4E0B-417A-BA05-66E9512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365" y="4311933"/>
            <a:ext cx="2389414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Infected mosquito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may pass pathogen</a:t>
            </a:r>
          </a:p>
        </p:txBody>
      </p:sp>
      <p:sp>
        <p:nvSpPr>
          <p:cNvPr id="24" name="Diagram label: A route through a vector is still communicable.&#10;A bite does not automatically mean infection.">
            <a:extLst xmlns:a="http://schemas.openxmlformats.org/drawingml/2006/main">
              <a:ext uri="{FF2B5EF4-FFF2-40B4-BE49-F238E27FC236}">
                <a16:creationId xmlns:a16="http://schemas.microsoft.com/office/drawing/2014/main" id="{942B72E9-FE0C-48E6-884F-FE735D9B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5170629"/>
            <a:ext cx="6645558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route through a vector is still communicable.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bite does not automatically mean infection.</a:t>
            </a:r>
          </a:p>
        </p:txBody>
      </p:sp>
      <p:sp>
        <p:nvSpPr>
          <p:cNvPr id="25" name="A vector can carry a pathogen between hosts.  Follow the arrows ">
            <a:extLst xmlns:a="http://schemas.openxmlformats.org/drawingml/2006/main">
              <a:ext uri="{FF2B5EF4-FFF2-40B4-BE49-F238E27FC236}">
                <a16:creationId xmlns:a16="http://schemas.microsoft.com/office/drawing/2014/main" id="{91040BCF-B0E0-4CC0-A709-E04ADA60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vector can carry a pathogen between hosts. Follow the arrows and name the pathogen.</a:t>
            </a:r>
          </a:p>
        </p:txBody>
      </p:sp>
    </p:spTree>
    <p:extLst>
      <p:ext uri="{BB962C8B-B14F-4D97-AF65-F5344CB8AC3E}">
        <p14:creationId xmlns:p14="http://schemas.microsoft.com/office/powerpoint/2010/main" val="993109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8DC811E8-0369-427B-9C26-C464C44D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E14E5FE-E4B9-4C8C-9EC6-BE0575D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473BF99-88F5-4E01-AEEB-87FED12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C0CD4A4-3795-4595-B0FA-6DEC24A2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AE84FF47-C0CE-48DE-8F87-B49DB28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4FC22ED5-DF88-4AB6-94AC-02750B20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careful explanation of risk">
            <a:extLst xmlns:a="http://schemas.openxmlformats.org/drawingml/2006/main">
              <a:ext uri="{FF2B5EF4-FFF2-40B4-BE49-F238E27FC236}">
                <a16:creationId xmlns:a16="http://schemas.microsoft.com/office/drawing/2014/main" id="{8BE0035F-2F5B-406C-ABA0-EC07B3C9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careful explanation of risk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40DE088-10F1-443C-A2AF-A8307F0C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D58930CE-CEA9-4645-BF43-E5A84C81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EF4C2AA8-0E6E-4BF4-A313-3169B3B3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Risk is not a single switch">
            <a:extLst xmlns:a="http://schemas.openxmlformats.org/drawingml/2006/main">
              <a:ext uri="{FF2B5EF4-FFF2-40B4-BE49-F238E27FC236}">
                <a16:creationId xmlns:a16="http://schemas.microsoft.com/office/drawing/2014/main" id="{52530C20-E421-4F8D-9EF6-97733A5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Risk is not a single switch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473A570-ACA6-4F0A-A408-DB6F442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706546"/>
            <a:ext cx="2053403" cy="1008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Inherited and&#10;body factors">
            <a:extLst xmlns:a="http://schemas.openxmlformats.org/drawingml/2006/main">
              <a:ext uri="{FF2B5EF4-FFF2-40B4-BE49-F238E27FC236}">
                <a16:creationId xmlns:a16="http://schemas.microsoft.com/office/drawing/2014/main" id="{E994BDAE-76D4-4511-993C-40776D7A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70818"/>
            <a:ext cx="1754726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Inherited and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factors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6BF238B-810B-472E-B910-C1197048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565" y="2706546"/>
            <a:ext cx="2053403" cy="1008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Diagram label: Environment&#10;and exposures">
            <a:extLst xmlns:a="http://schemas.openxmlformats.org/drawingml/2006/main">
              <a:ext uri="{FF2B5EF4-FFF2-40B4-BE49-F238E27FC236}">
                <a16:creationId xmlns:a16="http://schemas.microsoft.com/office/drawing/2014/main" id="{49EEABE1-68C0-49A4-9123-E937F627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03" y="2870818"/>
            <a:ext cx="1754726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Environment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exposures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9307F7B-A528-486F-98D0-26FAA52E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046" y="2706546"/>
            <a:ext cx="2053403" cy="1008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Behaviour and&#10;circumstances">
            <a:extLst xmlns:a="http://schemas.openxmlformats.org/drawingml/2006/main">
              <a:ext uri="{FF2B5EF4-FFF2-40B4-BE49-F238E27FC236}">
                <a16:creationId xmlns:a16="http://schemas.microsoft.com/office/drawing/2014/main" id="{456315D5-4614-475E-9166-6C608F2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84" y="2870818"/>
            <a:ext cx="1754726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Behaviour and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circumstances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556922A-165B-4290-9339-9FC1E098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5924" y="3826584"/>
            <a:ext cx="1273920" cy="636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F81818F5-9DCB-47B2-9BE1-AB1170A2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93903">
            <a:off x="5100951" y="442296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AF5A2A0-9F4D-4D6E-82B7-B70A5150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826584"/>
            <a:ext cx="953" cy="593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252BD90-50BF-4C6A-BF6F-7353F097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43732" y="439407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3340F9A-4F7F-4607-8052-C8A35BAE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063343" y="3826584"/>
            <a:ext cx="1399670" cy="639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649B5F8-ED9D-4B47-BAC5-38FD2BD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726795">
            <a:off x="6987304" y="4424618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5D259A7-3E9A-4835-9AD4-F8D68C3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2" y="4573276"/>
            <a:ext cx="3210775" cy="7840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5" name="Diagram label: Can alter the chance&#10;of disease">
            <a:extLst xmlns:a="http://schemas.openxmlformats.org/drawingml/2006/main">
              <a:ext uri="{FF2B5EF4-FFF2-40B4-BE49-F238E27FC236}">
                <a16:creationId xmlns:a16="http://schemas.microsoft.com/office/drawing/2014/main" id="{F241C0D7-0807-47FB-8D66-CD3EC3B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951" y="4759949"/>
            <a:ext cx="2912099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alter the chance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of disease</a:t>
            </a:r>
          </a:p>
        </p:txBody>
      </p:sp>
      <p:sp>
        <p:nvSpPr>
          <p:cNvPr id="26" name="Diagram label: Risk is not certainty. Illness is not a blame label.">
            <a:extLst xmlns:a="http://schemas.openxmlformats.org/drawingml/2006/main">
              <a:ext uri="{FF2B5EF4-FFF2-40B4-BE49-F238E27FC236}">
                <a16:creationId xmlns:a16="http://schemas.microsoft.com/office/drawing/2014/main" id="{FDBCCDFA-592A-4C0D-87B1-D17B98EC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581310"/>
            <a:ext cx="6794897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Risk is not certainty. Illness is not a blame label.</a:t>
            </a:r>
          </a:p>
        </p:txBody>
      </p:sp>
      <p:sp>
        <p:nvSpPr>
          <p:cNvPr id="27" name="Several factors can affect disease risk.  “More likely” is diffe">
            <a:extLst xmlns:a="http://schemas.openxmlformats.org/drawingml/2006/main">
              <a:ext uri="{FF2B5EF4-FFF2-40B4-BE49-F238E27FC236}">
                <a16:creationId xmlns:a16="http://schemas.microsoft.com/office/drawing/2014/main" id="{1D82FB2B-A5C4-45D5-B799-DAED162C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Several factors can affect disease risk. “More likely” is different from “will happen”.</a:t>
            </a:r>
          </a:p>
        </p:txBody>
      </p:sp>
    </p:spTree>
    <p:extLst>
      <p:ext uri="{BB962C8B-B14F-4D97-AF65-F5344CB8AC3E}">
        <p14:creationId xmlns:p14="http://schemas.microsoft.com/office/powerpoint/2010/main" val="1139012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24548C9-EB98-4C4F-B90D-69A65C71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13D3DD7-ADCB-401B-B9D6-6376D30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DC417D7-B58A-48D4-8CFB-718AE3B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81D89BA-9B46-4153-9D99-6F3653D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C5D447F-0536-4678-9551-ACD936A8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4457047C-51F0-4663-93E6-F1085535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Case-board challenge">
            <a:extLst xmlns:a="http://schemas.openxmlformats.org/drawingml/2006/main">
              <a:ext uri="{FF2B5EF4-FFF2-40B4-BE49-F238E27FC236}">
                <a16:creationId xmlns:a16="http://schemas.microsoft.com/office/drawing/2014/main" id="{2CE7DAD8-E895-4C7F-AEA8-DE804BC7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Case-board challenge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A0816A1-E69F-4837-9229-C8FB08D0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5FD36786-9375-4529-AAF2-EDDB8AE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B2B9F859-73C5-4CCD-AF27-6E3ECC6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Sort A–F into communicable or non-communicable. Use the caus">
            <a:extLst xmlns:a="http://schemas.openxmlformats.org/drawingml/2006/main">
              <a:ext uri="{FF2B5EF4-FFF2-40B4-BE49-F238E27FC236}">
                <a16:creationId xmlns:a16="http://schemas.microsoft.com/office/drawing/2014/main" id="{2BF75161-F92D-4A87-AC01-8F66B98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Sort A–F into communicable or non-communicable. Use the cause column as evidence.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353710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32088"/>
                <a:gridCol w="3225670"/>
                <a:gridCol w="3867442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Cause/category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Transmission clue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A: tuberculosis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Bacteria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Air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B: cholera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Bacteria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Contaminated water/food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C: malaria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Protist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Mosquito vector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D: asthma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Non-communicable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Not transmitted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E: coronary heart disease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Non-communicable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Not transmitted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F: influenza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Virus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Between people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upplied teaching summaries; not diagnostic guidance.">
            <a:extLst xmlns:a="http://schemas.openxmlformats.org/drawingml/2006/main">
              <a:ext uri="{FF2B5EF4-FFF2-40B4-BE49-F238E27FC236}">
                <a16:creationId xmlns:a16="http://schemas.microsoft.com/office/drawing/2014/main" id="{3FF39B3E-E5C6-4498-93DB-6BED28B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6934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Supplied teaching summaries; not diagnostic guidance.</a:t>
            </a:r>
          </a:p>
        </p:txBody>
      </p:sp>
    </p:spTree>
    <p:extLst>
      <p:ext uri="{BB962C8B-B14F-4D97-AF65-F5344CB8AC3E}">
        <p14:creationId xmlns:p14="http://schemas.microsoft.com/office/powerpoint/2010/main" val="652033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B61B3EB2-5ED5-46FA-8F6E-C22BC2F5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B644499-2D71-464F-BBCE-5705B991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565B26C-587A-4550-9386-7E43147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B9F4270-0262-4A34-96DE-1174B709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B1B4DC2B-E8E1-48A8-9AB7-16A3B618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B9B4CEB-9F56-42CA-9C39-1E544DC5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Interrupt one route">
            <a:extLst xmlns:a="http://schemas.openxmlformats.org/drawingml/2006/main">
              <a:ext uri="{FF2B5EF4-FFF2-40B4-BE49-F238E27FC236}">
                <a16:creationId xmlns:a16="http://schemas.microsoft.com/office/drawing/2014/main" id="{72C58C13-CBB6-40DB-BE5A-BBEB5E1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Interrupt one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19DBB50-0849-4DAA-8422-2754A820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10F1BE16-2D56-4F70-9735-71B43D5A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ED5CE806-2EC1-4740-BD04-C3CAD976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Malaria: a vector connects hosts">
            <a:extLst xmlns:a="http://schemas.openxmlformats.org/drawingml/2006/main">
              <a:ext uri="{FF2B5EF4-FFF2-40B4-BE49-F238E27FC236}">
                <a16:creationId xmlns:a16="http://schemas.microsoft.com/office/drawing/2014/main" id="{7DCAD6E7-70E9-4FFF-AE62-6A06612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Malaria: a vector connects hosts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2B274B9-EB04-47C3-829D-FB43626F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2969079"/>
            <a:ext cx="1646804" cy="1051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3" name="Diagram label: Infected&#10;person">
            <a:extLst xmlns:a="http://schemas.openxmlformats.org/drawingml/2006/main">
              <a:ext uri="{FF2B5EF4-FFF2-40B4-BE49-F238E27FC236}">
                <a16:creationId xmlns:a16="http://schemas.microsoft.com/office/drawing/2014/main" id="{0EDEE951-B27F-4240-821C-51B958CB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98" y="3144271"/>
            <a:ext cx="1366497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Infected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person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49D6121-7D64-44AE-A2A4-B98A4DC1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155" y="3039155"/>
            <a:ext cx="1541689" cy="910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5" name="Diagram label: Mosquito&#10;vector">
            <a:extLst xmlns:a="http://schemas.openxmlformats.org/drawingml/2006/main">
              <a:ext uri="{FF2B5EF4-FFF2-40B4-BE49-F238E27FC236}">
                <a16:creationId xmlns:a16="http://schemas.microsoft.com/office/drawing/2014/main" id="{3ED54E96-2C35-4E3E-976E-39538D34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309" y="3214347"/>
            <a:ext cx="1261382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Mosquito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vector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4BD0A26-F184-4ADF-B417-5905DB1E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2969079"/>
            <a:ext cx="1681843" cy="1051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7" name="Diagram label: Another&#10;person">
            <a:extLst xmlns:a="http://schemas.openxmlformats.org/drawingml/2006/main">
              <a:ext uri="{FF2B5EF4-FFF2-40B4-BE49-F238E27FC236}">
                <a16:creationId xmlns:a16="http://schemas.microsoft.com/office/drawing/2014/main" id="{972A97B7-B8C0-4DEA-A93B-6821BC35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766" y="3130255"/>
            <a:ext cx="1401536" cy="735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Another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person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EE61D3F-EF67-4F8B-AE10-120CAC94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9426" y="3494654"/>
            <a:ext cx="52207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C58A462-76C6-4CEE-ADB8-D7197629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56971" y="3445601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CC11D69-368E-41FC-9545-7D99F821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36921" y="3494654"/>
            <a:ext cx="48703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B6E3898-B23C-41B7-81B2-28FE9C35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99428" y="3445601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2" name="Diagram label: Pathogen may enter&#10;mosquito during feed">
            <a:extLst xmlns:a="http://schemas.openxmlformats.org/drawingml/2006/main">
              <a:ext uri="{FF2B5EF4-FFF2-40B4-BE49-F238E27FC236}">
                <a16:creationId xmlns:a16="http://schemas.microsoft.com/office/drawing/2014/main" id="{C2D32471-E3DB-4DBF-BCB7-97BD3FF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98" y="4160384"/>
            <a:ext cx="2102304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Pathogen may enter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mosquito during feed</a:t>
            </a:r>
          </a:p>
        </p:txBody>
      </p:sp>
      <p:sp>
        <p:nvSpPr>
          <p:cNvPr id="23" name="Diagram label: Infected mosquito&#10;may pass pathogen">
            <a:extLst xmlns:a="http://schemas.openxmlformats.org/drawingml/2006/main">
              <a:ext uri="{FF2B5EF4-FFF2-40B4-BE49-F238E27FC236}">
                <a16:creationId xmlns:a16="http://schemas.microsoft.com/office/drawing/2014/main" id="{DE17DB27-97D6-483E-B7E3-BAF826C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960" y="4160384"/>
            <a:ext cx="2242457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Infected mosquito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may pass pathogen</a:t>
            </a:r>
          </a:p>
        </p:txBody>
      </p:sp>
      <p:sp>
        <p:nvSpPr>
          <p:cNvPr id="24" name="Diagram label: A route through a vector is still communicable.&#10;A bite does not automatically mean infection.">
            <a:extLst xmlns:a="http://schemas.openxmlformats.org/drawingml/2006/main">
              <a:ext uri="{FF2B5EF4-FFF2-40B4-BE49-F238E27FC236}">
                <a16:creationId xmlns:a16="http://schemas.microsoft.com/office/drawing/2014/main" id="{3A098350-D81E-42D1-BEBD-3F7529FC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4966267"/>
            <a:ext cx="6236834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route through a vector is still communicable.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bite does not automatically mean infection.</a:t>
            </a:r>
          </a:p>
        </p:txBody>
      </p:sp>
      <p:sp>
        <p:nvSpPr>
          <p:cNvPr id="25" name="W2. Choose a route: cholera or malaria.  Match it to safer water">
            <a:extLst xmlns:a="http://schemas.openxmlformats.org/drawingml/2006/main">
              <a:ext uri="{FF2B5EF4-FFF2-40B4-BE49-F238E27FC236}">
                <a16:creationId xmlns:a16="http://schemas.microsoft.com/office/drawing/2014/main" id="{2E5F962A-7FBA-45FF-B0EA-089E9C52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Choose a route: cholera or malaria. Match it to safer water/food or a mosquito barrier. Explain the link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rather than naming a cure.</a:t>
            </a:r>
          </a:p>
        </p:txBody>
      </p:sp>
    </p:spTree>
    <p:extLst>
      <p:ext uri="{BB962C8B-B14F-4D97-AF65-F5344CB8AC3E}">
        <p14:creationId xmlns:p14="http://schemas.microsoft.com/office/powerpoint/2010/main" val="39301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9718620-A086-48A8-AA4A-419838F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8D410C3-6A48-4AA6-A94F-A9542DF6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17629AD-4CEC-4EA6-B68E-344487E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4E56011-CE1E-4ACF-9B4C-3A5B62E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E75453F0-34E2-441E-BE90-8B0C5017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D2A7D47-ED15-4F15-A988-64CAAB92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pair the false headline">
            <a:extLst xmlns:a="http://schemas.openxmlformats.org/drawingml/2006/main">
              <a:ext uri="{FF2B5EF4-FFF2-40B4-BE49-F238E27FC236}">
                <a16:creationId xmlns:a16="http://schemas.microsoft.com/office/drawing/2014/main" id="{19FAA2FB-FA29-42EA-86C6-DFF9BAC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false headline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9EF97EB-03B2-4A66-B3DE-AE6D6966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581CD2E2-6C4A-4C82-96E6-56621E67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FCF36021-5BE9-4212-96E4-68F4A8B3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“Both people cough, so both have the same communicable disea">
            <a:extLst xmlns:a="http://schemas.openxmlformats.org/drawingml/2006/main">
              <a:ext uri="{FF2B5EF4-FFF2-40B4-BE49-F238E27FC236}">
                <a16:creationId xmlns:a16="http://schemas.microsoft.com/office/drawing/2014/main" id="{77721CB0-99D3-4795-A826-67D25839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“Both people cough, so both have the same communicable disease.”</a:t>
            </a:r>
          </a:p>
        </p:txBody>
      </p:sp>
      <p:sp>
        <p:nvSpPr>
          <p:cNvPr id="12" name="Use A and D to improve the headline.">
            <a:extLst xmlns:a="http://schemas.openxmlformats.org/drawingml/2006/main">
              <a:ext uri="{FF2B5EF4-FFF2-40B4-BE49-F238E27FC236}">
                <a16:creationId xmlns:a16="http://schemas.microsoft.com/office/drawing/2014/main" id="{A83D6A05-94CB-48D7-81AB-6B901E4F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and D to improve the headline.</a:t>
            </a:r>
          </a:p>
        </p:txBody>
      </p:sp>
    </p:spTree>
    <p:extLst>
      <p:ext uri="{BB962C8B-B14F-4D97-AF65-F5344CB8AC3E}">
        <p14:creationId xmlns:p14="http://schemas.microsoft.com/office/powerpoint/2010/main" val="1645600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8C3BCE88-2B56-4CB4-94BA-FC806A59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B0DF640-3DFA-4F19-ADB9-63A06AD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D0BD6B4-D222-4726-88B4-746B1452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A5751E6-72B5-415B-8A8E-5F2D45C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A251ABAF-3162-43B0-A394-875B436A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2BE7E7F2-41B1-4842-9857-F70A1071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statement is scientifically sound?">
            <a:extLst xmlns:a="http://schemas.openxmlformats.org/drawingml/2006/main">
              <a:ext uri="{FF2B5EF4-FFF2-40B4-BE49-F238E27FC236}">
                <a16:creationId xmlns:a16="http://schemas.microsoft.com/office/drawing/2014/main" id="{58B70BD4-158E-45E4-B090-D2131F0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statement is scientifically sound?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361F243-C4AE-491F-9341-23FE289B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FC27400A-073B-4DF5-9596-AB71779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7BF78624-C8DA-4F42-8515-11D6630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, then justify with a card.">
            <a:extLst xmlns:a="http://schemas.openxmlformats.org/drawingml/2006/main">
              <a:ext uri="{FF2B5EF4-FFF2-40B4-BE49-F238E27FC236}">
                <a16:creationId xmlns:a16="http://schemas.microsoft.com/office/drawing/2014/main" id="{622D30FA-CADD-4FEE-9590-7887BF63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Choose, then justify with a card.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024F3A2-5E0E-4950-B8DB-972FB865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486E319-7D1A-4C1D-9641-E679AEAC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0E6D6AC3-169E-4A41-8FE6-C4BFC50F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Malaria is non-communicable because a vector is involved.">
            <a:extLst xmlns:a="http://schemas.openxmlformats.org/drawingml/2006/main">
              <a:ext uri="{FF2B5EF4-FFF2-40B4-BE49-F238E27FC236}">
                <a16:creationId xmlns:a16="http://schemas.microsoft.com/office/drawing/2014/main" id="{6AF7C74C-9F50-48CB-8FDC-DF39B55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Malaria is non-communicable because a vector is involved.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E419BE55-93B0-45EA-8B49-C35A9EB8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96B6EA2-187B-4A74-BE05-421665CF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167E3266-306D-49A5-AF37-6A3102C6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2819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A communicable disease has an infectious cause that can spread.">
            <a:extLst xmlns:a="http://schemas.openxmlformats.org/drawingml/2006/main">
              <a:ext uri="{FF2B5EF4-FFF2-40B4-BE49-F238E27FC236}">
                <a16:creationId xmlns:a16="http://schemas.microsoft.com/office/drawing/2014/main" id="{8BCCB58D-7E0B-4A2D-9E64-4CD966FB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02819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communicable disease has an infectious cause that can spread.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F46F940E-3306-4A8D-A807-DF23570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109E5F9E-1498-4F24-9B2E-E69C0B4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CDEB6050-9D30-4EA5-A270-4C3FAE1D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10088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A shared symptom proves the same cause.">
            <a:extLst xmlns:a="http://schemas.openxmlformats.org/drawingml/2006/main">
              <a:ext uri="{FF2B5EF4-FFF2-40B4-BE49-F238E27FC236}">
                <a16:creationId xmlns:a16="http://schemas.microsoft.com/office/drawing/2014/main" id="{A35767F4-0EDA-4C8D-A6B5-1C3729D0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0088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shared symptom proves the same cause.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1D0B5232-35EC-4B89-ACB0-2DE4EC56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F24128A6-29E8-437A-9351-DE5DE0A7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">
            <a:extLst xmlns:a="http://schemas.openxmlformats.org/drawingml/2006/main">
              <a:ext uri="{FF2B5EF4-FFF2-40B4-BE49-F238E27FC236}">
                <a16:creationId xmlns:a16="http://schemas.microsoft.com/office/drawing/2014/main" id="{445657D4-7A5B-41DB-A560-CA004D5D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7356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7" name="One risk factor guarantees disease.">
            <a:extLst xmlns:a="http://schemas.openxmlformats.org/drawingml/2006/main">
              <a:ext uri="{FF2B5EF4-FFF2-40B4-BE49-F238E27FC236}">
                <a16:creationId xmlns:a16="http://schemas.microsoft.com/office/drawing/2014/main" id="{A2AC45AC-8485-4870-8E53-3664ED6E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17356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risk factor guarantees disease.</a:t>
            </a:r>
          </a:p>
        </p:txBody>
      </p:sp>
    </p:spTree>
    <p:extLst>
      <p:ext uri="{BB962C8B-B14F-4D97-AF65-F5344CB8AC3E}">
        <p14:creationId xmlns:p14="http://schemas.microsoft.com/office/powerpoint/2010/main" val="751290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C284CF7-B06C-4BDF-BE32-02D5260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55BFD59-5AFC-4DAF-9230-91D3F383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6EE2084-9506-4528-A1FC-F55ECE3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D95F564-3A9C-4DE9-8F92-310B31C5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9EC9618-0962-4C71-B668-54B0A73F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19D985EB-A6B8-4D13-A4C2-0FCE17B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Build an evidence-based explanation">
            <a:extLst xmlns:a="http://schemas.openxmlformats.org/drawingml/2006/main">
              <a:ext uri="{FF2B5EF4-FFF2-40B4-BE49-F238E27FC236}">
                <a16:creationId xmlns:a16="http://schemas.microsoft.com/office/drawing/2014/main" id="{7DE1160B-4462-4C30-9636-19E0175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an evidence-based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DA307EE-16A9-4B4E-B251-0369113A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E5801E1D-09E9-4ECD-9FA4-45333911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732A4034-8FA8-4AD3-97D1-B0954FB2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agreed response page.">
            <a:extLst xmlns:a="http://schemas.openxmlformats.org/drawingml/2006/main">
              <a:ext uri="{FF2B5EF4-FFF2-40B4-BE49-F238E27FC236}">
                <a16:creationId xmlns:a16="http://schemas.microsoft.com/office/drawing/2014/main" id="{D141563E-A9C2-4475-A4E8-27BE8E04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agreed response page.</a:t>
            </a:r>
          </a:p>
        </p:txBody>
      </p:sp>
      <p:sp>
        <p:nvSpPr>
          <p:cNvPr id="12" name="Use the supplied cards, not personal health examples.">
            <a:extLst xmlns:a="http://schemas.openxmlformats.org/drawingml/2006/main">
              <a:ext uri="{FF2B5EF4-FFF2-40B4-BE49-F238E27FC236}">
                <a16:creationId xmlns:a16="http://schemas.microsoft.com/office/drawing/2014/main" id="{2A65B7C2-951D-430D-89CD-1F7742D5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supplied cards, not personal health examples.</a:t>
            </a:r>
          </a:p>
        </p:txBody>
      </p:sp>
    </p:spTree>
    <p:extLst>
      <p:ext uri="{BB962C8B-B14F-4D97-AF65-F5344CB8AC3E}">
        <p14:creationId xmlns:p14="http://schemas.microsoft.com/office/powerpoint/2010/main" val="57852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146EC5E-A73C-4F2A-A37C-512FA96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F2086BC-6A68-492B-9933-95D94F6E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6E47182-D712-4B67-AB6D-19AC9F54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10222D0-B8EB-42A3-9B48-BE8EED0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98452FCA-B2B4-4F15-8BD3-7CA6A12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8ED6A14C-D157-4EEC-80E4-28FD622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Independent case report">
            <a:extLst xmlns:a="http://schemas.openxmlformats.org/drawingml/2006/main">
              <a:ext uri="{FF2B5EF4-FFF2-40B4-BE49-F238E27FC236}">
                <a16:creationId xmlns:a16="http://schemas.microsoft.com/office/drawing/2014/main" id="{7F6222EC-B666-4086-9AEA-80C4E120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Independent case report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795F862-2515-4877-965C-F6E96A5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E140912A-8E1D-4721-8131-F0A314BB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AD9A788A-2974-4EAA-AAB7-101779F3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Classify → cite a clue → trace a route → check a claim.">
            <a:extLst xmlns:a="http://schemas.openxmlformats.org/drawingml/2006/main">
              <a:ext uri="{FF2B5EF4-FFF2-40B4-BE49-F238E27FC236}">
                <a16:creationId xmlns:a16="http://schemas.microsoft.com/office/drawing/2014/main" id="{1AAFFA0C-F909-4051-A683-F8A9C2C9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Classify → cite a clue → trace a route → check a claim.</a:t>
            </a:r>
          </a:p>
        </p:txBody>
      </p:sp>
      <p:sp>
        <p:nvSpPr>
          <p:cNvPr id="12" name="Aim for accurate reasoning, not a long answer.">
            <a:extLst xmlns:a="http://schemas.openxmlformats.org/drawingml/2006/main">
              <a:ext uri="{FF2B5EF4-FFF2-40B4-BE49-F238E27FC236}">
                <a16:creationId xmlns:a16="http://schemas.microsoft.com/office/drawing/2014/main" id="{1CA1DFFB-32F8-4774-9F65-5B824B73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Aim for accurate reasoning, not a long answer.</a:t>
            </a:r>
          </a:p>
        </p:txBody>
      </p:sp>
    </p:spTree>
    <p:extLst>
      <p:ext uri="{BB962C8B-B14F-4D97-AF65-F5344CB8AC3E}">
        <p14:creationId xmlns:p14="http://schemas.microsoft.com/office/powerpoint/2010/main" val="13112219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1155DD3-C8B4-425C-90AC-E3E49879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EF695A4-F57B-4C43-A60E-05FD04FD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618F6AF-2268-4C07-9720-4F4983E2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1297DFD-AFCD-45E1-82BA-7FEC718B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F31770D9-BA3B-4DDF-BD4E-CD242A9A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C560CF4-A6CE-4593-A61A-23BB8192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Let evidence change a decision">
            <a:extLst xmlns:a="http://schemas.openxmlformats.org/drawingml/2006/main">
              <a:ext uri="{FF2B5EF4-FFF2-40B4-BE49-F238E27FC236}">
                <a16:creationId xmlns:a16="http://schemas.microsoft.com/office/drawing/2014/main" id="{4B73AEF2-B461-4302-BE1E-3D9266E1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Let evidence change a decision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694C850-C63A-4A6F-89C9-C7517A4D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C2DD9A5B-6735-4A1D-A9C5-1F38B948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712C27E9-3AFD-49C9-8A2A-8EF3CD68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Offer one classification and your strongest clue.">
            <a:extLst xmlns:a="http://schemas.openxmlformats.org/drawingml/2006/main">
              <a:ext uri="{FF2B5EF4-FFF2-40B4-BE49-F238E27FC236}">
                <a16:creationId xmlns:a16="http://schemas.microsoft.com/office/drawing/2014/main" id="{244E6FC7-1681-452C-8D72-802C83FB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Offer one classification and your strongest clue.</a:t>
            </a:r>
          </a:p>
        </p:txBody>
      </p:sp>
      <p:sp>
        <p:nvSpPr>
          <p:cNvPr id="12" name="Your audience asks: “Does that clue identify the cause?”">
            <a:extLst xmlns:a="http://schemas.openxmlformats.org/drawingml/2006/main">
              <a:ext uri="{FF2B5EF4-FFF2-40B4-BE49-F238E27FC236}">
                <a16:creationId xmlns:a16="http://schemas.microsoft.com/office/drawing/2014/main" id="{E5E8AD3E-E396-4F29-A03C-6C04F17C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audience asks: “Does that clue identify the cause?”</a:t>
            </a:r>
          </a:p>
        </p:txBody>
      </p:sp>
    </p:spTree>
    <p:extLst>
      <p:ext uri="{BB962C8B-B14F-4D97-AF65-F5344CB8AC3E}">
        <p14:creationId xmlns:p14="http://schemas.microsoft.com/office/powerpoint/2010/main" val="16724800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C894A52-B7BA-4E80-85B3-259F86D0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E845EDB-FE28-4BEF-85E3-6F83F89C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827213B-1CEA-43D2-AF0F-5297A8EB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D0056AF-5DB6-4AC1-B63C-5AB5555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420D74E5-E1E7-4DCD-B7E9-D414B3A3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190C6294-97C7-4F96-8754-86AD219E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 defensible case report">
            <a:extLst xmlns:a="http://schemas.openxmlformats.org/drawingml/2006/main">
              <a:ext uri="{FF2B5EF4-FFF2-40B4-BE49-F238E27FC236}">
                <a16:creationId xmlns:a16="http://schemas.microsoft.com/office/drawing/2014/main" id="{C508E418-8D37-4ABD-BCA5-375D3681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defensible case report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DF44847-AAD2-4450-A3FE-D8C4DB7D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2A01DC85-2028-4164-9597-36FE7675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D729504D-E1C9-4DA4-AD47-B1E95034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Name the category and causal evidence.">
            <a:extLst xmlns:a="http://schemas.openxmlformats.org/drawingml/2006/main">
              <a:ext uri="{FF2B5EF4-FFF2-40B4-BE49-F238E27FC236}">
                <a16:creationId xmlns:a16="http://schemas.microsoft.com/office/drawing/2014/main" id="{AEEDBE8C-77D8-4F83-9AC8-A8B33FF3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the category and causal evidence.</a:t>
            </a:r>
          </a:p>
        </p:txBody>
      </p:sp>
      <p:sp>
        <p:nvSpPr>
          <p:cNvPr id="12" name="Keep probability separate from certainty.">
            <a:extLst xmlns:a="http://schemas.openxmlformats.org/drawingml/2006/main">
              <a:ext uri="{FF2B5EF4-FFF2-40B4-BE49-F238E27FC236}">
                <a16:creationId xmlns:a16="http://schemas.microsoft.com/office/drawing/2014/main" id="{9884C0E6-6F83-4FC6-BC08-826D0C99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probability separate from certainty.</a:t>
            </a:r>
          </a:p>
        </p:txBody>
      </p:sp>
    </p:spTree>
    <p:extLst>
      <p:ext uri="{BB962C8B-B14F-4D97-AF65-F5344CB8AC3E}">
        <p14:creationId xmlns:p14="http://schemas.microsoft.com/office/powerpoint/2010/main" val="9176241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E5C015C-B2FE-46C2-9EDC-43CD8739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A6AA5A7-A116-4E5E-8A46-3CFBD643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B688A0C-6378-454D-B2CA-207FBE5C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8630ADE-1589-4DE8-9CD5-AF063372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BB7A4671-B99F-4C8F-839C-23F954AB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86BD1F48-792E-48B4-95DD-64B2131E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Three scientific distinctions">
            <a:extLst xmlns:a="http://schemas.openxmlformats.org/drawingml/2006/main">
              <a:ext uri="{FF2B5EF4-FFF2-40B4-BE49-F238E27FC236}">
                <a16:creationId xmlns:a16="http://schemas.microsoft.com/office/drawing/2014/main" id="{222C6D0F-1524-48C7-B893-2F8AE122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scientific distinctions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E58AB18-DDDC-478B-AC32-A929C175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F0CF1BFA-E1B7-493F-96EF-A223444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4AB0665A-0575-4638-A7DF-A6C40532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Define communicable.">
            <a:extLst xmlns:a="http://schemas.openxmlformats.org/drawingml/2006/main">
              <a:ext uri="{FF2B5EF4-FFF2-40B4-BE49-F238E27FC236}">
                <a16:creationId xmlns:a16="http://schemas.microsoft.com/office/drawing/2014/main" id="{28C1045E-E67A-437F-B769-888AD02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Define communicable.</a:t>
            </a:r>
          </a:p>
        </p:txBody>
      </p:sp>
      <p:sp>
        <p:nvSpPr>
          <p:cNvPr id="12" name="E2. Name malaria’s pathogen type and vector.">
            <a:extLst xmlns:a="http://schemas.openxmlformats.org/drawingml/2006/main">
              <a:ext uri="{FF2B5EF4-FFF2-40B4-BE49-F238E27FC236}">
                <a16:creationId xmlns:a16="http://schemas.microsoft.com/office/drawing/2014/main" id="{EF9C5A45-3D0D-40D0-B567-6364F361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Name malaria’s pathogen type and vector.</a:t>
            </a:r>
          </a:p>
        </p:txBody>
      </p:sp>
      <p:sp>
        <p:nvSpPr>
          <p:cNvPr id="13" name="E3. Why can cough alone not classify a disease?">
            <a:extLst xmlns:a="http://schemas.openxmlformats.org/drawingml/2006/main">
              <a:ext uri="{FF2B5EF4-FFF2-40B4-BE49-F238E27FC236}">
                <a16:creationId xmlns:a16="http://schemas.microsoft.com/office/drawing/2014/main" id="{E56F9845-2AC8-4F83-B154-D3FEAEA3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Why can cough alone not classify a disease?</a:t>
            </a:r>
          </a:p>
        </p:txBody>
      </p:sp>
    </p:spTree>
    <p:extLst>
      <p:ext uri="{BB962C8B-B14F-4D97-AF65-F5344CB8AC3E}">
        <p14:creationId xmlns:p14="http://schemas.microsoft.com/office/powerpoint/2010/main" val="1282292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A79F7B9-7620-46E7-A3E1-77A18545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269E0C5-7FAF-4E4B-B0D1-EBA9D0C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A7C80AE-3160-4844-B362-989EE2E8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EB56829-7ACC-4008-ADFE-A2116F5B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87A834A3-5363-46A2-82AF-4640A329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Your next useful step">
            <a:extLst xmlns:a="http://schemas.openxmlformats.org/drawingml/2006/main">
              <a:ext uri="{FF2B5EF4-FFF2-40B4-BE49-F238E27FC236}">
                <a16:creationId xmlns:a16="http://schemas.microsoft.com/office/drawing/2014/main" id="{EA0DEA71-98D9-4C6D-B6FE-7EF671BA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96CDEBB-8A81-4F2B-9330-23BF4A02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Disease detectives: follow the cause">
            <a:extLst xmlns:a="http://schemas.openxmlformats.org/drawingml/2006/main">
              <a:ext uri="{FF2B5EF4-FFF2-40B4-BE49-F238E27FC236}">
                <a16:creationId xmlns:a16="http://schemas.microsoft.com/office/drawing/2014/main" id="{BC43B5BF-58E1-4D47-A7BB-4AF75E93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detectives: follow the cause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F11B6BDC-6414-415B-A611-408BD0C6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Circle one: cause • route • risk.">
            <a:extLst xmlns:a="http://schemas.openxmlformats.org/drawingml/2006/main">
              <a:ext uri="{FF2B5EF4-FFF2-40B4-BE49-F238E27FC236}">
                <a16:creationId xmlns:a16="http://schemas.microsoft.com/office/drawing/2014/main" id="{3702A995-0E45-46CD-854F-EE80D9CB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Circle one: cause • route • risk.</a:t>
            </a:r>
          </a:p>
        </p:txBody>
      </p:sp>
      <p:sp>
        <p:nvSpPr>
          <p:cNvPr id="11" name="Keep one explanation you improved.">
            <a:extLst xmlns:a="http://schemas.openxmlformats.org/drawingml/2006/main">
              <a:ext uri="{FF2B5EF4-FFF2-40B4-BE49-F238E27FC236}">
                <a16:creationId xmlns:a16="http://schemas.microsoft.com/office/drawing/2014/main" id="{2D483774-5558-4A80-A25D-47E9294E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one explanation you improved.</a:t>
            </a:r>
          </a:p>
        </p:txBody>
      </p:sp>
    </p:spTree>
    <p:extLst>
      <p:ext uri="{BB962C8B-B14F-4D97-AF65-F5344CB8AC3E}">
        <p14:creationId xmlns:p14="http://schemas.microsoft.com/office/powerpoint/2010/main" val="1582441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2026-09-08T23:16:16.3560000Z</dcterms:created>
  <dcterms:modified xsi:type="dcterms:W3CDTF">2026-09-08T23:16:16.3560000Z</dcterms:modified>
</coreProperties>
</file>