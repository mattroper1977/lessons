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3fa441c5514b35" /><Relationship Type="http://schemas.openxmlformats.org/officeDocument/2006/relationships/extended-properties" Target="/docProps/app.xml" Id="R3ec84cf060b7415e" /><Relationship Type="http://schemas.openxmlformats.org/officeDocument/2006/relationships/officeDocument" Target="/ppt/presentation.xml" Id="Ree2bd0533d1645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9965bc8954a74"/>
  </p:sldMasterIdLst>
  <p:notesMasterIdLst>
    <p:notesMasterId xmlns:r="http://schemas.openxmlformats.org/officeDocument/2006/relationships" r:id="R2b96d46b33404ebf"/>
  </p:notesMasterIdLst>
  <p:sldIdLst>
    <p:sldId xmlns:r="http://schemas.openxmlformats.org/officeDocument/2006/relationships" id="256" r:id="R45de022607234660"/>
    <p:sldId xmlns:r="http://schemas.openxmlformats.org/officeDocument/2006/relationships" id="257" r:id="R7e877355e8b343ae"/>
    <p:sldId xmlns:r="http://schemas.openxmlformats.org/officeDocument/2006/relationships" id="258" r:id="R2edc01ba66674431"/>
    <p:sldId xmlns:r="http://schemas.openxmlformats.org/officeDocument/2006/relationships" id="259" r:id="Ra23a9ea66efc46e3"/>
    <p:sldId xmlns:r="http://schemas.openxmlformats.org/officeDocument/2006/relationships" id="260" r:id="R23afa656765b4640"/>
    <p:sldId xmlns:r="http://schemas.openxmlformats.org/officeDocument/2006/relationships" id="261" r:id="Rae3bd8c230ce4276"/>
    <p:sldId xmlns:r="http://schemas.openxmlformats.org/officeDocument/2006/relationships" id="262" r:id="R53c7b434ea614a45"/>
    <p:sldId xmlns:r="http://schemas.openxmlformats.org/officeDocument/2006/relationships" id="263" r:id="R3ff3665c2e4740d8"/>
    <p:sldId xmlns:r="http://schemas.openxmlformats.org/officeDocument/2006/relationships" id="264" r:id="Rce004557d47c45fd"/>
    <p:sldId xmlns:r="http://schemas.openxmlformats.org/officeDocument/2006/relationships" id="265" r:id="R51318365b2234c2a"/>
    <p:sldId xmlns:r="http://schemas.openxmlformats.org/officeDocument/2006/relationships" id="266" r:id="R3c8c2cc1a18b45f3"/>
    <p:sldId xmlns:r="http://schemas.openxmlformats.org/officeDocument/2006/relationships" id="267" r:id="R9872cf328dcc4a7c"/>
    <p:sldId xmlns:r="http://schemas.openxmlformats.org/officeDocument/2006/relationships" id="268" r:id="Re4e68526b2a0405a"/>
    <p:sldId xmlns:r="http://schemas.openxmlformats.org/officeDocument/2006/relationships" id="269" r:id="R3d40d2efc0fb4d40"/>
    <p:sldId xmlns:r="http://schemas.openxmlformats.org/officeDocument/2006/relationships" id="270" r:id="Rf2ea4008d40341ed"/>
    <p:sldId xmlns:r="http://schemas.openxmlformats.org/officeDocument/2006/relationships" id="271" r:id="R1598e0f41e3f4df6"/>
    <p:sldId xmlns:r="http://schemas.openxmlformats.org/officeDocument/2006/relationships" id="272" r:id="R94e87a510f4047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e08d446d034a4a" /><Relationship Type="http://schemas.openxmlformats.org/officeDocument/2006/relationships/slideMaster" Target="/ppt/slideMasters/slideMaster1.xml" Id="R3139965bc8954a74" /><Relationship Type="http://schemas.openxmlformats.org/officeDocument/2006/relationships/notesMaster" Target="/ppt/notesMasters/notesMaster1.xml" Id="R2b96d46b33404ebf" /><Relationship Type="http://schemas.openxmlformats.org/officeDocument/2006/relationships/presProps" Target="/ppt/presProps.xml" Id="Rc68fabb31c5445fa" /><Relationship Type="http://schemas.openxmlformats.org/officeDocument/2006/relationships/tableStyles" Target="/ppt/tableStyles.xml" Id="R0da81c21278043a1" /><Relationship Type="http://schemas.openxmlformats.org/officeDocument/2006/relationships/slide" Target="/ppt/slides/slide1.xml" Id="R45de022607234660" /><Relationship Type="http://schemas.openxmlformats.org/officeDocument/2006/relationships/slide" Target="/ppt/slides/slide2.xml" Id="R7e877355e8b343ae" /><Relationship Type="http://schemas.openxmlformats.org/officeDocument/2006/relationships/slide" Target="/ppt/slides/slide3.xml" Id="R2edc01ba66674431" /><Relationship Type="http://schemas.openxmlformats.org/officeDocument/2006/relationships/slide" Target="/ppt/slides/slide4.xml" Id="Ra23a9ea66efc46e3" /><Relationship Type="http://schemas.openxmlformats.org/officeDocument/2006/relationships/slide" Target="/ppt/slides/slide5.xml" Id="R23afa656765b4640" /><Relationship Type="http://schemas.openxmlformats.org/officeDocument/2006/relationships/slide" Target="/ppt/slides/slide6.xml" Id="Rae3bd8c230ce4276" /><Relationship Type="http://schemas.openxmlformats.org/officeDocument/2006/relationships/slide" Target="/ppt/slides/slide7.xml" Id="R53c7b434ea614a45" /><Relationship Type="http://schemas.openxmlformats.org/officeDocument/2006/relationships/slide" Target="/ppt/slides/slide8.xml" Id="R3ff3665c2e4740d8" /><Relationship Type="http://schemas.openxmlformats.org/officeDocument/2006/relationships/slide" Target="/ppt/slides/slide9.xml" Id="Rce004557d47c45fd" /><Relationship Type="http://schemas.openxmlformats.org/officeDocument/2006/relationships/slide" Target="/ppt/slides/slide10.xml" Id="R51318365b2234c2a" /><Relationship Type="http://schemas.openxmlformats.org/officeDocument/2006/relationships/slide" Target="/ppt/slides/slide11.xml" Id="R3c8c2cc1a18b45f3" /><Relationship Type="http://schemas.openxmlformats.org/officeDocument/2006/relationships/slide" Target="/ppt/slides/slide12.xml" Id="R9872cf328dcc4a7c" /><Relationship Type="http://schemas.openxmlformats.org/officeDocument/2006/relationships/slide" Target="/ppt/slides/slide13.xml" Id="Re4e68526b2a0405a" /><Relationship Type="http://schemas.openxmlformats.org/officeDocument/2006/relationships/slide" Target="/ppt/slides/slide14.xml" Id="R3d40d2efc0fb4d40" /><Relationship Type="http://schemas.openxmlformats.org/officeDocument/2006/relationships/slide" Target="/ppt/slides/slide15.xml" Id="Rf2ea4008d40341ed" /><Relationship Type="http://schemas.openxmlformats.org/officeDocument/2006/relationships/slide" Target="/ppt/slides/slide16.xml" Id="R1598e0f41e3f4df6" /><Relationship Type="http://schemas.openxmlformats.org/officeDocument/2006/relationships/slide" Target="/ppt/slides/slide17.xml" Id="R94e87a510f4047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dc353c1b3b43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42cc151bbf4ae4" /><Relationship Type="http://schemas.openxmlformats.org/officeDocument/2006/relationships/notesMaster" Target="/ppt/notesMasters/notesMaster1.xml" Id="R4e73acdde4e149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24c2ae556408b" /><Relationship Type="http://schemas.openxmlformats.org/officeDocument/2006/relationships/notesMaster" Target="/ppt/notesMasters/notesMaster1.xml" Id="R099356d8b73646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a9268504e34acf" /><Relationship Type="http://schemas.openxmlformats.org/officeDocument/2006/relationships/notesMaster" Target="/ppt/notesMasters/notesMaster1.xml" Id="Rd72ca44172e240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2a3b726e7e42e7" /><Relationship Type="http://schemas.openxmlformats.org/officeDocument/2006/relationships/notesMaster" Target="/ppt/notesMasters/notesMaster1.xml" Id="R4ab43ecba56c4b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661b76b0504343" /><Relationship Type="http://schemas.openxmlformats.org/officeDocument/2006/relationships/notesMaster" Target="/ppt/notesMasters/notesMaster1.xml" Id="R6e6a3a09adf54b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2f8a99b6034244" /><Relationship Type="http://schemas.openxmlformats.org/officeDocument/2006/relationships/notesMaster" Target="/ppt/notesMasters/notesMaster1.xml" Id="Raa7d9de39eba48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4538755a014a9b" /><Relationship Type="http://schemas.openxmlformats.org/officeDocument/2006/relationships/notesMaster" Target="/ppt/notesMasters/notesMaster1.xml" Id="R844845181c664d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31f7d081664e30" /><Relationship Type="http://schemas.openxmlformats.org/officeDocument/2006/relationships/notesMaster" Target="/ppt/notesMasters/notesMaster1.xml" Id="R24a4c6411d0b41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8567f4c6c84c59" /><Relationship Type="http://schemas.openxmlformats.org/officeDocument/2006/relationships/notesMaster" Target="/ppt/notesMasters/notesMaster1.xml" Id="R2bc271be28f249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9d2d534bdd4000" /><Relationship Type="http://schemas.openxmlformats.org/officeDocument/2006/relationships/notesMaster" Target="/ppt/notesMasters/notesMaster1.xml" Id="R290b430da5e142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4d1889cad34f8c" /><Relationship Type="http://schemas.openxmlformats.org/officeDocument/2006/relationships/notesMaster" Target="/ppt/notesMasters/notesMaster1.xml" Id="Re3962325790a4a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f2430ef29147b1" /><Relationship Type="http://schemas.openxmlformats.org/officeDocument/2006/relationships/notesMaster" Target="/ppt/notesMasters/notesMaster1.xml" Id="Rf4efdf5cd5184f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1412f0fe9045ec" /><Relationship Type="http://schemas.openxmlformats.org/officeDocument/2006/relationships/notesMaster" Target="/ppt/notesMasters/notesMaster1.xml" Id="Rbcf062ea6e8742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d11318c0cf4f95" /><Relationship Type="http://schemas.openxmlformats.org/officeDocument/2006/relationships/notesMaster" Target="/ppt/notesMasters/notesMaster1.xml" Id="Rfdb3fa1f60d047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5066e3587e4259" /><Relationship Type="http://schemas.openxmlformats.org/officeDocument/2006/relationships/notesMaster" Target="/ppt/notesMasters/notesMaster1.xml" Id="R5bffad2acd6344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f4ff86b1814366" /><Relationship Type="http://schemas.openxmlformats.org/officeDocument/2006/relationships/notesMaster" Target="/ppt/notesMasters/notesMaster1.xml" Id="R86a330aa5fe149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5cde3fa9c34985" /><Relationship Type="http://schemas.openxmlformats.org/officeDocument/2006/relationships/notesMaster" Target="/ppt/notesMasters/notesMaster1.xml" Id="Re15bade01be94a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13 · Introduce</a:t>
            </a:r>
          </a:p>
          <a:p xmlns:a="http://schemas.openxmlformats.org/drawingml/2006/main">
            <a:r>
              <a:t>Learning objective: I can use inheritance vocabulary to connect alleles, genotype and phenotype in a simple monohybrid model.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distinguish a gene from an allele.</a:t>
            </a:r>
          </a:p>
          <a:p xmlns:a="http://schemas.openxmlformats.org/drawingml/2006/main">
            <a:r>
              <a:t>I can distinguish genotype from phenotype.</a:t>
            </a:r>
          </a:p>
          <a:p xmlns:a="http://schemas.openxmlformats.org/drawingml/2006/main">
            <a:r>
              <a:t>I can identify homozygous, heterozygous, dominant and recessive combinations without value language.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13 · Introduce</a:t>
            </a:r>
          </a:p>
          <a:p xmlns:a="http://schemas.openxmlformats.org/drawingml/2006/main">
            <a:r>
              <a:t>Learning objective: I can use inheritance vocabulary to connect alleles, genotype and phenotype in a simple monohybrid model.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distinguish a gene from an allele.</a:t>
            </a:r>
          </a:p>
          <a:p xmlns:a="http://schemas.openxmlformats.org/drawingml/2006/main">
            <a:r>
              <a:t>I can distinguish genotype from phenotype.</a:t>
            </a:r>
          </a:p>
          <a:p xmlns:a="http://schemas.openxmlformats.org/drawingml/2006/main">
            <a:r>
              <a:t>I can identify homozygous, heterozygous, dominant and recessive combinations without value language.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W12: a gene is a section of DNA.</a:t>
            </a:r>
          </a:p>
          <a:p xmlns:a="http://schemas.openxmlformats.org/drawingml/2006/main">
            <a:r>
              <a:t>W12: base sequence carries genetic information.</a:t>
            </a:r>
          </a:p>
          <a:p xmlns:a="http://schemas.openxmlformats.org/drawingml/2006/main">
            <a:r>
              <a:t>W8: body cells are diploid and receive chromosome pairs.</a:t>
            </a:r>
          </a:p>
          <a:p xmlns:a="http://schemas.openxmlformats.org/drawingml/2006/main">
            <a:r>
              <a:t>Lead-in: how can two versions of the same gene be represented?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Define gene.</a:t>
            </a:r>
          </a:p>
          <a:p xmlns:a="http://schemas.openxmlformats.org/drawingml/2006/main">
            <a:r>
              <a:t>Describe how DNA and chromosomes are related.</a:t>
            </a:r>
          </a:p>
          <a:p xmlns:a="http://schemas.openxmlformats.org/drawingml/2006/main">
            <a:r>
              <a:t>State what a base sequence can carry.</a:t>
            </a:r>
          </a:p>
          <a:p xmlns:a="http://schemas.openxmlformats.org/drawingml/2006/main">
            <a:r>
              <a:t>Lead-in: predict the difference between genotype and phenotype.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GENE · a DNA section; ALLELE · a version of it</a:t>
            </a:r>
          </a:p>
          <a:p xmlns:a="http://schemas.openxmlformats.org/drawingml/2006/main">
            <a:r>
              <a:t>Same gene, two versions.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GENOTYPE · the pair of alleles</a:t>
            </a:r>
          </a:p>
          <a:p xmlns:a="http://schemas.openxmlformats.org/drawingml/2006/main">
            <a:r>
              <a:t>Pp is heterozygous.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PHENOTYPE · what you see</a:t>
            </a:r>
          </a:p>
          <a:p xmlns:a="http://schemas.openxmlformats.org/drawingml/2006/main">
            <a:r>
              <a:t>Only pp shows white in this simple model: P is dominant.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Pp</a:t>
            </a:r>
          </a:p>
          <a:p xmlns:a="http://schemas.openxmlformats.org/drawingml/2006/main">
            <a:r>
              <a:t>purple flowers</a:t>
            </a:r>
          </a:p>
          <a:p xmlns:a="http://schemas.openxmlformats.org/drawingml/2006/main">
            <a:r>
              <a:t>the whole pea plant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GENE · a DNA section; ALLELE · a version of it</a:t>
            </a:r>
          </a:p>
          <a:p xmlns:a="http://schemas.openxmlformats.org/drawingml/2006/main">
            <a:r>
              <a:t>Same gene, two versions.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GENOTYPE · the pair of alleles</a:t>
            </a:r>
          </a:p>
          <a:p xmlns:a="http://schemas.openxmlformats.org/drawingml/2006/main">
            <a:r>
              <a:t>Pp is heterozygous.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PHENOTYPE · what you see</a:t>
            </a:r>
          </a:p>
          <a:p xmlns:a="http://schemas.openxmlformats.org/drawingml/2006/main">
            <a:r>
              <a:t>Only pp shows white in this simple model: P is dominant.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Pp</a:t>
            </a:r>
          </a:p>
          <a:p xmlns:a="http://schemas.openxmlformats.org/drawingml/2006/main">
            <a:r>
              <a:t>purple flowers</a:t>
            </a:r>
          </a:p>
          <a:p xmlns:a="http://schemas.openxmlformats.org/drawingml/2006/main">
            <a:r>
              <a:t>the whole pea plant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GENE · a DNA section; ALLELE · a version of it</a:t>
            </a:r>
          </a:p>
          <a:p xmlns:a="http://schemas.openxmlformats.org/drawingml/2006/main">
            <a:r>
              <a:t>Same gene, two versions.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GENOTYPE · the pair of alleles</a:t>
            </a:r>
          </a:p>
          <a:p xmlns:a="http://schemas.openxmlformats.org/drawingml/2006/main">
            <a:r>
              <a:t>Pp is heterozygous.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PHENOTYPE · what you see</a:t>
            </a:r>
          </a:p>
          <a:p xmlns:a="http://schemas.openxmlformats.org/drawingml/2006/main">
            <a:r>
              <a:t>Only pp shows white in this simple model: P is dominant.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Pp</a:t>
            </a:r>
          </a:p>
          <a:p xmlns:a="http://schemas.openxmlformats.org/drawingml/2006/main">
            <a:r>
              <a:t>purple flowers</a:t>
            </a:r>
          </a:p>
          <a:p xmlns:a="http://schemas.openxmlformats.org/drawingml/2006/main">
            <a:r>
              <a:t>the whole pea plant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ALLELE version of a gene an alternative version of a gene</a:t>
            </a:r>
          </a:p>
          <a:p xmlns:a="http://schemas.openxmlformats.org/drawingml/2006/main">
            <a:r>
              <a:t>GENOTYPE allele-letter combination the alleles an organism has for a gene or genes</a:t>
            </a:r>
          </a:p>
          <a:p xmlns:a="http://schemas.openxmlformats.org/drawingml/2006/main">
            <a:r>
              <a:t>PHENOTYPE observed characteristic an observable feature resulting from genotype and environment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Letter tiles make allele combinations and genotype-to-phenotype mapping visible before probability is introduced.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Use one simplified pea-flower gene with two alleles: P and p. Capital and lowercase are symbols, not ratings.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Build genotypes PP, Pp and pp; label PP/pp homozygous and Pp heterozygous.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Apply complete dominance in this model: PP and Pp give purple phenotype; pp gives white phenotype.</a:t>
            </a:r>
          </a:p>
          <a:p xmlns:a="http://schemas.openxmlformats.org/drawingml/2006/main">
            <a:r>
              <a:t>Genotype → phenotype</a:t>
            </a:r>
          </a:p>
          <a:p xmlns:a="http://schemas.openxmlformats.org/drawingml/2006/main">
            <a:r>
              <a:t>Press a genotype, then its phenotype, then homozygous or heterozygous.</a:t>
            </a:r>
          </a:p>
          <a:p xmlns:a="http://schemas.openxmlformats.org/drawingml/2006/main">
            <a:r>
              <a:t>PP</a:t>
            </a:r>
          </a:p>
          <a:p xmlns:a="http://schemas.openxmlformats.org/drawingml/2006/main">
            <a:r>
              <a:t>Pp</a:t>
            </a:r>
          </a:p>
          <a:p xmlns:a="http://schemas.openxmlformats.org/drawingml/2006/main">
            <a:r>
              <a:t>pp</a:t>
            </a:r>
          </a:p>
          <a:p xmlns:a="http://schemas.openxmlformats.org/drawingml/2006/main">
            <a:r>
              <a:t>purple</a:t>
            </a:r>
          </a:p>
          <a:p xmlns:a="http://schemas.openxmlformats.org/drawingml/2006/main">
            <a:r>
              <a:t>white</a:t>
            </a:r>
          </a:p>
          <a:p xmlns:a="http://schemas.openxmlformats.org/drawingml/2006/main">
            <a:r>
              <a:t>homozygous</a:t>
            </a:r>
          </a:p>
          <a:p xmlns:a="http://schemas.openxmlformats.org/drawingml/2006/main">
            <a:r>
              <a:t>heterozygous</a:t>
            </a:r>
          </a:p>
          <a:p xmlns:a="http://schemas.openxmlformats.org/drawingml/2006/main">
            <a:r>
              <a:t>Press a genotype.</a:t>
            </a:r>
          </a:p>
          <a:p xmlns:a="http://schemas.openxmlformats.org/drawingml/2006/main">
            <a:r>
              <a:t>Foundation tier: complete dominance only. Do not add codominance or sex linkage.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ALLELE version of a gene an alternative version of a gene</a:t>
            </a:r>
          </a:p>
          <a:p xmlns:a="http://schemas.openxmlformats.org/drawingml/2006/main">
            <a:r>
              <a:t>GENOTYPE allele-letter combination the alleles an organism has for a gene or genes</a:t>
            </a:r>
          </a:p>
          <a:p xmlns:a="http://schemas.openxmlformats.org/drawingml/2006/main">
            <a:r>
              <a:t>PHENOTYPE observed characteristic an observable feature resulting from genotype and environment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Letter tiles make allele combinations and genotype-to-phenotype mapping visible before probability is introduced.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Use one simplified pea-flower gene with two alleles: P and p. Capital and lowercase are symbols, not ratings.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Build genotypes PP, Pp and pp; label PP/pp homozygous and Pp heterozygous.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Apply complete dominance in this model: PP and Pp give purple phenotype; pp gives white phenotype.</a:t>
            </a:r>
          </a:p>
          <a:p xmlns:a="http://schemas.openxmlformats.org/drawingml/2006/main">
            <a:r>
              <a:t>Genotype → phenotype</a:t>
            </a:r>
          </a:p>
          <a:p xmlns:a="http://schemas.openxmlformats.org/drawingml/2006/main">
            <a:r>
              <a:t>Press a genotype, then its phenotype, then homozygous or heterozygous.</a:t>
            </a:r>
          </a:p>
          <a:p xmlns:a="http://schemas.openxmlformats.org/drawingml/2006/main">
            <a:r>
              <a:t>PP</a:t>
            </a:r>
          </a:p>
          <a:p xmlns:a="http://schemas.openxmlformats.org/drawingml/2006/main">
            <a:r>
              <a:t>Pp</a:t>
            </a:r>
          </a:p>
          <a:p xmlns:a="http://schemas.openxmlformats.org/drawingml/2006/main">
            <a:r>
              <a:t>pp</a:t>
            </a:r>
          </a:p>
          <a:p xmlns:a="http://schemas.openxmlformats.org/drawingml/2006/main">
            <a:r>
              <a:t>purple</a:t>
            </a:r>
          </a:p>
          <a:p xmlns:a="http://schemas.openxmlformats.org/drawingml/2006/main">
            <a:r>
              <a:t>white</a:t>
            </a:r>
          </a:p>
          <a:p xmlns:a="http://schemas.openxmlformats.org/drawingml/2006/main">
            <a:r>
              <a:t>homozygous</a:t>
            </a:r>
          </a:p>
          <a:p xmlns:a="http://schemas.openxmlformats.org/drawingml/2006/main">
            <a:r>
              <a:t>heterozygous</a:t>
            </a:r>
          </a:p>
          <a:p xmlns:a="http://schemas.openxmlformats.org/drawingml/2006/main">
            <a:r>
              <a:t>Press a genotype.</a:t>
            </a:r>
          </a:p>
          <a:p xmlns:a="http://schemas.openxmlformats.org/drawingml/2006/main">
            <a:r>
              <a:t>Foundation tier: complete dominance only. Do not add codominance or sex linkage.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Pp is a heterozygous genotype with the purple phenotype.</a:t>
            </a:r>
          </a:p>
          <a:p xmlns:a="http://schemas.openxmlformats.org/drawingml/2006/main">
            <a:r>
              <a:t>P is dominant because purple is biologically better.</a:t>
            </a:r>
          </a:p>
          <a:p xmlns:a="http://schemas.openxmlformats.org/drawingml/2006/main">
            <a:r>
              <a:t>pp is heterozygous because the letters are lowercase.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Dominant describes expression in a heterozygote; it does not mean stronger, healthier, better or more common.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Phenotype is not always determined by one gene alone; this pea model deliberately uses a simple monohybrid characteristic.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Each gamete carries one allele for this gene, which becomes the starting rule for a Punnett square.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Letter tiles make allele combinations and genotype-to-phenotype mapping visible before probability is introduced.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Dominant describes expression in a heterozygote; it does not mean stronger, healthier, better or more common.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Phenotype is not always determined by one gene alone; this pea model deliberately uses a simple monohybrid characteristic.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Each gamete carries one allele for this gene, which becomes the starting rule for a Punnett square.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Letter tiles make allele combinations and genotype-to-phenotype mapping visible before probability is introduced.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each card, then justify the phenotype using the simplified dominance rule.</a:t>
            </a:r>
          </a:p>
          <a:p xmlns:a="http://schemas.openxmlformats.org/drawingml/2006/main">
            <a:r>
              <a:t>ALLELES GENOTYPE ZYGOSITY PHENOTYPE LIMIT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PP Two copies of the dominant allele.</a:t>
            </a:r>
          </a:p>
          <a:p xmlns:a="http://schemas.openxmlformats.org/drawingml/2006/main">
            <a:r>
              <a:t>Pp One dominant and one recessive allele.</a:t>
            </a:r>
          </a:p>
          <a:p xmlns:a="http://schemas.openxmlformats.org/drawingml/2006/main">
            <a:r>
              <a:t>White flowers The observable characteristic produced by pp in this model.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HOMOZYGOUS</a:t>
            </a:r>
          </a:p>
          <a:p xmlns:a="http://schemas.openxmlformats.org/drawingml/2006/main">
            <a:r>
              <a:t>HETEROZYGOUS</a:t>
            </a:r>
          </a:p>
          <a:p xmlns:a="http://schemas.openxmlformats.org/drawingml/2006/main">
            <a:r>
              <a:t>PHENOTYPE STATEMENT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dominant allele is stronger, better and always more common.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dominance is a value ranking.</a:t>
            </a:r>
          </a:p>
          <a:p xmlns:a="http://schemas.openxmlformats.org/drawingml/2006/main">
            <a:r>
              <a:t>Repair it: dominant describes expression in a heterozygote, not quality or frequency.</a:t>
            </a:r>
          </a:p>
          <a:p xmlns:a="http://schemas.openxmlformats.org/drawingml/2006/main">
            <a:r>
              <a:t>Repair it: capital letters make alleles physically larger.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each card, then justify the phenotype using the simplified dominance rule.</a:t>
            </a:r>
          </a:p>
          <a:p xmlns:a="http://schemas.openxmlformats.org/drawingml/2006/main">
            <a:r>
              <a:t>ALLELES GENOTYPE ZYGOSITY PHENOTYPE LIMIT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PP Two copies of the dominant allele.</a:t>
            </a:r>
          </a:p>
          <a:p xmlns:a="http://schemas.openxmlformats.org/drawingml/2006/main">
            <a:r>
              <a:t>Pp One dominant and one recessive allele.</a:t>
            </a:r>
          </a:p>
          <a:p xmlns:a="http://schemas.openxmlformats.org/drawingml/2006/main">
            <a:r>
              <a:t>White flowers The observable characteristic produced by pp in this model.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HOMOZYGOUS</a:t>
            </a:r>
          </a:p>
          <a:p xmlns:a="http://schemas.openxmlformats.org/drawingml/2006/main">
            <a:r>
              <a:t>HETEROZYGOUS</a:t>
            </a:r>
          </a:p>
          <a:p xmlns:a="http://schemas.openxmlformats.org/drawingml/2006/main">
            <a:r>
              <a:t>PHENOTYPE STATEMENT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dominant allele is stronger, better and always more common.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dominance is a value ranking.</a:t>
            </a:r>
          </a:p>
          <a:p xmlns:a="http://schemas.openxmlformats.org/drawingml/2006/main">
            <a:r>
              <a:t>Repair it: dominant describes expression in a heterozygote, not quality or frequency.</a:t>
            </a:r>
          </a:p>
          <a:p xmlns:a="http://schemas.openxmlformats.org/drawingml/2006/main">
            <a:r>
              <a:t>Repair it: capital letters make alleles physically larger.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each card, then justify the phenotype using the simplified dominance rule.</a:t>
            </a:r>
          </a:p>
          <a:p xmlns:a="http://schemas.openxmlformats.org/drawingml/2006/main">
            <a:r>
              <a:t>ALLELES GENOTYPE ZYGOSITY PHENOTYPE LIMIT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PP Two copies of the dominant allele.</a:t>
            </a:r>
          </a:p>
          <a:p xmlns:a="http://schemas.openxmlformats.org/drawingml/2006/main">
            <a:r>
              <a:t>Pp One dominant and one recessive allele.</a:t>
            </a:r>
          </a:p>
          <a:p xmlns:a="http://schemas.openxmlformats.org/drawingml/2006/main">
            <a:r>
              <a:t>White flowers The observable characteristic produced by pp in this model.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HOMOZYGOUS</a:t>
            </a:r>
          </a:p>
          <a:p xmlns:a="http://schemas.openxmlformats.org/drawingml/2006/main">
            <a:r>
              <a:t>HETEROZYGOUS</a:t>
            </a:r>
          </a:p>
          <a:p xmlns:a="http://schemas.openxmlformats.org/drawingml/2006/main">
            <a:r>
              <a:t>PHENOTYPE STATEMENT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dominant allele is stronger, better and always more common.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dominance is a value ranking.</a:t>
            </a:r>
          </a:p>
          <a:p xmlns:a="http://schemas.openxmlformats.org/drawingml/2006/main">
            <a:r>
              <a:t>Repair it: dominant describes expression in a heterozygote, not quality or frequency.</a:t>
            </a:r>
          </a:p>
          <a:p xmlns:a="http://schemas.openxmlformats.org/drawingml/2006/main">
            <a:r>
              <a:t>Repair it: capital letters make alleles physically larger.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Large P/p allele tiles, genotype cards, phenotype cards, vocabulary mat and pencil.</a:t>
            </a:r>
          </a:p>
          <a:p xmlns:a="http://schemas.openxmlformats.org/drawingml/2006/main">
            <a:r>
              <a:t>Same outcome: I can use inheritance vocabulary to connect alleles, genotype and phenotype in a simple monohybrid model.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decoder with the same allele symbols and complete-dominance rule.</a:t>
            </a:r>
          </a:p>
          <a:p xmlns:a="http://schemas.openxmlformats.org/drawingml/2006/main">
            <a:r>
              <a:t>Same evidence: Accurate use of allele, genotype, phenotype, homozygous and heterozygous plus one model limitation.</a:t>
            </a:r>
          </a:p>
          <a:p xmlns:a="http://schemas.openxmlformats.org/drawingml/2006/main">
            <a:r>
              <a:t>Equipment / setup Large P/p allele tiles, genotype cards, phenotype cards, vocabulary mat and pencil.</a:t>
            </a:r>
          </a:p>
          <a:p xmlns:a="http://schemas.openxmlformats.org/drawingml/2006/main">
            <a:r>
              <a:t>Safety / sensory Use only the neutral plant model. Do not ask pupils to infer their own or relatives' genotypes or disclose family medical information.</a:t>
            </a:r>
          </a:p>
          <a:p xmlns:a="http://schemas.openxmlformats.org/drawingml/2006/main">
            <a:r>
              <a:t>Offline parity Use the local decoder with the same allele symbols and complete-dominance rule.</a:t>
            </a:r>
          </a:p>
          <a:p xmlns:a="http://schemas.openxmlformats.org/drawingml/2006/main">
            <a:r>
              <a:t>No-equipment/access route: Point to or direct an adult to pair allele tiles and scribe the exact classification reason.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Classify six genotype/phenotype statements and explain two matches.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__ is the genotype; __ is the phenotype because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Large P/p allele tiles, genotype cards, phenotype cards, vocabulary mat and pencil.</a:t>
            </a:r>
          </a:p>
          <a:p xmlns:a="http://schemas.openxmlformats.org/drawingml/2006/main">
            <a:r>
              <a:t>Same outcome: I can use inheritance vocabulary to connect alleles, genotype and phenotype in a simple monohybrid model.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decoder with the same allele symbols and complete-dominance rule.</a:t>
            </a:r>
          </a:p>
          <a:p xmlns:a="http://schemas.openxmlformats.org/drawingml/2006/main">
            <a:r>
              <a:t>Same evidence: Accurate use of allele, genotype, phenotype, homozygous and heterozygous plus one model limitation.</a:t>
            </a:r>
          </a:p>
          <a:p xmlns:a="http://schemas.openxmlformats.org/drawingml/2006/main">
            <a:r>
              <a:t>Equipment / setup Large P/p allele tiles, genotype cards, phenotype cards, vocabulary mat and pencil.</a:t>
            </a:r>
          </a:p>
          <a:p xmlns:a="http://schemas.openxmlformats.org/drawingml/2006/main">
            <a:r>
              <a:t>Safety / sensory Use only the neutral plant model. Do not ask pupils to infer their own or relatives' genotypes or disclose family medical information.</a:t>
            </a:r>
          </a:p>
          <a:p xmlns:a="http://schemas.openxmlformats.org/drawingml/2006/main">
            <a:r>
              <a:t>Offline parity Use the local decoder with the same allele symbols and complete-dominance rule.</a:t>
            </a:r>
          </a:p>
          <a:p xmlns:a="http://schemas.openxmlformats.org/drawingml/2006/main">
            <a:r>
              <a:t>No-equipment/access route: Point to or direct an adult to pair allele tiles and scribe the exact classification reason.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Classify six genotype/phenotype statements and explain two matches.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__ is the genotype; __ is the phenotype because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SCI_L_W13L1_Alleles_Genotype_Phenotype_Introduce.html.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assumes one gene, two alleles and complete dominance; many human and organism characteristics are more complex and influenced by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Explain why Pp is heterozygous and gives purple flowers in this model.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SCI_L_W13L1_Alleles_Genotype_Phenotype_Introduce.html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cacc4ef5246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c34f7638684f96" /><Relationship Type="http://schemas.openxmlformats.org/officeDocument/2006/relationships/slideLayout" Target="/ppt/slideLayouts/slideLayout1.xml" Id="Rbc2c3e6e5bde48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2c3e6e5bde48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1daf252ae4305" /><Relationship Type="http://schemas.openxmlformats.org/officeDocument/2006/relationships/hyperlink" Target="SCI_L_W13L1_Alleles_Genotype_Phenotype_Introduce.html" TargetMode="External" Id="Rfd3ff7794dd44953" /><Relationship Type="http://schemas.openxmlformats.org/officeDocument/2006/relationships/notesSlide" Target="/ppt/notesSlides/notesSlide1.xml" Id="R399e015e77974a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9fd7640334540" /><Relationship Type="http://schemas.openxmlformats.org/officeDocument/2006/relationships/notesSlide" Target="/ppt/notesSlides/notesSlide2.xml" Id="Rb986c6469f5f4a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0899942534077" /><Relationship Type="http://schemas.openxmlformats.org/officeDocument/2006/relationships/notesSlide" Target="/ppt/notesSlides/notesSlide3.xml" Id="Rf53b64b009e34a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725caacd046e0" /><Relationship Type="http://schemas.openxmlformats.org/officeDocument/2006/relationships/notesSlide" Target="/ppt/notesSlides/notesSlide4.xml" Id="R8c7b67c9014a40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373d467f94c0a" /><Relationship Type="http://schemas.openxmlformats.org/officeDocument/2006/relationships/notesSlide" Target="/ppt/notesSlides/notesSlide5.xml" Id="R47d9b2f8e69d4e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3083b760a48bb" /><Relationship Type="http://schemas.openxmlformats.org/officeDocument/2006/relationships/image" Target="/ppt/media/image.png" Id="R080fd8908f394db9" /><Relationship Type="http://schemas.openxmlformats.org/officeDocument/2006/relationships/image" Target="/ppt/media/image2.png" Id="R266701e4e7994b9d" /><Relationship Type="http://schemas.openxmlformats.org/officeDocument/2006/relationships/image" Target="/ppt/media/image3.png" Id="Ra2787681ba054c03" /><Relationship Type="http://schemas.openxmlformats.org/officeDocument/2006/relationships/notesSlide" Target="/ppt/notesSlides/notesSlide6.xml" Id="Rfd77e46f2ef54e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405dda48e465d" /><Relationship Type="http://schemas.openxmlformats.org/officeDocument/2006/relationships/notesSlide" Target="/ppt/notesSlides/notesSlide7.xml" Id="Rea16657f4fde48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24e8759d9457a" /><Relationship Type="http://schemas.openxmlformats.org/officeDocument/2006/relationships/notesSlide" Target="/ppt/notesSlides/notesSlide8.xml" Id="Rfdacaf51271942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20e6cae0f487d" /><Relationship Type="http://schemas.openxmlformats.org/officeDocument/2006/relationships/notesSlide" Target="/ppt/notesSlides/notesSlide9.xml" Id="R8dd96549c9f84c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8a6aa2e6a4ee3" /><Relationship Type="http://schemas.openxmlformats.org/officeDocument/2006/relationships/notesSlide" Target="/ppt/notesSlides/notesSlide10.xml" Id="R89f27ebf21de4c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0d1ff04a5439b" /><Relationship Type="http://schemas.openxmlformats.org/officeDocument/2006/relationships/notesSlide" Target="/ppt/notesSlides/notesSlide11.xml" Id="R9a452788904d4a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65385dcb44352" /><Relationship Type="http://schemas.openxmlformats.org/officeDocument/2006/relationships/notesSlide" Target="/ppt/notesSlides/notesSlide12.xml" Id="Rf75e92a4287540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a3a8e06104caa" /><Relationship Type="http://schemas.openxmlformats.org/officeDocument/2006/relationships/notesSlide" Target="/ppt/notesSlides/notesSlide13.xml" Id="Rc66ad97ee97e47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004b65e4a47e2" /><Relationship Type="http://schemas.openxmlformats.org/officeDocument/2006/relationships/notesSlide" Target="/ppt/notesSlides/notesSlide14.xml" Id="R748ba12e66c94d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6541fbc5b488c" /><Relationship Type="http://schemas.openxmlformats.org/officeDocument/2006/relationships/notesSlide" Target="/ppt/notesSlides/notesSlide15.xml" Id="R73da44db8c064e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552c66d25404c" /><Relationship Type="http://schemas.openxmlformats.org/officeDocument/2006/relationships/notesSlide" Target="/ppt/notesSlides/notesSlide16.xml" Id="R645e7847283f40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aecf65c0a4261" /><Relationship Type="http://schemas.openxmlformats.org/officeDocument/2006/relationships/notesSlide" Target="/ppt/notesSlides/notesSlide17.xml" Id="R7d6083d232174b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00E45670-FC2E-4D81-A943-6B84E88D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4ECD393-FE3F-47C9-8D54-039C78DE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E1ADE33-F82B-4108-A24A-916FE0D2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79C248-81FF-46EC-8B3B-5866AE74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Inheritance Language: Allele to Phenotype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F761A7F-2589-4D5E-9D1F-84D5970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F7C15547-670D-491E-A99B-A2124210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use inheritance vocabulary to connect alleles, genotype and phenotype in a simple monohybrid model.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FA4A7750-94D1-48AC-800B-59E6C9D5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9CC04941-2BC1-4ADE-BB4E-E25A2922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ALLELE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3F1821B6-64BF-4CDF-AA63-DAB40CAC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version of a gene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09FD3B6E-594A-4E85-AD04-2807567A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72960B89-AB0E-4110-83C8-83AC2AA2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GENOTYPE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900B691B-984F-4477-B241-C2A56C90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allele combination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1601C001-705F-45DB-B58C-4F4190BF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5591B39F-2859-4E4B-8CD6-FE217324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PHENOTYPE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8882ABB2-B925-4081-8CF0-3B5779C3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observed characteristic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DD37EF8A-DF4B-472D-8D54-9B0A744B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fd3ff7794dd44953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EBA35934-0FEA-42DB-8BAC-E2B3DA32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B3B93DDC-3541-4A42-B14B-5248554C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2118323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C442FF3-E2F9-4984-8F21-DD3103C4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D61523F-2C0C-4CD4-B81B-0BAED5B3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5DB70BB-68EA-4762-B278-118ADF0E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5F8941-1C95-490E-AC04-64CEA871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48DA75A-0780-43B6-AD33-2083E38D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CDEEAB6-FC1C-4E4D-8BD8-BF5B4416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distinguish a gene from an allele.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2DCB42F-143A-4664-A9A8-951534EB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distinguish genotype from phenotype.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C849FF3-8520-48F8-80AE-E1D4F40B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identify homozygous, heterozygous, dominant and recessive combinations without value language.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F735D13-7E7D-4660-9E78-22E01523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AEF1C9C-4F08-4929-BA11-6FE58F0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314773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89C1E53-0254-4E84-9F7D-ACE23085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AB8BA41-FBD7-4590-B274-B9D1F6A4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DDF6D22-65E5-4474-8162-106EE164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2BE8B9-995E-444B-87F5-42D07DAC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834C4E4-D726-4017-9A6E-B1425D53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3D23192-D42A-4460-A06F-6DC78389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Define gene.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ADEBD8B-A815-4049-B67D-1B470422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Describe how DNA and chromosomes are related.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CDAB63F-C160-4257-887D-1941BFC8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what a base sequence can carry.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9408531-333C-44ED-812B-87824D4C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predict the difference between genotype and phenotype.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3F5758C-9606-4464-B118-301CABA9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CE619B1-9795-4C1F-9E19-E3B92396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463629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6C6DFA8-0F9E-4DC2-B3A1-6FE7021E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BBE4C87-452C-4D75-9836-C3E1B255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5ADBD5B-847C-435D-AC5C-A067A36A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E19043-B71B-4B9A-B741-585D691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In a simplified pea model, P is a purple-flower allele and p is a white-flower allele. Which item is a genotype?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68BAABB-3D39-43E5-8A04-FEAA88E4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D7FEBB8-F0B0-47EF-BD22-343AD82B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4B2E51B-271B-4461-A966-896B55D6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Pp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63ACFD7-64F6-4BBD-BC05-5EE73FF3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purple flowers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B148B52-F961-4C7B-B782-A51D7FC0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whole pea plant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D91FCAB-074D-4639-AB62-1ADB6B64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DA95065-05D1-4177-B019-7419DD3F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298450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1B690C8-BD96-458A-9E68-0962E84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6E159CF-4833-4344-9669-572E7E53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701F48F-DB59-4A34-B28D-63AD406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D6116D-C2B0-4A83-9F78-103D94B1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395860A-96BF-41C6-8861-21E4CDE0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9FC1BD4-AC34-4377-AB96-7E8EFF4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GENE · DNA section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282E6BA-41BC-4096-8CB6-25A2738F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ALLELE · version of that gene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288A885-35C1-4FC8-9DB6-E32D9C42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GENOTYPE → PHENOTYPE in this simplified model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55A0E50-9DBB-43AB-8C7D-59A7A90F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59D34D2-C4FA-4C86-AC3F-FD36A8C4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2111961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0FA07C15-23F9-476B-AB60-42B65B8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A673E62-9816-46A2-9DD7-D83B9C88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2720F4A-2798-4114-A8C4-CF616E0E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C412FC-3879-4218-8F77-CDA594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73DC81C-7EFD-422C-85A1-0D78107A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fd8908f394db9"/>
          <a:stretch xmlns:a="http://schemas.openxmlformats.org/drawingml/2006/main"/>
        </p:blipFill>
        <p:spPr>
          <a:xfrm xmlns:a="http://schemas.openxmlformats.org/drawingml/2006/main">
            <a:off x="8001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16572D80-77C9-483E-9BAA-46EDD4EB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Gene and alleles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701e4e7994b9d"/>
          <a:stretch xmlns:a="http://schemas.openxmlformats.org/drawingml/2006/main"/>
        </p:blipFill>
        <p:spPr>
          <a:xfrm xmlns:a="http://schemas.openxmlformats.org/drawingml/2006/main">
            <a:off x="44069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110121FC-8F16-4CBF-9749-D6E1FA91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Pp genotype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87681ba054c03"/>
          <a:stretch xmlns:a="http://schemas.openxmlformats.org/drawingml/2006/main"/>
        </p:blipFill>
        <p:spPr>
          <a:xfrm xmlns:a="http://schemas.openxmlformats.org/drawingml/2006/main">
            <a:off x="80137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ED4D10C7-8ED7-421E-BF67-9B9D3534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pp genotype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5873A0EE-E555-43C1-A0A4-1646D0C1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BD654648-53DF-4162-B31D-F682D205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535562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B9D9819-8CAD-4D73-B497-903EFBE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DB88018-C3A5-43CB-AED4-265381A3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BB5E06A-5E8E-47EA-8C20-24F2F894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49507B-3B3B-4CB6-AFC6-2C0C3B93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08E83DA-42BD-409D-876F-57FF1A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A3F606B-DFB3-40DA-94E6-672FCC7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allele — version of a gene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26A625A-A3D7-4262-B412-590B469D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genotype — allele-letter combination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7909A18-9CF4-4A1F-85CF-EC67FA4C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phenotype — observed characteristic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2A2EF63-8484-4DB1-9C6D-684839C6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7A5FBB74-FDC7-45B4-B326-7F058F6A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426687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A802B77-6755-4B81-9492-01AF1218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C5D6D1C-9F50-4C8C-B94B-372D5A86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747D9A4-ABAA-41D7-98AE-792EE9F8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105752-1F57-42ED-8120-548C7EAF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2136A2F-90FA-42FE-B58A-2A111E57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9A30A69-7A56-4775-B2EB-4DC5B9A8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one simplified pea-flower gene with two alleles: P and p. Capital and lowercase are symbols, not ratings.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50E15FB-23BC-49A7-ABC1-3080DD12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Build genotypes PP, Pp and pp; label PP/pp homozygous and Pp heterozygous.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C969E32-20B3-4AC2-88AF-53D7844D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Apply complete dominance in this model: PP and Pp give purple phenotype; pp gives white phenotype.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00E0734-5407-4FD3-9F01-FA1EB19A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BE2E44C-0ED0-4EF6-909A-8BF0759D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0545251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2C40A8E-E3AA-4251-9973-E01C286A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43C1DCE-67DE-4565-BDCE-2AD7C9D0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2594287-DBBE-4B04-A9A9-689D7879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439BD1-A9D2-4CD2-AAE3-A03FEDB2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statement is correct for the simplified P/p model?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6DF5258-0E70-4DF2-9414-3EF2A3B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26C4DCD-37A9-41F7-8324-E9A995C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Pp is a heterozygous genotype with the purple phenotype.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DAB5DCC-1086-4A53-BFFE-54D69093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P is dominant because purple is biologically better.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0768933-4B0A-44A5-8340-0B4F70F4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pp is heterozygous because the letters are lowercase.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88C435F-7256-4FE5-B6BB-92BD5F83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340A171-FE05-4561-8206-EFA0F8A0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9D28EFE-61CD-4982-B17C-94A1A239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9460945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9818E2D-D33F-4D94-8ECA-5B0E5EAE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1B78E09-DF1D-4078-A2AE-0DE8F077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14003F1-6214-4653-9C52-D9D43600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E20B61-6897-41AB-B149-BB98BF0A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3196831-B378-4A11-AD39-2FB04CE8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853CFDD-04A6-4FE5-8CC0-1E3D30E8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Dominant describes expression in a heterozygote; it does not mean stronger, healthier, better or more common.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8D852F4-CF4C-4EC4-8201-FEA3520B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Phenotype is not always determined by one gene alone; this pea model deliberately uses a simple monohybrid characteristic.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27A0682-475A-481A-A957-EB82CF85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Each gamete carries one allele for this gene, which becomes the starting rule for a Punnett square.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5BAC4A7-6A95-44FC-8C02-661D6150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789DC8C-8799-4782-A885-EF261DE2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20125832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BBE4B29-E62A-4E2E-8E95-098353B3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8B236EE-0833-4C86-80F1-C8329934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94128FB-6BF7-40C4-B928-42380218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904480-D6CC-42A9-BBA2-6DEEEC70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93F086F-88BB-489F-AD67-2726AF5A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9B0D509-E697-4102-8D7C-A007B6B0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dominant allele is stronger, better and always more common.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B06C482-8E5C-44C1-AEDF-91AE2325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dominance is a value ranking.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09DA274-4531-43C0-BE8B-0C6D40A5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dominant describes expression in a heterozygote, not quality or frequency.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F832896-EF38-484A-A2C0-EC6CAFEF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capital letters make alleles physically larger.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28FCFE0-BE56-4C63-94AF-9FBC4226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23F95FF-429C-4B60-B8C1-304E156F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6904878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0C45AA2F-346A-4D29-BEAF-75D8C7D0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18F6B4D-4AA9-4E84-A184-24E78A45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37B950D-4E38-4831-86C4-454CE7DD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A53F15-BAFF-4F93-9F1A-EB50E302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Genotype-phenotype decoder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7E3DCEE-2EFE-4C38-AA21-F8E3AC08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F8525B3-D8CA-4D75-9D71-8D167F0A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Classify each card, then justify the phenotype using the simplified dominance rule.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C3BC9D4-3641-40EC-BC26-0627C1AC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ALLELES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7D08565-A28D-4155-BBBB-2B83307C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GENOTYPE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6B51EAF-0695-4D7F-B4AC-844495CD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ZYGOSITY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CEC0ECA7-4E31-4A76-B85A-0AE2A230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PHENOTYPE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AD3B9375-0D08-4821-9191-D4379492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LIMIT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3F7D411E-5003-4A36-9ADB-5F32F916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1740761E-62E2-4E76-9999-1092AA3C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7203826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E42D2102-D67F-460A-9495-82E89161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28BC9C8-23BC-4F7C-BCFE-3F46C3C4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014F851-4635-456F-9CBF-036C7C68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AC3562-0D6F-4CC3-8641-6EF63B5A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Genotype-phenotype decoder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50B0B24-8672-4565-A2B4-83CCC23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AF93AB6-F077-4D8B-900C-477926D1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6235F536-5863-44D5-A397-83EB1595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F1D2B3B4-0945-411F-A5B5-13C990B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2625180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E19A1D0-69EB-42B1-9D12-6D5CD8F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C2FC0FE-976D-46D8-8063-84B700E6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B4818AA-000A-48A0-B9AC-20A8D78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4DBF1F-7B0F-4BC0-A9F6-9A275430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A21F73B-FCD7-4D3E-A115-9702148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85846C8-AC3D-4A49-BE8A-A3BFED3D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HOMOZYGOUS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81B602F-222F-478E-A699-58C9DE56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HETEROZYGOUS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C61CE97-B930-4791-92E1-7698CCEE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PHENOTYPE STATEMENT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6699CD6-09D5-4045-9B19-CDB12924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genotype, phenotype and homozygous/heterozygous in one accurate explanation.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5C6A9AD2-D10A-4A0F-ACB3-9620CB2D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5EC86E4-616B-4D86-8545-D0F92375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5088797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9C3D595E-6CF0-4C95-8A2E-C150364D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6F3AE49-4F43-4175-8E10-E22372AC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0AAC397-DC4D-4C54-8DCF-0A4C01BF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DBABB6-CD94-4A5C-898C-E802DCEC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39BD90B-F7E0-4CCC-BF62-19E8DC7A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A54B6D0-4160-4B03-8DEA-6062A846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Decode six genotypes, identify phenotypes and explain the limits of the simple P/p model.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57FF4B2-53A2-4531-9777-1C33657B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Accurate use of allele, genotype, phenotype, homozygous and heterozygous plus one model limitation.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D86AB468-9427-4AC7-A2B7-5B8F7F90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93258C7-77F4-4FF4-A496-592AF8B6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7428943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DCDD461-935D-4E3B-B715-F2208132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FEE7E31-233E-4D28-BDE5-D9659AB7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F7EBCDC-8DE4-4B01-9F56-A314F77F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E46D82-BCD8-4404-BF4C-F80E06DD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8D0B13B-4AE7-49C5-AF83-239ED0D3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C0C0922-41D7-4209-B830-72407852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Match PP, Pp and pp to same/different alleles and purple/white phenotype.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B104594-45E7-4A39-BD8C-4E9E74AC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Classify six genotype/phenotype statements and explain two matches.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C672591-A84F-4B40-BFBD-157086A1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Correct three dominance misconceptions and evaluate the one-gene complete-dominance model.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3D094C4-5951-418C-889E-E099C159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F4D89DC-5C70-4CB9-B764-BDFEBD8B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5905673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5812874-55B2-4211-A0EF-8373A4FB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1C7C28A-46FA-434A-9D67-AC016DF7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88AF4A1-28E9-4CC9-809E-7B34BB05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7B9D7E-2930-4D0F-B442-BD3CC8A1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9DFDECE-8F8F-4DF4-97AE-6B799EDC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2BADE45-F5EA-442B-B8AE-9F73BB31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Explain why Pp is heterozygous and gives purple flowers in this model.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1AC5FFF-3157-46DD-897F-89FA21B3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BFE844A-E051-4D61-92F1-2E65B3FF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220898D-93E6-4B4C-90A0-6463A726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195250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2026-09-08T08:54:22.8620000Z</dcterms:created>
  <dcterms:modified xsi:type="dcterms:W3CDTF">2026-09-08T08:54:22.8620000Z</dcterms:modified>
</coreProperties>
</file>