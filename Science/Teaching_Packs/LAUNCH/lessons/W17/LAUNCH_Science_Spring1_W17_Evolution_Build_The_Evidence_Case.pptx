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9eff1a506f466a" /><Relationship Type="http://schemas.openxmlformats.org/officeDocument/2006/relationships/extended-properties" Target="/docProps/app.xml" Id="R35b3c1966fe94ce1" /><Relationship Type="http://schemas.openxmlformats.org/officeDocument/2006/relationships/officeDocument" Target="/ppt/presentation.xml" Id="Re9d54077662a42e1" /></Relationships>
</file>

<file path=ppt/presentation.xml><?xml version="1.0" encoding="utf-8"?>
<p:presentation xmlns:p="http://schemas.openxmlformats.org/presentationml/2006/main">
  <p:sldMasterIdLst>
    <p:sldMasterId xmlns:r="http://schemas.openxmlformats.org/officeDocument/2006/relationships" id="2147483648" r:id="Rb51b052aeb844779"/>
  </p:sldMasterIdLst>
  <p:notesMasterIdLst>
    <p:notesMasterId xmlns:r="http://schemas.openxmlformats.org/officeDocument/2006/relationships" r:id="R20d96f88580f44cf"/>
  </p:notesMasterIdLst>
  <p:sldIdLst>
    <p:sldId xmlns:r="http://schemas.openxmlformats.org/officeDocument/2006/relationships" id="256" r:id="R2d9fcc89c83e4058"/>
    <p:sldId xmlns:r="http://schemas.openxmlformats.org/officeDocument/2006/relationships" id="257" r:id="Re419d183e3d64136"/>
    <p:sldId xmlns:r="http://schemas.openxmlformats.org/officeDocument/2006/relationships" id="258" r:id="R9b867e3707354321"/>
    <p:sldId xmlns:r="http://schemas.openxmlformats.org/officeDocument/2006/relationships" id="259" r:id="R3acb08f0faa742ff"/>
    <p:sldId xmlns:r="http://schemas.openxmlformats.org/officeDocument/2006/relationships" id="260" r:id="Rc18cc9d20cd54a4f"/>
    <p:sldId xmlns:r="http://schemas.openxmlformats.org/officeDocument/2006/relationships" id="261" r:id="Re636eb4255fd4a05"/>
    <p:sldId xmlns:r="http://schemas.openxmlformats.org/officeDocument/2006/relationships" id="262" r:id="R32ec54eef3bb4bf7"/>
    <p:sldId xmlns:r="http://schemas.openxmlformats.org/officeDocument/2006/relationships" id="263" r:id="Re2a21165381e4dc8"/>
    <p:sldId xmlns:r="http://schemas.openxmlformats.org/officeDocument/2006/relationships" id="264" r:id="R923b7518109b42b2"/>
    <p:sldId xmlns:r="http://schemas.openxmlformats.org/officeDocument/2006/relationships" id="265" r:id="Rc0b52f50db934ec1"/>
    <p:sldId xmlns:r="http://schemas.openxmlformats.org/officeDocument/2006/relationships" id="266" r:id="R29fd3839ee054137"/>
    <p:sldId xmlns:r="http://schemas.openxmlformats.org/officeDocument/2006/relationships" id="267" r:id="R14bcee605a114d38"/>
    <p:sldId xmlns:r="http://schemas.openxmlformats.org/officeDocument/2006/relationships" id="268" r:id="R661319fab84f4ce7"/>
    <p:sldId xmlns:r="http://schemas.openxmlformats.org/officeDocument/2006/relationships" id="269" r:id="R6834b8ffd3f04fac"/>
    <p:sldId xmlns:r="http://schemas.openxmlformats.org/officeDocument/2006/relationships" id="270" r:id="Rdb6ea9ecbc524f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6e703a9fa04e89" /><Relationship Type="http://schemas.openxmlformats.org/officeDocument/2006/relationships/slideMaster" Target="/ppt/slideMasters/slideMaster1.xml" Id="Rb51b052aeb844779" /><Relationship Type="http://schemas.openxmlformats.org/officeDocument/2006/relationships/notesMaster" Target="/ppt/notesMasters/notesMaster1.xml" Id="R20d96f88580f44cf" /><Relationship Type="http://schemas.openxmlformats.org/officeDocument/2006/relationships/presProps" Target="/ppt/presProps.xml" Id="R840d16cfc961421d" /><Relationship Type="http://schemas.openxmlformats.org/officeDocument/2006/relationships/tableStyles" Target="/ppt/tableStyles.xml" Id="R3d0e920eec38487c" /><Relationship Type="http://schemas.openxmlformats.org/officeDocument/2006/relationships/slide" Target="/ppt/slides/slide1.xml" Id="R2d9fcc89c83e4058" /><Relationship Type="http://schemas.openxmlformats.org/officeDocument/2006/relationships/slide" Target="/ppt/slides/slide2.xml" Id="Re419d183e3d64136" /><Relationship Type="http://schemas.openxmlformats.org/officeDocument/2006/relationships/slide" Target="/ppt/slides/slide3.xml" Id="R9b867e3707354321" /><Relationship Type="http://schemas.openxmlformats.org/officeDocument/2006/relationships/slide" Target="/ppt/slides/slide4.xml" Id="R3acb08f0faa742ff" /><Relationship Type="http://schemas.openxmlformats.org/officeDocument/2006/relationships/slide" Target="/ppt/slides/slide5.xml" Id="Rc18cc9d20cd54a4f" /><Relationship Type="http://schemas.openxmlformats.org/officeDocument/2006/relationships/slide" Target="/ppt/slides/slide6.xml" Id="Re636eb4255fd4a05" /><Relationship Type="http://schemas.openxmlformats.org/officeDocument/2006/relationships/slide" Target="/ppt/slides/slide7.xml" Id="R32ec54eef3bb4bf7" /><Relationship Type="http://schemas.openxmlformats.org/officeDocument/2006/relationships/slide" Target="/ppt/slides/slide8.xml" Id="Re2a21165381e4dc8" /><Relationship Type="http://schemas.openxmlformats.org/officeDocument/2006/relationships/slide" Target="/ppt/slides/slide9.xml" Id="R923b7518109b42b2" /><Relationship Type="http://schemas.openxmlformats.org/officeDocument/2006/relationships/slide" Target="/ppt/slides/slide10.xml" Id="Rc0b52f50db934ec1" /><Relationship Type="http://schemas.openxmlformats.org/officeDocument/2006/relationships/slide" Target="/ppt/slides/slide11.xml" Id="R29fd3839ee054137" /><Relationship Type="http://schemas.openxmlformats.org/officeDocument/2006/relationships/slide" Target="/ppt/slides/slide12.xml" Id="R14bcee605a114d38" /><Relationship Type="http://schemas.openxmlformats.org/officeDocument/2006/relationships/slide" Target="/ppt/slides/slide13.xml" Id="R661319fab84f4ce7" /><Relationship Type="http://schemas.openxmlformats.org/officeDocument/2006/relationships/slide" Target="/ppt/slides/slide14.xml" Id="R6834b8ffd3f04fac" /><Relationship Type="http://schemas.openxmlformats.org/officeDocument/2006/relationships/slide" Target="/ppt/slides/slide15.xml" Id="Rdb6ea9ecbc524f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035cab796c41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57758c80884ef5" /><Relationship Type="http://schemas.openxmlformats.org/officeDocument/2006/relationships/notesMaster" Target="/ppt/notesMasters/notesMaster1.xml" Id="Rb451b9aad8284f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bd2e7f46704028" /><Relationship Type="http://schemas.openxmlformats.org/officeDocument/2006/relationships/notesMaster" Target="/ppt/notesMasters/notesMaster1.xml" Id="R3dba2ffe63f548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b9d00ae61e4fa8" /><Relationship Type="http://schemas.openxmlformats.org/officeDocument/2006/relationships/notesMaster" Target="/ppt/notesMasters/notesMaster1.xml" Id="R8775a5eec27842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b0819eeb104324" /><Relationship Type="http://schemas.openxmlformats.org/officeDocument/2006/relationships/notesMaster" Target="/ppt/notesMasters/notesMaster1.xml" Id="R180c1c7f93e046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8fa141ac2044cc" /><Relationship Type="http://schemas.openxmlformats.org/officeDocument/2006/relationships/notesMaster" Target="/ppt/notesMasters/notesMaster1.xml" Id="Rb42b55a0019c40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19fbf75d2b450a" /><Relationship Type="http://schemas.openxmlformats.org/officeDocument/2006/relationships/notesMaster" Target="/ppt/notesMasters/notesMaster1.xml" Id="R13ef6cdbd87e40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b211038001422e" /><Relationship Type="http://schemas.openxmlformats.org/officeDocument/2006/relationships/notesMaster" Target="/ppt/notesMasters/notesMaster1.xml" Id="R1697988d4abf45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8789718e594dd7" /><Relationship Type="http://schemas.openxmlformats.org/officeDocument/2006/relationships/notesMaster" Target="/ppt/notesMasters/notesMaster1.xml" Id="R82f66e18f76943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40cc077c6d4072" /><Relationship Type="http://schemas.openxmlformats.org/officeDocument/2006/relationships/notesMaster" Target="/ppt/notesMasters/notesMaster1.xml" Id="R9bf06424803341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a8400287234af9" /><Relationship Type="http://schemas.openxmlformats.org/officeDocument/2006/relationships/notesMaster" Target="/ppt/notesMasters/notesMaster1.xml" Id="Ra1915e884aa34a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cb8e43ee0145d7" /><Relationship Type="http://schemas.openxmlformats.org/officeDocument/2006/relationships/notesMaster" Target="/ppt/notesMasters/notesMaster1.xml" Id="R0ca254b8faa64ff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0e6674972244fb" /><Relationship Type="http://schemas.openxmlformats.org/officeDocument/2006/relationships/notesMaster" Target="/ppt/notesMasters/notesMaster1.xml" Id="R87d987d151a94b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7795cc407d4a21" /><Relationship Type="http://schemas.openxmlformats.org/officeDocument/2006/relationships/notesMaster" Target="/ppt/notesMasters/notesMaster1.xml" Id="R109b8043d9ee4a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bfbcda719e48c3" /><Relationship Type="http://schemas.openxmlformats.org/officeDocument/2006/relationships/notesMaster" Target="/ppt/notesMasters/notesMaster1.xml" Id="Rfc4e07b3711742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0a437932484fd3" /><Relationship Type="http://schemas.openxmlformats.org/officeDocument/2006/relationships/notesMaster" Target="/ppt/notesMasters/notesMaster1.xml" Id="Rad85f3d91bc14f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Invite one prediction without judging confidence. Say: 'Our job is to connect what we can observe with what it can reasonably tell us.' Share the objective; offer solo or partner route. Do not collect family or personal ancestry examples.</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Allow 30 seconds quiet thought, then simultaneous responses. R1 DNA; genes are sections of DNA. R2 populations over generations. R3 50 Ma, because it means 50 million years before today. If two or more errors, read the vocabulary and model R3 on a number line before continuing.</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Teacher think-aloud: 'I first read the ages. Pakicetus is older than Dorudon. I next compare the features: walking limbs versus flippers and tiny hind limbs. Together, dated fossils support change in whale relatives through time. I cannot say every fossil species was a direct ancestor.' Ages are approximate ranges summarised from the NHM. The visual simplifies morphology and is not a skeletal reconstruction.</a:t>
            </a:r>
          </a:p>
          <a:p xmlns:a="http://schemas.openxmlformats.org/drawingml/2006/main">
            <a:r>
              <a:t/>
            </a:r>
          </a:p>
          <a:p xmlns:a="http://schemas.openxmlformats.org/drawingml/2006/main">
            <a:r>
              <a:t>DIAGRAM DESCRIPTION</a:t>
            </a:r>
          </a:p>
          <a:p xmlns:a="http://schemas.openxmlformats.org/drawingml/2006/main">
            <a:r>
              <a:t>Simplified timeline of three extinct whale relatives using Natural History Museum approximate ages. Separate branches are not drawn: the timeline orders evidence and does not claim a direct ancestor sequence.</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Point in order to one upper bone, two lower bones, wrist and five digits on both limbs. Say: 'I can explain the correspondence as inheritance from a shared ancestor, followed by modification in different lineages.' Five digits is the ancestral pentadactyl pattern; not every living whale species retains the same visible digit count. The chosen schematic represents a five-digit flipper and does not show every small bone or realistic proportions.</a:t>
            </a:r>
          </a:p>
          <a:p xmlns:a="http://schemas.openxmlformats.org/drawingml/2006/main">
            <a:r>
              <a:t/>
            </a:r>
          </a:p>
          <a:p xmlns:a="http://schemas.openxmlformats.org/drawingml/2006/main">
            <a:r>
              <a:t>DIAGRAM DESCRIPTION</a:t>
            </a:r>
          </a:p>
          <a:p xmlns:a="http://schemas.openxmlformats.org/drawingml/2006/main">
            <a:r>
              <a:t>Schematic human forelimb and a five-digit whale flipper: one upper limb bone, two lower limb bones, wrist bones and five digits. Bone proportions and numbers of small wrist and digit bones are simplified; colours link corresponding regions, not exact scale.</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Model: 'The x-axis measures differences, so a shorter bar means greater similarity. Q/A has 2 differences; Q/C has 24. For corresponding DNA this supports Q/A sharing a more recent ancestor. It does not identify the ancestor or date a split.' State clearly: these are constructed sample data, not measurements from real species.</a:t>
            </a:r>
          </a:p>
          <a:p xmlns:a="http://schemas.openxmlformats.org/drawingml/2006/main">
            <a:r>
              <a:t/>
            </a:r>
          </a:p>
          <a:p xmlns:a="http://schemas.openxmlformats.org/drawingml/2006/main">
            <a:r>
              <a:t>DIAGRAM DESCRIPTION</a:t>
            </a:r>
          </a:p>
          <a:p xmlns:a="http://schemas.openxmlformats.org/drawingml/2006/main">
            <a:r>
              <a:t>Constructed practice data for fictional species. A differs from Q at 2 of 100 aligned DNA positions, B at 11 and C at 24. Fewer differences support closer relatedness for comparable DNA; this short sample alone cannot establish a complete tree.</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preceding 3-minute I do stage. Briefly trace the two Q/A branches backwards to their nearest shared point. Say: 'This is one possible model; these comparisons support Q/A closeness but do not establish the B/C branching order. Scientists compare all pairs, much more DNA and other evidence.' Do not infer time from branch length.</a:t>
            </a:r>
          </a:p>
          <a:p xmlns:a="http://schemas.openxmlformats.org/drawingml/2006/main">
            <a:r>
              <a:t/>
            </a:r>
          </a:p>
          <a:p xmlns:a="http://schemas.openxmlformats.org/drawingml/2006/main">
            <a:r>
              <a:t>DIAGRAM DESCRIPTION</a:t>
            </a:r>
          </a:p>
          <a:p xmlns:a="http://schemas.openxmlformats.org/drawingml/2006/main">
            <a:r>
              <a:t>One possible schematic hypothesis for fictional Q, A, B and C. The Q-only comparisons support Q/A closeness but do not establish the B/C branching order. Branch lengths do not show measured time.</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7 minutes.</a:t>
            </a:r>
          </a:p>
          <a:p xmlns:a="http://schemas.openxmlformats.org/drawingml/2006/main">
            <a:r>
              <a:t/>
            </a:r>
          </a:p>
          <a:p xmlns:a="http://schemas.openxmlformats.org/drawingml/2006/main">
            <a:r>
              <a:t>Run a reasoning clinic: 1 minute private decision; 2 minutes pair or teacher comparison; 2 minutes edit; 2 minutes test the edit against evidence. Accept spoken or written verdicts. Correct verdict: edit/reject the direct-ancestry claim, retain that homologous limb organisation supports a shared ancestor. Dated fossil relatives provide independent evidence of changing limbs. Ask: 'Which precise words go beyond the evidence?'</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preceding 7-minute We do stage. Q/A have two sampled differences and do not have identical sampled DNA. Fewer differences support a closer relationship; not descent of one living species from another. Independent sources can strengthen a claim and reveal weaknesses in any one source. Model a concise repaired label after pupils offer alternatives.</a:t>
            </a:r>
          </a:p>
          <a:p xmlns:a="http://schemas.openxmlformats.org/drawingml/2006/main">
            <a:r>
              <a:t/>
            </a:r>
          </a:p>
          <a:p xmlns:a="http://schemas.openxmlformats.org/drawingml/2006/main">
            <a:r>
              <a:t>REVEAL / MODEL ANSWER</a:t>
            </a:r>
          </a:p>
          <a:p xmlns:a="http://schemas.openxmlformats.org/drawingml/2006/main">
            <a:r>
              <a:t>Q and A are most similar in this sample. This supports a recent shared ancestor; it does not prove A became Q.</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All pupils answer privately before discussion. If B is not secure, circle the sampled quantity and trace the shared branch point again. Challenge 'prove' language. Then release to the suitable independent route.</a:t>
            </a:r>
          </a:p>
          <a:p xmlns:a="http://schemas.openxmlformats.org/drawingml/2006/main">
            <a:r>
              <a:t/>
            </a:r>
          </a:p>
          <a:p xmlns:a="http://schemas.openxmlformats.org/drawingml/2006/main">
            <a:r>
              <a:t>A. Q evolved directly from living A.</a:t>
            </a:r>
          </a:p>
          <a:p xmlns:a="http://schemas.openxmlformats.org/drawingml/2006/main">
            <a:r>
              <a:t>A living tip is not identified as the ancestor of Q.</a:t>
            </a:r>
          </a:p>
          <a:p xmlns:a="http://schemas.openxmlformats.org/drawingml/2006/main">
            <a:r>
              <a:t/>
            </a:r>
          </a:p>
          <a:p xmlns:a="http://schemas.openxmlformats.org/drawingml/2006/main">
            <a:r>
              <a:t>B. Q and A probably share a more recent ancestor than Q and C.</a:t>
            </a:r>
          </a:p>
          <a:p xmlns:a="http://schemas.openxmlformats.org/drawingml/2006/main">
            <a:r>
              <a:t>Correct. Fewer differences in corresponding DNA support this relationship, with the sample limitation.</a:t>
            </a:r>
          </a:p>
          <a:p xmlns:a="http://schemas.openxmlformats.org/drawingml/2006/main">
            <a:r>
              <a:t/>
            </a:r>
          </a:p>
          <a:p xmlns:a="http://schemas.openxmlformats.org/drawingml/2006/main">
            <a:r>
              <a:t>C. Q and C share no ancestor.</a:t>
            </a:r>
          </a:p>
          <a:p xmlns:a="http://schemas.openxmlformats.org/drawingml/2006/main">
            <a:r>
              <a:t>More differences do not mean no shared ancestry.</a:t>
            </a:r>
          </a:p>
          <a:p xmlns:a="http://schemas.openxmlformats.org/drawingml/2006/main">
            <a:r>
              <a:t/>
            </a:r>
          </a:p>
          <a:p xmlns:a="http://schemas.openxmlformats.org/drawingml/2006/main">
            <a:r>
              <a:t>D. A and Q have identical genomes.</a:t>
            </a:r>
          </a:p>
          <a:p xmlns:a="http://schemas.openxmlformats.org/drawingml/2006/main">
            <a:r>
              <a:t>They differ at two sampled positions, and whole genomes were not compared.</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11 minutes.</a:t>
            </a:r>
          </a:p>
          <a:p xmlns:a="http://schemas.openxmlformats.org/drawingml/2006/main">
            <a:r>
              <a:t/>
            </a:r>
          </a:p>
          <a:p xmlns:a="http://schemas.openxmlformats.org/drawingml/2006/main">
            <a:r>
              <a:t>Set a genuine product: a visitor should leave understanding why evidence supports evolution, without a false direct-ancestor claim. Pupils use the shared evidence page plus one route. At minute 4, check one observation and one inference; at minute 8, check the number and limitation. Do not require all three routes.</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11-minute independent stage. Supported route may dictate each sentence while the adult records exactly what was said. Standard pupils choose fossil + anatomical evidence and interpret the graph. Stretch pupils critique the two claims and propose the next investigation.</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11-minute independent stage. Confer with pupils who have given generic 'they look alike' responses: ask them to locate one upper/two lower bones and describe correspondence. For advanced pupils ask whether the short DNA segment samples the whole genome.</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Use a light Lundy loop: provide space for all modes, voice by choice, audience through teacher or partner reading, influence through one recorded revision. Example feedback: 'You identified the same bone plan. Add shared ancestor rather than one living animal becoming another.' Show one strong response from the answer key without naming a pupil.</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preceding 3-minute review. Teacher-authored formative criteria: award one check for each of the three features, not an examination grade. A pupil can demonstrate all three orally or through annotations.</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 minutes.</a:t>
            </a:r>
          </a:p>
          <a:p xmlns:a="http://schemas.openxmlformats.org/drawingml/2006/main">
            <a:r>
              <a:t/>
            </a:r>
          </a:p>
          <a:p xmlns:a="http://schemas.openxmlformats.org/drawingml/2006/main">
            <a:r>
              <a:t>A; 2 differences across 100 sampled DNA positions. Shared ancestry. It cannot establish a direct ancestor sequence, exact split time or full genome similarity from this sample. Collect the exit before the next lesson and reteach only the missing inference.</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Natural History Museum: When whales walked on four legs</a:t>
            </a:r>
          </a:p>
          <a:p xmlns:a="http://schemas.openxmlformats.org/drawingml/2006/main">
            <a:r>
              <a:t>https://www.nhm.ac.uk/discover/when-whales-walked-on-four-legs.html</a:t>
            </a:r>
          </a:p>
          <a:p xmlns:a="http://schemas.openxmlformats.org/drawingml/2006/main">
            <a:r>
              <a:t>Approximate ages and broad limb features for three whale relatives; wording and diagrams independently authored. Checked 8 September 2026.</a:t>
            </a:r>
          </a:p>
          <a:p xmlns:a="http://schemas.openxmlformats.org/drawingml/2006/main">
            <a:r>
              <a:t/>
            </a:r>
          </a:p>
          <a:p xmlns:a="http://schemas.openxmlformats.org/drawingml/2006/main">
            <a:r>
              <a:t>Smithsonian National Museum of Natural History: Whale Evolution</a:t>
            </a:r>
          </a:p>
          <a:p xmlns:a="http://schemas.openxmlformats.org/drawingml/2006/main">
            <a:r>
              <a:t>https://naturalhistory.si.edu/education/teaching-resources/paleontology/whale-evolution</a:t>
            </a:r>
          </a:p>
          <a:p xmlns:a="http://schemas.openxmlformats.org/drawingml/2006/main">
            <a:r>
              <a:t>Checked use of shared anatomy, fossils and branching hypotheses to explain whale ancestry. Checked 8 September 2026.</a:t>
            </a:r>
          </a:p>
          <a:p xmlns:a="http://schemas.openxmlformats.org/drawingml/2006/main">
            <a:r>
              <a:t/>
            </a:r>
          </a:p>
          <a:p xmlns:a="http://schemas.openxmlformats.org/drawingml/2006/main">
            <a:r>
              <a:t>NHGRI Comparative Genomics Fact Sheet</a:t>
            </a:r>
          </a:p>
          <a:p xmlns:a="http://schemas.openxmlformats.org/drawingml/2006/main">
            <a:r>
              <a:t>https://www.genome.gov/about-genomics/fact-sheets/Comparative-Genomics-Fact-Sheet</a:t>
            </a:r>
          </a:p>
          <a:p xmlns:a="http://schemas.openxmlformats.org/drawingml/2006/main">
            <a:r>
              <a:t>Checked why comparing corresponding DNA helps infer evolutionary relationships; no real DNA measurements copied.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92f9fbeda245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15a38266264215" /><Relationship Type="http://schemas.openxmlformats.org/officeDocument/2006/relationships/slideLayout" Target="/ppt/slideLayouts/slideLayout1.xml" Id="Ref413f3287224c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413f3287224c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3ac02dd271d4118" /><Relationship Type="http://schemas.openxmlformats.org/officeDocument/2006/relationships/notesSlide" Target="/ppt/notesSlides/notesSlide1.xml" Id="Ra59895902ea543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41804948b0419d" /><Relationship Type="http://schemas.openxmlformats.org/officeDocument/2006/relationships/notesSlide" Target="/ppt/notesSlides/notesSlide2.xml" Id="Rb56d016aff0143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7f17b4d8484adf" /><Relationship Type="http://schemas.openxmlformats.org/officeDocument/2006/relationships/notesSlide" Target="/ppt/notesSlides/notesSlide3.xml" Id="R9ee9fc7a9beb4e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143932621b43ad" /><Relationship Type="http://schemas.openxmlformats.org/officeDocument/2006/relationships/notesSlide" Target="/ppt/notesSlides/notesSlide4.xml" Id="Rf4488085cf6140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f9cf15ae8347dc" /><Relationship Type="http://schemas.openxmlformats.org/officeDocument/2006/relationships/notesSlide" Target="/ppt/notesSlides/notesSlide5.xml" Id="R1cec80cc76a449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6bbc7c98fb400a" /><Relationship Type="http://schemas.openxmlformats.org/officeDocument/2006/relationships/notesSlide" Target="/ppt/notesSlides/notesSlide6.xml" Id="Rbd283af9861540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230b316c11469b" /><Relationship Type="http://schemas.openxmlformats.org/officeDocument/2006/relationships/notesSlide" Target="/ppt/notesSlides/notesSlide7.xml" Id="Rfb551408f60248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d4b2c6aa9d47b9" /><Relationship Type="http://schemas.openxmlformats.org/officeDocument/2006/relationships/notesSlide" Target="/ppt/notesSlides/notesSlide8.xml" Id="R15b2408ac8514c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86ee2a6011425b" /><Relationship Type="http://schemas.openxmlformats.org/officeDocument/2006/relationships/notesSlide" Target="/ppt/notesSlides/notesSlide9.xml" Id="Rfa73125b57a04e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805fcf4e974979" /><Relationship Type="http://schemas.openxmlformats.org/officeDocument/2006/relationships/notesSlide" Target="/ppt/notesSlides/notesSlide10.xml" Id="Rf47f58990fe84f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3c2683f1d78464c" /><Relationship Type="http://schemas.openxmlformats.org/officeDocument/2006/relationships/notesSlide" Target="/ppt/notesSlides/notesSlide11.xml" Id="R72ab1fbe464b47c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846698bddec4de6" /><Relationship Type="http://schemas.openxmlformats.org/officeDocument/2006/relationships/notesSlide" Target="/ppt/notesSlides/notesSlide12.xml" Id="R37646e83ef4a472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ce00f2e3c514211" /><Relationship Type="http://schemas.openxmlformats.org/officeDocument/2006/relationships/notesSlide" Target="/ppt/notesSlides/notesSlide13.xml" Id="Ra64561d0a3244e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be6bbd707614ca3" /><Relationship Type="http://schemas.openxmlformats.org/officeDocument/2006/relationships/notesSlide" Target="/ppt/notesSlides/notesSlide14.xml" Id="R744ba899a9f44b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cd61806e5834547" /><Relationship Type="http://schemas.openxmlformats.org/officeDocument/2006/relationships/notesSlide" Target="/ppt/notesSlides/notesSlide15.xml" Id="R30e07ace6636498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250D1677-F31F-4F59-A66D-291719EA93E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EFB34F6-79D3-4502-822D-1FF23ADEAA4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8A172872-5095-4AA8-B347-38DFD7A2D744}"/>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635D0A15-9971-4887-B50C-34533D328F3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Opening">
            <a:extLst xmlns:a="http://schemas.openxmlformats.org/drawingml/2006/main">
              <a:ext uri="{FF2B5EF4-FFF2-40B4-BE49-F238E27FC236}">
                <a16:creationId xmlns:a16="http://schemas.microsoft.com/office/drawing/2014/main" id="{C23C48CF-FFB0-45AC-8602-25E0D7BC5F4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71D735E2-80FE-4E6D-B44B-E2E99E16F60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A whale has finger bones. Why?">
            <a:extLst xmlns:a="http://schemas.openxmlformats.org/drawingml/2006/main">
              <a:ext uri="{FF2B5EF4-FFF2-40B4-BE49-F238E27FC236}">
                <a16:creationId xmlns:a16="http://schemas.microsoft.com/office/drawing/2014/main" id="{FAD4F937-B529-470C-A010-963FF4AFD6D1}"/>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whale has finger bones. Why?</a:t>
            </a:r>
          </a:p>
        </p:txBody>
      </p:sp>
      <p:sp>
        <p:nvSpPr>
          <p:cNvPr id="8" name="surface">
            <a:extLst xmlns:a="http://schemas.openxmlformats.org/drawingml/2006/main">
              <a:ext uri="{FF2B5EF4-FFF2-40B4-BE49-F238E27FC236}">
                <a16:creationId xmlns:a16="http://schemas.microsoft.com/office/drawing/2014/main" id="{2856CDE9-3E41-4449-B6B4-475A331298E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Evolution: build the evidence case">
            <a:extLst xmlns:a="http://schemas.openxmlformats.org/drawingml/2006/main">
              <a:ext uri="{FF2B5EF4-FFF2-40B4-BE49-F238E27FC236}">
                <a16:creationId xmlns:a16="http://schemas.microsoft.com/office/drawing/2014/main" id="{DCEE8786-A7AC-4B0E-9176-9D93D858893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10" name="1 / 15">
            <a:extLst xmlns:a="http://schemas.openxmlformats.org/drawingml/2006/main">
              <a:ext uri="{FF2B5EF4-FFF2-40B4-BE49-F238E27FC236}">
                <a16:creationId xmlns:a16="http://schemas.microsoft.com/office/drawing/2014/main" id="{91BF43A1-4048-4116-9EF5-25EABDC330E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15</a:t>
            </a:r>
          </a:p>
        </p:txBody>
      </p:sp>
      <p:sp>
        <p:nvSpPr>
          <p:cNvPr id="11" name="surface">
            <a:extLst xmlns:a="http://schemas.openxmlformats.org/drawingml/2006/main">
              <a:ext uri="{FF2B5EF4-FFF2-40B4-BE49-F238E27FC236}">
                <a16:creationId xmlns:a16="http://schemas.microsoft.com/office/drawing/2014/main" id="{CAA03FB6-2544-4DC8-8CAB-62A1099C87E6}"/>
              </a:ext>
            </a:extLst>
          </p:cNvPr>
          <p:cNvSpPr>
            <a:spLocks xmlns:a="http://schemas.openxmlformats.org/drawingml/2006/main" noGrp="1"/>
          </p:cNvSpPr>
          <p:nvPr/>
        </p:nvSpPr>
        <p:spPr>
          <a:xfrm xmlns:a="http://schemas.openxmlformats.org/drawingml/2006/main">
            <a:off x="533400" y="1885950"/>
            <a:ext cx="11125200" cy="1247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CA3163B4-2BB1-4BDC-BA1B-27A2769223BA}"/>
              </a:ext>
            </a:extLst>
          </p:cNvPr>
          <p:cNvSpPr>
            <a:spLocks xmlns:a="http://schemas.openxmlformats.org/drawingml/2006/main" noGrp="1"/>
          </p:cNvSpPr>
          <p:nvPr/>
        </p:nvSpPr>
        <p:spPr>
          <a:xfrm xmlns:a="http://schemas.openxmlformats.org/drawingml/2006/main">
            <a:off x="533400" y="1885950"/>
            <a:ext cx="66675" cy="1247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AC642A9F-E7C6-4405-AAFF-1018E9C6339D}"/>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7A5C9E"/>
                </a:solidFill>
                <a:latin typeface="Nimbus Sans"/>
                <a:ea typeface="Nimbus Sans"/>
                <a:cs typeface="Nimbus Sans"/>
              </a:defRPr>
            </a:pPr>
            <a:r>
              <a:rPr sz="1650" b="1">
                <a:solidFill>
                  <a:srgbClr val="7A5C9E"/>
                </a:solidFill>
                <a:latin typeface="Nimbus Sans"/>
                <a:ea typeface="Nimbus Sans"/>
                <a:cs typeface="Nimbus Sans"/>
              </a:rPr>
              <a:t>Learning intention</a:t>
            </a:r>
          </a:p>
        </p:txBody>
      </p:sp>
      <p:sp>
        <p:nvSpPr>
          <p:cNvPr id="14" name="Interpret fossil, anatomical and DNA evidence to justify a claim">
            <a:extLst xmlns:a="http://schemas.openxmlformats.org/drawingml/2006/main">
              <a:ext uri="{FF2B5EF4-FFF2-40B4-BE49-F238E27FC236}">
                <a16:creationId xmlns:a16="http://schemas.microsoft.com/office/drawing/2014/main" id="{8B994359-415A-49DF-A9EE-CF3DB1AA157A}"/>
              </a:ext>
            </a:extLst>
          </p:cNvPr>
          <p:cNvSpPr>
            <a:spLocks xmlns:a="http://schemas.openxmlformats.org/drawingml/2006/main" noGrp="1"/>
          </p:cNvSpPr>
          <p:nvPr/>
        </p:nvSpPr>
        <p:spPr>
          <a:xfrm xmlns:a="http://schemas.openxmlformats.org/drawingml/2006/main">
            <a:off x="762000" y="23622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Interpret fossil, anatomical and DNA evidence to justify a claim about evolution</a:t>
            </a:r>
          </a:p>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and state a limitation.</a:t>
            </a:r>
          </a:p>
        </p:txBody>
      </p:sp>
      <p:sp>
        <p:nvSpPr>
          <p:cNvPr id="15" name="Today: use evidence to write a museum caption.">
            <a:extLst xmlns:a="http://schemas.openxmlformats.org/drawingml/2006/main">
              <a:ext uri="{FF2B5EF4-FFF2-40B4-BE49-F238E27FC236}">
                <a16:creationId xmlns:a16="http://schemas.microsoft.com/office/drawing/2014/main" id="{9EB9A71E-A4E0-4997-BDD5-D82711C68F0F}"/>
              </a:ext>
            </a:extLst>
          </p:cNvPr>
          <p:cNvSpPr>
            <a:spLocks xmlns:a="http://schemas.openxmlformats.org/drawingml/2006/main" noGrp="1"/>
          </p:cNvSpPr>
          <p:nvPr/>
        </p:nvSpPr>
        <p:spPr>
          <a:xfrm xmlns:a="http://schemas.openxmlformats.org/drawingml/2006/main">
            <a:off x="762000" y="33623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Today: use evidence to write a museum caption.</a:t>
            </a:r>
          </a:p>
        </p:txBody>
      </p:sp>
      <p:sp>
        <p:nvSpPr>
          <p:cNvPr id="16" name="You may explain by speaking, writing or annotating.">
            <a:extLst xmlns:a="http://schemas.openxmlformats.org/drawingml/2006/main">
              <a:ext uri="{FF2B5EF4-FFF2-40B4-BE49-F238E27FC236}">
                <a16:creationId xmlns:a16="http://schemas.microsoft.com/office/drawing/2014/main" id="{759B5C9E-C464-4320-A207-6B7987F311DE}"/>
              </a:ext>
            </a:extLst>
          </p:cNvPr>
          <p:cNvSpPr>
            <a:spLocks xmlns:a="http://schemas.openxmlformats.org/drawingml/2006/main" noGrp="1"/>
          </p:cNvSpPr>
          <p:nvPr/>
        </p:nvSpPr>
        <p:spPr>
          <a:xfrm xmlns:a="http://schemas.openxmlformats.org/drawingml/2006/main">
            <a:off x="762000" y="39157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You may explain by speaking, writing or annotating.</a:t>
            </a:r>
          </a:p>
        </p:txBody>
      </p:sp>
    </p:spTree>
    <p:extLst>
      <p:ext uri="{BB962C8B-B14F-4D97-AF65-F5344CB8AC3E}">
        <p14:creationId xmlns:p14="http://schemas.microsoft.com/office/powerpoint/2010/main" val="6565438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DFE9145E-8085-4BF8-A8A0-66900710B8A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ED8FF4B-D7EF-4421-91F1-1F95E8EB231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C9E1FF8-5D6F-4C34-AB3F-5EF3445AB9A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C8B83DCA-EDEE-4B59-A6A4-69C1DAB42F52}"/>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trieval">
            <a:extLst xmlns:a="http://schemas.openxmlformats.org/drawingml/2006/main">
              <a:ext uri="{FF2B5EF4-FFF2-40B4-BE49-F238E27FC236}">
                <a16:creationId xmlns:a16="http://schemas.microsoft.com/office/drawing/2014/main" id="{DCA0AF85-8A27-4487-9C81-274A68408421}"/>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1740C76F-F607-4E58-BE22-53C7E36B66B8}"/>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Retrieve the tools">
            <a:extLst xmlns:a="http://schemas.openxmlformats.org/drawingml/2006/main">
              <a:ext uri="{FF2B5EF4-FFF2-40B4-BE49-F238E27FC236}">
                <a16:creationId xmlns:a16="http://schemas.microsoft.com/office/drawing/2014/main" id="{D453B09B-5AB1-4D66-A634-938F2573678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Retrieve the tools</a:t>
            </a:r>
          </a:p>
        </p:txBody>
      </p:sp>
      <p:sp>
        <p:nvSpPr>
          <p:cNvPr id="8" name="surface">
            <a:extLst xmlns:a="http://schemas.openxmlformats.org/drawingml/2006/main">
              <a:ext uri="{FF2B5EF4-FFF2-40B4-BE49-F238E27FC236}">
                <a16:creationId xmlns:a16="http://schemas.microsoft.com/office/drawing/2014/main" id="{C9A65613-51A2-4F05-A24A-40D7A184301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Evolution: build the evidence case">
            <a:extLst xmlns:a="http://schemas.openxmlformats.org/drawingml/2006/main">
              <a:ext uri="{FF2B5EF4-FFF2-40B4-BE49-F238E27FC236}">
                <a16:creationId xmlns:a16="http://schemas.microsoft.com/office/drawing/2014/main" id="{DBFBE871-F95F-4C91-A08B-7590D5A228A7}"/>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10" name="2 / 15">
            <a:extLst xmlns:a="http://schemas.openxmlformats.org/drawingml/2006/main">
              <a:ext uri="{FF2B5EF4-FFF2-40B4-BE49-F238E27FC236}">
                <a16:creationId xmlns:a16="http://schemas.microsoft.com/office/drawing/2014/main" id="{70300051-E31E-4337-A828-8F1C2DE475C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15</a:t>
            </a:r>
          </a:p>
        </p:txBody>
      </p:sp>
      <p:sp>
        <p:nvSpPr>
          <p:cNvPr id="11" name="R1. What carries inherited information?">
            <a:extLst xmlns:a="http://schemas.openxmlformats.org/drawingml/2006/main">
              <a:ext uri="{FF2B5EF4-FFF2-40B4-BE49-F238E27FC236}">
                <a16:creationId xmlns:a16="http://schemas.microsoft.com/office/drawing/2014/main" id="{A07921C6-76FC-4C99-A23A-74E6DDC30122}"/>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R1. What carries inherited information?</a:t>
            </a:r>
          </a:p>
        </p:txBody>
      </p:sp>
      <p:sp>
        <p:nvSpPr>
          <p:cNvPr id="12" name="R2. Does evolution describe change in one animal during its life">
            <a:extLst xmlns:a="http://schemas.openxmlformats.org/drawingml/2006/main">
              <a:ext uri="{FF2B5EF4-FFF2-40B4-BE49-F238E27FC236}">
                <a16:creationId xmlns:a16="http://schemas.microsoft.com/office/drawing/2014/main" id="{E4F1DF93-229D-4E81-8C31-F60574436708}"/>
              </a:ext>
            </a:extLst>
          </p:cNvPr>
          <p:cNvSpPr>
            <a:spLocks xmlns:a="http://schemas.openxmlformats.org/drawingml/2006/main" noGrp="1"/>
          </p:cNvSpPr>
          <p:nvPr/>
        </p:nvSpPr>
        <p:spPr>
          <a:xfrm xmlns:a="http://schemas.openxmlformats.org/drawingml/2006/main">
            <a:off x="762000" y="2582228"/>
            <a:ext cx="10668000" cy="687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R2. Does evolution describe change in one animal during its life, or populations</a:t>
            </a:r>
          </a:p>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over generations?</a:t>
            </a:r>
          </a:p>
        </p:txBody>
      </p:sp>
      <p:sp>
        <p:nvSpPr>
          <p:cNvPr id="13" name="R3. Which is older: 50 Ma or 33 Ma?">
            <a:extLst xmlns:a="http://schemas.openxmlformats.org/drawingml/2006/main">
              <a:ext uri="{FF2B5EF4-FFF2-40B4-BE49-F238E27FC236}">
                <a16:creationId xmlns:a16="http://schemas.microsoft.com/office/drawing/2014/main" id="{97BBA878-2D91-4F6D-8374-F1C82A19A82E}"/>
              </a:ext>
            </a:extLst>
          </p:cNvPr>
          <p:cNvSpPr>
            <a:spLocks xmlns:a="http://schemas.openxmlformats.org/drawingml/2006/main" noGrp="1"/>
          </p:cNvSpPr>
          <p:nvPr/>
        </p:nvSpPr>
        <p:spPr>
          <a:xfrm xmlns:a="http://schemas.openxmlformats.org/drawingml/2006/main">
            <a:off x="762000" y="3460433"/>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R3. Which is older: 50 Ma or 33 Ma?</a:t>
            </a:r>
          </a:p>
        </p:txBody>
      </p:sp>
    </p:spTree>
    <p:extLst>
      <p:ext uri="{BB962C8B-B14F-4D97-AF65-F5344CB8AC3E}">
        <p14:creationId xmlns:p14="http://schemas.microsoft.com/office/powerpoint/2010/main" val="4513843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urface">
            <a:extLst xmlns:a="http://schemas.openxmlformats.org/drawingml/2006/main">
              <a:ext uri="{FF2B5EF4-FFF2-40B4-BE49-F238E27FC236}">
                <a16:creationId xmlns:a16="http://schemas.microsoft.com/office/drawing/2014/main" id="{28E72418-1231-428A-9D63-A751F162B98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A2D6FCD-247E-453E-86CA-368C79526C21}"/>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7FD5F1C-F2C8-4250-BAC2-6BCE022EC7E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9D125BCB-B61B-4C49-83B8-4D030DFD08C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C9A6AFB8-E568-4D0A-8785-A190F90F66DA}"/>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4 min">
            <a:extLst xmlns:a="http://schemas.openxmlformats.org/drawingml/2006/main">
              <a:ext uri="{FF2B5EF4-FFF2-40B4-BE49-F238E27FC236}">
                <a16:creationId xmlns:a16="http://schemas.microsoft.com/office/drawing/2014/main" id="{87C6CD3E-ED16-4C2D-B9D9-F49091AC803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Read fossils as evidence">
            <a:extLst xmlns:a="http://schemas.openxmlformats.org/drawingml/2006/main">
              <a:ext uri="{FF2B5EF4-FFF2-40B4-BE49-F238E27FC236}">
                <a16:creationId xmlns:a16="http://schemas.microsoft.com/office/drawing/2014/main" id="{52A74F4F-E6EC-45F1-9035-035942F9678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Read fossils as evidence</a:t>
            </a:r>
          </a:p>
        </p:txBody>
      </p:sp>
      <p:sp>
        <p:nvSpPr>
          <p:cNvPr id="8" name="surface">
            <a:extLst xmlns:a="http://schemas.openxmlformats.org/drawingml/2006/main">
              <a:ext uri="{FF2B5EF4-FFF2-40B4-BE49-F238E27FC236}">
                <a16:creationId xmlns:a16="http://schemas.microsoft.com/office/drawing/2014/main" id="{306C9065-7380-46A5-B274-C5D24DF676A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Evolution: build the evidence case">
            <a:extLst xmlns:a="http://schemas.openxmlformats.org/drawingml/2006/main">
              <a:ext uri="{FF2B5EF4-FFF2-40B4-BE49-F238E27FC236}">
                <a16:creationId xmlns:a16="http://schemas.microsoft.com/office/drawing/2014/main" id="{B537191C-1E34-4DEF-9422-7ED36C3F8CDA}"/>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10" name="3 / 15">
            <a:extLst xmlns:a="http://schemas.openxmlformats.org/drawingml/2006/main">
              <a:ext uri="{FF2B5EF4-FFF2-40B4-BE49-F238E27FC236}">
                <a16:creationId xmlns:a16="http://schemas.microsoft.com/office/drawing/2014/main" id="{58C3D60E-559C-45F1-83B2-CE6B5E127BC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15</a:t>
            </a:r>
          </a:p>
        </p:txBody>
      </p:sp>
      <p:sp>
        <p:nvSpPr>
          <p:cNvPr id="11" name="Diagram label: Fossils reveal different combinations of traits">
            <a:extLst xmlns:a="http://schemas.openxmlformats.org/drawingml/2006/main">
              <a:ext uri="{FF2B5EF4-FFF2-40B4-BE49-F238E27FC236}">
                <a16:creationId xmlns:a16="http://schemas.microsoft.com/office/drawing/2014/main" id="{FB137187-1605-485F-9697-7B261870FD34}"/>
              </a:ext>
            </a:extLst>
          </p:cNvPr>
          <p:cNvSpPr>
            <a:spLocks xmlns:a="http://schemas.openxmlformats.org/drawingml/2006/main" noGrp="1"/>
          </p:cNvSpPr>
          <p:nvPr/>
        </p:nvSpPr>
        <p:spPr>
          <a:xfrm xmlns:a="http://schemas.openxmlformats.org/drawingml/2006/main">
            <a:off x="2837429" y="2023042"/>
            <a:ext cx="6517141"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Fossils reveal different combinations of traits</a:t>
            </a:r>
          </a:p>
        </p:txBody>
      </p:sp>
      <p:sp>
        <p:nvSpPr>
          <p:cNvPr id="12" name="Diagram line">
            <a:extLst xmlns:a="http://schemas.openxmlformats.org/drawingml/2006/main">
              <a:ext uri="{FF2B5EF4-FFF2-40B4-BE49-F238E27FC236}">
                <a16:creationId xmlns:a16="http://schemas.microsoft.com/office/drawing/2014/main" id="{545FD8A7-8713-4DCB-A025-022CDCCDFC36}"/>
              </a:ext>
            </a:extLst>
          </p:cNvPr>
          <p:cNvSpPr>
            <a:spLocks xmlns:a="http://schemas.openxmlformats.org/drawingml/2006/main" noGrp="1"/>
          </p:cNvSpPr>
          <p:nvPr/>
        </p:nvSpPr>
        <p:spPr>
          <a:xfrm xmlns:a="http://schemas.openxmlformats.org/drawingml/2006/main" flipH="0" flipV="0">
            <a:off x="3257890" y="4931229"/>
            <a:ext cx="5567601" cy="953"/>
          </a:xfrm>
          <a:prstGeom xmlns:a="http://schemas.openxmlformats.org/drawingml/2006/main" prst="line">
            <a:avLst/>
          </a:prstGeom>
          <a:noFill xmlns:a="http://schemas.openxmlformats.org/drawingml/2006/main"/>
          <a:ln xmlns:a="http://schemas.openxmlformats.org/drawingml/2006/main" w="28031">
            <a:solidFill>
              <a:srgbClr val="1F2937"/>
            </a:solidFill>
          </a:ln>
        </p:spPr>
      </p:sp>
      <p:sp>
        <p:nvSpPr>
          <p:cNvPr id="13" name="Diagram arrowhead">
            <a:extLst xmlns:a="http://schemas.openxmlformats.org/drawingml/2006/main">
              <a:ext uri="{FF2B5EF4-FFF2-40B4-BE49-F238E27FC236}">
                <a16:creationId xmlns:a16="http://schemas.microsoft.com/office/drawing/2014/main" id="{328047C7-1DB4-48ED-B931-2A63F73BB4BB}"/>
              </a:ext>
            </a:extLst>
          </p:cNvPr>
          <p:cNvSpPr>
            <a:spLocks xmlns:a="http://schemas.openxmlformats.org/drawingml/2006/main" noGrp="1"/>
          </p:cNvSpPr>
          <p:nvPr/>
        </p:nvSpPr>
        <p:spPr>
          <a:xfrm xmlns:a="http://schemas.openxmlformats.org/drawingml/2006/main" rot="5400000">
            <a:off x="8800964" y="4882175"/>
            <a:ext cx="98108" cy="98108"/>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14" name="Diagram label: Older: about 50 Ma">
            <a:extLst xmlns:a="http://schemas.openxmlformats.org/drawingml/2006/main">
              <a:ext uri="{FF2B5EF4-FFF2-40B4-BE49-F238E27FC236}">
                <a16:creationId xmlns:a16="http://schemas.microsoft.com/office/drawing/2014/main" id="{347CDDDE-7FCE-4764-A79A-6B6E475A0B22}"/>
              </a:ext>
            </a:extLst>
          </p:cNvPr>
          <p:cNvSpPr>
            <a:spLocks xmlns:a="http://schemas.openxmlformats.org/drawingml/2006/main" noGrp="1"/>
          </p:cNvSpPr>
          <p:nvPr/>
        </p:nvSpPr>
        <p:spPr>
          <a:xfrm xmlns:a="http://schemas.openxmlformats.org/drawingml/2006/main">
            <a:off x="2907506" y="5211536"/>
            <a:ext cx="171688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Older: about 50 Ma</a:t>
            </a:r>
          </a:p>
        </p:txBody>
      </p:sp>
      <p:sp>
        <p:nvSpPr>
          <p:cNvPr id="15" name="Diagram label: Younger: 33 Ma">
            <a:extLst xmlns:a="http://schemas.openxmlformats.org/drawingml/2006/main">
              <a:ext uri="{FF2B5EF4-FFF2-40B4-BE49-F238E27FC236}">
                <a16:creationId xmlns:a16="http://schemas.microsoft.com/office/drawing/2014/main" id="{006FB5F8-6260-403D-9664-D39A4E55450A}"/>
              </a:ext>
            </a:extLst>
          </p:cNvPr>
          <p:cNvSpPr>
            <a:spLocks xmlns:a="http://schemas.openxmlformats.org/drawingml/2006/main" noGrp="1"/>
          </p:cNvSpPr>
          <p:nvPr/>
        </p:nvSpPr>
        <p:spPr>
          <a:xfrm xmlns:a="http://schemas.openxmlformats.org/drawingml/2006/main">
            <a:off x="7742804" y="5211536"/>
            <a:ext cx="1611766"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Younger: 33 Ma</a:t>
            </a:r>
          </a:p>
        </p:txBody>
      </p:sp>
      <p:sp>
        <p:nvSpPr>
          <p:cNvPr id="16" name="Editable scientific diagram">
            <a:extLst xmlns:a="http://schemas.openxmlformats.org/drawingml/2006/main">
              <a:ext uri="{FF2B5EF4-FFF2-40B4-BE49-F238E27FC236}">
                <a16:creationId xmlns:a16="http://schemas.microsoft.com/office/drawing/2014/main" id="{E745DB47-A963-4080-9A3D-956480EF4565}"/>
              </a:ext>
            </a:extLst>
          </p:cNvPr>
          <p:cNvSpPr>
            <a:spLocks xmlns:a="http://schemas.openxmlformats.org/drawingml/2006/main" noGrp="1"/>
          </p:cNvSpPr>
          <p:nvPr/>
        </p:nvSpPr>
        <p:spPr>
          <a:xfrm xmlns:a="http://schemas.openxmlformats.org/drawingml/2006/main">
            <a:off x="2942545" y="2548618"/>
            <a:ext cx="1927112" cy="1927112"/>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7" name="Diagram label: Pakicetus">
            <a:extLst xmlns:a="http://schemas.openxmlformats.org/drawingml/2006/main">
              <a:ext uri="{FF2B5EF4-FFF2-40B4-BE49-F238E27FC236}">
                <a16:creationId xmlns:a16="http://schemas.microsoft.com/office/drawing/2014/main" id="{2542AFFB-D40C-43A6-97F8-AB3B59D8C9F9}"/>
              </a:ext>
            </a:extLst>
          </p:cNvPr>
          <p:cNvSpPr>
            <a:spLocks xmlns:a="http://schemas.openxmlformats.org/drawingml/2006/main" noGrp="1"/>
          </p:cNvSpPr>
          <p:nvPr/>
        </p:nvSpPr>
        <p:spPr>
          <a:xfrm xmlns:a="http://schemas.openxmlformats.org/drawingml/2006/main">
            <a:off x="3047660" y="2653733"/>
            <a:ext cx="171688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Pakicetus</a:t>
            </a:r>
          </a:p>
        </p:txBody>
      </p:sp>
      <p:sp>
        <p:nvSpPr>
          <p:cNvPr id="18" name="Diagram label: About 50 Ma&#10;Four walking legs&#10;Whale-group&#10;ear features">
            <a:extLst xmlns:a="http://schemas.openxmlformats.org/drawingml/2006/main">
              <a:ext uri="{FF2B5EF4-FFF2-40B4-BE49-F238E27FC236}">
                <a16:creationId xmlns:a16="http://schemas.microsoft.com/office/drawing/2014/main" id="{393E0B1D-790F-4587-9CDF-17A682D0DCD8}"/>
              </a:ext>
            </a:extLst>
          </p:cNvPr>
          <p:cNvSpPr>
            <a:spLocks xmlns:a="http://schemas.openxmlformats.org/drawingml/2006/main" noGrp="1"/>
          </p:cNvSpPr>
          <p:nvPr/>
        </p:nvSpPr>
        <p:spPr>
          <a:xfrm xmlns:a="http://schemas.openxmlformats.org/drawingml/2006/main">
            <a:off x="3047660" y="3039155"/>
            <a:ext cx="1716881" cy="1226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About 50 Ma</a:t>
            </a:r>
          </a:p>
          <a:p xmlns:a="http://schemas.openxmlformats.org/drawingml/2006/main">
            <a:pPr algn="l">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Four walking legs</a:t>
            </a:r>
          </a:p>
          <a:p xmlns:a="http://schemas.openxmlformats.org/drawingml/2006/main">
            <a:pPr algn="l">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Whale-group</a:t>
            </a:r>
          </a:p>
          <a:p xmlns:a="http://schemas.openxmlformats.org/drawingml/2006/main">
            <a:pPr algn="l">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ear features</a:t>
            </a:r>
          </a:p>
        </p:txBody>
      </p:sp>
      <p:sp>
        <p:nvSpPr>
          <p:cNvPr id="19" name="Diagram line">
            <a:extLst xmlns:a="http://schemas.openxmlformats.org/drawingml/2006/main">
              <a:ext uri="{FF2B5EF4-FFF2-40B4-BE49-F238E27FC236}">
                <a16:creationId xmlns:a16="http://schemas.microsoft.com/office/drawing/2014/main" id="{2725058B-DBD6-44A4-A50C-2512D70294E2}"/>
              </a:ext>
            </a:extLst>
          </p:cNvPr>
          <p:cNvSpPr>
            <a:spLocks xmlns:a="http://schemas.openxmlformats.org/drawingml/2006/main" noGrp="1"/>
          </p:cNvSpPr>
          <p:nvPr/>
        </p:nvSpPr>
        <p:spPr>
          <a:xfrm xmlns:a="http://schemas.openxmlformats.org/drawingml/2006/main" flipH="0" flipV="0">
            <a:off x="3783466" y="4510768"/>
            <a:ext cx="953" cy="385422"/>
          </a:xfrm>
          <a:prstGeom xmlns:a="http://schemas.openxmlformats.org/drawingml/2006/main" prst="line">
            <a:avLst/>
          </a:prstGeom>
          <a:noFill xmlns:a="http://schemas.openxmlformats.org/drawingml/2006/main"/>
          <a:ln xmlns:a="http://schemas.openxmlformats.org/drawingml/2006/main" w="28031">
            <a:solidFill>
              <a:srgbClr val="7A5C9E"/>
            </a:solidFill>
          </a:ln>
        </p:spPr>
      </p:sp>
      <p:sp>
        <p:nvSpPr>
          <p:cNvPr id="20" name="Editable scientific diagram">
            <a:extLst xmlns:a="http://schemas.openxmlformats.org/drawingml/2006/main">
              <a:ext uri="{FF2B5EF4-FFF2-40B4-BE49-F238E27FC236}">
                <a16:creationId xmlns:a16="http://schemas.microsoft.com/office/drawing/2014/main" id="{13C17D7E-9BDF-45D4-B91B-A6BC8F5445BC}"/>
              </a:ext>
            </a:extLst>
          </p:cNvPr>
          <p:cNvSpPr>
            <a:spLocks xmlns:a="http://schemas.openxmlformats.org/drawingml/2006/main" noGrp="1"/>
          </p:cNvSpPr>
          <p:nvPr/>
        </p:nvSpPr>
        <p:spPr>
          <a:xfrm xmlns:a="http://schemas.openxmlformats.org/drawingml/2006/main">
            <a:off x="5114925" y="2548618"/>
            <a:ext cx="1962150" cy="1927112"/>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21" name="Diagram label: Ambulocetus">
            <a:extLst xmlns:a="http://schemas.openxmlformats.org/drawingml/2006/main">
              <a:ext uri="{FF2B5EF4-FFF2-40B4-BE49-F238E27FC236}">
                <a16:creationId xmlns:a16="http://schemas.microsoft.com/office/drawing/2014/main" id="{03771207-E2CB-4521-9604-5A034B4A74BD}"/>
              </a:ext>
            </a:extLst>
          </p:cNvPr>
          <p:cNvSpPr>
            <a:spLocks xmlns:a="http://schemas.openxmlformats.org/drawingml/2006/main" noGrp="1"/>
          </p:cNvSpPr>
          <p:nvPr/>
        </p:nvSpPr>
        <p:spPr>
          <a:xfrm xmlns:a="http://schemas.openxmlformats.org/drawingml/2006/main">
            <a:off x="5220040" y="2653733"/>
            <a:ext cx="1751920"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Ambulocetus</a:t>
            </a:r>
          </a:p>
        </p:txBody>
      </p:sp>
      <p:sp>
        <p:nvSpPr>
          <p:cNvPr id="22" name="Diagram label: About 50–48 Ma&#10;Large feet&#10;Movement in water&#10;and on land">
            <a:extLst xmlns:a="http://schemas.openxmlformats.org/drawingml/2006/main">
              <a:ext uri="{FF2B5EF4-FFF2-40B4-BE49-F238E27FC236}">
                <a16:creationId xmlns:a16="http://schemas.microsoft.com/office/drawing/2014/main" id="{54D95654-ADB0-4770-8916-64D186AAC0F7}"/>
              </a:ext>
            </a:extLst>
          </p:cNvPr>
          <p:cNvSpPr>
            <a:spLocks xmlns:a="http://schemas.openxmlformats.org/drawingml/2006/main" noGrp="1"/>
          </p:cNvSpPr>
          <p:nvPr/>
        </p:nvSpPr>
        <p:spPr>
          <a:xfrm xmlns:a="http://schemas.openxmlformats.org/drawingml/2006/main">
            <a:off x="5220040" y="3039155"/>
            <a:ext cx="1751920" cy="1226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About 50–48 Ma</a:t>
            </a:r>
          </a:p>
          <a:p xmlns:a="http://schemas.openxmlformats.org/drawingml/2006/main">
            <a:pPr algn="l">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Large feet</a:t>
            </a:r>
          </a:p>
          <a:p xmlns:a="http://schemas.openxmlformats.org/drawingml/2006/main">
            <a:pPr algn="l">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Movement in water</a:t>
            </a:r>
          </a:p>
          <a:p xmlns:a="http://schemas.openxmlformats.org/drawingml/2006/main">
            <a:pPr algn="l">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and on land</a:t>
            </a:r>
          </a:p>
        </p:txBody>
      </p:sp>
      <p:sp>
        <p:nvSpPr>
          <p:cNvPr id="23" name="Diagram line">
            <a:extLst xmlns:a="http://schemas.openxmlformats.org/drawingml/2006/main">
              <a:ext uri="{FF2B5EF4-FFF2-40B4-BE49-F238E27FC236}">
                <a16:creationId xmlns:a16="http://schemas.microsoft.com/office/drawing/2014/main" id="{81410D77-EA90-43B8-A1DD-579B56F5BB4C}"/>
              </a:ext>
            </a:extLst>
          </p:cNvPr>
          <p:cNvSpPr>
            <a:spLocks xmlns:a="http://schemas.openxmlformats.org/drawingml/2006/main" noGrp="1"/>
          </p:cNvSpPr>
          <p:nvPr/>
        </p:nvSpPr>
        <p:spPr>
          <a:xfrm xmlns:a="http://schemas.openxmlformats.org/drawingml/2006/main" flipH="0" flipV="0">
            <a:off x="5955846" y="4510768"/>
            <a:ext cx="953" cy="385422"/>
          </a:xfrm>
          <a:prstGeom xmlns:a="http://schemas.openxmlformats.org/drawingml/2006/main" prst="line">
            <a:avLst/>
          </a:prstGeom>
          <a:noFill xmlns:a="http://schemas.openxmlformats.org/drawingml/2006/main"/>
          <a:ln xmlns:a="http://schemas.openxmlformats.org/drawingml/2006/main" w="28031">
            <a:solidFill>
              <a:srgbClr val="7A5C9E"/>
            </a:solidFill>
          </a:ln>
        </p:spPr>
      </p:sp>
      <p:sp>
        <p:nvSpPr>
          <p:cNvPr id="24" name="Editable scientific diagram">
            <a:extLst xmlns:a="http://schemas.openxmlformats.org/drawingml/2006/main">
              <a:ext uri="{FF2B5EF4-FFF2-40B4-BE49-F238E27FC236}">
                <a16:creationId xmlns:a16="http://schemas.microsoft.com/office/drawing/2014/main" id="{E73711DE-7900-400D-9F75-881EF272DF8B}"/>
              </a:ext>
            </a:extLst>
          </p:cNvPr>
          <p:cNvSpPr>
            <a:spLocks xmlns:a="http://schemas.openxmlformats.org/drawingml/2006/main" noGrp="1"/>
          </p:cNvSpPr>
          <p:nvPr/>
        </p:nvSpPr>
        <p:spPr>
          <a:xfrm xmlns:a="http://schemas.openxmlformats.org/drawingml/2006/main">
            <a:off x="7322344" y="2548618"/>
            <a:ext cx="1927112" cy="1927112"/>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25" name="Diagram label: Dorudon">
            <a:extLst xmlns:a="http://schemas.openxmlformats.org/drawingml/2006/main">
              <a:ext uri="{FF2B5EF4-FFF2-40B4-BE49-F238E27FC236}">
                <a16:creationId xmlns:a16="http://schemas.microsoft.com/office/drawing/2014/main" id="{39EE9E79-75F7-4EA7-857D-BC18B801865C}"/>
              </a:ext>
            </a:extLst>
          </p:cNvPr>
          <p:cNvSpPr>
            <a:spLocks xmlns:a="http://schemas.openxmlformats.org/drawingml/2006/main" noGrp="1"/>
          </p:cNvSpPr>
          <p:nvPr/>
        </p:nvSpPr>
        <p:spPr>
          <a:xfrm xmlns:a="http://schemas.openxmlformats.org/drawingml/2006/main">
            <a:off x="7427459" y="2653733"/>
            <a:ext cx="171688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Dorudon</a:t>
            </a:r>
          </a:p>
        </p:txBody>
      </p:sp>
      <p:sp>
        <p:nvSpPr>
          <p:cNvPr id="26" name="Diagram label: About 40–33 Ma&#10;Flippers&#10;Very small&#10;hind legs">
            <a:extLst xmlns:a="http://schemas.openxmlformats.org/drawingml/2006/main">
              <a:ext uri="{FF2B5EF4-FFF2-40B4-BE49-F238E27FC236}">
                <a16:creationId xmlns:a16="http://schemas.microsoft.com/office/drawing/2014/main" id="{68CDEBD3-40CE-45CF-80D1-9CB879950CBD}"/>
              </a:ext>
            </a:extLst>
          </p:cNvPr>
          <p:cNvSpPr>
            <a:spLocks xmlns:a="http://schemas.openxmlformats.org/drawingml/2006/main" noGrp="1"/>
          </p:cNvSpPr>
          <p:nvPr/>
        </p:nvSpPr>
        <p:spPr>
          <a:xfrm xmlns:a="http://schemas.openxmlformats.org/drawingml/2006/main">
            <a:off x="7427459" y="3039155"/>
            <a:ext cx="1716881" cy="1226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About 40–33 Ma</a:t>
            </a:r>
          </a:p>
          <a:p xmlns:a="http://schemas.openxmlformats.org/drawingml/2006/main">
            <a:pPr algn="l">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Flippers</a:t>
            </a:r>
          </a:p>
          <a:p xmlns:a="http://schemas.openxmlformats.org/drawingml/2006/main">
            <a:pPr algn="l">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Very small</a:t>
            </a:r>
          </a:p>
          <a:p xmlns:a="http://schemas.openxmlformats.org/drawingml/2006/main">
            <a:pPr algn="l">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hind legs</a:t>
            </a:r>
          </a:p>
        </p:txBody>
      </p:sp>
      <p:sp>
        <p:nvSpPr>
          <p:cNvPr id="27" name="Diagram line">
            <a:extLst xmlns:a="http://schemas.openxmlformats.org/drawingml/2006/main">
              <a:ext uri="{FF2B5EF4-FFF2-40B4-BE49-F238E27FC236}">
                <a16:creationId xmlns:a16="http://schemas.microsoft.com/office/drawing/2014/main" id="{78A0334F-1E47-49C0-907F-D7F3D56C4180}"/>
              </a:ext>
            </a:extLst>
          </p:cNvPr>
          <p:cNvSpPr>
            <a:spLocks xmlns:a="http://schemas.openxmlformats.org/drawingml/2006/main" noGrp="1"/>
          </p:cNvSpPr>
          <p:nvPr/>
        </p:nvSpPr>
        <p:spPr>
          <a:xfrm xmlns:a="http://schemas.openxmlformats.org/drawingml/2006/main" flipH="0" flipV="0">
            <a:off x="8268380" y="4510768"/>
            <a:ext cx="953" cy="385422"/>
          </a:xfrm>
          <a:prstGeom xmlns:a="http://schemas.openxmlformats.org/drawingml/2006/main" prst="line">
            <a:avLst/>
          </a:prstGeom>
          <a:noFill xmlns:a="http://schemas.openxmlformats.org/drawingml/2006/main"/>
          <a:ln xmlns:a="http://schemas.openxmlformats.org/drawingml/2006/main" w="28031">
            <a:solidFill>
              <a:srgbClr val="7A5C9E"/>
            </a:solidFill>
          </a:ln>
        </p:spPr>
      </p:sp>
      <p:sp>
        <p:nvSpPr>
          <p:cNvPr id="28" name="A dated fossil records a past combination of traits.  Compare th">
            <a:extLst xmlns:a="http://schemas.openxmlformats.org/drawingml/2006/main">
              <a:ext uri="{FF2B5EF4-FFF2-40B4-BE49-F238E27FC236}">
                <a16:creationId xmlns:a16="http://schemas.microsoft.com/office/drawing/2014/main" id="{BF8577E9-82CF-4EAA-AF2B-F3261E3099A5}"/>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A dated fossil records a past combination of traits. Compare the legs and flippers through time. This timeline</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does not prove a direct ancestor chain.</a:t>
            </a:r>
          </a:p>
        </p:txBody>
      </p:sp>
    </p:spTree>
    <p:extLst>
      <p:ext uri="{BB962C8B-B14F-4D97-AF65-F5344CB8AC3E}">
        <p14:creationId xmlns:p14="http://schemas.microsoft.com/office/powerpoint/2010/main" val="4082517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surface">
            <a:extLst xmlns:a="http://schemas.openxmlformats.org/drawingml/2006/main">
              <a:ext uri="{FF2B5EF4-FFF2-40B4-BE49-F238E27FC236}">
                <a16:creationId xmlns:a16="http://schemas.microsoft.com/office/drawing/2014/main" id="{CFFB685A-37DA-46EB-A1CD-2998B11E39D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0C6D4AB-1E56-4582-AEB6-3FA7E12AC7B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1465A8C-0444-4455-A357-C2C95E8A648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AA966701-66B7-45B8-991D-6419F5CE7EA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12724B88-65A3-4E0B-A1EE-E03D787E9F8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3 min">
            <a:extLst xmlns:a="http://schemas.openxmlformats.org/drawingml/2006/main">
              <a:ext uri="{FF2B5EF4-FFF2-40B4-BE49-F238E27FC236}">
                <a16:creationId xmlns:a16="http://schemas.microsoft.com/office/drawing/2014/main" id="{F3095BC2-889E-4554-A2F0-153D82A67CD6}"/>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The same underlying plan">
            <a:extLst xmlns:a="http://schemas.openxmlformats.org/drawingml/2006/main">
              <a:ext uri="{FF2B5EF4-FFF2-40B4-BE49-F238E27FC236}">
                <a16:creationId xmlns:a16="http://schemas.microsoft.com/office/drawing/2014/main" id="{B71F352A-23AA-4862-A5C5-5EF6827989D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The same underlying plan</a:t>
            </a:r>
          </a:p>
        </p:txBody>
      </p:sp>
      <p:sp>
        <p:nvSpPr>
          <p:cNvPr id="8" name="surface">
            <a:extLst xmlns:a="http://schemas.openxmlformats.org/drawingml/2006/main">
              <a:ext uri="{FF2B5EF4-FFF2-40B4-BE49-F238E27FC236}">
                <a16:creationId xmlns:a16="http://schemas.microsoft.com/office/drawing/2014/main" id="{6AF02D9A-1D90-44D5-BFEF-25724D5910E6}"/>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Evolution: build the evidence case">
            <a:extLst xmlns:a="http://schemas.openxmlformats.org/drawingml/2006/main">
              <a:ext uri="{FF2B5EF4-FFF2-40B4-BE49-F238E27FC236}">
                <a16:creationId xmlns:a16="http://schemas.microsoft.com/office/drawing/2014/main" id="{204146C0-1411-40B5-B588-E85FBE2A562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10" name="4 / 15">
            <a:extLst xmlns:a="http://schemas.openxmlformats.org/drawingml/2006/main">
              <a:ext uri="{FF2B5EF4-FFF2-40B4-BE49-F238E27FC236}">
                <a16:creationId xmlns:a16="http://schemas.microsoft.com/office/drawing/2014/main" id="{94183E83-AA6D-4CA1-9024-DBB0C944D01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15</a:t>
            </a:r>
          </a:p>
        </p:txBody>
      </p:sp>
      <p:sp>
        <p:nvSpPr>
          <p:cNvPr id="11" name="Diagram label: Human forelimb">
            <a:extLst xmlns:a="http://schemas.openxmlformats.org/drawingml/2006/main">
              <a:ext uri="{FF2B5EF4-FFF2-40B4-BE49-F238E27FC236}">
                <a16:creationId xmlns:a16="http://schemas.microsoft.com/office/drawing/2014/main" id="{B9B8FC65-8D67-4E66-99CA-82F88EF056CE}"/>
              </a:ext>
            </a:extLst>
          </p:cNvPr>
          <p:cNvSpPr>
            <a:spLocks xmlns:a="http://schemas.openxmlformats.org/drawingml/2006/main" noGrp="1"/>
          </p:cNvSpPr>
          <p:nvPr/>
        </p:nvSpPr>
        <p:spPr>
          <a:xfrm xmlns:a="http://schemas.openxmlformats.org/drawingml/2006/main">
            <a:off x="2802391" y="2128157"/>
            <a:ext cx="280307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Human forelimb</a:t>
            </a:r>
          </a:p>
        </p:txBody>
      </p:sp>
      <p:sp>
        <p:nvSpPr>
          <p:cNvPr id="12" name="Editable scientific diagram">
            <a:extLst xmlns:a="http://schemas.openxmlformats.org/drawingml/2006/main">
              <a:ext uri="{FF2B5EF4-FFF2-40B4-BE49-F238E27FC236}">
                <a16:creationId xmlns:a16="http://schemas.microsoft.com/office/drawing/2014/main" id="{29B96A6E-F004-4B38-BFEE-24F9962BEEE9}"/>
              </a:ext>
            </a:extLst>
          </p:cNvPr>
          <p:cNvSpPr>
            <a:spLocks xmlns:a="http://schemas.openxmlformats.org/drawingml/2006/main" noGrp="1"/>
          </p:cNvSpPr>
          <p:nvPr/>
        </p:nvSpPr>
        <p:spPr>
          <a:xfrm xmlns:a="http://schemas.openxmlformats.org/drawingml/2006/main">
            <a:off x="3993696" y="2618695"/>
            <a:ext cx="336369" cy="735806"/>
          </a:xfrm>
          <a:prstGeom xmlns:a="http://schemas.openxmlformats.org/drawingml/2006/main" prst="rect">
            <a:avLst/>
          </a:prstGeom>
          <a:solidFill xmlns:a="http://schemas.openxmlformats.org/drawingml/2006/main">
            <a:srgbClr val="E8BB8B"/>
          </a:solidFill>
          <a:ln xmlns:a="http://schemas.openxmlformats.org/drawingml/2006/main" w="21023">
            <a:solidFill>
              <a:srgbClr val="C9803B"/>
            </a:solidFill>
          </a:ln>
        </p:spPr>
      </p:sp>
      <p:sp>
        <p:nvSpPr>
          <p:cNvPr id="13" name="Editable scientific diagram">
            <a:extLst xmlns:a="http://schemas.openxmlformats.org/drawingml/2006/main">
              <a:ext uri="{FF2B5EF4-FFF2-40B4-BE49-F238E27FC236}">
                <a16:creationId xmlns:a16="http://schemas.microsoft.com/office/drawing/2014/main" id="{80FD6DD0-5EB4-4A62-A5A0-5EF646A930BD}"/>
              </a:ext>
            </a:extLst>
          </p:cNvPr>
          <p:cNvSpPr>
            <a:spLocks xmlns:a="http://schemas.openxmlformats.org/drawingml/2006/main" noGrp="1"/>
          </p:cNvSpPr>
          <p:nvPr/>
        </p:nvSpPr>
        <p:spPr>
          <a:xfrm xmlns:a="http://schemas.openxmlformats.org/drawingml/2006/main">
            <a:off x="3818504" y="3494654"/>
            <a:ext cx="189207" cy="665729"/>
          </a:xfrm>
          <a:prstGeom xmlns:a="http://schemas.openxmlformats.org/drawingml/2006/main" prst="rect">
            <a:avLst/>
          </a:prstGeom>
          <a:solidFill xmlns:a="http://schemas.openxmlformats.org/drawingml/2006/main">
            <a:srgbClr val="8BBBD2"/>
          </a:solidFill>
          <a:ln xmlns:a="http://schemas.openxmlformats.org/drawingml/2006/main" w="21023">
            <a:solidFill>
              <a:srgbClr val="4D82A0"/>
            </a:solidFill>
          </a:ln>
        </p:spPr>
      </p:sp>
      <p:sp>
        <p:nvSpPr>
          <p:cNvPr id="14" name="Editable scientific diagram">
            <a:extLst xmlns:a="http://schemas.openxmlformats.org/drawingml/2006/main">
              <a:ext uri="{FF2B5EF4-FFF2-40B4-BE49-F238E27FC236}">
                <a16:creationId xmlns:a16="http://schemas.microsoft.com/office/drawing/2014/main" id="{DC52160E-EC9C-40A3-8DE0-81B4C8779BC3}"/>
              </a:ext>
            </a:extLst>
          </p:cNvPr>
          <p:cNvSpPr>
            <a:spLocks xmlns:a="http://schemas.openxmlformats.org/drawingml/2006/main" noGrp="1"/>
          </p:cNvSpPr>
          <p:nvPr/>
        </p:nvSpPr>
        <p:spPr>
          <a:xfrm xmlns:a="http://schemas.openxmlformats.org/drawingml/2006/main">
            <a:off x="4252981" y="3494654"/>
            <a:ext cx="189207" cy="665729"/>
          </a:xfrm>
          <a:prstGeom xmlns:a="http://schemas.openxmlformats.org/drawingml/2006/main" prst="rect">
            <a:avLst/>
          </a:prstGeom>
          <a:solidFill xmlns:a="http://schemas.openxmlformats.org/drawingml/2006/main">
            <a:srgbClr val="8BBBD2"/>
          </a:solidFill>
          <a:ln xmlns:a="http://schemas.openxmlformats.org/drawingml/2006/main" w="21023">
            <a:solidFill>
              <a:srgbClr val="4D82A0"/>
            </a:solidFill>
          </a:ln>
        </p:spPr>
      </p:sp>
      <p:sp>
        <p:nvSpPr>
          <p:cNvPr id="15" name="Editable scientific diagram">
            <a:extLst xmlns:a="http://schemas.openxmlformats.org/drawingml/2006/main">
              <a:ext uri="{FF2B5EF4-FFF2-40B4-BE49-F238E27FC236}">
                <a16:creationId xmlns:a16="http://schemas.microsoft.com/office/drawing/2014/main" id="{378DD633-05D3-40EB-903F-A2C2E1AD61F5}"/>
              </a:ext>
            </a:extLst>
          </p:cNvPr>
          <p:cNvSpPr>
            <a:spLocks xmlns:a="http://schemas.openxmlformats.org/drawingml/2006/main" noGrp="1"/>
          </p:cNvSpPr>
          <p:nvPr/>
        </p:nvSpPr>
        <p:spPr>
          <a:xfrm xmlns:a="http://schemas.openxmlformats.org/drawingml/2006/main">
            <a:off x="3748428" y="4265499"/>
            <a:ext cx="784860" cy="245269"/>
          </a:xfrm>
          <a:prstGeom xmlns:a="http://schemas.openxmlformats.org/drawingml/2006/main" prst="rect">
            <a:avLst/>
          </a:prstGeom>
          <a:solidFill xmlns:a="http://schemas.openxmlformats.org/drawingml/2006/main">
            <a:srgbClr val="D9D0E3"/>
          </a:solidFill>
          <a:ln xmlns:a="http://schemas.openxmlformats.org/drawingml/2006/main" w="21023">
            <a:solidFill>
              <a:srgbClr val="7A5C9E"/>
            </a:solidFill>
          </a:ln>
        </p:spPr>
      </p:sp>
      <p:sp>
        <p:nvSpPr>
          <p:cNvPr id="16" name="Diagram line">
            <a:extLst xmlns:a="http://schemas.openxmlformats.org/drawingml/2006/main">
              <a:ext uri="{FF2B5EF4-FFF2-40B4-BE49-F238E27FC236}">
                <a16:creationId xmlns:a16="http://schemas.microsoft.com/office/drawing/2014/main" id="{D8FCFBAC-9929-4AC7-856D-70D9B7CF6BC4}"/>
              </a:ext>
            </a:extLst>
          </p:cNvPr>
          <p:cNvSpPr>
            <a:spLocks xmlns:a="http://schemas.openxmlformats.org/drawingml/2006/main" noGrp="1"/>
          </p:cNvSpPr>
          <p:nvPr/>
        </p:nvSpPr>
        <p:spPr>
          <a:xfrm xmlns:a="http://schemas.openxmlformats.org/drawingml/2006/main" flipH="1" flipV="0">
            <a:off x="3538197" y="4545806"/>
            <a:ext cx="294323" cy="140154"/>
          </a:xfrm>
          <a:prstGeom xmlns:a="http://schemas.openxmlformats.org/drawingml/2006/main" prst="line">
            <a:avLst/>
          </a:prstGeom>
          <a:noFill xmlns:a="http://schemas.openxmlformats.org/drawingml/2006/main"/>
          <a:ln xmlns:a="http://schemas.openxmlformats.org/drawingml/2006/main" w="63069">
            <a:solidFill>
              <a:srgbClr val="7A5C9E"/>
            </a:solidFill>
          </a:ln>
        </p:spPr>
      </p:sp>
      <p:sp>
        <p:nvSpPr>
          <p:cNvPr id="17" name="Diagram line">
            <a:extLst xmlns:a="http://schemas.openxmlformats.org/drawingml/2006/main">
              <a:ext uri="{FF2B5EF4-FFF2-40B4-BE49-F238E27FC236}">
                <a16:creationId xmlns:a16="http://schemas.microsoft.com/office/drawing/2014/main" id="{8D754B2E-39C5-4347-906F-38B7B9D993B4}"/>
              </a:ext>
            </a:extLst>
          </p:cNvPr>
          <p:cNvSpPr>
            <a:spLocks xmlns:a="http://schemas.openxmlformats.org/drawingml/2006/main" noGrp="1"/>
          </p:cNvSpPr>
          <p:nvPr/>
        </p:nvSpPr>
        <p:spPr>
          <a:xfrm xmlns:a="http://schemas.openxmlformats.org/drawingml/2006/main" flipH="0" flipV="0">
            <a:off x="3538197" y="4699975"/>
            <a:ext cx="953" cy="371407"/>
          </a:xfrm>
          <a:prstGeom xmlns:a="http://schemas.openxmlformats.org/drawingml/2006/main" prst="line">
            <a:avLst/>
          </a:prstGeom>
          <a:noFill xmlns:a="http://schemas.openxmlformats.org/drawingml/2006/main"/>
          <a:ln xmlns:a="http://schemas.openxmlformats.org/drawingml/2006/main" w="63069">
            <a:solidFill>
              <a:srgbClr val="7A5C9E"/>
            </a:solidFill>
          </a:ln>
        </p:spPr>
      </p:sp>
      <p:sp>
        <p:nvSpPr>
          <p:cNvPr id="18" name="Diagram line">
            <a:extLst xmlns:a="http://schemas.openxmlformats.org/drawingml/2006/main">
              <a:ext uri="{FF2B5EF4-FFF2-40B4-BE49-F238E27FC236}">
                <a16:creationId xmlns:a16="http://schemas.microsoft.com/office/drawing/2014/main" id="{D92DC54E-FD0E-4B44-80CE-0AC059F9DD72}"/>
              </a:ext>
            </a:extLst>
          </p:cNvPr>
          <p:cNvSpPr>
            <a:spLocks xmlns:a="http://schemas.openxmlformats.org/drawingml/2006/main" noGrp="1"/>
          </p:cNvSpPr>
          <p:nvPr/>
        </p:nvSpPr>
        <p:spPr>
          <a:xfrm xmlns:a="http://schemas.openxmlformats.org/drawingml/2006/main" flipH="1" flipV="0">
            <a:off x="3832520" y="4545806"/>
            <a:ext cx="112123" cy="140154"/>
          </a:xfrm>
          <a:prstGeom xmlns:a="http://schemas.openxmlformats.org/drawingml/2006/main" prst="line">
            <a:avLst/>
          </a:prstGeom>
          <a:noFill xmlns:a="http://schemas.openxmlformats.org/drawingml/2006/main"/>
          <a:ln xmlns:a="http://schemas.openxmlformats.org/drawingml/2006/main" w="63069">
            <a:solidFill>
              <a:srgbClr val="7A5C9E"/>
            </a:solidFill>
          </a:ln>
        </p:spPr>
      </p:sp>
      <p:sp>
        <p:nvSpPr>
          <p:cNvPr id="19" name="Diagram line">
            <a:extLst xmlns:a="http://schemas.openxmlformats.org/drawingml/2006/main">
              <a:ext uri="{FF2B5EF4-FFF2-40B4-BE49-F238E27FC236}">
                <a16:creationId xmlns:a16="http://schemas.microsoft.com/office/drawing/2014/main" id="{A5EE95AB-8511-4142-BA35-2826CF784628}"/>
              </a:ext>
            </a:extLst>
          </p:cNvPr>
          <p:cNvSpPr>
            <a:spLocks xmlns:a="http://schemas.openxmlformats.org/drawingml/2006/main" noGrp="1"/>
          </p:cNvSpPr>
          <p:nvPr/>
        </p:nvSpPr>
        <p:spPr>
          <a:xfrm xmlns:a="http://schemas.openxmlformats.org/drawingml/2006/main" flipH="0" flipV="0">
            <a:off x="3832520" y="4699975"/>
            <a:ext cx="953" cy="532584"/>
          </a:xfrm>
          <a:prstGeom xmlns:a="http://schemas.openxmlformats.org/drawingml/2006/main" prst="line">
            <a:avLst/>
          </a:prstGeom>
          <a:noFill xmlns:a="http://schemas.openxmlformats.org/drawingml/2006/main"/>
          <a:ln xmlns:a="http://schemas.openxmlformats.org/drawingml/2006/main" w="63069">
            <a:solidFill>
              <a:srgbClr val="7A5C9E"/>
            </a:solidFill>
          </a:ln>
        </p:spPr>
      </p:sp>
      <p:sp>
        <p:nvSpPr>
          <p:cNvPr id="20" name="Diagram line">
            <a:extLst xmlns:a="http://schemas.openxmlformats.org/drawingml/2006/main">
              <a:ext uri="{FF2B5EF4-FFF2-40B4-BE49-F238E27FC236}">
                <a16:creationId xmlns:a16="http://schemas.microsoft.com/office/drawing/2014/main" id="{F427FBBF-04A1-4144-B2A9-BBE6EF621361}"/>
              </a:ext>
            </a:extLst>
          </p:cNvPr>
          <p:cNvSpPr>
            <a:spLocks xmlns:a="http://schemas.openxmlformats.org/drawingml/2006/main" noGrp="1"/>
          </p:cNvSpPr>
          <p:nvPr/>
        </p:nvSpPr>
        <p:spPr>
          <a:xfrm xmlns:a="http://schemas.openxmlformats.org/drawingml/2006/main" flipH="0" flipV="0">
            <a:off x="4056766" y="4545806"/>
            <a:ext cx="70077" cy="140154"/>
          </a:xfrm>
          <a:prstGeom xmlns:a="http://schemas.openxmlformats.org/drawingml/2006/main" prst="line">
            <a:avLst/>
          </a:prstGeom>
          <a:noFill xmlns:a="http://schemas.openxmlformats.org/drawingml/2006/main"/>
          <a:ln xmlns:a="http://schemas.openxmlformats.org/drawingml/2006/main" w="63069">
            <a:solidFill>
              <a:srgbClr val="7A5C9E"/>
            </a:solidFill>
          </a:ln>
        </p:spPr>
      </p:sp>
      <p:sp>
        <p:nvSpPr>
          <p:cNvPr id="21" name="Diagram line">
            <a:extLst xmlns:a="http://schemas.openxmlformats.org/drawingml/2006/main">
              <a:ext uri="{FF2B5EF4-FFF2-40B4-BE49-F238E27FC236}">
                <a16:creationId xmlns:a16="http://schemas.microsoft.com/office/drawing/2014/main" id="{19534D05-FDB2-4DE2-BC3A-9B75B350EAB0}"/>
              </a:ext>
            </a:extLst>
          </p:cNvPr>
          <p:cNvSpPr>
            <a:spLocks xmlns:a="http://schemas.openxmlformats.org/drawingml/2006/main" noGrp="1"/>
          </p:cNvSpPr>
          <p:nvPr/>
        </p:nvSpPr>
        <p:spPr>
          <a:xfrm xmlns:a="http://schemas.openxmlformats.org/drawingml/2006/main" flipH="0" flipV="0">
            <a:off x="4126842" y="4699975"/>
            <a:ext cx="953" cy="532584"/>
          </a:xfrm>
          <a:prstGeom xmlns:a="http://schemas.openxmlformats.org/drawingml/2006/main" prst="line">
            <a:avLst/>
          </a:prstGeom>
          <a:noFill xmlns:a="http://schemas.openxmlformats.org/drawingml/2006/main"/>
          <a:ln xmlns:a="http://schemas.openxmlformats.org/drawingml/2006/main" w="63069">
            <a:solidFill>
              <a:srgbClr val="7A5C9E"/>
            </a:solidFill>
          </a:ln>
        </p:spPr>
      </p:sp>
      <p:sp>
        <p:nvSpPr>
          <p:cNvPr id="22" name="Diagram line">
            <a:extLst xmlns:a="http://schemas.openxmlformats.org/drawingml/2006/main">
              <a:ext uri="{FF2B5EF4-FFF2-40B4-BE49-F238E27FC236}">
                <a16:creationId xmlns:a16="http://schemas.microsoft.com/office/drawing/2014/main" id="{A39035A7-DDC1-4523-B39B-11A16265C756}"/>
              </a:ext>
            </a:extLst>
          </p:cNvPr>
          <p:cNvSpPr>
            <a:spLocks xmlns:a="http://schemas.openxmlformats.org/drawingml/2006/main" noGrp="1"/>
          </p:cNvSpPr>
          <p:nvPr/>
        </p:nvSpPr>
        <p:spPr>
          <a:xfrm xmlns:a="http://schemas.openxmlformats.org/drawingml/2006/main" flipH="0" flipV="0">
            <a:off x="4168888" y="4545806"/>
            <a:ext cx="252276" cy="140154"/>
          </a:xfrm>
          <a:prstGeom xmlns:a="http://schemas.openxmlformats.org/drawingml/2006/main" prst="line">
            <a:avLst/>
          </a:prstGeom>
          <a:noFill xmlns:a="http://schemas.openxmlformats.org/drawingml/2006/main"/>
          <a:ln xmlns:a="http://schemas.openxmlformats.org/drawingml/2006/main" w="63069">
            <a:solidFill>
              <a:srgbClr val="7A5C9E"/>
            </a:solidFill>
          </a:ln>
        </p:spPr>
      </p:sp>
      <p:sp>
        <p:nvSpPr>
          <p:cNvPr id="23" name="Diagram line">
            <a:extLst xmlns:a="http://schemas.openxmlformats.org/drawingml/2006/main">
              <a:ext uri="{FF2B5EF4-FFF2-40B4-BE49-F238E27FC236}">
                <a16:creationId xmlns:a16="http://schemas.microsoft.com/office/drawing/2014/main" id="{6556393E-7653-42D7-9062-752F100CCCB3}"/>
              </a:ext>
            </a:extLst>
          </p:cNvPr>
          <p:cNvSpPr>
            <a:spLocks xmlns:a="http://schemas.openxmlformats.org/drawingml/2006/main" noGrp="1"/>
          </p:cNvSpPr>
          <p:nvPr/>
        </p:nvSpPr>
        <p:spPr>
          <a:xfrm xmlns:a="http://schemas.openxmlformats.org/drawingml/2006/main" flipH="0" flipV="0">
            <a:off x="4421165" y="4699975"/>
            <a:ext cx="953" cy="532584"/>
          </a:xfrm>
          <a:prstGeom xmlns:a="http://schemas.openxmlformats.org/drawingml/2006/main" prst="line">
            <a:avLst/>
          </a:prstGeom>
          <a:noFill xmlns:a="http://schemas.openxmlformats.org/drawingml/2006/main"/>
          <a:ln xmlns:a="http://schemas.openxmlformats.org/drawingml/2006/main" w="63069">
            <a:solidFill>
              <a:srgbClr val="7A5C9E"/>
            </a:solidFill>
          </a:ln>
        </p:spPr>
      </p:sp>
      <p:sp>
        <p:nvSpPr>
          <p:cNvPr id="24" name="Diagram line">
            <a:extLst xmlns:a="http://schemas.openxmlformats.org/drawingml/2006/main">
              <a:ext uri="{FF2B5EF4-FFF2-40B4-BE49-F238E27FC236}">
                <a16:creationId xmlns:a16="http://schemas.microsoft.com/office/drawing/2014/main" id="{1D76964D-48F0-4B8D-9AD5-08087DB1C6B0}"/>
              </a:ext>
            </a:extLst>
          </p:cNvPr>
          <p:cNvSpPr>
            <a:spLocks xmlns:a="http://schemas.openxmlformats.org/drawingml/2006/main" noGrp="1"/>
          </p:cNvSpPr>
          <p:nvPr/>
        </p:nvSpPr>
        <p:spPr>
          <a:xfrm xmlns:a="http://schemas.openxmlformats.org/drawingml/2006/main" flipH="0" flipV="0">
            <a:off x="4281011" y="4545806"/>
            <a:ext cx="434476" cy="140154"/>
          </a:xfrm>
          <a:prstGeom xmlns:a="http://schemas.openxmlformats.org/drawingml/2006/main" prst="line">
            <a:avLst/>
          </a:prstGeom>
          <a:noFill xmlns:a="http://schemas.openxmlformats.org/drawingml/2006/main"/>
          <a:ln xmlns:a="http://schemas.openxmlformats.org/drawingml/2006/main" w="63069">
            <a:solidFill>
              <a:srgbClr val="7A5C9E"/>
            </a:solidFill>
          </a:ln>
        </p:spPr>
      </p:sp>
      <p:sp>
        <p:nvSpPr>
          <p:cNvPr id="25" name="Diagram line">
            <a:extLst xmlns:a="http://schemas.openxmlformats.org/drawingml/2006/main">
              <a:ext uri="{FF2B5EF4-FFF2-40B4-BE49-F238E27FC236}">
                <a16:creationId xmlns:a16="http://schemas.microsoft.com/office/drawing/2014/main" id="{2D6D5A90-9523-4909-9044-FBE9B1AEFEA0}"/>
              </a:ext>
            </a:extLst>
          </p:cNvPr>
          <p:cNvSpPr>
            <a:spLocks xmlns:a="http://schemas.openxmlformats.org/drawingml/2006/main" noGrp="1"/>
          </p:cNvSpPr>
          <p:nvPr/>
        </p:nvSpPr>
        <p:spPr>
          <a:xfrm xmlns:a="http://schemas.openxmlformats.org/drawingml/2006/main" flipH="0" flipV="0">
            <a:off x="4715487" y="4699975"/>
            <a:ext cx="953" cy="371407"/>
          </a:xfrm>
          <a:prstGeom xmlns:a="http://schemas.openxmlformats.org/drawingml/2006/main" prst="line">
            <a:avLst/>
          </a:prstGeom>
          <a:noFill xmlns:a="http://schemas.openxmlformats.org/drawingml/2006/main"/>
          <a:ln xmlns:a="http://schemas.openxmlformats.org/drawingml/2006/main" w="63069">
            <a:solidFill>
              <a:srgbClr val="7A5C9E"/>
            </a:solidFill>
          </a:ln>
        </p:spPr>
      </p:sp>
      <p:sp>
        <p:nvSpPr>
          <p:cNvPr id="26" name="Diagram label: Whale flipper">
            <a:extLst xmlns:a="http://schemas.openxmlformats.org/drawingml/2006/main">
              <a:ext uri="{FF2B5EF4-FFF2-40B4-BE49-F238E27FC236}">
                <a16:creationId xmlns:a16="http://schemas.microsoft.com/office/drawing/2014/main" id="{E266BF06-94B4-40FF-92DA-3A8D305EFE19}"/>
              </a:ext>
            </a:extLst>
          </p:cNvPr>
          <p:cNvSpPr>
            <a:spLocks xmlns:a="http://schemas.openxmlformats.org/drawingml/2006/main" noGrp="1"/>
          </p:cNvSpPr>
          <p:nvPr/>
        </p:nvSpPr>
        <p:spPr>
          <a:xfrm xmlns:a="http://schemas.openxmlformats.org/drawingml/2006/main">
            <a:off x="6306230" y="2128157"/>
            <a:ext cx="280307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Whale flipper</a:t>
            </a:r>
          </a:p>
        </p:txBody>
      </p:sp>
      <p:sp>
        <p:nvSpPr>
          <p:cNvPr id="27" name="Editable scientific diagram">
            <a:extLst xmlns:a="http://schemas.openxmlformats.org/drawingml/2006/main">
              <a:ext uri="{FF2B5EF4-FFF2-40B4-BE49-F238E27FC236}">
                <a16:creationId xmlns:a16="http://schemas.microsoft.com/office/drawing/2014/main" id="{65630448-4A32-4744-B921-9B177E061A31}"/>
              </a:ext>
            </a:extLst>
          </p:cNvPr>
          <p:cNvSpPr>
            <a:spLocks xmlns:a="http://schemas.openxmlformats.org/drawingml/2006/main" noGrp="1"/>
          </p:cNvSpPr>
          <p:nvPr/>
        </p:nvSpPr>
        <p:spPr>
          <a:xfrm xmlns:a="http://schemas.openxmlformats.org/drawingml/2006/main">
            <a:off x="7392421" y="2723810"/>
            <a:ext cx="525576" cy="455499"/>
          </a:xfrm>
          <a:prstGeom xmlns:a="http://schemas.openxmlformats.org/drawingml/2006/main" prst="rect">
            <a:avLst/>
          </a:prstGeom>
          <a:solidFill xmlns:a="http://schemas.openxmlformats.org/drawingml/2006/main">
            <a:srgbClr val="E8BB8B"/>
          </a:solidFill>
          <a:ln xmlns:a="http://schemas.openxmlformats.org/drawingml/2006/main" w="21023">
            <a:solidFill>
              <a:srgbClr val="C9803B"/>
            </a:solidFill>
          </a:ln>
        </p:spPr>
      </p:sp>
      <p:sp>
        <p:nvSpPr>
          <p:cNvPr id="28" name="Editable scientific diagram">
            <a:extLst xmlns:a="http://schemas.openxmlformats.org/drawingml/2006/main">
              <a:ext uri="{FF2B5EF4-FFF2-40B4-BE49-F238E27FC236}">
                <a16:creationId xmlns:a16="http://schemas.microsoft.com/office/drawing/2014/main" id="{DC28A1A6-BE98-4A78-B335-7027489BE287}"/>
              </a:ext>
            </a:extLst>
          </p:cNvPr>
          <p:cNvSpPr>
            <a:spLocks xmlns:a="http://schemas.openxmlformats.org/drawingml/2006/main" noGrp="1"/>
          </p:cNvSpPr>
          <p:nvPr/>
        </p:nvSpPr>
        <p:spPr>
          <a:xfrm xmlns:a="http://schemas.openxmlformats.org/drawingml/2006/main">
            <a:off x="7182190" y="3389539"/>
            <a:ext cx="350384" cy="490538"/>
          </a:xfrm>
          <a:prstGeom xmlns:a="http://schemas.openxmlformats.org/drawingml/2006/main" prst="rect">
            <a:avLst/>
          </a:prstGeom>
          <a:solidFill xmlns:a="http://schemas.openxmlformats.org/drawingml/2006/main">
            <a:srgbClr val="8BBBD2"/>
          </a:solidFill>
          <a:ln xmlns:a="http://schemas.openxmlformats.org/drawingml/2006/main" w="21023">
            <a:solidFill>
              <a:srgbClr val="4D82A0"/>
            </a:solidFill>
          </a:ln>
        </p:spPr>
      </p:sp>
      <p:sp>
        <p:nvSpPr>
          <p:cNvPr id="29" name="Editable scientific diagram">
            <a:extLst xmlns:a="http://schemas.openxmlformats.org/drawingml/2006/main">
              <a:ext uri="{FF2B5EF4-FFF2-40B4-BE49-F238E27FC236}">
                <a16:creationId xmlns:a16="http://schemas.microsoft.com/office/drawing/2014/main" id="{5215ACE8-0990-4515-AD20-D547ED1C4E2C}"/>
              </a:ext>
            </a:extLst>
          </p:cNvPr>
          <p:cNvSpPr>
            <a:spLocks xmlns:a="http://schemas.openxmlformats.org/drawingml/2006/main" noGrp="1"/>
          </p:cNvSpPr>
          <p:nvPr/>
        </p:nvSpPr>
        <p:spPr>
          <a:xfrm xmlns:a="http://schemas.openxmlformats.org/drawingml/2006/main">
            <a:off x="7777843" y="3389539"/>
            <a:ext cx="350384" cy="490538"/>
          </a:xfrm>
          <a:prstGeom xmlns:a="http://schemas.openxmlformats.org/drawingml/2006/main" prst="rect">
            <a:avLst/>
          </a:prstGeom>
          <a:solidFill xmlns:a="http://schemas.openxmlformats.org/drawingml/2006/main">
            <a:srgbClr val="8BBBD2"/>
          </a:solidFill>
          <a:ln xmlns:a="http://schemas.openxmlformats.org/drawingml/2006/main" w="21023">
            <a:solidFill>
              <a:srgbClr val="4D82A0"/>
            </a:solidFill>
          </a:ln>
        </p:spPr>
      </p:sp>
      <p:sp>
        <p:nvSpPr>
          <p:cNvPr id="30" name="Editable scientific diagram">
            <a:extLst xmlns:a="http://schemas.openxmlformats.org/drawingml/2006/main">
              <a:ext uri="{FF2B5EF4-FFF2-40B4-BE49-F238E27FC236}">
                <a16:creationId xmlns:a16="http://schemas.microsoft.com/office/drawing/2014/main" id="{760F7D50-EC00-457D-B440-B344942800EB}"/>
              </a:ext>
            </a:extLst>
          </p:cNvPr>
          <p:cNvSpPr>
            <a:spLocks xmlns:a="http://schemas.openxmlformats.org/drawingml/2006/main" noGrp="1"/>
          </p:cNvSpPr>
          <p:nvPr/>
        </p:nvSpPr>
        <p:spPr>
          <a:xfrm xmlns:a="http://schemas.openxmlformats.org/drawingml/2006/main">
            <a:off x="7217229" y="4020230"/>
            <a:ext cx="875960" cy="210230"/>
          </a:xfrm>
          <a:prstGeom xmlns:a="http://schemas.openxmlformats.org/drawingml/2006/main" prst="rect">
            <a:avLst/>
          </a:prstGeom>
          <a:solidFill xmlns:a="http://schemas.openxmlformats.org/drawingml/2006/main">
            <a:srgbClr val="D9D0E3"/>
          </a:solidFill>
          <a:ln xmlns:a="http://schemas.openxmlformats.org/drawingml/2006/main" w="21023">
            <a:solidFill>
              <a:srgbClr val="7A5C9E"/>
            </a:solidFill>
          </a:ln>
        </p:spPr>
      </p:sp>
      <p:sp>
        <p:nvSpPr>
          <p:cNvPr id="31" name="Diagram line">
            <a:extLst xmlns:a="http://schemas.openxmlformats.org/drawingml/2006/main">
              <a:ext uri="{FF2B5EF4-FFF2-40B4-BE49-F238E27FC236}">
                <a16:creationId xmlns:a16="http://schemas.microsoft.com/office/drawing/2014/main" id="{0CA44C5A-587D-49DF-945A-5B00505D75C8}"/>
              </a:ext>
            </a:extLst>
          </p:cNvPr>
          <p:cNvSpPr>
            <a:spLocks xmlns:a="http://schemas.openxmlformats.org/drawingml/2006/main" noGrp="1"/>
          </p:cNvSpPr>
          <p:nvPr/>
        </p:nvSpPr>
        <p:spPr>
          <a:xfrm xmlns:a="http://schemas.openxmlformats.org/drawingml/2006/main" flipH="1" flipV="0">
            <a:off x="6971960" y="4286522"/>
            <a:ext cx="329361" cy="119131"/>
          </a:xfrm>
          <a:prstGeom xmlns:a="http://schemas.openxmlformats.org/drawingml/2006/main" prst="line">
            <a:avLst/>
          </a:prstGeom>
          <a:noFill xmlns:a="http://schemas.openxmlformats.org/drawingml/2006/main"/>
          <a:ln xmlns:a="http://schemas.openxmlformats.org/drawingml/2006/main" w="56061">
            <a:solidFill>
              <a:srgbClr val="7A5C9E"/>
            </a:solidFill>
          </a:ln>
        </p:spPr>
      </p:sp>
      <p:sp>
        <p:nvSpPr>
          <p:cNvPr id="32" name="Diagram line">
            <a:extLst xmlns:a="http://schemas.openxmlformats.org/drawingml/2006/main">
              <a:ext uri="{FF2B5EF4-FFF2-40B4-BE49-F238E27FC236}">
                <a16:creationId xmlns:a16="http://schemas.microsoft.com/office/drawing/2014/main" id="{3D54D24C-8197-49E4-8FD0-B0DDE1E4EB03}"/>
              </a:ext>
            </a:extLst>
          </p:cNvPr>
          <p:cNvSpPr>
            <a:spLocks xmlns:a="http://schemas.openxmlformats.org/drawingml/2006/main" noGrp="1"/>
          </p:cNvSpPr>
          <p:nvPr/>
        </p:nvSpPr>
        <p:spPr>
          <a:xfrm xmlns:a="http://schemas.openxmlformats.org/drawingml/2006/main" flipH="0" flipV="0">
            <a:off x="6971960" y="4426676"/>
            <a:ext cx="953" cy="539591"/>
          </a:xfrm>
          <a:prstGeom xmlns:a="http://schemas.openxmlformats.org/drawingml/2006/main" prst="line">
            <a:avLst/>
          </a:prstGeom>
          <a:noFill xmlns:a="http://schemas.openxmlformats.org/drawingml/2006/main"/>
          <a:ln xmlns:a="http://schemas.openxmlformats.org/drawingml/2006/main" w="56061">
            <a:solidFill>
              <a:srgbClr val="7A5C9E"/>
            </a:solidFill>
          </a:ln>
        </p:spPr>
      </p:sp>
      <p:sp>
        <p:nvSpPr>
          <p:cNvPr id="33" name="Diagram line">
            <a:extLst xmlns:a="http://schemas.openxmlformats.org/drawingml/2006/main">
              <a:ext uri="{FF2B5EF4-FFF2-40B4-BE49-F238E27FC236}">
                <a16:creationId xmlns:a16="http://schemas.microsoft.com/office/drawing/2014/main" id="{CFB874B4-C000-433F-A333-B93AB07C6F4D}"/>
              </a:ext>
            </a:extLst>
          </p:cNvPr>
          <p:cNvSpPr>
            <a:spLocks xmlns:a="http://schemas.openxmlformats.org/drawingml/2006/main" noGrp="1"/>
          </p:cNvSpPr>
          <p:nvPr/>
        </p:nvSpPr>
        <p:spPr>
          <a:xfrm xmlns:a="http://schemas.openxmlformats.org/drawingml/2006/main" flipH="1" flipV="0">
            <a:off x="7294313" y="4286522"/>
            <a:ext cx="168184" cy="119131"/>
          </a:xfrm>
          <a:prstGeom xmlns:a="http://schemas.openxmlformats.org/drawingml/2006/main" prst="line">
            <a:avLst/>
          </a:prstGeom>
          <a:noFill xmlns:a="http://schemas.openxmlformats.org/drawingml/2006/main"/>
          <a:ln xmlns:a="http://schemas.openxmlformats.org/drawingml/2006/main" w="56061">
            <a:solidFill>
              <a:srgbClr val="7A5C9E"/>
            </a:solidFill>
          </a:ln>
        </p:spPr>
      </p:sp>
      <p:sp>
        <p:nvSpPr>
          <p:cNvPr id="34" name="Diagram line">
            <a:extLst xmlns:a="http://schemas.openxmlformats.org/drawingml/2006/main">
              <a:ext uri="{FF2B5EF4-FFF2-40B4-BE49-F238E27FC236}">
                <a16:creationId xmlns:a16="http://schemas.microsoft.com/office/drawing/2014/main" id="{31F340E8-2FE6-4F85-BB33-58FAF822057F}"/>
              </a:ext>
            </a:extLst>
          </p:cNvPr>
          <p:cNvSpPr>
            <a:spLocks xmlns:a="http://schemas.openxmlformats.org/drawingml/2006/main" noGrp="1"/>
          </p:cNvSpPr>
          <p:nvPr/>
        </p:nvSpPr>
        <p:spPr>
          <a:xfrm xmlns:a="http://schemas.openxmlformats.org/drawingml/2006/main" flipH="0" flipV="0">
            <a:off x="7294313" y="4426676"/>
            <a:ext cx="953" cy="784860"/>
          </a:xfrm>
          <a:prstGeom xmlns:a="http://schemas.openxmlformats.org/drawingml/2006/main" prst="line">
            <a:avLst/>
          </a:prstGeom>
          <a:noFill xmlns:a="http://schemas.openxmlformats.org/drawingml/2006/main"/>
          <a:ln xmlns:a="http://schemas.openxmlformats.org/drawingml/2006/main" w="56061">
            <a:solidFill>
              <a:srgbClr val="7A5C9E"/>
            </a:solidFill>
          </a:ln>
        </p:spPr>
      </p:sp>
      <p:sp>
        <p:nvSpPr>
          <p:cNvPr id="35" name="Diagram line">
            <a:extLst xmlns:a="http://schemas.openxmlformats.org/drawingml/2006/main">
              <a:ext uri="{FF2B5EF4-FFF2-40B4-BE49-F238E27FC236}">
                <a16:creationId xmlns:a16="http://schemas.microsoft.com/office/drawing/2014/main" id="{648EC04B-E482-4EB8-A24C-2C901F42042D}"/>
              </a:ext>
            </a:extLst>
          </p:cNvPr>
          <p:cNvSpPr>
            <a:spLocks xmlns:a="http://schemas.openxmlformats.org/drawingml/2006/main" noGrp="1"/>
          </p:cNvSpPr>
          <p:nvPr/>
        </p:nvSpPr>
        <p:spPr>
          <a:xfrm xmlns:a="http://schemas.openxmlformats.org/drawingml/2006/main" flipH="1" flipV="0">
            <a:off x="7616666" y="4286522"/>
            <a:ext cx="7008" cy="119131"/>
          </a:xfrm>
          <a:prstGeom xmlns:a="http://schemas.openxmlformats.org/drawingml/2006/main" prst="line">
            <a:avLst/>
          </a:prstGeom>
          <a:noFill xmlns:a="http://schemas.openxmlformats.org/drawingml/2006/main"/>
          <a:ln xmlns:a="http://schemas.openxmlformats.org/drawingml/2006/main" w="56061">
            <a:solidFill>
              <a:srgbClr val="7A5C9E"/>
            </a:solidFill>
          </a:ln>
        </p:spPr>
      </p:sp>
      <p:sp>
        <p:nvSpPr>
          <p:cNvPr id="36" name="Diagram line">
            <a:extLst xmlns:a="http://schemas.openxmlformats.org/drawingml/2006/main">
              <a:ext uri="{FF2B5EF4-FFF2-40B4-BE49-F238E27FC236}">
                <a16:creationId xmlns:a16="http://schemas.microsoft.com/office/drawing/2014/main" id="{E3EAB180-5A99-46DC-A961-C9B881870CCF}"/>
              </a:ext>
            </a:extLst>
          </p:cNvPr>
          <p:cNvSpPr>
            <a:spLocks xmlns:a="http://schemas.openxmlformats.org/drawingml/2006/main" noGrp="1"/>
          </p:cNvSpPr>
          <p:nvPr/>
        </p:nvSpPr>
        <p:spPr>
          <a:xfrm xmlns:a="http://schemas.openxmlformats.org/drawingml/2006/main" flipH="0" flipV="0">
            <a:off x="7616666" y="4426676"/>
            <a:ext cx="953" cy="784860"/>
          </a:xfrm>
          <a:prstGeom xmlns:a="http://schemas.openxmlformats.org/drawingml/2006/main" prst="line">
            <a:avLst/>
          </a:prstGeom>
          <a:noFill xmlns:a="http://schemas.openxmlformats.org/drawingml/2006/main"/>
          <a:ln xmlns:a="http://schemas.openxmlformats.org/drawingml/2006/main" w="56061">
            <a:solidFill>
              <a:srgbClr val="7A5C9E"/>
            </a:solidFill>
          </a:ln>
        </p:spPr>
      </p:sp>
      <p:sp>
        <p:nvSpPr>
          <p:cNvPr id="37" name="Diagram line">
            <a:extLst xmlns:a="http://schemas.openxmlformats.org/drawingml/2006/main">
              <a:ext uri="{FF2B5EF4-FFF2-40B4-BE49-F238E27FC236}">
                <a16:creationId xmlns:a16="http://schemas.microsoft.com/office/drawing/2014/main" id="{89D9B241-CB60-4000-8FCA-2B4BB6E91BE3}"/>
              </a:ext>
            </a:extLst>
          </p:cNvPr>
          <p:cNvSpPr>
            <a:spLocks xmlns:a="http://schemas.openxmlformats.org/drawingml/2006/main" noGrp="1"/>
          </p:cNvSpPr>
          <p:nvPr/>
        </p:nvSpPr>
        <p:spPr>
          <a:xfrm xmlns:a="http://schemas.openxmlformats.org/drawingml/2006/main" flipH="0" flipV="0">
            <a:off x="7784851" y="4286522"/>
            <a:ext cx="154169" cy="119131"/>
          </a:xfrm>
          <a:prstGeom xmlns:a="http://schemas.openxmlformats.org/drawingml/2006/main" prst="line">
            <a:avLst/>
          </a:prstGeom>
          <a:noFill xmlns:a="http://schemas.openxmlformats.org/drawingml/2006/main"/>
          <a:ln xmlns:a="http://schemas.openxmlformats.org/drawingml/2006/main" w="56061">
            <a:solidFill>
              <a:srgbClr val="7A5C9E"/>
            </a:solidFill>
          </a:ln>
        </p:spPr>
      </p:sp>
      <p:sp>
        <p:nvSpPr>
          <p:cNvPr id="38" name="Diagram line">
            <a:extLst xmlns:a="http://schemas.openxmlformats.org/drawingml/2006/main">
              <a:ext uri="{FF2B5EF4-FFF2-40B4-BE49-F238E27FC236}">
                <a16:creationId xmlns:a16="http://schemas.microsoft.com/office/drawing/2014/main" id="{997EFE09-AC55-452D-B5A2-6703554656D3}"/>
              </a:ext>
            </a:extLst>
          </p:cNvPr>
          <p:cNvSpPr>
            <a:spLocks xmlns:a="http://schemas.openxmlformats.org/drawingml/2006/main" noGrp="1"/>
          </p:cNvSpPr>
          <p:nvPr/>
        </p:nvSpPr>
        <p:spPr>
          <a:xfrm xmlns:a="http://schemas.openxmlformats.org/drawingml/2006/main" flipH="0" flipV="0">
            <a:off x="7939019" y="4426676"/>
            <a:ext cx="953" cy="784860"/>
          </a:xfrm>
          <a:prstGeom xmlns:a="http://schemas.openxmlformats.org/drawingml/2006/main" prst="line">
            <a:avLst/>
          </a:prstGeom>
          <a:noFill xmlns:a="http://schemas.openxmlformats.org/drawingml/2006/main"/>
          <a:ln xmlns:a="http://schemas.openxmlformats.org/drawingml/2006/main" w="56061">
            <a:solidFill>
              <a:srgbClr val="7A5C9E"/>
            </a:solidFill>
          </a:ln>
        </p:spPr>
      </p:sp>
      <p:sp>
        <p:nvSpPr>
          <p:cNvPr id="39" name="Diagram line">
            <a:extLst xmlns:a="http://schemas.openxmlformats.org/drawingml/2006/main">
              <a:ext uri="{FF2B5EF4-FFF2-40B4-BE49-F238E27FC236}">
                <a16:creationId xmlns:a16="http://schemas.microsoft.com/office/drawing/2014/main" id="{EEF2F425-651B-409D-B5C1-CE36F5B6AEB8}"/>
              </a:ext>
            </a:extLst>
          </p:cNvPr>
          <p:cNvSpPr>
            <a:spLocks xmlns:a="http://schemas.openxmlformats.org/drawingml/2006/main" noGrp="1"/>
          </p:cNvSpPr>
          <p:nvPr/>
        </p:nvSpPr>
        <p:spPr>
          <a:xfrm xmlns:a="http://schemas.openxmlformats.org/drawingml/2006/main" flipH="0" flipV="0">
            <a:off x="7946027" y="4286522"/>
            <a:ext cx="315346" cy="119131"/>
          </a:xfrm>
          <a:prstGeom xmlns:a="http://schemas.openxmlformats.org/drawingml/2006/main" prst="line">
            <a:avLst/>
          </a:prstGeom>
          <a:noFill xmlns:a="http://schemas.openxmlformats.org/drawingml/2006/main"/>
          <a:ln xmlns:a="http://schemas.openxmlformats.org/drawingml/2006/main" w="56061">
            <a:solidFill>
              <a:srgbClr val="7A5C9E"/>
            </a:solidFill>
          </a:ln>
        </p:spPr>
      </p:sp>
      <p:sp>
        <p:nvSpPr>
          <p:cNvPr id="40" name="Diagram line">
            <a:extLst xmlns:a="http://schemas.openxmlformats.org/drawingml/2006/main">
              <a:ext uri="{FF2B5EF4-FFF2-40B4-BE49-F238E27FC236}">
                <a16:creationId xmlns:a16="http://schemas.microsoft.com/office/drawing/2014/main" id="{80863AC5-293F-40EF-8E08-845DA7334197}"/>
              </a:ext>
            </a:extLst>
          </p:cNvPr>
          <p:cNvSpPr>
            <a:spLocks xmlns:a="http://schemas.openxmlformats.org/drawingml/2006/main" noGrp="1"/>
          </p:cNvSpPr>
          <p:nvPr/>
        </p:nvSpPr>
        <p:spPr>
          <a:xfrm xmlns:a="http://schemas.openxmlformats.org/drawingml/2006/main" flipH="0" flipV="0">
            <a:off x="8261373" y="4426676"/>
            <a:ext cx="953" cy="539591"/>
          </a:xfrm>
          <a:prstGeom xmlns:a="http://schemas.openxmlformats.org/drawingml/2006/main" prst="line">
            <a:avLst/>
          </a:prstGeom>
          <a:noFill xmlns:a="http://schemas.openxmlformats.org/drawingml/2006/main"/>
          <a:ln xmlns:a="http://schemas.openxmlformats.org/drawingml/2006/main" w="56061">
            <a:solidFill>
              <a:srgbClr val="7A5C9E"/>
            </a:solidFill>
          </a:ln>
        </p:spPr>
      </p:sp>
      <p:sp>
        <p:nvSpPr>
          <p:cNvPr id="41" name="Diagram label: 1 upper bone">
            <a:extLst xmlns:a="http://schemas.openxmlformats.org/drawingml/2006/main">
              <a:ext uri="{FF2B5EF4-FFF2-40B4-BE49-F238E27FC236}">
                <a16:creationId xmlns:a16="http://schemas.microsoft.com/office/drawing/2014/main" id="{D30375EF-B540-4E39-9B6D-F10642694258}"/>
              </a:ext>
            </a:extLst>
          </p:cNvPr>
          <p:cNvSpPr>
            <a:spLocks xmlns:a="http://schemas.openxmlformats.org/drawingml/2006/main" noGrp="1"/>
          </p:cNvSpPr>
          <p:nvPr/>
        </p:nvSpPr>
        <p:spPr>
          <a:xfrm xmlns:a="http://schemas.openxmlformats.org/drawingml/2006/main">
            <a:off x="5009810" y="2653733"/>
            <a:ext cx="2032227"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1">
                <a:solidFill>
                  <a:srgbClr val="C9803B"/>
                </a:solidFill>
                <a:latin typeface="Nimbus Sans"/>
                <a:ea typeface="Nimbus Sans"/>
                <a:cs typeface="Nimbus Sans"/>
              </a:defRPr>
            </a:pPr>
            <a:r>
              <a:rPr sz="1379" b="1">
                <a:solidFill>
                  <a:srgbClr val="C9803B"/>
                </a:solidFill>
                <a:latin typeface="Nimbus Sans"/>
                <a:ea typeface="Nimbus Sans"/>
                <a:cs typeface="Nimbus Sans"/>
              </a:rPr>
              <a:t>1 upper bone</a:t>
            </a:r>
          </a:p>
        </p:txBody>
      </p:sp>
      <p:sp>
        <p:nvSpPr>
          <p:cNvPr id="42" name="Diagram label: 2 lower bones">
            <a:extLst xmlns:a="http://schemas.openxmlformats.org/drawingml/2006/main">
              <a:ext uri="{FF2B5EF4-FFF2-40B4-BE49-F238E27FC236}">
                <a16:creationId xmlns:a16="http://schemas.microsoft.com/office/drawing/2014/main" id="{B2ECD7D3-C1C4-4A84-9682-CDC7CFAEF452}"/>
              </a:ext>
            </a:extLst>
          </p:cNvPr>
          <p:cNvSpPr>
            <a:spLocks xmlns:a="http://schemas.openxmlformats.org/drawingml/2006/main" noGrp="1"/>
          </p:cNvSpPr>
          <p:nvPr/>
        </p:nvSpPr>
        <p:spPr>
          <a:xfrm xmlns:a="http://schemas.openxmlformats.org/drawingml/2006/main">
            <a:off x="5009810" y="3564731"/>
            <a:ext cx="2032227" cy="455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1">
                <a:solidFill>
                  <a:srgbClr val="4D82A0"/>
                </a:solidFill>
                <a:latin typeface="Nimbus Sans"/>
                <a:ea typeface="Nimbus Sans"/>
                <a:cs typeface="Nimbus Sans"/>
              </a:defRPr>
            </a:pPr>
            <a:r>
              <a:rPr sz="1379" b="1">
                <a:solidFill>
                  <a:srgbClr val="4D82A0"/>
                </a:solidFill>
                <a:latin typeface="Nimbus Sans"/>
                <a:ea typeface="Nimbus Sans"/>
                <a:cs typeface="Nimbus Sans"/>
              </a:rPr>
              <a:t>2 lower bones</a:t>
            </a:r>
          </a:p>
        </p:txBody>
      </p:sp>
      <p:sp>
        <p:nvSpPr>
          <p:cNvPr id="43" name="Diagram label: Wrist bones">
            <a:extLst xmlns:a="http://schemas.openxmlformats.org/drawingml/2006/main">
              <a:ext uri="{FF2B5EF4-FFF2-40B4-BE49-F238E27FC236}">
                <a16:creationId xmlns:a16="http://schemas.microsoft.com/office/drawing/2014/main" id="{DC87358D-4C55-4B00-9F1F-72296FC5503E}"/>
              </a:ext>
            </a:extLst>
          </p:cNvPr>
          <p:cNvSpPr>
            <a:spLocks xmlns:a="http://schemas.openxmlformats.org/drawingml/2006/main" noGrp="1"/>
          </p:cNvSpPr>
          <p:nvPr/>
        </p:nvSpPr>
        <p:spPr>
          <a:xfrm xmlns:a="http://schemas.openxmlformats.org/drawingml/2006/main">
            <a:off x="5009810" y="4265499"/>
            <a:ext cx="2032227"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1">
                <a:solidFill>
                  <a:srgbClr val="7A5C9E"/>
                </a:solidFill>
                <a:latin typeface="Nimbus Sans"/>
                <a:ea typeface="Nimbus Sans"/>
                <a:cs typeface="Nimbus Sans"/>
              </a:defRPr>
            </a:pPr>
            <a:r>
              <a:rPr sz="1379" b="1">
                <a:solidFill>
                  <a:srgbClr val="7A5C9E"/>
                </a:solidFill>
                <a:latin typeface="Nimbus Sans"/>
                <a:ea typeface="Nimbus Sans"/>
                <a:cs typeface="Nimbus Sans"/>
              </a:rPr>
              <a:t>Wrist bones</a:t>
            </a:r>
          </a:p>
        </p:txBody>
      </p:sp>
      <p:sp>
        <p:nvSpPr>
          <p:cNvPr id="44" name="Diagram label: 5 digits">
            <a:extLst xmlns:a="http://schemas.openxmlformats.org/drawingml/2006/main">
              <a:ext uri="{FF2B5EF4-FFF2-40B4-BE49-F238E27FC236}">
                <a16:creationId xmlns:a16="http://schemas.microsoft.com/office/drawing/2014/main" id="{64437411-F5EA-429F-9955-46BA476FCF1A}"/>
              </a:ext>
            </a:extLst>
          </p:cNvPr>
          <p:cNvSpPr>
            <a:spLocks xmlns:a="http://schemas.openxmlformats.org/drawingml/2006/main" noGrp="1"/>
          </p:cNvSpPr>
          <p:nvPr/>
        </p:nvSpPr>
        <p:spPr>
          <a:xfrm xmlns:a="http://schemas.openxmlformats.org/drawingml/2006/main">
            <a:off x="5009810" y="4826113"/>
            <a:ext cx="2032227" cy="455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1">
                <a:solidFill>
                  <a:srgbClr val="7A5C9E"/>
                </a:solidFill>
                <a:latin typeface="Nimbus Sans"/>
                <a:ea typeface="Nimbus Sans"/>
                <a:cs typeface="Nimbus Sans"/>
              </a:defRPr>
            </a:pPr>
            <a:r>
              <a:rPr sz="1379" b="1">
                <a:solidFill>
                  <a:srgbClr val="7A5C9E"/>
                </a:solidFill>
                <a:latin typeface="Nimbus Sans"/>
                <a:ea typeface="Nimbus Sans"/>
                <a:cs typeface="Nimbus Sans"/>
              </a:rPr>
              <a:t>5 digits</a:t>
            </a:r>
          </a:p>
        </p:txBody>
      </p:sp>
      <p:sp>
        <p:nvSpPr>
          <p:cNvPr id="45" name="Diagram label: Same bone plan; different shapes. Not to scale.">
            <a:extLst xmlns:a="http://schemas.openxmlformats.org/drawingml/2006/main">
              <a:ext uri="{FF2B5EF4-FFF2-40B4-BE49-F238E27FC236}">
                <a16:creationId xmlns:a16="http://schemas.microsoft.com/office/drawing/2014/main" id="{4FEC458B-3487-4ABB-A4A0-8048F76BACD2}"/>
              </a:ext>
            </a:extLst>
          </p:cNvPr>
          <p:cNvSpPr>
            <a:spLocks xmlns:a="http://schemas.openxmlformats.org/drawingml/2006/main" noGrp="1"/>
          </p:cNvSpPr>
          <p:nvPr/>
        </p:nvSpPr>
        <p:spPr>
          <a:xfrm xmlns:a="http://schemas.openxmlformats.org/drawingml/2006/main">
            <a:off x="2942545" y="5421766"/>
            <a:ext cx="6306911" cy="210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Same bone plan; different shapes. Not to scale.</a:t>
            </a:r>
          </a:p>
        </p:txBody>
      </p:sp>
      <p:sp>
        <p:nvSpPr>
          <p:cNvPr id="46" name="Compare corresponding bones, not just the outline.  The inherite">
            <a:extLst xmlns:a="http://schemas.openxmlformats.org/drawingml/2006/main">
              <a:ext uri="{FF2B5EF4-FFF2-40B4-BE49-F238E27FC236}">
                <a16:creationId xmlns:a16="http://schemas.microsoft.com/office/drawing/2014/main" id="{CFB4AB8C-50F2-484A-A6F3-D8A429568C57}"/>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Compare corresponding bones, not just the outline. The inherited pattern can serve different functions.</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Shared origin is a stronger claim than “they look alike”.</a:t>
            </a:r>
          </a:p>
        </p:txBody>
      </p:sp>
    </p:spTree>
    <p:extLst>
      <p:ext uri="{BB962C8B-B14F-4D97-AF65-F5344CB8AC3E}">
        <p14:creationId xmlns:p14="http://schemas.microsoft.com/office/powerpoint/2010/main" val="16554968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urface">
            <a:extLst xmlns:a="http://schemas.openxmlformats.org/drawingml/2006/main">
              <a:ext uri="{FF2B5EF4-FFF2-40B4-BE49-F238E27FC236}">
                <a16:creationId xmlns:a16="http://schemas.microsoft.com/office/drawing/2014/main" id="{94963B62-D5F2-461C-AC86-82CB4188D32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0C0DCF6-B288-4216-9E51-189C61B138D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47A1A0D-B201-4668-977C-23FCFB029E9A}"/>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C4FE5E45-59BD-401A-A634-6A8C320A7890}"/>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D331EEF2-8B24-43D0-880E-FB38A25258F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3 min">
            <a:extLst xmlns:a="http://schemas.openxmlformats.org/drawingml/2006/main">
              <a:ext uri="{FF2B5EF4-FFF2-40B4-BE49-F238E27FC236}">
                <a16:creationId xmlns:a16="http://schemas.microsoft.com/office/drawing/2014/main" id="{868992F5-94BA-4A23-8BCD-5042C0886EC5}"/>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Read the DNA graph carefully">
            <a:extLst xmlns:a="http://schemas.openxmlformats.org/drawingml/2006/main">
              <a:ext uri="{FF2B5EF4-FFF2-40B4-BE49-F238E27FC236}">
                <a16:creationId xmlns:a16="http://schemas.microsoft.com/office/drawing/2014/main" id="{977F1C2E-7354-4E00-AD64-8550D92B8BA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Read the DNA graph carefully</a:t>
            </a:r>
          </a:p>
        </p:txBody>
      </p:sp>
      <p:sp>
        <p:nvSpPr>
          <p:cNvPr id="8" name="surface">
            <a:extLst xmlns:a="http://schemas.openxmlformats.org/drawingml/2006/main">
              <a:ext uri="{FF2B5EF4-FFF2-40B4-BE49-F238E27FC236}">
                <a16:creationId xmlns:a16="http://schemas.microsoft.com/office/drawing/2014/main" id="{82FDAE2B-B6BD-4598-9E58-03FFC955A0D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Evolution: build the evidence case">
            <a:extLst xmlns:a="http://schemas.openxmlformats.org/drawingml/2006/main">
              <a:ext uri="{FF2B5EF4-FFF2-40B4-BE49-F238E27FC236}">
                <a16:creationId xmlns:a16="http://schemas.microsoft.com/office/drawing/2014/main" id="{D2024CAB-6E13-413C-A816-4625FB787FA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10" name="5 / 15">
            <a:extLst xmlns:a="http://schemas.openxmlformats.org/drawingml/2006/main">
              <a:ext uri="{FF2B5EF4-FFF2-40B4-BE49-F238E27FC236}">
                <a16:creationId xmlns:a16="http://schemas.microsoft.com/office/drawing/2014/main" id="{946FA33C-74CC-4A53-BC70-5D095E807B4A}"/>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15</a:t>
            </a:r>
          </a:p>
        </p:txBody>
      </p:sp>
      <p:sp>
        <p:nvSpPr>
          <p:cNvPr id="11" name="Diagram label: Constructed sample data: DNA compared with Q">
            <a:extLst xmlns:a="http://schemas.openxmlformats.org/drawingml/2006/main">
              <a:ext uri="{FF2B5EF4-FFF2-40B4-BE49-F238E27FC236}">
                <a16:creationId xmlns:a16="http://schemas.microsoft.com/office/drawing/2014/main" id="{5F419A36-883D-4E6B-BBF3-CD091DF5855F}"/>
              </a:ext>
            </a:extLst>
          </p:cNvPr>
          <p:cNvSpPr>
            <a:spLocks xmlns:a="http://schemas.openxmlformats.org/drawingml/2006/main" noGrp="1"/>
          </p:cNvSpPr>
          <p:nvPr/>
        </p:nvSpPr>
        <p:spPr>
          <a:xfrm xmlns:a="http://schemas.openxmlformats.org/drawingml/2006/main">
            <a:off x="2837429" y="1988004"/>
            <a:ext cx="651714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00" b="1">
                <a:solidFill>
                  <a:srgbClr val="1F2937"/>
                </a:solidFill>
                <a:latin typeface="Nimbus Sans"/>
                <a:ea typeface="Nimbus Sans"/>
                <a:cs typeface="Nimbus Sans"/>
              </a:defRPr>
            </a:pPr>
            <a:r>
              <a:rPr sz="1600" b="1">
                <a:solidFill>
                  <a:srgbClr val="1F2937"/>
                </a:solidFill>
                <a:latin typeface="Nimbus Sans"/>
                <a:ea typeface="Nimbus Sans"/>
                <a:cs typeface="Nimbus Sans"/>
              </a:rPr>
              <a:t>Constructed sample data: DNA compared with Q</a:t>
            </a:r>
          </a:p>
        </p:txBody>
      </p:sp>
      <p:sp>
        <p:nvSpPr>
          <p:cNvPr id="12" name="Diagram label: Differences in the same aligned 100 DNA positions">
            <a:extLst xmlns:a="http://schemas.openxmlformats.org/drawingml/2006/main">
              <a:ext uri="{FF2B5EF4-FFF2-40B4-BE49-F238E27FC236}">
                <a16:creationId xmlns:a16="http://schemas.microsoft.com/office/drawing/2014/main" id="{2D33D15F-D9E0-4A8B-B96C-47AE092D5AD1}"/>
              </a:ext>
            </a:extLst>
          </p:cNvPr>
          <p:cNvSpPr>
            <a:spLocks xmlns:a="http://schemas.openxmlformats.org/drawingml/2006/main" noGrp="1"/>
          </p:cNvSpPr>
          <p:nvPr/>
        </p:nvSpPr>
        <p:spPr>
          <a:xfrm xmlns:a="http://schemas.openxmlformats.org/drawingml/2006/main">
            <a:off x="2837429" y="2303349"/>
            <a:ext cx="651714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Differences in the same aligned 100 DNA positions</a:t>
            </a:r>
          </a:p>
        </p:txBody>
      </p:sp>
      <p:sp>
        <p:nvSpPr>
          <p:cNvPr id="13" name="Diagram line">
            <a:extLst xmlns:a="http://schemas.openxmlformats.org/drawingml/2006/main">
              <a:ext uri="{FF2B5EF4-FFF2-40B4-BE49-F238E27FC236}">
                <a16:creationId xmlns:a16="http://schemas.microsoft.com/office/drawing/2014/main" id="{376CA39B-C132-4FD4-A058-25CB7F9C1E48}"/>
              </a:ext>
            </a:extLst>
          </p:cNvPr>
          <p:cNvSpPr>
            <a:spLocks xmlns:a="http://schemas.openxmlformats.org/drawingml/2006/main" noGrp="1"/>
          </p:cNvSpPr>
          <p:nvPr/>
        </p:nvSpPr>
        <p:spPr>
          <a:xfrm xmlns:a="http://schemas.openxmlformats.org/drawingml/2006/main" flipH="0" flipV="0">
            <a:off x="4203927" y="4826113"/>
            <a:ext cx="4695145" cy="953"/>
          </a:xfrm>
          <a:prstGeom xmlns:a="http://schemas.openxmlformats.org/drawingml/2006/main" prst="line">
            <a:avLst/>
          </a:prstGeom>
          <a:noFill xmlns:a="http://schemas.openxmlformats.org/drawingml/2006/main"/>
          <a:ln xmlns:a="http://schemas.openxmlformats.org/drawingml/2006/main" w="28031">
            <a:solidFill>
              <a:srgbClr val="1F2937"/>
            </a:solidFill>
          </a:ln>
        </p:spPr>
      </p:sp>
      <p:sp>
        <p:nvSpPr>
          <p:cNvPr id="14" name="Diagram line">
            <a:extLst xmlns:a="http://schemas.openxmlformats.org/drawingml/2006/main">
              <a:ext uri="{FF2B5EF4-FFF2-40B4-BE49-F238E27FC236}">
                <a16:creationId xmlns:a16="http://schemas.microsoft.com/office/drawing/2014/main" id="{486AD5E7-C119-434B-BA85-B43069C01095}"/>
              </a:ext>
            </a:extLst>
          </p:cNvPr>
          <p:cNvSpPr>
            <a:spLocks xmlns:a="http://schemas.openxmlformats.org/drawingml/2006/main" noGrp="1"/>
          </p:cNvSpPr>
          <p:nvPr/>
        </p:nvSpPr>
        <p:spPr>
          <a:xfrm xmlns:a="http://schemas.openxmlformats.org/drawingml/2006/main" flipH="0" flipV="0">
            <a:off x="4203927" y="2758848"/>
            <a:ext cx="953" cy="2067265"/>
          </a:xfrm>
          <a:prstGeom xmlns:a="http://schemas.openxmlformats.org/drawingml/2006/main" prst="line">
            <a:avLst/>
          </a:prstGeom>
          <a:noFill xmlns:a="http://schemas.openxmlformats.org/drawingml/2006/main"/>
          <a:ln xmlns:a="http://schemas.openxmlformats.org/drawingml/2006/main" w="28031">
            <a:solidFill>
              <a:srgbClr val="1F2937"/>
            </a:solidFill>
          </a:ln>
        </p:spPr>
      </p:sp>
      <p:sp>
        <p:nvSpPr>
          <p:cNvPr id="15" name="Diagram line">
            <a:extLst xmlns:a="http://schemas.openxmlformats.org/drawingml/2006/main">
              <a:ext uri="{FF2B5EF4-FFF2-40B4-BE49-F238E27FC236}">
                <a16:creationId xmlns:a16="http://schemas.microsoft.com/office/drawing/2014/main" id="{6F2D824D-A708-4D5C-847E-9B1AB760D552}"/>
              </a:ext>
            </a:extLst>
          </p:cNvPr>
          <p:cNvSpPr>
            <a:spLocks xmlns:a="http://schemas.openxmlformats.org/drawingml/2006/main" noGrp="1"/>
          </p:cNvSpPr>
          <p:nvPr/>
        </p:nvSpPr>
        <p:spPr>
          <a:xfrm xmlns:a="http://schemas.openxmlformats.org/drawingml/2006/main" flipH="0" flipV="0">
            <a:off x="4203927" y="4826113"/>
            <a:ext cx="953" cy="91100"/>
          </a:xfrm>
          <a:prstGeom xmlns:a="http://schemas.openxmlformats.org/drawingml/2006/main" prst="line">
            <a:avLst/>
          </a:prstGeom>
          <a:noFill xmlns:a="http://schemas.openxmlformats.org/drawingml/2006/main"/>
          <a:ln xmlns:a="http://schemas.openxmlformats.org/drawingml/2006/main" w="28031">
            <a:solidFill>
              <a:srgbClr val="1F2937"/>
            </a:solidFill>
          </a:ln>
        </p:spPr>
      </p:sp>
      <p:sp>
        <p:nvSpPr>
          <p:cNvPr id="16" name="Diagram label: 0">
            <a:extLst xmlns:a="http://schemas.openxmlformats.org/drawingml/2006/main">
              <a:ext uri="{FF2B5EF4-FFF2-40B4-BE49-F238E27FC236}">
                <a16:creationId xmlns:a16="http://schemas.microsoft.com/office/drawing/2014/main" id="{528C0C0C-41C1-42CB-BF47-06F982E3A665}"/>
              </a:ext>
            </a:extLst>
          </p:cNvPr>
          <p:cNvSpPr>
            <a:spLocks xmlns:a="http://schemas.openxmlformats.org/drawingml/2006/main" noGrp="1"/>
          </p:cNvSpPr>
          <p:nvPr/>
        </p:nvSpPr>
        <p:spPr>
          <a:xfrm xmlns:a="http://schemas.openxmlformats.org/drawingml/2006/main">
            <a:off x="3993696" y="5001305"/>
            <a:ext cx="420461"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0</a:t>
            </a:r>
          </a:p>
        </p:txBody>
      </p:sp>
      <p:sp>
        <p:nvSpPr>
          <p:cNvPr id="17" name="Diagram line">
            <a:extLst xmlns:a="http://schemas.openxmlformats.org/drawingml/2006/main">
              <a:ext uri="{FF2B5EF4-FFF2-40B4-BE49-F238E27FC236}">
                <a16:creationId xmlns:a16="http://schemas.microsoft.com/office/drawing/2014/main" id="{39067A60-1F46-434F-8E63-2744DF1096A2}"/>
              </a:ext>
            </a:extLst>
          </p:cNvPr>
          <p:cNvSpPr>
            <a:spLocks xmlns:a="http://schemas.openxmlformats.org/drawingml/2006/main" noGrp="1"/>
          </p:cNvSpPr>
          <p:nvPr/>
        </p:nvSpPr>
        <p:spPr>
          <a:xfrm xmlns:a="http://schemas.openxmlformats.org/drawingml/2006/main" flipH="0" flipV="0">
            <a:off x="5079887" y="4826113"/>
            <a:ext cx="953" cy="91100"/>
          </a:xfrm>
          <a:prstGeom xmlns:a="http://schemas.openxmlformats.org/drawingml/2006/main" prst="line">
            <a:avLst/>
          </a:prstGeom>
          <a:noFill xmlns:a="http://schemas.openxmlformats.org/drawingml/2006/main"/>
          <a:ln xmlns:a="http://schemas.openxmlformats.org/drawingml/2006/main" w="28031">
            <a:solidFill>
              <a:srgbClr val="1F2937"/>
            </a:solidFill>
          </a:ln>
        </p:spPr>
      </p:sp>
      <p:sp>
        <p:nvSpPr>
          <p:cNvPr id="18" name="Diagram label: 5">
            <a:extLst xmlns:a="http://schemas.openxmlformats.org/drawingml/2006/main">
              <a:ext uri="{FF2B5EF4-FFF2-40B4-BE49-F238E27FC236}">
                <a16:creationId xmlns:a16="http://schemas.microsoft.com/office/drawing/2014/main" id="{BBA3B15C-B2A6-44C7-AC43-DC9AC937FE68}"/>
              </a:ext>
            </a:extLst>
          </p:cNvPr>
          <p:cNvSpPr>
            <a:spLocks xmlns:a="http://schemas.openxmlformats.org/drawingml/2006/main" noGrp="1"/>
          </p:cNvSpPr>
          <p:nvPr/>
        </p:nvSpPr>
        <p:spPr>
          <a:xfrm xmlns:a="http://schemas.openxmlformats.org/drawingml/2006/main">
            <a:off x="4869656" y="5001305"/>
            <a:ext cx="420461"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5</a:t>
            </a:r>
          </a:p>
        </p:txBody>
      </p:sp>
      <p:sp>
        <p:nvSpPr>
          <p:cNvPr id="19" name="Diagram line">
            <a:extLst xmlns:a="http://schemas.openxmlformats.org/drawingml/2006/main">
              <a:ext uri="{FF2B5EF4-FFF2-40B4-BE49-F238E27FC236}">
                <a16:creationId xmlns:a16="http://schemas.microsoft.com/office/drawing/2014/main" id="{7DDCC33C-78E8-435E-A3EC-53186A642BD8}"/>
              </a:ext>
            </a:extLst>
          </p:cNvPr>
          <p:cNvSpPr>
            <a:spLocks xmlns:a="http://schemas.openxmlformats.org/drawingml/2006/main" noGrp="1"/>
          </p:cNvSpPr>
          <p:nvPr/>
        </p:nvSpPr>
        <p:spPr>
          <a:xfrm xmlns:a="http://schemas.openxmlformats.org/drawingml/2006/main" flipH="0" flipV="0">
            <a:off x="5955846" y="4826113"/>
            <a:ext cx="953" cy="91100"/>
          </a:xfrm>
          <a:prstGeom xmlns:a="http://schemas.openxmlformats.org/drawingml/2006/main" prst="line">
            <a:avLst/>
          </a:prstGeom>
          <a:noFill xmlns:a="http://schemas.openxmlformats.org/drawingml/2006/main"/>
          <a:ln xmlns:a="http://schemas.openxmlformats.org/drawingml/2006/main" w="28031">
            <a:solidFill>
              <a:srgbClr val="1F2937"/>
            </a:solidFill>
          </a:ln>
        </p:spPr>
      </p:sp>
      <p:sp>
        <p:nvSpPr>
          <p:cNvPr id="20" name="Diagram label: 10">
            <a:extLst xmlns:a="http://schemas.openxmlformats.org/drawingml/2006/main">
              <a:ext uri="{FF2B5EF4-FFF2-40B4-BE49-F238E27FC236}">
                <a16:creationId xmlns:a16="http://schemas.microsoft.com/office/drawing/2014/main" id="{B127C5EF-88CC-49CE-89C0-C97B8B270F2C}"/>
              </a:ext>
            </a:extLst>
          </p:cNvPr>
          <p:cNvSpPr>
            <a:spLocks xmlns:a="http://schemas.openxmlformats.org/drawingml/2006/main" noGrp="1"/>
          </p:cNvSpPr>
          <p:nvPr/>
        </p:nvSpPr>
        <p:spPr>
          <a:xfrm xmlns:a="http://schemas.openxmlformats.org/drawingml/2006/main">
            <a:off x="5745616" y="5001305"/>
            <a:ext cx="420461"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10</a:t>
            </a:r>
          </a:p>
        </p:txBody>
      </p:sp>
      <p:sp>
        <p:nvSpPr>
          <p:cNvPr id="21" name="Diagram line">
            <a:extLst xmlns:a="http://schemas.openxmlformats.org/drawingml/2006/main">
              <a:ext uri="{FF2B5EF4-FFF2-40B4-BE49-F238E27FC236}">
                <a16:creationId xmlns:a16="http://schemas.microsoft.com/office/drawing/2014/main" id="{3108C12C-D80C-40C1-84D6-E9C2AADC71D5}"/>
              </a:ext>
            </a:extLst>
          </p:cNvPr>
          <p:cNvSpPr>
            <a:spLocks xmlns:a="http://schemas.openxmlformats.org/drawingml/2006/main" noGrp="1"/>
          </p:cNvSpPr>
          <p:nvPr/>
        </p:nvSpPr>
        <p:spPr>
          <a:xfrm xmlns:a="http://schemas.openxmlformats.org/drawingml/2006/main" flipH="0" flipV="0">
            <a:off x="6831806" y="4826113"/>
            <a:ext cx="953" cy="91100"/>
          </a:xfrm>
          <a:prstGeom xmlns:a="http://schemas.openxmlformats.org/drawingml/2006/main" prst="line">
            <a:avLst/>
          </a:prstGeom>
          <a:noFill xmlns:a="http://schemas.openxmlformats.org/drawingml/2006/main"/>
          <a:ln xmlns:a="http://schemas.openxmlformats.org/drawingml/2006/main" w="28031">
            <a:solidFill>
              <a:srgbClr val="1F2937"/>
            </a:solidFill>
          </a:ln>
        </p:spPr>
      </p:sp>
      <p:sp>
        <p:nvSpPr>
          <p:cNvPr id="22" name="Diagram label: 15">
            <a:extLst xmlns:a="http://schemas.openxmlformats.org/drawingml/2006/main">
              <a:ext uri="{FF2B5EF4-FFF2-40B4-BE49-F238E27FC236}">
                <a16:creationId xmlns:a16="http://schemas.microsoft.com/office/drawing/2014/main" id="{8EEE1852-EFB6-47C4-B6BD-E4BC8874AF4F}"/>
              </a:ext>
            </a:extLst>
          </p:cNvPr>
          <p:cNvSpPr>
            <a:spLocks xmlns:a="http://schemas.openxmlformats.org/drawingml/2006/main" noGrp="1"/>
          </p:cNvSpPr>
          <p:nvPr/>
        </p:nvSpPr>
        <p:spPr>
          <a:xfrm xmlns:a="http://schemas.openxmlformats.org/drawingml/2006/main">
            <a:off x="6621576" y="5001305"/>
            <a:ext cx="420461"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15</a:t>
            </a:r>
          </a:p>
        </p:txBody>
      </p:sp>
      <p:sp>
        <p:nvSpPr>
          <p:cNvPr id="23" name="Diagram line">
            <a:extLst xmlns:a="http://schemas.openxmlformats.org/drawingml/2006/main">
              <a:ext uri="{FF2B5EF4-FFF2-40B4-BE49-F238E27FC236}">
                <a16:creationId xmlns:a16="http://schemas.microsoft.com/office/drawing/2014/main" id="{BFBF978F-2567-4AF3-9ED6-21E0E9DC2FF6}"/>
              </a:ext>
            </a:extLst>
          </p:cNvPr>
          <p:cNvSpPr>
            <a:spLocks xmlns:a="http://schemas.openxmlformats.org/drawingml/2006/main" noGrp="1"/>
          </p:cNvSpPr>
          <p:nvPr/>
        </p:nvSpPr>
        <p:spPr>
          <a:xfrm xmlns:a="http://schemas.openxmlformats.org/drawingml/2006/main" flipH="0" flipV="0">
            <a:off x="7707766" y="4826113"/>
            <a:ext cx="953" cy="91100"/>
          </a:xfrm>
          <a:prstGeom xmlns:a="http://schemas.openxmlformats.org/drawingml/2006/main" prst="line">
            <a:avLst/>
          </a:prstGeom>
          <a:noFill xmlns:a="http://schemas.openxmlformats.org/drawingml/2006/main"/>
          <a:ln xmlns:a="http://schemas.openxmlformats.org/drawingml/2006/main" w="28031">
            <a:solidFill>
              <a:srgbClr val="1F2937"/>
            </a:solidFill>
          </a:ln>
        </p:spPr>
      </p:sp>
      <p:sp>
        <p:nvSpPr>
          <p:cNvPr id="24" name="Diagram label: 20">
            <a:extLst xmlns:a="http://schemas.openxmlformats.org/drawingml/2006/main">
              <a:ext uri="{FF2B5EF4-FFF2-40B4-BE49-F238E27FC236}">
                <a16:creationId xmlns:a16="http://schemas.microsoft.com/office/drawing/2014/main" id="{49631659-DADC-49EE-A93B-92F4844F54AE}"/>
              </a:ext>
            </a:extLst>
          </p:cNvPr>
          <p:cNvSpPr>
            <a:spLocks xmlns:a="http://schemas.openxmlformats.org/drawingml/2006/main" noGrp="1"/>
          </p:cNvSpPr>
          <p:nvPr/>
        </p:nvSpPr>
        <p:spPr>
          <a:xfrm xmlns:a="http://schemas.openxmlformats.org/drawingml/2006/main">
            <a:off x="7497536" y="5001305"/>
            <a:ext cx="420461"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20</a:t>
            </a:r>
          </a:p>
        </p:txBody>
      </p:sp>
      <p:sp>
        <p:nvSpPr>
          <p:cNvPr id="25" name="Diagram line">
            <a:extLst xmlns:a="http://schemas.openxmlformats.org/drawingml/2006/main">
              <a:ext uri="{FF2B5EF4-FFF2-40B4-BE49-F238E27FC236}">
                <a16:creationId xmlns:a16="http://schemas.microsoft.com/office/drawing/2014/main" id="{3F13838A-E0E0-4488-9487-E3FF53DB3140}"/>
              </a:ext>
            </a:extLst>
          </p:cNvPr>
          <p:cNvSpPr>
            <a:spLocks xmlns:a="http://schemas.openxmlformats.org/drawingml/2006/main" noGrp="1"/>
          </p:cNvSpPr>
          <p:nvPr/>
        </p:nvSpPr>
        <p:spPr>
          <a:xfrm xmlns:a="http://schemas.openxmlformats.org/drawingml/2006/main" flipH="0" flipV="0">
            <a:off x="8583726" y="4826113"/>
            <a:ext cx="953" cy="91100"/>
          </a:xfrm>
          <a:prstGeom xmlns:a="http://schemas.openxmlformats.org/drawingml/2006/main" prst="line">
            <a:avLst/>
          </a:prstGeom>
          <a:noFill xmlns:a="http://schemas.openxmlformats.org/drawingml/2006/main"/>
          <a:ln xmlns:a="http://schemas.openxmlformats.org/drawingml/2006/main" w="28031">
            <a:solidFill>
              <a:srgbClr val="1F2937"/>
            </a:solidFill>
          </a:ln>
        </p:spPr>
      </p:sp>
      <p:sp>
        <p:nvSpPr>
          <p:cNvPr id="26" name="Diagram label: 25">
            <a:extLst xmlns:a="http://schemas.openxmlformats.org/drawingml/2006/main">
              <a:ext uri="{FF2B5EF4-FFF2-40B4-BE49-F238E27FC236}">
                <a16:creationId xmlns:a16="http://schemas.microsoft.com/office/drawing/2014/main" id="{39754E82-4A3C-40DA-BE91-11F4BD28758D}"/>
              </a:ext>
            </a:extLst>
          </p:cNvPr>
          <p:cNvSpPr>
            <a:spLocks xmlns:a="http://schemas.openxmlformats.org/drawingml/2006/main" noGrp="1"/>
          </p:cNvSpPr>
          <p:nvPr/>
        </p:nvSpPr>
        <p:spPr>
          <a:xfrm xmlns:a="http://schemas.openxmlformats.org/drawingml/2006/main">
            <a:off x="8373496" y="5001305"/>
            <a:ext cx="420461"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25</a:t>
            </a:r>
          </a:p>
        </p:txBody>
      </p:sp>
      <p:sp>
        <p:nvSpPr>
          <p:cNvPr id="27" name="Diagram label: A">
            <a:extLst xmlns:a="http://schemas.openxmlformats.org/drawingml/2006/main">
              <a:ext uri="{FF2B5EF4-FFF2-40B4-BE49-F238E27FC236}">
                <a16:creationId xmlns:a16="http://schemas.microsoft.com/office/drawing/2014/main" id="{3DAF7B29-0833-4EAD-9C2C-AA99DD56970F}"/>
              </a:ext>
            </a:extLst>
          </p:cNvPr>
          <p:cNvSpPr>
            <a:spLocks xmlns:a="http://schemas.openxmlformats.org/drawingml/2006/main" noGrp="1"/>
          </p:cNvSpPr>
          <p:nvPr/>
        </p:nvSpPr>
        <p:spPr>
          <a:xfrm xmlns:a="http://schemas.openxmlformats.org/drawingml/2006/main">
            <a:off x="3222852" y="2934040"/>
            <a:ext cx="735806"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A</a:t>
            </a:r>
          </a:p>
        </p:txBody>
      </p:sp>
      <p:sp>
        <p:nvSpPr>
          <p:cNvPr id="28" name="Editable scientific diagram">
            <a:extLst xmlns:a="http://schemas.openxmlformats.org/drawingml/2006/main">
              <a:ext uri="{FF2B5EF4-FFF2-40B4-BE49-F238E27FC236}">
                <a16:creationId xmlns:a16="http://schemas.microsoft.com/office/drawing/2014/main" id="{4A6F931D-A5B7-49B8-9478-DEFDF7399672}"/>
              </a:ext>
            </a:extLst>
          </p:cNvPr>
          <p:cNvSpPr>
            <a:spLocks xmlns:a="http://schemas.openxmlformats.org/drawingml/2006/main" noGrp="1"/>
          </p:cNvSpPr>
          <p:nvPr/>
        </p:nvSpPr>
        <p:spPr>
          <a:xfrm xmlns:a="http://schemas.openxmlformats.org/drawingml/2006/main">
            <a:off x="4203927" y="2934040"/>
            <a:ext cx="350384" cy="350384"/>
          </a:xfrm>
          <a:prstGeom xmlns:a="http://schemas.openxmlformats.org/drawingml/2006/main" prst="rect">
            <a:avLst/>
          </a:prstGeom>
          <a:solidFill xmlns:a="http://schemas.openxmlformats.org/drawingml/2006/main">
            <a:srgbClr val="7A5C9E"/>
          </a:solidFill>
          <a:ln xmlns:a="http://schemas.openxmlformats.org/drawingml/2006/main" w="21023">
            <a:solidFill>
              <a:srgbClr val="7A5C9E"/>
            </a:solidFill>
          </a:ln>
        </p:spPr>
      </p:sp>
      <p:sp>
        <p:nvSpPr>
          <p:cNvPr id="29" name="Diagram label: 2">
            <a:extLst xmlns:a="http://schemas.openxmlformats.org/drawingml/2006/main">
              <a:ext uri="{FF2B5EF4-FFF2-40B4-BE49-F238E27FC236}">
                <a16:creationId xmlns:a16="http://schemas.microsoft.com/office/drawing/2014/main" id="{B602DDE0-942E-4B01-B316-E89335F11064}"/>
              </a:ext>
            </a:extLst>
          </p:cNvPr>
          <p:cNvSpPr>
            <a:spLocks xmlns:a="http://schemas.openxmlformats.org/drawingml/2006/main" noGrp="1"/>
          </p:cNvSpPr>
          <p:nvPr/>
        </p:nvSpPr>
        <p:spPr>
          <a:xfrm xmlns:a="http://schemas.openxmlformats.org/drawingml/2006/main">
            <a:off x="4694464" y="2934040"/>
            <a:ext cx="490538"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2</a:t>
            </a:r>
          </a:p>
        </p:txBody>
      </p:sp>
      <p:sp>
        <p:nvSpPr>
          <p:cNvPr id="30" name="Diagram label: B">
            <a:extLst xmlns:a="http://schemas.openxmlformats.org/drawingml/2006/main">
              <a:ext uri="{FF2B5EF4-FFF2-40B4-BE49-F238E27FC236}">
                <a16:creationId xmlns:a16="http://schemas.microsoft.com/office/drawing/2014/main" id="{CCC5FEBD-8050-449A-932B-48747716D550}"/>
              </a:ext>
            </a:extLst>
          </p:cNvPr>
          <p:cNvSpPr>
            <a:spLocks xmlns:a="http://schemas.openxmlformats.org/drawingml/2006/main" noGrp="1"/>
          </p:cNvSpPr>
          <p:nvPr/>
        </p:nvSpPr>
        <p:spPr>
          <a:xfrm xmlns:a="http://schemas.openxmlformats.org/drawingml/2006/main">
            <a:off x="3222852" y="3529693"/>
            <a:ext cx="735806"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B</a:t>
            </a:r>
          </a:p>
        </p:txBody>
      </p:sp>
      <p:sp>
        <p:nvSpPr>
          <p:cNvPr id="31" name="Editable scientific diagram">
            <a:extLst xmlns:a="http://schemas.openxmlformats.org/drawingml/2006/main">
              <a:ext uri="{FF2B5EF4-FFF2-40B4-BE49-F238E27FC236}">
                <a16:creationId xmlns:a16="http://schemas.microsoft.com/office/drawing/2014/main" id="{C0EF6B97-32EA-4A83-9826-77917AB6875F}"/>
              </a:ext>
            </a:extLst>
          </p:cNvPr>
          <p:cNvSpPr>
            <a:spLocks xmlns:a="http://schemas.openxmlformats.org/drawingml/2006/main" noGrp="1"/>
          </p:cNvSpPr>
          <p:nvPr/>
        </p:nvSpPr>
        <p:spPr>
          <a:xfrm xmlns:a="http://schemas.openxmlformats.org/drawingml/2006/main">
            <a:off x="4203927" y="3529693"/>
            <a:ext cx="1927112" cy="350384"/>
          </a:xfrm>
          <a:prstGeom xmlns:a="http://schemas.openxmlformats.org/drawingml/2006/main" prst="rect">
            <a:avLst/>
          </a:prstGeom>
          <a:solidFill xmlns:a="http://schemas.openxmlformats.org/drawingml/2006/main">
            <a:srgbClr val="7A5C9E"/>
          </a:solidFill>
          <a:ln xmlns:a="http://schemas.openxmlformats.org/drawingml/2006/main" w="21023">
            <a:solidFill>
              <a:srgbClr val="7A5C9E"/>
            </a:solidFill>
          </a:ln>
        </p:spPr>
      </p:sp>
      <p:sp>
        <p:nvSpPr>
          <p:cNvPr id="32" name="Diagram label: 11">
            <a:extLst xmlns:a="http://schemas.openxmlformats.org/drawingml/2006/main">
              <a:ext uri="{FF2B5EF4-FFF2-40B4-BE49-F238E27FC236}">
                <a16:creationId xmlns:a16="http://schemas.microsoft.com/office/drawing/2014/main" id="{E9EC1752-953B-40BE-957B-700754CCDF81}"/>
              </a:ext>
            </a:extLst>
          </p:cNvPr>
          <p:cNvSpPr>
            <a:spLocks xmlns:a="http://schemas.openxmlformats.org/drawingml/2006/main" noGrp="1"/>
          </p:cNvSpPr>
          <p:nvPr/>
        </p:nvSpPr>
        <p:spPr>
          <a:xfrm xmlns:a="http://schemas.openxmlformats.org/drawingml/2006/main">
            <a:off x="6271192" y="3529693"/>
            <a:ext cx="490538"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11</a:t>
            </a:r>
          </a:p>
        </p:txBody>
      </p:sp>
      <p:sp>
        <p:nvSpPr>
          <p:cNvPr id="33" name="Diagram label: C">
            <a:extLst xmlns:a="http://schemas.openxmlformats.org/drawingml/2006/main">
              <a:ext uri="{FF2B5EF4-FFF2-40B4-BE49-F238E27FC236}">
                <a16:creationId xmlns:a16="http://schemas.microsoft.com/office/drawing/2014/main" id="{F03AF53B-65E5-4238-914A-70EB27AC8B90}"/>
              </a:ext>
            </a:extLst>
          </p:cNvPr>
          <p:cNvSpPr>
            <a:spLocks xmlns:a="http://schemas.openxmlformats.org/drawingml/2006/main" noGrp="1"/>
          </p:cNvSpPr>
          <p:nvPr/>
        </p:nvSpPr>
        <p:spPr>
          <a:xfrm xmlns:a="http://schemas.openxmlformats.org/drawingml/2006/main">
            <a:off x="3222852" y="4125346"/>
            <a:ext cx="735806"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C</a:t>
            </a:r>
          </a:p>
        </p:txBody>
      </p:sp>
      <p:sp>
        <p:nvSpPr>
          <p:cNvPr id="34" name="Editable scientific diagram">
            <a:extLst xmlns:a="http://schemas.openxmlformats.org/drawingml/2006/main">
              <a:ext uri="{FF2B5EF4-FFF2-40B4-BE49-F238E27FC236}">
                <a16:creationId xmlns:a16="http://schemas.microsoft.com/office/drawing/2014/main" id="{D6AC2807-2D4A-4647-AD06-18F18C7ACD2B}"/>
              </a:ext>
            </a:extLst>
          </p:cNvPr>
          <p:cNvSpPr>
            <a:spLocks xmlns:a="http://schemas.openxmlformats.org/drawingml/2006/main" noGrp="1"/>
          </p:cNvSpPr>
          <p:nvPr/>
        </p:nvSpPr>
        <p:spPr>
          <a:xfrm xmlns:a="http://schemas.openxmlformats.org/drawingml/2006/main">
            <a:off x="4203927" y="4125346"/>
            <a:ext cx="4204607" cy="350384"/>
          </a:xfrm>
          <a:prstGeom xmlns:a="http://schemas.openxmlformats.org/drawingml/2006/main" prst="rect">
            <a:avLst/>
          </a:prstGeom>
          <a:solidFill xmlns:a="http://schemas.openxmlformats.org/drawingml/2006/main">
            <a:srgbClr val="7A5C9E"/>
          </a:solidFill>
          <a:ln xmlns:a="http://schemas.openxmlformats.org/drawingml/2006/main" w="21023">
            <a:solidFill>
              <a:srgbClr val="7A5C9E"/>
            </a:solidFill>
          </a:ln>
        </p:spPr>
      </p:sp>
      <p:sp>
        <p:nvSpPr>
          <p:cNvPr id="35" name="Diagram label: 24">
            <a:extLst xmlns:a="http://schemas.openxmlformats.org/drawingml/2006/main">
              <a:ext uri="{FF2B5EF4-FFF2-40B4-BE49-F238E27FC236}">
                <a16:creationId xmlns:a16="http://schemas.microsoft.com/office/drawing/2014/main" id="{61900D4C-F376-4B06-849B-3C3D9AD321CE}"/>
              </a:ext>
            </a:extLst>
          </p:cNvPr>
          <p:cNvSpPr>
            <a:spLocks xmlns:a="http://schemas.openxmlformats.org/drawingml/2006/main" noGrp="1"/>
          </p:cNvSpPr>
          <p:nvPr/>
        </p:nvSpPr>
        <p:spPr>
          <a:xfrm xmlns:a="http://schemas.openxmlformats.org/drawingml/2006/main">
            <a:off x="8548688" y="4125346"/>
            <a:ext cx="490538"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24</a:t>
            </a:r>
          </a:p>
        </p:txBody>
      </p:sp>
      <p:sp>
        <p:nvSpPr>
          <p:cNvPr id="36" name="Diagram label: Number of DNA differences">
            <a:extLst xmlns:a="http://schemas.openxmlformats.org/drawingml/2006/main">
              <a:ext uri="{FF2B5EF4-FFF2-40B4-BE49-F238E27FC236}">
                <a16:creationId xmlns:a16="http://schemas.microsoft.com/office/drawing/2014/main" id="{5F05F57E-49E2-4AE6-B185-BEBF166F9F42}"/>
              </a:ext>
            </a:extLst>
          </p:cNvPr>
          <p:cNvSpPr>
            <a:spLocks xmlns:a="http://schemas.openxmlformats.org/drawingml/2006/main" noGrp="1"/>
          </p:cNvSpPr>
          <p:nvPr/>
        </p:nvSpPr>
        <p:spPr>
          <a:xfrm xmlns:a="http://schemas.openxmlformats.org/drawingml/2006/main">
            <a:off x="4274004" y="5351689"/>
            <a:ext cx="4975452"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Number of DNA differences</a:t>
            </a:r>
          </a:p>
        </p:txBody>
      </p:sp>
      <p:sp>
        <p:nvSpPr>
          <p:cNvPr id="37" name="Name the quantity before making a claim.  Q and A differ at 2 of">
            <a:extLst xmlns:a="http://schemas.openxmlformats.org/drawingml/2006/main">
              <a:ext uri="{FF2B5EF4-FFF2-40B4-BE49-F238E27FC236}">
                <a16:creationId xmlns:a16="http://schemas.microsoft.com/office/drawing/2014/main" id="{B72C85EA-6064-4DE0-9495-EF06E787A056}"/>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Name the quantity before making a claim. Q and A differ at 2 of the 100 sampled positions. This supports</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closer relatedness than Q and C.</a:t>
            </a:r>
          </a:p>
        </p:txBody>
      </p:sp>
    </p:spTree>
    <p:extLst>
      <p:ext uri="{BB962C8B-B14F-4D97-AF65-F5344CB8AC3E}">
        <p14:creationId xmlns:p14="http://schemas.microsoft.com/office/powerpoint/2010/main" val="13173290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urface">
            <a:extLst xmlns:a="http://schemas.openxmlformats.org/drawingml/2006/main">
              <a:ext uri="{FF2B5EF4-FFF2-40B4-BE49-F238E27FC236}">
                <a16:creationId xmlns:a16="http://schemas.microsoft.com/office/drawing/2014/main" id="{DBBE11E9-13BA-48F6-9078-BF1599C10AC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3F49D56-B905-4EB1-875A-27D32B26DBC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80F8F4A1-205A-4E6E-A264-4753AE9498B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0068573D-303B-403D-BD38-4E682AF3096C}"/>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0CB148AF-2018-4607-83C8-7A0FD521EEF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Evolution branches">
            <a:extLst xmlns:a="http://schemas.openxmlformats.org/drawingml/2006/main">
              <a:ext uri="{FF2B5EF4-FFF2-40B4-BE49-F238E27FC236}">
                <a16:creationId xmlns:a16="http://schemas.microsoft.com/office/drawing/2014/main" id="{05838BB5-A86A-4E5E-956B-BC93C4CD3B7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Evolution branches</a:t>
            </a:r>
          </a:p>
        </p:txBody>
      </p:sp>
      <p:sp>
        <p:nvSpPr>
          <p:cNvPr id="7" name="surface">
            <a:extLst xmlns:a="http://schemas.openxmlformats.org/drawingml/2006/main">
              <a:ext uri="{FF2B5EF4-FFF2-40B4-BE49-F238E27FC236}">
                <a16:creationId xmlns:a16="http://schemas.microsoft.com/office/drawing/2014/main" id="{5E17D084-A955-4BEC-86D1-D70C86F75B0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Evolution: build the evidence case">
            <a:extLst xmlns:a="http://schemas.openxmlformats.org/drawingml/2006/main">
              <a:ext uri="{FF2B5EF4-FFF2-40B4-BE49-F238E27FC236}">
                <a16:creationId xmlns:a16="http://schemas.microsoft.com/office/drawing/2014/main" id="{BDD6BAF3-BADB-4227-BA82-FE2156740E3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9" name="6 / 15">
            <a:extLst xmlns:a="http://schemas.openxmlformats.org/drawingml/2006/main">
              <a:ext uri="{FF2B5EF4-FFF2-40B4-BE49-F238E27FC236}">
                <a16:creationId xmlns:a16="http://schemas.microsoft.com/office/drawing/2014/main" id="{1D53DBD1-9D6B-4FEB-AC37-6467DC709FA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15</a:t>
            </a:r>
          </a:p>
        </p:txBody>
      </p:sp>
      <p:sp>
        <p:nvSpPr>
          <p:cNvPr id="10" name="Diagram label: One possible relationship model">
            <a:extLst xmlns:a="http://schemas.openxmlformats.org/drawingml/2006/main">
              <a:ext uri="{FF2B5EF4-FFF2-40B4-BE49-F238E27FC236}">
                <a16:creationId xmlns:a16="http://schemas.microsoft.com/office/drawing/2014/main" id="{F4CE7CBD-2318-4472-8523-A6BFF7519B1B}"/>
              </a:ext>
            </a:extLst>
          </p:cNvPr>
          <p:cNvSpPr>
            <a:spLocks xmlns:a="http://schemas.openxmlformats.org/drawingml/2006/main" noGrp="1"/>
          </p:cNvSpPr>
          <p:nvPr/>
        </p:nvSpPr>
        <p:spPr>
          <a:xfrm xmlns:a="http://schemas.openxmlformats.org/drawingml/2006/main">
            <a:off x="2623882" y="1997188"/>
            <a:ext cx="6944235"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One possible relationship model</a:t>
            </a:r>
          </a:p>
        </p:txBody>
      </p:sp>
      <p:sp>
        <p:nvSpPr>
          <p:cNvPr id="11" name="Diagram line">
            <a:extLst xmlns:a="http://schemas.openxmlformats.org/drawingml/2006/main">
              <a:ext uri="{FF2B5EF4-FFF2-40B4-BE49-F238E27FC236}">
                <a16:creationId xmlns:a16="http://schemas.microsoft.com/office/drawing/2014/main" id="{A6DCCE63-4297-4E24-BFEB-BFA35AD0145A}"/>
              </a:ext>
            </a:extLst>
          </p:cNvPr>
          <p:cNvSpPr>
            <a:spLocks xmlns:a="http://schemas.openxmlformats.org/drawingml/2006/main" noGrp="1"/>
          </p:cNvSpPr>
          <p:nvPr/>
        </p:nvSpPr>
        <p:spPr>
          <a:xfrm xmlns:a="http://schemas.openxmlformats.org/drawingml/2006/main" flipH="0" flipV="0">
            <a:off x="3183901" y="4909287"/>
            <a:ext cx="1493384" cy="953"/>
          </a:xfrm>
          <a:prstGeom xmlns:a="http://schemas.openxmlformats.org/drawingml/2006/main" prst="line">
            <a:avLst/>
          </a:prstGeom>
          <a:noFill xmlns:a="http://schemas.openxmlformats.org/drawingml/2006/main"/>
          <a:ln xmlns:a="http://schemas.openxmlformats.org/drawingml/2006/main" w="37335">
            <a:solidFill>
              <a:srgbClr val="7A5C9E"/>
            </a:solidFill>
          </a:ln>
        </p:spPr>
      </p:sp>
      <p:sp>
        <p:nvSpPr>
          <p:cNvPr id="12" name="Diagram line">
            <a:extLst xmlns:a="http://schemas.openxmlformats.org/drawingml/2006/main">
              <a:ext uri="{FF2B5EF4-FFF2-40B4-BE49-F238E27FC236}">
                <a16:creationId xmlns:a16="http://schemas.microsoft.com/office/drawing/2014/main" id="{13BFA1A0-280A-458E-92A4-50CBE65A5A74}"/>
              </a:ext>
            </a:extLst>
          </p:cNvPr>
          <p:cNvSpPr>
            <a:spLocks xmlns:a="http://schemas.openxmlformats.org/drawingml/2006/main" noGrp="1"/>
          </p:cNvSpPr>
          <p:nvPr/>
        </p:nvSpPr>
        <p:spPr>
          <a:xfrm xmlns:a="http://schemas.openxmlformats.org/drawingml/2006/main" flipH="0" flipV="1">
            <a:off x="4677285" y="2855884"/>
            <a:ext cx="953" cy="2053403"/>
          </a:xfrm>
          <a:prstGeom xmlns:a="http://schemas.openxmlformats.org/drawingml/2006/main" prst="line">
            <a:avLst/>
          </a:prstGeom>
          <a:noFill xmlns:a="http://schemas.openxmlformats.org/drawingml/2006/main"/>
          <a:ln xmlns:a="http://schemas.openxmlformats.org/drawingml/2006/main" w="37335">
            <a:solidFill>
              <a:srgbClr val="7A5C9E"/>
            </a:solidFill>
          </a:ln>
        </p:spPr>
      </p:sp>
      <p:sp>
        <p:nvSpPr>
          <p:cNvPr id="13" name="Diagram line">
            <a:extLst xmlns:a="http://schemas.openxmlformats.org/drawingml/2006/main">
              <a:ext uri="{FF2B5EF4-FFF2-40B4-BE49-F238E27FC236}">
                <a16:creationId xmlns:a16="http://schemas.microsoft.com/office/drawing/2014/main" id="{E5D83B56-F94E-4CAC-AE3E-7FE53CC5F6FC}"/>
              </a:ext>
            </a:extLst>
          </p:cNvPr>
          <p:cNvSpPr>
            <a:spLocks xmlns:a="http://schemas.openxmlformats.org/drawingml/2006/main" noGrp="1"/>
          </p:cNvSpPr>
          <p:nvPr/>
        </p:nvSpPr>
        <p:spPr>
          <a:xfrm xmlns:a="http://schemas.openxmlformats.org/drawingml/2006/main" flipH="0" flipV="0">
            <a:off x="4677285" y="2855884"/>
            <a:ext cx="1866730" cy="953"/>
          </a:xfrm>
          <a:prstGeom xmlns:a="http://schemas.openxmlformats.org/drawingml/2006/main" prst="line">
            <a:avLst/>
          </a:prstGeom>
          <a:noFill xmlns:a="http://schemas.openxmlformats.org/drawingml/2006/main"/>
          <a:ln xmlns:a="http://schemas.openxmlformats.org/drawingml/2006/main" w="37335">
            <a:solidFill>
              <a:srgbClr val="7A5C9E"/>
            </a:solidFill>
          </a:ln>
        </p:spPr>
      </p:sp>
      <p:sp>
        <p:nvSpPr>
          <p:cNvPr id="14" name="Diagram line">
            <a:extLst xmlns:a="http://schemas.openxmlformats.org/drawingml/2006/main">
              <a:ext uri="{FF2B5EF4-FFF2-40B4-BE49-F238E27FC236}">
                <a16:creationId xmlns:a16="http://schemas.microsoft.com/office/drawing/2014/main" id="{EE310308-8649-4156-9DD1-6092A59FF064}"/>
              </a:ext>
            </a:extLst>
          </p:cNvPr>
          <p:cNvSpPr>
            <a:spLocks xmlns:a="http://schemas.openxmlformats.org/drawingml/2006/main" noGrp="1"/>
          </p:cNvSpPr>
          <p:nvPr/>
        </p:nvSpPr>
        <p:spPr>
          <a:xfrm xmlns:a="http://schemas.openxmlformats.org/drawingml/2006/main" flipH="0" flipV="0">
            <a:off x="4677285" y="4909287"/>
            <a:ext cx="4330813" cy="953"/>
          </a:xfrm>
          <a:prstGeom xmlns:a="http://schemas.openxmlformats.org/drawingml/2006/main" prst="line">
            <a:avLst/>
          </a:prstGeom>
          <a:noFill xmlns:a="http://schemas.openxmlformats.org/drawingml/2006/main"/>
          <a:ln xmlns:a="http://schemas.openxmlformats.org/drawingml/2006/main" w="37335">
            <a:solidFill>
              <a:srgbClr val="7A5C9E"/>
            </a:solidFill>
          </a:ln>
        </p:spPr>
      </p:sp>
      <p:sp>
        <p:nvSpPr>
          <p:cNvPr id="15" name="Diagram line">
            <a:extLst xmlns:a="http://schemas.openxmlformats.org/drawingml/2006/main">
              <a:ext uri="{FF2B5EF4-FFF2-40B4-BE49-F238E27FC236}">
                <a16:creationId xmlns:a16="http://schemas.microsoft.com/office/drawing/2014/main" id="{F61AFBBF-4227-40B1-AD1D-B87E5C602009}"/>
              </a:ext>
            </a:extLst>
          </p:cNvPr>
          <p:cNvSpPr>
            <a:spLocks xmlns:a="http://schemas.openxmlformats.org/drawingml/2006/main" noGrp="1"/>
          </p:cNvSpPr>
          <p:nvPr/>
        </p:nvSpPr>
        <p:spPr>
          <a:xfrm xmlns:a="http://schemas.openxmlformats.org/drawingml/2006/main" flipH="0" flipV="0">
            <a:off x="6544015" y="2855884"/>
            <a:ext cx="953" cy="1120038"/>
          </a:xfrm>
          <a:prstGeom xmlns:a="http://schemas.openxmlformats.org/drawingml/2006/main" prst="line">
            <a:avLst/>
          </a:prstGeom>
          <a:noFill xmlns:a="http://schemas.openxmlformats.org/drawingml/2006/main"/>
          <a:ln xmlns:a="http://schemas.openxmlformats.org/drawingml/2006/main" w="37335">
            <a:solidFill>
              <a:srgbClr val="7A5C9E"/>
            </a:solidFill>
          </a:ln>
        </p:spPr>
      </p:sp>
      <p:sp>
        <p:nvSpPr>
          <p:cNvPr id="16" name="Diagram line">
            <a:extLst xmlns:a="http://schemas.openxmlformats.org/drawingml/2006/main">
              <a:ext uri="{FF2B5EF4-FFF2-40B4-BE49-F238E27FC236}">
                <a16:creationId xmlns:a16="http://schemas.microsoft.com/office/drawing/2014/main" id="{70DFB1AD-66AE-4874-8558-C0637190AF66}"/>
              </a:ext>
            </a:extLst>
          </p:cNvPr>
          <p:cNvSpPr>
            <a:spLocks xmlns:a="http://schemas.openxmlformats.org/drawingml/2006/main" noGrp="1"/>
          </p:cNvSpPr>
          <p:nvPr/>
        </p:nvSpPr>
        <p:spPr>
          <a:xfrm xmlns:a="http://schemas.openxmlformats.org/drawingml/2006/main" flipH="0" flipV="0">
            <a:off x="6544015" y="3975922"/>
            <a:ext cx="2464083" cy="953"/>
          </a:xfrm>
          <a:prstGeom xmlns:a="http://schemas.openxmlformats.org/drawingml/2006/main" prst="line">
            <a:avLst/>
          </a:prstGeom>
          <a:noFill xmlns:a="http://schemas.openxmlformats.org/drawingml/2006/main"/>
          <a:ln xmlns:a="http://schemas.openxmlformats.org/drawingml/2006/main" w="37335">
            <a:solidFill>
              <a:srgbClr val="7A5C9E"/>
            </a:solidFill>
          </a:ln>
        </p:spPr>
      </p:sp>
      <p:sp>
        <p:nvSpPr>
          <p:cNvPr id="17" name="Diagram line">
            <a:extLst xmlns:a="http://schemas.openxmlformats.org/drawingml/2006/main">
              <a:ext uri="{FF2B5EF4-FFF2-40B4-BE49-F238E27FC236}">
                <a16:creationId xmlns:a16="http://schemas.microsoft.com/office/drawing/2014/main" id="{2ABAF116-1B4F-402A-8FE6-F3270744A776}"/>
              </a:ext>
            </a:extLst>
          </p:cNvPr>
          <p:cNvSpPr>
            <a:spLocks xmlns:a="http://schemas.openxmlformats.org/drawingml/2006/main" noGrp="1"/>
          </p:cNvSpPr>
          <p:nvPr/>
        </p:nvSpPr>
        <p:spPr>
          <a:xfrm xmlns:a="http://schemas.openxmlformats.org/drawingml/2006/main" flipH="0" flipV="0">
            <a:off x="6544015" y="2855884"/>
            <a:ext cx="1269376" cy="953"/>
          </a:xfrm>
          <a:prstGeom xmlns:a="http://schemas.openxmlformats.org/drawingml/2006/main" prst="line">
            <a:avLst/>
          </a:prstGeom>
          <a:noFill xmlns:a="http://schemas.openxmlformats.org/drawingml/2006/main"/>
          <a:ln xmlns:a="http://schemas.openxmlformats.org/drawingml/2006/main" w="37335">
            <a:solidFill>
              <a:srgbClr val="7A5C9E"/>
            </a:solidFill>
          </a:ln>
        </p:spPr>
      </p:sp>
      <p:sp>
        <p:nvSpPr>
          <p:cNvPr id="18" name="Diagram line">
            <a:extLst xmlns:a="http://schemas.openxmlformats.org/drawingml/2006/main">
              <a:ext uri="{FF2B5EF4-FFF2-40B4-BE49-F238E27FC236}">
                <a16:creationId xmlns:a16="http://schemas.microsoft.com/office/drawing/2014/main" id="{B0E16795-7D78-4269-AA47-5B4E220CA5BB}"/>
              </a:ext>
            </a:extLst>
          </p:cNvPr>
          <p:cNvSpPr>
            <a:spLocks xmlns:a="http://schemas.openxmlformats.org/drawingml/2006/main" noGrp="1"/>
          </p:cNvSpPr>
          <p:nvPr/>
        </p:nvSpPr>
        <p:spPr>
          <a:xfrm xmlns:a="http://schemas.openxmlformats.org/drawingml/2006/main" flipH="0" flipV="1">
            <a:off x="7813392" y="2370534"/>
            <a:ext cx="953" cy="485350"/>
          </a:xfrm>
          <a:prstGeom xmlns:a="http://schemas.openxmlformats.org/drawingml/2006/main" prst="line">
            <a:avLst/>
          </a:prstGeom>
          <a:noFill xmlns:a="http://schemas.openxmlformats.org/drawingml/2006/main"/>
          <a:ln xmlns:a="http://schemas.openxmlformats.org/drawingml/2006/main" w="37335">
            <a:solidFill>
              <a:srgbClr val="7A5C9E"/>
            </a:solidFill>
          </a:ln>
        </p:spPr>
      </p:sp>
      <p:sp>
        <p:nvSpPr>
          <p:cNvPr id="19" name="Diagram line">
            <a:extLst xmlns:a="http://schemas.openxmlformats.org/drawingml/2006/main">
              <a:ext uri="{FF2B5EF4-FFF2-40B4-BE49-F238E27FC236}">
                <a16:creationId xmlns:a16="http://schemas.microsoft.com/office/drawing/2014/main" id="{414CCECE-FB42-4563-91A8-D2E15C418DFA}"/>
              </a:ext>
            </a:extLst>
          </p:cNvPr>
          <p:cNvSpPr>
            <a:spLocks xmlns:a="http://schemas.openxmlformats.org/drawingml/2006/main" noGrp="1"/>
          </p:cNvSpPr>
          <p:nvPr/>
        </p:nvSpPr>
        <p:spPr>
          <a:xfrm xmlns:a="http://schemas.openxmlformats.org/drawingml/2006/main" flipH="0" flipV="0">
            <a:off x="7813392" y="2370534"/>
            <a:ext cx="1194707" cy="953"/>
          </a:xfrm>
          <a:prstGeom xmlns:a="http://schemas.openxmlformats.org/drawingml/2006/main" prst="line">
            <a:avLst/>
          </a:prstGeom>
          <a:noFill xmlns:a="http://schemas.openxmlformats.org/drawingml/2006/main"/>
          <a:ln xmlns:a="http://schemas.openxmlformats.org/drawingml/2006/main" w="37335">
            <a:solidFill>
              <a:srgbClr val="7A5C9E"/>
            </a:solidFill>
          </a:ln>
        </p:spPr>
      </p:sp>
      <p:sp>
        <p:nvSpPr>
          <p:cNvPr id="20" name="Diagram line">
            <a:extLst xmlns:a="http://schemas.openxmlformats.org/drawingml/2006/main">
              <a:ext uri="{FF2B5EF4-FFF2-40B4-BE49-F238E27FC236}">
                <a16:creationId xmlns:a16="http://schemas.microsoft.com/office/drawing/2014/main" id="{16F5C152-6C30-40D2-8444-C6891D7FEF78}"/>
              </a:ext>
            </a:extLst>
          </p:cNvPr>
          <p:cNvSpPr>
            <a:spLocks xmlns:a="http://schemas.openxmlformats.org/drawingml/2006/main" noGrp="1"/>
          </p:cNvSpPr>
          <p:nvPr/>
        </p:nvSpPr>
        <p:spPr>
          <a:xfrm xmlns:a="http://schemas.openxmlformats.org/drawingml/2006/main" flipH="0" flipV="0">
            <a:off x="7813392" y="2855884"/>
            <a:ext cx="953" cy="261342"/>
          </a:xfrm>
          <a:prstGeom xmlns:a="http://schemas.openxmlformats.org/drawingml/2006/main" prst="line">
            <a:avLst/>
          </a:prstGeom>
          <a:noFill xmlns:a="http://schemas.openxmlformats.org/drawingml/2006/main"/>
          <a:ln xmlns:a="http://schemas.openxmlformats.org/drawingml/2006/main" w="37335">
            <a:solidFill>
              <a:srgbClr val="7A5C9E"/>
            </a:solidFill>
          </a:ln>
        </p:spPr>
      </p:sp>
      <p:sp>
        <p:nvSpPr>
          <p:cNvPr id="21" name="Diagram line">
            <a:extLst xmlns:a="http://schemas.openxmlformats.org/drawingml/2006/main">
              <a:ext uri="{FF2B5EF4-FFF2-40B4-BE49-F238E27FC236}">
                <a16:creationId xmlns:a16="http://schemas.microsoft.com/office/drawing/2014/main" id="{CB3B3E7F-E5AB-48A0-914E-91A909046B5B}"/>
              </a:ext>
            </a:extLst>
          </p:cNvPr>
          <p:cNvSpPr>
            <a:spLocks xmlns:a="http://schemas.openxmlformats.org/drawingml/2006/main" noGrp="1"/>
          </p:cNvSpPr>
          <p:nvPr/>
        </p:nvSpPr>
        <p:spPr>
          <a:xfrm xmlns:a="http://schemas.openxmlformats.org/drawingml/2006/main" flipH="0" flipV="0">
            <a:off x="7813392" y="3117226"/>
            <a:ext cx="1194707" cy="953"/>
          </a:xfrm>
          <a:prstGeom xmlns:a="http://schemas.openxmlformats.org/drawingml/2006/main" prst="line">
            <a:avLst/>
          </a:prstGeom>
          <a:noFill xmlns:a="http://schemas.openxmlformats.org/drawingml/2006/main"/>
          <a:ln xmlns:a="http://schemas.openxmlformats.org/drawingml/2006/main" w="37335">
            <a:solidFill>
              <a:srgbClr val="7A5C9E"/>
            </a:solidFill>
          </a:ln>
        </p:spPr>
      </p:sp>
      <p:sp>
        <p:nvSpPr>
          <p:cNvPr id="22" name="Diagram label: Q">
            <a:extLst xmlns:a="http://schemas.openxmlformats.org/drawingml/2006/main">
              <a:ext uri="{FF2B5EF4-FFF2-40B4-BE49-F238E27FC236}">
                <a16:creationId xmlns:a16="http://schemas.microsoft.com/office/drawing/2014/main" id="{0522E616-53E1-45E2-B234-EE57F29D2228}"/>
              </a:ext>
            </a:extLst>
          </p:cNvPr>
          <p:cNvSpPr>
            <a:spLocks xmlns:a="http://schemas.openxmlformats.org/drawingml/2006/main" noGrp="1"/>
          </p:cNvSpPr>
          <p:nvPr/>
        </p:nvSpPr>
        <p:spPr>
          <a:xfrm xmlns:a="http://schemas.openxmlformats.org/drawingml/2006/main">
            <a:off x="9120102" y="2221196"/>
            <a:ext cx="448015"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Q</a:t>
            </a:r>
          </a:p>
        </p:txBody>
      </p:sp>
      <p:sp>
        <p:nvSpPr>
          <p:cNvPr id="23" name="Diagram label: A">
            <a:extLst xmlns:a="http://schemas.openxmlformats.org/drawingml/2006/main">
              <a:ext uri="{FF2B5EF4-FFF2-40B4-BE49-F238E27FC236}">
                <a16:creationId xmlns:a16="http://schemas.microsoft.com/office/drawing/2014/main" id="{D2ADC6AA-1405-4BB9-BB15-74A117587BA6}"/>
              </a:ext>
            </a:extLst>
          </p:cNvPr>
          <p:cNvSpPr>
            <a:spLocks xmlns:a="http://schemas.openxmlformats.org/drawingml/2006/main" noGrp="1"/>
          </p:cNvSpPr>
          <p:nvPr/>
        </p:nvSpPr>
        <p:spPr>
          <a:xfrm xmlns:a="http://schemas.openxmlformats.org/drawingml/2006/main">
            <a:off x="9120102" y="2967888"/>
            <a:ext cx="448015"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A</a:t>
            </a:r>
          </a:p>
        </p:txBody>
      </p:sp>
      <p:sp>
        <p:nvSpPr>
          <p:cNvPr id="24" name="Diagram label: B">
            <a:extLst xmlns:a="http://schemas.openxmlformats.org/drawingml/2006/main">
              <a:ext uri="{FF2B5EF4-FFF2-40B4-BE49-F238E27FC236}">
                <a16:creationId xmlns:a16="http://schemas.microsoft.com/office/drawing/2014/main" id="{16B47A98-1938-4565-83E7-EC4A6E59EFCF}"/>
              </a:ext>
            </a:extLst>
          </p:cNvPr>
          <p:cNvSpPr>
            <a:spLocks xmlns:a="http://schemas.openxmlformats.org/drawingml/2006/main" noGrp="1"/>
          </p:cNvSpPr>
          <p:nvPr/>
        </p:nvSpPr>
        <p:spPr>
          <a:xfrm xmlns:a="http://schemas.openxmlformats.org/drawingml/2006/main">
            <a:off x="9120102" y="3826584"/>
            <a:ext cx="448015"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B</a:t>
            </a:r>
          </a:p>
        </p:txBody>
      </p:sp>
      <p:sp>
        <p:nvSpPr>
          <p:cNvPr id="25" name="Diagram label: C">
            <a:extLst xmlns:a="http://schemas.openxmlformats.org/drawingml/2006/main">
              <a:ext uri="{FF2B5EF4-FFF2-40B4-BE49-F238E27FC236}">
                <a16:creationId xmlns:a16="http://schemas.microsoft.com/office/drawing/2014/main" id="{4BACD1C2-0179-4546-93D6-0A417E83E09A}"/>
              </a:ext>
            </a:extLst>
          </p:cNvPr>
          <p:cNvSpPr>
            <a:spLocks xmlns:a="http://schemas.openxmlformats.org/drawingml/2006/main" noGrp="1"/>
          </p:cNvSpPr>
          <p:nvPr/>
        </p:nvSpPr>
        <p:spPr>
          <a:xfrm xmlns:a="http://schemas.openxmlformats.org/drawingml/2006/main">
            <a:off x="9120102" y="4759949"/>
            <a:ext cx="448015"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C</a:t>
            </a:r>
          </a:p>
        </p:txBody>
      </p:sp>
      <p:sp>
        <p:nvSpPr>
          <p:cNvPr id="26" name="Diagram label: Tips = living species in this model&#10;Branch lengths are not a time scale.">
            <a:extLst xmlns:a="http://schemas.openxmlformats.org/drawingml/2006/main">
              <a:ext uri="{FF2B5EF4-FFF2-40B4-BE49-F238E27FC236}">
                <a16:creationId xmlns:a16="http://schemas.microsoft.com/office/drawing/2014/main" id="{0BC08651-A758-4340-B3D8-AA4694A55DAF}"/>
              </a:ext>
            </a:extLst>
          </p:cNvPr>
          <p:cNvSpPr>
            <a:spLocks xmlns:a="http://schemas.openxmlformats.org/drawingml/2006/main" noGrp="1"/>
          </p:cNvSpPr>
          <p:nvPr/>
        </p:nvSpPr>
        <p:spPr>
          <a:xfrm xmlns:a="http://schemas.openxmlformats.org/drawingml/2006/main">
            <a:off x="2810555" y="5207964"/>
            <a:ext cx="6570889" cy="48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29" b="0">
                <a:solidFill>
                  <a:srgbClr val="1F2937"/>
                </a:solidFill>
                <a:latin typeface="Nimbus Sans"/>
                <a:ea typeface="Nimbus Sans"/>
                <a:cs typeface="Nimbus Sans"/>
              </a:defRPr>
            </a:pPr>
            <a:r>
              <a:rPr sz="1529" b="0">
                <a:solidFill>
                  <a:srgbClr val="1F2937"/>
                </a:solidFill>
                <a:latin typeface="Nimbus Sans"/>
                <a:ea typeface="Nimbus Sans"/>
                <a:cs typeface="Nimbus Sans"/>
              </a:rPr>
              <a:t>Tips = living species in this model</a:t>
            </a:r>
          </a:p>
          <a:p xmlns:a="http://schemas.openxmlformats.org/drawingml/2006/main">
            <a:pPr algn="l">
              <a:lnSpc>
                <a:spcPct val="108000"/>
              </a:lnSpc>
              <a:buNone/>
              <a:defRPr sz="1529" b="0">
                <a:solidFill>
                  <a:srgbClr val="1F2937"/>
                </a:solidFill>
                <a:latin typeface="Nimbus Sans"/>
                <a:ea typeface="Nimbus Sans"/>
                <a:cs typeface="Nimbus Sans"/>
              </a:defRPr>
            </a:pPr>
            <a:r>
              <a:rPr sz="1529" b="0">
                <a:solidFill>
                  <a:srgbClr val="1F2937"/>
                </a:solidFill>
                <a:latin typeface="Nimbus Sans"/>
                <a:ea typeface="Nimbus Sans"/>
                <a:cs typeface="Nimbus Sans"/>
              </a:rPr>
              <a:t>Branch lengths are not a time scale.</a:t>
            </a:r>
          </a:p>
        </p:txBody>
      </p:sp>
      <p:sp>
        <p:nvSpPr>
          <p:cNvPr id="27" name="Diagram label: Q did not&#10;evolve from&#10;living A.">
            <a:extLst xmlns:a="http://schemas.openxmlformats.org/drawingml/2006/main">
              <a:ext uri="{FF2B5EF4-FFF2-40B4-BE49-F238E27FC236}">
                <a16:creationId xmlns:a16="http://schemas.microsoft.com/office/drawing/2014/main" id="{9FDEDDA0-911F-49F9-8823-58BE1D5D4ABF}"/>
              </a:ext>
            </a:extLst>
          </p:cNvPr>
          <p:cNvSpPr>
            <a:spLocks xmlns:a="http://schemas.openxmlformats.org/drawingml/2006/main" noGrp="1"/>
          </p:cNvSpPr>
          <p:nvPr/>
        </p:nvSpPr>
        <p:spPr>
          <a:xfrm xmlns:a="http://schemas.openxmlformats.org/drawingml/2006/main">
            <a:off x="2735886" y="2445204"/>
            <a:ext cx="1792061" cy="746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Q did not</a:t>
            </a:r>
          </a:p>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evolve from</a:t>
            </a:r>
          </a:p>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living A.</a:t>
            </a:r>
          </a:p>
        </p:txBody>
      </p:sp>
      <p:sp>
        <p:nvSpPr>
          <p:cNvPr id="28" name="Living species sit at the tips.  A shared ancestor sits at a bra">
            <a:extLst xmlns:a="http://schemas.openxmlformats.org/drawingml/2006/main">
              <a:ext uri="{FF2B5EF4-FFF2-40B4-BE49-F238E27FC236}">
                <a16:creationId xmlns:a16="http://schemas.microsoft.com/office/drawing/2014/main" id="{764107A4-B08E-427A-9A9C-0C6E95370637}"/>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Living species sit at the tips. A shared ancestor sits at a branch point. No living tip is labelled “more evolved”.</a:t>
            </a:r>
          </a:p>
        </p:txBody>
      </p:sp>
    </p:spTree>
    <p:extLst>
      <p:ext uri="{BB962C8B-B14F-4D97-AF65-F5344CB8AC3E}">
        <p14:creationId xmlns:p14="http://schemas.microsoft.com/office/powerpoint/2010/main" val="4778102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219642C3-03C8-4945-B94E-5ACA2047723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4B3D24E0-ACEC-4D95-ABAE-C9F68BA9A6CE}"/>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571BF58B-A3A8-4481-B1A9-7C53DFB442A1}"/>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2922E376-84E8-487B-ADB0-9E170072595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We do">
            <a:extLst xmlns:a="http://schemas.openxmlformats.org/drawingml/2006/main">
              <a:ext uri="{FF2B5EF4-FFF2-40B4-BE49-F238E27FC236}">
                <a16:creationId xmlns:a16="http://schemas.microsoft.com/office/drawing/2014/main" id="{0A6C84CF-4229-4DBE-9180-949CA4FF47B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7 min">
            <a:extLst xmlns:a="http://schemas.openxmlformats.org/drawingml/2006/main">
              <a:ext uri="{FF2B5EF4-FFF2-40B4-BE49-F238E27FC236}">
                <a16:creationId xmlns:a16="http://schemas.microsoft.com/office/drawing/2014/main" id="{AD97F140-3FE9-4922-B820-E45A14937DD8}"/>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7 min</a:t>
            </a:r>
          </a:p>
        </p:txBody>
      </p:sp>
      <p:sp>
        <p:nvSpPr>
          <p:cNvPr id="7" name="Museum label rescue">
            <a:extLst xmlns:a="http://schemas.openxmlformats.org/drawingml/2006/main">
              <a:ext uri="{FF2B5EF4-FFF2-40B4-BE49-F238E27FC236}">
                <a16:creationId xmlns:a16="http://schemas.microsoft.com/office/drawing/2014/main" id="{608E571D-3583-4FEA-B13F-E4F7FC82929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Museum label rescue</a:t>
            </a:r>
          </a:p>
        </p:txBody>
      </p:sp>
      <p:sp>
        <p:nvSpPr>
          <p:cNvPr id="8" name="surface">
            <a:extLst xmlns:a="http://schemas.openxmlformats.org/drawingml/2006/main">
              <a:ext uri="{FF2B5EF4-FFF2-40B4-BE49-F238E27FC236}">
                <a16:creationId xmlns:a16="http://schemas.microsoft.com/office/drawing/2014/main" id="{88B9B36C-DEC8-4818-85B6-29CED50816E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Evolution: build the evidence case">
            <a:extLst xmlns:a="http://schemas.openxmlformats.org/drawingml/2006/main">
              <a:ext uri="{FF2B5EF4-FFF2-40B4-BE49-F238E27FC236}">
                <a16:creationId xmlns:a16="http://schemas.microsoft.com/office/drawing/2014/main" id="{D8B6FD9C-29D9-425E-965A-5480F474FD2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10" name="7 / 15">
            <a:extLst xmlns:a="http://schemas.openxmlformats.org/drawingml/2006/main">
              <a:ext uri="{FF2B5EF4-FFF2-40B4-BE49-F238E27FC236}">
                <a16:creationId xmlns:a16="http://schemas.microsoft.com/office/drawing/2014/main" id="{4B55CF00-D571-4402-9CC8-0BEA45A4D78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15</a:t>
            </a:r>
          </a:p>
        </p:txBody>
      </p:sp>
      <p:sp>
        <p:nvSpPr>
          <p:cNvPr id="11" name="W1. Read the claim and choose: keep, edit or reject.">
            <a:extLst xmlns:a="http://schemas.openxmlformats.org/drawingml/2006/main">
              <a:ext uri="{FF2B5EF4-FFF2-40B4-BE49-F238E27FC236}">
                <a16:creationId xmlns:a16="http://schemas.microsoft.com/office/drawing/2014/main" id="{00AB0544-F269-4162-B37B-A0D21B0EE252}"/>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W1. Read the claim and choose: keep, edit or reject.</a:t>
            </a:r>
          </a:p>
        </p:txBody>
      </p:sp>
      <p:sp>
        <p:nvSpPr>
          <p:cNvPr id="12" name="“Whales came from living humans because both have similar finger">
            <a:extLst xmlns:a="http://schemas.openxmlformats.org/drawingml/2006/main">
              <a:ext uri="{FF2B5EF4-FFF2-40B4-BE49-F238E27FC236}">
                <a16:creationId xmlns:a16="http://schemas.microsoft.com/office/drawing/2014/main" id="{97889826-CD0F-4B50-9E21-BD441F2FF876}"/>
              </a:ext>
            </a:extLst>
          </p:cNvPr>
          <p:cNvSpPr>
            <a:spLocks xmlns:a="http://schemas.openxmlformats.org/drawingml/2006/main" noGrp="1"/>
          </p:cNvSpPr>
          <p:nvPr/>
        </p:nvSpPr>
        <p:spPr>
          <a:xfrm xmlns:a="http://schemas.openxmlformats.org/drawingml/2006/main">
            <a:off x="762000" y="2582228"/>
            <a:ext cx="10668000" cy="687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“Whales came from living humans because both have similar finger-bone</a:t>
            </a:r>
          </a:p>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patterns.”</a:t>
            </a:r>
          </a:p>
        </p:txBody>
      </p:sp>
      <p:sp>
        <p:nvSpPr>
          <p:cNvPr id="13" name="Use Evidence A and F on your card sheet.">
            <a:extLst xmlns:a="http://schemas.openxmlformats.org/drawingml/2006/main">
              <a:ext uri="{FF2B5EF4-FFF2-40B4-BE49-F238E27FC236}">
                <a16:creationId xmlns:a16="http://schemas.microsoft.com/office/drawing/2014/main" id="{B123DBA9-F7C2-47B2-8C20-7332AB3C2821}"/>
              </a:ext>
            </a:extLst>
          </p:cNvPr>
          <p:cNvSpPr>
            <a:spLocks xmlns:a="http://schemas.openxmlformats.org/drawingml/2006/main" noGrp="1"/>
          </p:cNvSpPr>
          <p:nvPr/>
        </p:nvSpPr>
        <p:spPr>
          <a:xfrm xmlns:a="http://schemas.openxmlformats.org/drawingml/2006/main">
            <a:off x="762000" y="3460433"/>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Evidence A and F on your card sheet.</a:t>
            </a:r>
          </a:p>
        </p:txBody>
      </p:sp>
      <p:sp>
        <p:nvSpPr>
          <p:cNvPr id="14" name="surface">
            <a:extLst xmlns:a="http://schemas.openxmlformats.org/drawingml/2006/main">
              <a:ext uri="{FF2B5EF4-FFF2-40B4-BE49-F238E27FC236}">
                <a16:creationId xmlns:a16="http://schemas.microsoft.com/office/drawing/2014/main" id="{43294917-EA9E-4BB6-B5E9-EC4F72AACF37}"/>
              </a:ext>
            </a:extLst>
          </p:cNvPr>
          <p:cNvSpPr>
            <a:spLocks xmlns:a="http://schemas.openxmlformats.org/drawingml/2006/main" noGrp="1"/>
          </p:cNvSpPr>
          <p:nvPr/>
        </p:nvSpPr>
        <p:spPr>
          <a:xfrm xmlns:a="http://schemas.openxmlformats.org/drawingml/2006/main">
            <a:off x="533400" y="5600700"/>
            <a:ext cx="11125200" cy="74295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5" name="surface">
            <a:extLst xmlns:a="http://schemas.openxmlformats.org/drawingml/2006/main">
              <a:ext uri="{FF2B5EF4-FFF2-40B4-BE49-F238E27FC236}">
                <a16:creationId xmlns:a16="http://schemas.microsoft.com/office/drawing/2014/main" id="{F6E3BF46-77AC-4F85-9631-BC7D1114B783}"/>
              </a:ext>
            </a:extLst>
          </p:cNvPr>
          <p:cNvSpPr>
            <a:spLocks xmlns:a="http://schemas.openxmlformats.org/drawingml/2006/main" noGrp="1"/>
          </p:cNvSpPr>
          <p:nvPr/>
        </p:nvSpPr>
        <p:spPr>
          <a:xfrm xmlns:a="http://schemas.openxmlformats.org/drawingml/2006/main">
            <a:off x="533400" y="5600700"/>
            <a:ext cx="66675" cy="74295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6" name="Which part is an observation, and which part is an unjustified i">
            <a:extLst xmlns:a="http://schemas.openxmlformats.org/drawingml/2006/main">
              <a:ext uri="{FF2B5EF4-FFF2-40B4-BE49-F238E27FC236}">
                <a16:creationId xmlns:a16="http://schemas.microsoft.com/office/drawing/2014/main" id="{7DFAC38D-C3F0-4378-BFC5-3861298D4C8E}"/>
              </a:ext>
            </a:extLst>
          </p:cNvPr>
          <p:cNvSpPr>
            <a:spLocks xmlns:a="http://schemas.openxmlformats.org/drawingml/2006/main" noGrp="1"/>
          </p:cNvSpPr>
          <p:nvPr/>
        </p:nvSpPr>
        <p:spPr>
          <a:xfrm xmlns:a="http://schemas.openxmlformats.org/drawingml/2006/main">
            <a:off x="762000" y="5734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4D82A0"/>
                </a:solidFill>
                <a:latin typeface="Nimbus Sans"/>
                <a:ea typeface="Nimbus Sans"/>
                <a:cs typeface="Nimbus Sans"/>
              </a:defRPr>
            </a:pPr>
            <a:r>
              <a:rPr sz="2175" b="1">
                <a:solidFill>
                  <a:srgbClr val="4D82A0"/>
                </a:solidFill>
                <a:latin typeface="Nimbus Sans"/>
                <a:ea typeface="Nimbus Sans"/>
                <a:cs typeface="Nimbus Sans"/>
              </a:rPr>
              <a:t>Which part is an observation, and which part is an unjustified inference?</a:t>
            </a:r>
          </a:p>
        </p:txBody>
      </p:sp>
    </p:spTree>
    <p:extLst>
      <p:ext uri="{BB962C8B-B14F-4D97-AF65-F5344CB8AC3E}">
        <p14:creationId xmlns:p14="http://schemas.microsoft.com/office/powerpoint/2010/main" val="5909101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C35B9212-D7A4-4D5B-A13B-8D9BDE7BD19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D24D4192-9EE4-4487-B92B-532C490562A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50A6C99-404D-4CE5-ACAD-BFD8E4F45CB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0CEE1E92-3904-4BEF-BBF1-BF14B2DB601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We do">
            <a:extLst xmlns:a="http://schemas.openxmlformats.org/drawingml/2006/main">
              <a:ext uri="{FF2B5EF4-FFF2-40B4-BE49-F238E27FC236}">
                <a16:creationId xmlns:a16="http://schemas.microsoft.com/office/drawing/2014/main" id="{73A464FB-D647-4765-8655-9158732A44E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A second label arrives">
            <a:extLst xmlns:a="http://schemas.openxmlformats.org/drawingml/2006/main">
              <a:ext uri="{FF2B5EF4-FFF2-40B4-BE49-F238E27FC236}">
                <a16:creationId xmlns:a16="http://schemas.microsoft.com/office/drawing/2014/main" id="{478D1080-B547-4F47-9C42-A6ED25A26CE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second label arrives</a:t>
            </a:r>
          </a:p>
        </p:txBody>
      </p:sp>
      <p:sp>
        <p:nvSpPr>
          <p:cNvPr id="7" name="surface">
            <a:extLst xmlns:a="http://schemas.openxmlformats.org/drawingml/2006/main">
              <a:ext uri="{FF2B5EF4-FFF2-40B4-BE49-F238E27FC236}">
                <a16:creationId xmlns:a16="http://schemas.microsoft.com/office/drawing/2014/main" id="{DCF6483B-672D-48B3-A8E8-8E500F09C54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Evolution: build the evidence case">
            <a:extLst xmlns:a="http://schemas.openxmlformats.org/drawingml/2006/main">
              <a:ext uri="{FF2B5EF4-FFF2-40B4-BE49-F238E27FC236}">
                <a16:creationId xmlns:a16="http://schemas.microsoft.com/office/drawing/2014/main" id="{64265BD6-8BCB-4B58-B253-DF0A7AE46F62}"/>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9" name="8 / 15">
            <a:extLst xmlns:a="http://schemas.openxmlformats.org/drawingml/2006/main">
              <a:ext uri="{FF2B5EF4-FFF2-40B4-BE49-F238E27FC236}">
                <a16:creationId xmlns:a16="http://schemas.microsoft.com/office/drawing/2014/main" id="{7FD6148D-6CE4-49A2-81C6-3F8A3B7986B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15</a:t>
            </a:r>
          </a:p>
        </p:txBody>
      </p:sp>
      <p:sp>
        <p:nvSpPr>
          <p:cNvPr id="10" name="W2. “Q and A are identical. The graph proves A became Q.”">
            <a:extLst xmlns:a="http://schemas.openxmlformats.org/drawingml/2006/main">
              <a:ext uri="{FF2B5EF4-FFF2-40B4-BE49-F238E27FC236}">
                <a16:creationId xmlns:a16="http://schemas.microsoft.com/office/drawing/2014/main" id="{1CA10DB2-A3CE-4F27-8A5D-90EDF0774FBD}"/>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W2. “Q and A are identical. The graph proves A became Q.”</a:t>
            </a:r>
          </a:p>
        </p:txBody>
      </p:sp>
      <p:sp>
        <p:nvSpPr>
          <p:cNvPr id="11" name="Use the DNA card to repair both errors.">
            <a:extLst xmlns:a="http://schemas.openxmlformats.org/drawingml/2006/main">
              <a:ext uri="{FF2B5EF4-FFF2-40B4-BE49-F238E27FC236}">
                <a16:creationId xmlns:a16="http://schemas.microsoft.com/office/drawing/2014/main" id="{F996850B-9FD9-4FC2-BD47-DD0F8B7E8D02}"/>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the DNA card to repair both errors.</a:t>
            </a:r>
          </a:p>
        </p:txBody>
      </p:sp>
      <p:sp>
        <p:nvSpPr>
          <p:cNvPr id="12" name="W3. Why use more than one evidence type?">
            <a:extLst xmlns:a="http://schemas.openxmlformats.org/drawingml/2006/main">
              <a:ext uri="{FF2B5EF4-FFF2-40B4-BE49-F238E27FC236}">
                <a16:creationId xmlns:a16="http://schemas.microsoft.com/office/drawing/2014/main" id="{F6132CAB-0A6B-4292-8A2F-9D623308F02E}"/>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W3. Why use more than one evidence type?</a:t>
            </a:r>
          </a:p>
        </p:txBody>
      </p:sp>
    </p:spTree>
    <p:extLst>
      <p:ext uri="{BB962C8B-B14F-4D97-AF65-F5344CB8AC3E}">
        <p14:creationId xmlns:p14="http://schemas.microsoft.com/office/powerpoint/2010/main" val="19293446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urface">
            <a:extLst xmlns:a="http://schemas.openxmlformats.org/drawingml/2006/main">
              <a:ext uri="{FF2B5EF4-FFF2-40B4-BE49-F238E27FC236}">
                <a16:creationId xmlns:a16="http://schemas.microsoft.com/office/drawing/2014/main" id="{0ACD6DC0-ED66-4FED-846F-9310C68670A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D90C6B2-B75D-401D-8FD6-BA976F837DD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608C39F-CDEA-441E-B463-88B2A260E80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2132F880-983F-47F2-8DDE-3AD9AF2319B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Hinge">
            <a:extLst xmlns:a="http://schemas.openxmlformats.org/drawingml/2006/main">
              <a:ext uri="{FF2B5EF4-FFF2-40B4-BE49-F238E27FC236}">
                <a16:creationId xmlns:a16="http://schemas.microsoft.com/office/drawing/2014/main" id="{B2946C4D-5DB8-4533-AFD5-F06D578B6BC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9F2A98F6-00A4-4607-A5B8-7BAB61E88FA0}"/>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Which claim is best supported?">
            <a:extLst xmlns:a="http://schemas.openxmlformats.org/drawingml/2006/main">
              <a:ext uri="{FF2B5EF4-FFF2-40B4-BE49-F238E27FC236}">
                <a16:creationId xmlns:a16="http://schemas.microsoft.com/office/drawing/2014/main" id="{ABC3B103-F0E7-4E6A-B23B-67A6330B2BF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Which claim is best supported?</a:t>
            </a:r>
          </a:p>
        </p:txBody>
      </p:sp>
      <p:sp>
        <p:nvSpPr>
          <p:cNvPr id="8" name="surface">
            <a:extLst xmlns:a="http://schemas.openxmlformats.org/drawingml/2006/main">
              <a:ext uri="{FF2B5EF4-FFF2-40B4-BE49-F238E27FC236}">
                <a16:creationId xmlns:a16="http://schemas.microsoft.com/office/drawing/2014/main" id="{DD189FD7-023B-42B6-8285-99850EB273CA}"/>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Evolution: build the evidence case">
            <a:extLst xmlns:a="http://schemas.openxmlformats.org/drawingml/2006/main">
              <a:ext uri="{FF2B5EF4-FFF2-40B4-BE49-F238E27FC236}">
                <a16:creationId xmlns:a16="http://schemas.microsoft.com/office/drawing/2014/main" id="{69698CDA-50C1-4E29-B809-3DC6238AA7B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10" name="9 / 15">
            <a:extLst xmlns:a="http://schemas.openxmlformats.org/drawingml/2006/main">
              <a:ext uri="{FF2B5EF4-FFF2-40B4-BE49-F238E27FC236}">
                <a16:creationId xmlns:a16="http://schemas.microsoft.com/office/drawing/2014/main" id="{AE7F4F9D-7DA3-4600-BD5E-9DC6F1104C8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15</a:t>
            </a:r>
          </a:p>
        </p:txBody>
      </p:sp>
      <p:sp>
        <p:nvSpPr>
          <p:cNvPr id="11" name="The sample has 2 Q/A differences and 24 Q/C differences. Choose ">
            <a:extLst xmlns:a="http://schemas.openxmlformats.org/drawingml/2006/main">
              <a:ext uri="{FF2B5EF4-FFF2-40B4-BE49-F238E27FC236}">
                <a16:creationId xmlns:a16="http://schemas.microsoft.com/office/drawing/2014/main" id="{52C57FD3-612A-472F-8F51-4654CB0013E0}"/>
              </a:ext>
            </a:extLst>
          </p:cNvPr>
          <p:cNvSpPr>
            <a:spLocks xmlns:a="http://schemas.openxmlformats.org/drawingml/2006/main" noGrp="1"/>
          </p:cNvSpPr>
          <p:nvPr/>
        </p:nvSpPr>
        <p:spPr>
          <a:xfrm xmlns:a="http://schemas.openxmlformats.org/drawingml/2006/main">
            <a:off x="533400" y="1866900"/>
            <a:ext cx="1112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The sample has 2 Q/A differences and 24 Q/C differences. Choose a claim and be ready</a:t>
            </a:r>
          </a:p>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to explain one word.</a:t>
            </a:r>
          </a:p>
        </p:txBody>
      </p:sp>
      <p:sp>
        <p:nvSpPr>
          <p:cNvPr id="12" name="surface">
            <a:extLst xmlns:a="http://schemas.openxmlformats.org/drawingml/2006/main">
              <a:ext uri="{FF2B5EF4-FFF2-40B4-BE49-F238E27FC236}">
                <a16:creationId xmlns:a16="http://schemas.microsoft.com/office/drawing/2014/main" id="{1AFFBB3A-CAC6-4291-BDE1-E709BE7465B0}"/>
              </a:ext>
            </a:extLst>
          </p:cNvPr>
          <p:cNvSpPr>
            <a:spLocks xmlns:a="http://schemas.openxmlformats.org/drawingml/2006/main" noGrp="1"/>
          </p:cNvSpPr>
          <p:nvPr/>
        </p:nvSpPr>
        <p:spPr>
          <a:xfrm xmlns:a="http://schemas.openxmlformats.org/drawingml/2006/main">
            <a:off x="533400" y="2667000"/>
            <a:ext cx="11125200" cy="814388"/>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954C86A5-B830-4488-A242-D73244CE532F}"/>
              </a:ext>
            </a:extLst>
          </p:cNvPr>
          <p:cNvSpPr>
            <a:spLocks xmlns:a="http://schemas.openxmlformats.org/drawingml/2006/main" noGrp="1"/>
          </p:cNvSpPr>
          <p:nvPr/>
        </p:nvSpPr>
        <p:spPr>
          <a:xfrm xmlns:a="http://schemas.openxmlformats.org/drawingml/2006/main">
            <a:off x="533400" y="2667000"/>
            <a:ext cx="57150" cy="814388"/>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60248B92-C915-4486-AACD-F97009B830A9}"/>
              </a:ext>
            </a:extLst>
          </p:cNvPr>
          <p:cNvSpPr>
            <a:spLocks xmlns:a="http://schemas.openxmlformats.org/drawingml/2006/main" noGrp="1"/>
          </p:cNvSpPr>
          <p:nvPr/>
        </p:nvSpPr>
        <p:spPr>
          <a:xfrm xmlns:a="http://schemas.openxmlformats.org/drawingml/2006/main">
            <a:off x="733425" y="2809875"/>
            <a:ext cx="476250" cy="623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Q evolved directly from living A.">
            <a:extLst xmlns:a="http://schemas.openxmlformats.org/drawingml/2006/main">
              <a:ext uri="{FF2B5EF4-FFF2-40B4-BE49-F238E27FC236}">
                <a16:creationId xmlns:a16="http://schemas.microsoft.com/office/drawing/2014/main" id="{870A1449-FAC9-4C3F-94E8-6567375046B2}"/>
              </a:ext>
            </a:extLst>
          </p:cNvPr>
          <p:cNvSpPr>
            <a:spLocks xmlns:a="http://schemas.openxmlformats.org/drawingml/2006/main" noGrp="1"/>
          </p:cNvSpPr>
          <p:nvPr/>
        </p:nvSpPr>
        <p:spPr>
          <a:xfrm xmlns:a="http://schemas.openxmlformats.org/drawingml/2006/main">
            <a:off x="1266825" y="2809875"/>
            <a:ext cx="10144125" cy="6048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Q evolved directly from living A.</a:t>
            </a:r>
          </a:p>
        </p:txBody>
      </p:sp>
      <p:sp>
        <p:nvSpPr>
          <p:cNvPr id="16" name="surface">
            <a:extLst xmlns:a="http://schemas.openxmlformats.org/drawingml/2006/main">
              <a:ext uri="{FF2B5EF4-FFF2-40B4-BE49-F238E27FC236}">
                <a16:creationId xmlns:a16="http://schemas.microsoft.com/office/drawing/2014/main" id="{C3785DCE-9F96-4367-B08C-9C69723F753B}"/>
              </a:ext>
            </a:extLst>
          </p:cNvPr>
          <p:cNvSpPr>
            <a:spLocks xmlns:a="http://schemas.openxmlformats.org/drawingml/2006/main" noGrp="1"/>
          </p:cNvSpPr>
          <p:nvPr/>
        </p:nvSpPr>
        <p:spPr>
          <a:xfrm xmlns:a="http://schemas.openxmlformats.org/drawingml/2006/main">
            <a:off x="533400" y="3595688"/>
            <a:ext cx="11125200" cy="814388"/>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98C8688F-A23B-4FED-A86A-0C50F2D95B50}"/>
              </a:ext>
            </a:extLst>
          </p:cNvPr>
          <p:cNvSpPr>
            <a:spLocks xmlns:a="http://schemas.openxmlformats.org/drawingml/2006/main" noGrp="1"/>
          </p:cNvSpPr>
          <p:nvPr/>
        </p:nvSpPr>
        <p:spPr>
          <a:xfrm xmlns:a="http://schemas.openxmlformats.org/drawingml/2006/main">
            <a:off x="533400" y="3595688"/>
            <a:ext cx="57150" cy="814388"/>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22CC7C33-269C-4183-B005-74C3F747ECD2}"/>
              </a:ext>
            </a:extLst>
          </p:cNvPr>
          <p:cNvSpPr>
            <a:spLocks xmlns:a="http://schemas.openxmlformats.org/drawingml/2006/main" noGrp="1"/>
          </p:cNvSpPr>
          <p:nvPr/>
        </p:nvSpPr>
        <p:spPr>
          <a:xfrm xmlns:a="http://schemas.openxmlformats.org/drawingml/2006/main">
            <a:off x="733425" y="3738563"/>
            <a:ext cx="476250" cy="623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Q and A probably share a more recent ancestor than Q and C.">
            <a:extLst xmlns:a="http://schemas.openxmlformats.org/drawingml/2006/main">
              <a:ext uri="{FF2B5EF4-FFF2-40B4-BE49-F238E27FC236}">
                <a16:creationId xmlns:a16="http://schemas.microsoft.com/office/drawing/2014/main" id="{898C0677-7B30-4EF4-BC88-0E1711DD29A0}"/>
              </a:ext>
            </a:extLst>
          </p:cNvPr>
          <p:cNvSpPr>
            <a:spLocks xmlns:a="http://schemas.openxmlformats.org/drawingml/2006/main" noGrp="1"/>
          </p:cNvSpPr>
          <p:nvPr/>
        </p:nvSpPr>
        <p:spPr>
          <a:xfrm xmlns:a="http://schemas.openxmlformats.org/drawingml/2006/main">
            <a:off x="1266825" y="3738563"/>
            <a:ext cx="10144125" cy="6048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Q and A probably share a more recent ancestor than Q and C.</a:t>
            </a:r>
          </a:p>
        </p:txBody>
      </p:sp>
      <p:sp>
        <p:nvSpPr>
          <p:cNvPr id="20" name="surface">
            <a:extLst xmlns:a="http://schemas.openxmlformats.org/drawingml/2006/main">
              <a:ext uri="{FF2B5EF4-FFF2-40B4-BE49-F238E27FC236}">
                <a16:creationId xmlns:a16="http://schemas.microsoft.com/office/drawing/2014/main" id="{A63B7E81-C375-48F6-A458-DD84B86D9E49}"/>
              </a:ext>
            </a:extLst>
          </p:cNvPr>
          <p:cNvSpPr>
            <a:spLocks xmlns:a="http://schemas.openxmlformats.org/drawingml/2006/main" noGrp="1"/>
          </p:cNvSpPr>
          <p:nvPr/>
        </p:nvSpPr>
        <p:spPr>
          <a:xfrm xmlns:a="http://schemas.openxmlformats.org/drawingml/2006/main">
            <a:off x="533400" y="4524375"/>
            <a:ext cx="11125200" cy="814388"/>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E6545389-D894-4968-9F2F-6C79F275AB91}"/>
              </a:ext>
            </a:extLst>
          </p:cNvPr>
          <p:cNvSpPr>
            <a:spLocks xmlns:a="http://schemas.openxmlformats.org/drawingml/2006/main" noGrp="1"/>
          </p:cNvSpPr>
          <p:nvPr/>
        </p:nvSpPr>
        <p:spPr>
          <a:xfrm xmlns:a="http://schemas.openxmlformats.org/drawingml/2006/main">
            <a:off x="533400" y="4524375"/>
            <a:ext cx="57150" cy="814388"/>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AE8C3503-81A3-48DE-A332-890D3D73B8C8}"/>
              </a:ext>
            </a:extLst>
          </p:cNvPr>
          <p:cNvSpPr>
            <a:spLocks xmlns:a="http://schemas.openxmlformats.org/drawingml/2006/main" noGrp="1"/>
          </p:cNvSpPr>
          <p:nvPr/>
        </p:nvSpPr>
        <p:spPr>
          <a:xfrm xmlns:a="http://schemas.openxmlformats.org/drawingml/2006/main">
            <a:off x="733425" y="4667250"/>
            <a:ext cx="476250" cy="623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Q and C share no ancestor.">
            <a:extLst xmlns:a="http://schemas.openxmlformats.org/drawingml/2006/main">
              <a:ext uri="{FF2B5EF4-FFF2-40B4-BE49-F238E27FC236}">
                <a16:creationId xmlns:a16="http://schemas.microsoft.com/office/drawing/2014/main" id="{C721BE9E-D3F2-4061-A6B7-DEA9F3A08151}"/>
              </a:ext>
            </a:extLst>
          </p:cNvPr>
          <p:cNvSpPr>
            <a:spLocks xmlns:a="http://schemas.openxmlformats.org/drawingml/2006/main" noGrp="1"/>
          </p:cNvSpPr>
          <p:nvPr/>
        </p:nvSpPr>
        <p:spPr>
          <a:xfrm xmlns:a="http://schemas.openxmlformats.org/drawingml/2006/main">
            <a:off x="1266825" y="4667250"/>
            <a:ext cx="10144125" cy="6048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Q and C share no ancestor.</a:t>
            </a:r>
          </a:p>
        </p:txBody>
      </p:sp>
      <p:sp>
        <p:nvSpPr>
          <p:cNvPr id="24" name="surface">
            <a:extLst xmlns:a="http://schemas.openxmlformats.org/drawingml/2006/main">
              <a:ext uri="{FF2B5EF4-FFF2-40B4-BE49-F238E27FC236}">
                <a16:creationId xmlns:a16="http://schemas.microsoft.com/office/drawing/2014/main" id="{A6EBD75D-615D-40CD-B884-0497BC5D0824}"/>
              </a:ext>
            </a:extLst>
          </p:cNvPr>
          <p:cNvSpPr>
            <a:spLocks xmlns:a="http://schemas.openxmlformats.org/drawingml/2006/main" noGrp="1"/>
          </p:cNvSpPr>
          <p:nvPr/>
        </p:nvSpPr>
        <p:spPr>
          <a:xfrm xmlns:a="http://schemas.openxmlformats.org/drawingml/2006/main">
            <a:off x="533400" y="5453063"/>
            <a:ext cx="11125200" cy="814388"/>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5" name="surface">
            <a:extLst xmlns:a="http://schemas.openxmlformats.org/drawingml/2006/main">
              <a:ext uri="{FF2B5EF4-FFF2-40B4-BE49-F238E27FC236}">
                <a16:creationId xmlns:a16="http://schemas.microsoft.com/office/drawing/2014/main" id="{8385F7BD-DC05-4FAA-8ADA-264BB2211ADF}"/>
              </a:ext>
            </a:extLst>
          </p:cNvPr>
          <p:cNvSpPr>
            <a:spLocks xmlns:a="http://schemas.openxmlformats.org/drawingml/2006/main" noGrp="1"/>
          </p:cNvSpPr>
          <p:nvPr/>
        </p:nvSpPr>
        <p:spPr>
          <a:xfrm xmlns:a="http://schemas.openxmlformats.org/drawingml/2006/main">
            <a:off x="533400" y="5453063"/>
            <a:ext cx="57150" cy="814388"/>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6" name="D">
            <a:extLst xmlns:a="http://schemas.openxmlformats.org/drawingml/2006/main">
              <a:ext uri="{FF2B5EF4-FFF2-40B4-BE49-F238E27FC236}">
                <a16:creationId xmlns:a16="http://schemas.microsoft.com/office/drawing/2014/main" id="{2F594E6A-2376-4D87-AB89-3F73E97059D2}"/>
              </a:ext>
            </a:extLst>
          </p:cNvPr>
          <p:cNvSpPr>
            <a:spLocks xmlns:a="http://schemas.openxmlformats.org/drawingml/2006/main" noGrp="1"/>
          </p:cNvSpPr>
          <p:nvPr/>
        </p:nvSpPr>
        <p:spPr>
          <a:xfrm xmlns:a="http://schemas.openxmlformats.org/drawingml/2006/main">
            <a:off x="733425" y="5595938"/>
            <a:ext cx="476250" cy="623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D</a:t>
            </a:r>
          </a:p>
        </p:txBody>
      </p:sp>
      <p:sp>
        <p:nvSpPr>
          <p:cNvPr id="27" name="A and Q have identical genomes.">
            <a:extLst xmlns:a="http://schemas.openxmlformats.org/drawingml/2006/main">
              <a:ext uri="{FF2B5EF4-FFF2-40B4-BE49-F238E27FC236}">
                <a16:creationId xmlns:a16="http://schemas.microsoft.com/office/drawing/2014/main" id="{C104EA05-03BC-4B64-9FDD-15F5462E903C}"/>
              </a:ext>
            </a:extLst>
          </p:cNvPr>
          <p:cNvSpPr>
            <a:spLocks xmlns:a="http://schemas.openxmlformats.org/drawingml/2006/main" noGrp="1"/>
          </p:cNvSpPr>
          <p:nvPr/>
        </p:nvSpPr>
        <p:spPr>
          <a:xfrm xmlns:a="http://schemas.openxmlformats.org/drawingml/2006/main">
            <a:off x="1266825" y="5595938"/>
            <a:ext cx="10144125" cy="6048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A and Q have identical genomes.</a:t>
            </a:r>
          </a:p>
        </p:txBody>
      </p:sp>
    </p:spTree>
    <p:extLst>
      <p:ext uri="{BB962C8B-B14F-4D97-AF65-F5344CB8AC3E}">
        <p14:creationId xmlns:p14="http://schemas.microsoft.com/office/powerpoint/2010/main" val="5246800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42A60F98-9FEF-49F9-B6DB-75C0A12985B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7E99F20-BA9B-4D68-A257-B0F4C65237A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70781273-493D-4FD0-83B2-EA1BAABB164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C857A251-47FA-4E76-93D1-DE3358F32977}"/>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18234DDB-F6C0-44AB-8E9B-FC8A078DA87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1 min">
            <a:extLst xmlns:a="http://schemas.openxmlformats.org/drawingml/2006/main">
              <a:ext uri="{FF2B5EF4-FFF2-40B4-BE49-F238E27FC236}">
                <a16:creationId xmlns:a16="http://schemas.microsoft.com/office/drawing/2014/main" id="{6EECE199-9831-4B19-B10D-57A53FC49761}"/>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11 min</a:t>
            </a:r>
          </a:p>
        </p:txBody>
      </p:sp>
      <p:sp>
        <p:nvSpPr>
          <p:cNvPr id="7" name="Create the museum evidence panel">
            <a:extLst xmlns:a="http://schemas.openxmlformats.org/drawingml/2006/main">
              <a:ext uri="{FF2B5EF4-FFF2-40B4-BE49-F238E27FC236}">
                <a16:creationId xmlns:a16="http://schemas.microsoft.com/office/drawing/2014/main" id="{DA46F264-C238-4DCB-A8F8-2FBC94D9A7C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Create the museum evidence panel</a:t>
            </a:r>
          </a:p>
        </p:txBody>
      </p:sp>
      <p:sp>
        <p:nvSpPr>
          <p:cNvPr id="8" name="surface">
            <a:extLst xmlns:a="http://schemas.openxmlformats.org/drawingml/2006/main">
              <a:ext uri="{FF2B5EF4-FFF2-40B4-BE49-F238E27FC236}">
                <a16:creationId xmlns:a16="http://schemas.microsoft.com/office/drawing/2014/main" id="{A8B6ACB5-BB6C-4FAA-B9AC-525336CEA18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Evolution: build the evidence case">
            <a:extLst xmlns:a="http://schemas.openxmlformats.org/drawingml/2006/main">
              <a:ext uri="{FF2B5EF4-FFF2-40B4-BE49-F238E27FC236}">
                <a16:creationId xmlns:a16="http://schemas.microsoft.com/office/drawing/2014/main" id="{09BB4998-A711-4338-84C6-FAF860E03B4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10" name="10 / 15">
            <a:extLst xmlns:a="http://schemas.openxmlformats.org/drawingml/2006/main">
              <a:ext uri="{FF2B5EF4-FFF2-40B4-BE49-F238E27FC236}">
                <a16:creationId xmlns:a16="http://schemas.microsoft.com/office/drawing/2014/main" id="{79E5F667-C86C-4E51-8D00-3D8663CA7BD6}"/>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15</a:t>
            </a:r>
          </a:p>
        </p:txBody>
      </p:sp>
      <p:sp>
        <p:nvSpPr>
          <p:cNvPr id="11" name="Choose Supported, Standard or Stretch with your teacher.">
            <a:extLst xmlns:a="http://schemas.openxmlformats.org/drawingml/2006/main">
              <a:ext uri="{FF2B5EF4-FFF2-40B4-BE49-F238E27FC236}">
                <a16:creationId xmlns:a16="http://schemas.microsoft.com/office/drawing/2014/main" id="{95D79F34-D9B4-44A1-A4D2-BE3035BDEADB}"/>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Supported, Standard or Stretch with your teacher.</a:t>
            </a:r>
          </a:p>
        </p:txBody>
      </p:sp>
      <p:sp>
        <p:nvSpPr>
          <p:cNvPr id="12" name="Explain a claim using two evidence types.">
            <a:extLst xmlns:a="http://schemas.openxmlformats.org/drawingml/2006/main">
              <a:ext uri="{FF2B5EF4-FFF2-40B4-BE49-F238E27FC236}">
                <a16:creationId xmlns:a16="http://schemas.microsoft.com/office/drawing/2014/main" id="{86859058-93B4-40AC-BE11-86F6014F966C}"/>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Explain a claim using two evidence types.</a:t>
            </a:r>
          </a:p>
        </p:txBody>
      </p:sp>
      <p:sp>
        <p:nvSpPr>
          <p:cNvPr id="13" name="Include one number and one limitation.">
            <a:extLst xmlns:a="http://schemas.openxmlformats.org/drawingml/2006/main">
              <a:ext uri="{FF2B5EF4-FFF2-40B4-BE49-F238E27FC236}">
                <a16:creationId xmlns:a16="http://schemas.microsoft.com/office/drawing/2014/main" id="{3BFA73DD-DF46-4822-A098-B92E4B4DD490}"/>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Include one number and one limitation.</a:t>
            </a:r>
          </a:p>
        </p:txBody>
      </p:sp>
    </p:spTree>
    <p:extLst>
      <p:ext uri="{BB962C8B-B14F-4D97-AF65-F5344CB8AC3E}">
        <p14:creationId xmlns:p14="http://schemas.microsoft.com/office/powerpoint/2010/main" val="19091172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016F8A49-C3A4-4E3C-8C3B-F457750873C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B9E7E39-317D-4991-85FB-4D0D7EA4270E}"/>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5E363567-D0E8-4E2B-86A1-A44C0F9D8B7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033E5094-B569-4E88-B200-EECF708DE440}"/>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5E231CAE-0584-4F19-BF09-9C81FD0FACA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A useful explanation structure">
            <a:extLst xmlns:a="http://schemas.openxmlformats.org/drawingml/2006/main">
              <a:ext uri="{FF2B5EF4-FFF2-40B4-BE49-F238E27FC236}">
                <a16:creationId xmlns:a16="http://schemas.microsoft.com/office/drawing/2014/main" id="{111AF789-B40C-4AB0-947C-BC4F14C1DCE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useful explanation structure</a:t>
            </a:r>
          </a:p>
        </p:txBody>
      </p:sp>
      <p:sp>
        <p:nvSpPr>
          <p:cNvPr id="7" name="surface">
            <a:extLst xmlns:a="http://schemas.openxmlformats.org/drawingml/2006/main">
              <a:ext uri="{FF2B5EF4-FFF2-40B4-BE49-F238E27FC236}">
                <a16:creationId xmlns:a16="http://schemas.microsoft.com/office/drawing/2014/main" id="{08E4A961-E20C-4396-A7CE-C406978EE09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Evolution: build the evidence case">
            <a:extLst xmlns:a="http://schemas.openxmlformats.org/drawingml/2006/main">
              <a:ext uri="{FF2B5EF4-FFF2-40B4-BE49-F238E27FC236}">
                <a16:creationId xmlns:a16="http://schemas.microsoft.com/office/drawing/2014/main" id="{7F7DFEB1-F6F5-4C80-8AC4-614BDE19EC8A}"/>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9" name="11 / 15">
            <a:extLst xmlns:a="http://schemas.openxmlformats.org/drawingml/2006/main">
              <a:ext uri="{FF2B5EF4-FFF2-40B4-BE49-F238E27FC236}">
                <a16:creationId xmlns:a16="http://schemas.microsoft.com/office/drawing/2014/main" id="{4F4F8858-6593-4071-9827-4DA113F7BB3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15</a:t>
            </a:r>
          </a:p>
        </p:txBody>
      </p:sp>
      <p:sp>
        <p:nvSpPr>
          <p:cNvPr id="10" name="The evidence shows …">
            <a:extLst xmlns:a="http://schemas.openxmlformats.org/drawingml/2006/main">
              <a:ext uri="{FF2B5EF4-FFF2-40B4-BE49-F238E27FC236}">
                <a16:creationId xmlns:a16="http://schemas.microsoft.com/office/drawing/2014/main" id="{C125E476-602D-4DBA-87D0-EDB099B53D59}"/>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The evidence shows …</a:t>
            </a:r>
          </a:p>
        </p:txBody>
      </p:sp>
      <p:sp>
        <p:nvSpPr>
          <p:cNvPr id="11" name="This supports … because …">
            <a:extLst xmlns:a="http://schemas.openxmlformats.org/drawingml/2006/main">
              <a:ext uri="{FF2B5EF4-FFF2-40B4-BE49-F238E27FC236}">
                <a16:creationId xmlns:a16="http://schemas.microsoft.com/office/drawing/2014/main" id="{DFC4BA71-D537-4521-A4E7-A432743A2A84}"/>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This supports … because …</a:t>
            </a:r>
          </a:p>
        </p:txBody>
      </p:sp>
      <p:sp>
        <p:nvSpPr>
          <p:cNvPr id="12" name="It cannot tell us …">
            <a:extLst xmlns:a="http://schemas.openxmlformats.org/drawingml/2006/main">
              <a:ext uri="{FF2B5EF4-FFF2-40B4-BE49-F238E27FC236}">
                <a16:creationId xmlns:a16="http://schemas.microsoft.com/office/drawing/2014/main" id="{AE9CC077-2AB9-431E-85A4-1028C3A1BE46}"/>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It cannot tell us …</a:t>
            </a:r>
          </a:p>
        </p:txBody>
      </p:sp>
    </p:spTree>
    <p:extLst>
      <p:ext uri="{BB962C8B-B14F-4D97-AF65-F5344CB8AC3E}">
        <p14:creationId xmlns:p14="http://schemas.microsoft.com/office/powerpoint/2010/main" val="10453743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58A3B059-A387-4C15-8EE6-B878A913C42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239E4AFA-2F8F-4C9D-B280-3430DEC82E0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1E5E752-62BA-4BC1-B724-B0D89816159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664BE77E-83A9-4FDF-A935-ED60BE9DD180}"/>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5D6BA874-0D85-440A-B145-DBF46433D20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Check your scientific decisions">
            <a:extLst xmlns:a="http://schemas.openxmlformats.org/drawingml/2006/main">
              <a:ext uri="{FF2B5EF4-FFF2-40B4-BE49-F238E27FC236}">
                <a16:creationId xmlns:a16="http://schemas.microsoft.com/office/drawing/2014/main" id="{3A433BC0-EDAD-4D84-833F-5296482A385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Check your scientific decisions</a:t>
            </a:r>
          </a:p>
        </p:txBody>
      </p:sp>
      <p:sp>
        <p:nvSpPr>
          <p:cNvPr id="7" name="surface">
            <a:extLst xmlns:a="http://schemas.openxmlformats.org/drawingml/2006/main">
              <a:ext uri="{FF2B5EF4-FFF2-40B4-BE49-F238E27FC236}">
                <a16:creationId xmlns:a16="http://schemas.microsoft.com/office/drawing/2014/main" id="{B2FB38C4-071B-4DF5-B7B2-D52EEB81DC6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Evolution: build the evidence case">
            <a:extLst xmlns:a="http://schemas.openxmlformats.org/drawingml/2006/main">
              <a:ext uri="{FF2B5EF4-FFF2-40B4-BE49-F238E27FC236}">
                <a16:creationId xmlns:a16="http://schemas.microsoft.com/office/drawing/2014/main" id="{26C13FFF-E13C-40F7-A425-656484DFB549}"/>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9" name="12 / 15">
            <a:extLst xmlns:a="http://schemas.openxmlformats.org/drawingml/2006/main">
              <a:ext uri="{FF2B5EF4-FFF2-40B4-BE49-F238E27FC236}">
                <a16:creationId xmlns:a16="http://schemas.microsoft.com/office/drawing/2014/main" id="{B1C27C04-DBA7-4523-9590-860B8C1C8A2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15</a:t>
            </a:r>
          </a:p>
        </p:txBody>
      </p:sp>
      <p:sp>
        <p:nvSpPr>
          <p:cNvPr id="10" name="Have you named an actual feature or number?">
            <a:extLst xmlns:a="http://schemas.openxmlformats.org/drawingml/2006/main">
              <a:ext uri="{FF2B5EF4-FFF2-40B4-BE49-F238E27FC236}">
                <a16:creationId xmlns:a16="http://schemas.microsoft.com/office/drawing/2014/main" id="{758361F9-365B-4418-AC53-C15922D83072}"/>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Have you named an actual feature or number?</a:t>
            </a:r>
          </a:p>
        </p:txBody>
      </p:sp>
      <p:sp>
        <p:nvSpPr>
          <p:cNvPr id="11" name="Have you explained how it supports the claim?">
            <a:extLst xmlns:a="http://schemas.openxmlformats.org/drawingml/2006/main">
              <a:ext uri="{FF2B5EF4-FFF2-40B4-BE49-F238E27FC236}">
                <a16:creationId xmlns:a16="http://schemas.microsoft.com/office/drawing/2014/main" id="{749D9E78-3419-4B8C-A60B-1F05B4559932}"/>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Have you explained how it supports the claim?</a:t>
            </a:r>
          </a:p>
        </p:txBody>
      </p:sp>
      <p:sp>
        <p:nvSpPr>
          <p:cNvPr id="12" name="Have you avoided a claim the evidence cannot test?">
            <a:extLst xmlns:a="http://schemas.openxmlformats.org/drawingml/2006/main">
              <a:ext uri="{FF2B5EF4-FFF2-40B4-BE49-F238E27FC236}">
                <a16:creationId xmlns:a16="http://schemas.microsoft.com/office/drawing/2014/main" id="{39848064-F885-4BBF-838F-C491E91AD3E7}"/>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Have you avoided a claim the evidence cannot test?</a:t>
            </a:r>
          </a:p>
        </p:txBody>
      </p:sp>
    </p:spTree>
    <p:extLst>
      <p:ext uri="{BB962C8B-B14F-4D97-AF65-F5344CB8AC3E}">
        <p14:creationId xmlns:p14="http://schemas.microsoft.com/office/powerpoint/2010/main" val="162824610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096D8A65-7C83-4CD5-84EB-9BCE7474104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4FFF6925-00FC-4B5C-AF4F-EA7F87A4995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3D08D62-C192-4855-A0C2-0C49E9256D5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98C72A27-2A47-4710-B66A-9DF777E076A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view">
            <a:extLst xmlns:a="http://schemas.openxmlformats.org/drawingml/2006/main">
              <a:ext uri="{FF2B5EF4-FFF2-40B4-BE49-F238E27FC236}">
                <a16:creationId xmlns:a16="http://schemas.microsoft.com/office/drawing/2014/main" id="{798E2322-3C7D-419F-9C03-B1B6C6DA6BA8}"/>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Review</a:t>
            </a:r>
          </a:p>
        </p:txBody>
      </p:sp>
      <p:sp>
        <p:nvSpPr>
          <p:cNvPr id="6" name="3 min">
            <a:extLst xmlns:a="http://schemas.openxmlformats.org/drawingml/2006/main">
              <a:ext uri="{FF2B5EF4-FFF2-40B4-BE49-F238E27FC236}">
                <a16:creationId xmlns:a16="http://schemas.microsoft.com/office/drawing/2014/main" id="{88FA379C-AA62-4039-9951-97E1CED22F89}"/>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Compare, improve, hear the response">
            <a:extLst xmlns:a="http://schemas.openxmlformats.org/drawingml/2006/main">
              <a:ext uri="{FF2B5EF4-FFF2-40B4-BE49-F238E27FC236}">
                <a16:creationId xmlns:a16="http://schemas.microsoft.com/office/drawing/2014/main" id="{D382FF72-51FB-4999-881B-3E3EF04C898B}"/>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Compare, improve, hear the response</a:t>
            </a:r>
          </a:p>
        </p:txBody>
      </p:sp>
      <p:sp>
        <p:nvSpPr>
          <p:cNvPr id="8" name="surface">
            <a:extLst xmlns:a="http://schemas.openxmlformats.org/drawingml/2006/main">
              <a:ext uri="{FF2B5EF4-FFF2-40B4-BE49-F238E27FC236}">
                <a16:creationId xmlns:a16="http://schemas.microsoft.com/office/drawing/2014/main" id="{504FFFFD-B683-41B1-85C4-45933830A80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Evolution: build the evidence case">
            <a:extLst xmlns:a="http://schemas.openxmlformats.org/drawingml/2006/main">
              <a:ext uri="{FF2B5EF4-FFF2-40B4-BE49-F238E27FC236}">
                <a16:creationId xmlns:a16="http://schemas.microsoft.com/office/drawing/2014/main" id="{2A41CE18-0B93-4EA0-952C-70713FD7DFC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10" name="13 / 15">
            <a:extLst xmlns:a="http://schemas.openxmlformats.org/drawingml/2006/main">
              <a:ext uri="{FF2B5EF4-FFF2-40B4-BE49-F238E27FC236}">
                <a16:creationId xmlns:a16="http://schemas.microsoft.com/office/drawing/2014/main" id="{9B37C4E3-10DC-4DA2-B87D-FECAA027F4D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15</a:t>
            </a:r>
          </a:p>
        </p:txBody>
      </p:sp>
      <p:sp>
        <p:nvSpPr>
          <p:cNvPr id="11" name="Share one evidence sentence in your chosen way.">
            <a:extLst xmlns:a="http://schemas.openxmlformats.org/drawingml/2006/main">
              <a:ext uri="{FF2B5EF4-FFF2-40B4-BE49-F238E27FC236}">
                <a16:creationId xmlns:a16="http://schemas.microsoft.com/office/drawing/2014/main" id="{686BA050-FD3E-43E8-A556-ED6F06AA8A01}"/>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Share one evidence sentence in your chosen way.</a:t>
            </a:r>
          </a:p>
        </p:txBody>
      </p:sp>
      <p:sp>
        <p:nvSpPr>
          <p:cNvPr id="12" name="Hear one helpful question.">
            <a:extLst xmlns:a="http://schemas.openxmlformats.org/drawingml/2006/main">
              <a:ext uri="{FF2B5EF4-FFF2-40B4-BE49-F238E27FC236}">
                <a16:creationId xmlns:a16="http://schemas.microsoft.com/office/drawing/2014/main" id="{C8C0ECF7-7A9A-45FF-A7EF-0FE6A4EE0F1B}"/>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Hear one helpful question.</a:t>
            </a:r>
          </a:p>
        </p:txBody>
      </p:sp>
      <p:sp>
        <p:nvSpPr>
          <p:cNvPr id="13" name="Revise one claim that was too strong.">
            <a:extLst xmlns:a="http://schemas.openxmlformats.org/drawingml/2006/main">
              <a:ext uri="{FF2B5EF4-FFF2-40B4-BE49-F238E27FC236}">
                <a16:creationId xmlns:a16="http://schemas.microsoft.com/office/drawing/2014/main" id="{AE36313E-435E-439A-9DE3-999B3F35AA2F}"/>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Revise one claim that was too strong.</a:t>
            </a:r>
          </a:p>
        </p:txBody>
      </p:sp>
    </p:spTree>
    <p:extLst>
      <p:ext uri="{BB962C8B-B14F-4D97-AF65-F5344CB8AC3E}">
        <p14:creationId xmlns:p14="http://schemas.microsoft.com/office/powerpoint/2010/main" val="175788503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7CA9CDD6-F85F-4D8A-BDB7-5B6EDAF6638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A32249A-FEF7-4800-A369-1F52D112953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7961507F-DB99-43B7-A489-6D6B2581CB22}"/>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D98DF2A1-72AB-40AE-A774-E56DF6BA152F}"/>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view">
            <a:extLst xmlns:a="http://schemas.openxmlformats.org/drawingml/2006/main">
              <a:ext uri="{FF2B5EF4-FFF2-40B4-BE49-F238E27FC236}">
                <a16:creationId xmlns:a16="http://schemas.microsoft.com/office/drawing/2014/main" id="{440A57AB-655C-4E67-A35A-517764F711D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Review</a:t>
            </a:r>
          </a:p>
        </p:txBody>
      </p:sp>
      <p:sp>
        <p:nvSpPr>
          <p:cNvPr id="6" name="What counts as a strong panel?">
            <a:extLst xmlns:a="http://schemas.openxmlformats.org/drawingml/2006/main">
              <a:ext uri="{FF2B5EF4-FFF2-40B4-BE49-F238E27FC236}">
                <a16:creationId xmlns:a16="http://schemas.microsoft.com/office/drawing/2014/main" id="{7010397D-8CFE-4EB9-85E6-E0EE7AF3E62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What counts as a strong panel?</a:t>
            </a:r>
          </a:p>
        </p:txBody>
      </p:sp>
      <p:sp>
        <p:nvSpPr>
          <p:cNvPr id="7" name="surface">
            <a:extLst xmlns:a="http://schemas.openxmlformats.org/drawingml/2006/main">
              <a:ext uri="{FF2B5EF4-FFF2-40B4-BE49-F238E27FC236}">
                <a16:creationId xmlns:a16="http://schemas.microsoft.com/office/drawing/2014/main" id="{238C518F-D835-4AF7-8335-33AD599EB1A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Evolution: build the evidence case">
            <a:extLst xmlns:a="http://schemas.openxmlformats.org/drawingml/2006/main">
              <a:ext uri="{FF2B5EF4-FFF2-40B4-BE49-F238E27FC236}">
                <a16:creationId xmlns:a16="http://schemas.microsoft.com/office/drawing/2014/main" id="{637D4D29-0B16-423D-B41F-E2B01290D3D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9" name="14 / 15">
            <a:extLst xmlns:a="http://schemas.openxmlformats.org/drawingml/2006/main">
              <a:ext uri="{FF2B5EF4-FFF2-40B4-BE49-F238E27FC236}">
                <a16:creationId xmlns:a16="http://schemas.microsoft.com/office/drawing/2014/main" id="{060CEDE2-F29A-4766-9109-FB2BA2F05F6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15</a:t>
            </a:r>
          </a:p>
        </p:txBody>
      </p:sp>
      <p:sp>
        <p:nvSpPr>
          <p:cNvPr id="10" name="Accurate observation plus explained inference.">
            <a:extLst xmlns:a="http://schemas.openxmlformats.org/drawingml/2006/main">
              <a:ext uri="{FF2B5EF4-FFF2-40B4-BE49-F238E27FC236}">
                <a16:creationId xmlns:a16="http://schemas.microsoft.com/office/drawing/2014/main" id="{B9D2C9D3-F6CC-4AAE-8A8D-FA83F762C307}"/>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Accurate observation plus explained inference.</a:t>
            </a:r>
          </a:p>
        </p:txBody>
      </p:sp>
      <p:sp>
        <p:nvSpPr>
          <p:cNvPr id="11" name="A number with its sampled quantity.">
            <a:extLst xmlns:a="http://schemas.openxmlformats.org/drawingml/2006/main">
              <a:ext uri="{FF2B5EF4-FFF2-40B4-BE49-F238E27FC236}">
                <a16:creationId xmlns:a16="http://schemas.microsoft.com/office/drawing/2014/main" id="{91E6F1FA-D21E-4DA7-ADD7-E6915AEDF5F4}"/>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 number with its sampled quantity.</a:t>
            </a:r>
          </a:p>
        </p:txBody>
      </p:sp>
      <p:sp>
        <p:nvSpPr>
          <p:cNvPr id="12" name="A specific limit on the conclusion.">
            <a:extLst xmlns:a="http://schemas.openxmlformats.org/drawingml/2006/main">
              <a:ext uri="{FF2B5EF4-FFF2-40B4-BE49-F238E27FC236}">
                <a16:creationId xmlns:a16="http://schemas.microsoft.com/office/drawing/2014/main" id="{B06ED71F-A7F1-4461-B313-61BB0E429DCB}"/>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 specific limit on the conclusion.</a:t>
            </a:r>
          </a:p>
        </p:txBody>
      </p:sp>
    </p:spTree>
    <p:extLst>
      <p:ext uri="{BB962C8B-B14F-4D97-AF65-F5344CB8AC3E}">
        <p14:creationId xmlns:p14="http://schemas.microsoft.com/office/powerpoint/2010/main" val="213745482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943B873A-A1B0-4A46-967F-8ACB7D81D42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CB91EF2F-7397-4987-9D06-A456AB21152C}"/>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7269E2D9-2790-4F9C-B033-82E6120278DA}"/>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517639BB-60D4-407E-BE2E-0AA409B2E61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Exit">
            <a:extLst xmlns:a="http://schemas.openxmlformats.org/drawingml/2006/main">
              <a:ext uri="{FF2B5EF4-FFF2-40B4-BE49-F238E27FC236}">
                <a16:creationId xmlns:a16="http://schemas.microsoft.com/office/drawing/2014/main" id="{39DF7A63-7972-4E5E-A792-8ADC348BDA87}"/>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Exit</a:t>
            </a:r>
          </a:p>
        </p:txBody>
      </p:sp>
      <p:sp>
        <p:nvSpPr>
          <p:cNvPr id="6" name="1 min">
            <a:extLst xmlns:a="http://schemas.openxmlformats.org/drawingml/2006/main">
              <a:ext uri="{FF2B5EF4-FFF2-40B4-BE49-F238E27FC236}">
                <a16:creationId xmlns:a16="http://schemas.microsoft.com/office/drawing/2014/main" id="{66459199-2661-4B36-9C7E-26A04A58CF6C}"/>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 min</a:t>
            </a:r>
          </a:p>
        </p:txBody>
      </p:sp>
      <p:sp>
        <p:nvSpPr>
          <p:cNvPr id="7" name="One precise final claim">
            <a:extLst xmlns:a="http://schemas.openxmlformats.org/drawingml/2006/main">
              <a:ext uri="{FF2B5EF4-FFF2-40B4-BE49-F238E27FC236}">
                <a16:creationId xmlns:a16="http://schemas.microsoft.com/office/drawing/2014/main" id="{2A9DD4A3-0FB4-4B96-8A20-875366E1F97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One precise final claim</a:t>
            </a:r>
          </a:p>
        </p:txBody>
      </p:sp>
      <p:sp>
        <p:nvSpPr>
          <p:cNvPr id="8" name="surface">
            <a:extLst xmlns:a="http://schemas.openxmlformats.org/drawingml/2006/main">
              <a:ext uri="{FF2B5EF4-FFF2-40B4-BE49-F238E27FC236}">
                <a16:creationId xmlns:a16="http://schemas.microsoft.com/office/drawing/2014/main" id="{A3D5F199-9A02-40A0-8B7A-C19470D1A70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Evolution: build the evidence case">
            <a:extLst xmlns:a="http://schemas.openxmlformats.org/drawingml/2006/main">
              <a:ext uri="{FF2B5EF4-FFF2-40B4-BE49-F238E27FC236}">
                <a16:creationId xmlns:a16="http://schemas.microsoft.com/office/drawing/2014/main" id="{A34F0632-5536-4915-A217-BFEDCEA0AAD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Evolution: build the evidence case</a:t>
            </a:r>
          </a:p>
        </p:txBody>
      </p:sp>
      <p:sp>
        <p:nvSpPr>
          <p:cNvPr id="10" name="15 / 15">
            <a:extLst xmlns:a="http://schemas.openxmlformats.org/drawingml/2006/main">
              <a:ext uri="{FF2B5EF4-FFF2-40B4-BE49-F238E27FC236}">
                <a16:creationId xmlns:a16="http://schemas.microsoft.com/office/drawing/2014/main" id="{64CD40CE-A730-4AD6-8B06-DE3CCD9C794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15 / 15</a:t>
            </a:r>
          </a:p>
        </p:txBody>
      </p:sp>
      <p:sp>
        <p:nvSpPr>
          <p:cNvPr id="11" name="E1. Which species is closest to Q in the sample? Cite a number.">
            <a:extLst xmlns:a="http://schemas.openxmlformats.org/drawingml/2006/main">
              <a:ext uri="{FF2B5EF4-FFF2-40B4-BE49-F238E27FC236}">
                <a16:creationId xmlns:a16="http://schemas.microsoft.com/office/drawing/2014/main" id="{6A2796EB-98B8-434E-938A-924255B03301}"/>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E1. Which species is closest to Q in the sample? Cite a number.</a:t>
            </a:r>
          </a:p>
        </p:txBody>
      </p:sp>
      <p:sp>
        <p:nvSpPr>
          <p:cNvPr id="12" name="E2. Finish: a shared limb plan supports …">
            <a:extLst xmlns:a="http://schemas.openxmlformats.org/drawingml/2006/main">
              <a:ext uri="{FF2B5EF4-FFF2-40B4-BE49-F238E27FC236}">
                <a16:creationId xmlns:a16="http://schemas.microsoft.com/office/drawing/2014/main" id="{978FCE63-6158-4F1B-B11D-32A1125AD95A}"/>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E2. Finish: a shared limb plan supports …</a:t>
            </a:r>
          </a:p>
        </p:txBody>
      </p:sp>
      <p:sp>
        <p:nvSpPr>
          <p:cNvPr id="13" name="E3. Name one thing this evidence cannot establish.">
            <a:extLst xmlns:a="http://schemas.openxmlformats.org/drawingml/2006/main">
              <a:ext uri="{FF2B5EF4-FFF2-40B4-BE49-F238E27FC236}">
                <a16:creationId xmlns:a16="http://schemas.microsoft.com/office/drawing/2014/main" id="{F40D6113-C7E7-4B79-953A-ACA6D3160AD0}"/>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E3. Name one thing this evidence cannot establish.</a:t>
            </a:r>
          </a:p>
        </p:txBody>
      </p:sp>
    </p:spTree>
    <p:extLst>
      <p:ext uri="{BB962C8B-B14F-4D97-AF65-F5344CB8AC3E}">
        <p14:creationId xmlns:p14="http://schemas.microsoft.com/office/powerpoint/2010/main" val="3988016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2026-09-08T22:36:23.7900000Z</dcterms:created>
  <dcterms:modified xsi:type="dcterms:W3CDTF">2026-09-08T22:36:23.7900000Z</dcterms:modified>
</coreProperties>
</file>