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467660e324421a" /><Relationship Type="http://schemas.openxmlformats.org/officeDocument/2006/relationships/extended-properties" Target="/docProps/app.xml" Id="R889dbe9a49ac4ff4" /><Relationship Type="http://schemas.openxmlformats.org/officeDocument/2006/relationships/officeDocument" Target="/ppt/presentation.xml" Id="R96a76d318cf448ef" /></Relationships>
</file>

<file path=ppt/presentation.xml><?xml version="1.0" encoding="utf-8"?>
<p:presentation xmlns:p="http://schemas.openxmlformats.org/presentationml/2006/main">
  <p:sldMasterIdLst>
    <p:sldMasterId xmlns:r="http://schemas.openxmlformats.org/officeDocument/2006/relationships" id="2147483648" r:id="Rd55eb44b9d2d4289"/>
  </p:sldMasterIdLst>
  <p:notesMasterIdLst>
    <p:notesMasterId xmlns:r="http://schemas.openxmlformats.org/officeDocument/2006/relationships" r:id="R56152c7b2a4b45ec"/>
  </p:notesMasterIdLst>
  <p:sldIdLst>
    <p:sldId xmlns:r="http://schemas.openxmlformats.org/officeDocument/2006/relationships" id="256" r:id="Rc80954b4588d4254"/>
    <p:sldId xmlns:r="http://schemas.openxmlformats.org/officeDocument/2006/relationships" id="257" r:id="Rdd0714995b5e460e"/>
    <p:sldId xmlns:r="http://schemas.openxmlformats.org/officeDocument/2006/relationships" id="258" r:id="R0c6f855db5514cbb"/>
    <p:sldId xmlns:r="http://schemas.openxmlformats.org/officeDocument/2006/relationships" id="259" r:id="R498b6dae27b14a44"/>
    <p:sldId xmlns:r="http://schemas.openxmlformats.org/officeDocument/2006/relationships" id="260" r:id="Red8ec05f8c914a47"/>
    <p:sldId xmlns:r="http://schemas.openxmlformats.org/officeDocument/2006/relationships" id="261" r:id="Rf3947ffd9f0c49d7"/>
    <p:sldId xmlns:r="http://schemas.openxmlformats.org/officeDocument/2006/relationships" id="262" r:id="R66d0f820dea8458a"/>
    <p:sldId xmlns:r="http://schemas.openxmlformats.org/officeDocument/2006/relationships" id="263" r:id="Rfc8943e4e3664da6"/>
    <p:sldId xmlns:r="http://schemas.openxmlformats.org/officeDocument/2006/relationships" id="264" r:id="Rd3b060358bdb450c"/>
    <p:sldId xmlns:r="http://schemas.openxmlformats.org/officeDocument/2006/relationships" id="265" r:id="R9fd71f3360744277"/>
    <p:sldId xmlns:r="http://schemas.openxmlformats.org/officeDocument/2006/relationships" id="266" r:id="Ra281a274bc2a4077"/>
    <p:sldId xmlns:r="http://schemas.openxmlformats.org/officeDocument/2006/relationships" id="267" r:id="R941009d2ed7743b4"/>
    <p:sldId xmlns:r="http://schemas.openxmlformats.org/officeDocument/2006/relationships" id="268" r:id="R28c706c911284922"/>
    <p:sldId xmlns:r="http://schemas.openxmlformats.org/officeDocument/2006/relationships" id="269" r:id="R9ae2427e0de84985"/>
    <p:sldId xmlns:r="http://schemas.openxmlformats.org/officeDocument/2006/relationships" id="270" r:id="R40e656e3dedc4308"/>
    <p:sldId xmlns:r="http://schemas.openxmlformats.org/officeDocument/2006/relationships" id="271" r:id="R2e777f2202e94fb7"/>
    <p:sldId xmlns:r="http://schemas.openxmlformats.org/officeDocument/2006/relationships" id="272" r:id="R08a0ab5b42b94afe"/>
    <p:sldId xmlns:r="http://schemas.openxmlformats.org/officeDocument/2006/relationships" id="273" r:id="R3cfc50585848413d"/>
    <p:sldId xmlns:r="http://schemas.openxmlformats.org/officeDocument/2006/relationships" id="274" r:id="R990fb68b91cf48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872ef8f4a14401" /><Relationship Type="http://schemas.openxmlformats.org/officeDocument/2006/relationships/slideMaster" Target="/ppt/slideMasters/slideMaster1.xml" Id="Rd55eb44b9d2d4289" /><Relationship Type="http://schemas.openxmlformats.org/officeDocument/2006/relationships/notesMaster" Target="/ppt/notesMasters/notesMaster1.xml" Id="R56152c7b2a4b45ec" /><Relationship Type="http://schemas.openxmlformats.org/officeDocument/2006/relationships/presProps" Target="/ppt/presProps.xml" Id="Rbc68e68eb4fe4f04" /><Relationship Type="http://schemas.openxmlformats.org/officeDocument/2006/relationships/tableStyles" Target="/ppt/tableStyles.xml" Id="R1c483e56a4f2427d" /><Relationship Type="http://schemas.openxmlformats.org/officeDocument/2006/relationships/slide" Target="/ppt/slides/slide1.xml" Id="Rc80954b4588d4254" /><Relationship Type="http://schemas.openxmlformats.org/officeDocument/2006/relationships/slide" Target="/ppt/slides/slide2.xml" Id="Rdd0714995b5e460e" /><Relationship Type="http://schemas.openxmlformats.org/officeDocument/2006/relationships/slide" Target="/ppt/slides/slide3.xml" Id="R0c6f855db5514cbb" /><Relationship Type="http://schemas.openxmlformats.org/officeDocument/2006/relationships/slide" Target="/ppt/slides/slide4.xml" Id="R498b6dae27b14a44" /><Relationship Type="http://schemas.openxmlformats.org/officeDocument/2006/relationships/slide" Target="/ppt/slides/slide5.xml" Id="Red8ec05f8c914a47" /><Relationship Type="http://schemas.openxmlformats.org/officeDocument/2006/relationships/slide" Target="/ppt/slides/slide6.xml" Id="Rf3947ffd9f0c49d7" /><Relationship Type="http://schemas.openxmlformats.org/officeDocument/2006/relationships/slide" Target="/ppt/slides/slide7.xml" Id="R66d0f820dea8458a" /><Relationship Type="http://schemas.openxmlformats.org/officeDocument/2006/relationships/slide" Target="/ppt/slides/slide8.xml" Id="Rfc8943e4e3664da6" /><Relationship Type="http://schemas.openxmlformats.org/officeDocument/2006/relationships/slide" Target="/ppt/slides/slide9.xml" Id="Rd3b060358bdb450c" /><Relationship Type="http://schemas.openxmlformats.org/officeDocument/2006/relationships/slide" Target="/ppt/slides/slide10.xml" Id="R9fd71f3360744277" /><Relationship Type="http://schemas.openxmlformats.org/officeDocument/2006/relationships/slide" Target="/ppt/slides/slide11.xml" Id="Ra281a274bc2a4077" /><Relationship Type="http://schemas.openxmlformats.org/officeDocument/2006/relationships/slide" Target="/ppt/slides/slide12.xml" Id="R941009d2ed7743b4" /><Relationship Type="http://schemas.openxmlformats.org/officeDocument/2006/relationships/slide" Target="/ppt/slides/slide13.xml" Id="R28c706c911284922" /><Relationship Type="http://schemas.openxmlformats.org/officeDocument/2006/relationships/slide" Target="/ppt/slides/slide14.xml" Id="R9ae2427e0de84985" /><Relationship Type="http://schemas.openxmlformats.org/officeDocument/2006/relationships/slide" Target="/ppt/slides/slide15.xml" Id="R40e656e3dedc4308" /><Relationship Type="http://schemas.openxmlformats.org/officeDocument/2006/relationships/slide" Target="/ppt/slides/slide16.xml" Id="R2e777f2202e94fb7" /><Relationship Type="http://schemas.openxmlformats.org/officeDocument/2006/relationships/slide" Target="/ppt/slides/slide17.xml" Id="R08a0ab5b42b94afe" /><Relationship Type="http://schemas.openxmlformats.org/officeDocument/2006/relationships/slide" Target="/ppt/slides/slide18.xml" Id="R3cfc50585848413d" /><Relationship Type="http://schemas.openxmlformats.org/officeDocument/2006/relationships/slide" Target="/ppt/slides/slide19.xml" Id="R990fb68b91cf48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d901bb02fe4e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2da8ac092e4a14" /><Relationship Type="http://schemas.openxmlformats.org/officeDocument/2006/relationships/notesMaster" Target="/ppt/notesMasters/notesMaster1.xml" Id="R1213298146864a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85e9c11b49450a" /><Relationship Type="http://schemas.openxmlformats.org/officeDocument/2006/relationships/notesMaster" Target="/ppt/notesMasters/notesMaster1.xml" Id="Rfa962a26a7ea44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c8adcaaf7f4025" /><Relationship Type="http://schemas.openxmlformats.org/officeDocument/2006/relationships/notesMaster" Target="/ppt/notesMasters/notesMaster1.xml" Id="Rb633890aacb244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4da75dee7b468f" /><Relationship Type="http://schemas.openxmlformats.org/officeDocument/2006/relationships/notesMaster" Target="/ppt/notesMasters/notesMaster1.xml" Id="Raa94efe9f06d49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932e16f03d4d62" /><Relationship Type="http://schemas.openxmlformats.org/officeDocument/2006/relationships/notesMaster" Target="/ppt/notesMasters/notesMaster1.xml" Id="R80886fef80bf488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b9b48086fb43b8" /><Relationship Type="http://schemas.openxmlformats.org/officeDocument/2006/relationships/notesMaster" Target="/ppt/notesMasters/notesMaster1.xml" Id="Rf8a4dafceac441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d274f196424200" /><Relationship Type="http://schemas.openxmlformats.org/officeDocument/2006/relationships/notesMaster" Target="/ppt/notesMasters/notesMaster1.xml" Id="Rfccbb2861f4647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c59dc662c64355" /><Relationship Type="http://schemas.openxmlformats.org/officeDocument/2006/relationships/notesMaster" Target="/ppt/notesMasters/notesMaster1.xml" Id="Rc82cadc437b94496"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839475316540a2" /><Relationship Type="http://schemas.openxmlformats.org/officeDocument/2006/relationships/notesMaster" Target="/ppt/notesMasters/notesMaster1.xml" Id="Rd64e0ad19fb843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f1324849794bd0" /><Relationship Type="http://schemas.openxmlformats.org/officeDocument/2006/relationships/notesMaster" Target="/ppt/notesMasters/notesMaster1.xml" Id="R69858914ef6045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0b312c0483438d" /><Relationship Type="http://schemas.openxmlformats.org/officeDocument/2006/relationships/notesMaster" Target="/ppt/notesMasters/notesMaster1.xml" Id="Ra225f399f1e6445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c50ac9098640da" /><Relationship Type="http://schemas.openxmlformats.org/officeDocument/2006/relationships/notesMaster" Target="/ppt/notesMasters/notesMaster1.xml" Id="R29fccc6dd5bd4e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a149fd72404164" /><Relationship Type="http://schemas.openxmlformats.org/officeDocument/2006/relationships/notesMaster" Target="/ppt/notesMasters/notesMaster1.xml" Id="R0153723d582a44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672e61a410e44c3" /><Relationship Type="http://schemas.openxmlformats.org/officeDocument/2006/relationships/notesMaster" Target="/ppt/notesMasters/notesMaster1.xml" Id="R230e4762415442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7cf17550c84130" /><Relationship Type="http://schemas.openxmlformats.org/officeDocument/2006/relationships/notesMaster" Target="/ppt/notesMasters/notesMaster1.xml" Id="R84eb086baf5447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a2b79deda0d4f68" /><Relationship Type="http://schemas.openxmlformats.org/officeDocument/2006/relationships/notesMaster" Target="/ppt/notesMasters/notesMaster1.xml" Id="Rd4cc2528527d475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b7d3dfd88924f68" /><Relationship Type="http://schemas.openxmlformats.org/officeDocument/2006/relationships/notesMaster" Target="/ppt/notesMasters/notesMaster1.xml" Id="R9d9ab56fc8ec4e1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11204f52e5d44fa" /><Relationship Type="http://schemas.openxmlformats.org/officeDocument/2006/relationships/notesMaster" Target="/ppt/notesMasters/notesMaster1.xml" Id="R8e8abde0e17c4a0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5d7a274e53d4402" /><Relationship Type="http://schemas.openxmlformats.org/officeDocument/2006/relationships/notesMaster" Target="/ppt/notesMasters/notesMaster1.xml" Id="Rc04f234558e94b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Overview: 0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 card: preserve the scientific demand; change access or response mode before demand.</a:t>
            </a:r>
          </a:p>
          <a:p xmlns:a="http://schemas.openxmlformats.org/drawingml/2006/main">
            <a:r>
              <a:t/>
            </a:r>
          </a:p>
          <a:p xmlns:a="http://schemas.openxmlformats.org/drawingml/2006/main">
            <a:r>
              <a:t>Staff card: keep supplied observations separate from explanation and missing evidence.</a:t>
            </a:r>
          </a:p>
          <a:p xmlns:a="http://schemas.openxmlformats.org/drawingml/2006/main">
            <a:r>
              <a:t/>
            </a:r>
          </a:p>
          <a:p xmlns:a="http://schemas.openxmlformats.org/drawingml/2006/main">
            <a:r>
              <a:t>Preparation guidance carrier.</a:t>
            </a:r>
          </a:p>
          <a:p xmlns:a="http://schemas.openxmlformats.org/drawingml/2006/main">
            <a:r>
              <a:t/>
            </a:r>
          </a:p>
          <a:p xmlns:a="http://schemas.openxmlformats.org/drawingml/2006/main">
            <a:r>
              <a:t>Access guidance carrier.</a:t>
            </a:r>
          </a:p>
          <a:p xmlns:a="http://schemas.openxmlformats.org/drawingml/2006/main">
            <a:r>
              <a:t/>
            </a:r>
          </a:p>
          <a:p xmlns:a="http://schemas.openxmlformats.org/drawingml/2006/main">
            <a:r>
              <a:t>Evidence guidance carrier.</a:t>
            </a:r>
          </a:p>
          <a:p xmlns:a="http://schemas.openxmlformats.org/drawingml/2006/main">
            <a:r>
              <a:t/>
            </a:r>
          </a:p>
          <a:p xmlns:a="http://schemas.openxmlformats.org/drawingml/2006/main">
            <a:r>
              <a:t>Approved topic 2 and 3 evidence tasks · entry map: An observation is recorded before an inference so the two cannot be blurred. Link that anchor only when this second detail is relevant: A response choice is justified by a named feature, pattern or calculation from the supplied task. For this approved Topic 2 and 3 evidence tasks decision, use a quiet card sort, a spoken response, a communication aid or adult handling directed by the learner;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LAUNCH · Science · Week 15L2 · Explore</a:t>
            </a:r>
          </a:p>
          <a:p xmlns:a="http://schemas.openxmlformats.org/drawingml/2006/main">
            <a:r>
              <a:t>Objective: Work through supplied Topic 2 and 3 questions, recording each response and any uncertainty before choosing a final response.</a:t>
            </a:r>
          </a:p>
          <a:p xmlns:a="http://schemas.openxmlformats.org/drawingml/2006/main">
            <a:r>
              <a:t>Success evidence:</a:t>
            </a:r>
          </a:p>
          <a:p xmlns:a="http://schemas.openxmlformats.org/drawingml/2006/main">
            <a:r>
              <a:t>Work through supplied Topic 2 and 3 questions, recording each response and any uncertainty before choosing a final response.</a:t>
            </a:r>
          </a:p>
          <a:p xmlns:a="http://schemas.openxmlformats.org/drawingml/2006/main">
            <a:r>
              <a:t>The approved task wording and source locator remain visible while evidence is interpreted.</a:t>
            </a:r>
          </a:p>
          <a:p xmlns:a="http://schemas.openxmlformats.org/drawingml/2006/main">
            <a:r>
              <a:t>Uncertainty is not failure: it identifies the exact concept, word or step to retrieve before the assessment response is final.</a:t>
            </a:r>
          </a:p>
          <a:p xmlns:a="http://schemas.openxmlformats.org/drawingml/2006/main">
            <a:r>
              <a:t>FOCUS → EVIDENCE → LIMIT</a:t>
            </a:r>
          </a:p>
          <a:p xmlns:a="http://schemas.openxmlformats.org/drawingml/2006/main">
            <a:r>
              <a:t>◆ Supported</a:t>
            </a:r>
          </a:p>
          <a:p xmlns:a="http://schemas.openxmlformats.org/drawingml/2006/main">
            <a:r>
              <a:t>Use a prepared OBSERVED / EXPLAINED frame and select the supported response from three approved options.</a:t>
            </a:r>
          </a:p>
          <a:p xmlns:a="http://schemas.openxmlformats.org/drawingml/2006/main">
            <a:r>
              <a:t>▲ Standard</a:t>
            </a:r>
          </a:p>
          <a:p xmlns:a="http://schemas.openxmlformats.org/drawingml/2006/main">
            <a:r>
              <a:t>Interpret each supplied source, justify a response with a visible evidence link and revise one over-strong answer.</a:t>
            </a:r>
          </a:p>
          <a:p xmlns:a="http://schemas.openxmlformats.org/drawingml/2006/main">
            <a:r>
              <a:t>Stretch</a:t>
            </a:r>
          </a:p>
          <a:p xmlns:a="http://schemas.openxmlformats.org/drawingml/2006/main">
            <a:r>
              <a:t>Compare two plausible responses, evaluate which uses the evidence more precisely and write a discriminating next check.</a:t>
            </a:r>
          </a:p>
          <a:p xmlns:a="http://schemas.openxmlformats.org/drawingml/2006/main">
            <a:r>
              <a:t>Truth boundary: never backdate, never reconstruct a quotation, never stage an event, and never convert adult wording into the learner’s voice. Use only school-approved local materials. No diagnosis or medical advice. No personal or family disclosure. Learning does not depend on a runtime connection. No open runtime link. Never invent a result, date, quotation, event, audience response or learner wording. Use only school-approved local sources and supplied classroom materials. No open runtime link. No diagnosis or personal or family disclosure. A learner may pause, use the printed route, respond privately or direct an adult. A learner may pause, use a private route, observe, or direct an adult without losing the learning entitlement.</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Arrival: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Approved topic 2 and 3 evidence tasks · first source: A response choice is justified by a named feature, pattern or calculation from the supplied task. Link that anchor only when this second detail is relevant: Uncertainty is not failure: it identifies the exact concept, word or step to retrieve before the assessment response is final. For this approved Topic 2 and 3 evidence tasks decision, use a printed choice, object placement, short phrase, symbol response or learner-directed mark;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The approved task wording and source locator remain visible while evidence is interpreted.</a:t>
            </a:r>
          </a:p>
          <a:p xmlns:a="http://schemas.openxmlformats.org/drawingml/2006/main">
            <a:r>
              <a:t>An observation is recorded before an inference so the two cannot be blurred.</a:t>
            </a:r>
          </a:p>
          <a:p xmlns:a="http://schemas.openxmlformats.org/drawingml/2006/main">
            <a:r>
              <a:t>A response choice is justified by a named feature, pattern or calculation from the supplied task.</a:t>
            </a:r>
          </a:p>
          <a:p xmlns:a="http://schemas.openxmlformats.org/drawingml/2006/main">
            <a:r>
              <a:t>Uncertainty is not failure: it identifies the exact concept, word or step to retrieve before the assessment response is final.</a:t>
            </a:r>
          </a:p>
          <a:p xmlns:a="http://schemas.openxmlformats.org/drawingml/2006/main">
            <a:r>
              <a:t>Arrival decision: The approved task wording and source locator remain visible while evidence is interpreted. Uncertainty is not failure: it identifies the exact concept, word or step to retrieve before the assessment response is final.</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Arrival: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Approved topic 2 and 3 evidence tasks · first source: A response choice is justified by a named feature, pattern or calculation from the supplied task. Link that anchor only when this second detail is relevant: Uncertainty is not failure: it identifies the exact concept, word or step to retrieve before the assessment response is final. For this approved Topic 2 and 3 evidence tasks decision, use a printed choice, object placement, short phrase, symbol response or learner-directed mark;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The approved task wording and source locator remain visible while evidence is interpreted.</a:t>
            </a:r>
          </a:p>
          <a:p xmlns:a="http://schemas.openxmlformats.org/drawingml/2006/main">
            <a:r>
              <a:t>An observation is recorded before an inference so the two cannot be blurred.</a:t>
            </a:r>
          </a:p>
          <a:p xmlns:a="http://schemas.openxmlformats.org/drawingml/2006/main">
            <a:r>
              <a:t>A response choice is justified by a named feature, pattern or calculation from the supplied task.</a:t>
            </a:r>
          </a:p>
          <a:p xmlns:a="http://schemas.openxmlformats.org/drawingml/2006/main">
            <a:r>
              <a:t>Uncertainty is not failure: it identifies the exact concept, word or step to retrieve before the assessment response is final.</a:t>
            </a:r>
          </a:p>
          <a:p xmlns:a="http://schemas.openxmlformats.org/drawingml/2006/main">
            <a:r>
              <a:t>Arrival decision: The approved task wording and source locator remain visible while evidence is interpreted. Uncertainty is not failure: it identifies the exact concept, word or step to retrieve before the assessment response is final.</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Starter: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Approved topic 2 and 3 evidence tasks · initial comparison: Uncertainty is not failure: it identifies the exact concept, word or step to retrieve before the assessment response is final. Link that anchor only when this second detail is relevant: The approved task wording and source locator remain visible while evidence is interpreted. For this approved Topic 2 and 3 evidence tasks decision, use pointing, selecting, signing, speaking, typing or exact-word scribing;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the same map. Today: which responses the evidence supports, and which uncertainties you must keep visible.</a:t>
            </a:r>
          </a:p>
          <a:p xmlns:a="http://schemas.openxmlformats.org/drawingml/2006/main">
            <a:r>
              <a:t>1 · notice</a:t>
            </a:r>
          </a:p>
          <a:p xmlns:a="http://schemas.openxmlformats.org/drawingml/2006/main">
            <a:r>
              <a:t>2 · choose</a:t>
            </a:r>
          </a:p>
          <a:p xmlns:a="http://schemas.openxmlformats.org/drawingml/2006/main">
            <a:r>
              <a:t>3 · explain</a:t>
            </a:r>
          </a:p>
          <a:p xmlns:a="http://schemas.openxmlformats.org/drawingml/2006/main">
            <a:r>
              <a:t>Which response is supported by the supplied evidence, and which uncertainty must remain visible before a final choice? An observation is recorded before an inference so the two cannot be blurred.</a:t>
            </a:r>
          </a:p>
          <a:p xmlns:a="http://schemas.openxmlformats.org/drawingml/2006/main">
            <a:r>
              <a:t>Checking questions:</a:t>
            </a:r>
          </a:p>
          <a:p xmlns:a="http://schemas.openxmlformats.org/drawingml/2006/main">
            <a:r>
              <a:t>The approved task wording and source locator remain visible while evidence is interpreted.</a:t>
            </a:r>
          </a:p>
          <a:p xmlns:a="http://schemas.openxmlformats.org/drawingml/2006/main">
            <a:r>
              <a:t>An observation is recorded before an inference so the two cannot be blurred.</a:t>
            </a:r>
          </a:p>
          <a:p xmlns:a="http://schemas.openxmlformats.org/drawingml/2006/main">
            <a:r>
              <a:t>A response choice is justified by a named feature, pattern or calculation from the supplied task.</a:t>
            </a:r>
          </a:p>
          <a:p xmlns:a="http://schemas.openxmlformats.org/drawingml/2006/main">
            <a:r>
              <a:t>Uncertainty is not failure: it identifies the exact concept, word or step to retrieve before the assessment response is final.</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Starter: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Approved topic 2 and 3 evidence tasks · initial comparison: Uncertainty is not failure: it identifies the exact concept, word or step to retrieve before the assessment response is final. Link that anchor only when this second detail is relevant: The approved task wording and source locator remain visible while evidence is interpreted. For this approved Topic 2 and 3 evidence tasks decision, use pointing, selecting, signing, speaking, typing or exact-word scribing;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the same map. Today: which responses the evidence supports, and which uncertainties you must keep visible.</a:t>
            </a:r>
          </a:p>
          <a:p xmlns:a="http://schemas.openxmlformats.org/drawingml/2006/main">
            <a:r>
              <a:t>1 · notice</a:t>
            </a:r>
          </a:p>
          <a:p xmlns:a="http://schemas.openxmlformats.org/drawingml/2006/main">
            <a:r>
              <a:t>2 · choose</a:t>
            </a:r>
          </a:p>
          <a:p xmlns:a="http://schemas.openxmlformats.org/drawingml/2006/main">
            <a:r>
              <a:t>3 · explain</a:t>
            </a:r>
          </a:p>
          <a:p xmlns:a="http://schemas.openxmlformats.org/drawingml/2006/main">
            <a:r>
              <a:t>Which response is supported by the supplied evidence, and which uncertainty must remain visible before a final choice? An observation is recorded before an inference so the two cannot be blurred.</a:t>
            </a:r>
          </a:p>
          <a:p xmlns:a="http://schemas.openxmlformats.org/drawingml/2006/main">
            <a:r>
              <a:t>Checking questions:</a:t>
            </a:r>
          </a:p>
          <a:p xmlns:a="http://schemas.openxmlformats.org/drawingml/2006/main">
            <a:r>
              <a:t>The approved task wording and source locator remain visible while evidence is interpreted.</a:t>
            </a:r>
          </a:p>
          <a:p xmlns:a="http://schemas.openxmlformats.org/drawingml/2006/main">
            <a:r>
              <a:t>An observation is recorded before an inference so the two cannot be blurred.</a:t>
            </a:r>
          </a:p>
          <a:p xmlns:a="http://schemas.openxmlformats.org/drawingml/2006/main">
            <a:r>
              <a:t>A response choice is justified by a named feature, pattern or calculation from the supplied task.</a:t>
            </a:r>
          </a:p>
          <a:p xmlns:a="http://schemas.openxmlformats.org/drawingml/2006/main">
            <a:r>
              <a:t>Uncertainty is not failure: it identifies the exact concept, word or step to retrieve before the assessment response is final.</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Starter: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Approved topic 2 and 3 evidence tasks · initial comparison: Uncertainty is not failure: it identifies the exact concept, word or step to retrieve before the assessment response is final. Link that anchor only when this second detail is relevant: The approved task wording and source locator remain visible while evidence is interpreted. For this approved Topic 2 and 3 evidence tasks decision, use pointing, selecting, signing, speaking, typing or exact-word scribing;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Picture first: the same map. Today: which responses the evidence supports, and which uncertainties you must keep visible.</a:t>
            </a:r>
          </a:p>
          <a:p xmlns:a="http://schemas.openxmlformats.org/drawingml/2006/main">
            <a:r>
              <a:t>1 · notice</a:t>
            </a:r>
          </a:p>
          <a:p xmlns:a="http://schemas.openxmlformats.org/drawingml/2006/main">
            <a:r>
              <a:t>2 · choose</a:t>
            </a:r>
          </a:p>
          <a:p xmlns:a="http://schemas.openxmlformats.org/drawingml/2006/main">
            <a:r>
              <a:t>3 · explain</a:t>
            </a:r>
          </a:p>
          <a:p xmlns:a="http://schemas.openxmlformats.org/drawingml/2006/main">
            <a:r>
              <a:t>Which response is supported by the supplied evidence, and which uncertainty must remain visible before a final choice? An observation is recorded before an inference so the two cannot be blurred.</a:t>
            </a:r>
          </a:p>
          <a:p xmlns:a="http://schemas.openxmlformats.org/drawingml/2006/main">
            <a:r>
              <a:t>Checking questions:</a:t>
            </a:r>
          </a:p>
          <a:p xmlns:a="http://schemas.openxmlformats.org/drawingml/2006/main">
            <a:r>
              <a:t>The approved task wording and source locator remain visible while evidence is interpreted.</a:t>
            </a:r>
          </a:p>
          <a:p xmlns:a="http://schemas.openxmlformats.org/drawingml/2006/main">
            <a:r>
              <a:t>An observation is recorded before an inference so the two cannot be blurred.</a:t>
            </a:r>
          </a:p>
          <a:p xmlns:a="http://schemas.openxmlformats.org/drawingml/2006/main">
            <a:r>
              <a:t>A response choice is justified by a named feature, pattern or calculation from the supplied task.</a:t>
            </a:r>
          </a:p>
          <a:p xmlns:a="http://schemas.openxmlformats.org/drawingml/2006/main">
            <a:r>
              <a:t>Uncertainty is not failure: it identifies the exact concept, word or step to retrieve before the assessment response is final.</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Approved topic 2 and 3 evidence tasks · worked reasoning: The approved task wording and source locator remain visible while evidence is interpreted. Link that anchor only when this second detail is relevant: An observation is recorded before an inference so the two cannot be blurred. For this approved Topic 2 and 3 evidence tasks decision, use a quiet card sort, a spoken response, a communication aid or adult handling directed by the learner;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Supported, or an uncertainty that must stay visible?</a:t>
            </a:r>
          </a:p>
          <a:p xmlns:a="http://schemas.openxmlformats.org/drawingml/2006/main">
            <a:r>
              <a:t>Press a response, then judge it against the supplied evidence.</a:t>
            </a:r>
          </a:p>
          <a:p xmlns:a="http://schemas.openxmlformats.org/drawingml/2006/main">
            <a:r>
              <a:t>Observed 31 purple of 40 ≈ 77.5%, consistent with the 75% expected</a:t>
            </a:r>
          </a:p>
          <a:p xmlns:a="http://schemas.openxmlformats.org/drawingml/2006/main">
            <a:r>
              <a:t>The treatment will work in humans</a:t>
            </a:r>
          </a:p>
          <a:p xmlns:a="http://schemas.openxmlformats.org/drawingml/2006/main">
            <a:r>
              <a:t>Strand 2 is TACGGT because A–T and C–G</a:t>
            </a:r>
          </a:p>
          <a:p xmlns:a="http://schemas.openxmlformats.org/drawingml/2006/main">
            <a:r>
              <a:t>The optimum pH is exactly 7.0</a:t>
            </a:r>
          </a:p>
          <a:p xmlns:a="http://schemas.openxmlformats.org/drawingml/2006/main">
            <a:r>
              <a:t>Daughter cells are genetically identical because DNA was copied before division</a:t>
            </a:r>
          </a:p>
          <a:p xmlns:a="http://schemas.openxmlformats.org/drawingml/2006/main">
            <a:r>
              <a:t>supported by the evidence</a:t>
            </a:r>
          </a:p>
          <a:p xmlns:a="http://schemas.openxmlformats.org/drawingml/2006/main">
            <a:r>
              <a:t>uncertainty — must stay visible</a:t>
            </a:r>
          </a:p>
          <a:p xmlns:a="http://schemas.openxmlformats.org/drawingml/2006/main">
            <a:r>
              <a:t>Press a card.</a:t>
            </a:r>
          </a:p>
          <a:p xmlns:a="http://schemas.openxmlformats.org/drawingml/2006/main">
            <a:r>
              <a:t>OBSERVATION a detail read directly from the supplied source</a:t>
            </a:r>
          </a:p>
          <a:p xmlns:a="http://schemas.openxmlformats.org/drawingml/2006/main">
            <a:r>
              <a:t>INFERENCE an explanation built from evidence</a:t>
            </a:r>
          </a:p>
          <a:p xmlns:a="http://schemas.openxmlformats.org/drawingml/2006/main">
            <a:r>
              <a:t>JUSTIFY give the evidence-linked reason for a choice</a:t>
            </a:r>
          </a:p>
          <a:p xmlns:a="http://schemas.openxmlformats.org/drawingml/2006/main">
            <a:r>
              <a:t>Vocabulary in use</a:t>
            </a:r>
          </a:p>
          <a:p xmlns:a="http://schemas.openxmlformats.org/drawingml/2006/main">
            <a:r>
              <a:t>OBSERVATION in approved Topic 2 and 3 evidence tasks: a detail read directly from the supplied source. Apply OBSERVATION when this anchor matters—The approved task wording and source locator remain visible while evidence is interpreted.—and check it beside this second anchor: An observation is recorded before an inference so the two cannot be blurred.</a:t>
            </a:r>
          </a:p>
          <a:p xmlns:a="http://schemas.openxmlformats.org/drawingml/2006/main">
            <a:r>
              <a:t>INFERENCE in approved Topic 2 and 3 evidence tasks: an explanation built from evidence. Apply INFERENCE when this anchor matters—An observation is recorded before an inference so the two cannot be blurred.—and check it beside this second anchor: A response choice is justified by a named feature, pattern or calculation from the supplied task.</a:t>
            </a:r>
          </a:p>
          <a:p xmlns:a="http://schemas.openxmlformats.org/drawingml/2006/main">
            <a:r>
              <a:t>JUSTIFY in approved Topic 2 and 3 evidence tasks: give the evidence-linked reason for a choice. Apply JUSTIFY when this anchor matters—A response choice is justified by a named feature, pattern or calculation from the supplied task.—and check it beside this second anchor: Uncertainty is not failure: it identifies the exact concept, word or step to retrieve before the assessment response is final.</a:t>
            </a:r>
          </a:p>
          <a:p xmlns:a="http://schemas.openxmlformats.org/drawingml/2006/main">
            <a:r>
              <a:t>Take one approved evidence task. Under OBSERVED, copy only the relevant feature, value or relationship. Under EXPLAINED, connect that detail to the requested Topic 2 or 3 idea. Compare three supplied responses: one supported, one over-strong and one unrelated. Choose the supported response, annotate the evidence link, and mark any vocabulary or calculation step that still needs retrieval.</a:t>
            </a:r>
          </a:p>
          <a:p xmlns:a="http://schemas.openxmlformats.org/drawingml/2006/main">
            <a:r>
              <a:t>The approved task wording and source locator remain visible while evidence is interpreted.</a:t>
            </a:r>
          </a:p>
          <a:p xmlns:a="http://schemas.openxmlformats.org/drawingml/2006/main">
            <a:r>
              <a:t>An observation is recorded before an inference so the two cannot be blurred.</a:t>
            </a:r>
          </a:p>
          <a:p xmlns:a="http://schemas.openxmlformats.org/drawingml/2006/main">
            <a:r>
              <a:t>A response choice is justified by a named feature, pattern or calculation from the supplied task.</a:t>
            </a:r>
          </a:p>
          <a:p xmlns:a="http://schemas.openxmlformats.org/drawingml/2006/main">
            <a:r>
              <a:t>Uncertainty is not failure: it identifies the exact concept, word or step to retrieve before the assessment response is final.</a:t>
            </a:r>
          </a:p>
          <a:p xmlns:a="http://schemas.openxmlformats.org/drawingml/2006/main">
            <a:r>
              <a:t>Work through supplied Topic 2 and 3 questions, recording each response and any uncertainty before choosing a final response.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Approved topic 2 and 3 evidence tasks · worked reasoning: The approved task wording and source locator remain visible while evidence is interpreted. Link that anchor only when this second detail is relevant: An observation is recorded before an inference so the two cannot be blurred. For this approved Topic 2 and 3 evidence tasks decision, use a quiet card sort, a spoken response, a communication aid or adult handling directed by the learner;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Supported, or an uncertainty that must stay visible?</a:t>
            </a:r>
          </a:p>
          <a:p xmlns:a="http://schemas.openxmlformats.org/drawingml/2006/main">
            <a:r>
              <a:t>Press a response, then judge it against the supplied evidence.</a:t>
            </a:r>
          </a:p>
          <a:p xmlns:a="http://schemas.openxmlformats.org/drawingml/2006/main">
            <a:r>
              <a:t>Observed 31 purple of 40 ≈ 77.5%, consistent with the 75% expected</a:t>
            </a:r>
          </a:p>
          <a:p xmlns:a="http://schemas.openxmlformats.org/drawingml/2006/main">
            <a:r>
              <a:t>The treatment will work in humans</a:t>
            </a:r>
          </a:p>
          <a:p xmlns:a="http://schemas.openxmlformats.org/drawingml/2006/main">
            <a:r>
              <a:t>Strand 2 is TACGGT because A–T and C–G</a:t>
            </a:r>
          </a:p>
          <a:p xmlns:a="http://schemas.openxmlformats.org/drawingml/2006/main">
            <a:r>
              <a:t>The optimum pH is exactly 7.0</a:t>
            </a:r>
          </a:p>
          <a:p xmlns:a="http://schemas.openxmlformats.org/drawingml/2006/main">
            <a:r>
              <a:t>Daughter cells are genetically identical because DNA was copied before division</a:t>
            </a:r>
          </a:p>
          <a:p xmlns:a="http://schemas.openxmlformats.org/drawingml/2006/main">
            <a:r>
              <a:t>supported by the evidence</a:t>
            </a:r>
          </a:p>
          <a:p xmlns:a="http://schemas.openxmlformats.org/drawingml/2006/main">
            <a:r>
              <a:t>uncertainty — must stay visible</a:t>
            </a:r>
          </a:p>
          <a:p xmlns:a="http://schemas.openxmlformats.org/drawingml/2006/main">
            <a:r>
              <a:t>Press a card.</a:t>
            </a:r>
          </a:p>
          <a:p xmlns:a="http://schemas.openxmlformats.org/drawingml/2006/main">
            <a:r>
              <a:t>OBSERVATION a detail read directly from the supplied source</a:t>
            </a:r>
          </a:p>
          <a:p xmlns:a="http://schemas.openxmlformats.org/drawingml/2006/main">
            <a:r>
              <a:t>INFERENCE an explanation built from evidence</a:t>
            </a:r>
          </a:p>
          <a:p xmlns:a="http://schemas.openxmlformats.org/drawingml/2006/main">
            <a:r>
              <a:t>JUSTIFY give the evidence-linked reason for a choice</a:t>
            </a:r>
          </a:p>
          <a:p xmlns:a="http://schemas.openxmlformats.org/drawingml/2006/main">
            <a:r>
              <a:t>Vocabulary in use</a:t>
            </a:r>
          </a:p>
          <a:p xmlns:a="http://schemas.openxmlformats.org/drawingml/2006/main">
            <a:r>
              <a:t>OBSERVATION in approved Topic 2 and 3 evidence tasks: a detail read directly from the supplied source. Apply OBSERVATION when this anchor matters—The approved task wording and source locator remain visible while evidence is interpreted.—and check it beside this second anchor: An observation is recorded before an inference so the two cannot be blurred.</a:t>
            </a:r>
          </a:p>
          <a:p xmlns:a="http://schemas.openxmlformats.org/drawingml/2006/main">
            <a:r>
              <a:t>INFERENCE in approved Topic 2 and 3 evidence tasks: an explanation built from evidence. Apply INFERENCE when this anchor matters—An observation is recorded before an inference so the two cannot be blurred.—and check it beside this second anchor: A response choice is justified by a named feature, pattern or calculation from the supplied task.</a:t>
            </a:r>
          </a:p>
          <a:p xmlns:a="http://schemas.openxmlformats.org/drawingml/2006/main">
            <a:r>
              <a:t>JUSTIFY in approved Topic 2 and 3 evidence tasks: give the evidence-linked reason for a choice. Apply JUSTIFY when this anchor matters—A response choice is justified by a named feature, pattern or calculation from the supplied task.—and check it beside this second anchor: Uncertainty is not failure: it identifies the exact concept, word or step to retrieve before the assessment response is final.</a:t>
            </a:r>
          </a:p>
          <a:p xmlns:a="http://schemas.openxmlformats.org/drawingml/2006/main">
            <a:r>
              <a:t>Take one approved evidence task. Under OBSERVED, copy only the relevant feature, value or relationship. Under EXPLAINED, connect that detail to the requested Topic 2 or 3 idea. Compare three supplied responses: one supported, one over-strong and one unrelated. Choose the supported response, annotate the evidence link, and mark any vocabulary or calculation step that still needs retrieval.</a:t>
            </a:r>
          </a:p>
          <a:p xmlns:a="http://schemas.openxmlformats.org/drawingml/2006/main">
            <a:r>
              <a:t>The approved task wording and source locator remain visible while evidence is interpreted.</a:t>
            </a:r>
          </a:p>
          <a:p xmlns:a="http://schemas.openxmlformats.org/drawingml/2006/main">
            <a:r>
              <a:t>An observation is recorded before an inference so the two cannot be blurred.</a:t>
            </a:r>
          </a:p>
          <a:p xmlns:a="http://schemas.openxmlformats.org/drawingml/2006/main">
            <a:r>
              <a:t>A response choice is justified by a named feature, pattern or calculation from the supplied task.</a:t>
            </a:r>
          </a:p>
          <a:p xmlns:a="http://schemas.openxmlformats.org/drawingml/2006/main">
            <a:r>
              <a:t>Uncertainty is not failure: it identifies the exact concept, word or step to retrieve before the assessment response is final.</a:t>
            </a:r>
          </a:p>
          <a:p xmlns:a="http://schemas.openxmlformats.org/drawingml/2006/main">
            <a:r>
              <a:t>Work through supplied Topic 2 and 3 questions, recording each response and any uncertainty before choosing a final response.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Approved topic 2 and 3 evidence tasks · worked reasoning: The approved task wording and source locator remain visible while evidence is interpreted. Link that anchor only when this second detail is relevant: An observation is recorded before an inference so the two cannot be blurred. For this approved Topic 2 and 3 evidence tasks decision, use a quiet card sort, a spoken response, a communication aid or adult handling directed by the learner;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Supported, or an uncertainty that must stay visible?</a:t>
            </a:r>
          </a:p>
          <a:p xmlns:a="http://schemas.openxmlformats.org/drawingml/2006/main">
            <a:r>
              <a:t>Press a response, then judge it against the supplied evidence.</a:t>
            </a:r>
          </a:p>
          <a:p xmlns:a="http://schemas.openxmlformats.org/drawingml/2006/main">
            <a:r>
              <a:t>Observed 31 purple of 40 ≈ 77.5%, consistent with the 75% expected</a:t>
            </a:r>
          </a:p>
          <a:p xmlns:a="http://schemas.openxmlformats.org/drawingml/2006/main">
            <a:r>
              <a:t>The treatment will work in humans</a:t>
            </a:r>
          </a:p>
          <a:p xmlns:a="http://schemas.openxmlformats.org/drawingml/2006/main">
            <a:r>
              <a:t>Strand 2 is TACGGT because A–T and C–G</a:t>
            </a:r>
          </a:p>
          <a:p xmlns:a="http://schemas.openxmlformats.org/drawingml/2006/main">
            <a:r>
              <a:t>The optimum pH is exactly 7.0</a:t>
            </a:r>
          </a:p>
          <a:p xmlns:a="http://schemas.openxmlformats.org/drawingml/2006/main">
            <a:r>
              <a:t>Daughter cells are genetically identical because DNA was copied before division</a:t>
            </a:r>
          </a:p>
          <a:p xmlns:a="http://schemas.openxmlformats.org/drawingml/2006/main">
            <a:r>
              <a:t>supported by the evidence</a:t>
            </a:r>
          </a:p>
          <a:p xmlns:a="http://schemas.openxmlformats.org/drawingml/2006/main">
            <a:r>
              <a:t>uncertainty — must stay visible</a:t>
            </a:r>
          </a:p>
          <a:p xmlns:a="http://schemas.openxmlformats.org/drawingml/2006/main">
            <a:r>
              <a:t>Press a card.</a:t>
            </a:r>
          </a:p>
          <a:p xmlns:a="http://schemas.openxmlformats.org/drawingml/2006/main">
            <a:r>
              <a:t>OBSERVATION a detail read directly from the supplied source</a:t>
            </a:r>
          </a:p>
          <a:p xmlns:a="http://schemas.openxmlformats.org/drawingml/2006/main">
            <a:r>
              <a:t>INFERENCE an explanation built from evidence</a:t>
            </a:r>
          </a:p>
          <a:p xmlns:a="http://schemas.openxmlformats.org/drawingml/2006/main">
            <a:r>
              <a:t>JUSTIFY give the evidence-linked reason for a choice</a:t>
            </a:r>
          </a:p>
          <a:p xmlns:a="http://schemas.openxmlformats.org/drawingml/2006/main">
            <a:r>
              <a:t>Vocabulary in use</a:t>
            </a:r>
          </a:p>
          <a:p xmlns:a="http://schemas.openxmlformats.org/drawingml/2006/main">
            <a:r>
              <a:t>OBSERVATION in approved Topic 2 and 3 evidence tasks: a detail read directly from the supplied source. Apply OBSERVATION when this anchor matters—The approved task wording and source locator remain visible while evidence is interpreted.—and check it beside this second anchor: An observation is recorded before an inference so the two cannot be blurred.</a:t>
            </a:r>
          </a:p>
          <a:p xmlns:a="http://schemas.openxmlformats.org/drawingml/2006/main">
            <a:r>
              <a:t>INFERENCE in approved Topic 2 and 3 evidence tasks: an explanation built from evidence. Apply INFERENCE when this anchor matters—An observation is recorded before an inference so the two cannot be blurred.—and check it beside this second anchor: A response choice is justified by a named feature, pattern or calculation from the supplied task.</a:t>
            </a:r>
          </a:p>
          <a:p xmlns:a="http://schemas.openxmlformats.org/drawingml/2006/main">
            <a:r>
              <a:t>JUSTIFY in approved Topic 2 and 3 evidence tasks: give the evidence-linked reason for a choice. Apply JUSTIFY when this anchor matters—A response choice is justified by a named feature, pattern or calculation from the supplied task.—and check it beside this second anchor: Uncertainty is not failure: it identifies the exact concept, word or step to retrieve before the assessment response is final.</a:t>
            </a:r>
          </a:p>
          <a:p xmlns:a="http://schemas.openxmlformats.org/drawingml/2006/main">
            <a:r>
              <a:t>Take one approved evidence task. Under OBSERVED, copy only the relevant feature, value or relationship. Under EXPLAINED, connect that detail to the requested Topic 2 or 3 idea. Compare three supplied responses: one supported, one over-strong and one unrelated. Choose the supported response, annotate the evidence link, and mark any vocabulary or calculation step that still needs retrieval.</a:t>
            </a:r>
          </a:p>
          <a:p xmlns:a="http://schemas.openxmlformats.org/drawingml/2006/main">
            <a:r>
              <a:t>The approved task wording and source locator remain visible while evidence is interpreted.</a:t>
            </a:r>
          </a:p>
          <a:p xmlns:a="http://schemas.openxmlformats.org/drawingml/2006/main">
            <a:r>
              <a:t>An observation is recorded before an inference so the two cannot be blurred.</a:t>
            </a:r>
          </a:p>
          <a:p xmlns:a="http://schemas.openxmlformats.org/drawingml/2006/main">
            <a:r>
              <a:t>A response choice is justified by a named feature, pattern or calculation from the supplied task.</a:t>
            </a:r>
          </a:p>
          <a:p xmlns:a="http://schemas.openxmlformats.org/drawingml/2006/main">
            <a:r>
              <a:t>Uncertainty is not failure: it identifies the exact concept, word or step to retrieve before the assessment response is final.</a:t>
            </a:r>
          </a:p>
          <a:p xmlns:a="http://schemas.openxmlformats.org/drawingml/2006/main">
            <a:r>
              <a:t>Work through supplied Topic 2 and 3 questions, recording each response and any uncertainty before choosing a final response.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I do: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Staff-only guidance: model one complete route, remove the model, and receive a fresh learner decision.</a:t>
            </a:r>
          </a:p>
          <a:p xmlns:a="http://schemas.openxmlformats.org/drawingml/2006/main">
            <a:r>
              <a:t/>
            </a:r>
          </a:p>
          <a:p xmlns:a="http://schemas.openxmlformats.org/drawingml/2006/main">
            <a:r>
              <a:t>Approved topic 2 and 3 evidence tasks · worked reasoning: The approved task wording and source locator remain visible while evidence is interpreted. Link that anchor only when this second detail is relevant: An observation is recorded before an inference so the two cannot be blurred. For this approved Topic 2 and 3 evidence tasks decision, use a quiet card sort, a spoken response, a communication aid or adult handling directed by the learner;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Supported, or an uncertainty that must stay visible?</a:t>
            </a:r>
          </a:p>
          <a:p xmlns:a="http://schemas.openxmlformats.org/drawingml/2006/main">
            <a:r>
              <a:t>Press a response, then judge it against the supplied evidence.</a:t>
            </a:r>
          </a:p>
          <a:p xmlns:a="http://schemas.openxmlformats.org/drawingml/2006/main">
            <a:r>
              <a:t>Observed 31 purple of 40 ≈ 77.5%, consistent with the 75% expected</a:t>
            </a:r>
          </a:p>
          <a:p xmlns:a="http://schemas.openxmlformats.org/drawingml/2006/main">
            <a:r>
              <a:t>The treatment will work in humans</a:t>
            </a:r>
          </a:p>
          <a:p xmlns:a="http://schemas.openxmlformats.org/drawingml/2006/main">
            <a:r>
              <a:t>Strand 2 is TACGGT because A–T and C–G</a:t>
            </a:r>
          </a:p>
          <a:p xmlns:a="http://schemas.openxmlformats.org/drawingml/2006/main">
            <a:r>
              <a:t>The optimum pH is exactly 7.0</a:t>
            </a:r>
          </a:p>
          <a:p xmlns:a="http://schemas.openxmlformats.org/drawingml/2006/main">
            <a:r>
              <a:t>Daughter cells are genetically identical because DNA was copied before division</a:t>
            </a:r>
          </a:p>
          <a:p xmlns:a="http://schemas.openxmlformats.org/drawingml/2006/main">
            <a:r>
              <a:t>supported by the evidence</a:t>
            </a:r>
          </a:p>
          <a:p xmlns:a="http://schemas.openxmlformats.org/drawingml/2006/main">
            <a:r>
              <a:t>uncertainty — must stay visible</a:t>
            </a:r>
          </a:p>
          <a:p xmlns:a="http://schemas.openxmlformats.org/drawingml/2006/main">
            <a:r>
              <a:t>Press a card.</a:t>
            </a:r>
          </a:p>
          <a:p xmlns:a="http://schemas.openxmlformats.org/drawingml/2006/main">
            <a:r>
              <a:t>OBSERVATION a detail read directly from the supplied source</a:t>
            </a:r>
          </a:p>
          <a:p xmlns:a="http://schemas.openxmlformats.org/drawingml/2006/main">
            <a:r>
              <a:t>INFERENCE an explanation built from evidence</a:t>
            </a:r>
          </a:p>
          <a:p xmlns:a="http://schemas.openxmlformats.org/drawingml/2006/main">
            <a:r>
              <a:t>JUSTIFY give the evidence-linked reason for a choice</a:t>
            </a:r>
          </a:p>
          <a:p xmlns:a="http://schemas.openxmlformats.org/drawingml/2006/main">
            <a:r>
              <a:t>Vocabulary in use</a:t>
            </a:r>
          </a:p>
          <a:p xmlns:a="http://schemas.openxmlformats.org/drawingml/2006/main">
            <a:r>
              <a:t>OBSERVATION in approved Topic 2 and 3 evidence tasks: a detail read directly from the supplied source. Apply OBSERVATION when this anchor matters—The approved task wording and source locator remain visible while evidence is interpreted.—and check it beside this second anchor: An observation is recorded before an inference so the two cannot be blurred.</a:t>
            </a:r>
          </a:p>
          <a:p xmlns:a="http://schemas.openxmlformats.org/drawingml/2006/main">
            <a:r>
              <a:t>INFERENCE in approved Topic 2 and 3 evidence tasks: an explanation built from evidence. Apply INFERENCE when this anchor matters—An observation is recorded before an inference so the two cannot be blurred.—and check it beside this second anchor: A response choice is justified by a named feature, pattern or calculation from the supplied task.</a:t>
            </a:r>
          </a:p>
          <a:p xmlns:a="http://schemas.openxmlformats.org/drawingml/2006/main">
            <a:r>
              <a:t>JUSTIFY in approved Topic 2 and 3 evidence tasks: give the evidence-linked reason for a choice. Apply JUSTIFY when this anchor matters—A response choice is justified by a named feature, pattern or calculation from the supplied task.—and check it beside this second anchor: Uncertainty is not failure: it identifies the exact concept, word or step to retrieve before the assessment response is final.</a:t>
            </a:r>
          </a:p>
          <a:p xmlns:a="http://schemas.openxmlformats.org/drawingml/2006/main">
            <a:r>
              <a:t>Take one approved evidence task. Under OBSERVED, copy only the relevant feature, value or relationship. Under EXPLAINED, connect that detail to the requested Topic 2 or 3 idea. Compare three supplied responses: one supported, one over-strong and one unrelated. Choose the supported response, annotate the evidence link, and mark any vocabulary or calculation step that still needs retrieval.</a:t>
            </a:r>
          </a:p>
          <a:p xmlns:a="http://schemas.openxmlformats.org/drawingml/2006/main">
            <a:r>
              <a:t>The approved task wording and source locator remain visible while evidence is interpreted.</a:t>
            </a:r>
          </a:p>
          <a:p xmlns:a="http://schemas.openxmlformats.org/drawingml/2006/main">
            <a:r>
              <a:t>An observation is recorded before an inference so the two cannot be blurred.</a:t>
            </a:r>
          </a:p>
          <a:p xmlns:a="http://schemas.openxmlformats.org/drawingml/2006/main">
            <a:r>
              <a:t>A response choice is justified by a named feature, pattern or calculation from the supplied task.</a:t>
            </a:r>
          </a:p>
          <a:p xmlns:a="http://schemas.openxmlformats.org/drawingml/2006/main">
            <a:r>
              <a:t>Uncertainty is not failure: it identifies the exact concept, word or step to retrieve before the assessment response is final.</a:t>
            </a:r>
          </a:p>
          <a:p xmlns:a="http://schemas.openxmlformats.org/drawingml/2006/main">
            <a:r>
              <a:t>Work through supplied Topic 2 and 3 questions, recording each response and any uncertainty before choosing a final response.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We do: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Approved topic 2 and 3 evidence tasks · hinge decision: An observation is recorded before an inference so the two cannot be blurred. Link that anchor only when this second detail is relevant: A response choice is justified by a named feature, pattern or calculation from the supplied task. For this approved Topic 2 and 3 evidence tasks decision, use a printed choice, object placement, short phrase, symbol response or learner-directed mark;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A response choice is justified by a named feature, pattern or calculation from the supplied task. Uncertainty is not failure: it identifies the exact concept, word or step to retrieve before the assessment response is final.</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I do 2: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Approved topic 2 and 3 evidence tasks · second connection: A response choice is justified by a named feature, pattern or calculation from the supplied task. Link that anchor only when this second detail is relevant: Uncertainty is not failure: it identifies the exact concept, word or step to retrieve before the assessment response is final. For this approved Topic 2 and 3 evidence tasks decision, use pointing, selecting, signing, speaking, typing or exact-word scribing;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Available evidence</a:t>
            </a:r>
          </a:p>
          <a:p xmlns:a="http://schemas.openxmlformats.org/drawingml/2006/main">
            <a:r>
              <a:t>The approved task wording and source locator remain visible while evidence is interpreted.</a:t>
            </a:r>
          </a:p>
          <a:p xmlns:a="http://schemas.openxmlformats.org/drawingml/2006/main">
            <a:r>
              <a:t>Reasoning move</a:t>
            </a:r>
          </a:p>
          <a:p xmlns:a="http://schemas.openxmlformats.org/drawingml/2006/main">
            <a:r>
              <a:t>An observation is recorded before an inference so the two cannot be blurred.</a:t>
            </a:r>
          </a:p>
          <a:p xmlns:a="http://schemas.openxmlformats.org/drawingml/2006/main">
            <a:r>
              <a:t>Boundary or next check</a:t>
            </a:r>
          </a:p>
          <a:p xmlns:a="http://schemas.openxmlformats.org/drawingml/2006/main">
            <a:r>
              <a:t>Uncertainty is not failure: it identifies the exact concept, word or step to retrieve before the assessment response is final.</a:t>
            </a:r>
          </a:p>
          <a:p xmlns:a="http://schemas.openxmlformats.org/drawingml/2006/main">
            <a:r>
              <a:t>The approved task wording and source locator remain visible while evidence is interpreted. Uncertainty is not failure: it identifies the exact concept, word or step to retrieve before the assessment response is final.</a:t>
            </a:r>
          </a:p>
          <a:p xmlns:a="http://schemas.openxmlformats.org/drawingml/2006/main">
            <a:r>
              <a:t>Take one approved evidence task. Under OBSERVED, copy only the relevant feature, value or relationship. Under EXPLAINED, connect that detail to the requested Topic 2 or 3 idea. Compare three supplied responses: one supported, one over-strong and one unrelated. Choose the supported response, annotate the evidence link, and mark any vocabulary or calculation step that still needs retrieval. Complete a short rotation of approved Topic 2 and 3 evidence tasks. Preserve the task locator, make a response before opening feedback, and record whether the response was written, selected, spoken, signed, pointed to or exactly scribed. For every task, add one evidence link and one uncertainty or limit. Re-attempt one item with a fresh source rather than copying the model wording. The approved task wording and source locator remain visible while evidence is interpreted. An observation is recorded before an inference so the two cannot be blurred. A response choice is justified by a named feature, pattern or calculation from the supplied task. Uncertainty is not failure: it identifies the exact concept, word or step to retrieve before the assessment response is final. Use a prepared OBSERVED / EXPLAINED frame and select the supported response from three approved options. Interpret each supplied source, justify a response with a visible evidence link and revise one over-strong answer. Compare two plausible responses, evaluate which uses the evidence more precisely and write a discriminating next check. Keep all evidence tasks local and approved. Do not use live search. The core Foundation route retains the same science demand across response modes. If a source, model answer or authorised arrangement is absent, the task pauses at AWAITING AUTHORISED CHECK rather than filling the gap from memory or an adult suggestion.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I do 2: 3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Approved topic 2 and 3 evidence tasks · second connection: A response choice is justified by a named feature, pattern or calculation from the supplied task. Link that anchor only when this second detail is relevant: Uncertainty is not failure: it identifies the exact concept, word or step to retrieve before the assessment response is final. For this approved Topic 2 and 3 evidence tasks decision, use pointing, selecting, signing, speaking, typing or exact-word scribing;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Available evidence</a:t>
            </a:r>
          </a:p>
          <a:p xmlns:a="http://schemas.openxmlformats.org/drawingml/2006/main">
            <a:r>
              <a:t>The approved task wording and source locator remain visible while evidence is interpreted.</a:t>
            </a:r>
          </a:p>
          <a:p xmlns:a="http://schemas.openxmlformats.org/drawingml/2006/main">
            <a:r>
              <a:t>Reasoning move</a:t>
            </a:r>
          </a:p>
          <a:p xmlns:a="http://schemas.openxmlformats.org/drawingml/2006/main">
            <a:r>
              <a:t>An observation is recorded before an inference so the two cannot be blurred.</a:t>
            </a:r>
          </a:p>
          <a:p xmlns:a="http://schemas.openxmlformats.org/drawingml/2006/main">
            <a:r>
              <a:t>Boundary or next check</a:t>
            </a:r>
          </a:p>
          <a:p xmlns:a="http://schemas.openxmlformats.org/drawingml/2006/main">
            <a:r>
              <a:t>Uncertainty is not failure: it identifies the exact concept, word or step to retrieve before the assessment response is final.</a:t>
            </a:r>
          </a:p>
          <a:p xmlns:a="http://schemas.openxmlformats.org/drawingml/2006/main">
            <a:r>
              <a:t>The approved task wording and source locator remain visible while evidence is interpreted. Uncertainty is not failure: it identifies the exact concept, word or step to retrieve before the assessment response is final.</a:t>
            </a:r>
          </a:p>
          <a:p xmlns:a="http://schemas.openxmlformats.org/drawingml/2006/main">
            <a:r>
              <a:t>Take one approved evidence task. Under OBSERVED, copy only the relevant feature, value or relationship. Under EXPLAINED, connect that detail to the requested Topic 2 or 3 idea. Compare three supplied responses: one supported, one over-strong and one unrelated. Choose the supported response, annotate the evidence link, and mark any vocabulary or calculation step that still needs retrieval. Complete a short rotation of approved Topic 2 and 3 evidence tasks. Preserve the task locator, make a response before opening feedback, and record whether the response was written, selected, spoken, signed, pointed to or exactly scribed. For every task, add one evidence link and one uncertainty or limit. Re-attempt one item with a fresh source rather than copying the model wording. The approved task wording and source locator remain visible while evidence is interpreted. An observation is recorded before an inference so the two cannot be blurred. A response choice is justified by a named feature, pattern or calculation from the supplied task. Uncertainty is not failure: it identifies the exact concept, word or step to retrieve before the assessment response is final. Use a prepared OBSERVED / EXPLAINED frame and select the supported response from three approved options. Interpret each supplied source, justify a response with a visible evidence link and revise one over-strong answer. Compare two plausible responses, evaluate which uses the evidence more precisely and write a discriminating next check. Keep all evidence tasks local and approved. Do not use live search. The core Foundation route retains the same science demand across response modes. If a source, model answer or authorised arrangement is absent, the task pauses at AWAITING AUTHORISED CHECK rather than filling the gap from memory or an adult suggestion.</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We do 2: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Approved topic 2 and 3 evidence tasks · guided audit: Uncertainty is not failure: it identifies the exact concept, word or step to retrieve before the assessment response is final. Link that anchor only when this second detail is relevant: The approved task wording and source locator remain visible while evidence is interpreted. For this approved Topic 2 and 3 evidence tasks decision, use a quiet card sort, a spoken response, a communication aid or adult handling directed by the learner;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Supported</a:t>
            </a:r>
          </a:p>
          <a:p xmlns:a="http://schemas.openxmlformats.org/drawingml/2006/main">
            <a:r>
              <a:t>Use a prepared OBSERVED / EXPLAINED frame and select the supported response from three approved options.</a:t>
            </a:r>
          </a:p>
          <a:p xmlns:a="http://schemas.openxmlformats.org/drawingml/2006/main">
            <a:r>
              <a:t>▲ Standard</a:t>
            </a:r>
          </a:p>
          <a:p xmlns:a="http://schemas.openxmlformats.org/drawingml/2006/main">
            <a:r>
              <a:t>Interpret each supplied source, justify a response with a visible evidence link and revise one over-strong answer.</a:t>
            </a:r>
          </a:p>
          <a:p xmlns:a="http://schemas.openxmlformats.org/drawingml/2006/main">
            <a:r>
              <a:t>Stretch</a:t>
            </a:r>
          </a:p>
          <a:p xmlns:a="http://schemas.openxmlformats.org/drawingml/2006/main">
            <a:r>
              <a:t>Compare two plausible responses, evaluate which uses the evidence more precisely and write a discriminating next check.</a:t>
            </a:r>
          </a:p>
          <a:p xmlns:a="http://schemas.openxmlformats.org/drawingml/2006/main">
            <a:r>
              <a:t>Complete a short rotation of approved Topic 2 and 3 evidence tasks. Preserve the task locator, make a response before opening feedback, and record whether the response was written, selected, spoken, signed, pointed to or exactly scribed. For every task, add one evidence link and one uncertainty or limit. Re-attempt one item with a fresh source rather than copying the model wording.</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We do 2: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Approved topic 2 and 3 evidence tasks · guided audit: Uncertainty is not failure: it identifies the exact concept, word or step to retrieve before the assessment response is final. Link that anchor only when this second detail is relevant: The approved task wording and source locator remain visible while evidence is interpreted. For this approved Topic 2 and 3 evidence tasks decision, use a quiet card sort, a spoken response, a communication aid or adult handling directed by the learner;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Ask every learner to commit privately before feedback. Use the pupil cards, table or evidence sheet; pointing, saying, signing and directing a partner are valid routes.</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 Supported</a:t>
            </a:r>
          </a:p>
          <a:p xmlns:a="http://schemas.openxmlformats.org/drawingml/2006/main">
            <a:r>
              <a:t>Use a prepared OBSERVED / EXPLAINED frame and select the supported response from three approved options.</a:t>
            </a:r>
          </a:p>
          <a:p xmlns:a="http://schemas.openxmlformats.org/drawingml/2006/main">
            <a:r>
              <a:t>▲ Standard</a:t>
            </a:r>
          </a:p>
          <a:p xmlns:a="http://schemas.openxmlformats.org/drawingml/2006/main">
            <a:r>
              <a:t>Interpret each supplied source, justify a response with a visible evidence link and revise one over-strong answer.</a:t>
            </a:r>
          </a:p>
          <a:p xmlns:a="http://schemas.openxmlformats.org/drawingml/2006/main">
            <a:r>
              <a:t>Stretch</a:t>
            </a:r>
          </a:p>
          <a:p xmlns:a="http://schemas.openxmlformats.org/drawingml/2006/main">
            <a:r>
              <a:t>Compare two plausible responses, evaluate which uses the evidence more precisely and write a discriminating next check.</a:t>
            </a:r>
          </a:p>
          <a:p xmlns:a="http://schemas.openxmlformats.org/drawingml/2006/main">
            <a:r>
              <a:t>Complete a short rotation of approved Topic 2 and 3 evidence tasks. Preserve the task locator, make a response before opening feedback, and record whether the response was written, selected, spoken, signed, pointed to or exactly scribed. For every task, add one evidence link and one uncertainty or limit. Re-attempt one item with a fresh source rather than copying the model wording.</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Approved topic 2 and 3 evidence tasks · independent record: The approved task wording and source locator remain visible while evidence is interpreted. Link that anchor only when this second detail is relevant: An observation is recorded before an inference so the two cannot be blurred. For this approved Topic 2 and 3 evidence tasks decision, use a printed choice, object placement, short phrase, symbol response or learner-directed mark;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Complete a short rotation of approved Topic 2 and 3 evidence tasks. Preserve the task locator, make a response before opening feedback, and record whether the response was written, selected, spoken, signed, pointed to or exactly scribed. For every task, add one evidence link and one uncertainty or limit. Re-attempt one item with a fresh source rather than copying the model wording.</a:t>
            </a:r>
          </a:p>
          <a:p xmlns:a="http://schemas.openxmlformats.org/drawingml/2006/main">
            <a:r>
              <a:t>◆ Supported</a:t>
            </a:r>
          </a:p>
          <a:p xmlns:a="http://schemas.openxmlformats.org/drawingml/2006/main">
            <a:r>
              <a:t>Use a prepared OBSERVED / EXPLAINED frame and select the supported response from three approved options.</a:t>
            </a:r>
          </a:p>
          <a:p xmlns:a="http://schemas.openxmlformats.org/drawingml/2006/main">
            <a:r>
              <a:t>▲ Standard</a:t>
            </a:r>
          </a:p>
          <a:p xmlns:a="http://schemas.openxmlformats.org/drawingml/2006/main">
            <a:r>
              <a:t>Interpret each supplied source, justify a response with a visible evidence link and revise one over-strong answer.</a:t>
            </a:r>
          </a:p>
          <a:p xmlns:a="http://schemas.openxmlformats.org/drawingml/2006/main">
            <a:r>
              <a:t>Stretch</a:t>
            </a:r>
          </a:p>
          <a:p xmlns:a="http://schemas.openxmlformats.org/drawingml/2006/main">
            <a:r>
              <a:t>Compare two plausible responses, evaluate which uses the evidence more precisely and write a discriminating next check.</a:t>
            </a:r>
          </a:p>
          <a:p xmlns:a="http://schemas.openxmlformats.org/drawingml/2006/main">
            <a:r>
              <a:t>Trace</a:t>
            </a:r>
          </a:p>
          <a:p xmlns:a="http://schemas.openxmlformats.org/drawingml/2006/main">
            <a:r>
              <a:t>The approved task wording and source locator remain visible while evidence is interpreted.</a:t>
            </a:r>
          </a:p>
          <a:p xmlns:a="http://schemas.openxmlformats.org/drawingml/2006/main">
            <a:r>
              <a:t>Demand</a:t>
            </a:r>
          </a:p>
          <a:p xmlns:a="http://schemas.openxmlformats.org/drawingml/2006/main">
            <a:r>
              <a:t>A response choice is justified by a named feature, pattern or calculation from the supplied task.</a:t>
            </a:r>
          </a:p>
          <a:p xmlns:a="http://schemas.openxmlformats.org/drawingml/2006/main">
            <a:r>
              <a:t>Truth</a:t>
            </a:r>
          </a:p>
          <a:p xmlns:a="http://schemas.openxmlformats.org/drawingml/2006/main">
            <a:r>
              <a:t>Uncertainty is not failure: it identifies the exact concept, word or step to retrieve before the assessment response is final.</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Approved topic 2 and 3 evidence tasks · independent record: The approved task wording and source locator remain visible while evidence is interpreted. Link that anchor only when this second detail is relevant: An observation is recorded before an inference so the two cannot be blurred. For this approved Topic 2 and 3 evidence tasks decision, use a printed choice, object placement, short phrase, symbol response or learner-directed mark;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Complete a short rotation of approved Topic 2 and 3 evidence tasks. Preserve the task locator, make a response before opening feedback, and record whether the response was written, selected, spoken, signed, pointed to or exactly scribed. For every task, add one evidence link and one uncertainty or limit. Re-attempt one item with a fresh source rather than copying the model wording.</a:t>
            </a:r>
          </a:p>
          <a:p xmlns:a="http://schemas.openxmlformats.org/drawingml/2006/main">
            <a:r>
              <a:t>◆ Supported</a:t>
            </a:r>
          </a:p>
          <a:p xmlns:a="http://schemas.openxmlformats.org/drawingml/2006/main">
            <a:r>
              <a:t>Use a prepared OBSERVED / EXPLAINED frame and select the supported response from three approved options.</a:t>
            </a:r>
          </a:p>
          <a:p xmlns:a="http://schemas.openxmlformats.org/drawingml/2006/main">
            <a:r>
              <a:t>▲ Standard</a:t>
            </a:r>
          </a:p>
          <a:p xmlns:a="http://schemas.openxmlformats.org/drawingml/2006/main">
            <a:r>
              <a:t>Interpret each supplied source, justify a response with a visible evidence link and revise one over-strong answer.</a:t>
            </a:r>
          </a:p>
          <a:p xmlns:a="http://schemas.openxmlformats.org/drawingml/2006/main">
            <a:r>
              <a:t>Stretch</a:t>
            </a:r>
          </a:p>
          <a:p xmlns:a="http://schemas.openxmlformats.org/drawingml/2006/main">
            <a:r>
              <a:t>Compare two plausible responses, evaluate which uses the evidence more precisely and write a discriminating next check.</a:t>
            </a:r>
          </a:p>
          <a:p xmlns:a="http://schemas.openxmlformats.org/drawingml/2006/main">
            <a:r>
              <a:t>Trace</a:t>
            </a:r>
          </a:p>
          <a:p xmlns:a="http://schemas.openxmlformats.org/drawingml/2006/main">
            <a:r>
              <a:t>The approved task wording and source locator remain visible while evidence is interpreted.</a:t>
            </a:r>
          </a:p>
          <a:p xmlns:a="http://schemas.openxmlformats.org/drawingml/2006/main">
            <a:r>
              <a:t>Demand</a:t>
            </a:r>
          </a:p>
          <a:p xmlns:a="http://schemas.openxmlformats.org/drawingml/2006/main">
            <a:r>
              <a:t>A response choice is justified by a named feature, pattern or calculation from the supplied task.</a:t>
            </a:r>
          </a:p>
          <a:p xmlns:a="http://schemas.openxmlformats.org/drawingml/2006/main">
            <a:r>
              <a:t>Truth</a:t>
            </a:r>
          </a:p>
          <a:p xmlns:a="http://schemas.openxmlformats.org/drawingml/2006/main">
            <a:r>
              <a:t>Uncertainty is not failure: it identifies the exact concept, word or step to retrieve before the assessment response is final.</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Independent: 16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Approved topic 2 and 3 evidence tasks · independent record: The approved task wording and source locator remain visible while evidence is interpreted. Link that anchor only when this second detail is relevant: An observation is recorded before an inference so the two cannot be blurred. For this approved Topic 2 and 3 evidence tasks decision, use a printed choice, object placement, short phrase, symbol response or learner-directed mark;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Complete a short rotation of approved Topic 2 and 3 evidence tasks. Preserve the task locator, make a response before opening feedback, and record whether the response was written, selected, spoken, signed, pointed to or exactly scribed. For every task, add one evidence link and one uncertainty or limit. Re-attempt one item with a fresh source rather than copying the model wording.</a:t>
            </a:r>
          </a:p>
          <a:p xmlns:a="http://schemas.openxmlformats.org/drawingml/2006/main">
            <a:r>
              <a:t>◆ Supported</a:t>
            </a:r>
          </a:p>
          <a:p xmlns:a="http://schemas.openxmlformats.org/drawingml/2006/main">
            <a:r>
              <a:t>Use a prepared OBSERVED / EXPLAINED frame and select the supported response from three approved options.</a:t>
            </a:r>
          </a:p>
          <a:p xmlns:a="http://schemas.openxmlformats.org/drawingml/2006/main">
            <a:r>
              <a:t>▲ Standard</a:t>
            </a:r>
          </a:p>
          <a:p xmlns:a="http://schemas.openxmlformats.org/drawingml/2006/main">
            <a:r>
              <a:t>Interpret each supplied source, justify a response with a visible evidence link and revise one over-strong answer.</a:t>
            </a:r>
          </a:p>
          <a:p xmlns:a="http://schemas.openxmlformats.org/drawingml/2006/main">
            <a:r>
              <a:t>Stretch</a:t>
            </a:r>
          </a:p>
          <a:p xmlns:a="http://schemas.openxmlformats.org/drawingml/2006/main">
            <a:r>
              <a:t>Compare two plausible responses, evaluate which uses the evidence more precisely and write a discriminating next check.</a:t>
            </a:r>
          </a:p>
          <a:p xmlns:a="http://schemas.openxmlformats.org/drawingml/2006/main">
            <a:r>
              <a:t>Trace</a:t>
            </a:r>
          </a:p>
          <a:p xmlns:a="http://schemas.openxmlformats.org/drawingml/2006/main">
            <a:r>
              <a:t>The approved task wording and source locator remain visible while evidence is interpreted.</a:t>
            </a:r>
          </a:p>
          <a:p xmlns:a="http://schemas.openxmlformats.org/drawingml/2006/main">
            <a:r>
              <a:t>Demand</a:t>
            </a:r>
          </a:p>
          <a:p xmlns:a="http://schemas.openxmlformats.org/drawingml/2006/main">
            <a:r>
              <a:t>A response choice is justified by a named feature, pattern or calculation from the supplied task.</a:t>
            </a:r>
          </a:p>
          <a:p xmlns:a="http://schemas.openxmlformats.org/drawingml/2006/main">
            <a:r>
              <a:t>Truth</a:t>
            </a:r>
          </a:p>
          <a:p xmlns:a="http://schemas.openxmlformats.org/drawingml/2006/main">
            <a:r>
              <a:t>Uncertainty is not failure: it identifies the exact concept, word or step to retrieve before the assessment response is final.</a:t>
            </a:r>
          </a:p>
          <a:p xmlns:a="http://schemas.openxmlformats.org/drawingml/2006/main">
            <a:r>
              <a:t>Exit route remains available: pause, use the print pack, reduce visual density or direct an adult. The named learning demand remains available.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Companion for SCI_L_A2_W7L2_Topics_2_3_Assessment_Explore.html. Exit: 4 minutes TOTAL across all slides in this stage.</a:t>
            </a:r>
          </a:p>
          <a:p xmlns:a="http://schemas.openxmlformats.org/drawingml/2006/main">
            <a:r>
              <a:t/>
            </a:r>
          </a:p>
          <a:p xmlns:a="http://schemas.openxmlformats.org/drawingml/2006/main">
            <a:r>
              <a:t>Wait, receive and use the least prompt needed.</a:t>
            </a:r>
          </a:p>
          <a:p xmlns:a="http://schemas.openxmlformats.org/drawingml/2006/main">
            <a:r>
              <a:t/>
            </a:r>
          </a:p>
          <a:p xmlns:a="http://schemas.openxmlformats.org/drawingml/2006/main">
            <a:r>
              <a:t>Keep adult action separate from pupil authorship.</a:t>
            </a:r>
          </a:p>
          <a:p xmlns:a="http://schemas.openxmlformats.org/drawingml/2006/main">
            <a:r>
              <a:t/>
            </a:r>
          </a:p>
          <a:p xmlns:a="http://schemas.openxmlformats.org/drawingml/2006/main">
            <a:r>
              <a:t>Approved topic 2 and 3 evidence tasks · receiving point: An observation is recorded before an inference so the two cannot be blurred. Link that anchor only when this second detail is relevant: A response choice is justified by a named feature, pattern or calculation from the supplied task. For this approved Topic 2 and 3 evidence tasks decision, use pointing, selecting, signing, speaking, typing or exact-word scribing; the learner still chooses the evidence, order, comparison or action. Staff supporting approved Topic 2 and 3 evidence tasks may steady the named materials and read the displayed source exactly. They do not upgrade the approved Topic 2 and 3 evidence tasks response, fill its missing result or convert its plan into completion. If access to approved Topic 2 and 3 evidence tasks stalls, pause, lower visual density or move to the printed route while keeping the same reasoning demand.</a:t>
            </a:r>
          </a:p>
          <a:p xmlns:a="http://schemas.openxmlformats.org/drawingml/2006/main">
            <a:r>
              <a:t/>
            </a:r>
          </a:p>
          <a:p xmlns:a="http://schemas.openxmlformats.org/drawingml/2006/main">
            <a:r>
              <a:t>Full source-stage teaching text:</a:t>
            </a:r>
          </a:p>
          <a:p xmlns:a="http://schemas.openxmlformats.org/drawingml/2006/main">
            <a:r>
              <a:t/>
            </a:r>
          </a:p>
          <a:p xmlns:a="http://schemas.openxmlformats.org/drawingml/2006/main">
            <a:r>
              <a:t>Present one response, the evidence detail that supports it and the uncertainty that remains. The adult repeats the response without improving it. Confirm, correct or mark the item for retrieval.</a:t>
            </a:r>
          </a:p>
          <a:p xmlns:a="http://schemas.openxmlformats.org/drawingml/2006/main">
            <a:r>
              <a:t>Final check: no result, quote, date, event or pupil wording has been created to make the map look complete. The HTML stores no learner response.</a:t>
            </a:r>
          </a:p>
          <a:p xmlns:a="http://schemas.openxmlformats.org/drawingml/2006/main">
            <a:r>
              <a:t/>
            </a:r>
          </a:p>
          <a:p xmlns:a="http://schemas.openxmlformats.org/drawingml/2006/main">
            <a:r>
              <a:t>HTML controls remain in the original HTML file. PowerPoint contains editable teaching text and static source visuals; use the paper response route for sorting and investigation.</a:t>
            </a:r>
          </a:p>
          <a:p xmlns:a="http://schemas.openxmlformats.org/drawingml/2006/main">
            <a:r>
              <a:t/>
            </a:r>
          </a:p>
          <a:p xmlns:a="http://schemas.openxmlformats.org/drawingml/2006/main">
            <a:r>
              <a:t>[Sources]</a:t>
            </a:r>
          </a:p>
          <a:p xmlns:a="http://schemas.openxmlformats.org/drawingml/2006/main">
            <a:r>
              <a:t/>
            </a:r>
          </a:p>
          <a:p xmlns:a="http://schemas.openxmlformats.org/drawingml/2006/main">
            <a:r>
              <a:t>Uploaded lesson: SCI_L_A2_W7L2_Topics_2_3_Assessment_Explore.html</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cc6428a1c84d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feae94d85340b6" /><Relationship Type="http://schemas.openxmlformats.org/officeDocument/2006/relationships/slideLayout" Target="/ppt/slideLayouts/slideLayout1.xml" Id="Rca5d922ae7c84d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5d922ae7c84d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a860a3714b4c51" /><Relationship Type="http://schemas.openxmlformats.org/officeDocument/2006/relationships/hyperlink" Target="SCI_L_A2_W7L2_Topics_2_3_Assessment_Explore.html" TargetMode="External" Id="R4df429d7f7f940db" /><Relationship Type="http://schemas.openxmlformats.org/officeDocument/2006/relationships/notesSlide" Target="/ppt/notesSlides/notesSlide1.xml" Id="R59a0b766bc9a4d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f5176d471ab4141" /><Relationship Type="http://schemas.openxmlformats.org/officeDocument/2006/relationships/notesSlide" Target="/ppt/notesSlides/notesSlide2.xml" Id="R01a6bb3ab98144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ba44f2d95c4e1a" /><Relationship Type="http://schemas.openxmlformats.org/officeDocument/2006/relationships/notesSlide" Target="/ppt/notesSlides/notesSlide3.xml" Id="R7ce4b0b52da84f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54bc2150b14306" /><Relationship Type="http://schemas.openxmlformats.org/officeDocument/2006/relationships/notesSlide" Target="/ppt/notesSlides/notesSlide4.xml" Id="Rc75f625763aa485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d82bc09eca44ef" /><Relationship Type="http://schemas.openxmlformats.org/officeDocument/2006/relationships/notesSlide" Target="/ppt/notesSlides/notesSlide5.xml" Id="Reb8db3f2ccda42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c4694a7ca9e487d" /><Relationship Type="http://schemas.openxmlformats.org/officeDocument/2006/relationships/image" Target="/ppt/media/image.png" Id="R702a4f6f46184db8" /><Relationship Type="http://schemas.openxmlformats.org/officeDocument/2006/relationships/notesSlide" Target="/ppt/notesSlides/notesSlide6.xml" Id="R4e5e00716b734b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90d0c80d1c4752" /><Relationship Type="http://schemas.openxmlformats.org/officeDocument/2006/relationships/notesSlide" Target="/ppt/notesSlides/notesSlide7.xml" Id="R2bf4cd0a32934b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fa28756a2e46b2" /><Relationship Type="http://schemas.openxmlformats.org/officeDocument/2006/relationships/notesSlide" Target="/ppt/notesSlides/notesSlide8.xml" Id="R6b42e1c00b624b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86422e42d1f43a0" /><Relationship Type="http://schemas.openxmlformats.org/officeDocument/2006/relationships/notesSlide" Target="/ppt/notesSlides/notesSlide9.xml" Id="R46977575109245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6979b9d2594202" /><Relationship Type="http://schemas.openxmlformats.org/officeDocument/2006/relationships/notesSlide" Target="/ppt/notesSlides/notesSlide10.xml" Id="Rb1a00ae68c8f461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e6863ce797f41cb" /><Relationship Type="http://schemas.openxmlformats.org/officeDocument/2006/relationships/notesSlide" Target="/ppt/notesSlides/notesSlide11.xml" Id="Raff01711fe874c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362affc6d0d4262" /><Relationship Type="http://schemas.openxmlformats.org/officeDocument/2006/relationships/notesSlide" Target="/ppt/notesSlides/notesSlide12.xml" Id="Rf169021bdab9426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88fb0cfe0464d0c" /><Relationship Type="http://schemas.openxmlformats.org/officeDocument/2006/relationships/notesSlide" Target="/ppt/notesSlides/notesSlide13.xml" Id="R2d6a3ac5723f4e7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b391c407b9549e4" /><Relationship Type="http://schemas.openxmlformats.org/officeDocument/2006/relationships/notesSlide" Target="/ppt/notesSlides/notesSlide14.xml" Id="R4a91b5c7707646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e8b01e042414a4b" /><Relationship Type="http://schemas.openxmlformats.org/officeDocument/2006/relationships/notesSlide" Target="/ppt/notesSlides/notesSlide15.xml" Id="R1334417859ec479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4fb60c1fdb24b61" /><Relationship Type="http://schemas.openxmlformats.org/officeDocument/2006/relationships/notesSlide" Target="/ppt/notesSlides/notesSlide16.xml" Id="Red17a9e2b59d491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5d81c51c9794cc7" /><Relationship Type="http://schemas.openxmlformats.org/officeDocument/2006/relationships/notesSlide" Target="/ppt/notesSlides/notesSlide17.xml" Id="R02ff47b2948148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804e7c59e8a4857" /><Relationship Type="http://schemas.openxmlformats.org/officeDocument/2006/relationships/notesSlide" Target="/ppt/notesSlides/notesSlide18.xml" Id="Rf5754bb134e949c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eab0cee9f584972" /><Relationship Type="http://schemas.openxmlformats.org/officeDocument/2006/relationships/notesSlide" Target="/ppt/notesSlides/notesSlide19.xml" Id="R22e74a66b17442e3" /></Relationships>
</file>

<file path=ppt/slides/slide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F9756E7D-60D0-4037-8E3B-08F8B7B83D4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A5C9E"/>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C5B27287-BF57-44BD-8A80-89DA6428CF6E}"/>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100AAD7D-7F5A-43C9-9CB4-1469060C7B7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OVERVIEW</a:t>
            </a:r>
          </a:p>
        </p:txBody>
      </p:sp>
      <p:sp>
        <p:nvSpPr>
          <p:cNvPr id="4" name="title">
            <a:extLst xmlns:a="http://schemas.openxmlformats.org/drawingml/2006/main">
              <a:ext uri="{FF2B5EF4-FFF2-40B4-BE49-F238E27FC236}">
                <a16:creationId xmlns:a16="http://schemas.microsoft.com/office/drawing/2014/main" id="{48441BEF-937E-4EB4-BF33-7518C25E5B9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33F"/>
                </a:solidFill>
                <a:latin typeface="Arial"/>
                <a:ea typeface="Arial"/>
                <a:cs typeface="Arial"/>
              </a:defRPr>
            </a:pPr>
            <a:r>
              <a:rPr sz="3600" b="1">
                <a:solidFill>
                  <a:srgbClr val="10233F"/>
                </a:solidFill>
                <a:latin typeface="Arial"/>
                <a:ea typeface="Arial"/>
                <a:cs typeface="Arial"/>
              </a:rPr>
              <a:t>Topics 2 and 3 evidence task lab</a:t>
            </a:r>
          </a:p>
        </p:txBody>
      </p:sp>
      <p:sp>
        <p:nvSpPr>
          <p:cNvPr id="5" name="paper panel">
            <a:extLst xmlns:a="http://schemas.openxmlformats.org/drawingml/2006/main">
              <a:ext uri="{FF2B5EF4-FFF2-40B4-BE49-F238E27FC236}">
                <a16:creationId xmlns:a16="http://schemas.microsoft.com/office/drawing/2014/main" id="{ECFF2FFF-467A-46AF-B260-3152A5DBC928}"/>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objective 0">
            <a:extLst xmlns:a="http://schemas.openxmlformats.org/drawingml/2006/main">
              <a:ext uri="{FF2B5EF4-FFF2-40B4-BE49-F238E27FC236}">
                <a16:creationId xmlns:a16="http://schemas.microsoft.com/office/drawing/2014/main" id="{AE15EF8F-E170-4063-9153-86CB5A2EFA9F}"/>
              </a:ext>
            </a:extLst>
          </p:cNvPr>
          <p:cNvSpPr>
            <a:spLocks xmlns:a="http://schemas.openxmlformats.org/drawingml/2006/main" noGrp="1"/>
          </p:cNvSpPr>
          <p:nvPr/>
        </p:nvSpPr>
        <p:spPr>
          <a:xfrm xmlns:a="http://schemas.openxmlformats.org/drawingml/2006/main">
            <a:off x="762000" y="2181225"/>
            <a:ext cx="10382250" cy="78828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33F"/>
                </a:solidFill>
                <a:latin typeface="Arial"/>
                <a:ea typeface="Arial"/>
                <a:cs typeface="Arial"/>
              </a:defRPr>
            </a:pPr>
            <a:r>
              <a:rPr sz="2175" b="1">
                <a:solidFill>
                  <a:srgbClr val="10233F"/>
                </a:solidFill>
                <a:latin typeface="Arial"/>
                <a:ea typeface="Arial"/>
                <a:cs typeface="Arial"/>
              </a:rPr>
              <a:t>Work through supplied Topic 2 and 3 questions, recording each response and any uncertainty before choosing a final response.</a:t>
            </a:r>
          </a:p>
        </p:txBody>
      </p:sp>
      <p:sp>
        <p:nvSpPr>
          <p:cNvPr id="7" name="HTML link">
            <a:extLst xmlns:a="http://schemas.openxmlformats.org/drawingml/2006/main">
              <a:ext uri="{FF2B5EF4-FFF2-40B4-BE49-F238E27FC236}">
                <a16:creationId xmlns:a16="http://schemas.microsoft.com/office/drawing/2014/main" id="{1F32F59E-D387-4B1E-BB0F-CFA473858767}"/>
              </a:ext>
            </a:extLst>
          </p:cNvPr>
          <p:cNvSpPr>
            <a:spLocks xmlns:a="http://schemas.openxmlformats.org/drawingml/2006/main" noGrp="1"/>
          </p:cNvSpPr>
          <p:nvPr/>
        </p:nvSpPr>
        <p:spPr>
          <a:xfrm xmlns:a="http://schemas.openxmlformats.org/drawingml/2006/main">
            <a:off x="762000" y="54959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7A5C9E"/>
                </a:solidFill>
                <a:latin typeface="Arial"/>
                <a:ea typeface="Arial"/>
                <a:cs typeface="Arial"/>
              </a:defRPr>
            </a:pPr>
            <a:r>
              <a:rPr sz="1575" b="1">
                <a:solidFill>
                  <a:srgbClr val="7A5C9E"/>
                </a:solidFill>
                <a:latin typeface="Arial"/>
                <a:ea typeface="Arial"/>
                <a:cs typeface="Arial"/>
                <a:hlinkClick xmlns:r="http://schemas.openxmlformats.org/officeDocument/2006/relationships" r:id="R4df429d7f7f940db"/>
              </a:rPr>
              <a:t>Open the original interactive lesson</a:t>
            </a:r>
          </a:p>
        </p:txBody>
      </p:sp>
      <p:sp>
        <p:nvSpPr>
          <p:cNvPr id="8" name="time">
            <a:extLst xmlns:a="http://schemas.openxmlformats.org/drawingml/2006/main">
              <a:ext uri="{FF2B5EF4-FFF2-40B4-BE49-F238E27FC236}">
                <a16:creationId xmlns:a16="http://schemas.microsoft.com/office/drawing/2014/main" id="{F773BE88-1051-4315-995E-0D065C57BAB6}"/>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40 MINUTES</a:t>
            </a:r>
          </a:p>
        </p:txBody>
      </p:sp>
      <p:sp>
        <p:nvSpPr>
          <p:cNvPr id="9" name="number">
            <a:extLst xmlns:a="http://schemas.openxmlformats.org/drawingml/2006/main">
              <a:ext uri="{FF2B5EF4-FFF2-40B4-BE49-F238E27FC236}">
                <a16:creationId xmlns:a16="http://schemas.microsoft.com/office/drawing/2014/main" id="{AA100DF6-D377-478E-A808-3F6E9083E02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 / 19</a:t>
            </a:r>
          </a:p>
        </p:txBody>
      </p:sp>
    </p:spTree>
    <p:extLst>
      <p:ext uri="{BB962C8B-B14F-4D97-AF65-F5344CB8AC3E}">
        <p14:creationId xmlns:p14="http://schemas.microsoft.com/office/powerpoint/2010/main" val="1692314180"/>
      </p:ext>
    </p:extLst>
  </p:cSld>
</p:sld>
</file>

<file path=ppt/slides/slide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8B8F2ADD-C3AF-4568-A9CF-1D6957E177F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01E31F1-A9FD-40D7-AB2A-CA33FD4B96F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BE51EF88-4E0B-4F4E-8A85-27637005518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0FBC76C3-A9FD-4387-813B-B9D180E02B9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Retrieve without guessing</a:t>
            </a:r>
          </a:p>
        </p:txBody>
      </p:sp>
      <p:sp>
        <p:nvSpPr>
          <p:cNvPr id="5" name="paper panel">
            <a:extLst xmlns:a="http://schemas.openxmlformats.org/drawingml/2006/main">
              <a:ext uri="{FF2B5EF4-FFF2-40B4-BE49-F238E27FC236}">
                <a16:creationId xmlns:a16="http://schemas.microsoft.com/office/drawing/2014/main" id="{C1744C2B-EF55-4958-9C5D-8E6D616BFBA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4ED9D08-FE91-49F8-AA7C-CD64594F822B}"/>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The approved task wording and source locator remain visible while evidence is interpreted.</a:t>
            </a:r>
          </a:p>
        </p:txBody>
      </p:sp>
      <p:sp>
        <p:nvSpPr>
          <p:cNvPr id="7" name="content 1">
            <a:extLst xmlns:a="http://schemas.openxmlformats.org/drawingml/2006/main">
              <a:ext uri="{FF2B5EF4-FFF2-40B4-BE49-F238E27FC236}">
                <a16:creationId xmlns:a16="http://schemas.microsoft.com/office/drawing/2014/main" id="{509E4FE5-F5A9-45BF-A1FB-7080963AAF4D}"/>
              </a:ext>
            </a:extLst>
          </p:cNvPr>
          <p:cNvSpPr>
            <a:spLocks xmlns:a="http://schemas.openxmlformats.org/drawingml/2006/main" noGrp="1"/>
          </p:cNvSpPr>
          <p:nvPr/>
        </p:nvSpPr>
        <p:spPr>
          <a:xfrm xmlns:a="http://schemas.openxmlformats.org/drawingml/2006/main">
            <a:off x="800100" y="2962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An observation is recorded before an inference so the two cannot be blurred.</a:t>
            </a:r>
          </a:p>
        </p:txBody>
      </p:sp>
      <p:sp>
        <p:nvSpPr>
          <p:cNvPr id="8" name="content 2">
            <a:extLst xmlns:a="http://schemas.openxmlformats.org/drawingml/2006/main">
              <a:ext uri="{FF2B5EF4-FFF2-40B4-BE49-F238E27FC236}">
                <a16:creationId xmlns:a16="http://schemas.microsoft.com/office/drawing/2014/main" id="{960544E3-80C8-4D76-B273-F5106C3858A1}"/>
              </a:ext>
            </a:extLst>
          </p:cNvPr>
          <p:cNvSpPr>
            <a:spLocks xmlns:a="http://schemas.openxmlformats.org/drawingml/2006/main" noGrp="1"/>
          </p:cNvSpPr>
          <p:nvPr/>
        </p:nvSpPr>
        <p:spPr>
          <a:xfrm xmlns:a="http://schemas.openxmlformats.org/drawingml/2006/main">
            <a:off x="800100" y="34194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response choice is justified by a named feature, pattern or calculation from the supplied task.</a:t>
            </a:r>
          </a:p>
        </p:txBody>
      </p:sp>
      <p:sp>
        <p:nvSpPr>
          <p:cNvPr id="9" name="content 3">
            <a:extLst xmlns:a="http://schemas.openxmlformats.org/drawingml/2006/main">
              <a:ext uri="{FF2B5EF4-FFF2-40B4-BE49-F238E27FC236}">
                <a16:creationId xmlns:a16="http://schemas.microsoft.com/office/drawing/2014/main" id="{F37BB1DF-4DD1-497B-8193-EB69B6E7FBB0}"/>
              </a:ext>
            </a:extLst>
          </p:cNvPr>
          <p:cNvSpPr>
            <a:spLocks xmlns:a="http://schemas.openxmlformats.org/drawingml/2006/main" noGrp="1"/>
          </p:cNvSpPr>
          <p:nvPr/>
        </p:nvSpPr>
        <p:spPr>
          <a:xfrm xmlns:a="http://schemas.openxmlformats.org/drawingml/2006/main">
            <a:off x="800100" y="42100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Uncertainty is not failure: it identifies the exact concept, word or step to retrieve before the assessment response is final.</a:t>
            </a:r>
          </a:p>
        </p:txBody>
      </p:sp>
      <p:sp>
        <p:nvSpPr>
          <p:cNvPr id="10" name="time">
            <a:extLst xmlns:a="http://schemas.openxmlformats.org/drawingml/2006/main">
              <a:ext uri="{FF2B5EF4-FFF2-40B4-BE49-F238E27FC236}">
                <a16:creationId xmlns:a16="http://schemas.microsoft.com/office/drawing/2014/main" id="{5DDF28F7-42BA-4D5E-9217-29743276554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11" name="number">
            <a:extLst xmlns:a="http://schemas.openxmlformats.org/drawingml/2006/main">
              <a:ext uri="{FF2B5EF4-FFF2-40B4-BE49-F238E27FC236}">
                <a16:creationId xmlns:a16="http://schemas.microsoft.com/office/drawing/2014/main" id="{52E020A1-AC4F-4DBE-BE11-1E215A4AB54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2 / 19</a:t>
            </a:r>
          </a:p>
        </p:txBody>
      </p:sp>
    </p:spTree>
    <p:extLst>
      <p:ext uri="{BB962C8B-B14F-4D97-AF65-F5344CB8AC3E}">
        <p14:creationId xmlns:p14="http://schemas.microsoft.com/office/powerpoint/2010/main" val="517268723"/>
      </p:ext>
    </p:extLst>
  </p:cSld>
</p:sld>
</file>

<file path=ppt/slides/slide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88C034FD-5DC1-4118-87CE-2AAC3BDE656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7C3AED"/>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70103D5-97BA-4BA5-842B-DAD1F36FAA7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CCE64B50-886D-47CA-B3CC-D528BAC0852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ARRIVAL</a:t>
            </a:r>
          </a:p>
        </p:txBody>
      </p:sp>
      <p:sp>
        <p:nvSpPr>
          <p:cNvPr id="4" name="title">
            <a:extLst xmlns:a="http://schemas.openxmlformats.org/drawingml/2006/main">
              <a:ext uri="{FF2B5EF4-FFF2-40B4-BE49-F238E27FC236}">
                <a16:creationId xmlns:a16="http://schemas.microsoft.com/office/drawing/2014/main" id="{59ED6833-6D01-458D-842E-821E5A9F6C4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Retrieve without guessing</a:t>
            </a:r>
          </a:p>
        </p:txBody>
      </p:sp>
      <p:sp>
        <p:nvSpPr>
          <p:cNvPr id="5" name="paper panel">
            <a:extLst xmlns:a="http://schemas.openxmlformats.org/drawingml/2006/main">
              <a:ext uri="{FF2B5EF4-FFF2-40B4-BE49-F238E27FC236}">
                <a16:creationId xmlns:a16="http://schemas.microsoft.com/office/drawing/2014/main" id="{B50251A7-5DB6-4034-9D94-05A0386D093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9C50DE0-5D38-42DA-BC63-6943C3888914}"/>
              </a:ext>
            </a:extLst>
          </p:cNvPr>
          <p:cNvSpPr>
            <a:spLocks xmlns:a="http://schemas.openxmlformats.org/drawingml/2006/main" noGrp="1"/>
          </p:cNvSpPr>
          <p:nvPr/>
        </p:nvSpPr>
        <p:spPr>
          <a:xfrm xmlns:a="http://schemas.openxmlformats.org/drawingml/2006/main">
            <a:off x="800100" y="2171700"/>
            <a:ext cx="10591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Arrival decision: The approved task wording and source locator remain visible while evidence is interpreted. Uncertainty is not failure: it identifies the exact concept, word or step to retrieve before the assessment response is final.</a:t>
            </a:r>
          </a:p>
        </p:txBody>
      </p:sp>
      <p:sp>
        <p:nvSpPr>
          <p:cNvPr id="7" name="time">
            <a:extLst xmlns:a="http://schemas.openxmlformats.org/drawingml/2006/main">
              <a:ext uri="{FF2B5EF4-FFF2-40B4-BE49-F238E27FC236}">
                <a16:creationId xmlns:a16="http://schemas.microsoft.com/office/drawing/2014/main" id="{0E3C9360-83B6-4604-BC03-6E4DEFC5C9E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ARRIVAL · 3 min across this stage</a:t>
            </a:r>
          </a:p>
        </p:txBody>
      </p:sp>
      <p:sp>
        <p:nvSpPr>
          <p:cNvPr id="8" name="number">
            <a:extLst xmlns:a="http://schemas.openxmlformats.org/drawingml/2006/main">
              <a:ext uri="{FF2B5EF4-FFF2-40B4-BE49-F238E27FC236}">
                <a16:creationId xmlns:a16="http://schemas.microsoft.com/office/drawing/2014/main" id="{A3C2CED8-49D3-432E-8839-CAFFC3F7D0C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3 / 19</a:t>
            </a:r>
          </a:p>
        </p:txBody>
      </p:sp>
    </p:spTree>
    <p:extLst>
      <p:ext uri="{BB962C8B-B14F-4D97-AF65-F5344CB8AC3E}">
        <p14:creationId xmlns:p14="http://schemas.microsoft.com/office/powerpoint/2010/main" val="349506781"/>
      </p:ext>
    </p:extLst>
  </p:cSld>
</p:sld>
</file>

<file path=ppt/slides/slide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CC8637F6-ED89-4961-8DF2-EEC2AD5C272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92AF771-C3E7-4011-A157-3AB8ECAFDFA2}"/>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03EC4819-A352-4B66-AB65-D79A6A38EDD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32EBEE6C-C149-4A30-BDBA-1D619D87AE30}"/>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Which response is supported by the supplied evidence, and which uncertainty must remain visible before a final choice?</a:t>
            </a:r>
          </a:p>
        </p:txBody>
      </p:sp>
      <p:sp>
        <p:nvSpPr>
          <p:cNvPr id="5" name="paper panel">
            <a:extLst xmlns:a="http://schemas.openxmlformats.org/drawingml/2006/main">
              <a:ext uri="{FF2B5EF4-FFF2-40B4-BE49-F238E27FC236}">
                <a16:creationId xmlns:a16="http://schemas.microsoft.com/office/drawing/2014/main" id="{3E8E6B70-190F-4AA6-8B0D-13459EB42A4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42D5D424-78F8-4D26-890B-0A694CB8C0A5}"/>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Picture first: the same map. Today: which responses the evidence supports, and which uncertainties you must keep visible.</a:t>
            </a:r>
          </a:p>
        </p:txBody>
      </p:sp>
      <p:sp>
        <p:nvSpPr>
          <p:cNvPr id="7" name="content 1">
            <a:extLst xmlns:a="http://schemas.openxmlformats.org/drawingml/2006/main">
              <a:ext uri="{FF2B5EF4-FFF2-40B4-BE49-F238E27FC236}">
                <a16:creationId xmlns:a16="http://schemas.microsoft.com/office/drawing/2014/main" id="{B9680E2E-DC3C-4269-8CC5-10EF04F2CFF0}"/>
              </a:ext>
            </a:extLst>
          </p:cNvPr>
          <p:cNvSpPr>
            <a:spLocks xmlns:a="http://schemas.openxmlformats.org/drawingml/2006/main" noGrp="1"/>
          </p:cNvSpPr>
          <p:nvPr/>
        </p:nvSpPr>
        <p:spPr>
          <a:xfrm xmlns:a="http://schemas.openxmlformats.org/drawingml/2006/main">
            <a:off x="800100" y="2962275"/>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Which response is supported by the supplied evidence, and which uncertainty must remain visible before a final choice? An observation is recorded before an inference so the two cannot be blurred.</a:t>
            </a:r>
          </a:p>
        </p:txBody>
      </p:sp>
      <p:sp>
        <p:nvSpPr>
          <p:cNvPr id="8" name="content 2">
            <a:extLst xmlns:a="http://schemas.openxmlformats.org/drawingml/2006/main">
              <a:ext uri="{FF2B5EF4-FFF2-40B4-BE49-F238E27FC236}">
                <a16:creationId xmlns:a16="http://schemas.microsoft.com/office/drawing/2014/main" id="{40701904-3721-4E9E-9663-BB8CB48BD3D4}"/>
              </a:ext>
            </a:extLst>
          </p:cNvPr>
          <p:cNvSpPr>
            <a:spLocks xmlns:a="http://schemas.openxmlformats.org/drawingml/2006/main" noGrp="1"/>
          </p:cNvSpPr>
          <p:nvPr/>
        </p:nvSpPr>
        <p:spPr>
          <a:xfrm xmlns:a="http://schemas.openxmlformats.org/drawingml/2006/main">
            <a:off x="800100" y="408622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Checking questions:</a:t>
            </a:r>
          </a:p>
        </p:txBody>
      </p:sp>
      <p:sp>
        <p:nvSpPr>
          <p:cNvPr id="9" name="content 3">
            <a:extLst xmlns:a="http://schemas.openxmlformats.org/drawingml/2006/main">
              <a:ext uri="{FF2B5EF4-FFF2-40B4-BE49-F238E27FC236}">
                <a16:creationId xmlns:a16="http://schemas.microsoft.com/office/drawing/2014/main" id="{D9BF37AF-8D12-43D7-8814-6750175E6315}"/>
              </a:ext>
            </a:extLst>
          </p:cNvPr>
          <p:cNvSpPr>
            <a:spLocks xmlns:a="http://schemas.openxmlformats.org/drawingml/2006/main" noGrp="1"/>
          </p:cNvSpPr>
          <p:nvPr/>
        </p:nvSpPr>
        <p:spPr>
          <a:xfrm xmlns:a="http://schemas.openxmlformats.org/drawingml/2006/main">
            <a:off x="800100" y="45434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The approved task wording and source locator remain visible while evidence is interpreted.</a:t>
            </a:r>
          </a:p>
        </p:txBody>
      </p:sp>
      <p:sp>
        <p:nvSpPr>
          <p:cNvPr id="10" name="content 4">
            <a:extLst xmlns:a="http://schemas.openxmlformats.org/drawingml/2006/main">
              <a:ext uri="{FF2B5EF4-FFF2-40B4-BE49-F238E27FC236}">
                <a16:creationId xmlns:a16="http://schemas.microsoft.com/office/drawing/2014/main" id="{E561A7A3-C947-4A72-BBA4-0AC7AB34CD12}"/>
              </a:ext>
            </a:extLst>
          </p:cNvPr>
          <p:cNvSpPr>
            <a:spLocks xmlns:a="http://schemas.openxmlformats.org/drawingml/2006/main" noGrp="1"/>
          </p:cNvSpPr>
          <p:nvPr/>
        </p:nvSpPr>
        <p:spPr>
          <a:xfrm xmlns:a="http://schemas.openxmlformats.org/drawingml/2006/main">
            <a:off x="800100" y="53340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An observation is recorded before an inference so the two cannot be blurred.</a:t>
            </a:r>
          </a:p>
        </p:txBody>
      </p:sp>
      <p:sp>
        <p:nvSpPr>
          <p:cNvPr id="11" name="time">
            <a:extLst xmlns:a="http://schemas.openxmlformats.org/drawingml/2006/main">
              <a:ext uri="{FF2B5EF4-FFF2-40B4-BE49-F238E27FC236}">
                <a16:creationId xmlns:a16="http://schemas.microsoft.com/office/drawing/2014/main" id="{449221DA-7A64-437E-813D-51F3210EA33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12" name="number">
            <a:extLst xmlns:a="http://schemas.openxmlformats.org/drawingml/2006/main">
              <a:ext uri="{FF2B5EF4-FFF2-40B4-BE49-F238E27FC236}">
                <a16:creationId xmlns:a16="http://schemas.microsoft.com/office/drawing/2014/main" id="{6D2DAB55-79FB-4AA5-B8B3-8F50059E128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4 / 19</a:t>
            </a:r>
          </a:p>
        </p:txBody>
      </p:sp>
    </p:spTree>
    <p:extLst>
      <p:ext uri="{BB962C8B-B14F-4D97-AF65-F5344CB8AC3E}">
        <p14:creationId xmlns:p14="http://schemas.microsoft.com/office/powerpoint/2010/main" val="681351748"/>
      </p:ext>
    </p:extLst>
  </p:cSld>
</p:sld>
</file>

<file path=ppt/slides/slide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DCBC7471-9D32-45E2-A8B2-BE9CEB5DB31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B7CBC6BD-1BF9-4089-BF02-2CCD68937D15}"/>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516DD00F-AC3A-41E0-9FF7-04D81289BFE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BFCC20D7-4A5E-47D2-B863-29DBE93309D9}"/>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Which response is supported by the supplied evidence, and which uncertainty must remain visible before a final choice?</a:t>
            </a:r>
          </a:p>
        </p:txBody>
      </p:sp>
      <p:sp>
        <p:nvSpPr>
          <p:cNvPr id="5" name="paper panel">
            <a:extLst xmlns:a="http://schemas.openxmlformats.org/drawingml/2006/main">
              <a:ext uri="{FF2B5EF4-FFF2-40B4-BE49-F238E27FC236}">
                <a16:creationId xmlns:a16="http://schemas.microsoft.com/office/drawing/2014/main" id="{BED4DB7F-9CE4-4AFF-9CAD-7F926E3DAB4E}"/>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487D1F5-A4B8-4DE5-9A67-F8A78D37A9E5}"/>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 response choice is justified by a named feature, pattern or calculation from the supplied task.</a:t>
            </a:r>
          </a:p>
        </p:txBody>
      </p:sp>
      <p:sp>
        <p:nvSpPr>
          <p:cNvPr id="7" name="content 1">
            <a:extLst xmlns:a="http://schemas.openxmlformats.org/drawingml/2006/main">
              <a:ext uri="{FF2B5EF4-FFF2-40B4-BE49-F238E27FC236}">
                <a16:creationId xmlns:a16="http://schemas.microsoft.com/office/drawing/2014/main" id="{1BCC73F6-BC97-4225-812D-1C928C22D1BA}"/>
              </a:ext>
            </a:extLst>
          </p:cNvPr>
          <p:cNvSpPr>
            <a:spLocks xmlns:a="http://schemas.openxmlformats.org/drawingml/2006/main" noGrp="1"/>
          </p:cNvSpPr>
          <p:nvPr/>
        </p:nvSpPr>
        <p:spPr>
          <a:xfrm xmlns:a="http://schemas.openxmlformats.org/drawingml/2006/main">
            <a:off x="800100" y="29622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Uncertainty is not failure: it identifies the exact concept, word or step to retrieve before the assessment response is final.</a:t>
            </a:r>
          </a:p>
        </p:txBody>
      </p:sp>
      <p:sp>
        <p:nvSpPr>
          <p:cNvPr id="8" name="time">
            <a:extLst xmlns:a="http://schemas.openxmlformats.org/drawingml/2006/main">
              <a:ext uri="{FF2B5EF4-FFF2-40B4-BE49-F238E27FC236}">
                <a16:creationId xmlns:a16="http://schemas.microsoft.com/office/drawing/2014/main" id="{3F32FFA9-6877-46D7-8878-468DB3146EB1}"/>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9" name="number">
            <a:extLst xmlns:a="http://schemas.openxmlformats.org/drawingml/2006/main">
              <a:ext uri="{FF2B5EF4-FFF2-40B4-BE49-F238E27FC236}">
                <a16:creationId xmlns:a16="http://schemas.microsoft.com/office/drawing/2014/main" id="{24EFDA93-2BF9-4A87-BF6E-473083CD0FCE}"/>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5 / 19</a:t>
            </a:r>
          </a:p>
        </p:txBody>
      </p:sp>
    </p:spTree>
    <p:extLst>
      <p:ext uri="{BB962C8B-B14F-4D97-AF65-F5344CB8AC3E}">
        <p14:creationId xmlns:p14="http://schemas.microsoft.com/office/powerpoint/2010/main" val="205274720"/>
      </p:ext>
    </p:extLst>
  </p:cSld>
</p:sld>
</file>

<file path=ppt/slides/slide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758FCB5C-3025-496B-96BE-C71C90EC5DD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B2777"/>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1287C52-61AD-4A28-8E0D-D5BF058379BD}"/>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8B32B911-BB51-41DB-ACA9-9E1331723A0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STARTER</a:t>
            </a:r>
          </a:p>
        </p:txBody>
      </p:sp>
      <p:sp>
        <p:nvSpPr>
          <p:cNvPr id="4" name="title">
            <a:extLst xmlns:a="http://schemas.openxmlformats.org/drawingml/2006/main">
              <a:ext uri="{FF2B5EF4-FFF2-40B4-BE49-F238E27FC236}">
                <a16:creationId xmlns:a16="http://schemas.microsoft.com/office/drawing/2014/main" id="{800434B7-9346-42B9-9E3B-1A617F66A56C}"/>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Which response is supported by the supplied evidence, and which uncertainty must remain visible before a final choice?</a:t>
            </a:r>
          </a:p>
        </p:txBody>
      </p:sp>
      <p:sp>
        <p:nvSpPr>
          <p:cNvPr id="5" name="paper panel">
            <a:extLst xmlns:a="http://schemas.openxmlformats.org/drawingml/2006/main">
              <a:ext uri="{FF2B5EF4-FFF2-40B4-BE49-F238E27FC236}">
                <a16:creationId xmlns:a16="http://schemas.microsoft.com/office/drawing/2014/main" id="{E2C1C225-9990-4882-8DAD-551A22674D5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02a4f6f46184db8"/>
          <a:stretch xmlns:a="http://schemas.openxmlformats.org/drawingml/2006/main"/>
        </p:blipFill>
        <p:spPr>
          <a:xfrm xmlns:a="http://schemas.openxmlformats.org/drawingml/2006/main">
            <a:off x="1990224" y="2181225"/>
            <a:ext cx="8211553" cy="3000375"/>
          </a:xfrm>
          <a:prstGeom xmlns:a="http://schemas.openxmlformats.org/drawingml/2006/main" prst="rect">
            <a:avLst/>
          </a:prstGeom>
        </p:spPr>
      </p:pic>
      <p:sp>
        <p:nvSpPr>
          <p:cNvPr id="7" name="visual caption 0">
            <a:extLst xmlns:a="http://schemas.openxmlformats.org/drawingml/2006/main">
              <a:ext uri="{FF2B5EF4-FFF2-40B4-BE49-F238E27FC236}">
                <a16:creationId xmlns:a16="http://schemas.microsoft.com/office/drawing/2014/main" id="{6486420A-5155-47DF-BD98-9DB0C5F8E5FB}"/>
              </a:ext>
            </a:extLst>
          </p:cNvPr>
          <p:cNvSpPr>
            <a:spLocks xmlns:a="http://schemas.openxmlformats.org/drawingml/2006/main" noGrp="1"/>
          </p:cNvSpPr>
          <p:nvPr/>
        </p:nvSpPr>
        <p:spPr>
          <a:xfrm xmlns:a="http://schemas.openxmlformats.org/drawingml/2006/main">
            <a:off x="800100" y="5314950"/>
            <a:ext cx="10591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0233F"/>
                </a:solidFill>
                <a:latin typeface="Arial"/>
                <a:ea typeface="Arial"/>
                <a:cs typeface="Arial"/>
              </a:defRPr>
            </a:pPr>
            <a:r>
              <a:rPr sz="1725" b="0">
                <a:solidFill>
                  <a:srgbClr val="10233F"/>
                </a:solidFill>
                <a:latin typeface="Arial"/>
                <a:ea typeface="Arial"/>
                <a:cs typeface="Arial"/>
              </a:rPr>
              <a:t>Topics 2 and 3 review map</a:t>
            </a:r>
          </a:p>
        </p:txBody>
      </p:sp>
      <p:sp>
        <p:nvSpPr>
          <p:cNvPr id="8" name="time">
            <a:extLst xmlns:a="http://schemas.openxmlformats.org/drawingml/2006/main">
              <a:ext uri="{FF2B5EF4-FFF2-40B4-BE49-F238E27FC236}">
                <a16:creationId xmlns:a16="http://schemas.microsoft.com/office/drawing/2014/main" id="{7D2BCD70-9003-4583-9240-D9771E5962C7}"/>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STARTER · 3 min across this stage</a:t>
            </a:r>
          </a:p>
        </p:txBody>
      </p:sp>
      <p:sp>
        <p:nvSpPr>
          <p:cNvPr id="9" name="number">
            <a:extLst xmlns:a="http://schemas.openxmlformats.org/drawingml/2006/main">
              <a:ext uri="{FF2B5EF4-FFF2-40B4-BE49-F238E27FC236}">
                <a16:creationId xmlns:a16="http://schemas.microsoft.com/office/drawing/2014/main" id="{E8F9151E-42F2-4C6F-9753-E0749564FC55}"/>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6 / 19</a:t>
            </a:r>
          </a:p>
        </p:txBody>
      </p:sp>
    </p:spTree>
    <p:extLst>
      <p:ext uri="{BB962C8B-B14F-4D97-AF65-F5344CB8AC3E}">
        <p14:creationId xmlns:p14="http://schemas.microsoft.com/office/powerpoint/2010/main" val="1969098147"/>
      </p:ext>
    </p:extLst>
  </p:cSld>
</p:sld>
</file>

<file path=ppt/slides/slide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AB1E71AF-51AB-426C-874A-10CFC2073D8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E8962548-E5B6-419A-BDBA-D6D28C7FF894}"/>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5DDCE415-413C-4737-B0E3-DB523CDD7941}"/>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F1F63B5A-3442-415A-9C57-7D26FE0A54E4}"/>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Approved topic 2 and 3 evidence tasks</a:t>
            </a:r>
          </a:p>
        </p:txBody>
      </p:sp>
      <p:sp>
        <p:nvSpPr>
          <p:cNvPr id="5" name="paper panel">
            <a:extLst xmlns:a="http://schemas.openxmlformats.org/drawingml/2006/main">
              <a:ext uri="{FF2B5EF4-FFF2-40B4-BE49-F238E27FC236}">
                <a16:creationId xmlns:a16="http://schemas.microsoft.com/office/drawing/2014/main" id="{42174E9B-09CB-4DBB-9A1C-3DBA5F68F61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0923BF59-0724-4102-8575-51968CA759CF}"/>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 or an uncertainty that must stay visible?</a:t>
            </a:r>
          </a:p>
        </p:txBody>
      </p:sp>
      <p:sp>
        <p:nvSpPr>
          <p:cNvPr id="7" name="content 1">
            <a:extLst xmlns:a="http://schemas.openxmlformats.org/drawingml/2006/main">
              <a:ext uri="{FF2B5EF4-FFF2-40B4-BE49-F238E27FC236}">
                <a16:creationId xmlns:a16="http://schemas.microsoft.com/office/drawing/2014/main" id="{BC526AB6-AD41-4F3B-8F8D-0537C0D3489E}"/>
              </a:ext>
            </a:extLst>
          </p:cNvPr>
          <p:cNvSpPr>
            <a:spLocks xmlns:a="http://schemas.openxmlformats.org/drawingml/2006/main" noGrp="1"/>
          </p:cNvSpPr>
          <p:nvPr/>
        </p:nvSpPr>
        <p:spPr>
          <a:xfrm xmlns:a="http://schemas.openxmlformats.org/drawingml/2006/main">
            <a:off x="800100" y="264795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Choose a response, then judge it against the supplied evidence.</a:t>
            </a:r>
          </a:p>
        </p:txBody>
      </p:sp>
      <p:sp>
        <p:nvSpPr>
          <p:cNvPr id="8" name="time">
            <a:extLst xmlns:a="http://schemas.openxmlformats.org/drawingml/2006/main">
              <a:ext uri="{FF2B5EF4-FFF2-40B4-BE49-F238E27FC236}">
                <a16:creationId xmlns:a16="http://schemas.microsoft.com/office/drawing/2014/main" id="{F32D53A7-719A-4663-A343-E864CA9954F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9" name="number">
            <a:extLst xmlns:a="http://schemas.openxmlformats.org/drawingml/2006/main">
              <a:ext uri="{FF2B5EF4-FFF2-40B4-BE49-F238E27FC236}">
                <a16:creationId xmlns:a16="http://schemas.microsoft.com/office/drawing/2014/main" id="{5AF2A4E7-FFF4-454E-BCE8-2EA6190FFED3}"/>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7 / 19</a:t>
            </a:r>
          </a:p>
        </p:txBody>
      </p:sp>
    </p:spTree>
    <p:extLst>
      <p:ext uri="{BB962C8B-B14F-4D97-AF65-F5344CB8AC3E}">
        <p14:creationId xmlns:p14="http://schemas.microsoft.com/office/powerpoint/2010/main" val="2109831176"/>
      </p:ext>
    </p:extLst>
  </p:cSld>
</p:sld>
</file>

<file path=ppt/slides/slide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5" name="phase edge">
            <a:extLst xmlns:a="http://schemas.openxmlformats.org/drawingml/2006/main">
              <a:ext uri="{FF2B5EF4-FFF2-40B4-BE49-F238E27FC236}">
                <a16:creationId xmlns:a16="http://schemas.microsoft.com/office/drawing/2014/main" id="{24FAF047-679C-4773-920C-B2247F7FE31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7B382FC1-FC33-4052-9BCB-6240E4B1882C}"/>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24F47F0D-BFA9-4F65-B113-9399E7E9E742}"/>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6EF67EC4-4514-46E5-9435-496F32F488D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Approved topic 2 and 3 evidence tasks</a:t>
            </a:r>
          </a:p>
        </p:txBody>
      </p:sp>
      <p:sp>
        <p:nvSpPr>
          <p:cNvPr id="5" name="paper panel">
            <a:extLst xmlns:a="http://schemas.openxmlformats.org/drawingml/2006/main">
              <a:ext uri="{FF2B5EF4-FFF2-40B4-BE49-F238E27FC236}">
                <a16:creationId xmlns:a16="http://schemas.microsoft.com/office/drawing/2014/main" id="{A36899B1-95B7-4C70-A267-691B3D35783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7998F0AE-4886-4D3F-AE65-243CDB3E2B56}"/>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Observed 31 purple of 40 ≈ 77.5%, consistent with the 75% expected</a:t>
            </a:r>
          </a:p>
        </p:txBody>
      </p:sp>
      <p:sp>
        <p:nvSpPr>
          <p:cNvPr id="7" name="content 1">
            <a:extLst xmlns:a="http://schemas.openxmlformats.org/drawingml/2006/main">
              <a:ext uri="{FF2B5EF4-FFF2-40B4-BE49-F238E27FC236}">
                <a16:creationId xmlns:a16="http://schemas.microsoft.com/office/drawing/2014/main" id="{310314DF-A082-4B95-95AB-3E6541420CBC}"/>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B. The treatment will work in humans</a:t>
            </a:r>
          </a:p>
        </p:txBody>
      </p:sp>
      <p:sp>
        <p:nvSpPr>
          <p:cNvPr id="8" name="content 2">
            <a:extLst xmlns:a="http://schemas.openxmlformats.org/drawingml/2006/main">
              <a:ext uri="{FF2B5EF4-FFF2-40B4-BE49-F238E27FC236}">
                <a16:creationId xmlns:a16="http://schemas.microsoft.com/office/drawing/2014/main" id="{662B5295-FF24-4BBB-898F-968A82B723F0}"/>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 Strand 2 is TACGGT because A–T and C–G</a:t>
            </a:r>
          </a:p>
        </p:txBody>
      </p:sp>
      <p:sp>
        <p:nvSpPr>
          <p:cNvPr id="9" name="content 3">
            <a:extLst xmlns:a="http://schemas.openxmlformats.org/drawingml/2006/main">
              <a:ext uri="{FF2B5EF4-FFF2-40B4-BE49-F238E27FC236}">
                <a16:creationId xmlns:a16="http://schemas.microsoft.com/office/drawing/2014/main" id="{11AEC097-E034-47E2-9058-7F582E52C42C}"/>
              </a:ext>
            </a:extLst>
          </p:cNvPr>
          <p:cNvSpPr>
            <a:spLocks xmlns:a="http://schemas.openxmlformats.org/drawingml/2006/main" noGrp="1"/>
          </p:cNvSpPr>
          <p:nvPr/>
        </p:nvSpPr>
        <p:spPr>
          <a:xfrm xmlns:a="http://schemas.openxmlformats.org/drawingml/2006/main">
            <a:off x="800100" y="35433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D. The optimum pH is exactly 7.0</a:t>
            </a:r>
          </a:p>
        </p:txBody>
      </p:sp>
      <p:sp>
        <p:nvSpPr>
          <p:cNvPr id="10" name="content 4">
            <a:extLst xmlns:a="http://schemas.openxmlformats.org/drawingml/2006/main">
              <a:ext uri="{FF2B5EF4-FFF2-40B4-BE49-F238E27FC236}">
                <a16:creationId xmlns:a16="http://schemas.microsoft.com/office/drawing/2014/main" id="{C4FAEB2E-C56D-454A-BC40-0FE7A0FA4FF6}"/>
              </a:ext>
            </a:extLst>
          </p:cNvPr>
          <p:cNvSpPr>
            <a:spLocks xmlns:a="http://schemas.openxmlformats.org/drawingml/2006/main" noGrp="1"/>
          </p:cNvSpPr>
          <p:nvPr/>
        </p:nvSpPr>
        <p:spPr>
          <a:xfrm xmlns:a="http://schemas.openxmlformats.org/drawingml/2006/main">
            <a:off x="800100" y="40005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 Daughter cells are genetically identical because DNA was copied before division</a:t>
            </a:r>
          </a:p>
        </p:txBody>
      </p:sp>
      <p:sp>
        <p:nvSpPr>
          <p:cNvPr id="11" name="content 5">
            <a:extLst xmlns:a="http://schemas.openxmlformats.org/drawingml/2006/main">
              <a:ext uri="{FF2B5EF4-FFF2-40B4-BE49-F238E27FC236}">
                <a16:creationId xmlns:a16="http://schemas.microsoft.com/office/drawing/2014/main" id="{A418A2F2-D673-4EC9-B4FC-B68E14FE7CE1}"/>
              </a:ext>
            </a:extLst>
          </p:cNvPr>
          <p:cNvSpPr>
            <a:spLocks xmlns:a="http://schemas.openxmlformats.org/drawingml/2006/main" noGrp="1"/>
          </p:cNvSpPr>
          <p:nvPr/>
        </p:nvSpPr>
        <p:spPr>
          <a:xfrm xmlns:a="http://schemas.openxmlformats.org/drawingml/2006/main">
            <a:off x="800100" y="47910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 supported by the evidence</a:t>
            </a:r>
          </a:p>
        </p:txBody>
      </p:sp>
      <p:sp>
        <p:nvSpPr>
          <p:cNvPr id="12" name="content 6">
            <a:extLst xmlns:a="http://schemas.openxmlformats.org/drawingml/2006/main">
              <a:ext uri="{FF2B5EF4-FFF2-40B4-BE49-F238E27FC236}">
                <a16:creationId xmlns:a16="http://schemas.microsoft.com/office/drawing/2014/main" id="{7679668B-DA57-4F7E-AC59-60E88D1A7F36}"/>
              </a:ext>
            </a:extLst>
          </p:cNvPr>
          <p:cNvSpPr>
            <a:spLocks xmlns:a="http://schemas.openxmlformats.org/drawingml/2006/main" noGrp="1"/>
          </p:cNvSpPr>
          <p:nvPr/>
        </p:nvSpPr>
        <p:spPr>
          <a:xfrm xmlns:a="http://schemas.openxmlformats.org/drawingml/2006/main">
            <a:off x="800100" y="5248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G. uncertainty — must stay visible</a:t>
            </a:r>
          </a:p>
        </p:txBody>
      </p:sp>
      <p:sp>
        <p:nvSpPr>
          <p:cNvPr id="13" name="time">
            <a:extLst xmlns:a="http://schemas.openxmlformats.org/drawingml/2006/main">
              <a:ext uri="{FF2B5EF4-FFF2-40B4-BE49-F238E27FC236}">
                <a16:creationId xmlns:a16="http://schemas.microsoft.com/office/drawing/2014/main" id="{45605DD2-67A7-484C-A358-83C754E99A3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4" name="number">
            <a:extLst xmlns:a="http://schemas.openxmlformats.org/drawingml/2006/main">
              <a:ext uri="{FF2B5EF4-FFF2-40B4-BE49-F238E27FC236}">
                <a16:creationId xmlns:a16="http://schemas.microsoft.com/office/drawing/2014/main" id="{338C06C0-E71C-457A-8A96-F9A328BAB782}"/>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8 / 19</a:t>
            </a:r>
          </a:p>
        </p:txBody>
      </p:sp>
    </p:spTree>
    <p:extLst>
      <p:ext uri="{BB962C8B-B14F-4D97-AF65-F5344CB8AC3E}">
        <p14:creationId xmlns:p14="http://schemas.microsoft.com/office/powerpoint/2010/main" val="1659489492"/>
      </p:ext>
    </p:extLst>
  </p:cSld>
</p:sld>
</file>

<file path=ppt/slides/slide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115BD4E9-6BB3-4A04-8AC7-BB4F6BF5727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22F01FEB-A984-492D-BD7F-F78C91022391}"/>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B8A80529-0863-45AC-A6B6-288385A513F6}"/>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DF94420F-46F6-40C9-990B-BEAB273986E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Approved topic 2 and 3 evidence tasks</a:t>
            </a:r>
          </a:p>
        </p:txBody>
      </p:sp>
      <p:sp>
        <p:nvSpPr>
          <p:cNvPr id="5" name="paper panel">
            <a:extLst xmlns:a="http://schemas.openxmlformats.org/drawingml/2006/main">
              <a:ext uri="{FF2B5EF4-FFF2-40B4-BE49-F238E27FC236}">
                <a16:creationId xmlns:a16="http://schemas.microsoft.com/office/drawing/2014/main" id="{6633ECEB-F04B-43EE-8E33-79491C55ADEA}"/>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EEDD6EBC-43BB-449C-944A-647E1836952C}"/>
              </a:ext>
            </a:extLst>
          </p:cNvPr>
          <p:cNvSpPr>
            <a:spLocks xmlns:a="http://schemas.openxmlformats.org/drawingml/2006/main" noGrp="1"/>
          </p:cNvSpPr>
          <p:nvPr/>
        </p:nvSpPr>
        <p:spPr>
          <a:xfrm xmlns:a="http://schemas.openxmlformats.org/drawingml/2006/main">
            <a:off x="800100" y="21717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OBSERVATION a detail read directly from the supplied source</a:t>
            </a:r>
          </a:p>
        </p:txBody>
      </p:sp>
      <p:sp>
        <p:nvSpPr>
          <p:cNvPr id="7" name="content 1">
            <a:extLst xmlns:a="http://schemas.openxmlformats.org/drawingml/2006/main">
              <a:ext uri="{FF2B5EF4-FFF2-40B4-BE49-F238E27FC236}">
                <a16:creationId xmlns:a16="http://schemas.microsoft.com/office/drawing/2014/main" id="{E4A298A4-806B-4017-9A18-8C6DBDC2DA13}"/>
              </a:ext>
            </a:extLst>
          </p:cNvPr>
          <p:cNvSpPr>
            <a:spLocks xmlns:a="http://schemas.openxmlformats.org/drawingml/2006/main" noGrp="1"/>
          </p:cNvSpPr>
          <p:nvPr/>
        </p:nvSpPr>
        <p:spPr>
          <a:xfrm xmlns:a="http://schemas.openxmlformats.org/drawingml/2006/main">
            <a:off x="800100" y="26289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INFERENCE an explanation built from evidence</a:t>
            </a:r>
          </a:p>
        </p:txBody>
      </p:sp>
      <p:sp>
        <p:nvSpPr>
          <p:cNvPr id="8" name="content 2">
            <a:extLst xmlns:a="http://schemas.openxmlformats.org/drawingml/2006/main">
              <a:ext uri="{FF2B5EF4-FFF2-40B4-BE49-F238E27FC236}">
                <a16:creationId xmlns:a16="http://schemas.microsoft.com/office/drawing/2014/main" id="{9409D8FA-5D24-4039-844B-F70F4CF7CF15}"/>
              </a:ext>
            </a:extLst>
          </p:cNvPr>
          <p:cNvSpPr>
            <a:spLocks xmlns:a="http://schemas.openxmlformats.org/drawingml/2006/main" noGrp="1"/>
          </p:cNvSpPr>
          <p:nvPr/>
        </p:nvSpPr>
        <p:spPr>
          <a:xfrm xmlns:a="http://schemas.openxmlformats.org/drawingml/2006/main">
            <a:off x="800100" y="3086100"/>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JUSTIFY give the evidence-linked reason for a choice</a:t>
            </a:r>
          </a:p>
        </p:txBody>
      </p:sp>
      <p:sp>
        <p:nvSpPr>
          <p:cNvPr id="9" name="content 3">
            <a:extLst xmlns:a="http://schemas.openxmlformats.org/drawingml/2006/main">
              <a:ext uri="{FF2B5EF4-FFF2-40B4-BE49-F238E27FC236}">
                <a16:creationId xmlns:a16="http://schemas.microsoft.com/office/drawing/2014/main" id="{4258BC55-068C-4117-AEF9-E8D742B9B41D}"/>
              </a:ext>
            </a:extLst>
          </p:cNvPr>
          <p:cNvSpPr>
            <a:spLocks xmlns:a="http://schemas.openxmlformats.org/drawingml/2006/main" noGrp="1"/>
          </p:cNvSpPr>
          <p:nvPr/>
        </p:nvSpPr>
        <p:spPr>
          <a:xfrm xmlns:a="http://schemas.openxmlformats.org/drawingml/2006/main">
            <a:off x="800100" y="3543300"/>
            <a:ext cx="10591800" cy="2124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Take one approved evidence task. Under OBSERVED, copy only the relevant feature, value or relationship. Under EXPLAINED, connect that detail to the requested Topic 2 or 3 idea. Compare three supplied responses: one supported, one over-strong and one unrelated. Choose the supported response, annotate the evidence link, and mark any vocabulary or calculation step that still needs retrieval.</a:t>
            </a:r>
          </a:p>
        </p:txBody>
      </p:sp>
      <p:sp>
        <p:nvSpPr>
          <p:cNvPr id="10" name="time">
            <a:extLst xmlns:a="http://schemas.openxmlformats.org/drawingml/2006/main">
              <a:ext uri="{FF2B5EF4-FFF2-40B4-BE49-F238E27FC236}">
                <a16:creationId xmlns:a16="http://schemas.microsoft.com/office/drawing/2014/main" id="{6AED414D-8905-4F36-B286-4711C6F3280C}"/>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1" name="number">
            <a:extLst xmlns:a="http://schemas.openxmlformats.org/drawingml/2006/main">
              <a:ext uri="{FF2B5EF4-FFF2-40B4-BE49-F238E27FC236}">
                <a16:creationId xmlns:a16="http://schemas.microsoft.com/office/drawing/2014/main" id="{0DA1F486-7129-46BF-95BF-5E9ACA57A92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9 / 19</a:t>
            </a:r>
          </a:p>
        </p:txBody>
      </p:sp>
    </p:spTree>
    <p:extLst>
      <p:ext uri="{BB962C8B-B14F-4D97-AF65-F5344CB8AC3E}">
        <p14:creationId xmlns:p14="http://schemas.microsoft.com/office/powerpoint/2010/main" val="1996946639"/>
      </p:ext>
    </p:extLst>
  </p:cSld>
</p:sld>
</file>

<file path=ppt/slides/slide10.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5A1A25D9-8331-4728-BD80-024E06C7A20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02BC9F81-8BCD-4BB1-9466-065A22FF31B9}"/>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5B3EBE85-1581-4414-87F6-7FF428D76DE0}"/>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a:t>
            </a:r>
          </a:p>
        </p:txBody>
      </p:sp>
      <p:sp>
        <p:nvSpPr>
          <p:cNvPr id="4" name="title">
            <a:extLst xmlns:a="http://schemas.openxmlformats.org/drawingml/2006/main">
              <a:ext uri="{FF2B5EF4-FFF2-40B4-BE49-F238E27FC236}">
                <a16:creationId xmlns:a16="http://schemas.microsoft.com/office/drawing/2014/main" id="{190F2A36-FD49-423A-9178-0FF8F9C1E7FE}"/>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Approved topic 2 and 3 evidence tasks</a:t>
            </a:r>
          </a:p>
        </p:txBody>
      </p:sp>
      <p:sp>
        <p:nvSpPr>
          <p:cNvPr id="5" name="paper panel">
            <a:extLst xmlns:a="http://schemas.openxmlformats.org/drawingml/2006/main">
              <a:ext uri="{FF2B5EF4-FFF2-40B4-BE49-F238E27FC236}">
                <a16:creationId xmlns:a16="http://schemas.microsoft.com/office/drawing/2014/main" id="{07467E7B-00AE-4F40-B032-AF4B54DA4540}"/>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80510FF-92A5-41D8-8210-0EDCB79BA44E}"/>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The approved task wording and source locator remain visible while evidence is interpreted.</a:t>
            </a:r>
          </a:p>
        </p:txBody>
      </p:sp>
      <p:sp>
        <p:nvSpPr>
          <p:cNvPr id="7" name="content 1">
            <a:extLst xmlns:a="http://schemas.openxmlformats.org/drawingml/2006/main">
              <a:ext uri="{FF2B5EF4-FFF2-40B4-BE49-F238E27FC236}">
                <a16:creationId xmlns:a16="http://schemas.microsoft.com/office/drawing/2014/main" id="{4C22C2C9-130C-4C44-B637-C09FA2812FA1}"/>
              </a:ext>
            </a:extLst>
          </p:cNvPr>
          <p:cNvSpPr>
            <a:spLocks xmlns:a="http://schemas.openxmlformats.org/drawingml/2006/main" noGrp="1"/>
          </p:cNvSpPr>
          <p:nvPr/>
        </p:nvSpPr>
        <p:spPr>
          <a:xfrm xmlns:a="http://schemas.openxmlformats.org/drawingml/2006/main">
            <a:off x="800100" y="29622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An observation is recorded before an inference so the two cannot be blurred.</a:t>
            </a:r>
          </a:p>
        </p:txBody>
      </p:sp>
      <p:sp>
        <p:nvSpPr>
          <p:cNvPr id="8" name="content 2">
            <a:extLst xmlns:a="http://schemas.openxmlformats.org/drawingml/2006/main">
              <a:ext uri="{FF2B5EF4-FFF2-40B4-BE49-F238E27FC236}">
                <a16:creationId xmlns:a16="http://schemas.microsoft.com/office/drawing/2014/main" id="{AF231A7B-B452-4FD8-AAE0-4C4AF828DCFB}"/>
              </a:ext>
            </a:extLst>
          </p:cNvPr>
          <p:cNvSpPr>
            <a:spLocks xmlns:a="http://schemas.openxmlformats.org/drawingml/2006/main" noGrp="1"/>
          </p:cNvSpPr>
          <p:nvPr/>
        </p:nvSpPr>
        <p:spPr>
          <a:xfrm xmlns:a="http://schemas.openxmlformats.org/drawingml/2006/main">
            <a:off x="800100" y="34194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A response choice is justified by a named feature, pattern or calculation from the supplied task.</a:t>
            </a:r>
          </a:p>
        </p:txBody>
      </p:sp>
      <p:sp>
        <p:nvSpPr>
          <p:cNvPr id="9" name="content 3">
            <a:extLst xmlns:a="http://schemas.openxmlformats.org/drawingml/2006/main">
              <a:ext uri="{FF2B5EF4-FFF2-40B4-BE49-F238E27FC236}">
                <a16:creationId xmlns:a16="http://schemas.microsoft.com/office/drawing/2014/main" id="{43BFE223-4E18-44A2-90FB-D9BEE4D73F97}"/>
              </a:ext>
            </a:extLst>
          </p:cNvPr>
          <p:cNvSpPr>
            <a:spLocks xmlns:a="http://schemas.openxmlformats.org/drawingml/2006/main" noGrp="1"/>
          </p:cNvSpPr>
          <p:nvPr/>
        </p:nvSpPr>
        <p:spPr>
          <a:xfrm xmlns:a="http://schemas.openxmlformats.org/drawingml/2006/main">
            <a:off x="800100" y="42100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Uncertainty is not failure: it identifies the exact concept, word or step to retrieve before the assessment response is final.</a:t>
            </a:r>
          </a:p>
        </p:txBody>
      </p:sp>
      <p:sp>
        <p:nvSpPr>
          <p:cNvPr id="10" name="content 4">
            <a:extLst xmlns:a="http://schemas.openxmlformats.org/drawingml/2006/main">
              <a:ext uri="{FF2B5EF4-FFF2-40B4-BE49-F238E27FC236}">
                <a16:creationId xmlns:a16="http://schemas.microsoft.com/office/drawing/2014/main" id="{DA8EEB44-E5B6-4F18-8AAA-12383F218B28}"/>
              </a:ext>
            </a:extLst>
          </p:cNvPr>
          <p:cNvSpPr>
            <a:spLocks xmlns:a="http://schemas.openxmlformats.org/drawingml/2006/main" noGrp="1"/>
          </p:cNvSpPr>
          <p:nvPr/>
        </p:nvSpPr>
        <p:spPr>
          <a:xfrm xmlns:a="http://schemas.openxmlformats.org/drawingml/2006/main">
            <a:off x="800100" y="50006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 Work through supplied Topic 2 and 3 questions, recording each response and any uncertainty before choosing a final response.</a:t>
            </a:r>
          </a:p>
        </p:txBody>
      </p:sp>
      <p:sp>
        <p:nvSpPr>
          <p:cNvPr id="11" name="time">
            <a:extLst xmlns:a="http://schemas.openxmlformats.org/drawingml/2006/main">
              <a:ext uri="{FF2B5EF4-FFF2-40B4-BE49-F238E27FC236}">
                <a16:creationId xmlns:a16="http://schemas.microsoft.com/office/drawing/2014/main" id="{E2DDA12E-C9F7-451B-96F4-CE43B4F2CCC9}"/>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 4 min across this stage</a:t>
            </a:r>
          </a:p>
        </p:txBody>
      </p:sp>
      <p:sp>
        <p:nvSpPr>
          <p:cNvPr id="12" name="number">
            <a:extLst xmlns:a="http://schemas.openxmlformats.org/drawingml/2006/main">
              <a:ext uri="{FF2B5EF4-FFF2-40B4-BE49-F238E27FC236}">
                <a16:creationId xmlns:a16="http://schemas.microsoft.com/office/drawing/2014/main" id="{FEF90047-0F9D-4C2D-A9CC-FDD2BBC20675}"/>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10 / 19</a:t>
            </a:r>
          </a:p>
        </p:txBody>
      </p:sp>
    </p:spTree>
    <p:extLst>
      <p:ext uri="{BB962C8B-B14F-4D97-AF65-F5344CB8AC3E}">
        <p14:creationId xmlns:p14="http://schemas.microsoft.com/office/powerpoint/2010/main" val="637305951"/>
      </p:ext>
    </p:extLst>
  </p:cSld>
</p:sld>
</file>

<file path=ppt/slides/slide11.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F04150AF-D652-4311-A9EB-E9E6698C83D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8FD7A5EC-EF54-4DE5-9456-F61CAD635F2B}"/>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9C835ABF-B437-4F91-A18E-F88F3EF46BD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a:t>
            </a:r>
          </a:p>
        </p:txBody>
      </p:sp>
      <p:sp>
        <p:nvSpPr>
          <p:cNvPr id="4" name="title">
            <a:extLst xmlns:a="http://schemas.openxmlformats.org/drawingml/2006/main">
              <a:ext uri="{FF2B5EF4-FFF2-40B4-BE49-F238E27FC236}">
                <a16:creationId xmlns:a16="http://schemas.microsoft.com/office/drawing/2014/main" id="{52B66824-9D46-443F-825D-64BF34917283}"/>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10233F"/>
                </a:solidFill>
                <a:latin typeface="Arial"/>
                <a:ea typeface="Arial"/>
                <a:cs typeface="Arial"/>
              </a:defRPr>
            </a:pPr>
            <a:r>
              <a:rPr sz="2475" b="1">
                <a:solidFill>
                  <a:srgbClr val="10233F"/>
                </a:solidFill>
                <a:latin typeface="Arial"/>
                <a:ea typeface="Arial"/>
                <a:cs typeface="Arial"/>
              </a:rPr>
              <a:t>Which response is supported by the supplied evidence, and which uncertainty must remain visible before a final choice?</a:t>
            </a:r>
          </a:p>
        </p:txBody>
      </p:sp>
      <p:sp>
        <p:nvSpPr>
          <p:cNvPr id="5" name="paper panel">
            <a:extLst xmlns:a="http://schemas.openxmlformats.org/drawingml/2006/main">
              <a:ext uri="{FF2B5EF4-FFF2-40B4-BE49-F238E27FC236}">
                <a16:creationId xmlns:a16="http://schemas.microsoft.com/office/drawing/2014/main" id="{85C0A715-C483-4AD5-B930-70407B08123B}"/>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C99D8E52-8C99-4782-888D-5251C8952E9B}"/>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response choice is justified by a named feature, pattern or calculation from the supplied task. Uncertainty is not failure: it identifies the exact concept, word or step to retrieve before the assessment response is final.</a:t>
            </a:r>
          </a:p>
        </p:txBody>
      </p:sp>
      <p:sp>
        <p:nvSpPr>
          <p:cNvPr id="7" name="time">
            <a:extLst xmlns:a="http://schemas.openxmlformats.org/drawingml/2006/main">
              <a:ext uri="{FF2B5EF4-FFF2-40B4-BE49-F238E27FC236}">
                <a16:creationId xmlns:a16="http://schemas.microsoft.com/office/drawing/2014/main" id="{4DEAC2B6-5BEB-49D9-835D-84C797E72AE4}"/>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 3 min across this stage</a:t>
            </a:r>
          </a:p>
        </p:txBody>
      </p:sp>
      <p:sp>
        <p:nvSpPr>
          <p:cNvPr id="8" name="number">
            <a:extLst xmlns:a="http://schemas.openxmlformats.org/drawingml/2006/main">
              <a:ext uri="{FF2B5EF4-FFF2-40B4-BE49-F238E27FC236}">
                <a16:creationId xmlns:a16="http://schemas.microsoft.com/office/drawing/2014/main" id="{CF936BE5-FB49-4024-B355-F54470D026B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11 / 19</a:t>
            </a:r>
          </a:p>
        </p:txBody>
      </p:sp>
    </p:spTree>
    <p:extLst>
      <p:ext uri="{BB962C8B-B14F-4D97-AF65-F5344CB8AC3E}">
        <p14:creationId xmlns:p14="http://schemas.microsoft.com/office/powerpoint/2010/main" val="1954892108"/>
      </p:ext>
    </p:extLst>
  </p:cSld>
</p:sld>
</file>

<file path=ppt/slides/slide12.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4" name="phase edge">
            <a:extLst xmlns:a="http://schemas.openxmlformats.org/drawingml/2006/main">
              <a:ext uri="{FF2B5EF4-FFF2-40B4-BE49-F238E27FC236}">
                <a16:creationId xmlns:a16="http://schemas.microsoft.com/office/drawing/2014/main" id="{118ABF57-C518-4A9E-8599-8C6906F4565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FACE04AD-7A76-4EB0-A4F3-687AF17FAE0A}"/>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D8565A4B-E83C-4726-9CF9-F85ED6FC528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28B75894-E6EA-4E8C-AE9E-4836E8B3FC18}"/>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Approved topic 2 and 3 evidence tasks</a:t>
            </a:r>
          </a:p>
        </p:txBody>
      </p:sp>
      <p:sp>
        <p:nvSpPr>
          <p:cNvPr id="5" name="paper panel">
            <a:extLst xmlns:a="http://schemas.openxmlformats.org/drawingml/2006/main">
              <a:ext uri="{FF2B5EF4-FFF2-40B4-BE49-F238E27FC236}">
                <a16:creationId xmlns:a16="http://schemas.microsoft.com/office/drawing/2014/main" id="{8DA599E0-5A3B-471B-8DE6-94D12172F337}"/>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858A67CE-9D65-47F6-BCE2-7B923C2CC136}"/>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Available evidence</a:t>
            </a:r>
          </a:p>
        </p:txBody>
      </p:sp>
      <p:sp>
        <p:nvSpPr>
          <p:cNvPr id="7" name="content 1">
            <a:extLst xmlns:a="http://schemas.openxmlformats.org/drawingml/2006/main">
              <a:ext uri="{FF2B5EF4-FFF2-40B4-BE49-F238E27FC236}">
                <a16:creationId xmlns:a16="http://schemas.microsoft.com/office/drawing/2014/main" id="{8759D291-FAF1-444E-BBEC-967E299DEE48}"/>
              </a:ext>
            </a:extLst>
          </p:cNvPr>
          <p:cNvSpPr>
            <a:spLocks xmlns:a="http://schemas.openxmlformats.org/drawingml/2006/main" noGrp="1"/>
          </p:cNvSpPr>
          <p:nvPr/>
        </p:nvSpPr>
        <p:spPr>
          <a:xfrm xmlns:a="http://schemas.openxmlformats.org/drawingml/2006/main">
            <a:off x="800100" y="26479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The approved task wording and source locator remain visible while evidence is interpreted.</a:t>
            </a:r>
          </a:p>
        </p:txBody>
      </p:sp>
      <p:sp>
        <p:nvSpPr>
          <p:cNvPr id="8" name="content 2">
            <a:extLst xmlns:a="http://schemas.openxmlformats.org/drawingml/2006/main">
              <a:ext uri="{FF2B5EF4-FFF2-40B4-BE49-F238E27FC236}">
                <a16:creationId xmlns:a16="http://schemas.microsoft.com/office/drawing/2014/main" id="{092F4E24-325C-4AF2-9BBC-7A54C616B266}"/>
              </a:ext>
            </a:extLst>
          </p:cNvPr>
          <p:cNvSpPr>
            <a:spLocks xmlns:a="http://schemas.openxmlformats.org/drawingml/2006/main" noGrp="1"/>
          </p:cNvSpPr>
          <p:nvPr/>
        </p:nvSpPr>
        <p:spPr>
          <a:xfrm xmlns:a="http://schemas.openxmlformats.org/drawingml/2006/main">
            <a:off x="800100" y="343852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Reasoning move</a:t>
            </a:r>
          </a:p>
        </p:txBody>
      </p:sp>
      <p:sp>
        <p:nvSpPr>
          <p:cNvPr id="9" name="content 3">
            <a:extLst xmlns:a="http://schemas.openxmlformats.org/drawingml/2006/main">
              <a:ext uri="{FF2B5EF4-FFF2-40B4-BE49-F238E27FC236}">
                <a16:creationId xmlns:a16="http://schemas.microsoft.com/office/drawing/2014/main" id="{1D705635-CC91-4B31-8AF9-281C16A67858}"/>
              </a:ext>
            </a:extLst>
          </p:cNvPr>
          <p:cNvSpPr>
            <a:spLocks xmlns:a="http://schemas.openxmlformats.org/drawingml/2006/main" noGrp="1"/>
          </p:cNvSpPr>
          <p:nvPr/>
        </p:nvSpPr>
        <p:spPr>
          <a:xfrm xmlns:a="http://schemas.openxmlformats.org/drawingml/2006/main">
            <a:off x="800100" y="3914775"/>
            <a:ext cx="10591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An observation is recorded before an inference so the two cannot be blurred.</a:t>
            </a:r>
          </a:p>
        </p:txBody>
      </p:sp>
      <p:sp>
        <p:nvSpPr>
          <p:cNvPr id="10" name="content 4">
            <a:extLst xmlns:a="http://schemas.openxmlformats.org/drawingml/2006/main">
              <a:ext uri="{FF2B5EF4-FFF2-40B4-BE49-F238E27FC236}">
                <a16:creationId xmlns:a16="http://schemas.microsoft.com/office/drawing/2014/main" id="{65ECB3D3-5736-4E5B-A620-A0FC565E9291}"/>
              </a:ext>
            </a:extLst>
          </p:cNvPr>
          <p:cNvSpPr>
            <a:spLocks xmlns:a="http://schemas.openxmlformats.org/drawingml/2006/main" noGrp="1"/>
          </p:cNvSpPr>
          <p:nvPr/>
        </p:nvSpPr>
        <p:spPr>
          <a:xfrm xmlns:a="http://schemas.openxmlformats.org/drawingml/2006/main">
            <a:off x="800100" y="43719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Boundary or next check</a:t>
            </a:r>
          </a:p>
        </p:txBody>
      </p:sp>
      <p:sp>
        <p:nvSpPr>
          <p:cNvPr id="11" name="content 5">
            <a:extLst xmlns:a="http://schemas.openxmlformats.org/drawingml/2006/main">
              <a:ext uri="{FF2B5EF4-FFF2-40B4-BE49-F238E27FC236}">
                <a16:creationId xmlns:a16="http://schemas.microsoft.com/office/drawing/2014/main" id="{1781EFC3-784E-4450-9271-BC13ABEF92C9}"/>
              </a:ext>
            </a:extLst>
          </p:cNvPr>
          <p:cNvSpPr>
            <a:spLocks xmlns:a="http://schemas.openxmlformats.org/drawingml/2006/main" noGrp="1"/>
          </p:cNvSpPr>
          <p:nvPr/>
        </p:nvSpPr>
        <p:spPr>
          <a:xfrm xmlns:a="http://schemas.openxmlformats.org/drawingml/2006/main">
            <a:off x="800100" y="48482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Uncertainty is not failure: it identifies the exact concept, word or step to retrieve before the assessment response is final.</a:t>
            </a:r>
          </a:p>
        </p:txBody>
      </p:sp>
      <p:sp>
        <p:nvSpPr>
          <p:cNvPr id="12" name="time">
            <a:extLst xmlns:a="http://schemas.openxmlformats.org/drawingml/2006/main">
              <a:ext uri="{FF2B5EF4-FFF2-40B4-BE49-F238E27FC236}">
                <a16:creationId xmlns:a16="http://schemas.microsoft.com/office/drawing/2014/main" id="{BE03A36E-168C-41B6-8648-D2F6631C02B2}"/>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13" name="number">
            <a:extLst xmlns:a="http://schemas.openxmlformats.org/drawingml/2006/main">
              <a:ext uri="{FF2B5EF4-FFF2-40B4-BE49-F238E27FC236}">
                <a16:creationId xmlns:a16="http://schemas.microsoft.com/office/drawing/2014/main" id="{4917FDDF-6EAF-4CFF-B848-C8267EFF763C}"/>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12 / 19</a:t>
            </a:r>
          </a:p>
        </p:txBody>
      </p:sp>
    </p:spTree>
    <p:extLst>
      <p:ext uri="{BB962C8B-B14F-4D97-AF65-F5344CB8AC3E}">
        <p14:creationId xmlns:p14="http://schemas.microsoft.com/office/powerpoint/2010/main" val="560220639"/>
      </p:ext>
    </p:extLst>
  </p:cSld>
</p:sld>
</file>

<file path=ppt/slides/slide13.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9" name="phase edge">
            <a:extLst xmlns:a="http://schemas.openxmlformats.org/drawingml/2006/main">
              <a:ext uri="{FF2B5EF4-FFF2-40B4-BE49-F238E27FC236}">
                <a16:creationId xmlns:a16="http://schemas.microsoft.com/office/drawing/2014/main" id="{B887EBD3-847B-46FE-BE23-1C9D5FD48A1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D19A3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6DEFD536-6EF0-4A9F-878A-ED1ACF7F090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3BB4E0B4-F4D1-477C-B8C3-338F3E888E3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 DO 2</a:t>
            </a:r>
          </a:p>
        </p:txBody>
      </p:sp>
      <p:sp>
        <p:nvSpPr>
          <p:cNvPr id="4" name="title">
            <a:extLst xmlns:a="http://schemas.openxmlformats.org/drawingml/2006/main">
              <a:ext uri="{FF2B5EF4-FFF2-40B4-BE49-F238E27FC236}">
                <a16:creationId xmlns:a16="http://schemas.microsoft.com/office/drawing/2014/main" id="{F199445D-FDAE-448B-975A-C3F92DF1A33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Approved topic 2 and 3 evidence tasks</a:t>
            </a:r>
          </a:p>
        </p:txBody>
      </p:sp>
      <p:sp>
        <p:nvSpPr>
          <p:cNvPr id="5" name="paper panel">
            <a:extLst xmlns:a="http://schemas.openxmlformats.org/drawingml/2006/main">
              <a:ext uri="{FF2B5EF4-FFF2-40B4-BE49-F238E27FC236}">
                <a16:creationId xmlns:a16="http://schemas.microsoft.com/office/drawing/2014/main" id="{318600EC-3783-46AE-A617-38B2CB25874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FB8CF96C-0C82-4E12-88C2-8117499E05B2}"/>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The approved task wording and source locator remain visible while evidence is interpreted. Uncertainty is not failure: it identifies the exact concept, word or step to retrieve before the assessment response is final.</a:t>
            </a:r>
          </a:p>
        </p:txBody>
      </p:sp>
      <p:sp>
        <p:nvSpPr>
          <p:cNvPr id="7" name="time">
            <a:extLst xmlns:a="http://schemas.openxmlformats.org/drawingml/2006/main">
              <a:ext uri="{FF2B5EF4-FFF2-40B4-BE49-F238E27FC236}">
                <a16:creationId xmlns:a16="http://schemas.microsoft.com/office/drawing/2014/main" id="{36C877D8-BA84-41C9-8D86-F21986CFBE0C}"/>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 DO 2 · 3 min across this stage</a:t>
            </a:r>
          </a:p>
        </p:txBody>
      </p:sp>
      <p:sp>
        <p:nvSpPr>
          <p:cNvPr id="8" name="number">
            <a:extLst xmlns:a="http://schemas.openxmlformats.org/drawingml/2006/main">
              <a:ext uri="{FF2B5EF4-FFF2-40B4-BE49-F238E27FC236}">
                <a16:creationId xmlns:a16="http://schemas.microsoft.com/office/drawing/2014/main" id="{1B6D4EF3-5B60-4709-AED1-FB28752C218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13 / 19</a:t>
            </a:r>
          </a:p>
        </p:txBody>
      </p:sp>
    </p:spTree>
    <p:extLst>
      <p:ext uri="{BB962C8B-B14F-4D97-AF65-F5344CB8AC3E}">
        <p14:creationId xmlns:p14="http://schemas.microsoft.com/office/powerpoint/2010/main" val="306037391"/>
      </p:ext>
    </p:extLst>
  </p:cSld>
</p:sld>
</file>

<file path=ppt/slides/slide14.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CEF582E9-2124-4899-B528-0A709C20751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06FBC6C-11C2-4046-BE95-D5D85D2ECF4E}"/>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044DE05A-C2A5-4654-B286-E6F3DDB6423D}"/>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D3E36FF3-A067-4483-BD11-BB4F5B09FA77}"/>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Approved topic 2 and 3 evidence tasks decision lab</a:t>
            </a:r>
          </a:p>
        </p:txBody>
      </p:sp>
      <p:sp>
        <p:nvSpPr>
          <p:cNvPr id="5" name="paper panel">
            <a:extLst xmlns:a="http://schemas.openxmlformats.org/drawingml/2006/main">
              <a:ext uri="{FF2B5EF4-FFF2-40B4-BE49-F238E27FC236}">
                <a16:creationId xmlns:a16="http://schemas.microsoft.com/office/drawing/2014/main" id="{912935AF-3ADF-408C-84CA-5F2E83337FDD}"/>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C4FE4C4C-A86D-4076-93EA-785F49E9430E}"/>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7" name="content 1">
            <a:extLst xmlns:a="http://schemas.openxmlformats.org/drawingml/2006/main">
              <a:ext uri="{FF2B5EF4-FFF2-40B4-BE49-F238E27FC236}">
                <a16:creationId xmlns:a16="http://schemas.microsoft.com/office/drawing/2014/main" id="{7DEC6237-28F2-4B2E-85D2-39F728AD0C54}"/>
              </a:ext>
            </a:extLst>
          </p:cNvPr>
          <p:cNvSpPr>
            <a:spLocks xmlns:a="http://schemas.openxmlformats.org/drawingml/2006/main" noGrp="1"/>
          </p:cNvSpPr>
          <p:nvPr/>
        </p:nvSpPr>
        <p:spPr>
          <a:xfrm xmlns:a="http://schemas.openxmlformats.org/drawingml/2006/main">
            <a:off x="800100" y="26479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a prepared OBSERVED / EXPLAINED frame and select the supported response from three approved options.</a:t>
            </a:r>
          </a:p>
        </p:txBody>
      </p:sp>
      <p:sp>
        <p:nvSpPr>
          <p:cNvPr id="8" name="content 2">
            <a:extLst xmlns:a="http://schemas.openxmlformats.org/drawingml/2006/main">
              <a:ext uri="{FF2B5EF4-FFF2-40B4-BE49-F238E27FC236}">
                <a16:creationId xmlns:a16="http://schemas.microsoft.com/office/drawing/2014/main" id="{44242244-87E5-4968-A69A-522C4677D486}"/>
              </a:ext>
            </a:extLst>
          </p:cNvPr>
          <p:cNvSpPr>
            <a:spLocks xmlns:a="http://schemas.openxmlformats.org/drawingml/2006/main" noGrp="1"/>
          </p:cNvSpPr>
          <p:nvPr/>
        </p:nvSpPr>
        <p:spPr>
          <a:xfrm xmlns:a="http://schemas.openxmlformats.org/drawingml/2006/main">
            <a:off x="800100" y="343852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9" name="content 3">
            <a:extLst xmlns:a="http://schemas.openxmlformats.org/drawingml/2006/main">
              <a:ext uri="{FF2B5EF4-FFF2-40B4-BE49-F238E27FC236}">
                <a16:creationId xmlns:a16="http://schemas.microsoft.com/office/drawing/2014/main" id="{6A704916-8423-4B8A-82C0-C4460F9EEF1D}"/>
              </a:ext>
            </a:extLst>
          </p:cNvPr>
          <p:cNvSpPr>
            <a:spLocks xmlns:a="http://schemas.openxmlformats.org/drawingml/2006/main" noGrp="1"/>
          </p:cNvSpPr>
          <p:nvPr/>
        </p:nvSpPr>
        <p:spPr>
          <a:xfrm xmlns:a="http://schemas.openxmlformats.org/drawingml/2006/main">
            <a:off x="800100" y="39147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Interpret each supplied source, justify a response with a visible evidence link and revise one over-strong answer.</a:t>
            </a:r>
          </a:p>
        </p:txBody>
      </p:sp>
      <p:sp>
        <p:nvSpPr>
          <p:cNvPr id="10" name="content 4">
            <a:extLst xmlns:a="http://schemas.openxmlformats.org/drawingml/2006/main">
              <a:ext uri="{FF2B5EF4-FFF2-40B4-BE49-F238E27FC236}">
                <a16:creationId xmlns:a16="http://schemas.microsoft.com/office/drawing/2014/main" id="{F6556CE1-B53D-4D62-87F4-F5F0B42BD001}"/>
              </a:ext>
            </a:extLst>
          </p:cNvPr>
          <p:cNvSpPr>
            <a:spLocks xmlns:a="http://schemas.openxmlformats.org/drawingml/2006/main" noGrp="1"/>
          </p:cNvSpPr>
          <p:nvPr/>
        </p:nvSpPr>
        <p:spPr>
          <a:xfrm xmlns:a="http://schemas.openxmlformats.org/drawingml/2006/main">
            <a:off x="800100" y="470535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Stretch</a:t>
            </a:r>
          </a:p>
        </p:txBody>
      </p:sp>
      <p:sp>
        <p:nvSpPr>
          <p:cNvPr id="11" name="time">
            <a:extLst xmlns:a="http://schemas.openxmlformats.org/drawingml/2006/main">
              <a:ext uri="{FF2B5EF4-FFF2-40B4-BE49-F238E27FC236}">
                <a16:creationId xmlns:a16="http://schemas.microsoft.com/office/drawing/2014/main" id="{D5D218BB-5669-4357-8E74-C10D05DC6BF4}"/>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12" name="number">
            <a:extLst xmlns:a="http://schemas.openxmlformats.org/drawingml/2006/main">
              <a:ext uri="{FF2B5EF4-FFF2-40B4-BE49-F238E27FC236}">
                <a16:creationId xmlns:a16="http://schemas.microsoft.com/office/drawing/2014/main" id="{B1F3A9D5-9438-4059-A658-C7706BEFFB5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14 / 19</a:t>
            </a:r>
          </a:p>
        </p:txBody>
      </p:sp>
    </p:spTree>
    <p:extLst>
      <p:ext uri="{BB962C8B-B14F-4D97-AF65-F5344CB8AC3E}">
        <p14:creationId xmlns:p14="http://schemas.microsoft.com/office/powerpoint/2010/main" val="1536401360"/>
      </p:ext>
    </p:extLst>
  </p:cSld>
</p:sld>
</file>

<file path=ppt/slides/slide15.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F904662E-5BFD-48E0-AB76-34F3DE86C47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3B82F6"/>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418E0817-037D-4D1D-8DDB-00FF4AF9A354}"/>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59E0123D-C36E-4174-9ED6-5643AC036B26}"/>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WE DO 2</a:t>
            </a:r>
          </a:p>
        </p:txBody>
      </p:sp>
      <p:sp>
        <p:nvSpPr>
          <p:cNvPr id="4" name="title">
            <a:extLst xmlns:a="http://schemas.openxmlformats.org/drawingml/2006/main">
              <a:ext uri="{FF2B5EF4-FFF2-40B4-BE49-F238E27FC236}">
                <a16:creationId xmlns:a16="http://schemas.microsoft.com/office/drawing/2014/main" id="{4A7901FC-2DB2-43D6-9F07-C93A9314C2AD}"/>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Approved topic 2 and 3 evidence tasks decision lab</a:t>
            </a:r>
          </a:p>
        </p:txBody>
      </p:sp>
      <p:sp>
        <p:nvSpPr>
          <p:cNvPr id="5" name="paper panel">
            <a:extLst xmlns:a="http://schemas.openxmlformats.org/drawingml/2006/main">
              <a:ext uri="{FF2B5EF4-FFF2-40B4-BE49-F238E27FC236}">
                <a16:creationId xmlns:a16="http://schemas.microsoft.com/office/drawing/2014/main" id="{D9739F49-B57A-4FFC-8C50-F48703DD9D7F}"/>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8DBEC7D-EC3F-4844-88DE-933D116A4053}"/>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Compare two plausible responses, evaluate which uses the evidence more precisely and write a discriminating next check.</a:t>
            </a:r>
          </a:p>
        </p:txBody>
      </p:sp>
      <p:sp>
        <p:nvSpPr>
          <p:cNvPr id="7" name="content 1">
            <a:extLst xmlns:a="http://schemas.openxmlformats.org/drawingml/2006/main">
              <a:ext uri="{FF2B5EF4-FFF2-40B4-BE49-F238E27FC236}">
                <a16:creationId xmlns:a16="http://schemas.microsoft.com/office/drawing/2014/main" id="{CF1E558D-F4D1-4E77-B880-84ECB53836B5}"/>
              </a:ext>
            </a:extLst>
          </p:cNvPr>
          <p:cNvSpPr>
            <a:spLocks xmlns:a="http://schemas.openxmlformats.org/drawingml/2006/main" noGrp="1"/>
          </p:cNvSpPr>
          <p:nvPr/>
        </p:nvSpPr>
        <p:spPr>
          <a:xfrm xmlns:a="http://schemas.openxmlformats.org/drawingml/2006/main">
            <a:off x="800100" y="2962275"/>
            <a:ext cx="105918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Complete a short rotation of approved Topic 2 and 3 evidence tasks. Preserve the task locator, make a response before opening feedback, and record whether the response was written, selected, spoken, signed, pointed to or exactly scribed. For every task, add one evidence link and one uncertainty or limit. Re-attempt one item with a fresh source rather than copying the model wording.</a:t>
            </a:r>
          </a:p>
        </p:txBody>
      </p:sp>
      <p:sp>
        <p:nvSpPr>
          <p:cNvPr id="8" name="time">
            <a:extLst xmlns:a="http://schemas.openxmlformats.org/drawingml/2006/main">
              <a:ext uri="{FF2B5EF4-FFF2-40B4-BE49-F238E27FC236}">
                <a16:creationId xmlns:a16="http://schemas.microsoft.com/office/drawing/2014/main" id="{D492F98B-A69C-405A-B404-B7310D2FE13F}"/>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WE DO 2 · 4 min across this stage</a:t>
            </a:r>
          </a:p>
        </p:txBody>
      </p:sp>
      <p:sp>
        <p:nvSpPr>
          <p:cNvPr id="9" name="number">
            <a:extLst xmlns:a="http://schemas.openxmlformats.org/drawingml/2006/main">
              <a:ext uri="{FF2B5EF4-FFF2-40B4-BE49-F238E27FC236}">
                <a16:creationId xmlns:a16="http://schemas.microsoft.com/office/drawing/2014/main" id="{B8280CB0-25EE-46C4-A25C-7B1542EE5A61}"/>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15 / 19</a:t>
            </a:r>
          </a:p>
        </p:txBody>
      </p:sp>
    </p:spTree>
    <p:extLst>
      <p:ext uri="{BB962C8B-B14F-4D97-AF65-F5344CB8AC3E}">
        <p14:creationId xmlns:p14="http://schemas.microsoft.com/office/powerpoint/2010/main" val="1661053012"/>
      </p:ext>
    </p:extLst>
  </p:cSld>
</p:sld>
</file>

<file path=ppt/slides/slide16.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2" name="phase edge">
            <a:extLst xmlns:a="http://schemas.openxmlformats.org/drawingml/2006/main">
              <a:ext uri="{FF2B5EF4-FFF2-40B4-BE49-F238E27FC236}">
                <a16:creationId xmlns:a16="http://schemas.microsoft.com/office/drawing/2014/main" id="{78EDA816-A565-458F-9D65-1E0FC378278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1BDF2361-D31D-464B-B47E-3CE167B69363}"/>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88E5E24E-747A-4431-AB68-34DF95300598}"/>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7CF45DF7-8810-424F-A78B-02601A228A02}"/>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record · Approved topic 2 and 3 evidence tasks</a:t>
            </a:r>
          </a:p>
        </p:txBody>
      </p:sp>
      <p:sp>
        <p:nvSpPr>
          <p:cNvPr id="5" name="paper panel">
            <a:extLst xmlns:a="http://schemas.openxmlformats.org/drawingml/2006/main">
              <a:ext uri="{FF2B5EF4-FFF2-40B4-BE49-F238E27FC236}">
                <a16:creationId xmlns:a16="http://schemas.microsoft.com/office/drawing/2014/main" id="{6D589164-D4E0-4889-BACA-0BA4F3884753}"/>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38DB7EA0-FE1F-4F67-81A9-3CF65C0F1CE9}"/>
              </a:ext>
            </a:extLst>
          </p:cNvPr>
          <p:cNvSpPr>
            <a:spLocks xmlns:a="http://schemas.openxmlformats.org/drawingml/2006/main" noGrp="1"/>
          </p:cNvSpPr>
          <p:nvPr/>
        </p:nvSpPr>
        <p:spPr>
          <a:xfrm xmlns:a="http://schemas.openxmlformats.org/drawingml/2006/main">
            <a:off x="800100" y="2171700"/>
            <a:ext cx="105918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Complete a short rotation of approved Topic 2 and 3 evidence tasks. Preserve the task locator, make a response before opening feedback, and record whether the response was written, selected, spoken, signed, pointed to or exactly scribed. For every task, add one evidence link and one uncertainty or limit. Re-attempt one item with a fresh source rather than copying the model wording.</a:t>
            </a:r>
          </a:p>
        </p:txBody>
      </p:sp>
      <p:sp>
        <p:nvSpPr>
          <p:cNvPr id="7" name="content 1">
            <a:extLst xmlns:a="http://schemas.openxmlformats.org/drawingml/2006/main">
              <a:ext uri="{FF2B5EF4-FFF2-40B4-BE49-F238E27FC236}">
                <a16:creationId xmlns:a16="http://schemas.microsoft.com/office/drawing/2014/main" id="{0C18A8D2-6F94-43BB-9E02-56ACD9DA20E0}"/>
              </a:ext>
            </a:extLst>
          </p:cNvPr>
          <p:cNvSpPr>
            <a:spLocks xmlns:a="http://schemas.openxmlformats.org/drawingml/2006/main" noGrp="1"/>
          </p:cNvSpPr>
          <p:nvPr/>
        </p:nvSpPr>
        <p:spPr>
          <a:xfrm xmlns:a="http://schemas.openxmlformats.org/drawingml/2006/main">
            <a:off x="800100" y="39624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Supported</a:t>
            </a:r>
          </a:p>
        </p:txBody>
      </p:sp>
      <p:sp>
        <p:nvSpPr>
          <p:cNvPr id="8" name="content 2">
            <a:extLst xmlns:a="http://schemas.openxmlformats.org/drawingml/2006/main">
              <a:ext uri="{FF2B5EF4-FFF2-40B4-BE49-F238E27FC236}">
                <a16:creationId xmlns:a16="http://schemas.microsoft.com/office/drawing/2014/main" id="{1534194D-AEF6-4303-B0BA-43EE449298D4}"/>
              </a:ext>
            </a:extLst>
          </p:cNvPr>
          <p:cNvSpPr>
            <a:spLocks xmlns:a="http://schemas.openxmlformats.org/drawingml/2006/main" noGrp="1"/>
          </p:cNvSpPr>
          <p:nvPr/>
        </p:nvSpPr>
        <p:spPr>
          <a:xfrm xmlns:a="http://schemas.openxmlformats.org/drawingml/2006/main">
            <a:off x="800100" y="44386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Use a prepared OBSERVED / EXPLAINED frame and select the supported response from three approved options.</a:t>
            </a:r>
          </a:p>
        </p:txBody>
      </p:sp>
      <p:sp>
        <p:nvSpPr>
          <p:cNvPr id="9" name="content 3">
            <a:extLst xmlns:a="http://schemas.openxmlformats.org/drawingml/2006/main">
              <a:ext uri="{FF2B5EF4-FFF2-40B4-BE49-F238E27FC236}">
                <a16:creationId xmlns:a16="http://schemas.microsoft.com/office/drawing/2014/main" id="{D30D2A61-46EF-4732-AACD-20974F9A6021}"/>
              </a:ext>
            </a:extLst>
          </p:cNvPr>
          <p:cNvSpPr>
            <a:spLocks xmlns:a="http://schemas.openxmlformats.org/drawingml/2006/main" noGrp="1"/>
          </p:cNvSpPr>
          <p:nvPr/>
        </p:nvSpPr>
        <p:spPr>
          <a:xfrm xmlns:a="http://schemas.openxmlformats.org/drawingml/2006/main">
            <a:off x="800100" y="522922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Standard</a:t>
            </a:r>
          </a:p>
        </p:txBody>
      </p:sp>
      <p:sp>
        <p:nvSpPr>
          <p:cNvPr id="10" name="time">
            <a:extLst xmlns:a="http://schemas.openxmlformats.org/drawingml/2006/main">
              <a:ext uri="{FF2B5EF4-FFF2-40B4-BE49-F238E27FC236}">
                <a16:creationId xmlns:a16="http://schemas.microsoft.com/office/drawing/2014/main" id="{1D885E74-0BF3-4FD1-9170-FFD7252A43E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1" name="number">
            <a:extLst xmlns:a="http://schemas.openxmlformats.org/drawingml/2006/main">
              <a:ext uri="{FF2B5EF4-FFF2-40B4-BE49-F238E27FC236}">
                <a16:creationId xmlns:a16="http://schemas.microsoft.com/office/drawing/2014/main" id="{0F178F12-0EB0-4597-A01D-14213E1A4D19}"/>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16 / 19</a:t>
            </a:r>
          </a:p>
        </p:txBody>
      </p:sp>
    </p:spTree>
    <p:extLst>
      <p:ext uri="{BB962C8B-B14F-4D97-AF65-F5344CB8AC3E}">
        <p14:creationId xmlns:p14="http://schemas.microsoft.com/office/powerpoint/2010/main" val="452106052"/>
      </p:ext>
    </p:extLst>
  </p:cSld>
</p:sld>
</file>

<file path=ppt/slides/slide17.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AAF1154E-182E-4043-A902-0B191EFA7BF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A64F24D3-8808-4291-B53D-82D5EC7B60C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8FD12903-9DF0-4D0B-8369-C1F031E8CCBE}"/>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BDAB51B1-C9EF-4A07-83A4-AD74EEA0E7E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record · Approved topic 2 and 3 evidence tasks</a:t>
            </a:r>
          </a:p>
        </p:txBody>
      </p:sp>
      <p:sp>
        <p:nvSpPr>
          <p:cNvPr id="5" name="paper panel">
            <a:extLst xmlns:a="http://schemas.openxmlformats.org/drawingml/2006/main">
              <a:ext uri="{FF2B5EF4-FFF2-40B4-BE49-F238E27FC236}">
                <a16:creationId xmlns:a16="http://schemas.microsoft.com/office/drawing/2014/main" id="{F69E7BA4-8DB5-4738-B8F4-0E3D914EE639}"/>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9372973A-57D2-4626-8B33-37F0D495518D}"/>
              </a:ext>
            </a:extLst>
          </p:cNvPr>
          <p:cNvSpPr>
            <a:spLocks xmlns:a="http://schemas.openxmlformats.org/drawingml/2006/main" noGrp="1"/>
          </p:cNvSpPr>
          <p:nvPr/>
        </p:nvSpPr>
        <p:spPr>
          <a:xfrm xmlns:a="http://schemas.openxmlformats.org/drawingml/2006/main">
            <a:off x="800100" y="217170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Interpret each supplied source, justify a response with a visible evidence link and revise one over-strong answer.</a:t>
            </a:r>
          </a:p>
        </p:txBody>
      </p:sp>
      <p:sp>
        <p:nvSpPr>
          <p:cNvPr id="7" name="content 1">
            <a:extLst xmlns:a="http://schemas.openxmlformats.org/drawingml/2006/main">
              <a:ext uri="{FF2B5EF4-FFF2-40B4-BE49-F238E27FC236}">
                <a16:creationId xmlns:a16="http://schemas.microsoft.com/office/drawing/2014/main" id="{34724A92-1DB0-44D0-894C-3A48E3F8F2C7}"/>
              </a:ext>
            </a:extLst>
          </p:cNvPr>
          <p:cNvSpPr>
            <a:spLocks xmlns:a="http://schemas.openxmlformats.org/drawingml/2006/main" noGrp="1"/>
          </p:cNvSpPr>
          <p:nvPr/>
        </p:nvSpPr>
        <p:spPr>
          <a:xfrm xmlns:a="http://schemas.openxmlformats.org/drawingml/2006/main">
            <a:off x="800100" y="296227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Stretch</a:t>
            </a:r>
          </a:p>
        </p:txBody>
      </p:sp>
      <p:sp>
        <p:nvSpPr>
          <p:cNvPr id="8" name="content 2">
            <a:extLst xmlns:a="http://schemas.openxmlformats.org/drawingml/2006/main">
              <a:ext uri="{FF2B5EF4-FFF2-40B4-BE49-F238E27FC236}">
                <a16:creationId xmlns:a16="http://schemas.microsoft.com/office/drawing/2014/main" id="{F853C869-2892-42F3-B8F5-8CB90261224B}"/>
              </a:ext>
            </a:extLst>
          </p:cNvPr>
          <p:cNvSpPr>
            <a:spLocks xmlns:a="http://schemas.openxmlformats.org/drawingml/2006/main" noGrp="1"/>
          </p:cNvSpPr>
          <p:nvPr/>
        </p:nvSpPr>
        <p:spPr>
          <a:xfrm xmlns:a="http://schemas.openxmlformats.org/drawingml/2006/main">
            <a:off x="800100" y="343852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Compare two plausible responses, evaluate which uses the evidence more precisely and write a discriminating next check.</a:t>
            </a:r>
          </a:p>
        </p:txBody>
      </p:sp>
      <p:sp>
        <p:nvSpPr>
          <p:cNvPr id="9" name="content 3">
            <a:extLst xmlns:a="http://schemas.openxmlformats.org/drawingml/2006/main">
              <a:ext uri="{FF2B5EF4-FFF2-40B4-BE49-F238E27FC236}">
                <a16:creationId xmlns:a16="http://schemas.microsoft.com/office/drawing/2014/main" id="{0EE51E2B-1201-4356-A2F5-C5223EEA9E06}"/>
              </a:ext>
            </a:extLst>
          </p:cNvPr>
          <p:cNvSpPr>
            <a:spLocks xmlns:a="http://schemas.openxmlformats.org/drawingml/2006/main" noGrp="1"/>
          </p:cNvSpPr>
          <p:nvPr/>
        </p:nvSpPr>
        <p:spPr>
          <a:xfrm xmlns:a="http://schemas.openxmlformats.org/drawingml/2006/main">
            <a:off x="800100" y="42291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Trace</a:t>
            </a:r>
          </a:p>
        </p:txBody>
      </p:sp>
      <p:sp>
        <p:nvSpPr>
          <p:cNvPr id="10" name="content 4">
            <a:extLst xmlns:a="http://schemas.openxmlformats.org/drawingml/2006/main">
              <a:ext uri="{FF2B5EF4-FFF2-40B4-BE49-F238E27FC236}">
                <a16:creationId xmlns:a16="http://schemas.microsoft.com/office/drawing/2014/main" id="{C59A3774-747F-4595-B138-B4B5C76900AD}"/>
              </a:ext>
            </a:extLst>
          </p:cNvPr>
          <p:cNvSpPr>
            <a:spLocks xmlns:a="http://schemas.openxmlformats.org/drawingml/2006/main" noGrp="1"/>
          </p:cNvSpPr>
          <p:nvPr/>
        </p:nvSpPr>
        <p:spPr>
          <a:xfrm xmlns:a="http://schemas.openxmlformats.org/drawingml/2006/main">
            <a:off x="800100" y="47053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The approved task wording and source locator remain visible while evidence is interpreted.</a:t>
            </a:r>
          </a:p>
        </p:txBody>
      </p:sp>
      <p:sp>
        <p:nvSpPr>
          <p:cNvPr id="11" name="time">
            <a:extLst xmlns:a="http://schemas.openxmlformats.org/drawingml/2006/main">
              <a:ext uri="{FF2B5EF4-FFF2-40B4-BE49-F238E27FC236}">
                <a16:creationId xmlns:a16="http://schemas.microsoft.com/office/drawing/2014/main" id="{7AC11A5B-C60E-4A51-BB74-A587BB6E4A1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2" name="number">
            <a:extLst xmlns:a="http://schemas.openxmlformats.org/drawingml/2006/main">
              <a:ext uri="{FF2B5EF4-FFF2-40B4-BE49-F238E27FC236}">
                <a16:creationId xmlns:a16="http://schemas.microsoft.com/office/drawing/2014/main" id="{3324C068-96C8-44AC-A368-00489FCBEF6D}"/>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17 / 19</a:t>
            </a:r>
          </a:p>
        </p:txBody>
      </p:sp>
    </p:spTree>
    <p:extLst>
      <p:ext uri="{BB962C8B-B14F-4D97-AF65-F5344CB8AC3E}">
        <p14:creationId xmlns:p14="http://schemas.microsoft.com/office/powerpoint/2010/main" val="52774901"/>
      </p:ext>
    </p:extLst>
  </p:cSld>
</p:sld>
</file>

<file path=ppt/slides/slide18.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3" name="phase edge">
            <a:extLst xmlns:a="http://schemas.openxmlformats.org/drawingml/2006/main">
              <a:ext uri="{FF2B5EF4-FFF2-40B4-BE49-F238E27FC236}">
                <a16:creationId xmlns:a16="http://schemas.microsoft.com/office/drawing/2014/main" id="{2C1C7941-7A21-4F8B-B137-EB0D3CBAC9F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59D51115-ADBC-4EB9-8C14-298CDDE288A0}"/>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1BF6FF10-665A-4B29-9ACB-811FA650687C}"/>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INDEPENDENT</a:t>
            </a:r>
          </a:p>
        </p:txBody>
      </p:sp>
      <p:sp>
        <p:nvSpPr>
          <p:cNvPr id="4" name="title">
            <a:extLst xmlns:a="http://schemas.openxmlformats.org/drawingml/2006/main">
              <a:ext uri="{FF2B5EF4-FFF2-40B4-BE49-F238E27FC236}">
                <a16:creationId xmlns:a16="http://schemas.microsoft.com/office/drawing/2014/main" id="{D64D4632-DD64-461B-B5A9-DCD1816E4EF5}"/>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Independent record · Approved topic 2 and 3 evidence tasks</a:t>
            </a:r>
          </a:p>
        </p:txBody>
      </p:sp>
      <p:sp>
        <p:nvSpPr>
          <p:cNvPr id="5" name="paper panel">
            <a:extLst xmlns:a="http://schemas.openxmlformats.org/drawingml/2006/main">
              <a:ext uri="{FF2B5EF4-FFF2-40B4-BE49-F238E27FC236}">
                <a16:creationId xmlns:a16="http://schemas.microsoft.com/office/drawing/2014/main" id="{4FB13B3D-E584-413B-A00D-F128CC6E3632}"/>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AEC16D56-56E1-40C3-AE7D-F3A4CD28495E}"/>
              </a:ext>
            </a:extLst>
          </p:cNvPr>
          <p:cNvSpPr>
            <a:spLocks xmlns:a="http://schemas.openxmlformats.org/drawingml/2006/main" noGrp="1"/>
          </p:cNvSpPr>
          <p:nvPr/>
        </p:nvSpPr>
        <p:spPr>
          <a:xfrm xmlns:a="http://schemas.openxmlformats.org/drawingml/2006/main">
            <a:off x="800100" y="2171700"/>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Demand</a:t>
            </a:r>
          </a:p>
        </p:txBody>
      </p:sp>
      <p:sp>
        <p:nvSpPr>
          <p:cNvPr id="7" name="content 1">
            <a:extLst xmlns:a="http://schemas.openxmlformats.org/drawingml/2006/main">
              <a:ext uri="{FF2B5EF4-FFF2-40B4-BE49-F238E27FC236}">
                <a16:creationId xmlns:a16="http://schemas.microsoft.com/office/drawing/2014/main" id="{567B2C37-0279-4DBD-9A35-A558D34150F3}"/>
              </a:ext>
            </a:extLst>
          </p:cNvPr>
          <p:cNvSpPr>
            <a:spLocks xmlns:a="http://schemas.openxmlformats.org/drawingml/2006/main" noGrp="1"/>
          </p:cNvSpPr>
          <p:nvPr/>
        </p:nvSpPr>
        <p:spPr>
          <a:xfrm xmlns:a="http://schemas.openxmlformats.org/drawingml/2006/main">
            <a:off x="800100" y="26479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A response choice is justified by a named feature, pattern or calculation from the supplied task.</a:t>
            </a:r>
          </a:p>
        </p:txBody>
      </p:sp>
      <p:sp>
        <p:nvSpPr>
          <p:cNvPr id="8" name="content 2">
            <a:extLst xmlns:a="http://schemas.openxmlformats.org/drawingml/2006/main">
              <a:ext uri="{FF2B5EF4-FFF2-40B4-BE49-F238E27FC236}">
                <a16:creationId xmlns:a16="http://schemas.microsoft.com/office/drawing/2014/main" id="{940B168F-6547-4217-9E56-CB3F66113919}"/>
              </a:ext>
            </a:extLst>
          </p:cNvPr>
          <p:cNvSpPr>
            <a:spLocks xmlns:a="http://schemas.openxmlformats.org/drawingml/2006/main" noGrp="1"/>
          </p:cNvSpPr>
          <p:nvPr/>
        </p:nvSpPr>
        <p:spPr>
          <a:xfrm xmlns:a="http://schemas.openxmlformats.org/drawingml/2006/main">
            <a:off x="800100" y="3438525"/>
            <a:ext cx="10591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0233F"/>
                </a:solidFill>
                <a:latin typeface="Arial"/>
                <a:ea typeface="Arial"/>
                <a:cs typeface="Arial"/>
              </a:defRPr>
            </a:pPr>
            <a:r>
              <a:rPr sz="2250" b="1">
                <a:solidFill>
                  <a:srgbClr val="10233F"/>
                </a:solidFill>
                <a:latin typeface="Arial"/>
                <a:ea typeface="Arial"/>
                <a:cs typeface="Arial"/>
              </a:rPr>
              <a:t>Truth</a:t>
            </a:r>
          </a:p>
        </p:txBody>
      </p:sp>
      <p:sp>
        <p:nvSpPr>
          <p:cNvPr id="9" name="content 3">
            <a:extLst xmlns:a="http://schemas.openxmlformats.org/drawingml/2006/main">
              <a:ext uri="{FF2B5EF4-FFF2-40B4-BE49-F238E27FC236}">
                <a16:creationId xmlns:a16="http://schemas.microsoft.com/office/drawing/2014/main" id="{B963FBF2-3BBE-4D0C-B0ED-0CA7474686F4}"/>
              </a:ext>
            </a:extLst>
          </p:cNvPr>
          <p:cNvSpPr>
            <a:spLocks xmlns:a="http://schemas.openxmlformats.org/drawingml/2006/main" noGrp="1"/>
          </p:cNvSpPr>
          <p:nvPr/>
        </p:nvSpPr>
        <p:spPr>
          <a:xfrm xmlns:a="http://schemas.openxmlformats.org/drawingml/2006/main">
            <a:off x="800100" y="3914775"/>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Uncertainty is not failure: it identifies the exact concept, word or step to retrieve before the assessment response is final.</a:t>
            </a:r>
          </a:p>
        </p:txBody>
      </p:sp>
      <p:sp>
        <p:nvSpPr>
          <p:cNvPr id="10" name="content 4">
            <a:extLst xmlns:a="http://schemas.openxmlformats.org/drawingml/2006/main">
              <a:ext uri="{FF2B5EF4-FFF2-40B4-BE49-F238E27FC236}">
                <a16:creationId xmlns:a16="http://schemas.microsoft.com/office/drawing/2014/main" id="{82B044CB-836F-4340-8E45-E191B4E456B2}"/>
              </a:ext>
            </a:extLst>
          </p:cNvPr>
          <p:cNvSpPr>
            <a:spLocks xmlns:a="http://schemas.openxmlformats.org/drawingml/2006/main" noGrp="1"/>
          </p:cNvSpPr>
          <p:nvPr/>
        </p:nvSpPr>
        <p:spPr>
          <a:xfrm xmlns:a="http://schemas.openxmlformats.org/drawingml/2006/main">
            <a:off x="800100" y="47053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Exit route remains available: pause, use the print pack, reduce visual density or direct an adult. The named learning demand remains available.</a:t>
            </a:r>
          </a:p>
        </p:txBody>
      </p:sp>
      <p:sp>
        <p:nvSpPr>
          <p:cNvPr id="11" name="time">
            <a:extLst xmlns:a="http://schemas.openxmlformats.org/drawingml/2006/main">
              <a:ext uri="{FF2B5EF4-FFF2-40B4-BE49-F238E27FC236}">
                <a16:creationId xmlns:a16="http://schemas.microsoft.com/office/drawing/2014/main" id="{7C5FC88B-C634-4DB6-8B10-787647B2953D}"/>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INDEPENDENT · 16 min across this stage</a:t>
            </a:r>
          </a:p>
        </p:txBody>
      </p:sp>
      <p:sp>
        <p:nvSpPr>
          <p:cNvPr id="12" name="number">
            <a:extLst xmlns:a="http://schemas.openxmlformats.org/drawingml/2006/main">
              <a:ext uri="{FF2B5EF4-FFF2-40B4-BE49-F238E27FC236}">
                <a16:creationId xmlns:a16="http://schemas.microsoft.com/office/drawing/2014/main" id="{7095FFCC-2499-4ED6-BF92-F92724E12514}"/>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18 / 19</a:t>
            </a:r>
          </a:p>
        </p:txBody>
      </p:sp>
    </p:spTree>
    <p:extLst>
      <p:ext uri="{BB962C8B-B14F-4D97-AF65-F5344CB8AC3E}">
        <p14:creationId xmlns:p14="http://schemas.microsoft.com/office/powerpoint/2010/main" val="1580181263"/>
      </p:ext>
    </p:extLst>
  </p:cSld>
</p:sld>
</file>

<file path=ppt/slides/slide19.xml><?xml version="1.0" encoding="utf-8"?>
<p:sld xmlns:p="http://schemas.openxmlformats.org/presentationml/2006/main">
  <p:cSld>
    <p:bg>
      <p:bgPr>
        <a:solidFill xmlns:a="http://schemas.openxmlformats.org/drawingml/2006/main">
          <a:srgbClr val="F5F8FA"/>
        </a:solidFill>
      </p:bgPr>
    </p:bg>
    <p:spTree>
      <p:nvGrpSpPr>
        <p:cNvPr id="1" name=""/>
        <p:cNvGrpSpPr/>
        <p:nvPr/>
      </p:nvGrpSpPr>
      <p:grpSpPr>
        <a:xfrm xmlns:a="http://schemas.openxmlformats.org/drawingml/2006/main"/>
      </p:grpSpPr>
      <p:sp>
        <p:nvSpPr>
          <p:cNvPr id="10" name="phase edge">
            <a:extLst xmlns:a="http://schemas.openxmlformats.org/drawingml/2006/main">
              <a:ext uri="{FF2B5EF4-FFF2-40B4-BE49-F238E27FC236}">
                <a16:creationId xmlns:a16="http://schemas.microsoft.com/office/drawing/2014/main" id="{494E0C9F-E2C1-4EB9-B887-FA9CDC5B139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6877A"/>
          </a:solidFill>
          <a:ln xmlns:a="http://schemas.openxmlformats.org/drawingml/2006/main" w="0">
            <a:noFill/>
          </a:ln>
        </p:spPr>
      </p:sp>
      <p:sp>
        <p:nvSpPr>
          <p:cNvPr id="2" name="pathway">
            <a:extLst xmlns:a="http://schemas.openxmlformats.org/drawingml/2006/main">
              <a:ext uri="{FF2B5EF4-FFF2-40B4-BE49-F238E27FC236}">
                <a16:creationId xmlns:a16="http://schemas.microsoft.com/office/drawing/2014/main" id="{33547519-5BB1-4270-BC6B-560B54585F46}"/>
              </a:ext>
            </a:extLst>
          </p:cNvPr>
          <p:cNvSpPr>
            <a:spLocks xmlns:a="http://schemas.openxmlformats.org/drawingml/2006/main" noGrp="1"/>
          </p:cNvSpPr>
          <p:nvPr/>
        </p:nvSpPr>
        <p:spPr>
          <a:xfrm xmlns:a="http://schemas.openxmlformats.org/drawingml/2006/main">
            <a:off x="533400" y="314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7A5C9E"/>
                </a:solidFill>
                <a:latin typeface="Arial"/>
                <a:ea typeface="Arial"/>
                <a:cs typeface="Arial"/>
              </a:defRPr>
            </a:pPr>
            <a:r>
              <a:rPr sz="1500" b="1">
                <a:solidFill>
                  <a:srgbClr val="7A5C9E"/>
                </a:solidFill>
                <a:latin typeface="Arial"/>
                <a:ea typeface="Arial"/>
                <a:cs typeface="Arial"/>
              </a:rPr>
              <a:t>LAUNCH  /  SCIENCE</a:t>
            </a:r>
          </a:p>
        </p:txBody>
      </p:sp>
      <p:sp>
        <p:nvSpPr>
          <p:cNvPr id="3" name="phase">
            <a:extLst xmlns:a="http://schemas.openxmlformats.org/drawingml/2006/main">
              <a:ext uri="{FF2B5EF4-FFF2-40B4-BE49-F238E27FC236}">
                <a16:creationId xmlns:a16="http://schemas.microsoft.com/office/drawing/2014/main" id="{ACFA6324-6B53-48CF-B2D5-7806BFCC98AA}"/>
              </a:ext>
            </a:extLst>
          </p:cNvPr>
          <p:cNvSpPr>
            <a:spLocks xmlns:a="http://schemas.openxmlformats.org/drawingml/2006/main" noGrp="1"/>
          </p:cNvSpPr>
          <p:nvPr/>
        </p:nvSpPr>
        <p:spPr>
          <a:xfrm xmlns:a="http://schemas.openxmlformats.org/drawingml/2006/main">
            <a:off x="9525000" y="31432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7A5C9E"/>
                </a:solidFill>
                <a:latin typeface="Arial"/>
                <a:ea typeface="Arial"/>
                <a:cs typeface="Arial"/>
              </a:defRPr>
            </a:pPr>
            <a:r>
              <a:rPr sz="1425" b="1">
                <a:solidFill>
                  <a:srgbClr val="7A5C9E"/>
                </a:solidFill>
                <a:latin typeface="Arial"/>
                <a:ea typeface="Arial"/>
                <a:cs typeface="Arial"/>
              </a:rPr>
              <a:t>EXIT</a:t>
            </a:r>
          </a:p>
        </p:txBody>
      </p:sp>
      <p:sp>
        <p:nvSpPr>
          <p:cNvPr id="4" name="title">
            <a:extLst xmlns:a="http://schemas.openxmlformats.org/drawingml/2006/main">
              <a:ext uri="{FF2B5EF4-FFF2-40B4-BE49-F238E27FC236}">
                <a16:creationId xmlns:a16="http://schemas.microsoft.com/office/drawing/2014/main" id="{53F698D1-03F1-4844-AF3F-C862D678C0B1}"/>
              </a:ext>
            </a:extLst>
          </p:cNvPr>
          <p:cNvSpPr>
            <a:spLocks xmlns:a="http://schemas.openxmlformats.org/drawingml/2006/main" noGrp="1"/>
          </p:cNvSpPr>
          <p:nvPr/>
        </p:nvSpPr>
        <p:spPr>
          <a:xfrm xmlns:a="http://schemas.openxmlformats.org/drawingml/2006/main">
            <a:off x="533400" y="790575"/>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10233F"/>
                </a:solidFill>
                <a:latin typeface="Arial"/>
                <a:ea typeface="Arial"/>
                <a:cs typeface="Arial"/>
              </a:defRPr>
            </a:pPr>
            <a:r>
              <a:rPr sz="3000" b="1">
                <a:solidFill>
                  <a:srgbClr val="10233F"/>
                </a:solidFill>
                <a:latin typeface="Arial"/>
                <a:ea typeface="Arial"/>
                <a:cs typeface="Arial"/>
              </a:rPr>
              <a:t>Audience receives; Influence changes one next action</a:t>
            </a:r>
          </a:p>
        </p:txBody>
      </p:sp>
      <p:sp>
        <p:nvSpPr>
          <p:cNvPr id="5" name="paper panel">
            <a:extLst xmlns:a="http://schemas.openxmlformats.org/drawingml/2006/main">
              <a:ext uri="{FF2B5EF4-FFF2-40B4-BE49-F238E27FC236}">
                <a16:creationId xmlns:a16="http://schemas.microsoft.com/office/drawing/2014/main" id="{013938DE-D939-4B71-8B70-C3109DEF79F4}"/>
              </a:ext>
            </a:extLst>
          </p:cNvPr>
          <p:cNvSpPr>
            <a:spLocks xmlns:a="http://schemas.openxmlformats.org/drawingml/2006/main" noGrp="1"/>
          </p:cNvSpPr>
          <p:nvPr/>
        </p:nvSpPr>
        <p:spPr>
          <a:xfrm xmlns:a="http://schemas.openxmlformats.org/drawingml/2006/main">
            <a:off x="533400" y="1971675"/>
            <a:ext cx="11125200" cy="40481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content 0">
            <a:extLst xmlns:a="http://schemas.openxmlformats.org/drawingml/2006/main">
              <a:ext uri="{FF2B5EF4-FFF2-40B4-BE49-F238E27FC236}">
                <a16:creationId xmlns:a16="http://schemas.microsoft.com/office/drawing/2014/main" id="{5AC552D2-E9F7-4269-8534-4FC14C4816CF}"/>
              </a:ext>
            </a:extLst>
          </p:cNvPr>
          <p:cNvSpPr>
            <a:spLocks xmlns:a="http://schemas.openxmlformats.org/drawingml/2006/main" noGrp="1"/>
          </p:cNvSpPr>
          <p:nvPr/>
        </p:nvSpPr>
        <p:spPr>
          <a:xfrm xmlns:a="http://schemas.openxmlformats.org/drawingml/2006/main">
            <a:off x="800100" y="2171700"/>
            <a:ext cx="10591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Present one response, the evidence detail that supports it and the uncertainty that remains. The adult repeats the response without improving it. Confirm, correct or mark the item for retrieval.</a:t>
            </a:r>
          </a:p>
        </p:txBody>
      </p:sp>
      <p:sp>
        <p:nvSpPr>
          <p:cNvPr id="7" name="content 1">
            <a:extLst xmlns:a="http://schemas.openxmlformats.org/drawingml/2006/main">
              <a:ext uri="{FF2B5EF4-FFF2-40B4-BE49-F238E27FC236}">
                <a16:creationId xmlns:a16="http://schemas.microsoft.com/office/drawing/2014/main" id="{82FCA48C-4D6F-4B81-BFFB-9B351C8A3756}"/>
              </a:ext>
            </a:extLst>
          </p:cNvPr>
          <p:cNvSpPr>
            <a:spLocks xmlns:a="http://schemas.openxmlformats.org/drawingml/2006/main" noGrp="1"/>
          </p:cNvSpPr>
          <p:nvPr/>
        </p:nvSpPr>
        <p:spPr>
          <a:xfrm xmlns:a="http://schemas.openxmlformats.org/drawingml/2006/main">
            <a:off x="800100" y="3295650"/>
            <a:ext cx="10591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0233F"/>
                </a:solidFill>
                <a:latin typeface="Arial"/>
                <a:ea typeface="Arial"/>
                <a:cs typeface="Arial"/>
              </a:defRPr>
            </a:pPr>
            <a:r>
              <a:rPr sz="2100" b="0">
                <a:solidFill>
                  <a:srgbClr val="10233F"/>
                </a:solidFill>
                <a:latin typeface="Arial"/>
                <a:ea typeface="Arial"/>
                <a:cs typeface="Arial"/>
              </a:rPr>
              <a:t>Final check: no result, quote, date, event or pupil wording has been created to make the map look complete. The HTML stores no learner response.</a:t>
            </a:r>
          </a:p>
        </p:txBody>
      </p:sp>
      <p:sp>
        <p:nvSpPr>
          <p:cNvPr id="8" name="time">
            <a:extLst xmlns:a="http://schemas.openxmlformats.org/drawingml/2006/main">
              <a:ext uri="{FF2B5EF4-FFF2-40B4-BE49-F238E27FC236}">
                <a16:creationId xmlns:a16="http://schemas.microsoft.com/office/drawing/2014/main" id="{B1B46EF8-17CF-4D89-9746-302821F0D40A}"/>
              </a:ext>
            </a:extLst>
          </p:cNvPr>
          <p:cNvSpPr>
            <a:spLocks xmlns:a="http://schemas.openxmlformats.org/drawingml/2006/main" noGrp="1"/>
          </p:cNvSpPr>
          <p:nvPr/>
        </p:nvSpPr>
        <p:spPr>
          <a:xfrm xmlns:a="http://schemas.openxmlformats.org/drawingml/2006/main">
            <a:off x="533400" y="630555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EXIT · 4 min across this stage</a:t>
            </a:r>
          </a:p>
        </p:txBody>
      </p:sp>
      <p:sp>
        <p:nvSpPr>
          <p:cNvPr id="9" name="number">
            <a:extLst xmlns:a="http://schemas.openxmlformats.org/drawingml/2006/main">
              <a:ext uri="{FF2B5EF4-FFF2-40B4-BE49-F238E27FC236}">
                <a16:creationId xmlns:a16="http://schemas.microsoft.com/office/drawing/2014/main" id="{C1ADFD1F-B747-4767-AF6B-5D13148FD6EB}"/>
              </a:ext>
            </a:extLst>
          </p:cNvPr>
          <p:cNvSpPr>
            <a:spLocks xmlns:a="http://schemas.openxmlformats.org/drawingml/2006/main" noGrp="1"/>
          </p:cNvSpPr>
          <p:nvPr/>
        </p:nvSpPr>
        <p:spPr>
          <a:xfrm xmlns:a="http://schemas.openxmlformats.org/drawingml/2006/main">
            <a:off x="10668000" y="63055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26270"/>
                </a:solidFill>
                <a:latin typeface="Arial"/>
                <a:ea typeface="Arial"/>
                <a:cs typeface="Arial"/>
              </a:defRPr>
            </a:pPr>
            <a:r>
              <a:rPr sz="1350" b="0">
                <a:solidFill>
                  <a:srgbClr val="526270"/>
                </a:solidFill>
                <a:latin typeface="Arial"/>
                <a:ea typeface="Arial"/>
                <a:cs typeface="Arial"/>
              </a:rPr>
              <a:t>19 / 19</a:t>
            </a:r>
          </a:p>
        </p:txBody>
      </p:sp>
    </p:spTree>
    <p:extLst>
      <p:ext uri="{BB962C8B-B14F-4D97-AF65-F5344CB8AC3E}">
        <p14:creationId xmlns:p14="http://schemas.microsoft.com/office/powerpoint/2010/main" val="8445987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2026-09-08T09:10:16.7180000Z</dcterms:created>
  <dcterms:modified xsi:type="dcterms:W3CDTF">2026-09-08T09:10:16.7180000Z</dcterms:modified>
</coreProperties>
</file>