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1be26c74e6540a1" /><Relationship Type="http://schemas.openxmlformats.org/officeDocument/2006/relationships/extended-properties" Target="/docProps/app.xml" Id="R8e7c40fb5d2a4095" /><Relationship Type="http://schemas.openxmlformats.org/officeDocument/2006/relationships/officeDocument" Target="/ppt/presentation.xml" Id="R97f4b536de8b49a1" /></Relationships>
</file>

<file path=ppt/presentation.xml><?xml version="1.0" encoding="utf-8"?>
<p:presentation xmlns:p="http://schemas.openxmlformats.org/presentationml/2006/main">
  <p:sldMasterIdLst>
    <p:sldMasterId xmlns:r="http://schemas.openxmlformats.org/officeDocument/2006/relationships" id="2147483648" r:id="R167c0f0b0a7d4fb6"/>
  </p:sldMasterIdLst>
  <p:notesMasterIdLst>
    <p:notesMasterId xmlns:r="http://schemas.openxmlformats.org/officeDocument/2006/relationships" r:id="Re58fc2190e954e2c"/>
  </p:notesMasterIdLst>
  <p:sldIdLst>
    <p:sldId xmlns:r="http://schemas.openxmlformats.org/officeDocument/2006/relationships" id="256" r:id="Rc8c0c8f6cf394871"/>
    <p:sldId xmlns:r="http://schemas.openxmlformats.org/officeDocument/2006/relationships" id="257" r:id="R6cc011eee9ba409e"/>
    <p:sldId xmlns:r="http://schemas.openxmlformats.org/officeDocument/2006/relationships" id="258" r:id="R0ccd205455e74a9f"/>
    <p:sldId xmlns:r="http://schemas.openxmlformats.org/officeDocument/2006/relationships" id="259" r:id="Rbd8a6df081e0477a"/>
    <p:sldId xmlns:r="http://schemas.openxmlformats.org/officeDocument/2006/relationships" id="260" r:id="R0d388cca397543eb"/>
    <p:sldId xmlns:r="http://schemas.openxmlformats.org/officeDocument/2006/relationships" id="261" r:id="R83baefc2c2a74a65"/>
    <p:sldId xmlns:r="http://schemas.openxmlformats.org/officeDocument/2006/relationships" id="262" r:id="R3f124037285e4951"/>
    <p:sldId xmlns:r="http://schemas.openxmlformats.org/officeDocument/2006/relationships" id="263" r:id="R4a0a4de4a20d41af"/>
    <p:sldId xmlns:r="http://schemas.openxmlformats.org/officeDocument/2006/relationships" id="264" r:id="R3f8fd4e907e14fdd"/>
    <p:sldId xmlns:r="http://schemas.openxmlformats.org/officeDocument/2006/relationships" id="265" r:id="R009076f018dc498a"/>
    <p:sldId xmlns:r="http://schemas.openxmlformats.org/officeDocument/2006/relationships" id="266" r:id="R0d68f2f421264635"/>
    <p:sldId xmlns:r="http://schemas.openxmlformats.org/officeDocument/2006/relationships" id="267" r:id="R7b43ea8552464026"/>
    <p:sldId xmlns:r="http://schemas.openxmlformats.org/officeDocument/2006/relationships" id="268" r:id="R4763fb2a139b4480"/>
    <p:sldId xmlns:r="http://schemas.openxmlformats.org/officeDocument/2006/relationships" id="269" r:id="Rfcb9176a681a4a58"/>
    <p:sldId xmlns:r="http://schemas.openxmlformats.org/officeDocument/2006/relationships" id="270" r:id="Re1f27daa1609441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1225514c4c04fae" /><Relationship Type="http://schemas.openxmlformats.org/officeDocument/2006/relationships/slideMaster" Target="/ppt/slideMasters/slideMaster1.xml" Id="R167c0f0b0a7d4fb6" /><Relationship Type="http://schemas.openxmlformats.org/officeDocument/2006/relationships/notesMaster" Target="/ppt/notesMasters/notesMaster1.xml" Id="Re58fc2190e954e2c" /><Relationship Type="http://schemas.openxmlformats.org/officeDocument/2006/relationships/presProps" Target="/ppt/presProps.xml" Id="Rcd5a137083f74190" /><Relationship Type="http://schemas.openxmlformats.org/officeDocument/2006/relationships/tableStyles" Target="/ppt/tableStyles.xml" Id="Rbc387403aa0a48b7" /><Relationship Type="http://schemas.openxmlformats.org/officeDocument/2006/relationships/slide" Target="/ppt/slides/slide1.xml" Id="Rc8c0c8f6cf394871" /><Relationship Type="http://schemas.openxmlformats.org/officeDocument/2006/relationships/slide" Target="/ppt/slides/slide2.xml" Id="R6cc011eee9ba409e" /><Relationship Type="http://schemas.openxmlformats.org/officeDocument/2006/relationships/slide" Target="/ppt/slides/slide3.xml" Id="R0ccd205455e74a9f" /><Relationship Type="http://schemas.openxmlformats.org/officeDocument/2006/relationships/slide" Target="/ppt/slides/slide4.xml" Id="Rbd8a6df081e0477a" /><Relationship Type="http://schemas.openxmlformats.org/officeDocument/2006/relationships/slide" Target="/ppt/slides/slide5.xml" Id="R0d388cca397543eb" /><Relationship Type="http://schemas.openxmlformats.org/officeDocument/2006/relationships/slide" Target="/ppt/slides/slide6.xml" Id="R83baefc2c2a74a65" /><Relationship Type="http://schemas.openxmlformats.org/officeDocument/2006/relationships/slide" Target="/ppt/slides/slide7.xml" Id="R3f124037285e4951" /><Relationship Type="http://schemas.openxmlformats.org/officeDocument/2006/relationships/slide" Target="/ppt/slides/slide8.xml" Id="R4a0a4de4a20d41af" /><Relationship Type="http://schemas.openxmlformats.org/officeDocument/2006/relationships/slide" Target="/ppt/slides/slide9.xml" Id="R3f8fd4e907e14fdd" /><Relationship Type="http://schemas.openxmlformats.org/officeDocument/2006/relationships/slide" Target="/ppt/slides/slide10.xml" Id="R009076f018dc498a" /><Relationship Type="http://schemas.openxmlformats.org/officeDocument/2006/relationships/slide" Target="/ppt/slides/slide11.xml" Id="R0d68f2f421264635" /><Relationship Type="http://schemas.openxmlformats.org/officeDocument/2006/relationships/slide" Target="/ppt/slides/slide12.xml" Id="R7b43ea8552464026" /><Relationship Type="http://schemas.openxmlformats.org/officeDocument/2006/relationships/slide" Target="/ppt/slides/slide13.xml" Id="R4763fb2a139b4480" /><Relationship Type="http://schemas.openxmlformats.org/officeDocument/2006/relationships/slide" Target="/ppt/slides/slide14.xml" Id="Rfcb9176a681a4a58" /><Relationship Type="http://schemas.openxmlformats.org/officeDocument/2006/relationships/slide" Target="/ppt/slides/slide15.xml" Id="Re1f27daa1609441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981cbca05df4e3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8acf670de4c4843" /><Relationship Type="http://schemas.openxmlformats.org/officeDocument/2006/relationships/notesMaster" Target="/ppt/notesMasters/notesMaster1.xml" Id="R054c8c27ee664098" /></Relationships>
</file>

<file path=ppt/notesSlides/_rels/notesSlide2.xml.rels>&#65279;<?xml version="1.0" encoding="utf-8"?><Relationships xmlns="http://schemas.openxmlformats.org/package/2006/relationships"><Relationship Type="http://schemas.openxmlformats.org/officeDocument/2006/relationships/slide" Target="/ppt/slides/slide2.xml" Id="Rabc692de833c4048" /><Relationship Type="http://schemas.openxmlformats.org/officeDocument/2006/relationships/notesMaster" Target="/ppt/notesMasters/notesMaster1.xml" Id="Rff8917eafa9e4eda" /></Relationships>
</file>

<file path=ppt/notesSlides/_rels/notesSlide3.xml.rels>&#65279;<?xml version="1.0" encoding="utf-8"?><Relationships xmlns="http://schemas.openxmlformats.org/package/2006/relationships"><Relationship Type="http://schemas.openxmlformats.org/officeDocument/2006/relationships/slide" Target="/ppt/slides/slide3.xml" Id="R6814bb691c9241a3" /><Relationship Type="http://schemas.openxmlformats.org/officeDocument/2006/relationships/notesMaster" Target="/ppt/notesMasters/notesMaster1.xml" Id="R7360605ae1514932" /></Relationships>
</file>

<file path=ppt/notesSlides/_rels/notesSlide4.xml.rels>&#65279;<?xml version="1.0" encoding="utf-8"?><Relationships xmlns="http://schemas.openxmlformats.org/package/2006/relationships"><Relationship Type="http://schemas.openxmlformats.org/officeDocument/2006/relationships/slide" Target="/ppt/slides/slide4.xml" Id="Rd9b5e6bfdc204e15" /><Relationship Type="http://schemas.openxmlformats.org/officeDocument/2006/relationships/notesMaster" Target="/ppt/notesMasters/notesMaster1.xml" Id="R4f9f427ea69f4f31" /></Relationships>
</file>

<file path=ppt/notesSlides/_rels/notesSlide5.xml.rels>&#65279;<?xml version="1.0" encoding="utf-8"?><Relationships xmlns="http://schemas.openxmlformats.org/package/2006/relationships"><Relationship Type="http://schemas.openxmlformats.org/officeDocument/2006/relationships/slide" Target="/ppt/slides/slide5.xml" Id="R8c871dfa8603422c" /><Relationship Type="http://schemas.openxmlformats.org/officeDocument/2006/relationships/notesMaster" Target="/ppt/notesMasters/notesMaster1.xml" Id="R28ba1513ab164d7c" /></Relationships>
</file>

<file path=ppt/notesSlides/_rels/notesSlide6.xml.rels>&#65279;<?xml version="1.0" encoding="utf-8"?><Relationships xmlns="http://schemas.openxmlformats.org/package/2006/relationships"><Relationship Type="http://schemas.openxmlformats.org/officeDocument/2006/relationships/slide" Target="/ppt/slides/slide6.xml" Id="Rd67a23ec4a384a6e" /><Relationship Type="http://schemas.openxmlformats.org/officeDocument/2006/relationships/notesMaster" Target="/ppt/notesMasters/notesMaster1.xml" Id="Rea5bf48bfad24050" /></Relationships>
</file>

<file path=ppt/notesSlides/_rels/notesSlide7.xml.rels>&#65279;<?xml version="1.0" encoding="utf-8"?><Relationships xmlns="http://schemas.openxmlformats.org/package/2006/relationships"><Relationship Type="http://schemas.openxmlformats.org/officeDocument/2006/relationships/slide" Target="/ppt/slides/slide7.xml" Id="R8f3861a1e07847fd" /><Relationship Type="http://schemas.openxmlformats.org/officeDocument/2006/relationships/notesMaster" Target="/ppt/notesMasters/notesMaster1.xml" Id="R7bed456f5a624054" /></Relationships>
</file>

<file path=ppt/notesSlides/_rels/notesSlide8.xml.rels>&#65279;<?xml version="1.0" encoding="utf-8"?><Relationships xmlns="http://schemas.openxmlformats.org/package/2006/relationships"><Relationship Type="http://schemas.openxmlformats.org/officeDocument/2006/relationships/slide" Target="/ppt/slides/slide8.xml" Id="R61b8514f332d4a2e" /><Relationship Type="http://schemas.openxmlformats.org/officeDocument/2006/relationships/notesMaster" Target="/ppt/notesMasters/notesMaster1.xml" Id="R381f5e0999ad4448" /></Relationships>
</file>

<file path=ppt/notesSlides/_rels/notesSlide9.xml.rels>&#65279;<?xml version="1.0" encoding="utf-8"?><Relationships xmlns="http://schemas.openxmlformats.org/package/2006/relationships"><Relationship Type="http://schemas.openxmlformats.org/officeDocument/2006/relationships/slide" Target="/ppt/slides/slide9.xml" Id="R5499881fbac84d00" /><Relationship Type="http://schemas.openxmlformats.org/officeDocument/2006/relationships/notesMaster" Target="/ppt/notesMasters/notesMaster1.xml" Id="R677a6d4eb9ec4ce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891d41dcd4e45e5" /><Relationship Type="http://schemas.openxmlformats.org/officeDocument/2006/relationships/notesMaster" Target="/ppt/notesMasters/notesMaster1.xml" Id="R8780ece102434e2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65587260b644d9b" /><Relationship Type="http://schemas.openxmlformats.org/officeDocument/2006/relationships/notesMaster" Target="/ppt/notesMasters/notesMaster1.xml" Id="R5bd782a4255c489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a5a269afc384b84" /><Relationship Type="http://schemas.openxmlformats.org/officeDocument/2006/relationships/notesMaster" Target="/ppt/notesMasters/notesMaster1.xml" Id="Rd0cac050f87a4223"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7b1e1c54e1a8418d" /><Relationship Type="http://schemas.openxmlformats.org/officeDocument/2006/relationships/notesMaster" Target="/ppt/notesMasters/notesMaster1.xml" Id="Rf6b961ac8b8c4572"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71fdaa2a3df04efd" /><Relationship Type="http://schemas.openxmlformats.org/officeDocument/2006/relationships/notesMaster" Target="/ppt/notesMasters/notesMaster1.xml" Id="Rcbb89c95bcd84f0b"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873e31d58af14a76" /><Relationship Type="http://schemas.openxmlformats.org/officeDocument/2006/relationships/notesMaster" Target="/ppt/notesMasters/notesMaster1.xml" Id="Rd2725c10e9744cd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allocation: 2 minutes.</a:t>
            </a:r>
          </a:p>
          <a:p xmlns:a="http://schemas.openxmlformats.org/drawingml/2006/main">
            <a:r>
              <a:t/>
            </a:r>
          </a:p>
          <a:p xmlns:a="http://schemas.openxmlformats.org/drawingml/2006/main">
            <a:r>
              <a:t>Take a prediction and preserve it for review. Say that genetic engineering describes a method; evidence must be about a specific application. Announce the independent product: a short trial recommendation for a grower, not a blanket vote on all GM organisms.</a:t>
            </a:r>
          </a:p>
          <a:p xmlns:a="http://schemas.openxmlformats.org/drawingml/2006/main">
            <a:r>
              <a:t/>
            </a:r>
          </a:p>
          <a:p xmlns:a="http://schemas.openxmlformats.org/drawingml/2006/main">
            <a:r>
              <a:t>LESSON REFERENCES</a:t>
            </a:r>
          </a:p>
          <a:p xmlns:a="http://schemas.openxmlformats.org/drawingml/2006/main">
            <a:r>
              <a:t>Pearson Edexcel GCSE Biology 1BI0 specification, Topic 4</a:t>
            </a:r>
          </a:p>
          <a:p xmlns:a="http://schemas.openxmlformats.org/drawingml/2006/main">
            <a:r>
              <a:t>https://qualifications.pearson.com/content/dam/pdf/GCSE/Science/2016/Specification/gcse-biology-spec.pdf</a:t>
            </a:r>
          </a:p>
          <a:p xmlns:a="http://schemas.openxmlformats.org/drawingml/2006/main">
            <a:r>
              <a:t>Used to check GCSE relevance; teacher-authored practice, not an official assessment. Checked 8 September 2026.</a:t>
            </a:r>
          </a:p>
          <a:p xmlns:a="http://schemas.openxmlformats.org/drawingml/2006/main">
            <a:r>
              <a:t/>
            </a:r>
          </a:p>
          <a:p xmlns:a="http://schemas.openxmlformats.org/drawingml/2006/main">
            <a:r>
              <a:t>NHGRI: Genetic Engineering</a:t>
            </a:r>
          </a:p>
          <a:p xmlns:a="http://schemas.openxmlformats.org/drawingml/2006/main">
            <a:r>
              <a:t>https://www.genome.gov/genetics-glossary/Genetic-Engineering</a:t>
            </a:r>
          </a:p>
          <a:p xmlns:a="http://schemas.openxmlformats.org/drawingml/2006/main">
            <a:r>
              <a:t>Checked definition and the distinction between adding, altering and deleting DNA. Checked 8 September 2026.</a:t>
            </a:r>
          </a:p>
          <a:p xmlns:a="http://schemas.openxmlformats.org/drawingml/2006/main">
            <a:r>
              <a:t/>
            </a:r>
          </a:p>
          <a:p xmlns:a="http://schemas.openxmlformats.org/drawingml/2006/main">
            <a:r>
              <a:t>NHGRI: Recombinant DNA Technology</a:t>
            </a:r>
          </a:p>
          <a:p xmlns:a="http://schemas.openxmlformats.org/drawingml/2006/main">
            <a:r>
              <a:t>https://www.genome.gov/genetics-glossary/Recombinant-DNA-Technology</a:t>
            </a:r>
          </a:p>
          <a:p xmlns:a="http://schemas.openxmlformats.org/drawingml/2006/main">
            <a:r>
              <a:t>Checked recombinant DNA and microbial production of useful proteins; used for conceptual explanation only. Checked 8 September 2026.</a:t>
            </a:r>
          </a:p>
          <a:p xmlns:a="http://schemas.openxmlformats.org/drawingml/2006/main">
            <a:r>
              <a:t/>
            </a:r>
          </a:p>
          <a:p xmlns:a="http://schemas.openxmlformats.org/drawingml/2006/main">
            <a:r>
              <a:t>FDA: Science and History of GMOs and Other Food Modification Processes</a:t>
            </a:r>
          </a:p>
          <a:p xmlns:a="http://schemas.openxmlformats.org/drawingml/2006/main">
            <a:r>
              <a:t>https://www.fda.gov/food/agricultural-biotechnology/science-and-history-gmos-and-other-food-modification-processes</a:t>
            </a:r>
          </a:p>
          <a:p xmlns:a="http://schemas.openxmlformats.org/drawingml/2006/main">
            <a:r>
              <a:t>Checked general Bt crop development and the need for testing; no US regulatory claims applied to UK law. Checked 8 September 2026.</a:t>
            </a:r>
          </a:p>
          <a:p xmlns:a="http://schemas.openxmlformats.org/drawingml/2006/main">
            <a:r>
              <a:t/>
            </a:r>
          </a:p>
          <a:p xmlns:a="http://schemas.openxmlformats.org/drawingml/2006/main">
            <a:r>
              <a:t>US EPA: Insect Resistance Management for Bt Plant-Incorporated Protectants</a:t>
            </a:r>
          </a:p>
          <a:p xmlns:a="http://schemas.openxmlformats.org/drawingml/2006/main">
            <a:r>
              <a:t>https://www.epa.gov/regulation-biotechnology-under-tsca-and-fifra/insect-resistance-management-bt-plant-incorporated</a:t>
            </a:r>
          </a:p>
          <a:p xmlns:a="http://schemas.openxmlformats.org/drawingml/2006/main">
            <a:r>
              <a:t>Checked target-insect effects, potential crop benefits and resistance-management mechanisms; no current legal requirements or percentages taught. Checked 8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allocation: 3 minutes.</a:t>
            </a:r>
          </a:p>
          <a:p xmlns:a="http://schemas.openxmlformats.org/drawingml/2006/main">
            <a:r>
              <a:t/>
            </a:r>
          </a:p>
          <a:p xmlns:a="http://schemas.openxmlformats.org/drawingml/2006/main">
            <a:r>
              <a:t>R1 a section of DNA with genetic information; many genes code for proteins. R2 which organisms reproduce, selecting for desired inherited characteristics. R3 yes, through differential survival/reproduction of inherited variants. Accept plain language then model the scientific term. No disclosure of personal medical or family information.</a:t>
            </a:r>
          </a:p>
          <a:p xmlns:a="http://schemas.openxmlformats.org/drawingml/2006/main">
            <a:r>
              <a:t/>
            </a:r>
          </a:p>
          <a:p xmlns:a="http://schemas.openxmlformats.org/drawingml/2006/main">
            <a:r>
              <a:t>LESSON REFERENCES</a:t>
            </a:r>
          </a:p>
          <a:p xmlns:a="http://schemas.openxmlformats.org/drawingml/2006/main">
            <a:r>
              <a:t>Pearson Edexcel GCSE Biology 1BI0 specification, Topic 4</a:t>
            </a:r>
          </a:p>
          <a:p xmlns:a="http://schemas.openxmlformats.org/drawingml/2006/main">
            <a:r>
              <a:t>https://qualifications.pearson.com/content/dam/pdf/GCSE/Science/2016/Specification/gcse-biology-spec.pdf</a:t>
            </a:r>
          </a:p>
          <a:p xmlns:a="http://schemas.openxmlformats.org/drawingml/2006/main">
            <a:r>
              <a:t>Used to check GCSE relevance; teacher-authored practice, not an official assessment. Checked 8 September 2026.</a:t>
            </a:r>
          </a:p>
          <a:p xmlns:a="http://schemas.openxmlformats.org/drawingml/2006/main">
            <a:r>
              <a:t/>
            </a:r>
          </a:p>
          <a:p xmlns:a="http://schemas.openxmlformats.org/drawingml/2006/main">
            <a:r>
              <a:t>NHGRI: Genetic Engineering</a:t>
            </a:r>
          </a:p>
          <a:p xmlns:a="http://schemas.openxmlformats.org/drawingml/2006/main">
            <a:r>
              <a:t>https://www.genome.gov/genetics-glossary/Genetic-Engineering</a:t>
            </a:r>
          </a:p>
          <a:p xmlns:a="http://schemas.openxmlformats.org/drawingml/2006/main">
            <a:r>
              <a:t>Checked definition and the distinction between adding, altering and deleting DNA. Checked 8 September 2026.</a:t>
            </a:r>
          </a:p>
          <a:p xmlns:a="http://schemas.openxmlformats.org/drawingml/2006/main">
            <a:r>
              <a:t/>
            </a:r>
          </a:p>
          <a:p xmlns:a="http://schemas.openxmlformats.org/drawingml/2006/main">
            <a:r>
              <a:t>NHGRI: Recombinant DNA Technology</a:t>
            </a:r>
          </a:p>
          <a:p xmlns:a="http://schemas.openxmlformats.org/drawingml/2006/main">
            <a:r>
              <a:t>https://www.genome.gov/genetics-glossary/Recombinant-DNA-Technology</a:t>
            </a:r>
          </a:p>
          <a:p xmlns:a="http://schemas.openxmlformats.org/drawingml/2006/main">
            <a:r>
              <a:t>Checked recombinant DNA and microbial production of useful proteins; used for conceptual explanation only. Checked 8 September 2026.</a:t>
            </a:r>
          </a:p>
          <a:p xmlns:a="http://schemas.openxmlformats.org/drawingml/2006/main">
            <a:r>
              <a:t/>
            </a:r>
          </a:p>
          <a:p xmlns:a="http://schemas.openxmlformats.org/drawingml/2006/main">
            <a:r>
              <a:t>FDA: Science and History of GMOs and Other Food Modification Processes</a:t>
            </a:r>
          </a:p>
          <a:p xmlns:a="http://schemas.openxmlformats.org/drawingml/2006/main">
            <a:r>
              <a:t>https://www.fda.gov/food/agricultural-biotechnology/science-and-history-gmos-and-other-food-modification-processes</a:t>
            </a:r>
          </a:p>
          <a:p xmlns:a="http://schemas.openxmlformats.org/drawingml/2006/main">
            <a:r>
              <a:t>Checked general Bt crop development and the need for testing; no US regulatory claims applied to UK law. Checked 8 September 2026.</a:t>
            </a:r>
          </a:p>
          <a:p xmlns:a="http://schemas.openxmlformats.org/drawingml/2006/main">
            <a:r>
              <a:t/>
            </a:r>
          </a:p>
          <a:p xmlns:a="http://schemas.openxmlformats.org/drawingml/2006/main">
            <a:r>
              <a:t>US EPA: Insect Resistance Management for Bt Plant-Incorporated Protectants</a:t>
            </a:r>
          </a:p>
          <a:p xmlns:a="http://schemas.openxmlformats.org/drawingml/2006/main">
            <a:r>
              <a:t>https://www.epa.gov/regulation-biotechnology-under-tsca-and-fifra/insect-resistance-management-bt-plant-incorporated</a:t>
            </a:r>
          </a:p>
          <a:p xmlns:a="http://schemas.openxmlformats.org/drawingml/2006/main">
            <a:r>
              <a:t>Checked target-insect effects, potential crop benefits and resistance-management mechanisms; no current legal requirements or percentages taught. Checked 8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allocation: 4 minutes.</a:t>
            </a:r>
          </a:p>
          <a:p xmlns:a="http://schemas.openxmlformats.org/drawingml/2006/main">
            <a:r>
              <a:t/>
            </a:r>
          </a:p>
          <a:p xmlns:a="http://schemas.openxmlformats.org/drawingml/2006/main">
            <a:r>
              <a:t>Think aloud: 'Selective breeding chooses parents. Genetic engineering directly changes genetic information using laboratory technology. Both can alter characteristics, but the method differs.' Do not imply every DNA change alters phenotype or every engineered organism includes a foreign gene. The drawing uses symbolic segments, not real base sequences.</a:t>
            </a:r>
          </a:p>
          <a:p xmlns:a="http://schemas.openxmlformats.org/drawingml/2006/main">
            <a:r>
              <a:t/>
            </a:r>
          </a:p>
          <a:p xmlns:a="http://schemas.openxmlformats.org/drawingml/2006/main">
            <a:r>
              <a:t>DIAGRAM DESCRIPTION</a:t>
            </a:r>
          </a:p>
          <a:p xmlns:a="http://schemas.openxmlformats.org/drawingml/2006/main">
            <a:r>
              <a:t>Three conceptual changes to a DNA sequence: adding a DNA segment, changing bases, or deleting a segment. Different methods perform these changes. Diagrams are symbolic blocks, not actual DNA sequences or laboratory protocols.</a:t>
            </a:r>
          </a:p>
          <a:p xmlns:a="http://schemas.openxmlformats.org/drawingml/2006/main">
            <a:r>
              <a:t/>
            </a:r>
          </a:p>
          <a:p xmlns:a="http://schemas.openxmlformats.org/drawingml/2006/main">
            <a:r>
              <a:t>LESSON REFERENCES</a:t>
            </a:r>
          </a:p>
          <a:p xmlns:a="http://schemas.openxmlformats.org/drawingml/2006/main">
            <a:r>
              <a:t>Pearson Edexcel GCSE Biology 1BI0 specification, Topic 4</a:t>
            </a:r>
          </a:p>
          <a:p xmlns:a="http://schemas.openxmlformats.org/drawingml/2006/main">
            <a:r>
              <a:t>https://qualifications.pearson.com/content/dam/pdf/GCSE/Science/2016/Specification/gcse-biology-spec.pdf</a:t>
            </a:r>
          </a:p>
          <a:p xmlns:a="http://schemas.openxmlformats.org/drawingml/2006/main">
            <a:r>
              <a:t>Used to check GCSE relevance; teacher-authored practice, not an official assessment. Checked 8 September 2026.</a:t>
            </a:r>
          </a:p>
          <a:p xmlns:a="http://schemas.openxmlformats.org/drawingml/2006/main">
            <a:r>
              <a:t/>
            </a:r>
          </a:p>
          <a:p xmlns:a="http://schemas.openxmlformats.org/drawingml/2006/main">
            <a:r>
              <a:t>NHGRI: Genetic Engineering</a:t>
            </a:r>
          </a:p>
          <a:p xmlns:a="http://schemas.openxmlformats.org/drawingml/2006/main">
            <a:r>
              <a:t>https://www.genome.gov/genetics-glossary/Genetic-Engineering</a:t>
            </a:r>
          </a:p>
          <a:p xmlns:a="http://schemas.openxmlformats.org/drawingml/2006/main">
            <a:r>
              <a:t>Checked definition and the distinction between adding, altering and deleting DNA. Checked 8 September 2026.</a:t>
            </a:r>
          </a:p>
          <a:p xmlns:a="http://schemas.openxmlformats.org/drawingml/2006/main">
            <a:r>
              <a:t/>
            </a:r>
          </a:p>
          <a:p xmlns:a="http://schemas.openxmlformats.org/drawingml/2006/main">
            <a:r>
              <a:t>NHGRI: Recombinant DNA Technology</a:t>
            </a:r>
          </a:p>
          <a:p xmlns:a="http://schemas.openxmlformats.org/drawingml/2006/main">
            <a:r>
              <a:t>https://www.genome.gov/genetics-glossary/Recombinant-DNA-Technology</a:t>
            </a:r>
          </a:p>
          <a:p xmlns:a="http://schemas.openxmlformats.org/drawingml/2006/main">
            <a:r>
              <a:t>Checked recombinant DNA and microbial production of useful proteins; used for conceptual explanation only. Checked 8 September 2026.</a:t>
            </a:r>
          </a:p>
          <a:p xmlns:a="http://schemas.openxmlformats.org/drawingml/2006/main">
            <a:r>
              <a:t/>
            </a:r>
          </a:p>
          <a:p xmlns:a="http://schemas.openxmlformats.org/drawingml/2006/main">
            <a:r>
              <a:t>FDA: Science and History of GMOs and Other Food Modification Processes</a:t>
            </a:r>
          </a:p>
          <a:p xmlns:a="http://schemas.openxmlformats.org/drawingml/2006/main">
            <a:r>
              <a:t>https://www.fda.gov/food/agricultural-biotechnology/science-and-history-gmos-and-other-food-modification-processes</a:t>
            </a:r>
          </a:p>
          <a:p xmlns:a="http://schemas.openxmlformats.org/drawingml/2006/main">
            <a:r>
              <a:t>Checked general Bt crop development and the need for testing; no US regulatory claims applied to UK law. Checked 8 September 2026.</a:t>
            </a:r>
          </a:p>
          <a:p xmlns:a="http://schemas.openxmlformats.org/drawingml/2006/main">
            <a:r>
              <a:t/>
            </a:r>
          </a:p>
          <a:p xmlns:a="http://schemas.openxmlformats.org/drawingml/2006/main">
            <a:r>
              <a:t>US EPA: Insect Resistance Management for Bt Plant-Incorporated Protectants</a:t>
            </a:r>
          </a:p>
          <a:p xmlns:a="http://schemas.openxmlformats.org/drawingml/2006/main">
            <a:r>
              <a:t>https://www.epa.gov/regulation-biotechnology-under-tsca-and-fifra/insect-resistance-management-bt-plant-incorporated</a:t>
            </a:r>
          </a:p>
          <a:p xmlns:a="http://schemas.openxmlformats.org/drawingml/2006/main">
            <a:r>
              <a:t>Checked target-insect effects, potential crop benefits and resistance-management mechanisms; no current legal requirements or percentages taught. Checked 8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allocation: 3 minutes.</a:t>
            </a:r>
          </a:p>
          <a:p xmlns:a="http://schemas.openxmlformats.org/drawingml/2006/main">
            <a:r>
              <a:t/>
            </a:r>
          </a:p>
          <a:p xmlns:a="http://schemas.openxmlformats.org/drawingml/2006/main">
            <a:r>
              <a:t>Point across DNA → protein → possible trait. Say: 'This gene carries information used to make a protein. The protein has a biological effect on certain target pests. I should not say the plant becomes a bacterium or kills every insect.' Use only a simplified model; expression depends on the cell and appropriate control information.</a:t>
            </a:r>
          </a:p>
          <a:p xmlns:a="http://schemas.openxmlformats.org/drawingml/2006/main">
            <a:r>
              <a:t/>
            </a:r>
          </a:p>
          <a:p xmlns:a="http://schemas.openxmlformats.org/drawingml/2006/main">
            <a:r>
              <a:t>DIAGRAM DESCRIPTION</a:t>
            </a:r>
          </a:p>
          <a:p xmlns:a="http://schemas.openxmlformats.org/drawingml/2006/main">
            <a:r>
              <a:t>Conceptual gene expression chain: a changed or added functional gene can alter the protein made and therefore a characteristic. It may need appropriate control sequences and cellular conditions; not every DNA change changes phenotype.</a:t>
            </a:r>
          </a:p>
          <a:p xmlns:a="http://schemas.openxmlformats.org/drawingml/2006/main">
            <a:r>
              <a:t/>
            </a:r>
          </a:p>
          <a:p xmlns:a="http://schemas.openxmlformats.org/drawingml/2006/main">
            <a:r>
              <a:t>LESSON REFERENCES</a:t>
            </a:r>
          </a:p>
          <a:p xmlns:a="http://schemas.openxmlformats.org/drawingml/2006/main">
            <a:r>
              <a:t>Pearson Edexcel GCSE Biology 1BI0 specification, Topic 4</a:t>
            </a:r>
          </a:p>
          <a:p xmlns:a="http://schemas.openxmlformats.org/drawingml/2006/main">
            <a:r>
              <a:t>https://qualifications.pearson.com/content/dam/pdf/GCSE/Science/2016/Specification/gcse-biology-spec.pdf</a:t>
            </a:r>
          </a:p>
          <a:p xmlns:a="http://schemas.openxmlformats.org/drawingml/2006/main">
            <a:r>
              <a:t>Used to check GCSE relevance; teacher-authored practice, not an official assessment. Checked 8 September 2026.</a:t>
            </a:r>
          </a:p>
          <a:p xmlns:a="http://schemas.openxmlformats.org/drawingml/2006/main">
            <a:r>
              <a:t/>
            </a:r>
          </a:p>
          <a:p xmlns:a="http://schemas.openxmlformats.org/drawingml/2006/main">
            <a:r>
              <a:t>NHGRI: Genetic Engineering</a:t>
            </a:r>
          </a:p>
          <a:p xmlns:a="http://schemas.openxmlformats.org/drawingml/2006/main">
            <a:r>
              <a:t>https://www.genome.gov/genetics-glossary/Genetic-Engineering</a:t>
            </a:r>
          </a:p>
          <a:p xmlns:a="http://schemas.openxmlformats.org/drawingml/2006/main">
            <a:r>
              <a:t>Checked definition and the distinction between adding, altering and deleting DNA. Checked 8 September 2026.</a:t>
            </a:r>
          </a:p>
          <a:p xmlns:a="http://schemas.openxmlformats.org/drawingml/2006/main">
            <a:r>
              <a:t/>
            </a:r>
          </a:p>
          <a:p xmlns:a="http://schemas.openxmlformats.org/drawingml/2006/main">
            <a:r>
              <a:t>NHGRI: Recombinant DNA Technology</a:t>
            </a:r>
          </a:p>
          <a:p xmlns:a="http://schemas.openxmlformats.org/drawingml/2006/main">
            <a:r>
              <a:t>https://www.genome.gov/genetics-glossary/Recombinant-DNA-Technology</a:t>
            </a:r>
          </a:p>
          <a:p xmlns:a="http://schemas.openxmlformats.org/drawingml/2006/main">
            <a:r>
              <a:t>Checked recombinant DNA and microbial production of useful proteins; used for conceptual explanation only. Checked 8 September 2026.</a:t>
            </a:r>
          </a:p>
          <a:p xmlns:a="http://schemas.openxmlformats.org/drawingml/2006/main">
            <a:r>
              <a:t/>
            </a:r>
          </a:p>
          <a:p xmlns:a="http://schemas.openxmlformats.org/drawingml/2006/main">
            <a:r>
              <a:t>FDA: Science and History of GMOs and Other Food Modification Processes</a:t>
            </a:r>
          </a:p>
          <a:p xmlns:a="http://schemas.openxmlformats.org/drawingml/2006/main">
            <a:r>
              <a:t>https://www.fda.gov/food/agricultural-biotechnology/science-and-history-gmos-and-other-food-modification-processes</a:t>
            </a:r>
          </a:p>
          <a:p xmlns:a="http://schemas.openxmlformats.org/drawingml/2006/main">
            <a:r>
              <a:t>Checked general Bt crop development and the need for testing; no US regulatory claims applied to UK law. Checked 8 September 2026.</a:t>
            </a:r>
          </a:p>
          <a:p xmlns:a="http://schemas.openxmlformats.org/drawingml/2006/main">
            <a:r>
              <a:t/>
            </a:r>
          </a:p>
          <a:p xmlns:a="http://schemas.openxmlformats.org/drawingml/2006/main">
            <a:r>
              <a:t>US EPA: Insect Resistance Management for Bt Plant-Incorporated Protectants</a:t>
            </a:r>
          </a:p>
          <a:p xmlns:a="http://schemas.openxmlformats.org/drawingml/2006/main">
            <a:r>
              <a:t>https://www.epa.gov/regulation-biotechnology-under-tsca-and-fifra/insect-resistance-management-bt-plant-incorporated</a:t>
            </a:r>
          </a:p>
          <a:p xmlns:a="http://schemas.openxmlformats.org/drawingml/2006/main">
            <a:r>
              <a:t>Checked target-insect effects, potential crop benefits and resistance-management mechanisms; no current legal requirements or percentages taught. Checked 8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allocation: 3 minutes.</a:t>
            </a:r>
          </a:p>
          <a:p xmlns:a="http://schemas.openxmlformats.org/drawingml/2006/main">
            <a:r>
              <a:t/>
            </a:r>
          </a:p>
          <a:p xmlns:a="http://schemas.openxmlformats.org/drawingml/2006/main">
            <a:r>
              <a:t>Model the distinction: 'A useful instruction has changed what the cell can produce; it has not supplied a complete human genome. The medicine is a checked protein product.' This is a biological application, not medical guidance. Do not ask who uses insulin or why. Detailed manufacturing steps are outside this lesson.</a:t>
            </a:r>
          </a:p>
          <a:p xmlns:a="http://schemas.openxmlformats.org/drawingml/2006/main">
            <a:r>
              <a:t/>
            </a:r>
          </a:p>
          <a:p xmlns:a="http://schemas.openxmlformats.org/drawingml/2006/main">
            <a:r>
              <a:t>DIAGRAM DESCRIPTION</a:t>
            </a:r>
          </a:p>
          <a:p xmlns:a="http://schemas.openxmlformats.org/drawingml/2006/main">
            <a:r>
              <a:t>Conceptual recombinant insulin production: genetic instructions for human insulin are introduced into suitable microbial cells, which produce protein. The insulin is recovered, purified and checked; patients receive medicine, not the engineered organisms. No laboratory protocol is supplied.</a:t>
            </a:r>
          </a:p>
          <a:p xmlns:a="http://schemas.openxmlformats.org/drawingml/2006/main">
            <a:r>
              <a:t/>
            </a:r>
          </a:p>
          <a:p xmlns:a="http://schemas.openxmlformats.org/drawingml/2006/main">
            <a:r>
              <a:t>LESSON REFERENCES</a:t>
            </a:r>
          </a:p>
          <a:p xmlns:a="http://schemas.openxmlformats.org/drawingml/2006/main">
            <a:r>
              <a:t>Pearson Edexcel GCSE Biology 1BI0 specification, Topic 4</a:t>
            </a:r>
          </a:p>
          <a:p xmlns:a="http://schemas.openxmlformats.org/drawingml/2006/main">
            <a:r>
              <a:t>https://qualifications.pearson.com/content/dam/pdf/GCSE/Science/2016/Specification/gcse-biology-spec.pdf</a:t>
            </a:r>
          </a:p>
          <a:p xmlns:a="http://schemas.openxmlformats.org/drawingml/2006/main">
            <a:r>
              <a:t>Used to check GCSE relevance; teacher-authored practice, not an official assessment. Checked 8 September 2026.</a:t>
            </a:r>
          </a:p>
          <a:p xmlns:a="http://schemas.openxmlformats.org/drawingml/2006/main">
            <a:r>
              <a:t/>
            </a:r>
          </a:p>
          <a:p xmlns:a="http://schemas.openxmlformats.org/drawingml/2006/main">
            <a:r>
              <a:t>NHGRI: Genetic Engineering</a:t>
            </a:r>
          </a:p>
          <a:p xmlns:a="http://schemas.openxmlformats.org/drawingml/2006/main">
            <a:r>
              <a:t>https://www.genome.gov/genetics-glossary/Genetic-Engineering</a:t>
            </a:r>
          </a:p>
          <a:p xmlns:a="http://schemas.openxmlformats.org/drawingml/2006/main">
            <a:r>
              <a:t>Checked definition and the distinction between adding, altering and deleting DNA. Checked 8 September 2026.</a:t>
            </a:r>
          </a:p>
          <a:p xmlns:a="http://schemas.openxmlformats.org/drawingml/2006/main">
            <a:r>
              <a:t/>
            </a:r>
          </a:p>
          <a:p xmlns:a="http://schemas.openxmlformats.org/drawingml/2006/main">
            <a:r>
              <a:t>NHGRI: Recombinant DNA Technology</a:t>
            </a:r>
          </a:p>
          <a:p xmlns:a="http://schemas.openxmlformats.org/drawingml/2006/main">
            <a:r>
              <a:t>https://www.genome.gov/genetics-glossary/Recombinant-DNA-Technology</a:t>
            </a:r>
          </a:p>
          <a:p xmlns:a="http://schemas.openxmlformats.org/drawingml/2006/main">
            <a:r>
              <a:t>Checked recombinant DNA and microbial production of useful proteins; used for conceptual explanation only. Checked 8 September 2026.</a:t>
            </a:r>
          </a:p>
          <a:p xmlns:a="http://schemas.openxmlformats.org/drawingml/2006/main">
            <a:r>
              <a:t/>
            </a:r>
          </a:p>
          <a:p xmlns:a="http://schemas.openxmlformats.org/drawingml/2006/main">
            <a:r>
              <a:t>FDA: Science and History of GMOs and Other Food Modification Processes</a:t>
            </a:r>
          </a:p>
          <a:p xmlns:a="http://schemas.openxmlformats.org/drawingml/2006/main">
            <a:r>
              <a:t>https://www.fda.gov/food/agricultural-biotechnology/science-and-history-gmos-and-other-food-modification-processes</a:t>
            </a:r>
          </a:p>
          <a:p xmlns:a="http://schemas.openxmlformats.org/drawingml/2006/main">
            <a:r>
              <a:t>Checked general Bt crop development and the need for testing; no US regulatory claims applied to UK law. Checked 8 September 2026.</a:t>
            </a:r>
          </a:p>
          <a:p xmlns:a="http://schemas.openxmlformats.org/drawingml/2006/main">
            <a:r>
              <a:t/>
            </a:r>
          </a:p>
          <a:p xmlns:a="http://schemas.openxmlformats.org/drawingml/2006/main">
            <a:r>
              <a:t>US EPA: Insect Resistance Management for Bt Plant-Incorporated Protectants</a:t>
            </a:r>
          </a:p>
          <a:p xmlns:a="http://schemas.openxmlformats.org/drawingml/2006/main">
            <a:r>
              <a:t>https://www.epa.gov/regulation-biotechnology-under-tsca-and-fifra/insect-resistance-management-bt-plant-incorporated</a:t>
            </a:r>
          </a:p>
          <a:p xmlns:a="http://schemas.openxmlformats.org/drawingml/2006/main">
            <a:r>
              <a:t>Checked target-insect effects, potential crop benefits and resistance-management mechanisms; no current legal requirements or percentages taught. Checked 8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Continue within the time allocated to this stage.</a:t>
            </a:r>
          </a:p>
          <a:p xmlns:a="http://schemas.openxmlformats.org/drawingml/2006/main">
            <a:r>
              <a:t/>
            </a:r>
          </a:p>
          <a:p xmlns:a="http://schemas.openxmlformats.org/drawingml/2006/main">
            <a:r>
              <a:t>Shares the preceding 3-minute I do stage. Briefly connect to natural selection: the pesticide protein does not teach insects to resist. Variants that already arise can be selected. Integrated pest-management and refuge strategies can delay resistance but are not a guarantee. This is a mechanism diagram, not observed data.</a:t>
            </a:r>
          </a:p>
          <a:p xmlns:a="http://schemas.openxmlformats.org/drawingml/2006/main">
            <a:r>
              <a:t/>
            </a:r>
          </a:p>
          <a:p xmlns:a="http://schemas.openxmlformats.org/drawingml/2006/main">
            <a:r>
              <a:t>DIAGRAM DESCRIPTION</a:t>
            </a:r>
          </a:p>
          <a:p xmlns:a="http://schemas.openxmlformats.org/drawingml/2006/main">
            <a:r>
              <a:t>A conceptual resistance mechanism across pest generations. The crop kills susceptible pests; rare inherited resistance variants can survive and reproduce, making resistance more common. The diagram shows a mechanism, not numerical data.</a:t>
            </a:r>
          </a:p>
          <a:p xmlns:a="http://schemas.openxmlformats.org/drawingml/2006/main">
            <a:r>
              <a:t/>
            </a:r>
          </a:p>
          <a:p xmlns:a="http://schemas.openxmlformats.org/drawingml/2006/main">
            <a:r>
              <a:t>LESSON REFERENCES</a:t>
            </a:r>
          </a:p>
          <a:p xmlns:a="http://schemas.openxmlformats.org/drawingml/2006/main">
            <a:r>
              <a:t>Pearson Edexcel GCSE Biology 1BI0 specification, Topic 4</a:t>
            </a:r>
          </a:p>
          <a:p xmlns:a="http://schemas.openxmlformats.org/drawingml/2006/main">
            <a:r>
              <a:t>https://qualifications.pearson.com/content/dam/pdf/GCSE/Science/2016/Specification/gcse-biology-spec.pdf</a:t>
            </a:r>
          </a:p>
          <a:p xmlns:a="http://schemas.openxmlformats.org/drawingml/2006/main">
            <a:r>
              <a:t>Used to check GCSE relevance; teacher-authored practice, not an official assessment. Checked 8 September 2026.</a:t>
            </a:r>
          </a:p>
          <a:p xmlns:a="http://schemas.openxmlformats.org/drawingml/2006/main">
            <a:r>
              <a:t/>
            </a:r>
          </a:p>
          <a:p xmlns:a="http://schemas.openxmlformats.org/drawingml/2006/main">
            <a:r>
              <a:t>NHGRI: Genetic Engineering</a:t>
            </a:r>
          </a:p>
          <a:p xmlns:a="http://schemas.openxmlformats.org/drawingml/2006/main">
            <a:r>
              <a:t>https://www.genome.gov/genetics-glossary/Genetic-Engineering</a:t>
            </a:r>
          </a:p>
          <a:p xmlns:a="http://schemas.openxmlformats.org/drawingml/2006/main">
            <a:r>
              <a:t>Checked definition and the distinction between adding, altering and deleting DNA. Checked 8 September 2026.</a:t>
            </a:r>
          </a:p>
          <a:p xmlns:a="http://schemas.openxmlformats.org/drawingml/2006/main">
            <a:r>
              <a:t/>
            </a:r>
          </a:p>
          <a:p xmlns:a="http://schemas.openxmlformats.org/drawingml/2006/main">
            <a:r>
              <a:t>NHGRI: Recombinant DNA Technology</a:t>
            </a:r>
          </a:p>
          <a:p xmlns:a="http://schemas.openxmlformats.org/drawingml/2006/main">
            <a:r>
              <a:t>https://www.genome.gov/genetics-glossary/Recombinant-DNA-Technology</a:t>
            </a:r>
          </a:p>
          <a:p xmlns:a="http://schemas.openxmlformats.org/drawingml/2006/main">
            <a:r>
              <a:t>Checked recombinant DNA and microbial production of useful proteins; used for conceptual explanation only. Checked 8 September 2026.</a:t>
            </a:r>
          </a:p>
          <a:p xmlns:a="http://schemas.openxmlformats.org/drawingml/2006/main">
            <a:r>
              <a:t/>
            </a:r>
          </a:p>
          <a:p xmlns:a="http://schemas.openxmlformats.org/drawingml/2006/main">
            <a:r>
              <a:t>FDA: Science and History of GMOs and Other Food Modification Processes</a:t>
            </a:r>
          </a:p>
          <a:p xmlns:a="http://schemas.openxmlformats.org/drawingml/2006/main">
            <a:r>
              <a:t>https://www.fda.gov/food/agricultural-biotechnology/science-and-history-gmos-and-other-food-modification-processes</a:t>
            </a:r>
          </a:p>
          <a:p xmlns:a="http://schemas.openxmlformats.org/drawingml/2006/main">
            <a:r>
              <a:t>Checked general Bt crop development and the need for testing; no US regulatory claims applied to UK law. Checked 8 September 2026.</a:t>
            </a:r>
          </a:p>
          <a:p xmlns:a="http://schemas.openxmlformats.org/drawingml/2006/main">
            <a:r>
              <a:t/>
            </a:r>
          </a:p>
          <a:p xmlns:a="http://schemas.openxmlformats.org/drawingml/2006/main">
            <a:r>
              <a:t>US EPA: Insect Resistance Management for Bt Plant-Incorporated Protectants</a:t>
            </a:r>
          </a:p>
          <a:p xmlns:a="http://schemas.openxmlformats.org/drawingml/2006/main">
            <a:r>
              <a:t>https://www.epa.gov/regulation-biotechnology-under-tsca-and-fifra/insect-resistance-management-bt-plant-incorporated</a:t>
            </a:r>
          </a:p>
          <a:p xmlns:a="http://schemas.openxmlformats.org/drawingml/2006/main">
            <a:r>
              <a:t>Checked target-insect effects, potential crop benefits and resistance-management mechanisms; no current legal requirements or percentages taught. Checked 8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allocation: 7 minutes.</a:t>
            </a:r>
          </a:p>
          <a:p xmlns:a="http://schemas.openxmlformats.org/drawingml/2006/main">
            <a:r>
              <a:t/>
            </a:r>
          </a:p>
          <a:p xmlns:a="http://schemas.openxmlformats.org/drawingml/2006/main">
            <a:r>
              <a:t>Spend 2 minutes reading the table, 2 minutes group/solo evidence verdict and 3 minutes additional-question selection on next slide. Constructed data show22 fewer damaged plants per100 and1.0 t/ha greater mean yield. A provisional benefit at this site/season is supported. The table does not show the need for fewer sprays, food safety, effects on other species or long-term outcomes. Both groups received no target-insect spray.</a:t>
            </a:r>
          </a:p>
          <a:p xmlns:a="http://schemas.openxmlformats.org/drawingml/2006/main">
            <a:r>
              <a:t/>
            </a:r>
          </a:p>
          <a:p xmlns:a="http://schemas.openxmlformats.org/drawingml/2006/main">
            <a:r>
              <a:t>LESSON REFERENCES</a:t>
            </a:r>
          </a:p>
          <a:p xmlns:a="http://schemas.openxmlformats.org/drawingml/2006/main">
            <a:r>
              <a:t>Pearson Edexcel GCSE Biology 1BI0 specification, Topic 4</a:t>
            </a:r>
          </a:p>
          <a:p xmlns:a="http://schemas.openxmlformats.org/drawingml/2006/main">
            <a:r>
              <a:t>https://qualifications.pearson.com/content/dam/pdf/GCSE/Science/2016/Specification/gcse-biology-spec.pdf</a:t>
            </a:r>
          </a:p>
          <a:p xmlns:a="http://schemas.openxmlformats.org/drawingml/2006/main">
            <a:r>
              <a:t>Used to check GCSE relevance; teacher-authored practice, not an official assessment. Checked 8 September 2026.</a:t>
            </a:r>
          </a:p>
          <a:p xmlns:a="http://schemas.openxmlformats.org/drawingml/2006/main">
            <a:r>
              <a:t/>
            </a:r>
          </a:p>
          <a:p xmlns:a="http://schemas.openxmlformats.org/drawingml/2006/main">
            <a:r>
              <a:t>NHGRI: Genetic Engineering</a:t>
            </a:r>
          </a:p>
          <a:p xmlns:a="http://schemas.openxmlformats.org/drawingml/2006/main">
            <a:r>
              <a:t>https://www.genome.gov/genetics-glossary/Genetic-Engineering</a:t>
            </a:r>
          </a:p>
          <a:p xmlns:a="http://schemas.openxmlformats.org/drawingml/2006/main">
            <a:r>
              <a:t>Checked definition and the distinction between adding, altering and deleting DNA. Checked 8 September 2026.</a:t>
            </a:r>
          </a:p>
          <a:p xmlns:a="http://schemas.openxmlformats.org/drawingml/2006/main">
            <a:r>
              <a:t/>
            </a:r>
          </a:p>
          <a:p xmlns:a="http://schemas.openxmlformats.org/drawingml/2006/main">
            <a:r>
              <a:t>NHGRI: Recombinant DNA Technology</a:t>
            </a:r>
          </a:p>
          <a:p xmlns:a="http://schemas.openxmlformats.org/drawingml/2006/main">
            <a:r>
              <a:t>https://www.genome.gov/genetics-glossary/Recombinant-DNA-Technology</a:t>
            </a:r>
          </a:p>
          <a:p xmlns:a="http://schemas.openxmlformats.org/drawingml/2006/main">
            <a:r>
              <a:t>Checked recombinant DNA and microbial production of useful proteins; used for conceptual explanation only. Checked 8 September 2026.</a:t>
            </a:r>
          </a:p>
          <a:p xmlns:a="http://schemas.openxmlformats.org/drawingml/2006/main">
            <a:r>
              <a:t/>
            </a:r>
          </a:p>
          <a:p xmlns:a="http://schemas.openxmlformats.org/drawingml/2006/main">
            <a:r>
              <a:t>FDA: Science and History of GMOs and Other Food Modification Processes</a:t>
            </a:r>
          </a:p>
          <a:p xmlns:a="http://schemas.openxmlformats.org/drawingml/2006/main">
            <a:r>
              <a:t>https://www.fda.gov/food/agricultural-biotechnology/science-and-history-gmos-and-other-food-modification-processes</a:t>
            </a:r>
          </a:p>
          <a:p xmlns:a="http://schemas.openxmlformats.org/drawingml/2006/main">
            <a:r>
              <a:t>Checked general Bt crop development and the need for testing; no US regulatory claims applied to UK law. Checked 8 September 2026.</a:t>
            </a:r>
          </a:p>
          <a:p xmlns:a="http://schemas.openxmlformats.org/drawingml/2006/main">
            <a:r>
              <a:t/>
            </a:r>
          </a:p>
          <a:p xmlns:a="http://schemas.openxmlformats.org/drawingml/2006/main">
            <a:r>
              <a:t>US EPA: Insect Resistance Management for Bt Plant-Incorporated Protectants</a:t>
            </a:r>
          </a:p>
          <a:p xmlns:a="http://schemas.openxmlformats.org/drawingml/2006/main">
            <a:r>
              <a:t>https://www.epa.gov/regulation-biotechnology-under-tsca-and-fifra/insect-resistance-management-bt-plant-incorporated</a:t>
            </a:r>
          </a:p>
          <a:p xmlns:a="http://schemas.openxmlformats.org/drawingml/2006/main">
            <a:r>
              <a:t>Checked target-insect effects, potential crop benefits and resistance-management mechanisms; no current legal requirements or percentages taught. Checked 8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Continue within the time allocated to this stage.</a:t>
            </a:r>
          </a:p>
          <a:p xmlns:a="http://schemas.openxmlformats.org/drawingml/2006/main">
            <a:r>
              <a:t/>
            </a:r>
          </a:p>
          <a:p xmlns:a="http://schemas.openxmlformats.org/drawingml/2006/main">
            <a:r>
              <a:t>Shares 7-minute We do. Best choices from these four are repeat sites/seasons and resistance monitoring: they address generalisation and loss of efficacy. Crop colour does not answer the stated damage/yield/resistance question unless a new relevant mechanism is proposed; online popularity is not biological evidence. Other real evidence, including non-target effects and crop-specific safety assessment, remains necessary. Pupils can point to two choices and explain quietly.</a:t>
            </a:r>
          </a:p>
          <a:p xmlns:a="http://schemas.openxmlformats.org/drawingml/2006/main">
            <a:r>
              <a:t/>
            </a:r>
          </a:p>
          <a:p xmlns:a="http://schemas.openxmlformats.org/drawingml/2006/main">
            <a:r>
              <a:t>LESSON REFERENCES</a:t>
            </a:r>
          </a:p>
          <a:p xmlns:a="http://schemas.openxmlformats.org/drawingml/2006/main">
            <a:r>
              <a:t>Pearson Edexcel GCSE Biology 1BI0 specification, Topic 4</a:t>
            </a:r>
          </a:p>
          <a:p xmlns:a="http://schemas.openxmlformats.org/drawingml/2006/main">
            <a:r>
              <a:t>https://qualifications.pearson.com/content/dam/pdf/GCSE/Science/2016/Specification/gcse-biology-spec.pdf</a:t>
            </a:r>
          </a:p>
          <a:p xmlns:a="http://schemas.openxmlformats.org/drawingml/2006/main">
            <a:r>
              <a:t>Used to check GCSE relevance; teacher-authored practice, not an official assessment. Checked 8 September 2026.</a:t>
            </a:r>
          </a:p>
          <a:p xmlns:a="http://schemas.openxmlformats.org/drawingml/2006/main">
            <a:r>
              <a:t/>
            </a:r>
          </a:p>
          <a:p xmlns:a="http://schemas.openxmlformats.org/drawingml/2006/main">
            <a:r>
              <a:t>NHGRI: Genetic Engineering</a:t>
            </a:r>
          </a:p>
          <a:p xmlns:a="http://schemas.openxmlformats.org/drawingml/2006/main">
            <a:r>
              <a:t>https://www.genome.gov/genetics-glossary/Genetic-Engineering</a:t>
            </a:r>
          </a:p>
          <a:p xmlns:a="http://schemas.openxmlformats.org/drawingml/2006/main">
            <a:r>
              <a:t>Checked definition and the distinction between adding, altering and deleting DNA. Checked 8 September 2026.</a:t>
            </a:r>
          </a:p>
          <a:p xmlns:a="http://schemas.openxmlformats.org/drawingml/2006/main">
            <a:r>
              <a:t/>
            </a:r>
          </a:p>
          <a:p xmlns:a="http://schemas.openxmlformats.org/drawingml/2006/main">
            <a:r>
              <a:t>NHGRI: Recombinant DNA Technology</a:t>
            </a:r>
          </a:p>
          <a:p xmlns:a="http://schemas.openxmlformats.org/drawingml/2006/main">
            <a:r>
              <a:t>https://www.genome.gov/genetics-glossary/Recombinant-DNA-Technology</a:t>
            </a:r>
          </a:p>
          <a:p xmlns:a="http://schemas.openxmlformats.org/drawingml/2006/main">
            <a:r>
              <a:t>Checked recombinant DNA and microbial production of useful proteins; used for conceptual explanation only. Checked 8 September 2026.</a:t>
            </a:r>
          </a:p>
          <a:p xmlns:a="http://schemas.openxmlformats.org/drawingml/2006/main">
            <a:r>
              <a:t/>
            </a:r>
          </a:p>
          <a:p xmlns:a="http://schemas.openxmlformats.org/drawingml/2006/main">
            <a:r>
              <a:t>FDA: Science and History of GMOs and Other Food Modification Processes</a:t>
            </a:r>
          </a:p>
          <a:p xmlns:a="http://schemas.openxmlformats.org/drawingml/2006/main">
            <a:r>
              <a:t>https://www.fda.gov/food/agricultural-biotechnology/science-and-history-gmos-and-other-food-modification-processes</a:t>
            </a:r>
          </a:p>
          <a:p xmlns:a="http://schemas.openxmlformats.org/drawingml/2006/main">
            <a:r>
              <a:t>Checked general Bt crop development and the need for testing; no US regulatory claims applied to UK law. Checked 8 September 2026.</a:t>
            </a:r>
          </a:p>
          <a:p xmlns:a="http://schemas.openxmlformats.org/drawingml/2006/main">
            <a:r>
              <a:t/>
            </a:r>
          </a:p>
          <a:p xmlns:a="http://schemas.openxmlformats.org/drawingml/2006/main">
            <a:r>
              <a:t>US EPA: Insect Resistance Management for Bt Plant-Incorporated Protectants</a:t>
            </a:r>
          </a:p>
          <a:p xmlns:a="http://schemas.openxmlformats.org/drawingml/2006/main">
            <a:r>
              <a:t>https://www.epa.gov/regulation-biotechnology-under-tsca-and-fifra/insect-resistance-management-bt-plant-incorporated</a:t>
            </a:r>
          </a:p>
          <a:p xmlns:a="http://schemas.openxmlformats.org/drawingml/2006/main">
            <a:r>
              <a:t>Checked target-insect effects, potential crop benefits and resistance-management mechanisms; no current legal requirements or percentages taught. Checked 8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allocation: 3 minutes.</a:t>
            </a:r>
          </a:p>
          <a:p xmlns:a="http://schemas.openxmlformats.org/drawingml/2006/main">
            <a:r>
              <a:t/>
            </a:r>
          </a:p>
          <a:p xmlns:a="http://schemas.openxmlformats.org/drawingml/2006/main">
            <a:r>
              <a:t>Private response before feedback. Reteach A/D by revisiting the three types of DNA change; B by distinguishing gene information from whole-organism identity. C is the secure core definition.</a:t>
            </a:r>
          </a:p>
          <a:p xmlns:a="http://schemas.openxmlformats.org/drawingml/2006/main">
            <a:r>
              <a:t/>
            </a:r>
          </a:p>
          <a:p xmlns:a="http://schemas.openxmlformats.org/drawingml/2006/main">
            <a:r>
              <a:t>A. Engineering always transfers DNA between species.</a:t>
            </a:r>
          </a:p>
          <a:p xmlns:a="http://schemas.openxmlformats.org/drawingml/2006/main">
            <a:r>
              <a:t>Adding another species’ DNA is one method; DNA may also be changed or deleted.</a:t>
            </a:r>
          </a:p>
          <a:p xmlns:a="http://schemas.openxmlformats.org/drawingml/2006/main">
            <a:r>
              <a:t/>
            </a:r>
          </a:p>
          <a:p xmlns:a="http://schemas.openxmlformats.org/drawingml/2006/main">
            <a:r>
              <a:t>B. An insulin-producing bacterium becomes human.</a:t>
            </a:r>
          </a:p>
          <a:p xmlns:a="http://schemas.openxmlformats.org/drawingml/2006/main">
            <a:r>
              <a:t>It remains a bacterium; it can make a useful protein.</a:t>
            </a:r>
          </a:p>
          <a:p xmlns:a="http://schemas.openxmlformats.org/drawingml/2006/main">
            <a:r>
              <a:t/>
            </a:r>
          </a:p>
          <a:p xmlns:a="http://schemas.openxmlformats.org/drawingml/2006/main">
            <a:r>
              <a:t>C. Engineering alters DNA and may introduce a useful characteristic.</a:t>
            </a:r>
          </a:p>
          <a:p xmlns:a="http://schemas.openxmlformats.org/drawingml/2006/main">
            <a:r>
              <a:t>Correct. This describes the method without promising that every change works.</a:t>
            </a:r>
          </a:p>
          <a:p xmlns:a="http://schemas.openxmlformats.org/drawingml/2006/main">
            <a:r>
              <a:t/>
            </a:r>
          </a:p>
          <a:p xmlns:a="http://schemas.openxmlformats.org/drawingml/2006/main">
            <a:r>
              <a:t>D. Engineering guarantees that all offspring are safer.</a:t>
            </a:r>
          </a:p>
          <a:p xmlns:a="http://schemas.openxmlformats.org/drawingml/2006/main">
            <a:r>
              <a:t>No blanket guarantee follows from the method; the actual organism and application require evidence.</a:t>
            </a:r>
          </a:p>
          <a:p xmlns:a="http://schemas.openxmlformats.org/drawingml/2006/main">
            <a:r>
              <a:t/>
            </a:r>
          </a:p>
          <a:p xmlns:a="http://schemas.openxmlformats.org/drawingml/2006/main">
            <a:r>
              <a:t>LESSON REFERENCES</a:t>
            </a:r>
          </a:p>
          <a:p xmlns:a="http://schemas.openxmlformats.org/drawingml/2006/main">
            <a:r>
              <a:t>Pearson Edexcel GCSE Biology 1BI0 specification, Topic 4</a:t>
            </a:r>
          </a:p>
          <a:p xmlns:a="http://schemas.openxmlformats.org/drawingml/2006/main">
            <a:r>
              <a:t>https://qualifications.pearson.com/content/dam/pdf/GCSE/Science/2016/Specification/gcse-biology-spec.pdf</a:t>
            </a:r>
          </a:p>
          <a:p xmlns:a="http://schemas.openxmlformats.org/drawingml/2006/main">
            <a:r>
              <a:t>Used to check GCSE relevance; teacher-authored practice, not an official assessment. Checked 8 September 2026.</a:t>
            </a:r>
          </a:p>
          <a:p xmlns:a="http://schemas.openxmlformats.org/drawingml/2006/main">
            <a:r>
              <a:t/>
            </a:r>
          </a:p>
          <a:p xmlns:a="http://schemas.openxmlformats.org/drawingml/2006/main">
            <a:r>
              <a:t>NHGRI: Genetic Engineering</a:t>
            </a:r>
          </a:p>
          <a:p xmlns:a="http://schemas.openxmlformats.org/drawingml/2006/main">
            <a:r>
              <a:t>https://www.genome.gov/genetics-glossary/Genetic-Engineering</a:t>
            </a:r>
          </a:p>
          <a:p xmlns:a="http://schemas.openxmlformats.org/drawingml/2006/main">
            <a:r>
              <a:t>Checked definition and the distinction between adding, altering and deleting DNA. Checked 8 September 2026.</a:t>
            </a:r>
          </a:p>
          <a:p xmlns:a="http://schemas.openxmlformats.org/drawingml/2006/main">
            <a:r>
              <a:t/>
            </a:r>
          </a:p>
          <a:p xmlns:a="http://schemas.openxmlformats.org/drawingml/2006/main">
            <a:r>
              <a:t>NHGRI: Recombinant DNA Technology</a:t>
            </a:r>
          </a:p>
          <a:p xmlns:a="http://schemas.openxmlformats.org/drawingml/2006/main">
            <a:r>
              <a:t>https://www.genome.gov/genetics-glossary/Recombinant-DNA-Technology</a:t>
            </a:r>
          </a:p>
          <a:p xmlns:a="http://schemas.openxmlformats.org/drawingml/2006/main">
            <a:r>
              <a:t>Checked recombinant DNA and microbial production of useful proteins; used for conceptual explanation only. Checked 8 September 2026.</a:t>
            </a:r>
          </a:p>
          <a:p xmlns:a="http://schemas.openxmlformats.org/drawingml/2006/main">
            <a:r>
              <a:t/>
            </a:r>
          </a:p>
          <a:p xmlns:a="http://schemas.openxmlformats.org/drawingml/2006/main">
            <a:r>
              <a:t>FDA: Science and History of GMOs and Other Food Modification Processes</a:t>
            </a:r>
          </a:p>
          <a:p xmlns:a="http://schemas.openxmlformats.org/drawingml/2006/main">
            <a:r>
              <a:t>https://www.fda.gov/food/agricultural-biotechnology/science-and-history-gmos-and-other-food-modification-processes</a:t>
            </a:r>
          </a:p>
          <a:p xmlns:a="http://schemas.openxmlformats.org/drawingml/2006/main">
            <a:r>
              <a:t>Checked general Bt crop development and the need for testing; no US regulatory claims applied to UK law. Checked 8 September 2026.</a:t>
            </a:r>
          </a:p>
          <a:p xmlns:a="http://schemas.openxmlformats.org/drawingml/2006/main">
            <a:r>
              <a:t/>
            </a:r>
          </a:p>
          <a:p xmlns:a="http://schemas.openxmlformats.org/drawingml/2006/main">
            <a:r>
              <a:t>US EPA: Insect Resistance Management for Bt Plant-Incorporated Protectants</a:t>
            </a:r>
          </a:p>
          <a:p xmlns:a="http://schemas.openxmlformats.org/drawingml/2006/main">
            <a:r>
              <a:t>https://www.epa.gov/regulation-biotechnology-under-tsca-and-fifra/insect-resistance-management-bt-plant-incorporated</a:t>
            </a:r>
          </a:p>
          <a:p xmlns:a="http://schemas.openxmlformats.org/drawingml/2006/main">
            <a:r>
              <a:t>Checked target-insect effects, potential crop benefits and resistance-management mechanisms; no current legal requirements or percentages taught. Checked 8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allocation: 11 minutes.</a:t>
            </a:r>
          </a:p>
          <a:p xmlns:a="http://schemas.openxmlformats.org/drawingml/2006/main">
            <a:r>
              <a:t/>
            </a:r>
          </a:p>
          <a:p xmlns:a="http://schemas.openxmlformats.org/drawingml/2006/main">
            <a:r>
              <a:t>Independent product: a grower should understand what has been engineered, what this evidence supports and what remains to investigate. Choose Supported/Standard/Stretch, not all three. At minute4 ask pupils to separate a measured benefit from a predicted risk; at minute8 check their next step is specific.</a:t>
            </a:r>
          </a:p>
          <a:p xmlns:a="http://schemas.openxmlformats.org/drawingml/2006/main">
            <a:r>
              <a:t/>
            </a:r>
          </a:p>
          <a:p xmlns:a="http://schemas.openxmlformats.org/drawingml/2006/main">
            <a:r>
              <a:t>LESSON REFERENCES</a:t>
            </a:r>
          </a:p>
          <a:p xmlns:a="http://schemas.openxmlformats.org/drawingml/2006/main">
            <a:r>
              <a:t>Pearson Edexcel GCSE Biology 1BI0 specification, Topic 4</a:t>
            </a:r>
          </a:p>
          <a:p xmlns:a="http://schemas.openxmlformats.org/drawingml/2006/main">
            <a:r>
              <a:t>https://qualifications.pearson.com/content/dam/pdf/GCSE/Science/2016/Specification/gcse-biology-spec.pdf</a:t>
            </a:r>
          </a:p>
          <a:p xmlns:a="http://schemas.openxmlformats.org/drawingml/2006/main">
            <a:r>
              <a:t>Used to check GCSE relevance; teacher-authored practice, not an official assessment. Checked 8 September 2026.</a:t>
            </a:r>
          </a:p>
          <a:p xmlns:a="http://schemas.openxmlformats.org/drawingml/2006/main">
            <a:r>
              <a:t/>
            </a:r>
          </a:p>
          <a:p xmlns:a="http://schemas.openxmlformats.org/drawingml/2006/main">
            <a:r>
              <a:t>NHGRI: Genetic Engineering</a:t>
            </a:r>
          </a:p>
          <a:p xmlns:a="http://schemas.openxmlformats.org/drawingml/2006/main">
            <a:r>
              <a:t>https://www.genome.gov/genetics-glossary/Genetic-Engineering</a:t>
            </a:r>
          </a:p>
          <a:p xmlns:a="http://schemas.openxmlformats.org/drawingml/2006/main">
            <a:r>
              <a:t>Checked definition and the distinction between adding, altering and deleting DNA. Checked 8 September 2026.</a:t>
            </a:r>
          </a:p>
          <a:p xmlns:a="http://schemas.openxmlformats.org/drawingml/2006/main">
            <a:r>
              <a:t/>
            </a:r>
          </a:p>
          <a:p xmlns:a="http://schemas.openxmlformats.org/drawingml/2006/main">
            <a:r>
              <a:t>NHGRI: Recombinant DNA Technology</a:t>
            </a:r>
          </a:p>
          <a:p xmlns:a="http://schemas.openxmlformats.org/drawingml/2006/main">
            <a:r>
              <a:t>https://www.genome.gov/genetics-glossary/Recombinant-DNA-Technology</a:t>
            </a:r>
          </a:p>
          <a:p xmlns:a="http://schemas.openxmlformats.org/drawingml/2006/main">
            <a:r>
              <a:t>Checked recombinant DNA and microbial production of useful proteins; used for conceptual explanation only. Checked 8 September 2026.</a:t>
            </a:r>
          </a:p>
          <a:p xmlns:a="http://schemas.openxmlformats.org/drawingml/2006/main">
            <a:r>
              <a:t/>
            </a:r>
          </a:p>
          <a:p xmlns:a="http://schemas.openxmlformats.org/drawingml/2006/main">
            <a:r>
              <a:t>FDA: Science and History of GMOs and Other Food Modification Processes</a:t>
            </a:r>
          </a:p>
          <a:p xmlns:a="http://schemas.openxmlformats.org/drawingml/2006/main">
            <a:r>
              <a:t>https://www.fda.gov/food/agricultural-biotechnology/science-and-history-gmos-and-other-food-modification-processes</a:t>
            </a:r>
          </a:p>
          <a:p xmlns:a="http://schemas.openxmlformats.org/drawingml/2006/main">
            <a:r>
              <a:t>Checked general Bt crop development and the need for testing; no US regulatory claims applied to UK law. Checked 8 September 2026.</a:t>
            </a:r>
          </a:p>
          <a:p xmlns:a="http://schemas.openxmlformats.org/drawingml/2006/main">
            <a:r>
              <a:t/>
            </a:r>
          </a:p>
          <a:p xmlns:a="http://schemas.openxmlformats.org/drawingml/2006/main">
            <a:r>
              <a:t>US EPA: Insect Resistance Management for Bt Plant-Incorporated Protectants</a:t>
            </a:r>
          </a:p>
          <a:p xmlns:a="http://schemas.openxmlformats.org/drawingml/2006/main">
            <a:r>
              <a:t>https://www.epa.gov/regulation-biotechnology-under-tsca-and-fifra/insect-resistance-management-bt-plant-incorporated</a:t>
            </a:r>
          </a:p>
          <a:p xmlns:a="http://schemas.openxmlformats.org/drawingml/2006/main">
            <a:r>
              <a:t>Checked target-insect effects, potential crop benefits and resistance-management mechanisms; no current legal requirements or percentages taught. Checked 8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Continue within the time allocated to this stage.</a:t>
            </a:r>
          </a:p>
          <a:p xmlns:a="http://schemas.openxmlformats.org/drawingml/2006/main">
            <a:r>
              <a:t/>
            </a:r>
          </a:p>
          <a:p xmlns:a="http://schemas.openxmlformats.org/drawingml/2006/main">
            <a:r>
              <a:t>Shares 11-minute independent stage. Reasoned recommendations can differ. Strong evidence supports continuing carefully controlled testing; simply asserting all GM is good/bad is insufficient. A supported oral response can meet all core success criteria.</a:t>
            </a:r>
          </a:p>
          <a:p xmlns:a="http://schemas.openxmlformats.org/drawingml/2006/main">
            <a:r>
              <a:t/>
            </a:r>
          </a:p>
          <a:p xmlns:a="http://schemas.openxmlformats.org/drawingml/2006/main">
            <a:r>
              <a:t>LESSON REFERENCES</a:t>
            </a:r>
          </a:p>
          <a:p xmlns:a="http://schemas.openxmlformats.org/drawingml/2006/main">
            <a:r>
              <a:t>Pearson Edexcel GCSE Biology 1BI0 specification, Topic 4</a:t>
            </a:r>
          </a:p>
          <a:p xmlns:a="http://schemas.openxmlformats.org/drawingml/2006/main">
            <a:r>
              <a:t>https://qualifications.pearson.com/content/dam/pdf/GCSE/Science/2016/Specification/gcse-biology-spec.pdf</a:t>
            </a:r>
          </a:p>
          <a:p xmlns:a="http://schemas.openxmlformats.org/drawingml/2006/main">
            <a:r>
              <a:t>Used to check GCSE relevance; teacher-authored practice, not an official assessment. Checked 8 September 2026.</a:t>
            </a:r>
          </a:p>
          <a:p xmlns:a="http://schemas.openxmlformats.org/drawingml/2006/main">
            <a:r>
              <a:t/>
            </a:r>
          </a:p>
          <a:p xmlns:a="http://schemas.openxmlformats.org/drawingml/2006/main">
            <a:r>
              <a:t>NHGRI: Genetic Engineering</a:t>
            </a:r>
          </a:p>
          <a:p xmlns:a="http://schemas.openxmlformats.org/drawingml/2006/main">
            <a:r>
              <a:t>https://www.genome.gov/genetics-glossary/Genetic-Engineering</a:t>
            </a:r>
          </a:p>
          <a:p xmlns:a="http://schemas.openxmlformats.org/drawingml/2006/main">
            <a:r>
              <a:t>Checked definition and the distinction between adding, altering and deleting DNA. Checked 8 September 2026.</a:t>
            </a:r>
          </a:p>
          <a:p xmlns:a="http://schemas.openxmlformats.org/drawingml/2006/main">
            <a:r>
              <a:t/>
            </a:r>
          </a:p>
          <a:p xmlns:a="http://schemas.openxmlformats.org/drawingml/2006/main">
            <a:r>
              <a:t>NHGRI: Recombinant DNA Technology</a:t>
            </a:r>
          </a:p>
          <a:p xmlns:a="http://schemas.openxmlformats.org/drawingml/2006/main">
            <a:r>
              <a:t>https://www.genome.gov/genetics-glossary/Recombinant-DNA-Technology</a:t>
            </a:r>
          </a:p>
          <a:p xmlns:a="http://schemas.openxmlformats.org/drawingml/2006/main">
            <a:r>
              <a:t>Checked recombinant DNA and microbial production of useful proteins; used for conceptual explanation only. Checked 8 September 2026.</a:t>
            </a:r>
          </a:p>
          <a:p xmlns:a="http://schemas.openxmlformats.org/drawingml/2006/main">
            <a:r>
              <a:t/>
            </a:r>
          </a:p>
          <a:p xmlns:a="http://schemas.openxmlformats.org/drawingml/2006/main">
            <a:r>
              <a:t>FDA: Science and History of GMOs and Other Food Modification Processes</a:t>
            </a:r>
          </a:p>
          <a:p xmlns:a="http://schemas.openxmlformats.org/drawingml/2006/main">
            <a:r>
              <a:t>https://www.fda.gov/food/agricultural-biotechnology/science-and-history-gmos-and-other-food-modification-processes</a:t>
            </a:r>
          </a:p>
          <a:p xmlns:a="http://schemas.openxmlformats.org/drawingml/2006/main">
            <a:r>
              <a:t>Checked general Bt crop development and the need for testing; no US regulatory claims applied to UK law. Checked 8 September 2026.</a:t>
            </a:r>
          </a:p>
          <a:p xmlns:a="http://schemas.openxmlformats.org/drawingml/2006/main">
            <a:r>
              <a:t/>
            </a:r>
          </a:p>
          <a:p xmlns:a="http://schemas.openxmlformats.org/drawingml/2006/main">
            <a:r>
              <a:t>US EPA: Insect Resistance Management for Bt Plant-Incorporated Protectants</a:t>
            </a:r>
          </a:p>
          <a:p xmlns:a="http://schemas.openxmlformats.org/drawingml/2006/main">
            <a:r>
              <a:t>https://www.epa.gov/regulation-biotechnology-under-tsca-and-fifra/insect-resistance-management-bt-plant-incorporated</a:t>
            </a:r>
          </a:p>
          <a:p xmlns:a="http://schemas.openxmlformats.org/drawingml/2006/main">
            <a:r>
              <a:t>Checked target-insect effects, potential crop benefits and resistance-management mechanisms; no current legal requirements or percentages taught. Checked 8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Continue within the time allocated to this stage.</a:t>
            </a:r>
          </a:p>
          <a:p xmlns:a="http://schemas.openxmlformats.org/drawingml/2006/main">
            <a:r>
              <a:t/>
            </a:r>
          </a:p>
          <a:p xmlns:a="http://schemas.openxmlformats.org/drawingml/2006/main">
            <a:r>
              <a:t>Shares independent stage; do not teach this to all pupils or use it as a Foundation gate. The Stretch page supplies a conceptual explanation of a classical recombinant-DNA method including complementary sticky ends, not a lab protocol. Other engineering methods exist.</a:t>
            </a:r>
          </a:p>
          <a:p xmlns:a="http://schemas.openxmlformats.org/drawingml/2006/main">
            <a:r>
              <a:t/>
            </a:r>
          </a:p>
          <a:p xmlns:a="http://schemas.openxmlformats.org/drawingml/2006/main">
            <a:r>
              <a:t>LESSON REFERENCES</a:t>
            </a:r>
          </a:p>
          <a:p xmlns:a="http://schemas.openxmlformats.org/drawingml/2006/main">
            <a:r>
              <a:t>Pearson Edexcel GCSE Biology 1BI0 specification, Topic 4</a:t>
            </a:r>
          </a:p>
          <a:p xmlns:a="http://schemas.openxmlformats.org/drawingml/2006/main">
            <a:r>
              <a:t>https://qualifications.pearson.com/content/dam/pdf/GCSE/Science/2016/Specification/gcse-biology-spec.pdf</a:t>
            </a:r>
          </a:p>
          <a:p xmlns:a="http://schemas.openxmlformats.org/drawingml/2006/main">
            <a:r>
              <a:t>Used to check GCSE relevance; teacher-authored practice, not an official assessment. Checked 8 September 2026.</a:t>
            </a:r>
          </a:p>
          <a:p xmlns:a="http://schemas.openxmlformats.org/drawingml/2006/main">
            <a:r>
              <a:t/>
            </a:r>
          </a:p>
          <a:p xmlns:a="http://schemas.openxmlformats.org/drawingml/2006/main">
            <a:r>
              <a:t>NHGRI: Genetic Engineering</a:t>
            </a:r>
          </a:p>
          <a:p xmlns:a="http://schemas.openxmlformats.org/drawingml/2006/main">
            <a:r>
              <a:t>https://www.genome.gov/genetics-glossary/Genetic-Engineering</a:t>
            </a:r>
          </a:p>
          <a:p xmlns:a="http://schemas.openxmlformats.org/drawingml/2006/main">
            <a:r>
              <a:t>Checked definition and the distinction between adding, altering and deleting DNA. Checked 8 September 2026.</a:t>
            </a:r>
          </a:p>
          <a:p xmlns:a="http://schemas.openxmlformats.org/drawingml/2006/main">
            <a:r>
              <a:t/>
            </a:r>
          </a:p>
          <a:p xmlns:a="http://schemas.openxmlformats.org/drawingml/2006/main">
            <a:r>
              <a:t>NHGRI: Recombinant DNA Technology</a:t>
            </a:r>
          </a:p>
          <a:p xmlns:a="http://schemas.openxmlformats.org/drawingml/2006/main">
            <a:r>
              <a:t>https://www.genome.gov/genetics-glossary/Recombinant-DNA-Technology</a:t>
            </a:r>
          </a:p>
          <a:p xmlns:a="http://schemas.openxmlformats.org/drawingml/2006/main">
            <a:r>
              <a:t>Checked recombinant DNA and microbial production of useful proteins; used for conceptual explanation only. Checked 8 September 2026.</a:t>
            </a:r>
          </a:p>
          <a:p xmlns:a="http://schemas.openxmlformats.org/drawingml/2006/main">
            <a:r>
              <a:t/>
            </a:r>
          </a:p>
          <a:p xmlns:a="http://schemas.openxmlformats.org/drawingml/2006/main">
            <a:r>
              <a:t>FDA: Science and History of GMOs and Other Food Modification Processes</a:t>
            </a:r>
          </a:p>
          <a:p xmlns:a="http://schemas.openxmlformats.org/drawingml/2006/main">
            <a:r>
              <a:t>https://www.fda.gov/food/agricultural-biotechnology/science-and-history-gmos-and-other-food-modification-processes</a:t>
            </a:r>
          </a:p>
          <a:p xmlns:a="http://schemas.openxmlformats.org/drawingml/2006/main">
            <a:r>
              <a:t>Checked general Bt crop development and the need for testing; no US regulatory claims applied to UK law. Checked 8 September 2026.</a:t>
            </a:r>
          </a:p>
          <a:p xmlns:a="http://schemas.openxmlformats.org/drawingml/2006/main">
            <a:r>
              <a:t/>
            </a:r>
          </a:p>
          <a:p xmlns:a="http://schemas.openxmlformats.org/drawingml/2006/main">
            <a:r>
              <a:t>US EPA: Insect Resistance Management for Bt Plant-Incorporated Protectants</a:t>
            </a:r>
          </a:p>
          <a:p xmlns:a="http://schemas.openxmlformats.org/drawingml/2006/main">
            <a:r>
              <a:t>https://www.epa.gov/regulation-biotechnology-under-tsca-and-fifra/insect-resistance-management-bt-plant-incorporated</a:t>
            </a:r>
          </a:p>
          <a:p xmlns:a="http://schemas.openxmlformats.org/drawingml/2006/main">
            <a:r>
              <a:t>Checked target-insect effects, potential crop benefits and resistance-management mechanisms; no current legal requirements or percentages taught. Checked 8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allocation: 3 minutes.</a:t>
            </a:r>
          </a:p>
          <a:p xmlns:a="http://schemas.openxmlformats.org/drawingml/2006/main">
            <a:r>
              <a:t/>
            </a:r>
          </a:p>
          <a:p xmlns:a="http://schemas.openxmlformats.org/drawingml/2006/main">
            <a:r>
              <a:t>Light Lundy loop: pupils choose written/oral/annotated response and an audience; the teacher responds to one practical suggested check and records a class next question for Week4. Avoid framing a pupil’s preference as a scientific fact.</a:t>
            </a:r>
          </a:p>
          <a:p xmlns:a="http://schemas.openxmlformats.org/drawingml/2006/main">
            <a:r>
              <a:t/>
            </a:r>
          </a:p>
          <a:p xmlns:a="http://schemas.openxmlformats.org/drawingml/2006/main">
            <a:r>
              <a:t>LESSON REFERENCES</a:t>
            </a:r>
          </a:p>
          <a:p xmlns:a="http://schemas.openxmlformats.org/drawingml/2006/main">
            <a:r>
              <a:t>Pearson Edexcel GCSE Biology 1BI0 specification, Topic 4</a:t>
            </a:r>
          </a:p>
          <a:p xmlns:a="http://schemas.openxmlformats.org/drawingml/2006/main">
            <a:r>
              <a:t>https://qualifications.pearson.com/content/dam/pdf/GCSE/Science/2016/Specification/gcse-biology-spec.pdf</a:t>
            </a:r>
          </a:p>
          <a:p xmlns:a="http://schemas.openxmlformats.org/drawingml/2006/main">
            <a:r>
              <a:t>Used to check GCSE relevance; teacher-authored practice, not an official assessment. Checked 8 September 2026.</a:t>
            </a:r>
          </a:p>
          <a:p xmlns:a="http://schemas.openxmlformats.org/drawingml/2006/main">
            <a:r>
              <a:t/>
            </a:r>
          </a:p>
          <a:p xmlns:a="http://schemas.openxmlformats.org/drawingml/2006/main">
            <a:r>
              <a:t>NHGRI: Genetic Engineering</a:t>
            </a:r>
          </a:p>
          <a:p xmlns:a="http://schemas.openxmlformats.org/drawingml/2006/main">
            <a:r>
              <a:t>https://www.genome.gov/genetics-glossary/Genetic-Engineering</a:t>
            </a:r>
          </a:p>
          <a:p xmlns:a="http://schemas.openxmlformats.org/drawingml/2006/main">
            <a:r>
              <a:t>Checked definition and the distinction between adding, altering and deleting DNA. Checked 8 September 2026.</a:t>
            </a:r>
          </a:p>
          <a:p xmlns:a="http://schemas.openxmlformats.org/drawingml/2006/main">
            <a:r>
              <a:t/>
            </a:r>
          </a:p>
          <a:p xmlns:a="http://schemas.openxmlformats.org/drawingml/2006/main">
            <a:r>
              <a:t>NHGRI: Recombinant DNA Technology</a:t>
            </a:r>
          </a:p>
          <a:p xmlns:a="http://schemas.openxmlformats.org/drawingml/2006/main">
            <a:r>
              <a:t>https://www.genome.gov/genetics-glossary/Recombinant-DNA-Technology</a:t>
            </a:r>
          </a:p>
          <a:p xmlns:a="http://schemas.openxmlformats.org/drawingml/2006/main">
            <a:r>
              <a:t>Checked recombinant DNA and microbial production of useful proteins; used for conceptual explanation only. Checked 8 September 2026.</a:t>
            </a:r>
          </a:p>
          <a:p xmlns:a="http://schemas.openxmlformats.org/drawingml/2006/main">
            <a:r>
              <a:t/>
            </a:r>
          </a:p>
          <a:p xmlns:a="http://schemas.openxmlformats.org/drawingml/2006/main">
            <a:r>
              <a:t>FDA: Science and History of GMOs and Other Food Modification Processes</a:t>
            </a:r>
          </a:p>
          <a:p xmlns:a="http://schemas.openxmlformats.org/drawingml/2006/main">
            <a:r>
              <a:t>https://www.fda.gov/food/agricultural-biotechnology/science-and-history-gmos-and-other-food-modification-processes</a:t>
            </a:r>
          </a:p>
          <a:p xmlns:a="http://schemas.openxmlformats.org/drawingml/2006/main">
            <a:r>
              <a:t>Checked general Bt crop development and the need for testing; no US regulatory claims applied to UK law. Checked 8 September 2026.</a:t>
            </a:r>
          </a:p>
          <a:p xmlns:a="http://schemas.openxmlformats.org/drawingml/2006/main">
            <a:r>
              <a:t/>
            </a:r>
          </a:p>
          <a:p xmlns:a="http://schemas.openxmlformats.org/drawingml/2006/main">
            <a:r>
              <a:t>US EPA: Insect Resistance Management for Bt Plant-Incorporated Protectants</a:t>
            </a:r>
          </a:p>
          <a:p xmlns:a="http://schemas.openxmlformats.org/drawingml/2006/main">
            <a:r>
              <a:t>https://www.epa.gov/regulation-biotechnology-under-tsca-and-fifra/insect-resistance-management-bt-plant-incorporated</a:t>
            </a:r>
          </a:p>
          <a:p xmlns:a="http://schemas.openxmlformats.org/drawingml/2006/main">
            <a:r>
              <a:t>Checked target-insect effects, potential crop benefits and resistance-management mechanisms; no current legal requirements or percentages taught. Checked 8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Continue within the time allocated to this stage.</a:t>
            </a:r>
          </a:p>
          <a:p xmlns:a="http://schemas.openxmlformats.org/drawingml/2006/main">
            <a:r>
              <a:t/>
            </a:r>
          </a:p>
          <a:p xmlns:a="http://schemas.openxmlformats.org/drawingml/2006/main">
            <a:r>
              <a:t>Shares the3-minute review. This is a bridge to the SoW Week4 research/digital-slideshow evaluation, not its replacement. Record a question pupils can later research using checked sources, such as effectiveness in another climate or effects on non-target organisms.</a:t>
            </a:r>
          </a:p>
          <a:p xmlns:a="http://schemas.openxmlformats.org/drawingml/2006/main">
            <a:r>
              <a:t/>
            </a:r>
          </a:p>
          <a:p xmlns:a="http://schemas.openxmlformats.org/drawingml/2006/main">
            <a:r>
              <a:t>LESSON REFERENCES</a:t>
            </a:r>
          </a:p>
          <a:p xmlns:a="http://schemas.openxmlformats.org/drawingml/2006/main">
            <a:r>
              <a:t>Pearson Edexcel GCSE Biology 1BI0 specification, Topic 4</a:t>
            </a:r>
          </a:p>
          <a:p xmlns:a="http://schemas.openxmlformats.org/drawingml/2006/main">
            <a:r>
              <a:t>https://qualifications.pearson.com/content/dam/pdf/GCSE/Science/2016/Specification/gcse-biology-spec.pdf</a:t>
            </a:r>
          </a:p>
          <a:p xmlns:a="http://schemas.openxmlformats.org/drawingml/2006/main">
            <a:r>
              <a:t>Used to check GCSE relevance; teacher-authored practice, not an official assessment. Checked 8 September 2026.</a:t>
            </a:r>
          </a:p>
          <a:p xmlns:a="http://schemas.openxmlformats.org/drawingml/2006/main">
            <a:r>
              <a:t/>
            </a:r>
          </a:p>
          <a:p xmlns:a="http://schemas.openxmlformats.org/drawingml/2006/main">
            <a:r>
              <a:t>NHGRI: Genetic Engineering</a:t>
            </a:r>
          </a:p>
          <a:p xmlns:a="http://schemas.openxmlformats.org/drawingml/2006/main">
            <a:r>
              <a:t>https://www.genome.gov/genetics-glossary/Genetic-Engineering</a:t>
            </a:r>
          </a:p>
          <a:p xmlns:a="http://schemas.openxmlformats.org/drawingml/2006/main">
            <a:r>
              <a:t>Checked definition and the distinction between adding, altering and deleting DNA. Checked 8 September 2026.</a:t>
            </a:r>
          </a:p>
          <a:p xmlns:a="http://schemas.openxmlformats.org/drawingml/2006/main">
            <a:r>
              <a:t/>
            </a:r>
          </a:p>
          <a:p xmlns:a="http://schemas.openxmlformats.org/drawingml/2006/main">
            <a:r>
              <a:t>NHGRI: Recombinant DNA Technology</a:t>
            </a:r>
          </a:p>
          <a:p xmlns:a="http://schemas.openxmlformats.org/drawingml/2006/main">
            <a:r>
              <a:t>https://www.genome.gov/genetics-glossary/Recombinant-DNA-Technology</a:t>
            </a:r>
          </a:p>
          <a:p xmlns:a="http://schemas.openxmlformats.org/drawingml/2006/main">
            <a:r>
              <a:t>Checked recombinant DNA and microbial production of useful proteins; used for conceptual explanation only. Checked 8 September 2026.</a:t>
            </a:r>
          </a:p>
          <a:p xmlns:a="http://schemas.openxmlformats.org/drawingml/2006/main">
            <a:r>
              <a:t/>
            </a:r>
          </a:p>
          <a:p xmlns:a="http://schemas.openxmlformats.org/drawingml/2006/main">
            <a:r>
              <a:t>FDA: Science and History of GMOs and Other Food Modification Processes</a:t>
            </a:r>
          </a:p>
          <a:p xmlns:a="http://schemas.openxmlformats.org/drawingml/2006/main">
            <a:r>
              <a:t>https://www.fda.gov/food/agricultural-biotechnology/science-and-history-gmos-and-other-food-modification-processes</a:t>
            </a:r>
          </a:p>
          <a:p xmlns:a="http://schemas.openxmlformats.org/drawingml/2006/main">
            <a:r>
              <a:t>Checked general Bt crop development and the need for testing; no US regulatory claims applied to UK law. Checked 8 September 2026.</a:t>
            </a:r>
          </a:p>
          <a:p xmlns:a="http://schemas.openxmlformats.org/drawingml/2006/main">
            <a:r>
              <a:t/>
            </a:r>
          </a:p>
          <a:p xmlns:a="http://schemas.openxmlformats.org/drawingml/2006/main">
            <a:r>
              <a:t>US EPA: Insect Resistance Management for Bt Plant-Incorporated Protectants</a:t>
            </a:r>
          </a:p>
          <a:p xmlns:a="http://schemas.openxmlformats.org/drawingml/2006/main">
            <a:r>
              <a:t>https://www.epa.gov/regulation-biotechnology-under-tsca-and-fifra/insect-resistance-management-bt-plant-incorporated</a:t>
            </a:r>
          </a:p>
          <a:p xmlns:a="http://schemas.openxmlformats.org/drawingml/2006/main">
            <a:r>
              <a:t>Checked target-insect effects, potential crop benefits and resistance-management mechanisms; no current legal requirements or percentages taught. Checked 8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allocation: 1 minutes.</a:t>
            </a:r>
          </a:p>
          <a:p xmlns:a="http://schemas.openxmlformats.org/drawingml/2006/main">
            <a:r>
              <a:t/>
            </a:r>
          </a:p>
          <a:p xmlns:a="http://schemas.openxmlformats.org/drawingml/2006/main">
            <a:r>
              <a:t>E1 direct alteration of DNA/genome by laboratory technology. E2 fewer damaged plants30→8 per100 or higher mean yield6.9→7.9 t/ha in this constructed trial. E3 resistance may spread; monitor resistant pests/efficacy over generations. Accept other specific plausible risks paired with relevant tests, not ungrounded certainty.</a:t>
            </a:r>
          </a:p>
          <a:p xmlns:a="http://schemas.openxmlformats.org/drawingml/2006/main">
            <a:r>
              <a:t/>
            </a:r>
          </a:p>
          <a:p xmlns:a="http://schemas.openxmlformats.org/drawingml/2006/main">
            <a:r>
              <a:t>LESSON REFERENCES</a:t>
            </a:r>
          </a:p>
          <a:p xmlns:a="http://schemas.openxmlformats.org/drawingml/2006/main">
            <a:r>
              <a:t>Pearson Edexcel GCSE Biology 1BI0 specification, Topic 4</a:t>
            </a:r>
          </a:p>
          <a:p xmlns:a="http://schemas.openxmlformats.org/drawingml/2006/main">
            <a:r>
              <a:t>https://qualifications.pearson.com/content/dam/pdf/GCSE/Science/2016/Specification/gcse-biology-spec.pdf</a:t>
            </a:r>
          </a:p>
          <a:p xmlns:a="http://schemas.openxmlformats.org/drawingml/2006/main">
            <a:r>
              <a:t>Used to check GCSE relevance; teacher-authored practice, not an official assessment. Checked 8 September 2026.</a:t>
            </a:r>
          </a:p>
          <a:p xmlns:a="http://schemas.openxmlformats.org/drawingml/2006/main">
            <a:r>
              <a:t/>
            </a:r>
          </a:p>
          <a:p xmlns:a="http://schemas.openxmlformats.org/drawingml/2006/main">
            <a:r>
              <a:t>NHGRI: Genetic Engineering</a:t>
            </a:r>
          </a:p>
          <a:p xmlns:a="http://schemas.openxmlformats.org/drawingml/2006/main">
            <a:r>
              <a:t>https://www.genome.gov/genetics-glossary/Genetic-Engineering</a:t>
            </a:r>
          </a:p>
          <a:p xmlns:a="http://schemas.openxmlformats.org/drawingml/2006/main">
            <a:r>
              <a:t>Checked definition and the distinction between adding, altering and deleting DNA. Checked 8 September 2026.</a:t>
            </a:r>
          </a:p>
          <a:p xmlns:a="http://schemas.openxmlformats.org/drawingml/2006/main">
            <a:r>
              <a:t/>
            </a:r>
          </a:p>
          <a:p xmlns:a="http://schemas.openxmlformats.org/drawingml/2006/main">
            <a:r>
              <a:t>NHGRI: Recombinant DNA Technology</a:t>
            </a:r>
          </a:p>
          <a:p xmlns:a="http://schemas.openxmlformats.org/drawingml/2006/main">
            <a:r>
              <a:t>https://www.genome.gov/genetics-glossary/Recombinant-DNA-Technology</a:t>
            </a:r>
          </a:p>
          <a:p xmlns:a="http://schemas.openxmlformats.org/drawingml/2006/main">
            <a:r>
              <a:t>Checked recombinant DNA and microbial production of useful proteins; used for conceptual explanation only. Checked 8 September 2026.</a:t>
            </a:r>
          </a:p>
          <a:p xmlns:a="http://schemas.openxmlformats.org/drawingml/2006/main">
            <a:r>
              <a:t/>
            </a:r>
          </a:p>
          <a:p xmlns:a="http://schemas.openxmlformats.org/drawingml/2006/main">
            <a:r>
              <a:t>FDA: Science and History of GMOs and Other Food Modification Processes</a:t>
            </a:r>
          </a:p>
          <a:p xmlns:a="http://schemas.openxmlformats.org/drawingml/2006/main">
            <a:r>
              <a:t>https://www.fda.gov/food/agricultural-biotechnology/science-and-history-gmos-and-other-food-modification-processes</a:t>
            </a:r>
          </a:p>
          <a:p xmlns:a="http://schemas.openxmlformats.org/drawingml/2006/main">
            <a:r>
              <a:t>Checked general Bt crop development and the need for testing; no US regulatory claims applied to UK law. Checked 8 September 2026.</a:t>
            </a:r>
          </a:p>
          <a:p xmlns:a="http://schemas.openxmlformats.org/drawingml/2006/main">
            <a:r>
              <a:t/>
            </a:r>
          </a:p>
          <a:p xmlns:a="http://schemas.openxmlformats.org/drawingml/2006/main">
            <a:r>
              <a:t>US EPA: Insect Resistance Management for Bt Plant-Incorporated Protectants</a:t>
            </a:r>
          </a:p>
          <a:p xmlns:a="http://schemas.openxmlformats.org/drawingml/2006/main">
            <a:r>
              <a:t>https://www.epa.gov/regulation-biotechnology-under-tsca-and-fifra/insect-resistance-management-bt-plant-incorporated</a:t>
            </a:r>
          </a:p>
          <a:p xmlns:a="http://schemas.openxmlformats.org/drawingml/2006/main">
            <a:r>
              <a:t>Checked target-insect effects, potential crop benefits and resistance-management mechanisms; no current legal requirements or percentages taught. Checked 8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46ab65244254b5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ce55b8862fc424e" /><Relationship Type="http://schemas.openxmlformats.org/officeDocument/2006/relationships/slideLayout" Target="/ppt/slideLayouts/slideLayout1.xml" Id="Ra7543f8b069d477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7543f8b069d477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5ede44bd0184c4b" /><Relationship Type="http://schemas.openxmlformats.org/officeDocument/2006/relationships/notesSlide" Target="/ppt/notesSlides/notesSlide1.xml" Id="Re22e238dd180423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1823feaa3a34217" /><Relationship Type="http://schemas.openxmlformats.org/officeDocument/2006/relationships/notesSlide" Target="/ppt/notesSlides/notesSlide2.xml" Id="R275712066f0b403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23deb6276c5b4ada" /><Relationship Type="http://schemas.openxmlformats.org/officeDocument/2006/relationships/notesSlide" Target="/ppt/notesSlides/notesSlide3.xml" Id="R824f144e6cfd41f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c21602bb21954cd0" /><Relationship Type="http://schemas.openxmlformats.org/officeDocument/2006/relationships/notesSlide" Target="/ppt/notesSlides/notesSlide4.xml" Id="R81d7993decf64b1a"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075ce5b4f49c4791" /><Relationship Type="http://schemas.openxmlformats.org/officeDocument/2006/relationships/notesSlide" Target="/ppt/notesSlides/notesSlide5.xml" Id="R337d9c01ff894a44"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9328b1e9f97440d" /><Relationship Type="http://schemas.openxmlformats.org/officeDocument/2006/relationships/notesSlide" Target="/ppt/notesSlides/notesSlide6.xml" Id="R4c785f9b537c4184"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33187e22996e46c2" /><Relationship Type="http://schemas.openxmlformats.org/officeDocument/2006/relationships/notesSlide" Target="/ppt/notesSlides/notesSlide7.xml" Id="R1e333ff056fc41af"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0b233aadfc0f4c39" /><Relationship Type="http://schemas.openxmlformats.org/officeDocument/2006/relationships/notesSlide" Target="/ppt/notesSlides/notesSlide8.xml" Id="R688652d8b2d8441b"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04307603abf1448e" /><Relationship Type="http://schemas.openxmlformats.org/officeDocument/2006/relationships/notesSlide" Target="/ppt/notesSlides/notesSlide9.xml" Id="Rf8e9ea3fe53743a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9d279297ac3744f8" /><Relationship Type="http://schemas.openxmlformats.org/officeDocument/2006/relationships/notesSlide" Target="/ppt/notesSlides/notesSlide10.xml" Id="Rf5e5f638eb1c495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8cdf1fa59caf41c9" /><Relationship Type="http://schemas.openxmlformats.org/officeDocument/2006/relationships/notesSlide" Target="/ppt/notesSlides/notesSlide11.xml" Id="Rb145a76c77044e0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e9e3625707404094" /><Relationship Type="http://schemas.openxmlformats.org/officeDocument/2006/relationships/notesSlide" Target="/ppt/notesSlides/notesSlide12.xml" Id="R3c8ba1cf5bf04d8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20034fa186e846b9" /><Relationship Type="http://schemas.openxmlformats.org/officeDocument/2006/relationships/notesSlide" Target="/ppt/notesSlides/notesSlide13.xml" Id="R7006a64cd3384f8b"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410fa0884bc146cb" /><Relationship Type="http://schemas.openxmlformats.org/officeDocument/2006/relationships/notesSlide" Target="/ppt/notesSlides/notesSlide14.xml" Id="R68a3ef47112f483c"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5370ec6d25854594" /><Relationship Type="http://schemas.openxmlformats.org/officeDocument/2006/relationships/notesSlide" Target="/ppt/notesSlides/notesSlide15.xml" Id="Rb79e14ae1d1c47a3"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surface">
            <a:extLst xmlns:a="http://schemas.openxmlformats.org/drawingml/2006/main">
              <a:ext uri="{FF2B5EF4-FFF2-40B4-BE49-F238E27FC236}">
                <a16:creationId xmlns:a16="http://schemas.microsoft.com/office/drawing/2014/main" id="{BD1C0171-6F7A-4A25-8258-DBBF6E437FC5}"/>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7A5C9E"/>
          </a:solidFill>
          <a:ln xmlns:a="http://schemas.openxmlformats.org/drawingml/2006/main" w="0">
            <a:noFill/>
          </a:ln>
        </p:spPr>
      </p:sp>
      <p:sp>
        <p:nvSpPr>
          <p:cNvPr id="2" name="surface">
            <a:extLst xmlns:a="http://schemas.openxmlformats.org/drawingml/2006/main">
              <a:ext uri="{FF2B5EF4-FFF2-40B4-BE49-F238E27FC236}">
                <a16:creationId xmlns:a16="http://schemas.microsoft.com/office/drawing/2014/main" id="{AD4D7F9F-D329-4C0A-811C-555D80A24A62}"/>
              </a:ext>
            </a:extLst>
          </p:cNvPr>
          <p:cNvSpPr>
            <a:spLocks xmlns:a="http://schemas.openxmlformats.org/drawingml/2006/main" noGrp="1"/>
          </p:cNvSpPr>
          <p:nvPr/>
        </p:nvSpPr>
        <p:spPr>
          <a:xfrm xmlns:a="http://schemas.openxmlformats.org/drawingml/2006/main">
            <a:off x="457200" y="400050"/>
            <a:ext cx="11277600" cy="485775"/>
          </a:xfrm>
          <a:prstGeom xmlns:a="http://schemas.openxmlformats.org/drawingml/2006/main" prst="rect">
            <a:avLst/>
          </a:prstGeom>
          <a:solidFill xmlns:a="http://schemas.openxmlformats.org/drawingml/2006/main">
            <a:srgbClr val="E6F0E6"/>
          </a:solidFill>
          <a:ln xmlns:a="http://schemas.openxmlformats.org/drawingml/2006/main" w="0">
            <a:noFill/>
          </a:ln>
        </p:spPr>
      </p:sp>
      <p:sp>
        <p:nvSpPr>
          <p:cNvPr id="3" name="surface">
            <a:extLst xmlns:a="http://schemas.openxmlformats.org/drawingml/2006/main">
              <a:ext uri="{FF2B5EF4-FFF2-40B4-BE49-F238E27FC236}">
                <a16:creationId xmlns:a16="http://schemas.microsoft.com/office/drawing/2014/main" id="{3C40305E-56A9-4D75-BE4D-CDBBFCBA8418}"/>
              </a:ext>
            </a:extLst>
          </p:cNvPr>
          <p:cNvSpPr>
            <a:spLocks xmlns:a="http://schemas.openxmlformats.org/drawingml/2006/main" noGrp="1"/>
          </p:cNvSpPr>
          <p:nvPr/>
        </p:nvSpPr>
        <p:spPr>
          <a:xfrm xmlns:a="http://schemas.openxmlformats.org/drawingml/2006/main">
            <a:off x="457200" y="400050"/>
            <a:ext cx="66675" cy="485775"/>
          </a:xfrm>
          <a:prstGeom xmlns:a="http://schemas.openxmlformats.org/drawingml/2006/main" prst="rect">
            <a:avLst/>
          </a:prstGeom>
          <a:solidFill xmlns:a="http://schemas.openxmlformats.org/drawingml/2006/main">
            <a:srgbClr val="7A5C9E"/>
          </a:solidFill>
          <a:ln xmlns:a="http://schemas.openxmlformats.org/drawingml/2006/main" w="0">
            <a:noFill/>
          </a:ln>
        </p:spPr>
      </p:sp>
      <p:sp>
        <p:nvSpPr>
          <p:cNvPr id="4" name="LAUNCH SCIENCE">
            <a:extLst xmlns:a="http://schemas.openxmlformats.org/drawingml/2006/main">
              <a:ext uri="{FF2B5EF4-FFF2-40B4-BE49-F238E27FC236}">
                <a16:creationId xmlns:a16="http://schemas.microsoft.com/office/drawing/2014/main" id="{FBA9AB00-5BE7-4544-912A-E6B623BA5D57}"/>
              </a:ext>
            </a:extLst>
          </p:cNvPr>
          <p:cNvSpPr>
            <a:spLocks xmlns:a="http://schemas.openxmlformats.org/drawingml/2006/main" noGrp="1"/>
          </p:cNvSpPr>
          <p:nvPr/>
        </p:nvSpPr>
        <p:spPr>
          <a:xfrm xmlns:a="http://schemas.openxmlformats.org/drawingml/2006/main">
            <a:off x="685800" y="504825"/>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1">
                <a:solidFill>
                  <a:srgbClr val="7A5C9E"/>
                </a:solidFill>
                <a:latin typeface="Nimbus Sans"/>
                <a:ea typeface="Nimbus Sans"/>
                <a:cs typeface="Nimbus Sans"/>
              </a:defRPr>
            </a:pPr>
            <a:r>
              <a:rPr sz="1800" b="1">
                <a:solidFill>
                  <a:srgbClr val="7A5C9E"/>
                </a:solidFill>
                <a:latin typeface="Nimbus Sans"/>
                <a:ea typeface="Nimbus Sans"/>
                <a:cs typeface="Nimbus Sans"/>
              </a:rPr>
              <a:t>LAUNCH SCIENCE</a:t>
            </a:r>
          </a:p>
        </p:txBody>
      </p:sp>
      <p:sp>
        <p:nvSpPr>
          <p:cNvPr id="5" name="Opening">
            <a:extLst xmlns:a="http://schemas.openxmlformats.org/drawingml/2006/main">
              <a:ext uri="{FF2B5EF4-FFF2-40B4-BE49-F238E27FC236}">
                <a16:creationId xmlns:a16="http://schemas.microsoft.com/office/drawing/2014/main" id="{93C2CA6A-ECAD-46EB-89FA-4E69C2049C5E}"/>
              </a:ext>
            </a:extLst>
          </p:cNvPr>
          <p:cNvSpPr>
            <a:spLocks xmlns:a="http://schemas.openxmlformats.org/drawingml/2006/main" noGrp="1"/>
          </p:cNvSpPr>
          <p:nvPr/>
        </p:nvSpPr>
        <p:spPr>
          <a:xfrm xmlns:a="http://schemas.openxmlformats.org/drawingml/2006/main">
            <a:off x="5943600" y="504825"/>
            <a:ext cx="3752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1">
                <a:solidFill>
                  <a:srgbClr val="7A5C9E"/>
                </a:solidFill>
                <a:latin typeface="Nimbus Sans"/>
                <a:ea typeface="Nimbus Sans"/>
                <a:cs typeface="Nimbus Sans"/>
              </a:defRPr>
            </a:pPr>
            <a:r>
              <a:rPr sz="1800" b="1">
                <a:solidFill>
                  <a:srgbClr val="7A5C9E"/>
                </a:solidFill>
                <a:latin typeface="Nimbus Sans"/>
                <a:ea typeface="Nimbus Sans"/>
                <a:cs typeface="Nimbus Sans"/>
              </a:rPr>
              <a:t>Opening</a:t>
            </a:r>
          </a:p>
        </p:txBody>
      </p:sp>
      <p:sp>
        <p:nvSpPr>
          <p:cNvPr id="6" name="2 min">
            <a:extLst xmlns:a="http://schemas.openxmlformats.org/drawingml/2006/main">
              <a:ext uri="{FF2B5EF4-FFF2-40B4-BE49-F238E27FC236}">
                <a16:creationId xmlns:a16="http://schemas.microsoft.com/office/drawing/2014/main" id="{504232C4-5A75-4AD6-8882-7711B96528B7}"/>
              </a:ext>
            </a:extLst>
          </p:cNvPr>
          <p:cNvSpPr>
            <a:spLocks xmlns:a="http://schemas.openxmlformats.org/drawingml/2006/main" noGrp="1"/>
          </p:cNvSpPr>
          <p:nvPr/>
        </p:nvSpPr>
        <p:spPr>
          <a:xfrm xmlns:a="http://schemas.openxmlformats.org/drawingml/2006/main">
            <a:off x="10029825" y="504825"/>
            <a:ext cx="14573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725" b="0">
                <a:solidFill>
                  <a:srgbClr val="465465"/>
                </a:solidFill>
                <a:latin typeface="Nimbus Sans"/>
                <a:ea typeface="Nimbus Sans"/>
                <a:cs typeface="Nimbus Sans"/>
              </a:defRPr>
            </a:pPr>
            <a:r>
              <a:rPr sz="1725" b="0">
                <a:solidFill>
                  <a:srgbClr val="465465"/>
                </a:solidFill>
                <a:latin typeface="Nimbus Sans"/>
                <a:ea typeface="Nimbus Sans"/>
                <a:cs typeface="Nimbus Sans"/>
              </a:rPr>
              <a:t>2 min</a:t>
            </a:r>
          </a:p>
        </p:txBody>
      </p:sp>
      <p:sp>
        <p:nvSpPr>
          <p:cNvPr id="7" name="A crop makes a pest-control protein">
            <a:extLst xmlns:a="http://schemas.openxmlformats.org/drawingml/2006/main">
              <a:ext uri="{FF2B5EF4-FFF2-40B4-BE49-F238E27FC236}">
                <a16:creationId xmlns:a16="http://schemas.microsoft.com/office/drawing/2014/main" id="{C96E3D0D-A3A1-42B4-92B7-96AB63BD37E0}"/>
              </a:ext>
            </a:extLst>
          </p:cNvPr>
          <p:cNvSpPr>
            <a:spLocks xmlns:a="http://schemas.openxmlformats.org/drawingml/2006/main" noGrp="1"/>
          </p:cNvSpPr>
          <p:nvPr/>
        </p:nvSpPr>
        <p:spPr>
          <a:xfrm xmlns:a="http://schemas.openxmlformats.org/drawingml/2006/main">
            <a:off x="533400" y="1066800"/>
            <a:ext cx="11125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3000" b="1">
                <a:solidFill>
                  <a:srgbClr val="1F2937"/>
                </a:solidFill>
                <a:latin typeface="Nimbus Sans"/>
                <a:ea typeface="Nimbus Sans"/>
                <a:cs typeface="Nimbus Sans"/>
              </a:defRPr>
            </a:pPr>
            <a:r>
              <a:rPr sz="3000" b="1">
                <a:solidFill>
                  <a:srgbClr val="1F2937"/>
                </a:solidFill>
                <a:latin typeface="Nimbus Sans"/>
                <a:ea typeface="Nimbus Sans"/>
                <a:cs typeface="Nimbus Sans"/>
              </a:rPr>
              <a:t>A crop makes a pest-control protein</a:t>
            </a:r>
          </a:p>
        </p:txBody>
      </p:sp>
      <p:sp>
        <p:nvSpPr>
          <p:cNvPr id="8" name="surface">
            <a:extLst xmlns:a="http://schemas.openxmlformats.org/drawingml/2006/main">
              <a:ext uri="{FF2B5EF4-FFF2-40B4-BE49-F238E27FC236}">
                <a16:creationId xmlns:a16="http://schemas.microsoft.com/office/drawing/2014/main" id="{C6989077-EA2F-4AE9-A50B-7EB9617F6914}"/>
              </a:ext>
            </a:extLst>
          </p:cNvPr>
          <p:cNvSpPr>
            <a:spLocks xmlns:a="http://schemas.openxmlformats.org/drawingml/2006/main" noGrp="1"/>
          </p:cNvSpPr>
          <p:nvPr/>
        </p:nvSpPr>
        <p:spPr>
          <a:xfrm xmlns:a="http://schemas.openxmlformats.org/drawingml/2006/main">
            <a:off x="457200" y="6496050"/>
            <a:ext cx="11277600" cy="9525"/>
          </a:xfrm>
          <a:prstGeom xmlns:a="http://schemas.openxmlformats.org/drawingml/2006/main" prst="rect">
            <a:avLst/>
          </a:prstGeom>
          <a:solidFill xmlns:a="http://schemas.openxmlformats.org/drawingml/2006/main">
            <a:srgbClr val="D8DDE2"/>
          </a:solidFill>
          <a:ln xmlns:a="http://schemas.openxmlformats.org/drawingml/2006/main" w="0">
            <a:noFill/>
          </a:ln>
        </p:spPr>
      </p:sp>
      <p:sp>
        <p:nvSpPr>
          <p:cNvPr id="9" name="Genetic engineering: change, test, decide">
            <a:extLst xmlns:a="http://schemas.openxmlformats.org/drawingml/2006/main">
              <a:ext uri="{FF2B5EF4-FFF2-40B4-BE49-F238E27FC236}">
                <a16:creationId xmlns:a16="http://schemas.microsoft.com/office/drawing/2014/main" id="{E2B37547-C0C8-4BD6-95EC-10D68DA56507}"/>
              </a:ext>
            </a:extLst>
          </p:cNvPr>
          <p:cNvSpPr>
            <a:spLocks xmlns:a="http://schemas.openxmlformats.org/drawingml/2006/main" noGrp="1"/>
          </p:cNvSpPr>
          <p:nvPr/>
        </p:nvSpPr>
        <p:spPr>
          <a:xfrm xmlns:a="http://schemas.openxmlformats.org/drawingml/2006/main">
            <a:off x="533400" y="6600825"/>
            <a:ext cx="10572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Genetic engineering: change, test, decide</a:t>
            </a:r>
          </a:p>
        </p:txBody>
      </p:sp>
      <p:sp>
        <p:nvSpPr>
          <p:cNvPr id="10" name="1 / 15">
            <a:extLst xmlns:a="http://schemas.openxmlformats.org/drawingml/2006/main">
              <a:ext uri="{FF2B5EF4-FFF2-40B4-BE49-F238E27FC236}">
                <a16:creationId xmlns:a16="http://schemas.microsoft.com/office/drawing/2014/main" id="{E3F39E20-4468-42C3-A9F5-BE629483F314}"/>
              </a:ext>
            </a:extLst>
          </p:cNvPr>
          <p:cNvSpPr>
            <a:spLocks xmlns:a="http://schemas.openxmlformats.org/drawingml/2006/main" noGrp="1"/>
          </p:cNvSpPr>
          <p:nvPr/>
        </p:nvSpPr>
        <p:spPr>
          <a:xfrm xmlns:a="http://schemas.openxmlformats.org/drawingml/2006/main">
            <a:off x="10953750" y="6600825"/>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1 / 15</a:t>
            </a:r>
          </a:p>
        </p:txBody>
      </p:sp>
      <p:sp>
        <p:nvSpPr>
          <p:cNvPr id="11" name="surface">
            <a:extLst xmlns:a="http://schemas.openxmlformats.org/drawingml/2006/main">
              <a:ext uri="{FF2B5EF4-FFF2-40B4-BE49-F238E27FC236}">
                <a16:creationId xmlns:a16="http://schemas.microsoft.com/office/drawing/2014/main" id="{74940F4B-19AA-4CB2-B242-82BEB7820CAA}"/>
              </a:ext>
            </a:extLst>
          </p:cNvPr>
          <p:cNvSpPr>
            <a:spLocks xmlns:a="http://schemas.openxmlformats.org/drawingml/2006/main" noGrp="1"/>
          </p:cNvSpPr>
          <p:nvPr/>
        </p:nvSpPr>
        <p:spPr>
          <a:xfrm xmlns:a="http://schemas.openxmlformats.org/drawingml/2006/main">
            <a:off x="533400" y="1885950"/>
            <a:ext cx="11125200" cy="1247775"/>
          </a:xfrm>
          <a:prstGeom xmlns:a="http://schemas.openxmlformats.org/drawingml/2006/main" prst="rect">
            <a:avLst/>
          </a:prstGeom>
          <a:solidFill xmlns:a="http://schemas.openxmlformats.org/drawingml/2006/main">
            <a:srgbClr val="E6F0E6"/>
          </a:solidFill>
          <a:ln xmlns:a="http://schemas.openxmlformats.org/drawingml/2006/main" w="0">
            <a:noFill/>
          </a:ln>
        </p:spPr>
      </p:sp>
      <p:sp>
        <p:nvSpPr>
          <p:cNvPr id="12" name="surface">
            <a:extLst xmlns:a="http://schemas.openxmlformats.org/drawingml/2006/main">
              <a:ext uri="{FF2B5EF4-FFF2-40B4-BE49-F238E27FC236}">
                <a16:creationId xmlns:a16="http://schemas.microsoft.com/office/drawing/2014/main" id="{3B26AE1A-D791-4FF9-A152-8C378C0CC3D7}"/>
              </a:ext>
            </a:extLst>
          </p:cNvPr>
          <p:cNvSpPr>
            <a:spLocks xmlns:a="http://schemas.openxmlformats.org/drawingml/2006/main" noGrp="1"/>
          </p:cNvSpPr>
          <p:nvPr/>
        </p:nvSpPr>
        <p:spPr>
          <a:xfrm xmlns:a="http://schemas.openxmlformats.org/drawingml/2006/main">
            <a:off x="533400" y="1885950"/>
            <a:ext cx="66675" cy="1247775"/>
          </a:xfrm>
          <a:prstGeom xmlns:a="http://schemas.openxmlformats.org/drawingml/2006/main" prst="rect">
            <a:avLst/>
          </a:prstGeom>
          <a:solidFill xmlns:a="http://schemas.openxmlformats.org/drawingml/2006/main">
            <a:srgbClr val="7A5C9E"/>
          </a:solidFill>
          <a:ln xmlns:a="http://schemas.openxmlformats.org/drawingml/2006/main" w="0">
            <a:noFill/>
          </a:ln>
        </p:spPr>
      </p:sp>
      <p:sp>
        <p:nvSpPr>
          <p:cNvPr id="13" name="Learning intention">
            <a:extLst xmlns:a="http://schemas.openxmlformats.org/drawingml/2006/main">
              <a:ext uri="{FF2B5EF4-FFF2-40B4-BE49-F238E27FC236}">
                <a16:creationId xmlns:a16="http://schemas.microsoft.com/office/drawing/2014/main" id="{B7BFE04C-1283-46C9-BB80-86DDF8EA5F8E}"/>
              </a:ext>
            </a:extLst>
          </p:cNvPr>
          <p:cNvSpPr>
            <a:spLocks xmlns:a="http://schemas.openxmlformats.org/drawingml/2006/main" noGrp="1"/>
          </p:cNvSpPr>
          <p:nvPr/>
        </p:nvSpPr>
        <p:spPr>
          <a:xfrm xmlns:a="http://schemas.openxmlformats.org/drawingml/2006/main">
            <a:off x="762000" y="2019300"/>
            <a:ext cx="1057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650" b="1">
                <a:solidFill>
                  <a:srgbClr val="7A5C9E"/>
                </a:solidFill>
                <a:latin typeface="Nimbus Sans"/>
                <a:ea typeface="Nimbus Sans"/>
                <a:cs typeface="Nimbus Sans"/>
              </a:defRPr>
            </a:pPr>
            <a:r>
              <a:rPr sz="1650" b="1">
                <a:solidFill>
                  <a:srgbClr val="7A5C9E"/>
                </a:solidFill>
                <a:latin typeface="Nimbus Sans"/>
                <a:ea typeface="Nimbus Sans"/>
                <a:cs typeface="Nimbus Sans"/>
              </a:rPr>
              <a:t>Learning intention</a:t>
            </a:r>
          </a:p>
        </p:txBody>
      </p:sp>
      <p:sp>
        <p:nvSpPr>
          <p:cNvPr id="14" name="Describe genetic engineering and use evidence to weigh a specifi">
            <a:extLst xmlns:a="http://schemas.openxmlformats.org/drawingml/2006/main">
              <a:ext uri="{FF2B5EF4-FFF2-40B4-BE49-F238E27FC236}">
                <a16:creationId xmlns:a16="http://schemas.microsoft.com/office/drawing/2014/main" id="{5F1602D8-1C37-4E72-80B1-7672598FED2E}"/>
              </a:ext>
            </a:extLst>
          </p:cNvPr>
          <p:cNvSpPr>
            <a:spLocks xmlns:a="http://schemas.openxmlformats.org/drawingml/2006/main" noGrp="1"/>
          </p:cNvSpPr>
          <p:nvPr/>
        </p:nvSpPr>
        <p:spPr>
          <a:xfrm xmlns:a="http://schemas.openxmlformats.org/drawingml/2006/main">
            <a:off x="762000" y="2362200"/>
            <a:ext cx="10572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175" b="1">
                <a:solidFill>
                  <a:srgbClr val="1F2937"/>
                </a:solidFill>
                <a:latin typeface="Nimbus Sans"/>
                <a:ea typeface="Nimbus Sans"/>
                <a:cs typeface="Nimbus Sans"/>
              </a:defRPr>
            </a:pPr>
            <a:r>
              <a:rPr sz="2175" b="1">
                <a:solidFill>
                  <a:srgbClr val="1F2937"/>
                </a:solidFill>
                <a:latin typeface="Nimbus Sans"/>
                <a:ea typeface="Nimbus Sans"/>
                <a:cs typeface="Nimbus Sans"/>
              </a:rPr>
              <a:t>Describe genetic engineering and use evidence to weigh a specific benefit, a</a:t>
            </a:r>
          </a:p>
          <a:p xmlns:a="http://schemas.openxmlformats.org/drawingml/2006/main">
            <a:pPr algn="l">
              <a:lnSpc>
                <a:spcPct val="108000"/>
              </a:lnSpc>
              <a:buNone/>
              <a:defRPr sz="2175" b="1">
                <a:solidFill>
                  <a:srgbClr val="1F2937"/>
                </a:solidFill>
                <a:latin typeface="Nimbus Sans"/>
                <a:ea typeface="Nimbus Sans"/>
                <a:cs typeface="Nimbus Sans"/>
              </a:defRPr>
            </a:pPr>
            <a:r>
              <a:rPr sz="2175" b="1">
                <a:solidFill>
                  <a:srgbClr val="1F2937"/>
                </a:solidFill>
                <a:latin typeface="Nimbus Sans"/>
                <a:ea typeface="Nimbus Sans"/>
                <a:cs typeface="Nimbus Sans"/>
              </a:rPr>
              <a:t>risk and an unanswered question.</a:t>
            </a:r>
          </a:p>
        </p:txBody>
      </p:sp>
      <p:sp>
        <p:nvSpPr>
          <p:cNvPr id="15" name="What changed: the DNA, the whole species, or the weather?">
            <a:extLst xmlns:a="http://schemas.openxmlformats.org/drawingml/2006/main">
              <a:ext uri="{FF2B5EF4-FFF2-40B4-BE49-F238E27FC236}">
                <a16:creationId xmlns:a16="http://schemas.microsoft.com/office/drawing/2014/main" id="{D9E51466-6D98-4199-B0E9-F7E4ECA984EC}"/>
              </a:ext>
            </a:extLst>
          </p:cNvPr>
          <p:cNvSpPr>
            <a:spLocks xmlns:a="http://schemas.openxmlformats.org/drawingml/2006/main" noGrp="1"/>
          </p:cNvSpPr>
          <p:nvPr/>
        </p:nvSpPr>
        <p:spPr>
          <a:xfrm xmlns:a="http://schemas.openxmlformats.org/drawingml/2006/main">
            <a:off x="762000" y="3362325"/>
            <a:ext cx="10668000" cy="3629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1F2937"/>
                </a:solidFill>
                <a:latin typeface="Nimbus Sans"/>
                <a:ea typeface="Nimbus Sans"/>
                <a:cs typeface="Nimbus Sans"/>
              </a:defRPr>
            </a:pPr>
            <a:r>
              <a:rPr sz="2325" b="0">
                <a:solidFill>
                  <a:srgbClr val="1F2937"/>
                </a:solidFill>
                <a:latin typeface="Nimbus Sans"/>
                <a:ea typeface="Nimbus Sans"/>
                <a:cs typeface="Nimbus Sans"/>
              </a:rPr>
              <a:t>What changed: the DNA, the whole species, or the weather?</a:t>
            </a:r>
          </a:p>
        </p:txBody>
      </p:sp>
      <p:sp>
        <p:nvSpPr>
          <p:cNvPr id="16" name="Today: explain the change and assess a trial.">
            <a:extLst xmlns:a="http://schemas.openxmlformats.org/drawingml/2006/main">
              <a:ext uri="{FF2B5EF4-FFF2-40B4-BE49-F238E27FC236}">
                <a16:creationId xmlns:a16="http://schemas.microsoft.com/office/drawing/2014/main" id="{71FA4991-0330-40C9-AE6F-029D4F7EF988}"/>
              </a:ext>
            </a:extLst>
          </p:cNvPr>
          <p:cNvSpPr>
            <a:spLocks xmlns:a="http://schemas.openxmlformats.org/drawingml/2006/main" noGrp="1"/>
          </p:cNvSpPr>
          <p:nvPr/>
        </p:nvSpPr>
        <p:spPr>
          <a:xfrm xmlns:a="http://schemas.openxmlformats.org/drawingml/2006/main">
            <a:off x="762000" y="3915728"/>
            <a:ext cx="10668000" cy="3629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1F2937"/>
                </a:solidFill>
                <a:latin typeface="Nimbus Sans"/>
                <a:ea typeface="Nimbus Sans"/>
                <a:cs typeface="Nimbus Sans"/>
              </a:defRPr>
            </a:pPr>
            <a:r>
              <a:rPr sz="2325" b="0">
                <a:solidFill>
                  <a:srgbClr val="1F2937"/>
                </a:solidFill>
                <a:latin typeface="Nimbus Sans"/>
                <a:ea typeface="Nimbus Sans"/>
                <a:cs typeface="Nimbus Sans"/>
              </a:rPr>
              <a:t>Today: explain the change and assess a trial.</a:t>
            </a:r>
          </a:p>
        </p:txBody>
      </p:sp>
    </p:spTree>
    <p:extLst>
      <p:ext uri="{BB962C8B-B14F-4D97-AF65-F5344CB8AC3E}">
        <p14:creationId xmlns:p14="http://schemas.microsoft.com/office/powerpoint/2010/main" val="153173268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urface">
            <a:extLst xmlns:a="http://schemas.openxmlformats.org/drawingml/2006/main">
              <a:ext uri="{FF2B5EF4-FFF2-40B4-BE49-F238E27FC236}">
                <a16:creationId xmlns:a16="http://schemas.microsoft.com/office/drawing/2014/main" id="{8C01F078-4712-40CD-A084-246DA1644446}"/>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7A5C9E"/>
          </a:solidFill>
          <a:ln xmlns:a="http://schemas.openxmlformats.org/drawingml/2006/main" w="0">
            <a:noFill/>
          </a:ln>
        </p:spPr>
      </p:sp>
      <p:sp>
        <p:nvSpPr>
          <p:cNvPr id="2" name="surface">
            <a:extLst xmlns:a="http://schemas.openxmlformats.org/drawingml/2006/main">
              <a:ext uri="{FF2B5EF4-FFF2-40B4-BE49-F238E27FC236}">
                <a16:creationId xmlns:a16="http://schemas.microsoft.com/office/drawing/2014/main" id="{1AAA33DB-8B53-476F-B305-6C3F9F63E6A1}"/>
              </a:ext>
            </a:extLst>
          </p:cNvPr>
          <p:cNvSpPr>
            <a:spLocks xmlns:a="http://schemas.openxmlformats.org/drawingml/2006/main" noGrp="1"/>
          </p:cNvSpPr>
          <p:nvPr/>
        </p:nvSpPr>
        <p:spPr>
          <a:xfrm xmlns:a="http://schemas.openxmlformats.org/drawingml/2006/main">
            <a:off x="457200" y="400050"/>
            <a:ext cx="11277600" cy="485775"/>
          </a:xfrm>
          <a:prstGeom xmlns:a="http://schemas.openxmlformats.org/drawingml/2006/main" prst="rect">
            <a:avLst/>
          </a:prstGeom>
          <a:solidFill xmlns:a="http://schemas.openxmlformats.org/drawingml/2006/main">
            <a:srgbClr val="E6F0E6"/>
          </a:solidFill>
          <a:ln xmlns:a="http://schemas.openxmlformats.org/drawingml/2006/main" w="0">
            <a:noFill/>
          </a:ln>
        </p:spPr>
      </p:sp>
      <p:sp>
        <p:nvSpPr>
          <p:cNvPr id="3" name="surface">
            <a:extLst xmlns:a="http://schemas.openxmlformats.org/drawingml/2006/main">
              <a:ext uri="{FF2B5EF4-FFF2-40B4-BE49-F238E27FC236}">
                <a16:creationId xmlns:a16="http://schemas.microsoft.com/office/drawing/2014/main" id="{60091C75-D481-4F8B-A068-3FED89C48CB4}"/>
              </a:ext>
            </a:extLst>
          </p:cNvPr>
          <p:cNvSpPr>
            <a:spLocks xmlns:a="http://schemas.openxmlformats.org/drawingml/2006/main" noGrp="1"/>
          </p:cNvSpPr>
          <p:nvPr/>
        </p:nvSpPr>
        <p:spPr>
          <a:xfrm xmlns:a="http://schemas.openxmlformats.org/drawingml/2006/main">
            <a:off x="457200" y="400050"/>
            <a:ext cx="66675" cy="485775"/>
          </a:xfrm>
          <a:prstGeom xmlns:a="http://schemas.openxmlformats.org/drawingml/2006/main" prst="rect">
            <a:avLst/>
          </a:prstGeom>
          <a:solidFill xmlns:a="http://schemas.openxmlformats.org/drawingml/2006/main">
            <a:srgbClr val="7A5C9E"/>
          </a:solidFill>
          <a:ln xmlns:a="http://schemas.openxmlformats.org/drawingml/2006/main" w="0">
            <a:noFill/>
          </a:ln>
        </p:spPr>
      </p:sp>
      <p:sp>
        <p:nvSpPr>
          <p:cNvPr id="4" name="LAUNCH SCIENCE">
            <a:extLst xmlns:a="http://schemas.openxmlformats.org/drawingml/2006/main">
              <a:ext uri="{FF2B5EF4-FFF2-40B4-BE49-F238E27FC236}">
                <a16:creationId xmlns:a16="http://schemas.microsoft.com/office/drawing/2014/main" id="{F11A8181-4858-4E87-90ED-4A25234BB334}"/>
              </a:ext>
            </a:extLst>
          </p:cNvPr>
          <p:cNvSpPr>
            <a:spLocks xmlns:a="http://schemas.openxmlformats.org/drawingml/2006/main" noGrp="1"/>
          </p:cNvSpPr>
          <p:nvPr/>
        </p:nvSpPr>
        <p:spPr>
          <a:xfrm xmlns:a="http://schemas.openxmlformats.org/drawingml/2006/main">
            <a:off x="685800" y="504825"/>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1">
                <a:solidFill>
                  <a:srgbClr val="7A5C9E"/>
                </a:solidFill>
                <a:latin typeface="Nimbus Sans"/>
                <a:ea typeface="Nimbus Sans"/>
                <a:cs typeface="Nimbus Sans"/>
              </a:defRPr>
            </a:pPr>
            <a:r>
              <a:rPr sz="1800" b="1">
                <a:solidFill>
                  <a:srgbClr val="7A5C9E"/>
                </a:solidFill>
                <a:latin typeface="Nimbus Sans"/>
                <a:ea typeface="Nimbus Sans"/>
                <a:cs typeface="Nimbus Sans"/>
              </a:rPr>
              <a:t>LAUNCH SCIENCE</a:t>
            </a:r>
          </a:p>
        </p:txBody>
      </p:sp>
      <p:sp>
        <p:nvSpPr>
          <p:cNvPr id="5" name="Retrieval">
            <a:extLst xmlns:a="http://schemas.openxmlformats.org/drawingml/2006/main">
              <a:ext uri="{FF2B5EF4-FFF2-40B4-BE49-F238E27FC236}">
                <a16:creationId xmlns:a16="http://schemas.microsoft.com/office/drawing/2014/main" id="{87E3AE46-5EB1-4C87-8F15-B9805B2CDC66}"/>
              </a:ext>
            </a:extLst>
          </p:cNvPr>
          <p:cNvSpPr>
            <a:spLocks xmlns:a="http://schemas.openxmlformats.org/drawingml/2006/main" noGrp="1"/>
          </p:cNvSpPr>
          <p:nvPr/>
        </p:nvSpPr>
        <p:spPr>
          <a:xfrm xmlns:a="http://schemas.openxmlformats.org/drawingml/2006/main">
            <a:off x="5943600" y="504825"/>
            <a:ext cx="3752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1">
                <a:solidFill>
                  <a:srgbClr val="7A5C9E"/>
                </a:solidFill>
                <a:latin typeface="Nimbus Sans"/>
                <a:ea typeface="Nimbus Sans"/>
                <a:cs typeface="Nimbus Sans"/>
              </a:defRPr>
            </a:pPr>
            <a:r>
              <a:rPr sz="1800" b="1">
                <a:solidFill>
                  <a:srgbClr val="7A5C9E"/>
                </a:solidFill>
                <a:latin typeface="Nimbus Sans"/>
                <a:ea typeface="Nimbus Sans"/>
                <a:cs typeface="Nimbus Sans"/>
              </a:rPr>
              <a:t>Retrieval</a:t>
            </a:r>
          </a:p>
        </p:txBody>
      </p:sp>
      <p:sp>
        <p:nvSpPr>
          <p:cNvPr id="6" name="3 min">
            <a:extLst xmlns:a="http://schemas.openxmlformats.org/drawingml/2006/main">
              <a:ext uri="{FF2B5EF4-FFF2-40B4-BE49-F238E27FC236}">
                <a16:creationId xmlns:a16="http://schemas.microsoft.com/office/drawing/2014/main" id="{0A51E922-AF22-4490-8D73-8511BC3A93FF}"/>
              </a:ext>
            </a:extLst>
          </p:cNvPr>
          <p:cNvSpPr>
            <a:spLocks xmlns:a="http://schemas.openxmlformats.org/drawingml/2006/main" noGrp="1"/>
          </p:cNvSpPr>
          <p:nvPr/>
        </p:nvSpPr>
        <p:spPr>
          <a:xfrm xmlns:a="http://schemas.openxmlformats.org/drawingml/2006/main">
            <a:off x="10029825" y="504825"/>
            <a:ext cx="14573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725" b="0">
                <a:solidFill>
                  <a:srgbClr val="465465"/>
                </a:solidFill>
                <a:latin typeface="Nimbus Sans"/>
                <a:ea typeface="Nimbus Sans"/>
                <a:cs typeface="Nimbus Sans"/>
              </a:defRPr>
            </a:pPr>
            <a:r>
              <a:rPr sz="1725" b="0">
                <a:solidFill>
                  <a:srgbClr val="465465"/>
                </a:solidFill>
                <a:latin typeface="Nimbus Sans"/>
                <a:ea typeface="Nimbus Sans"/>
                <a:cs typeface="Nimbus Sans"/>
              </a:rPr>
              <a:t>3 min</a:t>
            </a:r>
          </a:p>
        </p:txBody>
      </p:sp>
      <p:sp>
        <p:nvSpPr>
          <p:cNvPr id="7" name="Retrieve genes and selection">
            <a:extLst xmlns:a="http://schemas.openxmlformats.org/drawingml/2006/main">
              <a:ext uri="{FF2B5EF4-FFF2-40B4-BE49-F238E27FC236}">
                <a16:creationId xmlns:a16="http://schemas.microsoft.com/office/drawing/2014/main" id="{782028FA-9716-454F-8ABC-44A56BC0CEA7}"/>
              </a:ext>
            </a:extLst>
          </p:cNvPr>
          <p:cNvSpPr>
            <a:spLocks xmlns:a="http://schemas.openxmlformats.org/drawingml/2006/main" noGrp="1"/>
          </p:cNvSpPr>
          <p:nvPr/>
        </p:nvSpPr>
        <p:spPr>
          <a:xfrm xmlns:a="http://schemas.openxmlformats.org/drawingml/2006/main">
            <a:off x="533400" y="1066800"/>
            <a:ext cx="11125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3000" b="1">
                <a:solidFill>
                  <a:srgbClr val="1F2937"/>
                </a:solidFill>
                <a:latin typeface="Nimbus Sans"/>
                <a:ea typeface="Nimbus Sans"/>
                <a:cs typeface="Nimbus Sans"/>
              </a:defRPr>
            </a:pPr>
            <a:r>
              <a:rPr sz="3000" b="1">
                <a:solidFill>
                  <a:srgbClr val="1F2937"/>
                </a:solidFill>
                <a:latin typeface="Nimbus Sans"/>
                <a:ea typeface="Nimbus Sans"/>
                <a:cs typeface="Nimbus Sans"/>
              </a:rPr>
              <a:t>Retrieve genes and selection</a:t>
            </a:r>
          </a:p>
        </p:txBody>
      </p:sp>
      <p:sp>
        <p:nvSpPr>
          <p:cNvPr id="8" name="surface">
            <a:extLst xmlns:a="http://schemas.openxmlformats.org/drawingml/2006/main">
              <a:ext uri="{FF2B5EF4-FFF2-40B4-BE49-F238E27FC236}">
                <a16:creationId xmlns:a16="http://schemas.microsoft.com/office/drawing/2014/main" id="{251DF2CE-7316-4B9E-95E5-CA2E409D7C7B}"/>
              </a:ext>
            </a:extLst>
          </p:cNvPr>
          <p:cNvSpPr>
            <a:spLocks xmlns:a="http://schemas.openxmlformats.org/drawingml/2006/main" noGrp="1"/>
          </p:cNvSpPr>
          <p:nvPr/>
        </p:nvSpPr>
        <p:spPr>
          <a:xfrm xmlns:a="http://schemas.openxmlformats.org/drawingml/2006/main">
            <a:off x="457200" y="6496050"/>
            <a:ext cx="11277600" cy="9525"/>
          </a:xfrm>
          <a:prstGeom xmlns:a="http://schemas.openxmlformats.org/drawingml/2006/main" prst="rect">
            <a:avLst/>
          </a:prstGeom>
          <a:solidFill xmlns:a="http://schemas.openxmlformats.org/drawingml/2006/main">
            <a:srgbClr val="D8DDE2"/>
          </a:solidFill>
          <a:ln xmlns:a="http://schemas.openxmlformats.org/drawingml/2006/main" w="0">
            <a:noFill/>
          </a:ln>
        </p:spPr>
      </p:sp>
      <p:sp>
        <p:nvSpPr>
          <p:cNvPr id="9" name="Genetic engineering: change, test, decide">
            <a:extLst xmlns:a="http://schemas.openxmlformats.org/drawingml/2006/main">
              <a:ext uri="{FF2B5EF4-FFF2-40B4-BE49-F238E27FC236}">
                <a16:creationId xmlns:a16="http://schemas.microsoft.com/office/drawing/2014/main" id="{DB6A222D-FEAF-4441-AEF6-BFE5B92BF444}"/>
              </a:ext>
            </a:extLst>
          </p:cNvPr>
          <p:cNvSpPr>
            <a:spLocks xmlns:a="http://schemas.openxmlformats.org/drawingml/2006/main" noGrp="1"/>
          </p:cNvSpPr>
          <p:nvPr/>
        </p:nvSpPr>
        <p:spPr>
          <a:xfrm xmlns:a="http://schemas.openxmlformats.org/drawingml/2006/main">
            <a:off x="533400" y="6600825"/>
            <a:ext cx="10572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Genetic engineering: change, test, decide</a:t>
            </a:r>
          </a:p>
        </p:txBody>
      </p:sp>
      <p:sp>
        <p:nvSpPr>
          <p:cNvPr id="10" name="2 / 15">
            <a:extLst xmlns:a="http://schemas.openxmlformats.org/drawingml/2006/main">
              <a:ext uri="{FF2B5EF4-FFF2-40B4-BE49-F238E27FC236}">
                <a16:creationId xmlns:a16="http://schemas.microsoft.com/office/drawing/2014/main" id="{40B2F242-3453-4F4C-8D22-F019F2EDD483}"/>
              </a:ext>
            </a:extLst>
          </p:cNvPr>
          <p:cNvSpPr>
            <a:spLocks xmlns:a="http://schemas.openxmlformats.org/drawingml/2006/main" noGrp="1"/>
          </p:cNvSpPr>
          <p:nvPr/>
        </p:nvSpPr>
        <p:spPr>
          <a:xfrm xmlns:a="http://schemas.openxmlformats.org/drawingml/2006/main">
            <a:off x="10953750" y="6600825"/>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2 / 15</a:t>
            </a:r>
          </a:p>
        </p:txBody>
      </p:sp>
      <p:sp>
        <p:nvSpPr>
          <p:cNvPr id="11" name="R1. What is a gene?">
            <a:extLst xmlns:a="http://schemas.openxmlformats.org/drawingml/2006/main">
              <a:ext uri="{FF2B5EF4-FFF2-40B4-BE49-F238E27FC236}">
                <a16:creationId xmlns:a16="http://schemas.microsoft.com/office/drawing/2014/main" id="{59116E57-A4C2-4A6D-91E3-6F8897E5399E}"/>
              </a:ext>
            </a:extLst>
          </p:cNvPr>
          <p:cNvSpPr>
            <a:spLocks xmlns:a="http://schemas.openxmlformats.org/drawingml/2006/main" noGrp="1"/>
          </p:cNvSpPr>
          <p:nvPr/>
        </p:nvSpPr>
        <p:spPr>
          <a:xfrm xmlns:a="http://schemas.openxmlformats.org/drawingml/2006/main">
            <a:off x="762000" y="2028825"/>
            <a:ext cx="10668000" cy="3629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1F2937"/>
                </a:solidFill>
                <a:latin typeface="Nimbus Sans"/>
                <a:ea typeface="Nimbus Sans"/>
                <a:cs typeface="Nimbus Sans"/>
              </a:defRPr>
            </a:pPr>
            <a:r>
              <a:rPr sz="2325" b="0">
                <a:solidFill>
                  <a:srgbClr val="1F2937"/>
                </a:solidFill>
                <a:latin typeface="Nimbus Sans"/>
                <a:ea typeface="Nimbus Sans"/>
                <a:cs typeface="Nimbus Sans"/>
              </a:rPr>
              <a:t>R1. What is a gene?</a:t>
            </a:r>
          </a:p>
        </p:txBody>
      </p:sp>
      <p:sp>
        <p:nvSpPr>
          <p:cNvPr id="12" name="R2. What do humans choose in selective breeding?">
            <a:extLst xmlns:a="http://schemas.openxmlformats.org/drawingml/2006/main">
              <a:ext uri="{FF2B5EF4-FFF2-40B4-BE49-F238E27FC236}">
                <a16:creationId xmlns:a16="http://schemas.microsoft.com/office/drawing/2014/main" id="{B566E933-11DD-4657-AB01-C3CFDD1EDAAB}"/>
              </a:ext>
            </a:extLst>
          </p:cNvPr>
          <p:cNvSpPr>
            <a:spLocks xmlns:a="http://schemas.openxmlformats.org/drawingml/2006/main" noGrp="1"/>
          </p:cNvSpPr>
          <p:nvPr/>
        </p:nvSpPr>
        <p:spPr>
          <a:xfrm xmlns:a="http://schemas.openxmlformats.org/drawingml/2006/main">
            <a:off x="762000" y="2582228"/>
            <a:ext cx="10668000" cy="3629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1F2937"/>
                </a:solidFill>
                <a:latin typeface="Nimbus Sans"/>
                <a:ea typeface="Nimbus Sans"/>
                <a:cs typeface="Nimbus Sans"/>
              </a:defRPr>
            </a:pPr>
            <a:r>
              <a:rPr sz="2325" b="0">
                <a:solidFill>
                  <a:srgbClr val="1F2937"/>
                </a:solidFill>
                <a:latin typeface="Nimbus Sans"/>
                <a:ea typeface="Nimbus Sans"/>
                <a:cs typeface="Nimbus Sans"/>
              </a:rPr>
              <a:t>R2. What do humans choose in selective breeding?</a:t>
            </a:r>
          </a:p>
        </p:txBody>
      </p:sp>
      <p:sp>
        <p:nvSpPr>
          <p:cNvPr id="13" name="R3. Can a resistance trait become more common over generations?">
            <a:extLst xmlns:a="http://schemas.openxmlformats.org/drawingml/2006/main">
              <a:ext uri="{FF2B5EF4-FFF2-40B4-BE49-F238E27FC236}">
                <a16:creationId xmlns:a16="http://schemas.microsoft.com/office/drawing/2014/main" id="{A9420641-8618-4404-A1F1-8EE929F58E3C}"/>
              </a:ext>
            </a:extLst>
          </p:cNvPr>
          <p:cNvSpPr>
            <a:spLocks xmlns:a="http://schemas.openxmlformats.org/drawingml/2006/main" noGrp="1"/>
          </p:cNvSpPr>
          <p:nvPr/>
        </p:nvSpPr>
        <p:spPr>
          <a:xfrm xmlns:a="http://schemas.openxmlformats.org/drawingml/2006/main">
            <a:off x="762000" y="3135630"/>
            <a:ext cx="10668000" cy="3629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1F2937"/>
                </a:solidFill>
                <a:latin typeface="Nimbus Sans"/>
                <a:ea typeface="Nimbus Sans"/>
                <a:cs typeface="Nimbus Sans"/>
              </a:defRPr>
            </a:pPr>
            <a:r>
              <a:rPr sz="2325" b="0">
                <a:solidFill>
                  <a:srgbClr val="1F2937"/>
                </a:solidFill>
                <a:latin typeface="Nimbus Sans"/>
                <a:ea typeface="Nimbus Sans"/>
                <a:cs typeface="Nimbus Sans"/>
              </a:rPr>
              <a:t>R3. Can a resistance trait become more common over generations?</a:t>
            </a:r>
          </a:p>
        </p:txBody>
      </p:sp>
    </p:spTree>
    <p:extLst>
      <p:ext uri="{BB962C8B-B14F-4D97-AF65-F5344CB8AC3E}">
        <p14:creationId xmlns:p14="http://schemas.microsoft.com/office/powerpoint/2010/main" val="32532745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 name="surface">
            <a:extLst xmlns:a="http://schemas.openxmlformats.org/drawingml/2006/main">
              <a:ext uri="{FF2B5EF4-FFF2-40B4-BE49-F238E27FC236}">
                <a16:creationId xmlns:a16="http://schemas.microsoft.com/office/drawing/2014/main" id="{81B403C7-4E0B-45D8-BB5D-44316149C933}"/>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C9803B"/>
          </a:solidFill>
          <a:ln xmlns:a="http://schemas.openxmlformats.org/drawingml/2006/main" w="0">
            <a:noFill/>
          </a:ln>
        </p:spPr>
      </p:sp>
      <p:sp>
        <p:nvSpPr>
          <p:cNvPr id="2" name="surface">
            <a:extLst xmlns:a="http://schemas.openxmlformats.org/drawingml/2006/main">
              <a:ext uri="{FF2B5EF4-FFF2-40B4-BE49-F238E27FC236}">
                <a16:creationId xmlns:a16="http://schemas.microsoft.com/office/drawing/2014/main" id="{9218A7B0-5B16-4995-AA6B-0386C24D4EFD}"/>
              </a:ext>
            </a:extLst>
          </p:cNvPr>
          <p:cNvSpPr>
            <a:spLocks xmlns:a="http://schemas.openxmlformats.org/drawingml/2006/main" noGrp="1"/>
          </p:cNvSpPr>
          <p:nvPr/>
        </p:nvSpPr>
        <p:spPr>
          <a:xfrm xmlns:a="http://schemas.openxmlformats.org/drawingml/2006/main">
            <a:off x="457200" y="400050"/>
            <a:ext cx="11277600" cy="485775"/>
          </a:xfrm>
          <a:prstGeom xmlns:a="http://schemas.openxmlformats.org/drawingml/2006/main" prst="rect">
            <a:avLst/>
          </a:prstGeom>
          <a:solidFill xmlns:a="http://schemas.openxmlformats.org/drawingml/2006/main">
            <a:srgbClr val="F3E6DA"/>
          </a:solidFill>
          <a:ln xmlns:a="http://schemas.openxmlformats.org/drawingml/2006/main" w="0">
            <a:noFill/>
          </a:ln>
        </p:spPr>
      </p:sp>
      <p:sp>
        <p:nvSpPr>
          <p:cNvPr id="3" name="surface">
            <a:extLst xmlns:a="http://schemas.openxmlformats.org/drawingml/2006/main">
              <a:ext uri="{FF2B5EF4-FFF2-40B4-BE49-F238E27FC236}">
                <a16:creationId xmlns:a16="http://schemas.microsoft.com/office/drawing/2014/main" id="{B7F14961-B9A1-434D-B35A-3A74A4A31623}"/>
              </a:ext>
            </a:extLst>
          </p:cNvPr>
          <p:cNvSpPr>
            <a:spLocks xmlns:a="http://schemas.openxmlformats.org/drawingml/2006/main" noGrp="1"/>
          </p:cNvSpPr>
          <p:nvPr/>
        </p:nvSpPr>
        <p:spPr>
          <a:xfrm xmlns:a="http://schemas.openxmlformats.org/drawingml/2006/main">
            <a:off x="457200" y="400050"/>
            <a:ext cx="66675" cy="485775"/>
          </a:xfrm>
          <a:prstGeom xmlns:a="http://schemas.openxmlformats.org/drawingml/2006/main" prst="rect">
            <a:avLst/>
          </a:prstGeom>
          <a:solidFill xmlns:a="http://schemas.openxmlformats.org/drawingml/2006/main">
            <a:srgbClr val="C9803B"/>
          </a:solidFill>
          <a:ln xmlns:a="http://schemas.openxmlformats.org/drawingml/2006/main" w="0">
            <a:noFill/>
          </a:ln>
        </p:spPr>
      </p:sp>
      <p:sp>
        <p:nvSpPr>
          <p:cNvPr id="4" name="LAUNCH SCIENCE">
            <a:extLst xmlns:a="http://schemas.openxmlformats.org/drawingml/2006/main">
              <a:ext uri="{FF2B5EF4-FFF2-40B4-BE49-F238E27FC236}">
                <a16:creationId xmlns:a16="http://schemas.microsoft.com/office/drawing/2014/main" id="{C865FBD2-7F23-4AEC-BCAE-FA0381B6C277}"/>
              </a:ext>
            </a:extLst>
          </p:cNvPr>
          <p:cNvSpPr>
            <a:spLocks xmlns:a="http://schemas.openxmlformats.org/drawingml/2006/main" noGrp="1"/>
          </p:cNvSpPr>
          <p:nvPr/>
        </p:nvSpPr>
        <p:spPr>
          <a:xfrm xmlns:a="http://schemas.openxmlformats.org/drawingml/2006/main">
            <a:off x="685800" y="504825"/>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1">
                <a:solidFill>
                  <a:srgbClr val="C9803B"/>
                </a:solidFill>
                <a:latin typeface="Nimbus Sans"/>
                <a:ea typeface="Nimbus Sans"/>
                <a:cs typeface="Nimbus Sans"/>
              </a:defRPr>
            </a:pPr>
            <a:r>
              <a:rPr sz="1800" b="1">
                <a:solidFill>
                  <a:srgbClr val="C9803B"/>
                </a:solidFill>
                <a:latin typeface="Nimbus Sans"/>
                <a:ea typeface="Nimbus Sans"/>
                <a:cs typeface="Nimbus Sans"/>
              </a:rPr>
              <a:t>LAUNCH SCIENCE</a:t>
            </a:r>
          </a:p>
        </p:txBody>
      </p:sp>
      <p:sp>
        <p:nvSpPr>
          <p:cNvPr id="5" name="I do">
            <a:extLst xmlns:a="http://schemas.openxmlformats.org/drawingml/2006/main">
              <a:ext uri="{FF2B5EF4-FFF2-40B4-BE49-F238E27FC236}">
                <a16:creationId xmlns:a16="http://schemas.microsoft.com/office/drawing/2014/main" id="{4B84953F-5E95-4FC9-82AC-BCFD1E187B94}"/>
              </a:ext>
            </a:extLst>
          </p:cNvPr>
          <p:cNvSpPr>
            <a:spLocks xmlns:a="http://schemas.openxmlformats.org/drawingml/2006/main" noGrp="1"/>
          </p:cNvSpPr>
          <p:nvPr/>
        </p:nvSpPr>
        <p:spPr>
          <a:xfrm xmlns:a="http://schemas.openxmlformats.org/drawingml/2006/main">
            <a:off x="5943600" y="504825"/>
            <a:ext cx="3752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1">
                <a:solidFill>
                  <a:srgbClr val="C9803B"/>
                </a:solidFill>
                <a:latin typeface="Nimbus Sans"/>
                <a:ea typeface="Nimbus Sans"/>
                <a:cs typeface="Nimbus Sans"/>
              </a:defRPr>
            </a:pPr>
            <a:r>
              <a:rPr sz="1800" b="1">
                <a:solidFill>
                  <a:srgbClr val="C9803B"/>
                </a:solidFill>
                <a:latin typeface="Nimbus Sans"/>
                <a:ea typeface="Nimbus Sans"/>
                <a:cs typeface="Nimbus Sans"/>
              </a:rPr>
              <a:t>I do</a:t>
            </a:r>
          </a:p>
        </p:txBody>
      </p:sp>
      <p:sp>
        <p:nvSpPr>
          <p:cNvPr id="6" name="4 min">
            <a:extLst xmlns:a="http://schemas.openxmlformats.org/drawingml/2006/main">
              <a:ext uri="{FF2B5EF4-FFF2-40B4-BE49-F238E27FC236}">
                <a16:creationId xmlns:a16="http://schemas.microsoft.com/office/drawing/2014/main" id="{6B098F9B-68FA-42DB-8A5A-CC1426FFB042}"/>
              </a:ext>
            </a:extLst>
          </p:cNvPr>
          <p:cNvSpPr>
            <a:spLocks xmlns:a="http://schemas.openxmlformats.org/drawingml/2006/main" noGrp="1"/>
          </p:cNvSpPr>
          <p:nvPr/>
        </p:nvSpPr>
        <p:spPr>
          <a:xfrm xmlns:a="http://schemas.openxmlformats.org/drawingml/2006/main">
            <a:off x="10029825" y="504825"/>
            <a:ext cx="14573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725" b="0">
                <a:solidFill>
                  <a:srgbClr val="465465"/>
                </a:solidFill>
                <a:latin typeface="Nimbus Sans"/>
                <a:ea typeface="Nimbus Sans"/>
                <a:cs typeface="Nimbus Sans"/>
              </a:defRPr>
            </a:pPr>
            <a:r>
              <a:rPr sz="1725" b="0">
                <a:solidFill>
                  <a:srgbClr val="465465"/>
                </a:solidFill>
                <a:latin typeface="Nimbus Sans"/>
                <a:ea typeface="Nimbus Sans"/>
                <a:cs typeface="Nimbus Sans"/>
              </a:rPr>
              <a:t>4 min</a:t>
            </a:r>
          </a:p>
        </p:txBody>
      </p:sp>
      <p:sp>
        <p:nvSpPr>
          <p:cNvPr id="7" name="What genetic engineering means">
            <a:extLst xmlns:a="http://schemas.openxmlformats.org/drawingml/2006/main">
              <a:ext uri="{FF2B5EF4-FFF2-40B4-BE49-F238E27FC236}">
                <a16:creationId xmlns:a16="http://schemas.microsoft.com/office/drawing/2014/main" id="{2FE7822D-BE29-4E14-B16E-0CF47ABF8155}"/>
              </a:ext>
            </a:extLst>
          </p:cNvPr>
          <p:cNvSpPr>
            <a:spLocks xmlns:a="http://schemas.openxmlformats.org/drawingml/2006/main" noGrp="1"/>
          </p:cNvSpPr>
          <p:nvPr/>
        </p:nvSpPr>
        <p:spPr>
          <a:xfrm xmlns:a="http://schemas.openxmlformats.org/drawingml/2006/main">
            <a:off x="533400" y="1066800"/>
            <a:ext cx="11125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3000" b="1">
                <a:solidFill>
                  <a:srgbClr val="1F2937"/>
                </a:solidFill>
                <a:latin typeface="Nimbus Sans"/>
                <a:ea typeface="Nimbus Sans"/>
                <a:cs typeface="Nimbus Sans"/>
              </a:defRPr>
            </a:pPr>
            <a:r>
              <a:rPr sz="3000" b="1">
                <a:solidFill>
                  <a:srgbClr val="1F2937"/>
                </a:solidFill>
                <a:latin typeface="Nimbus Sans"/>
                <a:ea typeface="Nimbus Sans"/>
                <a:cs typeface="Nimbus Sans"/>
              </a:rPr>
              <a:t>What genetic engineering means</a:t>
            </a:r>
          </a:p>
        </p:txBody>
      </p:sp>
      <p:sp>
        <p:nvSpPr>
          <p:cNvPr id="8" name="surface">
            <a:extLst xmlns:a="http://schemas.openxmlformats.org/drawingml/2006/main">
              <a:ext uri="{FF2B5EF4-FFF2-40B4-BE49-F238E27FC236}">
                <a16:creationId xmlns:a16="http://schemas.microsoft.com/office/drawing/2014/main" id="{3ACE34EA-6A53-4C60-9E96-1F3292032003}"/>
              </a:ext>
            </a:extLst>
          </p:cNvPr>
          <p:cNvSpPr>
            <a:spLocks xmlns:a="http://schemas.openxmlformats.org/drawingml/2006/main" noGrp="1"/>
          </p:cNvSpPr>
          <p:nvPr/>
        </p:nvSpPr>
        <p:spPr>
          <a:xfrm xmlns:a="http://schemas.openxmlformats.org/drawingml/2006/main">
            <a:off x="457200" y="6496050"/>
            <a:ext cx="11277600" cy="9525"/>
          </a:xfrm>
          <a:prstGeom xmlns:a="http://schemas.openxmlformats.org/drawingml/2006/main" prst="rect">
            <a:avLst/>
          </a:prstGeom>
          <a:solidFill xmlns:a="http://schemas.openxmlformats.org/drawingml/2006/main">
            <a:srgbClr val="D8DDE2"/>
          </a:solidFill>
          <a:ln xmlns:a="http://schemas.openxmlformats.org/drawingml/2006/main" w="0">
            <a:noFill/>
          </a:ln>
        </p:spPr>
      </p:sp>
      <p:sp>
        <p:nvSpPr>
          <p:cNvPr id="9" name="Genetic engineering: change, test, decide">
            <a:extLst xmlns:a="http://schemas.openxmlformats.org/drawingml/2006/main">
              <a:ext uri="{FF2B5EF4-FFF2-40B4-BE49-F238E27FC236}">
                <a16:creationId xmlns:a16="http://schemas.microsoft.com/office/drawing/2014/main" id="{505D5C37-1EF2-4D23-9FF2-864676142837}"/>
              </a:ext>
            </a:extLst>
          </p:cNvPr>
          <p:cNvSpPr>
            <a:spLocks xmlns:a="http://schemas.openxmlformats.org/drawingml/2006/main" noGrp="1"/>
          </p:cNvSpPr>
          <p:nvPr/>
        </p:nvSpPr>
        <p:spPr>
          <a:xfrm xmlns:a="http://schemas.openxmlformats.org/drawingml/2006/main">
            <a:off x="533400" y="6600825"/>
            <a:ext cx="10572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Genetic engineering: change, test, decide</a:t>
            </a:r>
          </a:p>
        </p:txBody>
      </p:sp>
      <p:sp>
        <p:nvSpPr>
          <p:cNvPr id="10" name="3 / 15">
            <a:extLst xmlns:a="http://schemas.openxmlformats.org/drawingml/2006/main">
              <a:ext uri="{FF2B5EF4-FFF2-40B4-BE49-F238E27FC236}">
                <a16:creationId xmlns:a16="http://schemas.microsoft.com/office/drawing/2014/main" id="{3852F8D0-D3C8-4BCC-96D9-1FB70CE9172D}"/>
              </a:ext>
            </a:extLst>
          </p:cNvPr>
          <p:cNvSpPr>
            <a:spLocks xmlns:a="http://schemas.openxmlformats.org/drawingml/2006/main" noGrp="1"/>
          </p:cNvSpPr>
          <p:nvPr/>
        </p:nvSpPr>
        <p:spPr>
          <a:xfrm xmlns:a="http://schemas.openxmlformats.org/drawingml/2006/main">
            <a:off x="10953750" y="6600825"/>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3 / 15</a:t>
            </a:r>
          </a:p>
        </p:txBody>
      </p:sp>
      <p:sp>
        <p:nvSpPr>
          <p:cNvPr id="11" name="Diagram label: Genetic engineering: alter the genome">
            <a:extLst xmlns:a="http://schemas.openxmlformats.org/drawingml/2006/main">
              <a:ext uri="{FF2B5EF4-FFF2-40B4-BE49-F238E27FC236}">
                <a16:creationId xmlns:a16="http://schemas.microsoft.com/office/drawing/2014/main" id="{A5ABCF76-3237-4054-933E-B1240E221572}"/>
              </a:ext>
            </a:extLst>
          </p:cNvPr>
          <p:cNvSpPr>
            <a:spLocks xmlns:a="http://schemas.openxmlformats.org/drawingml/2006/main" noGrp="1"/>
          </p:cNvSpPr>
          <p:nvPr/>
        </p:nvSpPr>
        <p:spPr>
          <a:xfrm xmlns:a="http://schemas.openxmlformats.org/drawingml/2006/main">
            <a:off x="2837429" y="1988004"/>
            <a:ext cx="6517141" cy="31534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711" b="1">
                <a:solidFill>
                  <a:srgbClr val="1F2937"/>
                </a:solidFill>
                <a:latin typeface="Nimbus Sans"/>
                <a:ea typeface="Nimbus Sans"/>
                <a:cs typeface="Nimbus Sans"/>
              </a:defRPr>
            </a:pPr>
            <a:r>
              <a:rPr sz="1711" b="1">
                <a:solidFill>
                  <a:srgbClr val="1F2937"/>
                </a:solidFill>
                <a:latin typeface="Nimbus Sans"/>
                <a:ea typeface="Nimbus Sans"/>
                <a:cs typeface="Nimbus Sans"/>
              </a:rPr>
              <a:t>Genetic engineering: alter the genome</a:t>
            </a:r>
          </a:p>
        </p:txBody>
      </p:sp>
      <p:sp>
        <p:nvSpPr>
          <p:cNvPr id="12" name="Diagram label: A genome is all an organism’s genetic information.">
            <a:extLst xmlns:a="http://schemas.openxmlformats.org/drawingml/2006/main">
              <a:ext uri="{FF2B5EF4-FFF2-40B4-BE49-F238E27FC236}">
                <a16:creationId xmlns:a16="http://schemas.microsoft.com/office/drawing/2014/main" id="{639E9D66-3449-486B-8FF7-63CFBE696EE3}"/>
              </a:ext>
            </a:extLst>
          </p:cNvPr>
          <p:cNvSpPr>
            <a:spLocks xmlns:a="http://schemas.openxmlformats.org/drawingml/2006/main" noGrp="1"/>
          </p:cNvSpPr>
          <p:nvPr/>
        </p:nvSpPr>
        <p:spPr>
          <a:xfrm xmlns:a="http://schemas.openxmlformats.org/drawingml/2006/main">
            <a:off x="2837429" y="2422480"/>
            <a:ext cx="6517141" cy="31534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379" b="0">
                <a:solidFill>
                  <a:srgbClr val="1F2937"/>
                </a:solidFill>
                <a:latin typeface="Nimbus Sans"/>
                <a:ea typeface="Nimbus Sans"/>
                <a:cs typeface="Nimbus Sans"/>
              </a:defRPr>
            </a:pPr>
            <a:r>
              <a:rPr sz="1379" b="0">
                <a:solidFill>
                  <a:srgbClr val="1F2937"/>
                </a:solidFill>
                <a:latin typeface="Nimbus Sans"/>
                <a:ea typeface="Nimbus Sans"/>
                <a:cs typeface="Nimbus Sans"/>
              </a:rPr>
              <a:t>A genome is all an organism’s genetic information.</a:t>
            </a:r>
          </a:p>
        </p:txBody>
      </p:sp>
      <p:sp>
        <p:nvSpPr>
          <p:cNvPr id="13" name="Diagram label: Add a&#10;segment">
            <a:extLst xmlns:a="http://schemas.openxmlformats.org/drawingml/2006/main">
              <a:ext uri="{FF2B5EF4-FFF2-40B4-BE49-F238E27FC236}">
                <a16:creationId xmlns:a16="http://schemas.microsoft.com/office/drawing/2014/main" id="{988A21C4-BCAB-4565-85AF-16E999F8DDCF}"/>
              </a:ext>
            </a:extLst>
          </p:cNvPr>
          <p:cNvSpPr>
            <a:spLocks xmlns:a="http://schemas.openxmlformats.org/drawingml/2006/main" noGrp="1"/>
          </p:cNvSpPr>
          <p:nvPr/>
        </p:nvSpPr>
        <p:spPr>
          <a:xfrm xmlns:a="http://schemas.openxmlformats.org/drawingml/2006/main">
            <a:off x="2907506" y="2863963"/>
            <a:ext cx="1366497" cy="56061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545" b="1">
                <a:solidFill>
                  <a:srgbClr val="1F2937"/>
                </a:solidFill>
                <a:latin typeface="Nimbus Sans"/>
                <a:ea typeface="Nimbus Sans"/>
                <a:cs typeface="Nimbus Sans"/>
              </a:defRPr>
            </a:pPr>
            <a:r>
              <a:rPr sz="1545" b="1">
                <a:solidFill>
                  <a:srgbClr val="1F2937"/>
                </a:solidFill>
                <a:latin typeface="Nimbus Sans"/>
                <a:ea typeface="Nimbus Sans"/>
                <a:cs typeface="Nimbus Sans"/>
              </a:rPr>
              <a:t>Add a</a:t>
            </a:r>
          </a:p>
          <a:p xmlns:a="http://schemas.openxmlformats.org/drawingml/2006/main">
            <a:pPr algn="l">
              <a:lnSpc>
                <a:spcPct val="108000"/>
              </a:lnSpc>
              <a:buNone/>
              <a:defRPr sz="1545" b="1">
                <a:solidFill>
                  <a:srgbClr val="1F2937"/>
                </a:solidFill>
                <a:latin typeface="Nimbus Sans"/>
                <a:ea typeface="Nimbus Sans"/>
                <a:cs typeface="Nimbus Sans"/>
              </a:defRPr>
            </a:pPr>
            <a:r>
              <a:rPr sz="1545" b="1">
                <a:solidFill>
                  <a:srgbClr val="1F2937"/>
                </a:solidFill>
                <a:latin typeface="Nimbus Sans"/>
                <a:ea typeface="Nimbus Sans"/>
                <a:cs typeface="Nimbus Sans"/>
              </a:rPr>
              <a:t>segment</a:t>
            </a:r>
          </a:p>
        </p:txBody>
      </p:sp>
      <p:sp>
        <p:nvSpPr>
          <p:cNvPr id="14" name="Editable scientific diagram">
            <a:extLst xmlns:a="http://schemas.openxmlformats.org/drawingml/2006/main">
              <a:ext uri="{FF2B5EF4-FFF2-40B4-BE49-F238E27FC236}">
                <a16:creationId xmlns:a16="http://schemas.microsoft.com/office/drawing/2014/main" id="{817387A7-AD60-4237-BA6F-7874757718E2}"/>
              </a:ext>
            </a:extLst>
          </p:cNvPr>
          <p:cNvSpPr>
            <a:spLocks xmlns:a="http://schemas.openxmlformats.org/drawingml/2006/main" noGrp="1"/>
          </p:cNvSpPr>
          <p:nvPr/>
        </p:nvSpPr>
        <p:spPr>
          <a:xfrm xmlns:a="http://schemas.openxmlformats.org/drawingml/2006/main">
            <a:off x="4379119" y="2899002"/>
            <a:ext cx="1331459" cy="385422"/>
          </a:xfrm>
          <a:prstGeom xmlns:a="http://schemas.openxmlformats.org/drawingml/2006/main" prst="rect">
            <a:avLst/>
          </a:prstGeom>
          <a:solidFill xmlns:a="http://schemas.openxmlformats.org/drawingml/2006/main">
            <a:srgbClr val="8BBBD2"/>
          </a:solidFill>
          <a:ln xmlns:a="http://schemas.openxmlformats.org/drawingml/2006/main" w="21023">
            <a:solidFill>
              <a:srgbClr val="4D82A0"/>
            </a:solidFill>
          </a:ln>
        </p:spPr>
      </p:sp>
      <p:sp>
        <p:nvSpPr>
          <p:cNvPr id="15" name="Editable scientific diagram">
            <a:extLst xmlns:a="http://schemas.openxmlformats.org/drawingml/2006/main">
              <a:ext uri="{FF2B5EF4-FFF2-40B4-BE49-F238E27FC236}">
                <a16:creationId xmlns:a16="http://schemas.microsoft.com/office/drawing/2014/main" id="{A724E1F0-00E4-4248-BA9B-68CAE811FE2C}"/>
              </a:ext>
            </a:extLst>
          </p:cNvPr>
          <p:cNvSpPr>
            <a:spLocks xmlns:a="http://schemas.openxmlformats.org/drawingml/2006/main" noGrp="1"/>
          </p:cNvSpPr>
          <p:nvPr/>
        </p:nvSpPr>
        <p:spPr>
          <a:xfrm xmlns:a="http://schemas.openxmlformats.org/drawingml/2006/main">
            <a:off x="5745616" y="2899002"/>
            <a:ext cx="1156267" cy="385422"/>
          </a:xfrm>
          <a:prstGeom xmlns:a="http://schemas.openxmlformats.org/drawingml/2006/main" prst="rect">
            <a:avLst/>
          </a:prstGeom>
          <a:solidFill xmlns:a="http://schemas.openxmlformats.org/drawingml/2006/main">
            <a:srgbClr val="E8BB8B"/>
          </a:solidFill>
          <a:ln xmlns:a="http://schemas.openxmlformats.org/drawingml/2006/main" w="21023">
            <a:solidFill>
              <a:srgbClr val="C9803B"/>
            </a:solidFill>
          </a:ln>
        </p:spPr>
      </p:sp>
      <p:sp>
        <p:nvSpPr>
          <p:cNvPr id="16" name="Editable scientific diagram">
            <a:extLst xmlns:a="http://schemas.openxmlformats.org/drawingml/2006/main">
              <a:ext uri="{FF2B5EF4-FFF2-40B4-BE49-F238E27FC236}">
                <a16:creationId xmlns:a16="http://schemas.microsoft.com/office/drawing/2014/main" id="{60FBBF73-0366-4F70-B73D-F377E5B69B68}"/>
              </a:ext>
            </a:extLst>
          </p:cNvPr>
          <p:cNvSpPr>
            <a:spLocks xmlns:a="http://schemas.openxmlformats.org/drawingml/2006/main" noGrp="1"/>
          </p:cNvSpPr>
          <p:nvPr/>
        </p:nvSpPr>
        <p:spPr>
          <a:xfrm xmlns:a="http://schemas.openxmlformats.org/drawingml/2006/main">
            <a:off x="6936921" y="2899002"/>
            <a:ext cx="1821996" cy="385422"/>
          </a:xfrm>
          <a:prstGeom xmlns:a="http://schemas.openxmlformats.org/drawingml/2006/main" prst="rect">
            <a:avLst/>
          </a:prstGeom>
          <a:solidFill xmlns:a="http://schemas.openxmlformats.org/drawingml/2006/main">
            <a:srgbClr val="8BBBD2"/>
          </a:solidFill>
          <a:ln xmlns:a="http://schemas.openxmlformats.org/drawingml/2006/main" w="21023">
            <a:solidFill>
              <a:srgbClr val="4D82A0"/>
            </a:solidFill>
          </a:ln>
        </p:spPr>
      </p:sp>
      <p:sp>
        <p:nvSpPr>
          <p:cNvPr id="17" name="Diagram label: Change DNA">
            <a:extLst xmlns:a="http://schemas.openxmlformats.org/drawingml/2006/main">
              <a:ext uri="{FF2B5EF4-FFF2-40B4-BE49-F238E27FC236}">
                <a16:creationId xmlns:a16="http://schemas.microsoft.com/office/drawing/2014/main" id="{F495D834-ADD2-482A-BF7F-A47F9160B757}"/>
              </a:ext>
            </a:extLst>
          </p:cNvPr>
          <p:cNvSpPr>
            <a:spLocks xmlns:a="http://schemas.openxmlformats.org/drawingml/2006/main" noGrp="1"/>
          </p:cNvSpPr>
          <p:nvPr/>
        </p:nvSpPr>
        <p:spPr>
          <a:xfrm xmlns:a="http://schemas.openxmlformats.org/drawingml/2006/main">
            <a:off x="2907506" y="3774962"/>
            <a:ext cx="1366497" cy="4554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545" b="1">
                <a:solidFill>
                  <a:srgbClr val="1F2937"/>
                </a:solidFill>
                <a:latin typeface="Nimbus Sans"/>
                <a:ea typeface="Nimbus Sans"/>
                <a:cs typeface="Nimbus Sans"/>
              </a:defRPr>
            </a:pPr>
            <a:r>
              <a:rPr sz="1545" b="1">
                <a:solidFill>
                  <a:srgbClr val="1F2937"/>
                </a:solidFill>
                <a:latin typeface="Nimbus Sans"/>
                <a:ea typeface="Nimbus Sans"/>
                <a:cs typeface="Nimbus Sans"/>
              </a:rPr>
              <a:t>Change DNA</a:t>
            </a:r>
          </a:p>
        </p:txBody>
      </p:sp>
      <p:sp>
        <p:nvSpPr>
          <p:cNvPr id="18" name="Editable scientific diagram">
            <a:extLst xmlns:a="http://schemas.openxmlformats.org/drawingml/2006/main">
              <a:ext uri="{FF2B5EF4-FFF2-40B4-BE49-F238E27FC236}">
                <a16:creationId xmlns:a16="http://schemas.microsoft.com/office/drawing/2014/main" id="{FE3001F4-0CF1-45D0-ADE0-F1D467F80B0B}"/>
              </a:ext>
            </a:extLst>
          </p:cNvPr>
          <p:cNvSpPr>
            <a:spLocks xmlns:a="http://schemas.openxmlformats.org/drawingml/2006/main" noGrp="1"/>
          </p:cNvSpPr>
          <p:nvPr/>
        </p:nvSpPr>
        <p:spPr>
          <a:xfrm xmlns:a="http://schemas.openxmlformats.org/drawingml/2006/main">
            <a:off x="4379119" y="3739923"/>
            <a:ext cx="1331459" cy="385422"/>
          </a:xfrm>
          <a:prstGeom xmlns:a="http://schemas.openxmlformats.org/drawingml/2006/main" prst="rect">
            <a:avLst/>
          </a:prstGeom>
          <a:solidFill xmlns:a="http://schemas.openxmlformats.org/drawingml/2006/main">
            <a:srgbClr val="8BBBD2"/>
          </a:solidFill>
          <a:ln xmlns:a="http://schemas.openxmlformats.org/drawingml/2006/main" w="21023">
            <a:solidFill>
              <a:srgbClr val="4D82A0"/>
            </a:solidFill>
          </a:ln>
        </p:spPr>
      </p:sp>
      <p:sp>
        <p:nvSpPr>
          <p:cNvPr id="19" name="Editable scientific diagram">
            <a:extLst xmlns:a="http://schemas.openxmlformats.org/drawingml/2006/main">
              <a:ext uri="{FF2B5EF4-FFF2-40B4-BE49-F238E27FC236}">
                <a16:creationId xmlns:a16="http://schemas.microsoft.com/office/drawing/2014/main" id="{3FD276FB-D937-4E9A-A234-4AD5265522DF}"/>
              </a:ext>
            </a:extLst>
          </p:cNvPr>
          <p:cNvSpPr>
            <a:spLocks xmlns:a="http://schemas.openxmlformats.org/drawingml/2006/main" noGrp="1"/>
          </p:cNvSpPr>
          <p:nvPr/>
        </p:nvSpPr>
        <p:spPr>
          <a:xfrm xmlns:a="http://schemas.openxmlformats.org/drawingml/2006/main">
            <a:off x="5745616" y="3739923"/>
            <a:ext cx="1156267" cy="385422"/>
          </a:xfrm>
          <a:prstGeom xmlns:a="http://schemas.openxmlformats.org/drawingml/2006/main" prst="rect">
            <a:avLst/>
          </a:prstGeom>
          <a:solidFill xmlns:a="http://schemas.openxmlformats.org/drawingml/2006/main">
            <a:srgbClr val="D9D0E3"/>
          </a:solidFill>
          <a:ln xmlns:a="http://schemas.openxmlformats.org/drawingml/2006/main" w="21023">
            <a:solidFill>
              <a:srgbClr val="7A5C9E"/>
            </a:solidFill>
          </a:ln>
        </p:spPr>
      </p:sp>
      <p:sp>
        <p:nvSpPr>
          <p:cNvPr id="20" name="Editable scientific diagram">
            <a:extLst xmlns:a="http://schemas.openxmlformats.org/drawingml/2006/main">
              <a:ext uri="{FF2B5EF4-FFF2-40B4-BE49-F238E27FC236}">
                <a16:creationId xmlns:a16="http://schemas.microsoft.com/office/drawing/2014/main" id="{63E9F8AB-0D1E-4CC3-8477-5F96D1F5F68B}"/>
              </a:ext>
            </a:extLst>
          </p:cNvPr>
          <p:cNvSpPr>
            <a:spLocks xmlns:a="http://schemas.openxmlformats.org/drawingml/2006/main" noGrp="1"/>
          </p:cNvSpPr>
          <p:nvPr/>
        </p:nvSpPr>
        <p:spPr>
          <a:xfrm xmlns:a="http://schemas.openxmlformats.org/drawingml/2006/main">
            <a:off x="6936921" y="3739923"/>
            <a:ext cx="1821996" cy="385422"/>
          </a:xfrm>
          <a:prstGeom xmlns:a="http://schemas.openxmlformats.org/drawingml/2006/main" prst="rect">
            <a:avLst/>
          </a:prstGeom>
          <a:solidFill xmlns:a="http://schemas.openxmlformats.org/drawingml/2006/main">
            <a:srgbClr val="8BBBD2"/>
          </a:solidFill>
          <a:ln xmlns:a="http://schemas.openxmlformats.org/drawingml/2006/main" w="21023">
            <a:solidFill>
              <a:srgbClr val="4D82A0"/>
            </a:solidFill>
          </a:ln>
        </p:spPr>
      </p:sp>
      <p:sp>
        <p:nvSpPr>
          <p:cNvPr id="21" name="Diagram label: Delete DNA">
            <a:extLst xmlns:a="http://schemas.openxmlformats.org/drawingml/2006/main">
              <a:ext uri="{FF2B5EF4-FFF2-40B4-BE49-F238E27FC236}">
                <a16:creationId xmlns:a16="http://schemas.microsoft.com/office/drawing/2014/main" id="{9AE513F6-1A7A-45B7-8157-D4C54E54E2E5}"/>
              </a:ext>
            </a:extLst>
          </p:cNvPr>
          <p:cNvSpPr>
            <a:spLocks xmlns:a="http://schemas.openxmlformats.org/drawingml/2006/main" noGrp="1"/>
          </p:cNvSpPr>
          <p:nvPr/>
        </p:nvSpPr>
        <p:spPr>
          <a:xfrm xmlns:a="http://schemas.openxmlformats.org/drawingml/2006/main">
            <a:off x="2907506" y="4615883"/>
            <a:ext cx="1366497" cy="31534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545" b="1">
                <a:solidFill>
                  <a:srgbClr val="1F2937"/>
                </a:solidFill>
                <a:latin typeface="Nimbus Sans"/>
                <a:ea typeface="Nimbus Sans"/>
                <a:cs typeface="Nimbus Sans"/>
              </a:defRPr>
            </a:pPr>
            <a:r>
              <a:rPr sz="1545" b="1">
                <a:solidFill>
                  <a:srgbClr val="1F2937"/>
                </a:solidFill>
                <a:latin typeface="Nimbus Sans"/>
                <a:ea typeface="Nimbus Sans"/>
                <a:cs typeface="Nimbus Sans"/>
              </a:rPr>
              <a:t>Delete DNA</a:t>
            </a:r>
          </a:p>
        </p:txBody>
      </p:sp>
      <p:sp>
        <p:nvSpPr>
          <p:cNvPr id="22" name="Editable scientific diagram">
            <a:extLst xmlns:a="http://schemas.openxmlformats.org/drawingml/2006/main">
              <a:ext uri="{FF2B5EF4-FFF2-40B4-BE49-F238E27FC236}">
                <a16:creationId xmlns:a16="http://schemas.microsoft.com/office/drawing/2014/main" id="{FE308ED8-F8F8-4AB9-9697-B0AC84869079}"/>
              </a:ext>
            </a:extLst>
          </p:cNvPr>
          <p:cNvSpPr>
            <a:spLocks xmlns:a="http://schemas.openxmlformats.org/drawingml/2006/main" noGrp="1"/>
          </p:cNvSpPr>
          <p:nvPr/>
        </p:nvSpPr>
        <p:spPr>
          <a:xfrm xmlns:a="http://schemas.openxmlformats.org/drawingml/2006/main">
            <a:off x="4379119" y="4545806"/>
            <a:ext cx="1331459" cy="385422"/>
          </a:xfrm>
          <a:prstGeom xmlns:a="http://schemas.openxmlformats.org/drawingml/2006/main" prst="rect">
            <a:avLst/>
          </a:prstGeom>
          <a:solidFill xmlns:a="http://schemas.openxmlformats.org/drawingml/2006/main">
            <a:srgbClr val="8BBBD2"/>
          </a:solidFill>
          <a:ln xmlns:a="http://schemas.openxmlformats.org/drawingml/2006/main" w="21023">
            <a:solidFill>
              <a:srgbClr val="4D82A0"/>
            </a:solidFill>
          </a:ln>
        </p:spPr>
      </p:sp>
      <p:sp>
        <p:nvSpPr>
          <p:cNvPr id="23" name="Diagram line">
            <a:extLst xmlns:a="http://schemas.openxmlformats.org/drawingml/2006/main">
              <a:ext uri="{FF2B5EF4-FFF2-40B4-BE49-F238E27FC236}">
                <a16:creationId xmlns:a16="http://schemas.microsoft.com/office/drawing/2014/main" id="{07D8C799-645D-4CF2-8F33-00C1A34C9712}"/>
              </a:ext>
            </a:extLst>
          </p:cNvPr>
          <p:cNvSpPr>
            <a:spLocks xmlns:a="http://schemas.openxmlformats.org/drawingml/2006/main" noGrp="1"/>
          </p:cNvSpPr>
          <p:nvPr/>
        </p:nvSpPr>
        <p:spPr>
          <a:xfrm xmlns:a="http://schemas.openxmlformats.org/drawingml/2006/main" flipH="0" flipV="0">
            <a:off x="5745616" y="4735014"/>
            <a:ext cx="1156267" cy="953"/>
          </a:xfrm>
          <a:prstGeom xmlns:a="http://schemas.openxmlformats.org/drawingml/2006/main" prst="line">
            <a:avLst/>
          </a:prstGeom>
          <a:noFill xmlns:a="http://schemas.openxmlformats.org/drawingml/2006/main"/>
          <a:ln xmlns:a="http://schemas.openxmlformats.org/drawingml/2006/main" w="21023">
            <a:solidFill>
              <a:srgbClr val="1F2937"/>
            </a:solidFill>
          </a:ln>
        </p:spPr>
      </p:sp>
      <p:sp>
        <p:nvSpPr>
          <p:cNvPr id="24" name="Editable scientific diagram">
            <a:extLst xmlns:a="http://schemas.openxmlformats.org/drawingml/2006/main">
              <a:ext uri="{FF2B5EF4-FFF2-40B4-BE49-F238E27FC236}">
                <a16:creationId xmlns:a16="http://schemas.microsoft.com/office/drawing/2014/main" id="{216D768B-CCE2-422D-A9D1-D475E4A019BF}"/>
              </a:ext>
            </a:extLst>
          </p:cNvPr>
          <p:cNvSpPr>
            <a:spLocks xmlns:a="http://schemas.openxmlformats.org/drawingml/2006/main" noGrp="1"/>
          </p:cNvSpPr>
          <p:nvPr/>
        </p:nvSpPr>
        <p:spPr>
          <a:xfrm xmlns:a="http://schemas.openxmlformats.org/drawingml/2006/main">
            <a:off x="6936921" y="4545806"/>
            <a:ext cx="1821996" cy="385422"/>
          </a:xfrm>
          <a:prstGeom xmlns:a="http://schemas.openxmlformats.org/drawingml/2006/main" prst="rect">
            <a:avLst/>
          </a:prstGeom>
          <a:solidFill xmlns:a="http://schemas.openxmlformats.org/drawingml/2006/main">
            <a:srgbClr val="8BBBD2"/>
          </a:solidFill>
          <a:ln xmlns:a="http://schemas.openxmlformats.org/drawingml/2006/main" w="21023">
            <a:solidFill>
              <a:srgbClr val="4D82A0"/>
            </a:solidFill>
          </a:ln>
        </p:spPr>
      </p:sp>
      <p:sp>
        <p:nvSpPr>
          <p:cNvPr id="25" name="Diagram label: Cross-species transfer is only one method.">
            <a:extLst xmlns:a="http://schemas.openxmlformats.org/drawingml/2006/main">
              <a:ext uri="{FF2B5EF4-FFF2-40B4-BE49-F238E27FC236}">
                <a16:creationId xmlns:a16="http://schemas.microsoft.com/office/drawing/2014/main" id="{F97A002C-F973-41CC-83E0-00DE11451422}"/>
              </a:ext>
            </a:extLst>
          </p:cNvPr>
          <p:cNvSpPr>
            <a:spLocks xmlns:a="http://schemas.openxmlformats.org/drawingml/2006/main" noGrp="1"/>
          </p:cNvSpPr>
          <p:nvPr/>
        </p:nvSpPr>
        <p:spPr>
          <a:xfrm xmlns:a="http://schemas.openxmlformats.org/drawingml/2006/main">
            <a:off x="4554311" y="5281613"/>
            <a:ext cx="4484914" cy="28030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8000"/>
              </a:lnSpc>
              <a:buNone/>
              <a:defRPr sz="1435" b="0">
                <a:solidFill>
                  <a:srgbClr val="1F2937"/>
                </a:solidFill>
                <a:latin typeface="Nimbus Sans"/>
                <a:ea typeface="Nimbus Sans"/>
                <a:cs typeface="Nimbus Sans"/>
              </a:defRPr>
            </a:pPr>
            <a:r>
              <a:rPr sz="1435" b="0">
                <a:solidFill>
                  <a:srgbClr val="1F2937"/>
                </a:solidFill>
                <a:latin typeface="Nimbus Sans"/>
                <a:ea typeface="Nimbus Sans"/>
                <a:cs typeface="Nimbus Sans"/>
              </a:rPr>
              <a:t>Cross-species transfer is only one method.</a:t>
            </a:r>
          </a:p>
        </p:txBody>
      </p:sp>
      <p:sp>
        <p:nvSpPr>
          <p:cNvPr id="26" name="Laboratory technologies alter the genome directly.  DNA may be a">
            <a:extLst xmlns:a="http://schemas.openxmlformats.org/drawingml/2006/main">
              <a:ext uri="{FF2B5EF4-FFF2-40B4-BE49-F238E27FC236}">
                <a16:creationId xmlns:a16="http://schemas.microsoft.com/office/drawing/2014/main" id="{393C336E-ACF8-46A6-B576-7564DA41D8EC}"/>
              </a:ext>
            </a:extLst>
          </p:cNvPr>
          <p:cNvSpPr>
            <a:spLocks xmlns:a="http://schemas.openxmlformats.org/drawingml/2006/main" noGrp="1"/>
          </p:cNvSpPr>
          <p:nvPr/>
        </p:nvSpPr>
        <p:spPr>
          <a:xfrm xmlns:a="http://schemas.openxmlformats.org/drawingml/2006/main">
            <a:off x="533400" y="5829300"/>
            <a:ext cx="111252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0">
                <a:solidFill>
                  <a:srgbClr val="1F2937"/>
                </a:solidFill>
                <a:latin typeface="Nimbus Sans"/>
                <a:ea typeface="Nimbus Sans"/>
                <a:cs typeface="Nimbus Sans"/>
              </a:defRPr>
            </a:pPr>
            <a:r>
              <a:rPr sz="1800" b="0">
                <a:solidFill>
                  <a:srgbClr val="1F2937"/>
                </a:solidFill>
                <a:latin typeface="Nimbus Sans"/>
                <a:ea typeface="Nimbus Sans"/>
                <a:cs typeface="Nimbus Sans"/>
              </a:rPr>
              <a:t>Laboratory technologies alter the genome directly. DNA may be added, changed or removed. A gene transfer</a:t>
            </a:r>
          </a:p>
          <a:p xmlns:a="http://schemas.openxmlformats.org/drawingml/2006/main">
            <a:pPr algn="l">
              <a:lnSpc>
                <a:spcPct val="108000"/>
              </a:lnSpc>
              <a:buNone/>
              <a:defRPr sz="1800" b="0">
                <a:solidFill>
                  <a:srgbClr val="1F2937"/>
                </a:solidFill>
                <a:latin typeface="Nimbus Sans"/>
                <a:ea typeface="Nimbus Sans"/>
                <a:cs typeface="Nimbus Sans"/>
              </a:defRPr>
            </a:pPr>
            <a:r>
              <a:rPr sz="1800" b="0">
                <a:solidFill>
                  <a:srgbClr val="1F2937"/>
                </a:solidFill>
                <a:latin typeface="Nimbus Sans"/>
                <a:ea typeface="Nimbus Sans"/>
                <a:cs typeface="Nimbus Sans"/>
              </a:rPr>
              <a:t>is one example, not the only method.</a:t>
            </a:r>
          </a:p>
        </p:txBody>
      </p:sp>
    </p:spTree>
    <p:extLst>
      <p:ext uri="{BB962C8B-B14F-4D97-AF65-F5344CB8AC3E}">
        <p14:creationId xmlns:p14="http://schemas.microsoft.com/office/powerpoint/2010/main" val="203359112"/>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surface">
            <a:extLst xmlns:a="http://schemas.openxmlformats.org/drawingml/2006/main">
              <a:ext uri="{FF2B5EF4-FFF2-40B4-BE49-F238E27FC236}">
                <a16:creationId xmlns:a16="http://schemas.microsoft.com/office/drawing/2014/main" id="{02DCAF9E-864E-48EB-8F7E-C5B512FB9C6B}"/>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C9803B"/>
          </a:solidFill>
          <a:ln xmlns:a="http://schemas.openxmlformats.org/drawingml/2006/main" w="0">
            <a:noFill/>
          </a:ln>
        </p:spPr>
      </p:sp>
      <p:sp>
        <p:nvSpPr>
          <p:cNvPr id="2" name="surface">
            <a:extLst xmlns:a="http://schemas.openxmlformats.org/drawingml/2006/main">
              <a:ext uri="{FF2B5EF4-FFF2-40B4-BE49-F238E27FC236}">
                <a16:creationId xmlns:a16="http://schemas.microsoft.com/office/drawing/2014/main" id="{55E2B57A-F4CF-4F17-94A4-CFBE38FF46B3}"/>
              </a:ext>
            </a:extLst>
          </p:cNvPr>
          <p:cNvSpPr>
            <a:spLocks xmlns:a="http://schemas.openxmlformats.org/drawingml/2006/main" noGrp="1"/>
          </p:cNvSpPr>
          <p:nvPr/>
        </p:nvSpPr>
        <p:spPr>
          <a:xfrm xmlns:a="http://schemas.openxmlformats.org/drawingml/2006/main">
            <a:off x="457200" y="400050"/>
            <a:ext cx="11277600" cy="485775"/>
          </a:xfrm>
          <a:prstGeom xmlns:a="http://schemas.openxmlformats.org/drawingml/2006/main" prst="rect">
            <a:avLst/>
          </a:prstGeom>
          <a:solidFill xmlns:a="http://schemas.openxmlformats.org/drawingml/2006/main">
            <a:srgbClr val="F3E6DA"/>
          </a:solidFill>
          <a:ln xmlns:a="http://schemas.openxmlformats.org/drawingml/2006/main" w="0">
            <a:noFill/>
          </a:ln>
        </p:spPr>
      </p:sp>
      <p:sp>
        <p:nvSpPr>
          <p:cNvPr id="3" name="surface">
            <a:extLst xmlns:a="http://schemas.openxmlformats.org/drawingml/2006/main">
              <a:ext uri="{FF2B5EF4-FFF2-40B4-BE49-F238E27FC236}">
                <a16:creationId xmlns:a16="http://schemas.microsoft.com/office/drawing/2014/main" id="{F2D69E0D-1155-4187-92A8-04512EA04C7F}"/>
              </a:ext>
            </a:extLst>
          </p:cNvPr>
          <p:cNvSpPr>
            <a:spLocks xmlns:a="http://schemas.openxmlformats.org/drawingml/2006/main" noGrp="1"/>
          </p:cNvSpPr>
          <p:nvPr/>
        </p:nvSpPr>
        <p:spPr>
          <a:xfrm xmlns:a="http://schemas.openxmlformats.org/drawingml/2006/main">
            <a:off x="457200" y="400050"/>
            <a:ext cx="66675" cy="485775"/>
          </a:xfrm>
          <a:prstGeom xmlns:a="http://schemas.openxmlformats.org/drawingml/2006/main" prst="rect">
            <a:avLst/>
          </a:prstGeom>
          <a:solidFill xmlns:a="http://schemas.openxmlformats.org/drawingml/2006/main">
            <a:srgbClr val="C9803B"/>
          </a:solidFill>
          <a:ln xmlns:a="http://schemas.openxmlformats.org/drawingml/2006/main" w="0">
            <a:noFill/>
          </a:ln>
        </p:spPr>
      </p:sp>
      <p:sp>
        <p:nvSpPr>
          <p:cNvPr id="4" name="LAUNCH SCIENCE">
            <a:extLst xmlns:a="http://schemas.openxmlformats.org/drawingml/2006/main">
              <a:ext uri="{FF2B5EF4-FFF2-40B4-BE49-F238E27FC236}">
                <a16:creationId xmlns:a16="http://schemas.microsoft.com/office/drawing/2014/main" id="{EEE650B8-8972-4DBE-AE96-4BCFAAA110E1}"/>
              </a:ext>
            </a:extLst>
          </p:cNvPr>
          <p:cNvSpPr>
            <a:spLocks xmlns:a="http://schemas.openxmlformats.org/drawingml/2006/main" noGrp="1"/>
          </p:cNvSpPr>
          <p:nvPr/>
        </p:nvSpPr>
        <p:spPr>
          <a:xfrm xmlns:a="http://schemas.openxmlformats.org/drawingml/2006/main">
            <a:off x="685800" y="504825"/>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1">
                <a:solidFill>
                  <a:srgbClr val="C9803B"/>
                </a:solidFill>
                <a:latin typeface="Nimbus Sans"/>
                <a:ea typeface="Nimbus Sans"/>
                <a:cs typeface="Nimbus Sans"/>
              </a:defRPr>
            </a:pPr>
            <a:r>
              <a:rPr sz="1800" b="1">
                <a:solidFill>
                  <a:srgbClr val="C9803B"/>
                </a:solidFill>
                <a:latin typeface="Nimbus Sans"/>
                <a:ea typeface="Nimbus Sans"/>
                <a:cs typeface="Nimbus Sans"/>
              </a:rPr>
              <a:t>LAUNCH SCIENCE</a:t>
            </a:r>
          </a:p>
        </p:txBody>
      </p:sp>
      <p:sp>
        <p:nvSpPr>
          <p:cNvPr id="5" name="I do">
            <a:extLst xmlns:a="http://schemas.openxmlformats.org/drawingml/2006/main">
              <a:ext uri="{FF2B5EF4-FFF2-40B4-BE49-F238E27FC236}">
                <a16:creationId xmlns:a16="http://schemas.microsoft.com/office/drawing/2014/main" id="{CFE41AE2-ECD8-4085-A9B3-6D661D1D0FF9}"/>
              </a:ext>
            </a:extLst>
          </p:cNvPr>
          <p:cNvSpPr>
            <a:spLocks xmlns:a="http://schemas.openxmlformats.org/drawingml/2006/main" noGrp="1"/>
          </p:cNvSpPr>
          <p:nvPr/>
        </p:nvSpPr>
        <p:spPr>
          <a:xfrm xmlns:a="http://schemas.openxmlformats.org/drawingml/2006/main">
            <a:off x="5943600" y="504825"/>
            <a:ext cx="3752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1">
                <a:solidFill>
                  <a:srgbClr val="C9803B"/>
                </a:solidFill>
                <a:latin typeface="Nimbus Sans"/>
                <a:ea typeface="Nimbus Sans"/>
                <a:cs typeface="Nimbus Sans"/>
              </a:defRPr>
            </a:pPr>
            <a:r>
              <a:rPr sz="1800" b="1">
                <a:solidFill>
                  <a:srgbClr val="C9803B"/>
                </a:solidFill>
                <a:latin typeface="Nimbus Sans"/>
                <a:ea typeface="Nimbus Sans"/>
                <a:cs typeface="Nimbus Sans"/>
              </a:rPr>
              <a:t>I do</a:t>
            </a:r>
          </a:p>
        </p:txBody>
      </p:sp>
      <p:sp>
        <p:nvSpPr>
          <p:cNvPr id="6" name="3 min">
            <a:extLst xmlns:a="http://schemas.openxmlformats.org/drawingml/2006/main">
              <a:ext uri="{FF2B5EF4-FFF2-40B4-BE49-F238E27FC236}">
                <a16:creationId xmlns:a16="http://schemas.microsoft.com/office/drawing/2014/main" id="{AE05E532-C3FF-4CDA-AF24-99216F7D0C56}"/>
              </a:ext>
            </a:extLst>
          </p:cNvPr>
          <p:cNvSpPr>
            <a:spLocks xmlns:a="http://schemas.openxmlformats.org/drawingml/2006/main" noGrp="1"/>
          </p:cNvSpPr>
          <p:nvPr/>
        </p:nvSpPr>
        <p:spPr>
          <a:xfrm xmlns:a="http://schemas.openxmlformats.org/drawingml/2006/main">
            <a:off x="10029825" y="504825"/>
            <a:ext cx="14573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725" b="0">
                <a:solidFill>
                  <a:srgbClr val="465465"/>
                </a:solidFill>
                <a:latin typeface="Nimbus Sans"/>
                <a:ea typeface="Nimbus Sans"/>
                <a:cs typeface="Nimbus Sans"/>
              </a:defRPr>
            </a:pPr>
            <a:r>
              <a:rPr sz="1725" b="0">
                <a:solidFill>
                  <a:srgbClr val="465465"/>
                </a:solidFill>
                <a:latin typeface="Nimbus Sans"/>
                <a:ea typeface="Nimbus Sans"/>
                <a:cs typeface="Nimbus Sans"/>
              </a:rPr>
              <a:t>3 min</a:t>
            </a:r>
          </a:p>
        </p:txBody>
      </p:sp>
      <p:sp>
        <p:nvSpPr>
          <p:cNvPr id="7" name="Connect the change to the trait">
            <a:extLst xmlns:a="http://schemas.openxmlformats.org/drawingml/2006/main">
              <a:ext uri="{FF2B5EF4-FFF2-40B4-BE49-F238E27FC236}">
                <a16:creationId xmlns:a16="http://schemas.microsoft.com/office/drawing/2014/main" id="{12ADF74B-AF70-4A23-A5F4-2CCE8B65234A}"/>
              </a:ext>
            </a:extLst>
          </p:cNvPr>
          <p:cNvSpPr>
            <a:spLocks xmlns:a="http://schemas.openxmlformats.org/drawingml/2006/main" noGrp="1"/>
          </p:cNvSpPr>
          <p:nvPr/>
        </p:nvSpPr>
        <p:spPr>
          <a:xfrm xmlns:a="http://schemas.openxmlformats.org/drawingml/2006/main">
            <a:off x="533400" y="1066800"/>
            <a:ext cx="11125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3000" b="1">
                <a:solidFill>
                  <a:srgbClr val="1F2937"/>
                </a:solidFill>
                <a:latin typeface="Nimbus Sans"/>
                <a:ea typeface="Nimbus Sans"/>
                <a:cs typeface="Nimbus Sans"/>
              </a:defRPr>
            </a:pPr>
            <a:r>
              <a:rPr sz="3000" b="1">
                <a:solidFill>
                  <a:srgbClr val="1F2937"/>
                </a:solidFill>
                <a:latin typeface="Nimbus Sans"/>
                <a:ea typeface="Nimbus Sans"/>
                <a:cs typeface="Nimbus Sans"/>
              </a:rPr>
              <a:t>Connect the change to the trait</a:t>
            </a:r>
          </a:p>
        </p:txBody>
      </p:sp>
      <p:sp>
        <p:nvSpPr>
          <p:cNvPr id="8" name="surface">
            <a:extLst xmlns:a="http://schemas.openxmlformats.org/drawingml/2006/main">
              <a:ext uri="{FF2B5EF4-FFF2-40B4-BE49-F238E27FC236}">
                <a16:creationId xmlns:a16="http://schemas.microsoft.com/office/drawing/2014/main" id="{92F9CCC7-8749-4E2C-9F9B-139F75238B0E}"/>
              </a:ext>
            </a:extLst>
          </p:cNvPr>
          <p:cNvSpPr>
            <a:spLocks xmlns:a="http://schemas.openxmlformats.org/drawingml/2006/main" noGrp="1"/>
          </p:cNvSpPr>
          <p:nvPr/>
        </p:nvSpPr>
        <p:spPr>
          <a:xfrm xmlns:a="http://schemas.openxmlformats.org/drawingml/2006/main">
            <a:off x="457200" y="6496050"/>
            <a:ext cx="11277600" cy="9525"/>
          </a:xfrm>
          <a:prstGeom xmlns:a="http://schemas.openxmlformats.org/drawingml/2006/main" prst="rect">
            <a:avLst/>
          </a:prstGeom>
          <a:solidFill xmlns:a="http://schemas.openxmlformats.org/drawingml/2006/main">
            <a:srgbClr val="D8DDE2"/>
          </a:solidFill>
          <a:ln xmlns:a="http://schemas.openxmlformats.org/drawingml/2006/main" w="0">
            <a:noFill/>
          </a:ln>
        </p:spPr>
      </p:sp>
      <p:sp>
        <p:nvSpPr>
          <p:cNvPr id="9" name="Genetic engineering: change, test, decide">
            <a:extLst xmlns:a="http://schemas.openxmlformats.org/drawingml/2006/main">
              <a:ext uri="{FF2B5EF4-FFF2-40B4-BE49-F238E27FC236}">
                <a16:creationId xmlns:a16="http://schemas.microsoft.com/office/drawing/2014/main" id="{308217CE-9237-4EFD-A1A8-29F68E01342C}"/>
              </a:ext>
            </a:extLst>
          </p:cNvPr>
          <p:cNvSpPr>
            <a:spLocks xmlns:a="http://schemas.openxmlformats.org/drawingml/2006/main" noGrp="1"/>
          </p:cNvSpPr>
          <p:nvPr/>
        </p:nvSpPr>
        <p:spPr>
          <a:xfrm xmlns:a="http://schemas.openxmlformats.org/drawingml/2006/main">
            <a:off x="533400" y="6600825"/>
            <a:ext cx="10572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Genetic engineering: change, test, decide</a:t>
            </a:r>
          </a:p>
        </p:txBody>
      </p:sp>
      <p:sp>
        <p:nvSpPr>
          <p:cNvPr id="10" name="4 / 15">
            <a:extLst xmlns:a="http://schemas.openxmlformats.org/drawingml/2006/main">
              <a:ext uri="{FF2B5EF4-FFF2-40B4-BE49-F238E27FC236}">
                <a16:creationId xmlns:a16="http://schemas.microsoft.com/office/drawing/2014/main" id="{48684693-A95E-45FF-B6CE-573AE9F0A600}"/>
              </a:ext>
            </a:extLst>
          </p:cNvPr>
          <p:cNvSpPr>
            <a:spLocks xmlns:a="http://schemas.openxmlformats.org/drawingml/2006/main" noGrp="1"/>
          </p:cNvSpPr>
          <p:nvPr/>
        </p:nvSpPr>
        <p:spPr>
          <a:xfrm xmlns:a="http://schemas.openxmlformats.org/drawingml/2006/main">
            <a:off x="10953750" y="6600825"/>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4 / 15</a:t>
            </a:r>
          </a:p>
        </p:txBody>
      </p:sp>
      <p:sp>
        <p:nvSpPr>
          <p:cNvPr id="11" name="Diagram label: Connect a genetic change to its effect">
            <a:extLst xmlns:a="http://schemas.openxmlformats.org/drawingml/2006/main">
              <a:ext uri="{FF2B5EF4-FFF2-40B4-BE49-F238E27FC236}">
                <a16:creationId xmlns:a16="http://schemas.microsoft.com/office/drawing/2014/main" id="{78041566-E8FF-4140-B393-4C71408C2B15}"/>
              </a:ext>
            </a:extLst>
          </p:cNvPr>
          <p:cNvSpPr>
            <a:spLocks xmlns:a="http://schemas.openxmlformats.org/drawingml/2006/main" noGrp="1"/>
          </p:cNvSpPr>
          <p:nvPr/>
        </p:nvSpPr>
        <p:spPr>
          <a:xfrm xmlns:a="http://schemas.openxmlformats.org/drawingml/2006/main">
            <a:off x="2837429" y="1988004"/>
            <a:ext cx="6517141" cy="31534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711" b="1">
                <a:solidFill>
                  <a:srgbClr val="1F2937"/>
                </a:solidFill>
                <a:latin typeface="Nimbus Sans"/>
                <a:ea typeface="Nimbus Sans"/>
                <a:cs typeface="Nimbus Sans"/>
              </a:defRPr>
            </a:pPr>
            <a:r>
              <a:rPr sz="1711" b="1">
                <a:solidFill>
                  <a:srgbClr val="1F2937"/>
                </a:solidFill>
                <a:latin typeface="Nimbus Sans"/>
                <a:ea typeface="Nimbus Sans"/>
                <a:cs typeface="Nimbus Sans"/>
              </a:rPr>
              <a:t>Connect a genetic change to its effect</a:t>
            </a:r>
          </a:p>
        </p:txBody>
      </p:sp>
      <p:sp>
        <p:nvSpPr>
          <p:cNvPr id="12" name="Editable scientific diagram">
            <a:extLst xmlns:a="http://schemas.openxmlformats.org/drawingml/2006/main">
              <a:ext uri="{FF2B5EF4-FFF2-40B4-BE49-F238E27FC236}">
                <a16:creationId xmlns:a16="http://schemas.microsoft.com/office/drawing/2014/main" id="{0269AD07-BC4C-4CED-8553-5714E645F53B}"/>
              </a:ext>
            </a:extLst>
          </p:cNvPr>
          <p:cNvSpPr>
            <a:spLocks xmlns:a="http://schemas.openxmlformats.org/drawingml/2006/main" noGrp="1"/>
          </p:cNvSpPr>
          <p:nvPr/>
        </p:nvSpPr>
        <p:spPr>
          <a:xfrm xmlns:a="http://schemas.openxmlformats.org/drawingml/2006/main">
            <a:off x="2942545" y="3004117"/>
            <a:ext cx="1751920" cy="1051152"/>
          </a:xfrm>
          <a:prstGeom xmlns:a="http://schemas.openxmlformats.org/drawingml/2006/main" prst="rect">
            <a:avLst/>
          </a:prstGeom>
          <a:solidFill xmlns:a="http://schemas.openxmlformats.org/drawingml/2006/main">
            <a:srgbClr val="F0EBF5"/>
          </a:solidFill>
          <a:ln xmlns:a="http://schemas.openxmlformats.org/drawingml/2006/main" w="21023">
            <a:solidFill>
              <a:srgbClr val="7A5C9E"/>
            </a:solidFill>
          </a:ln>
        </p:spPr>
      </p:sp>
      <p:sp>
        <p:nvSpPr>
          <p:cNvPr id="13" name="Diagram label: DNA&#10;information">
            <a:extLst xmlns:a="http://schemas.openxmlformats.org/drawingml/2006/main">
              <a:ext uri="{FF2B5EF4-FFF2-40B4-BE49-F238E27FC236}">
                <a16:creationId xmlns:a16="http://schemas.microsoft.com/office/drawing/2014/main" id="{C3D63A7A-B025-4052-9F6B-BE5442DC18B1}"/>
              </a:ext>
            </a:extLst>
          </p:cNvPr>
          <p:cNvSpPr>
            <a:spLocks xmlns:a="http://schemas.openxmlformats.org/drawingml/2006/main" noGrp="1"/>
          </p:cNvSpPr>
          <p:nvPr/>
        </p:nvSpPr>
        <p:spPr>
          <a:xfrm xmlns:a="http://schemas.openxmlformats.org/drawingml/2006/main">
            <a:off x="3082698" y="3179309"/>
            <a:ext cx="1471613" cy="7007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8000"/>
              </a:lnSpc>
              <a:buNone/>
              <a:defRPr sz="1711" b="1">
                <a:solidFill>
                  <a:srgbClr val="1F2937"/>
                </a:solidFill>
                <a:latin typeface="Nimbus Sans"/>
                <a:ea typeface="Nimbus Sans"/>
                <a:cs typeface="Nimbus Sans"/>
              </a:defRPr>
            </a:pPr>
            <a:r>
              <a:rPr sz="1711" b="1">
                <a:solidFill>
                  <a:srgbClr val="1F2937"/>
                </a:solidFill>
                <a:latin typeface="Nimbus Sans"/>
                <a:ea typeface="Nimbus Sans"/>
                <a:cs typeface="Nimbus Sans"/>
              </a:rPr>
              <a:t>DNA</a:t>
            </a:r>
          </a:p>
          <a:p xmlns:a="http://schemas.openxmlformats.org/drawingml/2006/main">
            <a:pPr algn="ctr">
              <a:lnSpc>
                <a:spcPct val="108000"/>
              </a:lnSpc>
              <a:buNone/>
              <a:defRPr sz="1711" b="1">
                <a:solidFill>
                  <a:srgbClr val="1F2937"/>
                </a:solidFill>
                <a:latin typeface="Nimbus Sans"/>
                <a:ea typeface="Nimbus Sans"/>
                <a:cs typeface="Nimbus Sans"/>
              </a:defRPr>
            </a:pPr>
            <a:r>
              <a:rPr sz="1711" b="1">
                <a:solidFill>
                  <a:srgbClr val="1F2937"/>
                </a:solidFill>
                <a:latin typeface="Nimbus Sans"/>
                <a:ea typeface="Nimbus Sans"/>
                <a:cs typeface="Nimbus Sans"/>
              </a:rPr>
              <a:t>information</a:t>
            </a:r>
          </a:p>
        </p:txBody>
      </p:sp>
      <p:sp>
        <p:nvSpPr>
          <p:cNvPr id="14" name="Diagram line">
            <a:extLst xmlns:a="http://schemas.openxmlformats.org/drawingml/2006/main">
              <a:ext uri="{FF2B5EF4-FFF2-40B4-BE49-F238E27FC236}">
                <a16:creationId xmlns:a16="http://schemas.microsoft.com/office/drawing/2014/main" id="{208A7093-E0A9-49FE-8D20-8CC5E03FDE2B}"/>
              </a:ext>
            </a:extLst>
          </p:cNvPr>
          <p:cNvSpPr>
            <a:spLocks xmlns:a="http://schemas.openxmlformats.org/drawingml/2006/main" noGrp="1"/>
          </p:cNvSpPr>
          <p:nvPr/>
        </p:nvSpPr>
        <p:spPr>
          <a:xfrm xmlns:a="http://schemas.openxmlformats.org/drawingml/2006/main" flipH="0" flipV="0">
            <a:off x="4799579" y="3529693"/>
            <a:ext cx="346880" cy="953"/>
          </a:xfrm>
          <a:prstGeom xmlns:a="http://schemas.openxmlformats.org/drawingml/2006/main" prst="line">
            <a:avLst/>
          </a:prstGeom>
          <a:noFill xmlns:a="http://schemas.openxmlformats.org/drawingml/2006/main"/>
          <a:ln xmlns:a="http://schemas.openxmlformats.org/drawingml/2006/main" w="35038">
            <a:solidFill>
              <a:srgbClr val="7A5C9E"/>
            </a:solidFill>
          </a:ln>
        </p:spPr>
      </p:sp>
      <p:sp>
        <p:nvSpPr>
          <p:cNvPr id="15" name="Diagram arrowhead">
            <a:extLst xmlns:a="http://schemas.openxmlformats.org/drawingml/2006/main">
              <a:ext uri="{FF2B5EF4-FFF2-40B4-BE49-F238E27FC236}">
                <a16:creationId xmlns:a16="http://schemas.microsoft.com/office/drawing/2014/main" id="{B522A8AB-750A-484C-B467-F61DA8B15CB0}"/>
              </a:ext>
            </a:extLst>
          </p:cNvPr>
          <p:cNvSpPr>
            <a:spLocks xmlns:a="http://schemas.openxmlformats.org/drawingml/2006/main" noGrp="1"/>
          </p:cNvSpPr>
          <p:nvPr/>
        </p:nvSpPr>
        <p:spPr>
          <a:xfrm xmlns:a="http://schemas.openxmlformats.org/drawingml/2006/main" rot="5400000">
            <a:off x="5121933" y="3480639"/>
            <a:ext cx="98108" cy="98108"/>
          </a:xfrm>
          <a:prstGeom xmlns:a="http://schemas.openxmlformats.org/drawingml/2006/main" prst="triangle">
            <a:avLst/>
          </a:prstGeom>
          <a:solidFill xmlns:a="http://schemas.openxmlformats.org/drawingml/2006/main">
            <a:srgbClr val="7A5C9E"/>
          </a:solidFill>
          <a:ln xmlns:a="http://schemas.openxmlformats.org/drawingml/2006/main" w="0">
            <a:noFill/>
          </a:ln>
        </p:spPr>
      </p:sp>
      <p:sp>
        <p:nvSpPr>
          <p:cNvPr id="16" name="Editable scientific diagram">
            <a:extLst xmlns:a="http://schemas.openxmlformats.org/drawingml/2006/main">
              <a:ext uri="{FF2B5EF4-FFF2-40B4-BE49-F238E27FC236}">
                <a16:creationId xmlns:a16="http://schemas.microsoft.com/office/drawing/2014/main" id="{D76C8694-D1E4-4A30-87A9-C89C2A050EC8}"/>
              </a:ext>
            </a:extLst>
          </p:cNvPr>
          <p:cNvSpPr>
            <a:spLocks xmlns:a="http://schemas.openxmlformats.org/drawingml/2006/main" noGrp="1"/>
          </p:cNvSpPr>
          <p:nvPr/>
        </p:nvSpPr>
        <p:spPr>
          <a:xfrm xmlns:a="http://schemas.openxmlformats.org/drawingml/2006/main">
            <a:off x="5360194" y="3004117"/>
            <a:ext cx="1646804" cy="1051152"/>
          </a:xfrm>
          <a:prstGeom xmlns:a="http://schemas.openxmlformats.org/drawingml/2006/main" prst="rect">
            <a:avLst/>
          </a:prstGeom>
          <a:solidFill xmlns:a="http://schemas.openxmlformats.org/drawingml/2006/main">
            <a:srgbClr val="F0EBF5"/>
          </a:solidFill>
          <a:ln xmlns:a="http://schemas.openxmlformats.org/drawingml/2006/main" w="21023">
            <a:solidFill>
              <a:srgbClr val="7A5C9E"/>
            </a:solidFill>
          </a:ln>
        </p:spPr>
      </p:sp>
      <p:sp>
        <p:nvSpPr>
          <p:cNvPr id="17" name="Diagram label: Protein&#10;made by cells">
            <a:extLst xmlns:a="http://schemas.openxmlformats.org/drawingml/2006/main">
              <a:ext uri="{FF2B5EF4-FFF2-40B4-BE49-F238E27FC236}">
                <a16:creationId xmlns:a16="http://schemas.microsoft.com/office/drawing/2014/main" id="{CC939C35-D2BF-4D09-B908-EA0DDF420B0A}"/>
              </a:ext>
            </a:extLst>
          </p:cNvPr>
          <p:cNvSpPr>
            <a:spLocks xmlns:a="http://schemas.openxmlformats.org/drawingml/2006/main" noGrp="1"/>
          </p:cNvSpPr>
          <p:nvPr/>
        </p:nvSpPr>
        <p:spPr>
          <a:xfrm xmlns:a="http://schemas.openxmlformats.org/drawingml/2006/main">
            <a:off x="5500347" y="3179309"/>
            <a:ext cx="1366497" cy="7007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8000"/>
              </a:lnSpc>
              <a:buNone/>
              <a:defRPr sz="1600" b="1">
                <a:solidFill>
                  <a:srgbClr val="1F2937"/>
                </a:solidFill>
                <a:latin typeface="Nimbus Sans"/>
                <a:ea typeface="Nimbus Sans"/>
                <a:cs typeface="Nimbus Sans"/>
              </a:defRPr>
            </a:pPr>
            <a:r>
              <a:rPr sz="1600" b="1">
                <a:solidFill>
                  <a:srgbClr val="1F2937"/>
                </a:solidFill>
                <a:latin typeface="Nimbus Sans"/>
                <a:ea typeface="Nimbus Sans"/>
                <a:cs typeface="Nimbus Sans"/>
              </a:rPr>
              <a:t>Protein</a:t>
            </a:r>
          </a:p>
          <a:p xmlns:a="http://schemas.openxmlformats.org/drawingml/2006/main">
            <a:pPr algn="ctr">
              <a:lnSpc>
                <a:spcPct val="108000"/>
              </a:lnSpc>
              <a:buNone/>
              <a:defRPr sz="1600" b="1">
                <a:solidFill>
                  <a:srgbClr val="1F2937"/>
                </a:solidFill>
                <a:latin typeface="Nimbus Sans"/>
                <a:ea typeface="Nimbus Sans"/>
                <a:cs typeface="Nimbus Sans"/>
              </a:defRPr>
            </a:pPr>
            <a:r>
              <a:rPr sz="1600" b="1">
                <a:solidFill>
                  <a:srgbClr val="1F2937"/>
                </a:solidFill>
                <a:latin typeface="Nimbus Sans"/>
                <a:ea typeface="Nimbus Sans"/>
                <a:cs typeface="Nimbus Sans"/>
              </a:rPr>
              <a:t>made by cells</a:t>
            </a:r>
          </a:p>
        </p:txBody>
      </p:sp>
      <p:sp>
        <p:nvSpPr>
          <p:cNvPr id="18" name="Diagram line">
            <a:extLst xmlns:a="http://schemas.openxmlformats.org/drawingml/2006/main">
              <a:ext uri="{FF2B5EF4-FFF2-40B4-BE49-F238E27FC236}">
                <a16:creationId xmlns:a16="http://schemas.microsoft.com/office/drawing/2014/main" id="{F93220AB-B14A-4568-AD52-86E8ED6AA4F8}"/>
              </a:ext>
            </a:extLst>
          </p:cNvPr>
          <p:cNvSpPr>
            <a:spLocks xmlns:a="http://schemas.openxmlformats.org/drawingml/2006/main" noGrp="1"/>
          </p:cNvSpPr>
          <p:nvPr/>
        </p:nvSpPr>
        <p:spPr>
          <a:xfrm xmlns:a="http://schemas.openxmlformats.org/drawingml/2006/main" flipH="0" flipV="0">
            <a:off x="7112113" y="3529693"/>
            <a:ext cx="346880" cy="953"/>
          </a:xfrm>
          <a:prstGeom xmlns:a="http://schemas.openxmlformats.org/drawingml/2006/main" prst="line">
            <a:avLst/>
          </a:prstGeom>
          <a:noFill xmlns:a="http://schemas.openxmlformats.org/drawingml/2006/main"/>
          <a:ln xmlns:a="http://schemas.openxmlformats.org/drawingml/2006/main" w="35038">
            <a:solidFill>
              <a:srgbClr val="7A5C9E"/>
            </a:solidFill>
          </a:ln>
        </p:spPr>
      </p:sp>
      <p:sp>
        <p:nvSpPr>
          <p:cNvPr id="19" name="Diagram arrowhead">
            <a:extLst xmlns:a="http://schemas.openxmlformats.org/drawingml/2006/main">
              <a:ext uri="{FF2B5EF4-FFF2-40B4-BE49-F238E27FC236}">
                <a16:creationId xmlns:a16="http://schemas.microsoft.com/office/drawing/2014/main" id="{53B15714-CB76-4364-8BAB-891D8FC75CDF}"/>
              </a:ext>
            </a:extLst>
          </p:cNvPr>
          <p:cNvSpPr>
            <a:spLocks xmlns:a="http://schemas.openxmlformats.org/drawingml/2006/main" noGrp="1"/>
          </p:cNvSpPr>
          <p:nvPr/>
        </p:nvSpPr>
        <p:spPr>
          <a:xfrm xmlns:a="http://schemas.openxmlformats.org/drawingml/2006/main" rot="5400000">
            <a:off x="7434467" y="3480639"/>
            <a:ext cx="98108" cy="98108"/>
          </a:xfrm>
          <a:prstGeom xmlns:a="http://schemas.openxmlformats.org/drawingml/2006/main" prst="triangle">
            <a:avLst/>
          </a:prstGeom>
          <a:solidFill xmlns:a="http://schemas.openxmlformats.org/drawingml/2006/main">
            <a:srgbClr val="7A5C9E"/>
          </a:solidFill>
          <a:ln xmlns:a="http://schemas.openxmlformats.org/drawingml/2006/main" w="0">
            <a:noFill/>
          </a:ln>
        </p:spPr>
      </p:sp>
      <p:sp>
        <p:nvSpPr>
          <p:cNvPr id="20" name="Editable scientific diagram">
            <a:extLst xmlns:a="http://schemas.openxmlformats.org/drawingml/2006/main">
              <a:ext uri="{FF2B5EF4-FFF2-40B4-BE49-F238E27FC236}">
                <a16:creationId xmlns:a16="http://schemas.microsoft.com/office/drawing/2014/main" id="{99AC110D-6761-4171-9CE6-7CF92DB84200}"/>
              </a:ext>
            </a:extLst>
          </p:cNvPr>
          <p:cNvSpPr>
            <a:spLocks xmlns:a="http://schemas.openxmlformats.org/drawingml/2006/main" noGrp="1"/>
          </p:cNvSpPr>
          <p:nvPr/>
        </p:nvSpPr>
        <p:spPr>
          <a:xfrm xmlns:a="http://schemas.openxmlformats.org/drawingml/2006/main">
            <a:off x="7672728" y="3004117"/>
            <a:ext cx="1611766" cy="1051152"/>
          </a:xfrm>
          <a:prstGeom xmlns:a="http://schemas.openxmlformats.org/drawingml/2006/main" prst="rect">
            <a:avLst/>
          </a:prstGeom>
          <a:solidFill xmlns:a="http://schemas.openxmlformats.org/drawingml/2006/main">
            <a:srgbClr val="F0EBF5"/>
          </a:solidFill>
          <a:ln xmlns:a="http://schemas.openxmlformats.org/drawingml/2006/main" w="21023">
            <a:solidFill>
              <a:srgbClr val="7A5C9E"/>
            </a:solidFill>
          </a:ln>
        </p:spPr>
      </p:sp>
      <p:sp>
        <p:nvSpPr>
          <p:cNvPr id="21" name="Diagram label: Possible&#10;trait change">
            <a:extLst xmlns:a="http://schemas.openxmlformats.org/drawingml/2006/main">
              <a:ext uri="{FF2B5EF4-FFF2-40B4-BE49-F238E27FC236}">
                <a16:creationId xmlns:a16="http://schemas.microsoft.com/office/drawing/2014/main" id="{497B5870-85B6-434E-86D2-7EA54EED139A}"/>
              </a:ext>
            </a:extLst>
          </p:cNvPr>
          <p:cNvSpPr>
            <a:spLocks xmlns:a="http://schemas.openxmlformats.org/drawingml/2006/main" noGrp="1"/>
          </p:cNvSpPr>
          <p:nvPr/>
        </p:nvSpPr>
        <p:spPr>
          <a:xfrm xmlns:a="http://schemas.openxmlformats.org/drawingml/2006/main">
            <a:off x="7812881" y="3179309"/>
            <a:ext cx="1331459" cy="7007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8000"/>
              </a:lnSpc>
              <a:buNone/>
              <a:defRPr sz="1600" b="1">
                <a:solidFill>
                  <a:srgbClr val="1F2937"/>
                </a:solidFill>
                <a:latin typeface="Nimbus Sans"/>
                <a:ea typeface="Nimbus Sans"/>
                <a:cs typeface="Nimbus Sans"/>
              </a:defRPr>
            </a:pPr>
            <a:r>
              <a:rPr sz="1600" b="1">
                <a:solidFill>
                  <a:srgbClr val="1F2937"/>
                </a:solidFill>
                <a:latin typeface="Nimbus Sans"/>
                <a:ea typeface="Nimbus Sans"/>
                <a:cs typeface="Nimbus Sans"/>
              </a:rPr>
              <a:t>Possible</a:t>
            </a:r>
          </a:p>
          <a:p xmlns:a="http://schemas.openxmlformats.org/drawingml/2006/main">
            <a:pPr algn="ctr">
              <a:lnSpc>
                <a:spcPct val="108000"/>
              </a:lnSpc>
              <a:buNone/>
              <a:defRPr sz="1600" b="1">
                <a:solidFill>
                  <a:srgbClr val="1F2937"/>
                </a:solidFill>
                <a:latin typeface="Nimbus Sans"/>
                <a:ea typeface="Nimbus Sans"/>
                <a:cs typeface="Nimbus Sans"/>
              </a:defRPr>
            </a:pPr>
            <a:r>
              <a:rPr sz="1600" b="1">
                <a:solidFill>
                  <a:srgbClr val="1F2937"/>
                </a:solidFill>
                <a:latin typeface="Nimbus Sans"/>
                <a:ea typeface="Nimbus Sans"/>
                <a:cs typeface="Nimbus Sans"/>
              </a:rPr>
              <a:t>trait change</a:t>
            </a:r>
          </a:p>
        </p:txBody>
      </p:sp>
      <p:sp>
        <p:nvSpPr>
          <p:cNvPr id="22" name="Diagram label: A Bt gene can enable a crop to make a protein&#10;that harms certain insect pests.">
            <a:extLst xmlns:a="http://schemas.openxmlformats.org/drawingml/2006/main">
              <a:ext uri="{FF2B5EF4-FFF2-40B4-BE49-F238E27FC236}">
                <a16:creationId xmlns:a16="http://schemas.microsoft.com/office/drawing/2014/main" id="{EDC8E801-0B26-4563-B94B-2C12E0E67CD6}"/>
              </a:ext>
            </a:extLst>
          </p:cNvPr>
          <p:cNvSpPr>
            <a:spLocks xmlns:a="http://schemas.openxmlformats.org/drawingml/2006/main" noGrp="1"/>
          </p:cNvSpPr>
          <p:nvPr/>
        </p:nvSpPr>
        <p:spPr>
          <a:xfrm xmlns:a="http://schemas.openxmlformats.org/drawingml/2006/main">
            <a:off x="2977583" y="4405653"/>
            <a:ext cx="6236834" cy="4554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8000"/>
              </a:lnSpc>
              <a:buNone/>
              <a:defRPr sz="1545" b="0">
                <a:solidFill>
                  <a:srgbClr val="1F2937"/>
                </a:solidFill>
                <a:latin typeface="Nimbus Sans"/>
                <a:ea typeface="Nimbus Sans"/>
                <a:cs typeface="Nimbus Sans"/>
              </a:defRPr>
            </a:pPr>
            <a:r>
              <a:rPr sz="1545" b="0">
                <a:solidFill>
                  <a:srgbClr val="1F2937"/>
                </a:solidFill>
                <a:latin typeface="Nimbus Sans"/>
                <a:ea typeface="Nimbus Sans"/>
                <a:cs typeface="Nimbus Sans"/>
              </a:rPr>
              <a:t>A Bt gene can enable a crop to make a protein</a:t>
            </a:r>
          </a:p>
          <a:p xmlns:a="http://schemas.openxmlformats.org/drawingml/2006/main">
            <a:pPr algn="ctr">
              <a:lnSpc>
                <a:spcPct val="108000"/>
              </a:lnSpc>
              <a:buNone/>
              <a:defRPr sz="1545" b="0">
                <a:solidFill>
                  <a:srgbClr val="1F2937"/>
                </a:solidFill>
                <a:latin typeface="Nimbus Sans"/>
                <a:ea typeface="Nimbus Sans"/>
                <a:cs typeface="Nimbus Sans"/>
              </a:defRPr>
            </a:pPr>
            <a:r>
              <a:rPr sz="1545" b="0">
                <a:solidFill>
                  <a:srgbClr val="1F2937"/>
                </a:solidFill>
                <a:latin typeface="Nimbus Sans"/>
                <a:ea typeface="Nimbus Sans"/>
                <a:cs typeface="Nimbus Sans"/>
              </a:rPr>
              <a:t>that harms certain insect pests.</a:t>
            </a:r>
          </a:p>
        </p:txBody>
      </p:sp>
      <p:sp>
        <p:nvSpPr>
          <p:cNvPr id="23" name="Diagram label: Simplified model; the change must be checked.">
            <a:extLst xmlns:a="http://schemas.openxmlformats.org/drawingml/2006/main">
              <a:ext uri="{FF2B5EF4-FFF2-40B4-BE49-F238E27FC236}">
                <a16:creationId xmlns:a16="http://schemas.microsoft.com/office/drawing/2014/main" id="{A8BB2804-8BE5-4A0B-9140-F1921F64DD08}"/>
              </a:ext>
            </a:extLst>
          </p:cNvPr>
          <p:cNvSpPr>
            <a:spLocks xmlns:a="http://schemas.openxmlformats.org/drawingml/2006/main" noGrp="1"/>
          </p:cNvSpPr>
          <p:nvPr/>
        </p:nvSpPr>
        <p:spPr>
          <a:xfrm xmlns:a="http://schemas.openxmlformats.org/drawingml/2006/main">
            <a:off x="2977583" y="5176497"/>
            <a:ext cx="6236834" cy="28030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8000"/>
              </a:lnSpc>
              <a:buNone/>
              <a:defRPr sz="1379" b="0">
                <a:solidFill>
                  <a:srgbClr val="1F2937"/>
                </a:solidFill>
                <a:latin typeface="Nimbus Sans"/>
                <a:ea typeface="Nimbus Sans"/>
                <a:cs typeface="Nimbus Sans"/>
              </a:defRPr>
            </a:pPr>
            <a:r>
              <a:rPr sz="1379" b="0">
                <a:solidFill>
                  <a:srgbClr val="1F2937"/>
                </a:solidFill>
                <a:latin typeface="Nimbus Sans"/>
                <a:ea typeface="Nimbus Sans"/>
                <a:cs typeface="Nimbus Sans"/>
              </a:rPr>
              <a:t>Simplified model; the change must be checked.</a:t>
            </a:r>
          </a:p>
        </p:txBody>
      </p:sp>
      <p:sp>
        <p:nvSpPr>
          <p:cNvPr id="24" name="A gene can affect the protein a cell makes.  A Bt crop can make ">
            <a:extLst xmlns:a="http://schemas.openxmlformats.org/drawingml/2006/main">
              <a:ext uri="{FF2B5EF4-FFF2-40B4-BE49-F238E27FC236}">
                <a16:creationId xmlns:a16="http://schemas.microsoft.com/office/drawing/2014/main" id="{F1AAAF27-1D08-4FF2-B09F-4A46B10F435B}"/>
              </a:ext>
            </a:extLst>
          </p:cNvPr>
          <p:cNvSpPr>
            <a:spLocks xmlns:a="http://schemas.openxmlformats.org/drawingml/2006/main" noGrp="1"/>
          </p:cNvSpPr>
          <p:nvPr/>
        </p:nvSpPr>
        <p:spPr>
          <a:xfrm xmlns:a="http://schemas.openxmlformats.org/drawingml/2006/main">
            <a:off x="533400" y="5829300"/>
            <a:ext cx="111252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0">
                <a:solidFill>
                  <a:srgbClr val="1F2937"/>
                </a:solidFill>
                <a:latin typeface="Nimbus Sans"/>
                <a:ea typeface="Nimbus Sans"/>
                <a:cs typeface="Nimbus Sans"/>
              </a:defRPr>
            </a:pPr>
            <a:r>
              <a:rPr sz="1800" b="0">
                <a:solidFill>
                  <a:srgbClr val="1F2937"/>
                </a:solidFill>
                <a:latin typeface="Nimbus Sans"/>
                <a:ea typeface="Nimbus Sans"/>
                <a:cs typeface="Nimbus Sans"/>
              </a:rPr>
              <a:t>A gene can affect the protein a cell makes. A Bt crop can make a protein harmful to certain insect pests.</a:t>
            </a:r>
          </a:p>
          <a:p xmlns:a="http://schemas.openxmlformats.org/drawingml/2006/main">
            <a:pPr algn="l">
              <a:lnSpc>
                <a:spcPct val="108000"/>
              </a:lnSpc>
              <a:buNone/>
              <a:defRPr sz="1800" b="0">
                <a:solidFill>
                  <a:srgbClr val="1F2937"/>
                </a:solidFill>
                <a:latin typeface="Nimbus Sans"/>
                <a:ea typeface="Nimbus Sans"/>
                <a:cs typeface="Nimbus Sans"/>
              </a:defRPr>
            </a:pPr>
            <a:r>
              <a:rPr sz="1800" b="0">
                <a:solidFill>
                  <a:srgbClr val="1F2937"/>
                </a:solidFill>
                <a:latin typeface="Nimbus Sans"/>
                <a:ea typeface="Nimbus Sans"/>
                <a:cs typeface="Nimbus Sans"/>
              </a:rPr>
              <a:t>Testing checks whether the intended effect occurs.</a:t>
            </a:r>
          </a:p>
        </p:txBody>
      </p:sp>
    </p:spTree>
    <p:extLst>
      <p:ext uri="{BB962C8B-B14F-4D97-AF65-F5344CB8AC3E}">
        <p14:creationId xmlns:p14="http://schemas.microsoft.com/office/powerpoint/2010/main" val="1111448250"/>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surface">
            <a:extLst xmlns:a="http://schemas.openxmlformats.org/drawingml/2006/main">
              <a:ext uri="{FF2B5EF4-FFF2-40B4-BE49-F238E27FC236}">
                <a16:creationId xmlns:a16="http://schemas.microsoft.com/office/drawing/2014/main" id="{57FF26CF-E251-40F8-852F-143755BC41E4}"/>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C9803B"/>
          </a:solidFill>
          <a:ln xmlns:a="http://schemas.openxmlformats.org/drawingml/2006/main" w="0">
            <a:noFill/>
          </a:ln>
        </p:spPr>
      </p:sp>
      <p:sp>
        <p:nvSpPr>
          <p:cNvPr id="2" name="surface">
            <a:extLst xmlns:a="http://schemas.openxmlformats.org/drawingml/2006/main">
              <a:ext uri="{FF2B5EF4-FFF2-40B4-BE49-F238E27FC236}">
                <a16:creationId xmlns:a16="http://schemas.microsoft.com/office/drawing/2014/main" id="{98D56D47-C347-488A-9318-BDCFF83929B5}"/>
              </a:ext>
            </a:extLst>
          </p:cNvPr>
          <p:cNvSpPr>
            <a:spLocks xmlns:a="http://schemas.openxmlformats.org/drawingml/2006/main" noGrp="1"/>
          </p:cNvSpPr>
          <p:nvPr/>
        </p:nvSpPr>
        <p:spPr>
          <a:xfrm xmlns:a="http://schemas.openxmlformats.org/drawingml/2006/main">
            <a:off x="457200" y="400050"/>
            <a:ext cx="11277600" cy="485775"/>
          </a:xfrm>
          <a:prstGeom xmlns:a="http://schemas.openxmlformats.org/drawingml/2006/main" prst="rect">
            <a:avLst/>
          </a:prstGeom>
          <a:solidFill xmlns:a="http://schemas.openxmlformats.org/drawingml/2006/main">
            <a:srgbClr val="F3E6DA"/>
          </a:solidFill>
          <a:ln xmlns:a="http://schemas.openxmlformats.org/drawingml/2006/main" w="0">
            <a:noFill/>
          </a:ln>
        </p:spPr>
      </p:sp>
      <p:sp>
        <p:nvSpPr>
          <p:cNvPr id="3" name="surface">
            <a:extLst xmlns:a="http://schemas.openxmlformats.org/drawingml/2006/main">
              <a:ext uri="{FF2B5EF4-FFF2-40B4-BE49-F238E27FC236}">
                <a16:creationId xmlns:a16="http://schemas.microsoft.com/office/drawing/2014/main" id="{C38B5760-1595-4E96-9FFF-036CE702E7C6}"/>
              </a:ext>
            </a:extLst>
          </p:cNvPr>
          <p:cNvSpPr>
            <a:spLocks xmlns:a="http://schemas.openxmlformats.org/drawingml/2006/main" noGrp="1"/>
          </p:cNvSpPr>
          <p:nvPr/>
        </p:nvSpPr>
        <p:spPr>
          <a:xfrm xmlns:a="http://schemas.openxmlformats.org/drawingml/2006/main">
            <a:off x="457200" y="400050"/>
            <a:ext cx="66675" cy="485775"/>
          </a:xfrm>
          <a:prstGeom xmlns:a="http://schemas.openxmlformats.org/drawingml/2006/main" prst="rect">
            <a:avLst/>
          </a:prstGeom>
          <a:solidFill xmlns:a="http://schemas.openxmlformats.org/drawingml/2006/main">
            <a:srgbClr val="C9803B"/>
          </a:solidFill>
          <a:ln xmlns:a="http://schemas.openxmlformats.org/drawingml/2006/main" w="0">
            <a:noFill/>
          </a:ln>
        </p:spPr>
      </p:sp>
      <p:sp>
        <p:nvSpPr>
          <p:cNvPr id="4" name="LAUNCH SCIENCE">
            <a:extLst xmlns:a="http://schemas.openxmlformats.org/drawingml/2006/main">
              <a:ext uri="{FF2B5EF4-FFF2-40B4-BE49-F238E27FC236}">
                <a16:creationId xmlns:a16="http://schemas.microsoft.com/office/drawing/2014/main" id="{9AAB47EF-E708-4466-BAC9-40EDE907EEF1}"/>
              </a:ext>
            </a:extLst>
          </p:cNvPr>
          <p:cNvSpPr>
            <a:spLocks xmlns:a="http://schemas.openxmlformats.org/drawingml/2006/main" noGrp="1"/>
          </p:cNvSpPr>
          <p:nvPr/>
        </p:nvSpPr>
        <p:spPr>
          <a:xfrm xmlns:a="http://schemas.openxmlformats.org/drawingml/2006/main">
            <a:off x="685800" y="504825"/>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1">
                <a:solidFill>
                  <a:srgbClr val="C9803B"/>
                </a:solidFill>
                <a:latin typeface="Nimbus Sans"/>
                <a:ea typeface="Nimbus Sans"/>
                <a:cs typeface="Nimbus Sans"/>
              </a:defRPr>
            </a:pPr>
            <a:r>
              <a:rPr sz="1800" b="1">
                <a:solidFill>
                  <a:srgbClr val="C9803B"/>
                </a:solidFill>
                <a:latin typeface="Nimbus Sans"/>
                <a:ea typeface="Nimbus Sans"/>
                <a:cs typeface="Nimbus Sans"/>
              </a:rPr>
              <a:t>LAUNCH SCIENCE</a:t>
            </a:r>
          </a:p>
        </p:txBody>
      </p:sp>
      <p:sp>
        <p:nvSpPr>
          <p:cNvPr id="5" name="I do">
            <a:extLst xmlns:a="http://schemas.openxmlformats.org/drawingml/2006/main">
              <a:ext uri="{FF2B5EF4-FFF2-40B4-BE49-F238E27FC236}">
                <a16:creationId xmlns:a16="http://schemas.microsoft.com/office/drawing/2014/main" id="{471FCEB5-5AAA-4514-9FD1-2A3ABBDE5499}"/>
              </a:ext>
            </a:extLst>
          </p:cNvPr>
          <p:cNvSpPr>
            <a:spLocks xmlns:a="http://schemas.openxmlformats.org/drawingml/2006/main" noGrp="1"/>
          </p:cNvSpPr>
          <p:nvPr/>
        </p:nvSpPr>
        <p:spPr>
          <a:xfrm xmlns:a="http://schemas.openxmlformats.org/drawingml/2006/main">
            <a:off x="5943600" y="504825"/>
            <a:ext cx="3752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1">
                <a:solidFill>
                  <a:srgbClr val="C9803B"/>
                </a:solidFill>
                <a:latin typeface="Nimbus Sans"/>
                <a:ea typeface="Nimbus Sans"/>
                <a:cs typeface="Nimbus Sans"/>
              </a:defRPr>
            </a:pPr>
            <a:r>
              <a:rPr sz="1800" b="1">
                <a:solidFill>
                  <a:srgbClr val="C9803B"/>
                </a:solidFill>
                <a:latin typeface="Nimbus Sans"/>
                <a:ea typeface="Nimbus Sans"/>
                <a:cs typeface="Nimbus Sans"/>
              </a:rPr>
              <a:t>I do</a:t>
            </a:r>
          </a:p>
        </p:txBody>
      </p:sp>
      <p:sp>
        <p:nvSpPr>
          <p:cNvPr id="6" name="3 min">
            <a:extLst xmlns:a="http://schemas.openxmlformats.org/drawingml/2006/main">
              <a:ext uri="{FF2B5EF4-FFF2-40B4-BE49-F238E27FC236}">
                <a16:creationId xmlns:a16="http://schemas.microsoft.com/office/drawing/2014/main" id="{DDF7C207-1771-455D-A643-7A04F75F782D}"/>
              </a:ext>
            </a:extLst>
          </p:cNvPr>
          <p:cNvSpPr>
            <a:spLocks xmlns:a="http://schemas.openxmlformats.org/drawingml/2006/main" noGrp="1"/>
          </p:cNvSpPr>
          <p:nvPr/>
        </p:nvSpPr>
        <p:spPr>
          <a:xfrm xmlns:a="http://schemas.openxmlformats.org/drawingml/2006/main">
            <a:off x="10029825" y="504825"/>
            <a:ext cx="14573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725" b="0">
                <a:solidFill>
                  <a:srgbClr val="465465"/>
                </a:solidFill>
                <a:latin typeface="Nimbus Sans"/>
                <a:ea typeface="Nimbus Sans"/>
                <a:cs typeface="Nimbus Sans"/>
              </a:defRPr>
            </a:pPr>
            <a:r>
              <a:rPr sz="1725" b="0">
                <a:solidFill>
                  <a:srgbClr val="465465"/>
                </a:solidFill>
                <a:latin typeface="Nimbus Sans"/>
                <a:ea typeface="Nimbus Sans"/>
                <a:cs typeface="Nimbus Sans"/>
              </a:rPr>
              <a:t>3 min</a:t>
            </a:r>
          </a:p>
        </p:txBody>
      </p:sp>
      <p:sp>
        <p:nvSpPr>
          <p:cNvPr id="7" name="The product is the protein">
            <a:extLst xmlns:a="http://schemas.openxmlformats.org/drawingml/2006/main">
              <a:ext uri="{FF2B5EF4-FFF2-40B4-BE49-F238E27FC236}">
                <a16:creationId xmlns:a16="http://schemas.microsoft.com/office/drawing/2014/main" id="{40F9ACFE-186F-48F3-86B9-CB86D8DC1959}"/>
              </a:ext>
            </a:extLst>
          </p:cNvPr>
          <p:cNvSpPr>
            <a:spLocks xmlns:a="http://schemas.openxmlformats.org/drawingml/2006/main" noGrp="1"/>
          </p:cNvSpPr>
          <p:nvPr/>
        </p:nvSpPr>
        <p:spPr>
          <a:xfrm xmlns:a="http://schemas.openxmlformats.org/drawingml/2006/main">
            <a:off x="533400" y="1066800"/>
            <a:ext cx="11125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3000" b="1">
                <a:solidFill>
                  <a:srgbClr val="1F2937"/>
                </a:solidFill>
                <a:latin typeface="Nimbus Sans"/>
                <a:ea typeface="Nimbus Sans"/>
                <a:cs typeface="Nimbus Sans"/>
              </a:defRPr>
            </a:pPr>
            <a:r>
              <a:rPr sz="3000" b="1">
                <a:solidFill>
                  <a:srgbClr val="1F2937"/>
                </a:solidFill>
                <a:latin typeface="Nimbus Sans"/>
                <a:ea typeface="Nimbus Sans"/>
                <a:cs typeface="Nimbus Sans"/>
              </a:rPr>
              <a:t>The product is the protein</a:t>
            </a:r>
          </a:p>
        </p:txBody>
      </p:sp>
      <p:sp>
        <p:nvSpPr>
          <p:cNvPr id="8" name="surface">
            <a:extLst xmlns:a="http://schemas.openxmlformats.org/drawingml/2006/main">
              <a:ext uri="{FF2B5EF4-FFF2-40B4-BE49-F238E27FC236}">
                <a16:creationId xmlns:a16="http://schemas.microsoft.com/office/drawing/2014/main" id="{EEB7F272-3A2E-475A-BDFB-D3B6AE1CC919}"/>
              </a:ext>
            </a:extLst>
          </p:cNvPr>
          <p:cNvSpPr>
            <a:spLocks xmlns:a="http://schemas.openxmlformats.org/drawingml/2006/main" noGrp="1"/>
          </p:cNvSpPr>
          <p:nvPr/>
        </p:nvSpPr>
        <p:spPr>
          <a:xfrm xmlns:a="http://schemas.openxmlformats.org/drawingml/2006/main">
            <a:off x="457200" y="6496050"/>
            <a:ext cx="11277600" cy="9525"/>
          </a:xfrm>
          <a:prstGeom xmlns:a="http://schemas.openxmlformats.org/drawingml/2006/main" prst="rect">
            <a:avLst/>
          </a:prstGeom>
          <a:solidFill xmlns:a="http://schemas.openxmlformats.org/drawingml/2006/main">
            <a:srgbClr val="D8DDE2"/>
          </a:solidFill>
          <a:ln xmlns:a="http://schemas.openxmlformats.org/drawingml/2006/main" w="0">
            <a:noFill/>
          </a:ln>
        </p:spPr>
      </p:sp>
      <p:sp>
        <p:nvSpPr>
          <p:cNvPr id="9" name="Genetic engineering: change, test, decide">
            <a:extLst xmlns:a="http://schemas.openxmlformats.org/drawingml/2006/main">
              <a:ext uri="{FF2B5EF4-FFF2-40B4-BE49-F238E27FC236}">
                <a16:creationId xmlns:a16="http://schemas.microsoft.com/office/drawing/2014/main" id="{F7E00484-ED83-4294-A03F-4F7D94FF619E}"/>
              </a:ext>
            </a:extLst>
          </p:cNvPr>
          <p:cNvSpPr>
            <a:spLocks xmlns:a="http://schemas.openxmlformats.org/drawingml/2006/main" noGrp="1"/>
          </p:cNvSpPr>
          <p:nvPr/>
        </p:nvSpPr>
        <p:spPr>
          <a:xfrm xmlns:a="http://schemas.openxmlformats.org/drawingml/2006/main">
            <a:off x="533400" y="6600825"/>
            <a:ext cx="10572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Genetic engineering: change, test, decide</a:t>
            </a:r>
          </a:p>
        </p:txBody>
      </p:sp>
      <p:sp>
        <p:nvSpPr>
          <p:cNvPr id="10" name="5 / 15">
            <a:extLst xmlns:a="http://schemas.openxmlformats.org/drawingml/2006/main">
              <a:ext uri="{FF2B5EF4-FFF2-40B4-BE49-F238E27FC236}">
                <a16:creationId xmlns:a16="http://schemas.microsoft.com/office/drawing/2014/main" id="{4F5F0005-4E6D-4CF3-A4DE-A8277F430E0B}"/>
              </a:ext>
            </a:extLst>
          </p:cNvPr>
          <p:cNvSpPr>
            <a:spLocks xmlns:a="http://schemas.openxmlformats.org/drawingml/2006/main" noGrp="1"/>
          </p:cNvSpPr>
          <p:nvPr/>
        </p:nvSpPr>
        <p:spPr>
          <a:xfrm xmlns:a="http://schemas.openxmlformats.org/drawingml/2006/main">
            <a:off x="10953750" y="6600825"/>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5 / 15</a:t>
            </a:r>
          </a:p>
        </p:txBody>
      </p:sp>
      <p:sp>
        <p:nvSpPr>
          <p:cNvPr id="11" name="Diagram label: Example: make a useful medicine">
            <a:extLst xmlns:a="http://schemas.openxmlformats.org/drawingml/2006/main">
              <a:ext uri="{FF2B5EF4-FFF2-40B4-BE49-F238E27FC236}">
                <a16:creationId xmlns:a16="http://schemas.microsoft.com/office/drawing/2014/main" id="{49924020-C9B8-4FC8-887F-0A7C4924C250}"/>
              </a:ext>
            </a:extLst>
          </p:cNvPr>
          <p:cNvSpPr>
            <a:spLocks xmlns:a="http://schemas.openxmlformats.org/drawingml/2006/main" noGrp="1"/>
          </p:cNvSpPr>
          <p:nvPr/>
        </p:nvSpPr>
        <p:spPr>
          <a:xfrm xmlns:a="http://schemas.openxmlformats.org/drawingml/2006/main">
            <a:off x="2837429" y="1988004"/>
            <a:ext cx="6517141" cy="31534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711" b="1">
                <a:solidFill>
                  <a:srgbClr val="1F2937"/>
                </a:solidFill>
                <a:latin typeface="Nimbus Sans"/>
                <a:ea typeface="Nimbus Sans"/>
                <a:cs typeface="Nimbus Sans"/>
              </a:defRPr>
            </a:pPr>
            <a:r>
              <a:rPr sz="1711" b="1">
                <a:solidFill>
                  <a:srgbClr val="1F2937"/>
                </a:solidFill>
                <a:latin typeface="Nimbus Sans"/>
                <a:ea typeface="Nimbus Sans"/>
                <a:cs typeface="Nimbus Sans"/>
              </a:rPr>
              <a:t>Example: make a useful medicine</a:t>
            </a:r>
          </a:p>
        </p:txBody>
      </p:sp>
      <p:sp>
        <p:nvSpPr>
          <p:cNvPr id="12" name="Editable scientific diagram">
            <a:extLst xmlns:a="http://schemas.openxmlformats.org/drawingml/2006/main">
              <a:ext uri="{FF2B5EF4-FFF2-40B4-BE49-F238E27FC236}">
                <a16:creationId xmlns:a16="http://schemas.microsoft.com/office/drawing/2014/main" id="{392D9426-1DBC-436C-B2FC-21C774F93C64}"/>
              </a:ext>
            </a:extLst>
          </p:cNvPr>
          <p:cNvSpPr>
            <a:spLocks xmlns:a="http://schemas.openxmlformats.org/drawingml/2006/main" noGrp="1"/>
          </p:cNvSpPr>
          <p:nvPr/>
        </p:nvSpPr>
        <p:spPr>
          <a:xfrm xmlns:a="http://schemas.openxmlformats.org/drawingml/2006/main">
            <a:off x="2977583" y="2618695"/>
            <a:ext cx="2557803" cy="946037"/>
          </a:xfrm>
          <a:prstGeom xmlns:a="http://schemas.openxmlformats.org/drawingml/2006/main" prst="rect">
            <a:avLst/>
          </a:prstGeom>
          <a:solidFill xmlns:a="http://schemas.openxmlformats.org/drawingml/2006/main">
            <a:srgbClr val="F0EBF5"/>
          </a:solidFill>
          <a:ln xmlns:a="http://schemas.openxmlformats.org/drawingml/2006/main" w="21023">
            <a:solidFill>
              <a:srgbClr val="7A5C9E"/>
            </a:solidFill>
          </a:ln>
        </p:spPr>
      </p:sp>
      <p:sp>
        <p:nvSpPr>
          <p:cNvPr id="13" name="Diagram label: Genetic instruction&#10;for human insulin">
            <a:extLst xmlns:a="http://schemas.openxmlformats.org/drawingml/2006/main">
              <a:ext uri="{FF2B5EF4-FFF2-40B4-BE49-F238E27FC236}">
                <a16:creationId xmlns:a16="http://schemas.microsoft.com/office/drawing/2014/main" id="{8DCD94D3-CF2B-4368-9F02-0BD4ED06A93F}"/>
              </a:ext>
            </a:extLst>
          </p:cNvPr>
          <p:cNvSpPr>
            <a:spLocks xmlns:a="http://schemas.openxmlformats.org/drawingml/2006/main" noGrp="1"/>
          </p:cNvSpPr>
          <p:nvPr/>
        </p:nvSpPr>
        <p:spPr>
          <a:xfrm xmlns:a="http://schemas.openxmlformats.org/drawingml/2006/main">
            <a:off x="3117737" y="2758848"/>
            <a:ext cx="2277496" cy="63069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8000"/>
              </a:lnSpc>
              <a:buNone/>
              <a:defRPr sz="1600" b="1">
                <a:solidFill>
                  <a:srgbClr val="1F2937"/>
                </a:solidFill>
                <a:latin typeface="Nimbus Sans"/>
                <a:ea typeface="Nimbus Sans"/>
                <a:cs typeface="Nimbus Sans"/>
              </a:defRPr>
            </a:pPr>
            <a:r>
              <a:rPr sz="1600" b="1">
                <a:solidFill>
                  <a:srgbClr val="1F2937"/>
                </a:solidFill>
                <a:latin typeface="Nimbus Sans"/>
                <a:ea typeface="Nimbus Sans"/>
                <a:cs typeface="Nimbus Sans"/>
              </a:rPr>
              <a:t>Genetic instruction</a:t>
            </a:r>
          </a:p>
          <a:p xmlns:a="http://schemas.openxmlformats.org/drawingml/2006/main">
            <a:pPr algn="ctr">
              <a:lnSpc>
                <a:spcPct val="108000"/>
              </a:lnSpc>
              <a:buNone/>
              <a:defRPr sz="1600" b="1">
                <a:solidFill>
                  <a:srgbClr val="1F2937"/>
                </a:solidFill>
                <a:latin typeface="Nimbus Sans"/>
                <a:ea typeface="Nimbus Sans"/>
                <a:cs typeface="Nimbus Sans"/>
              </a:defRPr>
            </a:pPr>
            <a:r>
              <a:rPr sz="1600" b="1">
                <a:solidFill>
                  <a:srgbClr val="1F2937"/>
                </a:solidFill>
                <a:latin typeface="Nimbus Sans"/>
                <a:ea typeface="Nimbus Sans"/>
                <a:cs typeface="Nimbus Sans"/>
              </a:rPr>
              <a:t>for human insulin</a:t>
            </a:r>
          </a:p>
        </p:txBody>
      </p:sp>
      <p:sp>
        <p:nvSpPr>
          <p:cNvPr id="14" name="Diagram line">
            <a:extLst xmlns:a="http://schemas.openxmlformats.org/drawingml/2006/main">
              <a:ext uri="{FF2B5EF4-FFF2-40B4-BE49-F238E27FC236}">
                <a16:creationId xmlns:a16="http://schemas.microsoft.com/office/drawing/2014/main" id="{E2B5F016-6105-4FD2-93D9-692E0E32F734}"/>
              </a:ext>
            </a:extLst>
          </p:cNvPr>
          <p:cNvSpPr>
            <a:spLocks xmlns:a="http://schemas.openxmlformats.org/drawingml/2006/main" noGrp="1"/>
          </p:cNvSpPr>
          <p:nvPr/>
        </p:nvSpPr>
        <p:spPr>
          <a:xfrm xmlns:a="http://schemas.openxmlformats.org/drawingml/2006/main" flipH="0" flipV="0">
            <a:off x="5675539" y="3109232"/>
            <a:ext cx="767341" cy="953"/>
          </a:xfrm>
          <a:prstGeom xmlns:a="http://schemas.openxmlformats.org/drawingml/2006/main" prst="line">
            <a:avLst/>
          </a:prstGeom>
          <a:noFill xmlns:a="http://schemas.openxmlformats.org/drawingml/2006/main"/>
          <a:ln xmlns:a="http://schemas.openxmlformats.org/drawingml/2006/main" w="35038">
            <a:solidFill>
              <a:srgbClr val="7A5C9E"/>
            </a:solidFill>
          </a:ln>
        </p:spPr>
      </p:sp>
      <p:sp>
        <p:nvSpPr>
          <p:cNvPr id="15" name="Diagram arrowhead">
            <a:extLst xmlns:a="http://schemas.openxmlformats.org/drawingml/2006/main">
              <a:ext uri="{FF2B5EF4-FFF2-40B4-BE49-F238E27FC236}">
                <a16:creationId xmlns:a16="http://schemas.microsoft.com/office/drawing/2014/main" id="{1FE6FE0A-3ED5-406D-9294-CE90DE48E7B4}"/>
              </a:ext>
            </a:extLst>
          </p:cNvPr>
          <p:cNvSpPr>
            <a:spLocks xmlns:a="http://schemas.openxmlformats.org/drawingml/2006/main" noGrp="1"/>
          </p:cNvSpPr>
          <p:nvPr/>
        </p:nvSpPr>
        <p:spPr>
          <a:xfrm xmlns:a="http://schemas.openxmlformats.org/drawingml/2006/main" rot="5400000">
            <a:off x="6418353" y="3060178"/>
            <a:ext cx="98108" cy="98108"/>
          </a:xfrm>
          <a:prstGeom xmlns:a="http://schemas.openxmlformats.org/drawingml/2006/main" prst="triangle">
            <a:avLst/>
          </a:prstGeom>
          <a:solidFill xmlns:a="http://schemas.openxmlformats.org/drawingml/2006/main">
            <a:srgbClr val="7A5C9E"/>
          </a:solidFill>
          <a:ln xmlns:a="http://schemas.openxmlformats.org/drawingml/2006/main" w="0">
            <a:noFill/>
          </a:ln>
        </p:spPr>
      </p:sp>
      <p:sp>
        <p:nvSpPr>
          <p:cNvPr id="16" name="Editable scientific diagram">
            <a:extLst xmlns:a="http://schemas.openxmlformats.org/drawingml/2006/main">
              <a:ext uri="{FF2B5EF4-FFF2-40B4-BE49-F238E27FC236}">
                <a16:creationId xmlns:a16="http://schemas.microsoft.com/office/drawing/2014/main" id="{871FB14E-EDAF-4083-916C-D9870E1427E9}"/>
              </a:ext>
            </a:extLst>
          </p:cNvPr>
          <p:cNvSpPr>
            <a:spLocks xmlns:a="http://schemas.openxmlformats.org/drawingml/2006/main" noGrp="1"/>
          </p:cNvSpPr>
          <p:nvPr/>
        </p:nvSpPr>
        <p:spPr>
          <a:xfrm xmlns:a="http://schemas.openxmlformats.org/drawingml/2006/main">
            <a:off x="6656614" y="2618695"/>
            <a:ext cx="2557803" cy="946037"/>
          </a:xfrm>
          <a:prstGeom xmlns:a="http://schemas.openxmlformats.org/drawingml/2006/main" prst="rect">
            <a:avLst/>
          </a:prstGeom>
          <a:solidFill xmlns:a="http://schemas.openxmlformats.org/drawingml/2006/main">
            <a:srgbClr val="F0EBF5"/>
          </a:solidFill>
          <a:ln xmlns:a="http://schemas.openxmlformats.org/drawingml/2006/main" w="21023">
            <a:solidFill>
              <a:srgbClr val="7A5C9E"/>
            </a:solidFill>
          </a:ln>
        </p:spPr>
      </p:sp>
      <p:sp>
        <p:nvSpPr>
          <p:cNvPr id="17" name="Diagram label: Suitable microbial&#10;cells produce&#10;insulin">
            <a:extLst xmlns:a="http://schemas.openxmlformats.org/drawingml/2006/main">
              <a:ext uri="{FF2B5EF4-FFF2-40B4-BE49-F238E27FC236}">
                <a16:creationId xmlns:a16="http://schemas.microsoft.com/office/drawing/2014/main" id="{7C32326F-624D-4C9B-B4A6-CA5C64E40062}"/>
              </a:ext>
            </a:extLst>
          </p:cNvPr>
          <p:cNvSpPr>
            <a:spLocks xmlns:a="http://schemas.openxmlformats.org/drawingml/2006/main" noGrp="1"/>
          </p:cNvSpPr>
          <p:nvPr/>
        </p:nvSpPr>
        <p:spPr>
          <a:xfrm xmlns:a="http://schemas.openxmlformats.org/drawingml/2006/main">
            <a:off x="6796768" y="2688771"/>
            <a:ext cx="2277496" cy="8058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8000"/>
              </a:lnSpc>
              <a:buNone/>
              <a:defRPr sz="1545" b="1">
                <a:solidFill>
                  <a:srgbClr val="1F2937"/>
                </a:solidFill>
                <a:latin typeface="Nimbus Sans"/>
                <a:ea typeface="Nimbus Sans"/>
                <a:cs typeface="Nimbus Sans"/>
              </a:defRPr>
            </a:pPr>
            <a:r>
              <a:rPr sz="1545" b="1">
                <a:solidFill>
                  <a:srgbClr val="1F2937"/>
                </a:solidFill>
                <a:latin typeface="Nimbus Sans"/>
                <a:ea typeface="Nimbus Sans"/>
                <a:cs typeface="Nimbus Sans"/>
              </a:rPr>
              <a:t>Suitable microbial</a:t>
            </a:r>
          </a:p>
          <a:p xmlns:a="http://schemas.openxmlformats.org/drawingml/2006/main">
            <a:pPr algn="ctr">
              <a:lnSpc>
                <a:spcPct val="108000"/>
              </a:lnSpc>
              <a:buNone/>
              <a:defRPr sz="1545" b="1">
                <a:solidFill>
                  <a:srgbClr val="1F2937"/>
                </a:solidFill>
                <a:latin typeface="Nimbus Sans"/>
                <a:ea typeface="Nimbus Sans"/>
                <a:cs typeface="Nimbus Sans"/>
              </a:defRPr>
            </a:pPr>
            <a:r>
              <a:rPr sz="1545" b="1">
                <a:solidFill>
                  <a:srgbClr val="1F2937"/>
                </a:solidFill>
                <a:latin typeface="Nimbus Sans"/>
                <a:ea typeface="Nimbus Sans"/>
                <a:cs typeface="Nimbus Sans"/>
              </a:rPr>
              <a:t>cells produce</a:t>
            </a:r>
          </a:p>
          <a:p xmlns:a="http://schemas.openxmlformats.org/drawingml/2006/main">
            <a:pPr algn="ctr">
              <a:lnSpc>
                <a:spcPct val="108000"/>
              </a:lnSpc>
              <a:buNone/>
              <a:defRPr sz="1545" b="1">
                <a:solidFill>
                  <a:srgbClr val="1F2937"/>
                </a:solidFill>
                <a:latin typeface="Nimbus Sans"/>
                <a:ea typeface="Nimbus Sans"/>
                <a:cs typeface="Nimbus Sans"/>
              </a:defRPr>
            </a:pPr>
            <a:r>
              <a:rPr sz="1545" b="1">
                <a:solidFill>
                  <a:srgbClr val="1F2937"/>
                </a:solidFill>
                <a:latin typeface="Nimbus Sans"/>
                <a:ea typeface="Nimbus Sans"/>
                <a:cs typeface="Nimbus Sans"/>
              </a:rPr>
              <a:t>insulin</a:t>
            </a:r>
          </a:p>
        </p:txBody>
      </p:sp>
      <p:sp>
        <p:nvSpPr>
          <p:cNvPr id="18" name="Diagram line">
            <a:extLst xmlns:a="http://schemas.openxmlformats.org/drawingml/2006/main">
              <a:ext uri="{FF2B5EF4-FFF2-40B4-BE49-F238E27FC236}">
                <a16:creationId xmlns:a16="http://schemas.microsoft.com/office/drawing/2014/main" id="{852D8A34-404C-414C-8BCC-F6F6C3968226}"/>
              </a:ext>
            </a:extLst>
          </p:cNvPr>
          <p:cNvSpPr>
            <a:spLocks xmlns:a="http://schemas.openxmlformats.org/drawingml/2006/main" noGrp="1"/>
          </p:cNvSpPr>
          <p:nvPr/>
        </p:nvSpPr>
        <p:spPr>
          <a:xfrm xmlns:a="http://schemas.openxmlformats.org/drawingml/2006/main" flipH="0" flipV="0">
            <a:off x="7917996" y="3669846"/>
            <a:ext cx="953" cy="381918"/>
          </a:xfrm>
          <a:prstGeom xmlns:a="http://schemas.openxmlformats.org/drawingml/2006/main" prst="line">
            <a:avLst/>
          </a:prstGeom>
          <a:noFill xmlns:a="http://schemas.openxmlformats.org/drawingml/2006/main"/>
          <a:ln xmlns:a="http://schemas.openxmlformats.org/drawingml/2006/main" w="35038">
            <a:solidFill>
              <a:srgbClr val="7A5C9E"/>
            </a:solidFill>
          </a:ln>
        </p:spPr>
      </p:sp>
      <p:sp>
        <p:nvSpPr>
          <p:cNvPr id="19" name="Diagram arrowhead">
            <a:extLst xmlns:a="http://schemas.openxmlformats.org/drawingml/2006/main">
              <a:ext uri="{FF2B5EF4-FFF2-40B4-BE49-F238E27FC236}">
                <a16:creationId xmlns:a16="http://schemas.microsoft.com/office/drawing/2014/main" id="{ADA92307-64C3-4DB7-AF3E-B41EB611A8CE}"/>
              </a:ext>
            </a:extLst>
          </p:cNvPr>
          <p:cNvSpPr>
            <a:spLocks xmlns:a="http://schemas.openxmlformats.org/drawingml/2006/main" noGrp="1"/>
          </p:cNvSpPr>
          <p:nvPr/>
        </p:nvSpPr>
        <p:spPr>
          <a:xfrm xmlns:a="http://schemas.openxmlformats.org/drawingml/2006/main" rot="10800000">
            <a:off x="7868943" y="4027238"/>
            <a:ext cx="98108" cy="98108"/>
          </a:xfrm>
          <a:prstGeom xmlns:a="http://schemas.openxmlformats.org/drawingml/2006/main" prst="triangle">
            <a:avLst/>
          </a:prstGeom>
          <a:solidFill xmlns:a="http://schemas.openxmlformats.org/drawingml/2006/main">
            <a:srgbClr val="7A5C9E"/>
          </a:solidFill>
          <a:ln xmlns:a="http://schemas.openxmlformats.org/drawingml/2006/main" w="0">
            <a:noFill/>
          </a:ln>
        </p:spPr>
      </p:sp>
      <p:sp>
        <p:nvSpPr>
          <p:cNvPr id="20" name="Editable scientific diagram">
            <a:extLst xmlns:a="http://schemas.openxmlformats.org/drawingml/2006/main">
              <a:ext uri="{FF2B5EF4-FFF2-40B4-BE49-F238E27FC236}">
                <a16:creationId xmlns:a16="http://schemas.microsoft.com/office/drawing/2014/main" id="{485D54B5-8110-4F24-8D7F-05DC4AB031F9}"/>
              </a:ext>
            </a:extLst>
          </p:cNvPr>
          <p:cNvSpPr>
            <a:spLocks xmlns:a="http://schemas.openxmlformats.org/drawingml/2006/main" noGrp="1"/>
          </p:cNvSpPr>
          <p:nvPr/>
        </p:nvSpPr>
        <p:spPr>
          <a:xfrm xmlns:a="http://schemas.openxmlformats.org/drawingml/2006/main">
            <a:off x="6656614" y="4230461"/>
            <a:ext cx="2557803" cy="910998"/>
          </a:xfrm>
          <a:prstGeom xmlns:a="http://schemas.openxmlformats.org/drawingml/2006/main" prst="rect">
            <a:avLst/>
          </a:prstGeom>
          <a:solidFill xmlns:a="http://schemas.openxmlformats.org/drawingml/2006/main">
            <a:srgbClr val="F0EBF5"/>
          </a:solidFill>
          <a:ln xmlns:a="http://schemas.openxmlformats.org/drawingml/2006/main" w="21023">
            <a:solidFill>
              <a:srgbClr val="7A5C9E"/>
            </a:solidFill>
          </a:ln>
        </p:spPr>
      </p:sp>
      <p:sp>
        <p:nvSpPr>
          <p:cNvPr id="21" name="Diagram label: Recover, purify&#10;and check&#10;the medicine">
            <a:extLst xmlns:a="http://schemas.openxmlformats.org/drawingml/2006/main">
              <a:ext uri="{FF2B5EF4-FFF2-40B4-BE49-F238E27FC236}">
                <a16:creationId xmlns:a16="http://schemas.microsoft.com/office/drawing/2014/main" id="{B9BC8822-0F58-4058-938B-723680204128}"/>
              </a:ext>
            </a:extLst>
          </p:cNvPr>
          <p:cNvSpPr>
            <a:spLocks xmlns:a="http://schemas.openxmlformats.org/drawingml/2006/main" noGrp="1"/>
          </p:cNvSpPr>
          <p:nvPr/>
        </p:nvSpPr>
        <p:spPr>
          <a:xfrm xmlns:a="http://schemas.openxmlformats.org/drawingml/2006/main">
            <a:off x="6796768" y="4300538"/>
            <a:ext cx="2277496" cy="8058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8000"/>
              </a:lnSpc>
              <a:buNone/>
              <a:defRPr sz="1545" b="1">
                <a:solidFill>
                  <a:srgbClr val="1F2937"/>
                </a:solidFill>
                <a:latin typeface="Nimbus Sans"/>
                <a:ea typeface="Nimbus Sans"/>
                <a:cs typeface="Nimbus Sans"/>
              </a:defRPr>
            </a:pPr>
            <a:r>
              <a:rPr sz="1545" b="1">
                <a:solidFill>
                  <a:srgbClr val="1F2937"/>
                </a:solidFill>
                <a:latin typeface="Nimbus Sans"/>
                <a:ea typeface="Nimbus Sans"/>
                <a:cs typeface="Nimbus Sans"/>
              </a:rPr>
              <a:t>Recover, purify</a:t>
            </a:r>
          </a:p>
          <a:p xmlns:a="http://schemas.openxmlformats.org/drawingml/2006/main">
            <a:pPr algn="ctr">
              <a:lnSpc>
                <a:spcPct val="108000"/>
              </a:lnSpc>
              <a:buNone/>
              <a:defRPr sz="1545" b="1">
                <a:solidFill>
                  <a:srgbClr val="1F2937"/>
                </a:solidFill>
                <a:latin typeface="Nimbus Sans"/>
                <a:ea typeface="Nimbus Sans"/>
                <a:cs typeface="Nimbus Sans"/>
              </a:defRPr>
            </a:pPr>
            <a:r>
              <a:rPr sz="1545" b="1">
                <a:solidFill>
                  <a:srgbClr val="1F2937"/>
                </a:solidFill>
                <a:latin typeface="Nimbus Sans"/>
                <a:ea typeface="Nimbus Sans"/>
                <a:cs typeface="Nimbus Sans"/>
              </a:rPr>
              <a:t>and check</a:t>
            </a:r>
          </a:p>
          <a:p xmlns:a="http://schemas.openxmlformats.org/drawingml/2006/main">
            <a:pPr algn="ctr">
              <a:lnSpc>
                <a:spcPct val="108000"/>
              </a:lnSpc>
              <a:buNone/>
              <a:defRPr sz="1545" b="1">
                <a:solidFill>
                  <a:srgbClr val="1F2937"/>
                </a:solidFill>
                <a:latin typeface="Nimbus Sans"/>
                <a:ea typeface="Nimbus Sans"/>
                <a:cs typeface="Nimbus Sans"/>
              </a:defRPr>
            </a:pPr>
            <a:r>
              <a:rPr sz="1545" b="1">
                <a:solidFill>
                  <a:srgbClr val="1F2937"/>
                </a:solidFill>
                <a:latin typeface="Nimbus Sans"/>
                <a:ea typeface="Nimbus Sans"/>
                <a:cs typeface="Nimbus Sans"/>
              </a:rPr>
              <a:t>the medicine</a:t>
            </a:r>
          </a:p>
        </p:txBody>
      </p:sp>
      <p:sp>
        <p:nvSpPr>
          <p:cNvPr id="22" name="Diagram label: The cells remain microbes.&#10;The gene is information.&#10;Insulin is the product.">
            <a:extLst xmlns:a="http://schemas.openxmlformats.org/drawingml/2006/main">
              <a:ext uri="{FF2B5EF4-FFF2-40B4-BE49-F238E27FC236}">
                <a16:creationId xmlns:a16="http://schemas.microsoft.com/office/drawing/2014/main" id="{6F8D0DF3-D0CC-4A60-9E73-E095636AD575}"/>
              </a:ext>
            </a:extLst>
          </p:cNvPr>
          <p:cNvSpPr>
            <a:spLocks xmlns:a="http://schemas.openxmlformats.org/drawingml/2006/main" noGrp="1"/>
          </p:cNvSpPr>
          <p:nvPr/>
        </p:nvSpPr>
        <p:spPr>
          <a:xfrm xmlns:a="http://schemas.openxmlformats.org/drawingml/2006/main">
            <a:off x="2977583" y="4125346"/>
            <a:ext cx="2978263" cy="10861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545" b="1">
                <a:solidFill>
                  <a:srgbClr val="1F2937"/>
                </a:solidFill>
                <a:latin typeface="Nimbus Sans"/>
                <a:ea typeface="Nimbus Sans"/>
                <a:cs typeface="Nimbus Sans"/>
              </a:defRPr>
            </a:pPr>
            <a:r>
              <a:rPr sz="1545" b="1">
                <a:solidFill>
                  <a:srgbClr val="1F2937"/>
                </a:solidFill>
                <a:latin typeface="Nimbus Sans"/>
                <a:ea typeface="Nimbus Sans"/>
                <a:cs typeface="Nimbus Sans"/>
              </a:rPr>
              <a:t>The cells remain microbes.</a:t>
            </a:r>
          </a:p>
          <a:p xmlns:a="http://schemas.openxmlformats.org/drawingml/2006/main">
            <a:pPr algn="l">
              <a:lnSpc>
                <a:spcPct val="108000"/>
              </a:lnSpc>
              <a:buNone/>
              <a:defRPr sz="1545" b="1">
                <a:solidFill>
                  <a:srgbClr val="1F2937"/>
                </a:solidFill>
                <a:latin typeface="Nimbus Sans"/>
                <a:ea typeface="Nimbus Sans"/>
                <a:cs typeface="Nimbus Sans"/>
              </a:defRPr>
            </a:pPr>
            <a:r>
              <a:rPr sz="1545" b="1">
                <a:solidFill>
                  <a:srgbClr val="1F2937"/>
                </a:solidFill>
                <a:latin typeface="Nimbus Sans"/>
                <a:ea typeface="Nimbus Sans"/>
                <a:cs typeface="Nimbus Sans"/>
              </a:rPr>
              <a:t>The gene is information.</a:t>
            </a:r>
          </a:p>
          <a:p xmlns:a="http://schemas.openxmlformats.org/drawingml/2006/main">
            <a:pPr algn="l">
              <a:lnSpc>
                <a:spcPct val="108000"/>
              </a:lnSpc>
              <a:buNone/>
              <a:defRPr sz="1545" b="1">
                <a:solidFill>
                  <a:srgbClr val="1F2937"/>
                </a:solidFill>
                <a:latin typeface="Nimbus Sans"/>
                <a:ea typeface="Nimbus Sans"/>
                <a:cs typeface="Nimbus Sans"/>
              </a:defRPr>
            </a:pPr>
            <a:r>
              <a:rPr sz="1545" b="1">
                <a:solidFill>
                  <a:srgbClr val="1F2937"/>
                </a:solidFill>
                <a:latin typeface="Nimbus Sans"/>
                <a:ea typeface="Nimbus Sans"/>
                <a:cs typeface="Nimbus Sans"/>
              </a:rPr>
              <a:t>Insulin is the product.</a:t>
            </a:r>
          </a:p>
        </p:txBody>
      </p:sp>
      <p:sp>
        <p:nvSpPr>
          <p:cNvPr id="23" name="Diagram label: Conceptual model, not a practical method.">
            <a:extLst xmlns:a="http://schemas.openxmlformats.org/drawingml/2006/main">
              <a:ext uri="{FF2B5EF4-FFF2-40B4-BE49-F238E27FC236}">
                <a16:creationId xmlns:a16="http://schemas.microsoft.com/office/drawing/2014/main" id="{C17639DD-D7F4-44A4-9996-715C3D9B515E}"/>
              </a:ext>
            </a:extLst>
          </p:cNvPr>
          <p:cNvSpPr>
            <a:spLocks xmlns:a="http://schemas.openxmlformats.org/drawingml/2006/main" noGrp="1"/>
          </p:cNvSpPr>
          <p:nvPr/>
        </p:nvSpPr>
        <p:spPr>
          <a:xfrm xmlns:a="http://schemas.openxmlformats.org/drawingml/2006/main">
            <a:off x="2977583" y="5386728"/>
            <a:ext cx="6236834" cy="2102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8000"/>
              </a:lnSpc>
              <a:buNone/>
              <a:defRPr sz="1324" b="0">
                <a:solidFill>
                  <a:srgbClr val="1F2937"/>
                </a:solidFill>
                <a:latin typeface="Nimbus Sans"/>
                <a:ea typeface="Nimbus Sans"/>
                <a:cs typeface="Nimbus Sans"/>
              </a:defRPr>
            </a:pPr>
            <a:r>
              <a:rPr sz="1324" b="0">
                <a:solidFill>
                  <a:srgbClr val="1F2937"/>
                </a:solidFill>
                <a:latin typeface="Nimbus Sans"/>
                <a:ea typeface="Nimbus Sans"/>
                <a:cs typeface="Nimbus Sans"/>
              </a:rPr>
              <a:t>Conceptual model, not a practical method.</a:t>
            </a:r>
          </a:p>
        </p:txBody>
      </p:sp>
      <p:sp>
        <p:nvSpPr>
          <p:cNvPr id="24" name="Engineered microbial cells can make human insulin.  The product ">
            <a:extLst xmlns:a="http://schemas.openxmlformats.org/drawingml/2006/main">
              <a:ext uri="{FF2B5EF4-FFF2-40B4-BE49-F238E27FC236}">
                <a16:creationId xmlns:a16="http://schemas.microsoft.com/office/drawing/2014/main" id="{B579C93B-7883-4BF2-B970-BBF8425930BA}"/>
              </a:ext>
            </a:extLst>
          </p:cNvPr>
          <p:cNvSpPr>
            <a:spLocks xmlns:a="http://schemas.openxmlformats.org/drawingml/2006/main" noGrp="1"/>
          </p:cNvSpPr>
          <p:nvPr/>
        </p:nvSpPr>
        <p:spPr>
          <a:xfrm xmlns:a="http://schemas.openxmlformats.org/drawingml/2006/main">
            <a:off x="533400" y="5829300"/>
            <a:ext cx="111252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0">
                <a:solidFill>
                  <a:srgbClr val="1F2937"/>
                </a:solidFill>
                <a:latin typeface="Nimbus Sans"/>
                <a:ea typeface="Nimbus Sans"/>
                <a:cs typeface="Nimbus Sans"/>
              </a:defRPr>
            </a:pPr>
            <a:r>
              <a:rPr sz="1800" b="0">
                <a:solidFill>
                  <a:srgbClr val="1F2937"/>
                </a:solidFill>
                <a:latin typeface="Nimbus Sans"/>
                <a:ea typeface="Nimbus Sans"/>
                <a:cs typeface="Nimbus Sans"/>
              </a:rPr>
              <a:t>Engineered microbial cells can make human insulin. The product is recovered, purified and checked. The</a:t>
            </a:r>
          </a:p>
          <a:p xmlns:a="http://schemas.openxmlformats.org/drawingml/2006/main">
            <a:pPr algn="l">
              <a:lnSpc>
                <a:spcPct val="108000"/>
              </a:lnSpc>
              <a:buNone/>
              <a:defRPr sz="1800" b="0">
                <a:solidFill>
                  <a:srgbClr val="1F2937"/>
                </a:solidFill>
                <a:latin typeface="Nimbus Sans"/>
                <a:ea typeface="Nimbus Sans"/>
                <a:cs typeface="Nimbus Sans"/>
              </a:defRPr>
            </a:pPr>
            <a:r>
              <a:rPr sz="1800" b="0">
                <a:solidFill>
                  <a:srgbClr val="1F2937"/>
                </a:solidFill>
                <a:latin typeface="Nimbus Sans"/>
                <a:ea typeface="Nimbus Sans"/>
                <a:cs typeface="Nimbus Sans"/>
              </a:rPr>
              <a:t>cells do not become human.</a:t>
            </a:r>
          </a:p>
        </p:txBody>
      </p:sp>
    </p:spTree>
    <p:extLst>
      <p:ext uri="{BB962C8B-B14F-4D97-AF65-F5344CB8AC3E}">
        <p14:creationId xmlns:p14="http://schemas.microsoft.com/office/powerpoint/2010/main" val="1498868270"/>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surface">
            <a:extLst xmlns:a="http://schemas.openxmlformats.org/drawingml/2006/main">
              <a:ext uri="{FF2B5EF4-FFF2-40B4-BE49-F238E27FC236}">
                <a16:creationId xmlns:a16="http://schemas.microsoft.com/office/drawing/2014/main" id="{A2214253-FCA4-497A-92D6-17008754B3F3}"/>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C9803B"/>
          </a:solidFill>
          <a:ln xmlns:a="http://schemas.openxmlformats.org/drawingml/2006/main" w="0">
            <a:noFill/>
          </a:ln>
        </p:spPr>
      </p:sp>
      <p:sp>
        <p:nvSpPr>
          <p:cNvPr id="2" name="surface">
            <a:extLst xmlns:a="http://schemas.openxmlformats.org/drawingml/2006/main">
              <a:ext uri="{FF2B5EF4-FFF2-40B4-BE49-F238E27FC236}">
                <a16:creationId xmlns:a16="http://schemas.microsoft.com/office/drawing/2014/main" id="{71A1BACA-C551-4E9E-9A4E-46D6208B8C71}"/>
              </a:ext>
            </a:extLst>
          </p:cNvPr>
          <p:cNvSpPr>
            <a:spLocks xmlns:a="http://schemas.openxmlformats.org/drawingml/2006/main" noGrp="1"/>
          </p:cNvSpPr>
          <p:nvPr/>
        </p:nvSpPr>
        <p:spPr>
          <a:xfrm xmlns:a="http://schemas.openxmlformats.org/drawingml/2006/main">
            <a:off x="457200" y="400050"/>
            <a:ext cx="11277600" cy="485775"/>
          </a:xfrm>
          <a:prstGeom xmlns:a="http://schemas.openxmlformats.org/drawingml/2006/main" prst="rect">
            <a:avLst/>
          </a:prstGeom>
          <a:solidFill xmlns:a="http://schemas.openxmlformats.org/drawingml/2006/main">
            <a:srgbClr val="F3E6DA"/>
          </a:solidFill>
          <a:ln xmlns:a="http://schemas.openxmlformats.org/drawingml/2006/main" w="0">
            <a:noFill/>
          </a:ln>
        </p:spPr>
      </p:sp>
      <p:sp>
        <p:nvSpPr>
          <p:cNvPr id="3" name="surface">
            <a:extLst xmlns:a="http://schemas.openxmlformats.org/drawingml/2006/main">
              <a:ext uri="{FF2B5EF4-FFF2-40B4-BE49-F238E27FC236}">
                <a16:creationId xmlns:a16="http://schemas.microsoft.com/office/drawing/2014/main" id="{6782CFD8-AB9E-4119-973B-F42EB6541BF8}"/>
              </a:ext>
            </a:extLst>
          </p:cNvPr>
          <p:cNvSpPr>
            <a:spLocks xmlns:a="http://schemas.openxmlformats.org/drawingml/2006/main" noGrp="1"/>
          </p:cNvSpPr>
          <p:nvPr/>
        </p:nvSpPr>
        <p:spPr>
          <a:xfrm xmlns:a="http://schemas.openxmlformats.org/drawingml/2006/main">
            <a:off x="457200" y="400050"/>
            <a:ext cx="66675" cy="485775"/>
          </a:xfrm>
          <a:prstGeom xmlns:a="http://schemas.openxmlformats.org/drawingml/2006/main" prst="rect">
            <a:avLst/>
          </a:prstGeom>
          <a:solidFill xmlns:a="http://schemas.openxmlformats.org/drawingml/2006/main">
            <a:srgbClr val="C9803B"/>
          </a:solidFill>
          <a:ln xmlns:a="http://schemas.openxmlformats.org/drawingml/2006/main" w="0">
            <a:noFill/>
          </a:ln>
        </p:spPr>
      </p:sp>
      <p:sp>
        <p:nvSpPr>
          <p:cNvPr id="4" name="LAUNCH SCIENCE">
            <a:extLst xmlns:a="http://schemas.openxmlformats.org/drawingml/2006/main">
              <a:ext uri="{FF2B5EF4-FFF2-40B4-BE49-F238E27FC236}">
                <a16:creationId xmlns:a16="http://schemas.microsoft.com/office/drawing/2014/main" id="{EB1B000D-F581-49C8-8458-BA3E5090DCA4}"/>
              </a:ext>
            </a:extLst>
          </p:cNvPr>
          <p:cNvSpPr>
            <a:spLocks xmlns:a="http://schemas.openxmlformats.org/drawingml/2006/main" noGrp="1"/>
          </p:cNvSpPr>
          <p:nvPr/>
        </p:nvSpPr>
        <p:spPr>
          <a:xfrm xmlns:a="http://schemas.openxmlformats.org/drawingml/2006/main">
            <a:off x="685800" y="504825"/>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1">
                <a:solidFill>
                  <a:srgbClr val="C9803B"/>
                </a:solidFill>
                <a:latin typeface="Nimbus Sans"/>
                <a:ea typeface="Nimbus Sans"/>
                <a:cs typeface="Nimbus Sans"/>
              </a:defRPr>
            </a:pPr>
            <a:r>
              <a:rPr sz="1800" b="1">
                <a:solidFill>
                  <a:srgbClr val="C9803B"/>
                </a:solidFill>
                <a:latin typeface="Nimbus Sans"/>
                <a:ea typeface="Nimbus Sans"/>
                <a:cs typeface="Nimbus Sans"/>
              </a:rPr>
              <a:t>LAUNCH SCIENCE</a:t>
            </a:r>
          </a:p>
        </p:txBody>
      </p:sp>
      <p:sp>
        <p:nvSpPr>
          <p:cNvPr id="5" name="I do">
            <a:extLst xmlns:a="http://schemas.openxmlformats.org/drawingml/2006/main">
              <a:ext uri="{FF2B5EF4-FFF2-40B4-BE49-F238E27FC236}">
                <a16:creationId xmlns:a16="http://schemas.microsoft.com/office/drawing/2014/main" id="{3955369F-C94F-4AA0-829F-5C320548164E}"/>
              </a:ext>
            </a:extLst>
          </p:cNvPr>
          <p:cNvSpPr>
            <a:spLocks xmlns:a="http://schemas.openxmlformats.org/drawingml/2006/main" noGrp="1"/>
          </p:cNvSpPr>
          <p:nvPr/>
        </p:nvSpPr>
        <p:spPr>
          <a:xfrm xmlns:a="http://schemas.openxmlformats.org/drawingml/2006/main">
            <a:off x="5943600" y="504825"/>
            <a:ext cx="3752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1">
                <a:solidFill>
                  <a:srgbClr val="C9803B"/>
                </a:solidFill>
                <a:latin typeface="Nimbus Sans"/>
                <a:ea typeface="Nimbus Sans"/>
                <a:cs typeface="Nimbus Sans"/>
              </a:defRPr>
            </a:pPr>
            <a:r>
              <a:rPr sz="1800" b="1">
                <a:solidFill>
                  <a:srgbClr val="C9803B"/>
                </a:solidFill>
                <a:latin typeface="Nimbus Sans"/>
                <a:ea typeface="Nimbus Sans"/>
                <a:cs typeface="Nimbus Sans"/>
              </a:rPr>
              <a:t>I do</a:t>
            </a:r>
          </a:p>
        </p:txBody>
      </p:sp>
      <p:sp>
        <p:nvSpPr>
          <p:cNvPr id="6" name="Predict a risk using biology">
            <a:extLst xmlns:a="http://schemas.openxmlformats.org/drawingml/2006/main">
              <a:ext uri="{FF2B5EF4-FFF2-40B4-BE49-F238E27FC236}">
                <a16:creationId xmlns:a16="http://schemas.microsoft.com/office/drawing/2014/main" id="{41E826B5-2E51-48F6-9DF2-981C5D37D538}"/>
              </a:ext>
            </a:extLst>
          </p:cNvPr>
          <p:cNvSpPr>
            <a:spLocks xmlns:a="http://schemas.openxmlformats.org/drawingml/2006/main" noGrp="1"/>
          </p:cNvSpPr>
          <p:nvPr/>
        </p:nvSpPr>
        <p:spPr>
          <a:xfrm xmlns:a="http://schemas.openxmlformats.org/drawingml/2006/main">
            <a:off x="533400" y="1066800"/>
            <a:ext cx="11125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3000" b="1">
                <a:solidFill>
                  <a:srgbClr val="1F2937"/>
                </a:solidFill>
                <a:latin typeface="Nimbus Sans"/>
                <a:ea typeface="Nimbus Sans"/>
                <a:cs typeface="Nimbus Sans"/>
              </a:defRPr>
            </a:pPr>
            <a:r>
              <a:rPr sz="3000" b="1">
                <a:solidFill>
                  <a:srgbClr val="1F2937"/>
                </a:solidFill>
                <a:latin typeface="Nimbus Sans"/>
                <a:ea typeface="Nimbus Sans"/>
                <a:cs typeface="Nimbus Sans"/>
              </a:rPr>
              <a:t>Predict a risk using biology</a:t>
            </a:r>
          </a:p>
        </p:txBody>
      </p:sp>
      <p:sp>
        <p:nvSpPr>
          <p:cNvPr id="7" name="surface">
            <a:extLst xmlns:a="http://schemas.openxmlformats.org/drawingml/2006/main">
              <a:ext uri="{FF2B5EF4-FFF2-40B4-BE49-F238E27FC236}">
                <a16:creationId xmlns:a16="http://schemas.microsoft.com/office/drawing/2014/main" id="{803A38DE-9EDF-45C8-B5FE-8F0E72105CC7}"/>
              </a:ext>
            </a:extLst>
          </p:cNvPr>
          <p:cNvSpPr>
            <a:spLocks xmlns:a="http://schemas.openxmlformats.org/drawingml/2006/main" noGrp="1"/>
          </p:cNvSpPr>
          <p:nvPr/>
        </p:nvSpPr>
        <p:spPr>
          <a:xfrm xmlns:a="http://schemas.openxmlformats.org/drawingml/2006/main">
            <a:off x="457200" y="6496050"/>
            <a:ext cx="11277600" cy="9525"/>
          </a:xfrm>
          <a:prstGeom xmlns:a="http://schemas.openxmlformats.org/drawingml/2006/main" prst="rect">
            <a:avLst/>
          </a:prstGeom>
          <a:solidFill xmlns:a="http://schemas.openxmlformats.org/drawingml/2006/main">
            <a:srgbClr val="D8DDE2"/>
          </a:solidFill>
          <a:ln xmlns:a="http://schemas.openxmlformats.org/drawingml/2006/main" w="0">
            <a:noFill/>
          </a:ln>
        </p:spPr>
      </p:sp>
      <p:sp>
        <p:nvSpPr>
          <p:cNvPr id="8" name="Genetic engineering: change, test, decide">
            <a:extLst xmlns:a="http://schemas.openxmlformats.org/drawingml/2006/main">
              <a:ext uri="{FF2B5EF4-FFF2-40B4-BE49-F238E27FC236}">
                <a16:creationId xmlns:a16="http://schemas.microsoft.com/office/drawing/2014/main" id="{540206AC-83AD-44D7-AF87-943BC2860918}"/>
              </a:ext>
            </a:extLst>
          </p:cNvPr>
          <p:cNvSpPr>
            <a:spLocks xmlns:a="http://schemas.openxmlformats.org/drawingml/2006/main" noGrp="1"/>
          </p:cNvSpPr>
          <p:nvPr/>
        </p:nvSpPr>
        <p:spPr>
          <a:xfrm xmlns:a="http://schemas.openxmlformats.org/drawingml/2006/main">
            <a:off x="533400" y="6600825"/>
            <a:ext cx="10572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Genetic engineering: change, test, decide</a:t>
            </a:r>
          </a:p>
        </p:txBody>
      </p:sp>
      <p:sp>
        <p:nvSpPr>
          <p:cNvPr id="9" name="6 / 15">
            <a:extLst xmlns:a="http://schemas.openxmlformats.org/drawingml/2006/main">
              <a:ext uri="{FF2B5EF4-FFF2-40B4-BE49-F238E27FC236}">
                <a16:creationId xmlns:a16="http://schemas.microsoft.com/office/drawing/2014/main" id="{D6555385-FD17-4CE4-9433-77CE0CA31FD3}"/>
              </a:ext>
            </a:extLst>
          </p:cNvPr>
          <p:cNvSpPr>
            <a:spLocks xmlns:a="http://schemas.openxmlformats.org/drawingml/2006/main" noGrp="1"/>
          </p:cNvSpPr>
          <p:nvPr/>
        </p:nvSpPr>
        <p:spPr>
          <a:xfrm xmlns:a="http://schemas.openxmlformats.org/drawingml/2006/main">
            <a:off x="10953750" y="6600825"/>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6 / 15</a:t>
            </a:r>
          </a:p>
        </p:txBody>
      </p:sp>
      <p:sp>
        <p:nvSpPr>
          <p:cNvPr id="10" name="Diagram label: Why resistance needs monitoring">
            <a:extLst xmlns:a="http://schemas.openxmlformats.org/drawingml/2006/main">
              <a:ext uri="{FF2B5EF4-FFF2-40B4-BE49-F238E27FC236}">
                <a16:creationId xmlns:a16="http://schemas.microsoft.com/office/drawing/2014/main" id="{19DDD878-CA83-4A0A-A50F-65572E216C74}"/>
              </a:ext>
            </a:extLst>
          </p:cNvPr>
          <p:cNvSpPr>
            <a:spLocks xmlns:a="http://schemas.openxmlformats.org/drawingml/2006/main" noGrp="1"/>
          </p:cNvSpPr>
          <p:nvPr/>
        </p:nvSpPr>
        <p:spPr>
          <a:xfrm xmlns:a="http://schemas.openxmlformats.org/drawingml/2006/main">
            <a:off x="2837429" y="1988004"/>
            <a:ext cx="6517141" cy="31534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711" b="1">
                <a:solidFill>
                  <a:srgbClr val="1F2937"/>
                </a:solidFill>
                <a:latin typeface="Nimbus Sans"/>
                <a:ea typeface="Nimbus Sans"/>
                <a:cs typeface="Nimbus Sans"/>
              </a:defRPr>
            </a:pPr>
            <a:r>
              <a:rPr sz="1711" b="1">
                <a:solidFill>
                  <a:srgbClr val="1F2937"/>
                </a:solidFill>
                <a:latin typeface="Nimbus Sans"/>
                <a:ea typeface="Nimbus Sans"/>
                <a:cs typeface="Nimbus Sans"/>
              </a:rPr>
              <a:t>Why resistance needs monitoring</a:t>
            </a:r>
          </a:p>
        </p:txBody>
      </p:sp>
      <p:sp>
        <p:nvSpPr>
          <p:cNvPr id="11" name="Editable scientific diagram">
            <a:extLst xmlns:a="http://schemas.openxmlformats.org/drawingml/2006/main">
              <a:ext uri="{FF2B5EF4-FFF2-40B4-BE49-F238E27FC236}">
                <a16:creationId xmlns:a16="http://schemas.microsoft.com/office/drawing/2014/main" id="{2922AB1F-7735-496A-ACE0-3E67E2E1A438}"/>
              </a:ext>
            </a:extLst>
          </p:cNvPr>
          <p:cNvSpPr>
            <a:spLocks xmlns:a="http://schemas.openxmlformats.org/drawingml/2006/main" noGrp="1"/>
          </p:cNvSpPr>
          <p:nvPr/>
        </p:nvSpPr>
        <p:spPr>
          <a:xfrm xmlns:a="http://schemas.openxmlformats.org/drawingml/2006/main">
            <a:off x="2942545" y="2653733"/>
            <a:ext cx="1786958" cy="1821996"/>
          </a:xfrm>
          <a:prstGeom xmlns:a="http://schemas.openxmlformats.org/drawingml/2006/main" prst="rect">
            <a:avLst/>
          </a:prstGeom>
          <a:solidFill xmlns:a="http://schemas.openxmlformats.org/drawingml/2006/main">
            <a:srgbClr val="F0EBF5"/>
          </a:solidFill>
          <a:ln xmlns:a="http://schemas.openxmlformats.org/drawingml/2006/main" w="21023">
            <a:solidFill>
              <a:srgbClr val="7A5C9E"/>
            </a:solidFill>
          </a:ln>
        </p:spPr>
      </p:sp>
      <p:sp>
        <p:nvSpPr>
          <p:cNvPr id="12" name="Diagram label: Before&#10;exposure">
            <a:extLst xmlns:a="http://schemas.openxmlformats.org/drawingml/2006/main">
              <a:ext uri="{FF2B5EF4-FFF2-40B4-BE49-F238E27FC236}">
                <a16:creationId xmlns:a16="http://schemas.microsoft.com/office/drawing/2014/main" id="{7739B66A-247D-43C2-8BF3-FAEE7CEAC172}"/>
              </a:ext>
            </a:extLst>
          </p:cNvPr>
          <p:cNvSpPr>
            <a:spLocks xmlns:a="http://schemas.openxmlformats.org/drawingml/2006/main" noGrp="1"/>
          </p:cNvSpPr>
          <p:nvPr/>
        </p:nvSpPr>
        <p:spPr>
          <a:xfrm xmlns:a="http://schemas.openxmlformats.org/drawingml/2006/main">
            <a:off x="3082698" y="2793887"/>
            <a:ext cx="1506651" cy="59565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8000"/>
              </a:lnSpc>
              <a:buNone/>
              <a:defRPr sz="1545" b="1">
                <a:solidFill>
                  <a:srgbClr val="1F2937"/>
                </a:solidFill>
                <a:latin typeface="Nimbus Sans"/>
                <a:ea typeface="Nimbus Sans"/>
                <a:cs typeface="Nimbus Sans"/>
              </a:defRPr>
            </a:pPr>
            <a:r>
              <a:rPr sz="1545" b="1">
                <a:solidFill>
                  <a:srgbClr val="1F2937"/>
                </a:solidFill>
                <a:latin typeface="Nimbus Sans"/>
                <a:ea typeface="Nimbus Sans"/>
                <a:cs typeface="Nimbus Sans"/>
              </a:rPr>
              <a:t>Before</a:t>
            </a:r>
          </a:p>
          <a:p xmlns:a="http://schemas.openxmlformats.org/drawingml/2006/main">
            <a:pPr algn="ctr">
              <a:lnSpc>
                <a:spcPct val="108000"/>
              </a:lnSpc>
              <a:buNone/>
              <a:defRPr sz="1545" b="1">
                <a:solidFill>
                  <a:srgbClr val="1F2937"/>
                </a:solidFill>
                <a:latin typeface="Nimbus Sans"/>
                <a:ea typeface="Nimbus Sans"/>
                <a:cs typeface="Nimbus Sans"/>
              </a:defRPr>
            </a:pPr>
            <a:r>
              <a:rPr sz="1545" b="1">
                <a:solidFill>
                  <a:srgbClr val="1F2937"/>
                </a:solidFill>
                <a:latin typeface="Nimbus Sans"/>
                <a:ea typeface="Nimbus Sans"/>
                <a:cs typeface="Nimbus Sans"/>
              </a:rPr>
              <a:t>exposure</a:t>
            </a:r>
          </a:p>
        </p:txBody>
      </p:sp>
      <p:sp>
        <p:nvSpPr>
          <p:cNvPr id="13" name="Diagram label: Pests vary.&#10;Some inherited&#10;variants resist&#10;the Bt protein.">
            <a:extLst xmlns:a="http://schemas.openxmlformats.org/drawingml/2006/main">
              <a:ext uri="{FF2B5EF4-FFF2-40B4-BE49-F238E27FC236}">
                <a16:creationId xmlns:a16="http://schemas.microsoft.com/office/drawing/2014/main" id="{4A81B72E-6C36-4C14-9031-BD7D3A78B9CE}"/>
              </a:ext>
            </a:extLst>
          </p:cNvPr>
          <p:cNvSpPr>
            <a:spLocks xmlns:a="http://schemas.openxmlformats.org/drawingml/2006/main" noGrp="1"/>
          </p:cNvSpPr>
          <p:nvPr/>
        </p:nvSpPr>
        <p:spPr>
          <a:xfrm xmlns:a="http://schemas.openxmlformats.org/drawingml/2006/main">
            <a:off x="3082698" y="3459616"/>
            <a:ext cx="1506651" cy="84092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8000"/>
              </a:lnSpc>
              <a:buNone/>
              <a:defRPr sz="1435" b="0">
                <a:solidFill>
                  <a:srgbClr val="1F2937"/>
                </a:solidFill>
                <a:latin typeface="Nimbus Sans"/>
                <a:ea typeface="Nimbus Sans"/>
                <a:cs typeface="Nimbus Sans"/>
              </a:defRPr>
            </a:pPr>
            <a:r>
              <a:rPr sz="1435" b="0">
                <a:solidFill>
                  <a:srgbClr val="1F2937"/>
                </a:solidFill>
                <a:latin typeface="Nimbus Sans"/>
                <a:ea typeface="Nimbus Sans"/>
                <a:cs typeface="Nimbus Sans"/>
              </a:rPr>
              <a:t>Pests vary.</a:t>
            </a:r>
          </a:p>
          <a:p xmlns:a="http://schemas.openxmlformats.org/drawingml/2006/main">
            <a:pPr algn="ctr">
              <a:lnSpc>
                <a:spcPct val="108000"/>
              </a:lnSpc>
              <a:buNone/>
              <a:defRPr sz="1435" b="0">
                <a:solidFill>
                  <a:srgbClr val="1F2937"/>
                </a:solidFill>
                <a:latin typeface="Nimbus Sans"/>
                <a:ea typeface="Nimbus Sans"/>
                <a:cs typeface="Nimbus Sans"/>
              </a:defRPr>
            </a:pPr>
            <a:r>
              <a:rPr sz="1435" b="0">
                <a:solidFill>
                  <a:srgbClr val="1F2937"/>
                </a:solidFill>
                <a:latin typeface="Nimbus Sans"/>
                <a:ea typeface="Nimbus Sans"/>
                <a:cs typeface="Nimbus Sans"/>
              </a:rPr>
              <a:t>Some inherited</a:t>
            </a:r>
          </a:p>
          <a:p xmlns:a="http://schemas.openxmlformats.org/drawingml/2006/main">
            <a:pPr algn="ctr">
              <a:lnSpc>
                <a:spcPct val="108000"/>
              </a:lnSpc>
              <a:buNone/>
              <a:defRPr sz="1435" b="0">
                <a:solidFill>
                  <a:srgbClr val="1F2937"/>
                </a:solidFill>
                <a:latin typeface="Nimbus Sans"/>
                <a:ea typeface="Nimbus Sans"/>
                <a:cs typeface="Nimbus Sans"/>
              </a:defRPr>
            </a:pPr>
            <a:r>
              <a:rPr sz="1435" b="0">
                <a:solidFill>
                  <a:srgbClr val="1F2937"/>
                </a:solidFill>
                <a:latin typeface="Nimbus Sans"/>
                <a:ea typeface="Nimbus Sans"/>
                <a:cs typeface="Nimbus Sans"/>
              </a:rPr>
              <a:t>variants resist</a:t>
            </a:r>
          </a:p>
          <a:p xmlns:a="http://schemas.openxmlformats.org/drawingml/2006/main">
            <a:pPr algn="ctr">
              <a:lnSpc>
                <a:spcPct val="108000"/>
              </a:lnSpc>
              <a:buNone/>
              <a:defRPr sz="1435" b="0">
                <a:solidFill>
                  <a:srgbClr val="1F2937"/>
                </a:solidFill>
                <a:latin typeface="Nimbus Sans"/>
                <a:ea typeface="Nimbus Sans"/>
                <a:cs typeface="Nimbus Sans"/>
              </a:defRPr>
            </a:pPr>
            <a:r>
              <a:rPr sz="1435" b="0">
                <a:solidFill>
                  <a:srgbClr val="1F2937"/>
                </a:solidFill>
                <a:latin typeface="Nimbus Sans"/>
                <a:ea typeface="Nimbus Sans"/>
                <a:cs typeface="Nimbus Sans"/>
              </a:rPr>
              <a:t>the Bt protein.</a:t>
            </a:r>
          </a:p>
        </p:txBody>
      </p:sp>
      <p:sp>
        <p:nvSpPr>
          <p:cNvPr id="14" name="Diagram line">
            <a:extLst xmlns:a="http://schemas.openxmlformats.org/drawingml/2006/main">
              <a:ext uri="{FF2B5EF4-FFF2-40B4-BE49-F238E27FC236}">
                <a16:creationId xmlns:a16="http://schemas.microsoft.com/office/drawing/2014/main" id="{3DD9C5BD-4AB0-4063-8643-6B5129864AB2}"/>
              </a:ext>
            </a:extLst>
          </p:cNvPr>
          <p:cNvSpPr>
            <a:spLocks xmlns:a="http://schemas.openxmlformats.org/drawingml/2006/main" noGrp="1"/>
          </p:cNvSpPr>
          <p:nvPr/>
        </p:nvSpPr>
        <p:spPr>
          <a:xfrm xmlns:a="http://schemas.openxmlformats.org/drawingml/2006/main" flipH="0" flipV="0">
            <a:off x="4834618" y="3564731"/>
            <a:ext cx="241765" cy="953"/>
          </a:xfrm>
          <a:prstGeom xmlns:a="http://schemas.openxmlformats.org/drawingml/2006/main" prst="line">
            <a:avLst/>
          </a:prstGeom>
          <a:noFill xmlns:a="http://schemas.openxmlformats.org/drawingml/2006/main"/>
          <a:ln xmlns:a="http://schemas.openxmlformats.org/drawingml/2006/main" w="35038">
            <a:solidFill>
              <a:srgbClr val="7A5C9E"/>
            </a:solidFill>
          </a:ln>
        </p:spPr>
      </p:sp>
      <p:sp>
        <p:nvSpPr>
          <p:cNvPr id="15" name="Diagram arrowhead">
            <a:extLst xmlns:a="http://schemas.openxmlformats.org/drawingml/2006/main">
              <a:ext uri="{FF2B5EF4-FFF2-40B4-BE49-F238E27FC236}">
                <a16:creationId xmlns:a16="http://schemas.microsoft.com/office/drawing/2014/main" id="{6682C18B-DC40-4BBD-A1C8-AF272EE4C550}"/>
              </a:ext>
            </a:extLst>
          </p:cNvPr>
          <p:cNvSpPr>
            <a:spLocks xmlns:a="http://schemas.openxmlformats.org/drawingml/2006/main" noGrp="1"/>
          </p:cNvSpPr>
          <p:nvPr/>
        </p:nvSpPr>
        <p:spPr>
          <a:xfrm xmlns:a="http://schemas.openxmlformats.org/drawingml/2006/main" rot="5400000">
            <a:off x="5051856" y="3515678"/>
            <a:ext cx="98108" cy="98108"/>
          </a:xfrm>
          <a:prstGeom xmlns:a="http://schemas.openxmlformats.org/drawingml/2006/main" prst="triangle">
            <a:avLst/>
          </a:prstGeom>
          <a:solidFill xmlns:a="http://schemas.openxmlformats.org/drawingml/2006/main">
            <a:srgbClr val="7A5C9E"/>
          </a:solidFill>
          <a:ln xmlns:a="http://schemas.openxmlformats.org/drawingml/2006/main" w="0">
            <a:noFill/>
          </a:ln>
        </p:spPr>
      </p:sp>
      <p:sp>
        <p:nvSpPr>
          <p:cNvPr id="16" name="Editable scientific diagram">
            <a:extLst xmlns:a="http://schemas.openxmlformats.org/drawingml/2006/main">
              <a:ext uri="{FF2B5EF4-FFF2-40B4-BE49-F238E27FC236}">
                <a16:creationId xmlns:a16="http://schemas.microsoft.com/office/drawing/2014/main" id="{66CD9A4E-13FE-442E-BE5A-0EFE4C447502}"/>
              </a:ext>
            </a:extLst>
          </p:cNvPr>
          <p:cNvSpPr>
            <a:spLocks xmlns:a="http://schemas.openxmlformats.org/drawingml/2006/main" noGrp="1"/>
          </p:cNvSpPr>
          <p:nvPr/>
        </p:nvSpPr>
        <p:spPr>
          <a:xfrm xmlns:a="http://schemas.openxmlformats.org/drawingml/2006/main">
            <a:off x="5290117" y="2653733"/>
            <a:ext cx="1751920" cy="1821996"/>
          </a:xfrm>
          <a:prstGeom xmlns:a="http://schemas.openxmlformats.org/drawingml/2006/main" prst="rect">
            <a:avLst/>
          </a:prstGeom>
          <a:solidFill xmlns:a="http://schemas.openxmlformats.org/drawingml/2006/main">
            <a:srgbClr val="F0EBF5"/>
          </a:solidFill>
          <a:ln xmlns:a="http://schemas.openxmlformats.org/drawingml/2006/main" w="21023">
            <a:solidFill>
              <a:srgbClr val="7A5C9E"/>
            </a:solidFill>
          </a:ln>
        </p:spPr>
      </p:sp>
      <p:sp>
        <p:nvSpPr>
          <p:cNvPr id="17" name="Diagram label: Selection">
            <a:extLst xmlns:a="http://schemas.openxmlformats.org/drawingml/2006/main">
              <a:ext uri="{FF2B5EF4-FFF2-40B4-BE49-F238E27FC236}">
                <a16:creationId xmlns:a16="http://schemas.microsoft.com/office/drawing/2014/main" id="{37CDD119-BE63-42BA-8F46-A5FDA4A9C742}"/>
              </a:ext>
            </a:extLst>
          </p:cNvPr>
          <p:cNvSpPr>
            <a:spLocks xmlns:a="http://schemas.openxmlformats.org/drawingml/2006/main" noGrp="1"/>
          </p:cNvSpPr>
          <p:nvPr/>
        </p:nvSpPr>
        <p:spPr>
          <a:xfrm xmlns:a="http://schemas.openxmlformats.org/drawingml/2006/main">
            <a:off x="5430271" y="2793887"/>
            <a:ext cx="1471613" cy="59565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8000"/>
              </a:lnSpc>
              <a:buNone/>
              <a:defRPr sz="1545" b="1">
                <a:solidFill>
                  <a:srgbClr val="1F2937"/>
                </a:solidFill>
                <a:latin typeface="Nimbus Sans"/>
                <a:ea typeface="Nimbus Sans"/>
                <a:cs typeface="Nimbus Sans"/>
              </a:defRPr>
            </a:pPr>
            <a:r>
              <a:rPr sz="1545" b="1">
                <a:solidFill>
                  <a:srgbClr val="1F2937"/>
                </a:solidFill>
                <a:latin typeface="Nimbus Sans"/>
                <a:ea typeface="Nimbus Sans"/>
                <a:cs typeface="Nimbus Sans"/>
              </a:rPr>
              <a:t>Selection</a:t>
            </a:r>
          </a:p>
        </p:txBody>
      </p:sp>
      <p:sp>
        <p:nvSpPr>
          <p:cNvPr id="18" name="Diagram label: Susceptible&#10;pests are killed.&#10;Resistant pests&#10;may survive.">
            <a:extLst xmlns:a="http://schemas.openxmlformats.org/drawingml/2006/main">
              <a:ext uri="{FF2B5EF4-FFF2-40B4-BE49-F238E27FC236}">
                <a16:creationId xmlns:a16="http://schemas.microsoft.com/office/drawing/2014/main" id="{AA371115-F9DA-4A57-BB5B-53A9A13EEFE2}"/>
              </a:ext>
            </a:extLst>
          </p:cNvPr>
          <p:cNvSpPr>
            <a:spLocks xmlns:a="http://schemas.openxmlformats.org/drawingml/2006/main" noGrp="1"/>
          </p:cNvSpPr>
          <p:nvPr/>
        </p:nvSpPr>
        <p:spPr>
          <a:xfrm xmlns:a="http://schemas.openxmlformats.org/drawingml/2006/main">
            <a:off x="5430271" y="3459616"/>
            <a:ext cx="1471613" cy="84092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8000"/>
              </a:lnSpc>
              <a:buNone/>
              <a:defRPr sz="1435" b="0">
                <a:solidFill>
                  <a:srgbClr val="1F2937"/>
                </a:solidFill>
                <a:latin typeface="Nimbus Sans"/>
                <a:ea typeface="Nimbus Sans"/>
                <a:cs typeface="Nimbus Sans"/>
              </a:defRPr>
            </a:pPr>
            <a:r>
              <a:rPr sz="1435" b="0">
                <a:solidFill>
                  <a:srgbClr val="1F2937"/>
                </a:solidFill>
                <a:latin typeface="Nimbus Sans"/>
                <a:ea typeface="Nimbus Sans"/>
                <a:cs typeface="Nimbus Sans"/>
              </a:rPr>
              <a:t>Susceptible</a:t>
            </a:r>
          </a:p>
          <a:p xmlns:a="http://schemas.openxmlformats.org/drawingml/2006/main">
            <a:pPr algn="ctr">
              <a:lnSpc>
                <a:spcPct val="108000"/>
              </a:lnSpc>
              <a:buNone/>
              <a:defRPr sz="1435" b="0">
                <a:solidFill>
                  <a:srgbClr val="1F2937"/>
                </a:solidFill>
                <a:latin typeface="Nimbus Sans"/>
                <a:ea typeface="Nimbus Sans"/>
                <a:cs typeface="Nimbus Sans"/>
              </a:defRPr>
            </a:pPr>
            <a:r>
              <a:rPr sz="1435" b="0">
                <a:solidFill>
                  <a:srgbClr val="1F2937"/>
                </a:solidFill>
                <a:latin typeface="Nimbus Sans"/>
                <a:ea typeface="Nimbus Sans"/>
                <a:cs typeface="Nimbus Sans"/>
              </a:rPr>
              <a:t>pests are killed.</a:t>
            </a:r>
          </a:p>
          <a:p xmlns:a="http://schemas.openxmlformats.org/drawingml/2006/main">
            <a:pPr algn="ctr">
              <a:lnSpc>
                <a:spcPct val="108000"/>
              </a:lnSpc>
              <a:buNone/>
              <a:defRPr sz="1435" b="0">
                <a:solidFill>
                  <a:srgbClr val="1F2937"/>
                </a:solidFill>
                <a:latin typeface="Nimbus Sans"/>
                <a:ea typeface="Nimbus Sans"/>
                <a:cs typeface="Nimbus Sans"/>
              </a:defRPr>
            </a:pPr>
            <a:r>
              <a:rPr sz="1435" b="0">
                <a:solidFill>
                  <a:srgbClr val="1F2937"/>
                </a:solidFill>
                <a:latin typeface="Nimbus Sans"/>
                <a:ea typeface="Nimbus Sans"/>
                <a:cs typeface="Nimbus Sans"/>
              </a:rPr>
              <a:t>Resistant pests</a:t>
            </a:r>
          </a:p>
          <a:p xmlns:a="http://schemas.openxmlformats.org/drawingml/2006/main">
            <a:pPr algn="ctr">
              <a:lnSpc>
                <a:spcPct val="108000"/>
              </a:lnSpc>
              <a:buNone/>
              <a:defRPr sz="1435" b="0">
                <a:solidFill>
                  <a:srgbClr val="1F2937"/>
                </a:solidFill>
                <a:latin typeface="Nimbus Sans"/>
                <a:ea typeface="Nimbus Sans"/>
                <a:cs typeface="Nimbus Sans"/>
              </a:defRPr>
            </a:pPr>
            <a:r>
              <a:rPr sz="1435" b="0">
                <a:solidFill>
                  <a:srgbClr val="1F2937"/>
                </a:solidFill>
                <a:latin typeface="Nimbus Sans"/>
                <a:ea typeface="Nimbus Sans"/>
                <a:cs typeface="Nimbus Sans"/>
              </a:rPr>
              <a:t>may survive.</a:t>
            </a:r>
          </a:p>
        </p:txBody>
      </p:sp>
      <p:sp>
        <p:nvSpPr>
          <p:cNvPr id="19" name="Diagram line">
            <a:extLst xmlns:a="http://schemas.openxmlformats.org/drawingml/2006/main">
              <a:ext uri="{FF2B5EF4-FFF2-40B4-BE49-F238E27FC236}">
                <a16:creationId xmlns:a16="http://schemas.microsoft.com/office/drawing/2014/main" id="{89E9DEA5-CB66-46C9-9733-29F6A039EE24}"/>
              </a:ext>
            </a:extLst>
          </p:cNvPr>
          <p:cNvSpPr>
            <a:spLocks xmlns:a="http://schemas.openxmlformats.org/drawingml/2006/main" noGrp="1"/>
          </p:cNvSpPr>
          <p:nvPr/>
        </p:nvSpPr>
        <p:spPr>
          <a:xfrm xmlns:a="http://schemas.openxmlformats.org/drawingml/2006/main" flipH="0" flipV="0">
            <a:off x="7147152" y="3564731"/>
            <a:ext cx="241765" cy="953"/>
          </a:xfrm>
          <a:prstGeom xmlns:a="http://schemas.openxmlformats.org/drawingml/2006/main" prst="line">
            <a:avLst/>
          </a:prstGeom>
          <a:noFill xmlns:a="http://schemas.openxmlformats.org/drawingml/2006/main"/>
          <a:ln xmlns:a="http://schemas.openxmlformats.org/drawingml/2006/main" w="35038">
            <a:solidFill>
              <a:srgbClr val="7A5C9E"/>
            </a:solidFill>
          </a:ln>
        </p:spPr>
      </p:sp>
      <p:sp>
        <p:nvSpPr>
          <p:cNvPr id="20" name="Diagram arrowhead">
            <a:extLst xmlns:a="http://schemas.openxmlformats.org/drawingml/2006/main">
              <a:ext uri="{FF2B5EF4-FFF2-40B4-BE49-F238E27FC236}">
                <a16:creationId xmlns:a16="http://schemas.microsoft.com/office/drawing/2014/main" id="{22AE3952-5016-490A-BF50-D57196460D2E}"/>
              </a:ext>
            </a:extLst>
          </p:cNvPr>
          <p:cNvSpPr>
            <a:spLocks xmlns:a="http://schemas.openxmlformats.org/drawingml/2006/main" noGrp="1"/>
          </p:cNvSpPr>
          <p:nvPr/>
        </p:nvSpPr>
        <p:spPr>
          <a:xfrm xmlns:a="http://schemas.openxmlformats.org/drawingml/2006/main" rot="5400000">
            <a:off x="7364390" y="3515678"/>
            <a:ext cx="98108" cy="98108"/>
          </a:xfrm>
          <a:prstGeom xmlns:a="http://schemas.openxmlformats.org/drawingml/2006/main" prst="triangle">
            <a:avLst/>
          </a:prstGeom>
          <a:solidFill xmlns:a="http://schemas.openxmlformats.org/drawingml/2006/main">
            <a:srgbClr val="7A5C9E"/>
          </a:solidFill>
          <a:ln xmlns:a="http://schemas.openxmlformats.org/drawingml/2006/main" w="0">
            <a:noFill/>
          </a:ln>
        </p:spPr>
      </p:sp>
      <p:sp>
        <p:nvSpPr>
          <p:cNvPr id="21" name="Editable scientific diagram">
            <a:extLst xmlns:a="http://schemas.openxmlformats.org/drawingml/2006/main">
              <a:ext uri="{FF2B5EF4-FFF2-40B4-BE49-F238E27FC236}">
                <a16:creationId xmlns:a16="http://schemas.microsoft.com/office/drawing/2014/main" id="{8458133F-A756-411F-8A95-9300E0C37D8E}"/>
              </a:ext>
            </a:extLst>
          </p:cNvPr>
          <p:cNvSpPr>
            <a:spLocks xmlns:a="http://schemas.openxmlformats.org/drawingml/2006/main" noGrp="1"/>
          </p:cNvSpPr>
          <p:nvPr/>
        </p:nvSpPr>
        <p:spPr>
          <a:xfrm xmlns:a="http://schemas.openxmlformats.org/drawingml/2006/main">
            <a:off x="7602651" y="2653733"/>
            <a:ext cx="1646804" cy="1821996"/>
          </a:xfrm>
          <a:prstGeom xmlns:a="http://schemas.openxmlformats.org/drawingml/2006/main" prst="rect">
            <a:avLst/>
          </a:prstGeom>
          <a:solidFill xmlns:a="http://schemas.openxmlformats.org/drawingml/2006/main">
            <a:srgbClr val="F0EBF5"/>
          </a:solidFill>
          <a:ln xmlns:a="http://schemas.openxmlformats.org/drawingml/2006/main" w="21023">
            <a:solidFill>
              <a:srgbClr val="7A5C9E"/>
            </a:solidFill>
          </a:ln>
        </p:spPr>
      </p:sp>
      <p:sp>
        <p:nvSpPr>
          <p:cNvPr id="22" name="Diagram label: Later&#10;generations">
            <a:extLst xmlns:a="http://schemas.openxmlformats.org/drawingml/2006/main">
              <a:ext uri="{FF2B5EF4-FFF2-40B4-BE49-F238E27FC236}">
                <a16:creationId xmlns:a16="http://schemas.microsoft.com/office/drawing/2014/main" id="{7B08D134-966D-4F90-AACA-6443253F7D65}"/>
              </a:ext>
            </a:extLst>
          </p:cNvPr>
          <p:cNvSpPr>
            <a:spLocks xmlns:a="http://schemas.openxmlformats.org/drawingml/2006/main" noGrp="1"/>
          </p:cNvSpPr>
          <p:nvPr/>
        </p:nvSpPr>
        <p:spPr>
          <a:xfrm xmlns:a="http://schemas.openxmlformats.org/drawingml/2006/main">
            <a:off x="7742804" y="2793887"/>
            <a:ext cx="1366497" cy="59565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8000"/>
              </a:lnSpc>
              <a:buNone/>
              <a:defRPr sz="1490" b="1">
                <a:solidFill>
                  <a:srgbClr val="1F2937"/>
                </a:solidFill>
                <a:latin typeface="Nimbus Sans"/>
                <a:ea typeface="Nimbus Sans"/>
                <a:cs typeface="Nimbus Sans"/>
              </a:defRPr>
            </a:pPr>
            <a:r>
              <a:rPr sz="1490" b="1">
                <a:solidFill>
                  <a:srgbClr val="1F2937"/>
                </a:solidFill>
                <a:latin typeface="Nimbus Sans"/>
                <a:ea typeface="Nimbus Sans"/>
                <a:cs typeface="Nimbus Sans"/>
              </a:rPr>
              <a:t>Later</a:t>
            </a:r>
          </a:p>
          <a:p xmlns:a="http://schemas.openxmlformats.org/drawingml/2006/main">
            <a:pPr algn="ctr">
              <a:lnSpc>
                <a:spcPct val="108000"/>
              </a:lnSpc>
              <a:buNone/>
              <a:defRPr sz="1490" b="1">
                <a:solidFill>
                  <a:srgbClr val="1F2937"/>
                </a:solidFill>
                <a:latin typeface="Nimbus Sans"/>
                <a:ea typeface="Nimbus Sans"/>
                <a:cs typeface="Nimbus Sans"/>
              </a:defRPr>
            </a:pPr>
            <a:r>
              <a:rPr sz="1490" b="1">
                <a:solidFill>
                  <a:srgbClr val="1F2937"/>
                </a:solidFill>
                <a:latin typeface="Nimbus Sans"/>
                <a:ea typeface="Nimbus Sans"/>
                <a:cs typeface="Nimbus Sans"/>
              </a:rPr>
              <a:t>generations</a:t>
            </a:r>
          </a:p>
        </p:txBody>
      </p:sp>
      <p:sp>
        <p:nvSpPr>
          <p:cNvPr id="23" name="Diagram label: Survivors&#10;reproduce.&#10;Resistance can&#10;become common.">
            <a:extLst xmlns:a="http://schemas.openxmlformats.org/drawingml/2006/main">
              <a:ext uri="{FF2B5EF4-FFF2-40B4-BE49-F238E27FC236}">
                <a16:creationId xmlns:a16="http://schemas.microsoft.com/office/drawing/2014/main" id="{C81D5FBE-E42F-4AA8-800F-CAF9C0BDAA3A}"/>
              </a:ext>
            </a:extLst>
          </p:cNvPr>
          <p:cNvSpPr>
            <a:spLocks xmlns:a="http://schemas.openxmlformats.org/drawingml/2006/main" noGrp="1"/>
          </p:cNvSpPr>
          <p:nvPr/>
        </p:nvSpPr>
        <p:spPr>
          <a:xfrm xmlns:a="http://schemas.openxmlformats.org/drawingml/2006/main">
            <a:off x="7742804" y="3459616"/>
            <a:ext cx="1366497" cy="84092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8000"/>
              </a:lnSpc>
              <a:buNone/>
              <a:defRPr sz="1435" b="0">
                <a:solidFill>
                  <a:srgbClr val="1F2937"/>
                </a:solidFill>
                <a:latin typeface="Nimbus Sans"/>
                <a:ea typeface="Nimbus Sans"/>
                <a:cs typeface="Nimbus Sans"/>
              </a:defRPr>
            </a:pPr>
            <a:r>
              <a:rPr sz="1435" b="0">
                <a:solidFill>
                  <a:srgbClr val="1F2937"/>
                </a:solidFill>
                <a:latin typeface="Nimbus Sans"/>
                <a:ea typeface="Nimbus Sans"/>
                <a:cs typeface="Nimbus Sans"/>
              </a:rPr>
              <a:t>Survivors</a:t>
            </a:r>
          </a:p>
          <a:p xmlns:a="http://schemas.openxmlformats.org/drawingml/2006/main">
            <a:pPr algn="ctr">
              <a:lnSpc>
                <a:spcPct val="108000"/>
              </a:lnSpc>
              <a:buNone/>
              <a:defRPr sz="1435" b="0">
                <a:solidFill>
                  <a:srgbClr val="1F2937"/>
                </a:solidFill>
                <a:latin typeface="Nimbus Sans"/>
                <a:ea typeface="Nimbus Sans"/>
                <a:cs typeface="Nimbus Sans"/>
              </a:defRPr>
            </a:pPr>
            <a:r>
              <a:rPr sz="1435" b="0">
                <a:solidFill>
                  <a:srgbClr val="1F2937"/>
                </a:solidFill>
                <a:latin typeface="Nimbus Sans"/>
                <a:ea typeface="Nimbus Sans"/>
                <a:cs typeface="Nimbus Sans"/>
              </a:rPr>
              <a:t>reproduce.</a:t>
            </a:r>
          </a:p>
          <a:p xmlns:a="http://schemas.openxmlformats.org/drawingml/2006/main">
            <a:pPr algn="ctr">
              <a:lnSpc>
                <a:spcPct val="108000"/>
              </a:lnSpc>
              <a:buNone/>
              <a:defRPr sz="1435" b="0">
                <a:solidFill>
                  <a:srgbClr val="1F2937"/>
                </a:solidFill>
                <a:latin typeface="Nimbus Sans"/>
                <a:ea typeface="Nimbus Sans"/>
                <a:cs typeface="Nimbus Sans"/>
              </a:defRPr>
            </a:pPr>
            <a:r>
              <a:rPr sz="1435" b="0">
                <a:solidFill>
                  <a:srgbClr val="1F2937"/>
                </a:solidFill>
                <a:latin typeface="Nimbus Sans"/>
                <a:ea typeface="Nimbus Sans"/>
                <a:cs typeface="Nimbus Sans"/>
              </a:rPr>
              <a:t>Resistance can</a:t>
            </a:r>
          </a:p>
          <a:p xmlns:a="http://schemas.openxmlformats.org/drawingml/2006/main">
            <a:pPr algn="ctr">
              <a:lnSpc>
                <a:spcPct val="108000"/>
              </a:lnSpc>
              <a:buNone/>
              <a:defRPr sz="1435" b="0">
                <a:solidFill>
                  <a:srgbClr val="1F2937"/>
                </a:solidFill>
                <a:latin typeface="Nimbus Sans"/>
                <a:ea typeface="Nimbus Sans"/>
                <a:cs typeface="Nimbus Sans"/>
              </a:defRPr>
            </a:pPr>
            <a:r>
              <a:rPr sz="1435" b="0">
                <a:solidFill>
                  <a:srgbClr val="1F2937"/>
                </a:solidFill>
                <a:latin typeface="Nimbus Sans"/>
                <a:ea typeface="Nimbus Sans"/>
                <a:cs typeface="Nimbus Sans"/>
              </a:rPr>
              <a:t>become common.</a:t>
            </a:r>
          </a:p>
        </p:txBody>
      </p:sp>
      <p:sp>
        <p:nvSpPr>
          <p:cNvPr id="24" name="Diagram label: Monitoring and resistance-management strategies&#10;can delay resistance, but not promise zero risk.">
            <a:extLst xmlns:a="http://schemas.openxmlformats.org/drawingml/2006/main">
              <a:ext uri="{FF2B5EF4-FFF2-40B4-BE49-F238E27FC236}">
                <a16:creationId xmlns:a16="http://schemas.microsoft.com/office/drawing/2014/main" id="{B06E53B6-3D05-4B61-9BA7-09C6F445459C}"/>
              </a:ext>
            </a:extLst>
          </p:cNvPr>
          <p:cNvSpPr>
            <a:spLocks xmlns:a="http://schemas.openxmlformats.org/drawingml/2006/main" noGrp="1"/>
          </p:cNvSpPr>
          <p:nvPr/>
        </p:nvSpPr>
        <p:spPr>
          <a:xfrm xmlns:a="http://schemas.openxmlformats.org/drawingml/2006/main">
            <a:off x="3012621" y="4826113"/>
            <a:ext cx="6166757" cy="4905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8000"/>
              </a:lnSpc>
              <a:buNone/>
              <a:defRPr sz="1435" b="0">
                <a:solidFill>
                  <a:srgbClr val="1F2937"/>
                </a:solidFill>
                <a:latin typeface="Nimbus Sans"/>
                <a:ea typeface="Nimbus Sans"/>
                <a:cs typeface="Nimbus Sans"/>
              </a:defRPr>
            </a:pPr>
            <a:r>
              <a:rPr sz="1435" b="0">
                <a:solidFill>
                  <a:srgbClr val="1F2937"/>
                </a:solidFill>
                <a:latin typeface="Nimbus Sans"/>
                <a:ea typeface="Nimbus Sans"/>
                <a:cs typeface="Nimbus Sans"/>
              </a:rPr>
              <a:t>Monitoring and resistance-management strategies</a:t>
            </a:r>
          </a:p>
          <a:p xmlns:a="http://schemas.openxmlformats.org/drawingml/2006/main">
            <a:pPr algn="ctr">
              <a:lnSpc>
                <a:spcPct val="108000"/>
              </a:lnSpc>
              <a:buNone/>
              <a:defRPr sz="1435" b="0">
                <a:solidFill>
                  <a:srgbClr val="1F2937"/>
                </a:solidFill>
                <a:latin typeface="Nimbus Sans"/>
                <a:ea typeface="Nimbus Sans"/>
                <a:cs typeface="Nimbus Sans"/>
              </a:defRPr>
            </a:pPr>
            <a:r>
              <a:rPr sz="1435" b="0">
                <a:solidFill>
                  <a:srgbClr val="1F2937"/>
                </a:solidFill>
                <a:latin typeface="Nimbus Sans"/>
                <a:ea typeface="Nimbus Sans"/>
                <a:cs typeface="Nimbus Sans"/>
              </a:rPr>
              <a:t>can delay resistance, but not promise zero risk.</a:t>
            </a:r>
          </a:p>
        </p:txBody>
      </p:sp>
      <p:sp>
        <p:nvSpPr>
          <p:cNvPr id="25" name="Pest populations contain inherited variation.  Resistant survivo">
            <a:extLst xmlns:a="http://schemas.openxmlformats.org/drawingml/2006/main">
              <a:ext uri="{FF2B5EF4-FFF2-40B4-BE49-F238E27FC236}">
                <a16:creationId xmlns:a16="http://schemas.microsoft.com/office/drawing/2014/main" id="{02171C7F-1615-4AD5-BFA5-FECA8D99C677}"/>
              </a:ext>
            </a:extLst>
          </p:cNvPr>
          <p:cNvSpPr>
            <a:spLocks xmlns:a="http://schemas.openxmlformats.org/drawingml/2006/main" noGrp="1"/>
          </p:cNvSpPr>
          <p:nvPr/>
        </p:nvSpPr>
        <p:spPr>
          <a:xfrm xmlns:a="http://schemas.openxmlformats.org/drawingml/2006/main">
            <a:off x="533400" y="5829300"/>
            <a:ext cx="111252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0">
                <a:solidFill>
                  <a:srgbClr val="1F2937"/>
                </a:solidFill>
                <a:latin typeface="Nimbus Sans"/>
                <a:ea typeface="Nimbus Sans"/>
                <a:cs typeface="Nimbus Sans"/>
              </a:defRPr>
            </a:pPr>
            <a:r>
              <a:rPr sz="1800" b="0">
                <a:solidFill>
                  <a:srgbClr val="1F2937"/>
                </a:solidFill>
                <a:latin typeface="Nimbus Sans"/>
                <a:ea typeface="Nimbus Sans"/>
                <a:cs typeface="Nimbus Sans"/>
              </a:rPr>
              <a:t>Pest populations contain inherited variation. Resistant survivors can reproduce. Resistance may spread, so</a:t>
            </a:r>
          </a:p>
          <a:p xmlns:a="http://schemas.openxmlformats.org/drawingml/2006/main">
            <a:pPr algn="l">
              <a:lnSpc>
                <a:spcPct val="108000"/>
              </a:lnSpc>
              <a:buNone/>
              <a:defRPr sz="1800" b="0">
                <a:solidFill>
                  <a:srgbClr val="1F2937"/>
                </a:solidFill>
                <a:latin typeface="Nimbus Sans"/>
                <a:ea typeface="Nimbus Sans"/>
                <a:cs typeface="Nimbus Sans"/>
              </a:defRPr>
            </a:pPr>
            <a:r>
              <a:rPr sz="1800" b="0">
                <a:solidFill>
                  <a:srgbClr val="1F2937"/>
                </a:solidFill>
                <a:latin typeface="Nimbus Sans"/>
                <a:ea typeface="Nimbus Sans"/>
                <a:cs typeface="Nimbus Sans"/>
              </a:rPr>
              <a:t>monitor it.</a:t>
            </a:r>
          </a:p>
        </p:txBody>
      </p:sp>
    </p:spTree>
    <p:extLst>
      <p:ext uri="{BB962C8B-B14F-4D97-AF65-F5344CB8AC3E}">
        <p14:creationId xmlns:p14="http://schemas.microsoft.com/office/powerpoint/2010/main" val="447567107"/>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urface">
            <a:extLst xmlns:a="http://schemas.openxmlformats.org/drawingml/2006/main">
              <a:ext uri="{FF2B5EF4-FFF2-40B4-BE49-F238E27FC236}">
                <a16:creationId xmlns:a16="http://schemas.microsoft.com/office/drawing/2014/main" id="{E620D1AA-3C01-44EB-A603-7B83B36C8B54}"/>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4D82A0"/>
          </a:solidFill>
          <a:ln xmlns:a="http://schemas.openxmlformats.org/drawingml/2006/main" w="0">
            <a:noFill/>
          </a:ln>
        </p:spPr>
      </p:sp>
      <p:sp>
        <p:nvSpPr>
          <p:cNvPr id="2" name="surface">
            <a:extLst xmlns:a="http://schemas.openxmlformats.org/drawingml/2006/main">
              <a:ext uri="{FF2B5EF4-FFF2-40B4-BE49-F238E27FC236}">
                <a16:creationId xmlns:a16="http://schemas.microsoft.com/office/drawing/2014/main" id="{A40F6571-59CB-4444-A5F1-1B11CB1195CF}"/>
              </a:ext>
            </a:extLst>
          </p:cNvPr>
          <p:cNvSpPr>
            <a:spLocks xmlns:a="http://schemas.openxmlformats.org/drawingml/2006/main" noGrp="1"/>
          </p:cNvSpPr>
          <p:nvPr/>
        </p:nvSpPr>
        <p:spPr>
          <a:xfrm xmlns:a="http://schemas.openxmlformats.org/drawingml/2006/main">
            <a:off x="457200" y="400050"/>
            <a:ext cx="11277600" cy="485775"/>
          </a:xfrm>
          <a:prstGeom xmlns:a="http://schemas.openxmlformats.org/drawingml/2006/main" prst="rect">
            <a:avLst/>
          </a:prstGeom>
          <a:solidFill xmlns:a="http://schemas.openxmlformats.org/drawingml/2006/main">
            <a:srgbClr val="E4EDF2"/>
          </a:solidFill>
          <a:ln xmlns:a="http://schemas.openxmlformats.org/drawingml/2006/main" w="0">
            <a:noFill/>
          </a:ln>
        </p:spPr>
      </p:sp>
      <p:sp>
        <p:nvSpPr>
          <p:cNvPr id="3" name="surface">
            <a:extLst xmlns:a="http://schemas.openxmlformats.org/drawingml/2006/main">
              <a:ext uri="{FF2B5EF4-FFF2-40B4-BE49-F238E27FC236}">
                <a16:creationId xmlns:a16="http://schemas.microsoft.com/office/drawing/2014/main" id="{7B6F102B-6322-40F6-ADF1-31461F77DF4D}"/>
              </a:ext>
            </a:extLst>
          </p:cNvPr>
          <p:cNvSpPr>
            <a:spLocks xmlns:a="http://schemas.openxmlformats.org/drawingml/2006/main" noGrp="1"/>
          </p:cNvSpPr>
          <p:nvPr/>
        </p:nvSpPr>
        <p:spPr>
          <a:xfrm xmlns:a="http://schemas.openxmlformats.org/drawingml/2006/main">
            <a:off x="457200" y="400050"/>
            <a:ext cx="66675" cy="485775"/>
          </a:xfrm>
          <a:prstGeom xmlns:a="http://schemas.openxmlformats.org/drawingml/2006/main" prst="rect">
            <a:avLst/>
          </a:prstGeom>
          <a:solidFill xmlns:a="http://schemas.openxmlformats.org/drawingml/2006/main">
            <a:srgbClr val="4D82A0"/>
          </a:solidFill>
          <a:ln xmlns:a="http://schemas.openxmlformats.org/drawingml/2006/main" w="0">
            <a:noFill/>
          </a:ln>
        </p:spPr>
      </p:sp>
      <p:sp>
        <p:nvSpPr>
          <p:cNvPr id="4" name="LAUNCH SCIENCE">
            <a:extLst xmlns:a="http://schemas.openxmlformats.org/drawingml/2006/main">
              <a:ext uri="{FF2B5EF4-FFF2-40B4-BE49-F238E27FC236}">
                <a16:creationId xmlns:a16="http://schemas.microsoft.com/office/drawing/2014/main" id="{4EDCDEED-DC28-4727-8633-F7982F81F854}"/>
              </a:ext>
            </a:extLst>
          </p:cNvPr>
          <p:cNvSpPr>
            <a:spLocks xmlns:a="http://schemas.openxmlformats.org/drawingml/2006/main" noGrp="1"/>
          </p:cNvSpPr>
          <p:nvPr/>
        </p:nvSpPr>
        <p:spPr>
          <a:xfrm xmlns:a="http://schemas.openxmlformats.org/drawingml/2006/main">
            <a:off x="685800" y="504825"/>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1">
                <a:solidFill>
                  <a:srgbClr val="4D82A0"/>
                </a:solidFill>
                <a:latin typeface="Nimbus Sans"/>
                <a:ea typeface="Nimbus Sans"/>
                <a:cs typeface="Nimbus Sans"/>
              </a:defRPr>
            </a:pPr>
            <a:r>
              <a:rPr sz="1800" b="1">
                <a:solidFill>
                  <a:srgbClr val="4D82A0"/>
                </a:solidFill>
                <a:latin typeface="Nimbus Sans"/>
                <a:ea typeface="Nimbus Sans"/>
                <a:cs typeface="Nimbus Sans"/>
              </a:rPr>
              <a:t>LAUNCH SCIENCE</a:t>
            </a:r>
          </a:p>
        </p:txBody>
      </p:sp>
      <p:sp>
        <p:nvSpPr>
          <p:cNvPr id="5" name="We do">
            <a:extLst xmlns:a="http://schemas.openxmlformats.org/drawingml/2006/main">
              <a:ext uri="{FF2B5EF4-FFF2-40B4-BE49-F238E27FC236}">
                <a16:creationId xmlns:a16="http://schemas.microsoft.com/office/drawing/2014/main" id="{CC88152F-F970-47D5-B13A-E8158FBFE67E}"/>
              </a:ext>
            </a:extLst>
          </p:cNvPr>
          <p:cNvSpPr>
            <a:spLocks xmlns:a="http://schemas.openxmlformats.org/drawingml/2006/main" noGrp="1"/>
          </p:cNvSpPr>
          <p:nvPr/>
        </p:nvSpPr>
        <p:spPr>
          <a:xfrm xmlns:a="http://schemas.openxmlformats.org/drawingml/2006/main">
            <a:off x="5943600" y="504825"/>
            <a:ext cx="3752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1">
                <a:solidFill>
                  <a:srgbClr val="4D82A0"/>
                </a:solidFill>
                <a:latin typeface="Nimbus Sans"/>
                <a:ea typeface="Nimbus Sans"/>
                <a:cs typeface="Nimbus Sans"/>
              </a:defRPr>
            </a:pPr>
            <a:r>
              <a:rPr sz="1800" b="1">
                <a:solidFill>
                  <a:srgbClr val="4D82A0"/>
                </a:solidFill>
                <a:latin typeface="Nimbus Sans"/>
                <a:ea typeface="Nimbus Sans"/>
                <a:cs typeface="Nimbus Sans"/>
              </a:rPr>
              <a:t>We do</a:t>
            </a:r>
          </a:p>
        </p:txBody>
      </p:sp>
      <p:sp>
        <p:nvSpPr>
          <p:cNvPr id="6" name="7 min">
            <a:extLst xmlns:a="http://schemas.openxmlformats.org/drawingml/2006/main">
              <a:ext uri="{FF2B5EF4-FFF2-40B4-BE49-F238E27FC236}">
                <a16:creationId xmlns:a16="http://schemas.microsoft.com/office/drawing/2014/main" id="{A8DC9BE5-E3E8-4827-A6D0-BAC41EF33733}"/>
              </a:ext>
            </a:extLst>
          </p:cNvPr>
          <p:cNvSpPr>
            <a:spLocks xmlns:a="http://schemas.openxmlformats.org/drawingml/2006/main" noGrp="1"/>
          </p:cNvSpPr>
          <p:nvPr/>
        </p:nvSpPr>
        <p:spPr>
          <a:xfrm xmlns:a="http://schemas.openxmlformats.org/drawingml/2006/main">
            <a:off x="10029825" y="504825"/>
            <a:ext cx="14573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725" b="0">
                <a:solidFill>
                  <a:srgbClr val="465465"/>
                </a:solidFill>
                <a:latin typeface="Nimbus Sans"/>
                <a:ea typeface="Nimbus Sans"/>
                <a:cs typeface="Nimbus Sans"/>
              </a:defRPr>
            </a:pPr>
            <a:r>
              <a:rPr sz="1725" b="0">
                <a:solidFill>
                  <a:srgbClr val="465465"/>
                </a:solidFill>
                <a:latin typeface="Nimbus Sans"/>
                <a:ea typeface="Nimbus Sans"/>
                <a:cs typeface="Nimbus Sans"/>
              </a:rPr>
              <a:t>7 min</a:t>
            </a:r>
          </a:p>
        </p:txBody>
      </p:sp>
      <p:sp>
        <p:nvSpPr>
          <p:cNvPr id="7" name="Trial board: what does the evidence show?">
            <a:extLst xmlns:a="http://schemas.openxmlformats.org/drawingml/2006/main">
              <a:ext uri="{FF2B5EF4-FFF2-40B4-BE49-F238E27FC236}">
                <a16:creationId xmlns:a16="http://schemas.microsoft.com/office/drawing/2014/main" id="{C105DA2A-7786-4C84-8D27-E029998FB760}"/>
              </a:ext>
            </a:extLst>
          </p:cNvPr>
          <p:cNvSpPr>
            <a:spLocks xmlns:a="http://schemas.openxmlformats.org/drawingml/2006/main" noGrp="1"/>
          </p:cNvSpPr>
          <p:nvPr/>
        </p:nvSpPr>
        <p:spPr>
          <a:xfrm xmlns:a="http://schemas.openxmlformats.org/drawingml/2006/main">
            <a:off x="533400" y="1066800"/>
            <a:ext cx="11125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3000" b="1">
                <a:solidFill>
                  <a:srgbClr val="1F2937"/>
                </a:solidFill>
                <a:latin typeface="Nimbus Sans"/>
                <a:ea typeface="Nimbus Sans"/>
                <a:cs typeface="Nimbus Sans"/>
              </a:defRPr>
            </a:pPr>
            <a:r>
              <a:rPr sz="3000" b="1">
                <a:solidFill>
                  <a:srgbClr val="1F2937"/>
                </a:solidFill>
                <a:latin typeface="Nimbus Sans"/>
                <a:ea typeface="Nimbus Sans"/>
                <a:cs typeface="Nimbus Sans"/>
              </a:rPr>
              <a:t>Trial board: what does the evidence show?</a:t>
            </a:r>
          </a:p>
        </p:txBody>
      </p:sp>
      <p:sp>
        <p:nvSpPr>
          <p:cNvPr id="8" name="surface">
            <a:extLst xmlns:a="http://schemas.openxmlformats.org/drawingml/2006/main">
              <a:ext uri="{FF2B5EF4-FFF2-40B4-BE49-F238E27FC236}">
                <a16:creationId xmlns:a16="http://schemas.microsoft.com/office/drawing/2014/main" id="{429696A4-6B40-4916-8241-E38C6A6A4DC5}"/>
              </a:ext>
            </a:extLst>
          </p:cNvPr>
          <p:cNvSpPr>
            <a:spLocks xmlns:a="http://schemas.openxmlformats.org/drawingml/2006/main" noGrp="1"/>
          </p:cNvSpPr>
          <p:nvPr/>
        </p:nvSpPr>
        <p:spPr>
          <a:xfrm xmlns:a="http://schemas.openxmlformats.org/drawingml/2006/main">
            <a:off x="457200" y="6496050"/>
            <a:ext cx="11277600" cy="9525"/>
          </a:xfrm>
          <a:prstGeom xmlns:a="http://schemas.openxmlformats.org/drawingml/2006/main" prst="rect">
            <a:avLst/>
          </a:prstGeom>
          <a:solidFill xmlns:a="http://schemas.openxmlformats.org/drawingml/2006/main">
            <a:srgbClr val="D8DDE2"/>
          </a:solidFill>
          <a:ln xmlns:a="http://schemas.openxmlformats.org/drawingml/2006/main" w="0">
            <a:noFill/>
          </a:ln>
        </p:spPr>
      </p:sp>
      <p:sp>
        <p:nvSpPr>
          <p:cNvPr id="9" name="Genetic engineering: change, test, decide">
            <a:extLst xmlns:a="http://schemas.openxmlformats.org/drawingml/2006/main">
              <a:ext uri="{FF2B5EF4-FFF2-40B4-BE49-F238E27FC236}">
                <a16:creationId xmlns:a16="http://schemas.microsoft.com/office/drawing/2014/main" id="{89E76DB6-3FE5-4BAC-89AF-96B8A20E522D}"/>
              </a:ext>
            </a:extLst>
          </p:cNvPr>
          <p:cNvSpPr>
            <a:spLocks xmlns:a="http://schemas.openxmlformats.org/drawingml/2006/main" noGrp="1"/>
          </p:cNvSpPr>
          <p:nvPr/>
        </p:nvSpPr>
        <p:spPr>
          <a:xfrm xmlns:a="http://schemas.openxmlformats.org/drawingml/2006/main">
            <a:off x="533400" y="6600825"/>
            <a:ext cx="10572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Genetic engineering: change, test, decide</a:t>
            </a:r>
          </a:p>
        </p:txBody>
      </p:sp>
      <p:sp>
        <p:nvSpPr>
          <p:cNvPr id="10" name="7 / 15">
            <a:extLst xmlns:a="http://schemas.openxmlformats.org/drawingml/2006/main">
              <a:ext uri="{FF2B5EF4-FFF2-40B4-BE49-F238E27FC236}">
                <a16:creationId xmlns:a16="http://schemas.microsoft.com/office/drawing/2014/main" id="{4DD1CEBB-A946-4E0E-9093-8654B8BB3084}"/>
              </a:ext>
            </a:extLst>
          </p:cNvPr>
          <p:cNvSpPr>
            <a:spLocks xmlns:a="http://schemas.openxmlformats.org/drawingml/2006/main" noGrp="1"/>
          </p:cNvSpPr>
          <p:nvPr/>
        </p:nvSpPr>
        <p:spPr>
          <a:xfrm xmlns:a="http://schemas.openxmlformats.org/drawingml/2006/main">
            <a:off x="10953750" y="6600825"/>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7 / 15</a:t>
            </a:r>
          </a:p>
        </p:txBody>
      </p:sp>
      <p:sp>
        <p:nvSpPr>
          <p:cNvPr id="11" name="W1. Compare damage and yield in this trial. W2. Which claim is j">
            <a:extLst xmlns:a="http://schemas.openxmlformats.org/drawingml/2006/main">
              <a:ext uri="{FF2B5EF4-FFF2-40B4-BE49-F238E27FC236}">
                <a16:creationId xmlns:a16="http://schemas.microsoft.com/office/drawing/2014/main" id="{DB631B69-90C4-463F-94EB-F5AB00637D79}"/>
              </a:ext>
            </a:extLst>
          </p:cNvPr>
          <p:cNvSpPr>
            <a:spLocks xmlns:a="http://schemas.openxmlformats.org/drawingml/2006/main" noGrp="1"/>
          </p:cNvSpPr>
          <p:nvPr/>
        </p:nvSpPr>
        <p:spPr>
          <a:xfrm xmlns:a="http://schemas.openxmlformats.org/drawingml/2006/main">
            <a:off x="533400" y="1895475"/>
            <a:ext cx="11125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950" b="0">
                <a:solidFill>
                  <a:srgbClr val="1F2937"/>
                </a:solidFill>
                <a:latin typeface="Nimbus Sans"/>
                <a:ea typeface="Nimbus Sans"/>
                <a:cs typeface="Nimbus Sans"/>
              </a:defRPr>
            </a:pPr>
            <a:r>
              <a:rPr sz="1950" b="0">
                <a:solidFill>
                  <a:srgbClr val="1F2937"/>
                </a:solidFill>
                <a:latin typeface="Nimbus Sans"/>
                <a:ea typeface="Nimbus Sans"/>
                <a:cs typeface="Nimbus Sans"/>
              </a:rPr>
              <a:t>W1. Compare damage and yield in this trial. W2. Which claim is justified: promise, success here, or</a:t>
            </a:r>
          </a:p>
          <a:p xmlns:a="http://schemas.openxmlformats.org/drawingml/2006/main">
            <a:pPr algn="l">
              <a:lnSpc>
                <a:spcPct val="108000"/>
              </a:lnSpc>
              <a:buNone/>
              <a:defRPr sz="1950" b="0">
                <a:solidFill>
                  <a:srgbClr val="1F2937"/>
                </a:solidFill>
                <a:latin typeface="Nimbus Sans"/>
                <a:ea typeface="Nimbus Sans"/>
                <a:cs typeface="Nimbus Sans"/>
              </a:defRPr>
            </a:pPr>
            <a:r>
              <a:rPr sz="1950" b="0">
                <a:solidFill>
                  <a:srgbClr val="1F2937"/>
                </a:solidFill>
                <a:latin typeface="Nimbus Sans"/>
                <a:ea typeface="Nimbus Sans"/>
                <a:cs typeface="Nimbus Sans"/>
              </a:rPr>
              <a:t>proof everywhere? Use exact quantities.</a:t>
            </a:r>
          </a:p>
        </p:txBody>
      </p:sp>
      <p:graphicFrame>
        <p:nvGraphicFramePr>
          <p:cNvPr id="25" name=""/>
          <p:cNvGraphicFramePr/>
          <p:nvPr/>
        </p:nvGraphicFramePr>
        <p:xfrm>
          <a:off xmlns:a="http://schemas.openxmlformats.org/drawingml/2006/main" x="533400" y="2581275"/>
          <a:ext xmlns:a="http://schemas.openxmlformats.org/drawingml/2006/main" cx="11125200" cy="1515904"/>
        </p:xfrm>
        <a:graphic xmlns:a="http://schemas.openxmlformats.org/drawingml/2006/main">
          <a:graphicData uri="http://schemas.openxmlformats.org/drawingml/2006/table">
            <a:tbl>
              <a:tblPr firstRow="1" bandRow="0"/>
              <a:tblGrid>
                <a:gridCol w="3166378"/>
                <a:gridCol w="4275818"/>
                <a:gridCol w="3683004"/>
              </a:tblGrid>
              <a:tr h="505301">
                <a:tc>
                  <a:txBody>
                    <a:bodyPr lIns="95250" tIns="95250" rIns="95250" bIns="95250"/>
                    <a:lstStyle/>
                    <a:p>
                      <a:pPr algn="l"/>
                      <a:r>
                        <a:rPr sz="2025" b="1">
                          <a:solidFill>
                            <a:srgbClr val="FFFFFF"/>
                          </a:solidFill>
                          <a:latin typeface="Nimbus Sans"/>
                          <a:ea typeface="Nimbus Sans"/>
                          <a:cs typeface="Nimbus Sans"/>
                        </a:rPr>
                        <a:t>Crop</a:t>
                      </a:r>
                    </a:p>
                  </a:txBody>
                  <a:tcPr marL="95250" marR="95250" marT="95250" marB="95250" anchor="ctr">
                    <a:solidFill>
                      <a:srgbClr val="4D82A0"/>
                    </a:solidFill>
                  </a:tcPr>
                </a:tc>
                <a:tc>
                  <a:txBody>
                    <a:bodyPr lIns="95250" tIns="95250" rIns="95250" bIns="95250"/>
                    <a:lstStyle/>
                    <a:p>
                      <a:pPr algn="l"/>
                      <a:r>
                        <a:rPr sz="2025" b="1">
                          <a:solidFill>
                            <a:srgbClr val="FFFFFF"/>
                          </a:solidFill>
                          <a:latin typeface="Nimbus Sans"/>
                          <a:ea typeface="Nimbus Sans"/>
                          <a:cs typeface="Nimbus Sans"/>
                        </a:rPr>
                        <a:t>Target-pest damaged plants /100</a:t>
                      </a:r>
                    </a:p>
                  </a:txBody>
                  <a:tcPr marL="95250" marR="95250" marT="95250" marB="95250" anchor="ctr">
                    <a:solidFill>
                      <a:srgbClr val="4D82A0"/>
                    </a:solidFill>
                  </a:tcPr>
                </a:tc>
                <a:tc>
                  <a:txBody>
                    <a:bodyPr lIns="95250" tIns="95250" rIns="95250" bIns="95250"/>
                    <a:lstStyle/>
                    <a:p>
                      <a:pPr algn="l"/>
                      <a:r>
                        <a:rPr sz="2025" b="1">
                          <a:solidFill>
                            <a:srgbClr val="FFFFFF"/>
                          </a:solidFill>
                          <a:latin typeface="Nimbus Sans"/>
                          <a:ea typeface="Nimbus Sans"/>
                          <a:cs typeface="Nimbus Sans"/>
                        </a:rPr>
                        <a:t>Mean grain yield (t/ha)</a:t>
                      </a:r>
                    </a:p>
                  </a:txBody>
                  <a:tcPr marL="95250" marR="95250" marT="95250" marB="95250" anchor="ctr">
                    <a:solidFill>
                      <a:srgbClr val="4D82A0"/>
                    </a:solidFill>
                  </a:tcPr>
                </a:tc>
              </a:tr>
              <a:tr h="505301">
                <a:tc>
                  <a:txBody>
                    <a:bodyPr lIns="95250" tIns="95250" rIns="95250" bIns="95250"/>
                    <a:lstStyle/>
                    <a:p>
                      <a:pPr algn="l"/>
                      <a:r>
                        <a:rPr sz="2025" b="0">
                          <a:solidFill>
                            <a:srgbClr val="1F2937"/>
                          </a:solidFill>
                          <a:latin typeface="Nimbus Sans"/>
                          <a:ea typeface="Nimbus Sans"/>
                          <a:cs typeface="Nimbus Sans"/>
                        </a:rPr>
                        <a:t>Comparison non-GM</a:t>
                      </a:r>
                    </a:p>
                  </a:txBody>
                  <a:tcPr marL="95250" marR="95250" marT="95250" marB="95250" anchor="ctr">
                    <a:solidFill>
                      <a:srgbClr val="F4F7F9"/>
                    </a:solidFill>
                  </a:tcPr>
                </a:tc>
                <a:tc>
                  <a:txBody>
                    <a:bodyPr lIns="95250" tIns="95250" rIns="95250" bIns="95250"/>
                    <a:lstStyle/>
                    <a:p>
                      <a:pPr algn="l"/>
                      <a:r>
                        <a:rPr sz="2025" b="0">
                          <a:solidFill>
                            <a:srgbClr val="1F2937"/>
                          </a:solidFill>
                          <a:latin typeface="Nimbus Sans"/>
                          <a:ea typeface="Nimbus Sans"/>
                          <a:cs typeface="Nimbus Sans"/>
                        </a:rPr>
                        <a:t>30</a:t>
                      </a:r>
                    </a:p>
                  </a:txBody>
                  <a:tcPr marL="95250" marR="95250" marT="95250" marB="95250" anchor="ctr">
                    <a:solidFill>
                      <a:srgbClr val="F4F7F9"/>
                    </a:solidFill>
                  </a:tcPr>
                </a:tc>
                <a:tc>
                  <a:txBody>
                    <a:bodyPr lIns="95250" tIns="95250" rIns="95250" bIns="95250"/>
                    <a:lstStyle/>
                    <a:p>
                      <a:pPr algn="l"/>
                      <a:r>
                        <a:rPr sz="2025" b="0">
                          <a:solidFill>
                            <a:srgbClr val="1F2937"/>
                          </a:solidFill>
                          <a:latin typeface="Nimbus Sans"/>
                          <a:ea typeface="Nimbus Sans"/>
                          <a:cs typeface="Nimbus Sans"/>
                        </a:rPr>
                        <a:t>6.9</a:t>
                      </a:r>
                    </a:p>
                  </a:txBody>
                  <a:tcPr marL="95250" marR="95250" marT="95250" marB="95250" anchor="ctr">
                    <a:solidFill>
                      <a:srgbClr val="F4F7F9"/>
                    </a:solidFill>
                  </a:tcPr>
                </a:tc>
              </a:tr>
              <a:tr h="505301">
                <a:tc>
                  <a:txBody>
                    <a:bodyPr lIns="95250" tIns="95250" rIns="95250" bIns="95250"/>
                    <a:lstStyle/>
                    <a:p>
                      <a:pPr algn="l"/>
                      <a:r>
                        <a:rPr sz="2025" b="0">
                          <a:solidFill>
                            <a:srgbClr val="1F2937"/>
                          </a:solidFill>
                          <a:latin typeface="Nimbus Sans"/>
                          <a:ea typeface="Nimbus Sans"/>
                          <a:cs typeface="Nimbus Sans"/>
                        </a:rPr>
                        <a:t>Bt GM</a:t>
                      </a:r>
                    </a:p>
                  </a:txBody>
                  <a:tcPr marL="95250" marR="95250" marT="95250" marB="95250" anchor="ctr">
                    <a:solidFill>
                      <a:srgbClr val="FFFFFF"/>
                    </a:solidFill>
                  </a:tcPr>
                </a:tc>
                <a:tc>
                  <a:txBody>
                    <a:bodyPr lIns="95250" tIns="95250" rIns="95250" bIns="95250"/>
                    <a:lstStyle/>
                    <a:p>
                      <a:pPr algn="l"/>
                      <a:r>
                        <a:rPr sz="2025" b="0">
                          <a:solidFill>
                            <a:srgbClr val="1F2937"/>
                          </a:solidFill>
                          <a:latin typeface="Nimbus Sans"/>
                          <a:ea typeface="Nimbus Sans"/>
                          <a:cs typeface="Nimbus Sans"/>
                        </a:rPr>
                        <a:t>8</a:t>
                      </a:r>
                    </a:p>
                  </a:txBody>
                  <a:tcPr marL="95250" marR="95250" marT="95250" marB="95250" anchor="ctr">
                    <a:solidFill>
                      <a:srgbClr val="FFFFFF"/>
                    </a:solidFill>
                  </a:tcPr>
                </a:tc>
                <a:tc>
                  <a:txBody>
                    <a:bodyPr lIns="95250" tIns="95250" rIns="95250" bIns="95250"/>
                    <a:lstStyle/>
                    <a:p>
                      <a:pPr algn="l"/>
                      <a:r>
                        <a:rPr sz="2025" b="0">
                          <a:solidFill>
                            <a:srgbClr val="1F2937"/>
                          </a:solidFill>
                          <a:latin typeface="Nimbus Sans"/>
                          <a:ea typeface="Nimbus Sans"/>
                          <a:cs typeface="Nimbus Sans"/>
                        </a:rPr>
                        <a:t>7.9</a:t>
                      </a:r>
                    </a:p>
                  </a:txBody>
                  <a:tcPr marL="95250" marR="95250" marT="95250" marB="95250" anchor="ctr">
                    <a:solidFill>
                      <a:srgbClr val="FFFFFF"/>
                    </a:solidFill>
                  </a:tcPr>
                </a:tc>
              </a:tr>
            </a:tbl>
          </a:graphicData>
        </a:graphic>
      </p:graphicFrame>
      <p:sp>
        <p:nvSpPr>
          <p:cNvPr id="13" name="Constructed sample data: means from three matched plot pairs at ">
            <a:extLst xmlns:a="http://schemas.openxmlformats.org/drawingml/2006/main">
              <a:ext uri="{FF2B5EF4-FFF2-40B4-BE49-F238E27FC236}">
                <a16:creationId xmlns:a16="http://schemas.microsoft.com/office/drawing/2014/main" id="{58E119B6-4A92-49D8-B4B3-A505E9FA6B49}"/>
              </a:ext>
            </a:extLst>
          </p:cNvPr>
          <p:cNvSpPr>
            <a:spLocks xmlns:a="http://schemas.openxmlformats.org/drawingml/2006/main" noGrp="1"/>
          </p:cNvSpPr>
          <p:nvPr/>
        </p:nvSpPr>
        <p:spPr>
          <a:xfrm xmlns:a="http://schemas.openxmlformats.org/drawingml/2006/main">
            <a:off x="533400" y="4211479"/>
            <a:ext cx="11125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500" b="0">
                <a:solidFill>
                  <a:srgbClr val="1F2937"/>
                </a:solidFill>
                <a:latin typeface="Nimbus Sans"/>
                <a:ea typeface="Nimbus Sans"/>
                <a:cs typeface="Nimbus Sans"/>
              </a:defRPr>
            </a:pPr>
            <a:r>
              <a:rPr sz="1500" b="0">
                <a:solidFill>
                  <a:srgbClr val="1F2937"/>
                </a:solidFill>
                <a:latin typeface="Nimbus Sans"/>
                <a:ea typeface="Nimbus Sans"/>
                <a:cs typeface="Nimbus Sans"/>
              </a:rPr>
              <a:t>Constructed sample data: means from three matched plot pairs at one site in one season; neither crop received target-insect spray.</a:t>
            </a:r>
          </a:p>
          <a:p xmlns:a="http://schemas.openxmlformats.org/drawingml/2006/main">
            <a:pPr algn="l">
              <a:lnSpc>
                <a:spcPct val="108000"/>
              </a:lnSpc>
              <a:buNone/>
              <a:defRPr sz="1500" b="0">
                <a:solidFill>
                  <a:srgbClr val="1F2937"/>
                </a:solidFill>
                <a:latin typeface="Nimbus Sans"/>
                <a:ea typeface="Nimbus Sans"/>
                <a:cs typeface="Nimbus Sans"/>
              </a:defRPr>
            </a:pPr>
            <a:r>
              <a:rPr sz="1500" b="0">
                <a:solidFill>
                  <a:srgbClr val="1F2937"/>
                </a:solidFill>
                <a:latin typeface="Nimbus Sans"/>
                <a:ea typeface="Nimbus Sans"/>
                <a:cs typeface="Nimbus Sans"/>
              </a:rPr>
              <a:t>Other growing conditions matched.</a:t>
            </a:r>
          </a:p>
        </p:txBody>
      </p:sp>
    </p:spTree>
    <p:extLst>
      <p:ext uri="{BB962C8B-B14F-4D97-AF65-F5344CB8AC3E}">
        <p14:creationId xmlns:p14="http://schemas.microsoft.com/office/powerpoint/2010/main" val="741735903"/>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surface">
            <a:extLst xmlns:a="http://schemas.openxmlformats.org/drawingml/2006/main">
              <a:ext uri="{FF2B5EF4-FFF2-40B4-BE49-F238E27FC236}">
                <a16:creationId xmlns:a16="http://schemas.microsoft.com/office/drawing/2014/main" id="{13B496F5-313F-4F7C-9210-53A8052F4055}"/>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4D82A0"/>
          </a:solidFill>
          <a:ln xmlns:a="http://schemas.openxmlformats.org/drawingml/2006/main" w="0">
            <a:noFill/>
          </a:ln>
        </p:spPr>
      </p:sp>
      <p:sp>
        <p:nvSpPr>
          <p:cNvPr id="2" name="surface">
            <a:extLst xmlns:a="http://schemas.openxmlformats.org/drawingml/2006/main">
              <a:ext uri="{FF2B5EF4-FFF2-40B4-BE49-F238E27FC236}">
                <a16:creationId xmlns:a16="http://schemas.microsoft.com/office/drawing/2014/main" id="{E02FFBD2-133E-4798-96BD-D71688C074A9}"/>
              </a:ext>
            </a:extLst>
          </p:cNvPr>
          <p:cNvSpPr>
            <a:spLocks xmlns:a="http://schemas.openxmlformats.org/drawingml/2006/main" noGrp="1"/>
          </p:cNvSpPr>
          <p:nvPr/>
        </p:nvSpPr>
        <p:spPr>
          <a:xfrm xmlns:a="http://schemas.openxmlformats.org/drawingml/2006/main">
            <a:off x="457200" y="400050"/>
            <a:ext cx="11277600" cy="485775"/>
          </a:xfrm>
          <a:prstGeom xmlns:a="http://schemas.openxmlformats.org/drawingml/2006/main" prst="rect">
            <a:avLst/>
          </a:prstGeom>
          <a:solidFill xmlns:a="http://schemas.openxmlformats.org/drawingml/2006/main">
            <a:srgbClr val="E4EDF2"/>
          </a:solidFill>
          <a:ln xmlns:a="http://schemas.openxmlformats.org/drawingml/2006/main" w="0">
            <a:noFill/>
          </a:ln>
        </p:spPr>
      </p:sp>
      <p:sp>
        <p:nvSpPr>
          <p:cNvPr id="3" name="surface">
            <a:extLst xmlns:a="http://schemas.openxmlformats.org/drawingml/2006/main">
              <a:ext uri="{FF2B5EF4-FFF2-40B4-BE49-F238E27FC236}">
                <a16:creationId xmlns:a16="http://schemas.microsoft.com/office/drawing/2014/main" id="{F6E10A61-B63B-46E4-8C82-B62336A42639}"/>
              </a:ext>
            </a:extLst>
          </p:cNvPr>
          <p:cNvSpPr>
            <a:spLocks xmlns:a="http://schemas.openxmlformats.org/drawingml/2006/main" noGrp="1"/>
          </p:cNvSpPr>
          <p:nvPr/>
        </p:nvSpPr>
        <p:spPr>
          <a:xfrm xmlns:a="http://schemas.openxmlformats.org/drawingml/2006/main">
            <a:off x="457200" y="400050"/>
            <a:ext cx="66675" cy="485775"/>
          </a:xfrm>
          <a:prstGeom xmlns:a="http://schemas.openxmlformats.org/drawingml/2006/main" prst="rect">
            <a:avLst/>
          </a:prstGeom>
          <a:solidFill xmlns:a="http://schemas.openxmlformats.org/drawingml/2006/main">
            <a:srgbClr val="4D82A0"/>
          </a:solidFill>
          <a:ln xmlns:a="http://schemas.openxmlformats.org/drawingml/2006/main" w="0">
            <a:noFill/>
          </a:ln>
        </p:spPr>
      </p:sp>
      <p:sp>
        <p:nvSpPr>
          <p:cNvPr id="4" name="LAUNCH SCIENCE">
            <a:extLst xmlns:a="http://schemas.openxmlformats.org/drawingml/2006/main">
              <a:ext uri="{FF2B5EF4-FFF2-40B4-BE49-F238E27FC236}">
                <a16:creationId xmlns:a16="http://schemas.microsoft.com/office/drawing/2014/main" id="{7010086D-190C-448D-8301-9BFD9499A493}"/>
              </a:ext>
            </a:extLst>
          </p:cNvPr>
          <p:cNvSpPr>
            <a:spLocks xmlns:a="http://schemas.openxmlformats.org/drawingml/2006/main" noGrp="1"/>
          </p:cNvSpPr>
          <p:nvPr/>
        </p:nvSpPr>
        <p:spPr>
          <a:xfrm xmlns:a="http://schemas.openxmlformats.org/drawingml/2006/main">
            <a:off x="685800" y="504825"/>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1">
                <a:solidFill>
                  <a:srgbClr val="4D82A0"/>
                </a:solidFill>
                <a:latin typeface="Nimbus Sans"/>
                <a:ea typeface="Nimbus Sans"/>
                <a:cs typeface="Nimbus Sans"/>
              </a:defRPr>
            </a:pPr>
            <a:r>
              <a:rPr sz="1800" b="1">
                <a:solidFill>
                  <a:srgbClr val="4D82A0"/>
                </a:solidFill>
                <a:latin typeface="Nimbus Sans"/>
                <a:ea typeface="Nimbus Sans"/>
                <a:cs typeface="Nimbus Sans"/>
              </a:rPr>
              <a:t>LAUNCH SCIENCE</a:t>
            </a:r>
          </a:p>
        </p:txBody>
      </p:sp>
      <p:sp>
        <p:nvSpPr>
          <p:cNvPr id="5" name="We do">
            <a:extLst xmlns:a="http://schemas.openxmlformats.org/drawingml/2006/main">
              <a:ext uri="{FF2B5EF4-FFF2-40B4-BE49-F238E27FC236}">
                <a16:creationId xmlns:a16="http://schemas.microsoft.com/office/drawing/2014/main" id="{7A1A3EA9-33CB-4356-BAF6-6503E15E6FAC}"/>
              </a:ext>
            </a:extLst>
          </p:cNvPr>
          <p:cNvSpPr>
            <a:spLocks xmlns:a="http://schemas.openxmlformats.org/drawingml/2006/main" noGrp="1"/>
          </p:cNvSpPr>
          <p:nvPr/>
        </p:nvSpPr>
        <p:spPr>
          <a:xfrm xmlns:a="http://schemas.openxmlformats.org/drawingml/2006/main">
            <a:off x="5943600" y="504825"/>
            <a:ext cx="3752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1">
                <a:solidFill>
                  <a:srgbClr val="4D82A0"/>
                </a:solidFill>
                <a:latin typeface="Nimbus Sans"/>
                <a:ea typeface="Nimbus Sans"/>
                <a:cs typeface="Nimbus Sans"/>
              </a:defRPr>
            </a:pPr>
            <a:r>
              <a:rPr sz="1800" b="1">
                <a:solidFill>
                  <a:srgbClr val="4D82A0"/>
                </a:solidFill>
                <a:latin typeface="Nimbus Sans"/>
                <a:ea typeface="Nimbus Sans"/>
                <a:cs typeface="Nimbus Sans"/>
              </a:rPr>
              <a:t>We do</a:t>
            </a:r>
          </a:p>
        </p:txBody>
      </p:sp>
      <p:sp>
        <p:nvSpPr>
          <p:cNvPr id="6" name="Spend your two next checks">
            <a:extLst xmlns:a="http://schemas.openxmlformats.org/drawingml/2006/main">
              <a:ext uri="{FF2B5EF4-FFF2-40B4-BE49-F238E27FC236}">
                <a16:creationId xmlns:a16="http://schemas.microsoft.com/office/drawing/2014/main" id="{D2E0176F-5965-4E6B-BE97-6279C9510C4A}"/>
              </a:ext>
            </a:extLst>
          </p:cNvPr>
          <p:cNvSpPr>
            <a:spLocks xmlns:a="http://schemas.openxmlformats.org/drawingml/2006/main" noGrp="1"/>
          </p:cNvSpPr>
          <p:nvPr/>
        </p:nvSpPr>
        <p:spPr>
          <a:xfrm xmlns:a="http://schemas.openxmlformats.org/drawingml/2006/main">
            <a:off x="533400" y="1066800"/>
            <a:ext cx="11125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3000" b="1">
                <a:solidFill>
                  <a:srgbClr val="1F2937"/>
                </a:solidFill>
                <a:latin typeface="Nimbus Sans"/>
                <a:ea typeface="Nimbus Sans"/>
                <a:cs typeface="Nimbus Sans"/>
              </a:defRPr>
            </a:pPr>
            <a:r>
              <a:rPr sz="3000" b="1">
                <a:solidFill>
                  <a:srgbClr val="1F2937"/>
                </a:solidFill>
                <a:latin typeface="Nimbus Sans"/>
                <a:ea typeface="Nimbus Sans"/>
                <a:cs typeface="Nimbus Sans"/>
              </a:rPr>
              <a:t>Spend your two next checks</a:t>
            </a:r>
          </a:p>
        </p:txBody>
      </p:sp>
      <p:sp>
        <p:nvSpPr>
          <p:cNvPr id="7" name="surface">
            <a:extLst xmlns:a="http://schemas.openxmlformats.org/drawingml/2006/main">
              <a:ext uri="{FF2B5EF4-FFF2-40B4-BE49-F238E27FC236}">
                <a16:creationId xmlns:a16="http://schemas.microsoft.com/office/drawing/2014/main" id="{E2307268-C938-4EC9-9416-2A9633F73357}"/>
              </a:ext>
            </a:extLst>
          </p:cNvPr>
          <p:cNvSpPr>
            <a:spLocks xmlns:a="http://schemas.openxmlformats.org/drawingml/2006/main" noGrp="1"/>
          </p:cNvSpPr>
          <p:nvPr/>
        </p:nvSpPr>
        <p:spPr>
          <a:xfrm xmlns:a="http://schemas.openxmlformats.org/drawingml/2006/main">
            <a:off x="457200" y="6496050"/>
            <a:ext cx="11277600" cy="9525"/>
          </a:xfrm>
          <a:prstGeom xmlns:a="http://schemas.openxmlformats.org/drawingml/2006/main" prst="rect">
            <a:avLst/>
          </a:prstGeom>
          <a:solidFill xmlns:a="http://schemas.openxmlformats.org/drawingml/2006/main">
            <a:srgbClr val="D8DDE2"/>
          </a:solidFill>
          <a:ln xmlns:a="http://schemas.openxmlformats.org/drawingml/2006/main" w="0">
            <a:noFill/>
          </a:ln>
        </p:spPr>
      </p:sp>
      <p:sp>
        <p:nvSpPr>
          <p:cNvPr id="8" name="Genetic engineering: change, test, decide">
            <a:extLst xmlns:a="http://schemas.openxmlformats.org/drawingml/2006/main">
              <a:ext uri="{FF2B5EF4-FFF2-40B4-BE49-F238E27FC236}">
                <a16:creationId xmlns:a16="http://schemas.microsoft.com/office/drawing/2014/main" id="{7017965C-F83A-445A-A002-971E889F438E}"/>
              </a:ext>
            </a:extLst>
          </p:cNvPr>
          <p:cNvSpPr>
            <a:spLocks xmlns:a="http://schemas.openxmlformats.org/drawingml/2006/main" noGrp="1"/>
          </p:cNvSpPr>
          <p:nvPr/>
        </p:nvSpPr>
        <p:spPr>
          <a:xfrm xmlns:a="http://schemas.openxmlformats.org/drawingml/2006/main">
            <a:off x="533400" y="6600825"/>
            <a:ext cx="10572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Genetic engineering: change, test, decide</a:t>
            </a:r>
          </a:p>
        </p:txBody>
      </p:sp>
      <p:sp>
        <p:nvSpPr>
          <p:cNvPr id="9" name="8 / 15">
            <a:extLst xmlns:a="http://schemas.openxmlformats.org/drawingml/2006/main">
              <a:ext uri="{FF2B5EF4-FFF2-40B4-BE49-F238E27FC236}">
                <a16:creationId xmlns:a16="http://schemas.microsoft.com/office/drawing/2014/main" id="{A450EA7D-23A0-4659-A522-703431B41C8B}"/>
              </a:ext>
            </a:extLst>
          </p:cNvPr>
          <p:cNvSpPr>
            <a:spLocks xmlns:a="http://schemas.openxmlformats.org/drawingml/2006/main" noGrp="1"/>
          </p:cNvSpPr>
          <p:nvPr/>
        </p:nvSpPr>
        <p:spPr>
          <a:xfrm xmlns:a="http://schemas.openxmlformats.org/drawingml/2006/main">
            <a:off x="10953750" y="6600825"/>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8 / 15</a:t>
            </a:r>
          </a:p>
        </p:txBody>
      </p:sp>
      <p:sp>
        <p:nvSpPr>
          <p:cNvPr id="10" name="W3. Choose two: repeat sites/seasons; monitor resistance; measur">
            <a:extLst xmlns:a="http://schemas.openxmlformats.org/drawingml/2006/main">
              <a:ext uri="{FF2B5EF4-FFF2-40B4-BE49-F238E27FC236}">
                <a16:creationId xmlns:a16="http://schemas.microsoft.com/office/drawing/2014/main" id="{6EDD0C7D-AB19-4A26-8560-C749AD823048}"/>
              </a:ext>
            </a:extLst>
          </p:cNvPr>
          <p:cNvSpPr>
            <a:spLocks xmlns:a="http://schemas.openxmlformats.org/drawingml/2006/main" noGrp="1"/>
          </p:cNvSpPr>
          <p:nvPr/>
        </p:nvSpPr>
        <p:spPr>
          <a:xfrm xmlns:a="http://schemas.openxmlformats.org/drawingml/2006/main">
            <a:off x="762000" y="2028825"/>
            <a:ext cx="10668000" cy="6877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1F2937"/>
                </a:solidFill>
                <a:latin typeface="Nimbus Sans"/>
                <a:ea typeface="Nimbus Sans"/>
                <a:cs typeface="Nimbus Sans"/>
              </a:defRPr>
            </a:pPr>
            <a:r>
              <a:rPr sz="2325" b="0">
                <a:solidFill>
                  <a:srgbClr val="1F2937"/>
                </a:solidFill>
                <a:latin typeface="Nimbus Sans"/>
                <a:ea typeface="Nimbus Sans"/>
                <a:cs typeface="Nimbus Sans"/>
              </a:rPr>
              <a:t>W3. Choose two: repeat sites/seasons; monitor resistance; measure crop colour;</a:t>
            </a:r>
          </a:p>
          <a:p xmlns:a="http://schemas.openxmlformats.org/drawingml/2006/main">
            <a:pPr algn="l">
              <a:lnSpc>
                <a:spcPct val="108000"/>
              </a:lnSpc>
              <a:buNone/>
              <a:defRPr sz="2325" b="0">
                <a:solidFill>
                  <a:srgbClr val="1F2937"/>
                </a:solidFill>
                <a:latin typeface="Nimbus Sans"/>
                <a:ea typeface="Nimbus Sans"/>
                <a:cs typeface="Nimbus Sans"/>
              </a:defRPr>
            </a:pPr>
            <a:r>
              <a:rPr sz="2325" b="0">
                <a:solidFill>
                  <a:srgbClr val="1F2937"/>
                </a:solidFill>
                <a:latin typeface="Nimbus Sans"/>
                <a:ea typeface="Nimbus Sans"/>
                <a:cs typeface="Nimbus Sans"/>
              </a:rPr>
              <a:t>count likes online.</a:t>
            </a:r>
          </a:p>
        </p:txBody>
      </p:sp>
      <p:sp>
        <p:nvSpPr>
          <p:cNvPr id="11" name="Defend how each choice reduces uncertainty.">
            <a:extLst xmlns:a="http://schemas.openxmlformats.org/drawingml/2006/main">
              <a:ext uri="{FF2B5EF4-FFF2-40B4-BE49-F238E27FC236}">
                <a16:creationId xmlns:a16="http://schemas.microsoft.com/office/drawing/2014/main" id="{59B87870-0DAD-44D8-9AB1-06487EBF4642}"/>
              </a:ext>
            </a:extLst>
          </p:cNvPr>
          <p:cNvSpPr>
            <a:spLocks xmlns:a="http://schemas.openxmlformats.org/drawingml/2006/main" noGrp="1"/>
          </p:cNvSpPr>
          <p:nvPr/>
        </p:nvSpPr>
        <p:spPr>
          <a:xfrm xmlns:a="http://schemas.openxmlformats.org/drawingml/2006/main">
            <a:off x="762000" y="2907030"/>
            <a:ext cx="10668000" cy="3629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1F2937"/>
                </a:solidFill>
                <a:latin typeface="Nimbus Sans"/>
                <a:ea typeface="Nimbus Sans"/>
                <a:cs typeface="Nimbus Sans"/>
              </a:defRPr>
            </a:pPr>
            <a:r>
              <a:rPr sz="2325" b="0">
                <a:solidFill>
                  <a:srgbClr val="1F2937"/>
                </a:solidFill>
                <a:latin typeface="Nimbus Sans"/>
                <a:ea typeface="Nimbus Sans"/>
                <a:cs typeface="Nimbus Sans"/>
              </a:rPr>
              <a:t>Defend how each choice reduces uncertainty.</a:t>
            </a:r>
          </a:p>
        </p:txBody>
      </p:sp>
      <p:sp>
        <p:nvSpPr>
          <p:cNvPr id="12" name="Acknowledge a further question your choices leave open.">
            <a:extLst xmlns:a="http://schemas.openxmlformats.org/drawingml/2006/main">
              <a:ext uri="{FF2B5EF4-FFF2-40B4-BE49-F238E27FC236}">
                <a16:creationId xmlns:a16="http://schemas.microsoft.com/office/drawing/2014/main" id="{F90269C0-C431-4632-822C-EB88559232E8}"/>
              </a:ext>
            </a:extLst>
          </p:cNvPr>
          <p:cNvSpPr>
            <a:spLocks xmlns:a="http://schemas.openxmlformats.org/drawingml/2006/main" noGrp="1"/>
          </p:cNvSpPr>
          <p:nvPr/>
        </p:nvSpPr>
        <p:spPr>
          <a:xfrm xmlns:a="http://schemas.openxmlformats.org/drawingml/2006/main">
            <a:off x="762000" y="3460433"/>
            <a:ext cx="10668000" cy="3629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1F2937"/>
                </a:solidFill>
                <a:latin typeface="Nimbus Sans"/>
                <a:ea typeface="Nimbus Sans"/>
                <a:cs typeface="Nimbus Sans"/>
              </a:defRPr>
            </a:pPr>
            <a:r>
              <a:rPr sz="2325" b="0">
                <a:solidFill>
                  <a:srgbClr val="1F2937"/>
                </a:solidFill>
                <a:latin typeface="Nimbus Sans"/>
                <a:ea typeface="Nimbus Sans"/>
                <a:cs typeface="Nimbus Sans"/>
              </a:rPr>
              <a:t>Acknowledge a further question your choices leave open.</a:t>
            </a:r>
          </a:p>
        </p:txBody>
      </p:sp>
    </p:spTree>
    <p:extLst>
      <p:ext uri="{BB962C8B-B14F-4D97-AF65-F5344CB8AC3E}">
        <p14:creationId xmlns:p14="http://schemas.microsoft.com/office/powerpoint/2010/main" val="1351123403"/>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surface">
            <a:extLst xmlns:a="http://schemas.openxmlformats.org/drawingml/2006/main">
              <a:ext uri="{FF2B5EF4-FFF2-40B4-BE49-F238E27FC236}">
                <a16:creationId xmlns:a16="http://schemas.microsoft.com/office/drawing/2014/main" id="{DF944A1C-3C04-4A08-BAC9-58BCB6C151D0}"/>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4D82A0"/>
          </a:solidFill>
          <a:ln xmlns:a="http://schemas.openxmlformats.org/drawingml/2006/main" w="0">
            <a:noFill/>
          </a:ln>
        </p:spPr>
      </p:sp>
      <p:sp>
        <p:nvSpPr>
          <p:cNvPr id="2" name="surface">
            <a:extLst xmlns:a="http://schemas.openxmlformats.org/drawingml/2006/main">
              <a:ext uri="{FF2B5EF4-FFF2-40B4-BE49-F238E27FC236}">
                <a16:creationId xmlns:a16="http://schemas.microsoft.com/office/drawing/2014/main" id="{79C1CDB9-64B6-490A-8782-74DBD185E16B}"/>
              </a:ext>
            </a:extLst>
          </p:cNvPr>
          <p:cNvSpPr>
            <a:spLocks xmlns:a="http://schemas.openxmlformats.org/drawingml/2006/main" noGrp="1"/>
          </p:cNvSpPr>
          <p:nvPr/>
        </p:nvSpPr>
        <p:spPr>
          <a:xfrm xmlns:a="http://schemas.openxmlformats.org/drawingml/2006/main">
            <a:off x="457200" y="400050"/>
            <a:ext cx="11277600" cy="485775"/>
          </a:xfrm>
          <a:prstGeom xmlns:a="http://schemas.openxmlformats.org/drawingml/2006/main" prst="rect">
            <a:avLst/>
          </a:prstGeom>
          <a:solidFill xmlns:a="http://schemas.openxmlformats.org/drawingml/2006/main">
            <a:srgbClr val="E4EDF2"/>
          </a:solidFill>
          <a:ln xmlns:a="http://schemas.openxmlformats.org/drawingml/2006/main" w="0">
            <a:noFill/>
          </a:ln>
        </p:spPr>
      </p:sp>
      <p:sp>
        <p:nvSpPr>
          <p:cNvPr id="3" name="surface">
            <a:extLst xmlns:a="http://schemas.openxmlformats.org/drawingml/2006/main">
              <a:ext uri="{FF2B5EF4-FFF2-40B4-BE49-F238E27FC236}">
                <a16:creationId xmlns:a16="http://schemas.microsoft.com/office/drawing/2014/main" id="{33F81999-ECCF-4986-9F21-111F92DC89CF}"/>
              </a:ext>
            </a:extLst>
          </p:cNvPr>
          <p:cNvSpPr>
            <a:spLocks xmlns:a="http://schemas.openxmlformats.org/drawingml/2006/main" noGrp="1"/>
          </p:cNvSpPr>
          <p:nvPr/>
        </p:nvSpPr>
        <p:spPr>
          <a:xfrm xmlns:a="http://schemas.openxmlformats.org/drawingml/2006/main">
            <a:off x="457200" y="400050"/>
            <a:ext cx="66675" cy="485775"/>
          </a:xfrm>
          <a:prstGeom xmlns:a="http://schemas.openxmlformats.org/drawingml/2006/main" prst="rect">
            <a:avLst/>
          </a:prstGeom>
          <a:solidFill xmlns:a="http://schemas.openxmlformats.org/drawingml/2006/main">
            <a:srgbClr val="4D82A0"/>
          </a:solidFill>
          <a:ln xmlns:a="http://schemas.openxmlformats.org/drawingml/2006/main" w="0">
            <a:noFill/>
          </a:ln>
        </p:spPr>
      </p:sp>
      <p:sp>
        <p:nvSpPr>
          <p:cNvPr id="4" name="LAUNCH SCIENCE">
            <a:extLst xmlns:a="http://schemas.openxmlformats.org/drawingml/2006/main">
              <a:ext uri="{FF2B5EF4-FFF2-40B4-BE49-F238E27FC236}">
                <a16:creationId xmlns:a16="http://schemas.microsoft.com/office/drawing/2014/main" id="{B322F233-F8B6-4B51-A9B8-553F8DCF31AC}"/>
              </a:ext>
            </a:extLst>
          </p:cNvPr>
          <p:cNvSpPr>
            <a:spLocks xmlns:a="http://schemas.openxmlformats.org/drawingml/2006/main" noGrp="1"/>
          </p:cNvSpPr>
          <p:nvPr/>
        </p:nvSpPr>
        <p:spPr>
          <a:xfrm xmlns:a="http://schemas.openxmlformats.org/drawingml/2006/main">
            <a:off x="685800" y="504825"/>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1">
                <a:solidFill>
                  <a:srgbClr val="4D82A0"/>
                </a:solidFill>
                <a:latin typeface="Nimbus Sans"/>
                <a:ea typeface="Nimbus Sans"/>
                <a:cs typeface="Nimbus Sans"/>
              </a:defRPr>
            </a:pPr>
            <a:r>
              <a:rPr sz="1800" b="1">
                <a:solidFill>
                  <a:srgbClr val="4D82A0"/>
                </a:solidFill>
                <a:latin typeface="Nimbus Sans"/>
                <a:ea typeface="Nimbus Sans"/>
                <a:cs typeface="Nimbus Sans"/>
              </a:rPr>
              <a:t>LAUNCH SCIENCE</a:t>
            </a:r>
          </a:p>
        </p:txBody>
      </p:sp>
      <p:sp>
        <p:nvSpPr>
          <p:cNvPr id="5" name="Hinge">
            <a:extLst xmlns:a="http://schemas.openxmlformats.org/drawingml/2006/main">
              <a:ext uri="{FF2B5EF4-FFF2-40B4-BE49-F238E27FC236}">
                <a16:creationId xmlns:a16="http://schemas.microsoft.com/office/drawing/2014/main" id="{E1C744C2-A961-467C-A65B-1DA54E797150}"/>
              </a:ext>
            </a:extLst>
          </p:cNvPr>
          <p:cNvSpPr>
            <a:spLocks xmlns:a="http://schemas.openxmlformats.org/drawingml/2006/main" noGrp="1"/>
          </p:cNvSpPr>
          <p:nvPr/>
        </p:nvSpPr>
        <p:spPr>
          <a:xfrm xmlns:a="http://schemas.openxmlformats.org/drawingml/2006/main">
            <a:off x="5943600" y="504825"/>
            <a:ext cx="3752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1">
                <a:solidFill>
                  <a:srgbClr val="4D82A0"/>
                </a:solidFill>
                <a:latin typeface="Nimbus Sans"/>
                <a:ea typeface="Nimbus Sans"/>
                <a:cs typeface="Nimbus Sans"/>
              </a:defRPr>
            </a:pPr>
            <a:r>
              <a:rPr sz="1800" b="1">
                <a:solidFill>
                  <a:srgbClr val="4D82A0"/>
                </a:solidFill>
                <a:latin typeface="Nimbus Sans"/>
                <a:ea typeface="Nimbus Sans"/>
                <a:cs typeface="Nimbus Sans"/>
              </a:rPr>
              <a:t>Hinge</a:t>
            </a:r>
          </a:p>
        </p:txBody>
      </p:sp>
      <p:sp>
        <p:nvSpPr>
          <p:cNvPr id="6" name="3 min">
            <a:extLst xmlns:a="http://schemas.openxmlformats.org/drawingml/2006/main">
              <a:ext uri="{FF2B5EF4-FFF2-40B4-BE49-F238E27FC236}">
                <a16:creationId xmlns:a16="http://schemas.microsoft.com/office/drawing/2014/main" id="{A81B134A-9630-427C-BDBC-6055C8E1ED02}"/>
              </a:ext>
            </a:extLst>
          </p:cNvPr>
          <p:cNvSpPr>
            <a:spLocks xmlns:a="http://schemas.openxmlformats.org/drawingml/2006/main" noGrp="1"/>
          </p:cNvSpPr>
          <p:nvPr/>
        </p:nvSpPr>
        <p:spPr>
          <a:xfrm xmlns:a="http://schemas.openxmlformats.org/drawingml/2006/main">
            <a:off x="10029825" y="504825"/>
            <a:ext cx="14573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725" b="0">
                <a:solidFill>
                  <a:srgbClr val="465465"/>
                </a:solidFill>
                <a:latin typeface="Nimbus Sans"/>
                <a:ea typeface="Nimbus Sans"/>
                <a:cs typeface="Nimbus Sans"/>
              </a:defRPr>
            </a:pPr>
            <a:r>
              <a:rPr sz="1725" b="0">
                <a:solidFill>
                  <a:srgbClr val="465465"/>
                </a:solidFill>
                <a:latin typeface="Nimbus Sans"/>
                <a:ea typeface="Nimbus Sans"/>
                <a:cs typeface="Nimbus Sans"/>
              </a:rPr>
              <a:t>3 min</a:t>
            </a:r>
          </a:p>
        </p:txBody>
      </p:sp>
      <p:sp>
        <p:nvSpPr>
          <p:cNvPr id="7" name="Which explanation is scientifically sound?">
            <a:extLst xmlns:a="http://schemas.openxmlformats.org/drawingml/2006/main">
              <a:ext uri="{FF2B5EF4-FFF2-40B4-BE49-F238E27FC236}">
                <a16:creationId xmlns:a16="http://schemas.microsoft.com/office/drawing/2014/main" id="{7B1DFEB1-DB3D-4F37-A10B-AFB86176580F}"/>
              </a:ext>
            </a:extLst>
          </p:cNvPr>
          <p:cNvSpPr>
            <a:spLocks xmlns:a="http://schemas.openxmlformats.org/drawingml/2006/main" noGrp="1"/>
          </p:cNvSpPr>
          <p:nvPr/>
        </p:nvSpPr>
        <p:spPr>
          <a:xfrm xmlns:a="http://schemas.openxmlformats.org/drawingml/2006/main">
            <a:off x="533400" y="1066800"/>
            <a:ext cx="11125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3000" b="1">
                <a:solidFill>
                  <a:srgbClr val="1F2937"/>
                </a:solidFill>
                <a:latin typeface="Nimbus Sans"/>
                <a:ea typeface="Nimbus Sans"/>
                <a:cs typeface="Nimbus Sans"/>
              </a:defRPr>
            </a:pPr>
            <a:r>
              <a:rPr sz="3000" b="1">
                <a:solidFill>
                  <a:srgbClr val="1F2937"/>
                </a:solidFill>
                <a:latin typeface="Nimbus Sans"/>
                <a:ea typeface="Nimbus Sans"/>
                <a:cs typeface="Nimbus Sans"/>
              </a:rPr>
              <a:t>Which explanation is scientifically sound?</a:t>
            </a:r>
          </a:p>
        </p:txBody>
      </p:sp>
      <p:sp>
        <p:nvSpPr>
          <p:cNvPr id="8" name="surface">
            <a:extLst xmlns:a="http://schemas.openxmlformats.org/drawingml/2006/main">
              <a:ext uri="{FF2B5EF4-FFF2-40B4-BE49-F238E27FC236}">
                <a16:creationId xmlns:a16="http://schemas.microsoft.com/office/drawing/2014/main" id="{980EB1F6-424C-44CC-ACD3-422A6A05C3E9}"/>
              </a:ext>
            </a:extLst>
          </p:cNvPr>
          <p:cNvSpPr>
            <a:spLocks xmlns:a="http://schemas.openxmlformats.org/drawingml/2006/main" noGrp="1"/>
          </p:cNvSpPr>
          <p:nvPr/>
        </p:nvSpPr>
        <p:spPr>
          <a:xfrm xmlns:a="http://schemas.openxmlformats.org/drawingml/2006/main">
            <a:off x="457200" y="6496050"/>
            <a:ext cx="11277600" cy="9525"/>
          </a:xfrm>
          <a:prstGeom xmlns:a="http://schemas.openxmlformats.org/drawingml/2006/main" prst="rect">
            <a:avLst/>
          </a:prstGeom>
          <a:solidFill xmlns:a="http://schemas.openxmlformats.org/drawingml/2006/main">
            <a:srgbClr val="D8DDE2"/>
          </a:solidFill>
          <a:ln xmlns:a="http://schemas.openxmlformats.org/drawingml/2006/main" w="0">
            <a:noFill/>
          </a:ln>
        </p:spPr>
      </p:sp>
      <p:sp>
        <p:nvSpPr>
          <p:cNvPr id="9" name="Genetic engineering: change, test, decide">
            <a:extLst xmlns:a="http://schemas.openxmlformats.org/drawingml/2006/main">
              <a:ext uri="{FF2B5EF4-FFF2-40B4-BE49-F238E27FC236}">
                <a16:creationId xmlns:a16="http://schemas.microsoft.com/office/drawing/2014/main" id="{77B5FA9B-0CA8-4238-81B3-6F2D6D2D91E8}"/>
              </a:ext>
            </a:extLst>
          </p:cNvPr>
          <p:cNvSpPr>
            <a:spLocks xmlns:a="http://schemas.openxmlformats.org/drawingml/2006/main" noGrp="1"/>
          </p:cNvSpPr>
          <p:nvPr/>
        </p:nvSpPr>
        <p:spPr>
          <a:xfrm xmlns:a="http://schemas.openxmlformats.org/drawingml/2006/main">
            <a:off x="533400" y="6600825"/>
            <a:ext cx="10572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Genetic engineering: change, test, decide</a:t>
            </a:r>
          </a:p>
        </p:txBody>
      </p:sp>
      <p:sp>
        <p:nvSpPr>
          <p:cNvPr id="10" name="9 / 15">
            <a:extLst xmlns:a="http://schemas.openxmlformats.org/drawingml/2006/main">
              <a:ext uri="{FF2B5EF4-FFF2-40B4-BE49-F238E27FC236}">
                <a16:creationId xmlns:a16="http://schemas.microsoft.com/office/drawing/2014/main" id="{0BCC7715-9C6E-4F5B-9494-B192C0A75993}"/>
              </a:ext>
            </a:extLst>
          </p:cNvPr>
          <p:cNvSpPr>
            <a:spLocks xmlns:a="http://schemas.openxmlformats.org/drawingml/2006/main" noGrp="1"/>
          </p:cNvSpPr>
          <p:nvPr/>
        </p:nvSpPr>
        <p:spPr>
          <a:xfrm xmlns:a="http://schemas.openxmlformats.org/drawingml/2006/main">
            <a:off x="10953750" y="6600825"/>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9 / 15</a:t>
            </a:r>
          </a:p>
        </p:txBody>
      </p:sp>
      <p:sp>
        <p:nvSpPr>
          <p:cNvPr id="11" name="Choose the statement you would keep in a textbook.">
            <a:extLst xmlns:a="http://schemas.openxmlformats.org/drawingml/2006/main">
              <a:ext uri="{FF2B5EF4-FFF2-40B4-BE49-F238E27FC236}">
                <a16:creationId xmlns:a16="http://schemas.microsoft.com/office/drawing/2014/main" id="{B2F732AE-089D-428F-AC52-2D078425E282}"/>
              </a:ext>
            </a:extLst>
          </p:cNvPr>
          <p:cNvSpPr>
            <a:spLocks xmlns:a="http://schemas.openxmlformats.org/drawingml/2006/main" noGrp="1"/>
          </p:cNvSpPr>
          <p:nvPr/>
        </p:nvSpPr>
        <p:spPr>
          <a:xfrm xmlns:a="http://schemas.openxmlformats.org/drawingml/2006/main">
            <a:off x="533400" y="1866900"/>
            <a:ext cx="111252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175" b="0">
                <a:solidFill>
                  <a:srgbClr val="1F2937"/>
                </a:solidFill>
                <a:latin typeface="Nimbus Sans"/>
                <a:ea typeface="Nimbus Sans"/>
                <a:cs typeface="Nimbus Sans"/>
              </a:defRPr>
            </a:pPr>
            <a:r>
              <a:rPr sz="2175" b="0">
                <a:solidFill>
                  <a:srgbClr val="1F2937"/>
                </a:solidFill>
                <a:latin typeface="Nimbus Sans"/>
                <a:ea typeface="Nimbus Sans"/>
                <a:cs typeface="Nimbus Sans"/>
              </a:rPr>
              <a:t>Choose the statement you would keep in a textbook.</a:t>
            </a:r>
          </a:p>
        </p:txBody>
      </p:sp>
      <p:sp>
        <p:nvSpPr>
          <p:cNvPr id="12" name="surface">
            <a:extLst xmlns:a="http://schemas.openxmlformats.org/drawingml/2006/main">
              <a:ext uri="{FF2B5EF4-FFF2-40B4-BE49-F238E27FC236}">
                <a16:creationId xmlns:a16="http://schemas.microsoft.com/office/drawing/2014/main" id="{81E6CE91-14CF-4595-B20F-7AD963E534DC}"/>
              </a:ext>
            </a:extLst>
          </p:cNvPr>
          <p:cNvSpPr>
            <a:spLocks xmlns:a="http://schemas.openxmlformats.org/drawingml/2006/main" noGrp="1"/>
          </p:cNvSpPr>
          <p:nvPr/>
        </p:nvSpPr>
        <p:spPr>
          <a:xfrm xmlns:a="http://schemas.openxmlformats.org/drawingml/2006/main">
            <a:off x="533400" y="2352675"/>
            <a:ext cx="11125200" cy="892969"/>
          </a:xfrm>
          <a:prstGeom xmlns:a="http://schemas.openxmlformats.org/drawingml/2006/main" prst="rect">
            <a:avLst/>
          </a:prstGeom>
          <a:solidFill xmlns:a="http://schemas.openxmlformats.org/drawingml/2006/main">
            <a:srgbClr val="E4EDF2"/>
          </a:solidFill>
          <a:ln xmlns:a="http://schemas.openxmlformats.org/drawingml/2006/main" w="0">
            <a:noFill/>
          </a:ln>
        </p:spPr>
      </p:sp>
      <p:sp>
        <p:nvSpPr>
          <p:cNvPr id="13" name="surface">
            <a:extLst xmlns:a="http://schemas.openxmlformats.org/drawingml/2006/main">
              <a:ext uri="{FF2B5EF4-FFF2-40B4-BE49-F238E27FC236}">
                <a16:creationId xmlns:a16="http://schemas.microsoft.com/office/drawing/2014/main" id="{BB84DB03-C48D-4085-BF9F-133FD95DCD4C}"/>
              </a:ext>
            </a:extLst>
          </p:cNvPr>
          <p:cNvSpPr>
            <a:spLocks xmlns:a="http://schemas.openxmlformats.org/drawingml/2006/main" noGrp="1"/>
          </p:cNvSpPr>
          <p:nvPr/>
        </p:nvSpPr>
        <p:spPr>
          <a:xfrm xmlns:a="http://schemas.openxmlformats.org/drawingml/2006/main">
            <a:off x="533400" y="2352675"/>
            <a:ext cx="57150" cy="892969"/>
          </a:xfrm>
          <a:prstGeom xmlns:a="http://schemas.openxmlformats.org/drawingml/2006/main" prst="rect">
            <a:avLst/>
          </a:prstGeom>
          <a:solidFill xmlns:a="http://schemas.openxmlformats.org/drawingml/2006/main">
            <a:srgbClr val="4D82A0"/>
          </a:solidFill>
          <a:ln xmlns:a="http://schemas.openxmlformats.org/drawingml/2006/main" w="0">
            <a:noFill/>
          </a:ln>
        </p:spPr>
      </p:sp>
      <p:sp>
        <p:nvSpPr>
          <p:cNvPr id="14" name="A">
            <a:extLst xmlns:a="http://schemas.openxmlformats.org/drawingml/2006/main">
              <a:ext uri="{FF2B5EF4-FFF2-40B4-BE49-F238E27FC236}">
                <a16:creationId xmlns:a16="http://schemas.microsoft.com/office/drawing/2014/main" id="{83017DF5-AD78-440E-8624-2B692F0FDB6B}"/>
              </a:ext>
            </a:extLst>
          </p:cNvPr>
          <p:cNvSpPr>
            <a:spLocks xmlns:a="http://schemas.openxmlformats.org/drawingml/2006/main" noGrp="1"/>
          </p:cNvSpPr>
          <p:nvPr/>
        </p:nvSpPr>
        <p:spPr>
          <a:xfrm xmlns:a="http://schemas.openxmlformats.org/drawingml/2006/main">
            <a:off x="733425" y="2495550"/>
            <a:ext cx="476250" cy="7024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250" b="1">
                <a:solidFill>
                  <a:srgbClr val="4D82A0"/>
                </a:solidFill>
                <a:latin typeface="Nimbus Sans"/>
                <a:ea typeface="Nimbus Sans"/>
                <a:cs typeface="Nimbus Sans"/>
              </a:defRPr>
            </a:pPr>
            <a:r>
              <a:rPr sz="2250" b="1">
                <a:solidFill>
                  <a:srgbClr val="4D82A0"/>
                </a:solidFill>
                <a:latin typeface="Nimbus Sans"/>
                <a:ea typeface="Nimbus Sans"/>
                <a:cs typeface="Nimbus Sans"/>
              </a:rPr>
              <a:t>A</a:t>
            </a:r>
          </a:p>
        </p:txBody>
      </p:sp>
      <p:sp>
        <p:nvSpPr>
          <p:cNvPr id="15" name="Engineering always transfers DNA between species.">
            <a:extLst xmlns:a="http://schemas.openxmlformats.org/drawingml/2006/main">
              <a:ext uri="{FF2B5EF4-FFF2-40B4-BE49-F238E27FC236}">
                <a16:creationId xmlns:a16="http://schemas.microsoft.com/office/drawing/2014/main" id="{C02AAE9F-75EA-47BF-B35D-8E32FE9208A8}"/>
              </a:ext>
            </a:extLst>
          </p:cNvPr>
          <p:cNvSpPr>
            <a:spLocks xmlns:a="http://schemas.openxmlformats.org/drawingml/2006/main" noGrp="1"/>
          </p:cNvSpPr>
          <p:nvPr/>
        </p:nvSpPr>
        <p:spPr>
          <a:xfrm xmlns:a="http://schemas.openxmlformats.org/drawingml/2006/main">
            <a:off x="1266825" y="2495550"/>
            <a:ext cx="10144125" cy="683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100" b="0">
                <a:solidFill>
                  <a:srgbClr val="1F2937"/>
                </a:solidFill>
                <a:latin typeface="Nimbus Sans"/>
                <a:ea typeface="Nimbus Sans"/>
                <a:cs typeface="Nimbus Sans"/>
              </a:defRPr>
            </a:pPr>
            <a:r>
              <a:rPr sz="2100" b="0">
                <a:solidFill>
                  <a:srgbClr val="1F2937"/>
                </a:solidFill>
                <a:latin typeface="Nimbus Sans"/>
                <a:ea typeface="Nimbus Sans"/>
                <a:cs typeface="Nimbus Sans"/>
              </a:rPr>
              <a:t>Engineering always transfers DNA between species.</a:t>
            </a:r>
          </a:p>
        </p:txBody>
      </p:sp>
      <p:sp>
        <p:nvSpPr>
          <p:cNvPr id="16" name="surface">
            <a:extLst xmlns:a="http://schemas.openxmlformats.org/drawingml/2006/main">
              <a:ext uri="{FF2B5EF4-FFF2-40B4-BE49-F238E27FC236}">
                <a16:creationId xmlns:a16="http://schemas.microsoft.com/office/drawing/2014/main" id="{33A69A09-44E7-4291-AD67-45817E765FCE}"/>
              </a:ext>
            </a:extLst>
          </p:cNvPr>
          <p:cNvSpPr>
            <a:spLocks xmlns:a="http://schemas.openxmlformats.org/drawingml/2006/main" noGrp="1"/>
          </p:cNvSpPr>
          <p:nvPr/>
        </p:nvSpPr>
        <p:spPr>
          <a:xfrm xmlns:a="http://schemas.openxmlformats.org/drawingml/2006/main">
            <a:off x="533400" y="3359944"/>
            <a:ext cx="11125200" cy="892969"/>
          </a:xfrm>
          <a:prstGeom xmlns:a="http://schemas.openxmlformats.org/drawingml/2006/main" prst="rect">
            <a:avLst/>
          </a:prstGeom>
          <a:solidFill xmlns:a="http://schemas.openxmlformats.org/drawingml/2006/main">
            <a:srgbClr val="E4EDF2"/>
          </a:solidFill>
          <a:ln xmlns:a="http://schemas.openxmlformats.org/drawingml/2006/main" w="0">
            <a:noFill/>
          </a:ln>
        </p:spPr>
      </p:sp>
      <p:sp>
        <p:nvSpPr>
          <p:cNvPr id="17" name="surface">
            <a:extLst xmlns:a="http://schemas.openxmlformats.org/drawingml/2006/main">
              <a:ext uri="{FF2B5EF4-FFF2-40B4-BE49-F238E27FC236}">
                <a16:creationId xmlns:a16="http://schemas.microsoft.com/office/drawing/2014/main" id="{49C1B970-C8ED-436E-ACFB-C3809FDEE0C3}"/>
              </a:ext>
            </a:extLst>
          </p:cNvPr>
          <p:cNvSpPr>
            <a:spLocks xmlns:a="http://schemas.openxmlformats.org/drawingml/2006/main" noGrp="1"/>
          </p:cNvSpPr>
          <p:nvPr/>
        </p:nvSpPr>
        <p:spPr>
          <a:xfrm xmlns:a="http://schemas.openxmlformats.org/drawingml/2006/main">
            <a:off x="533400" y="3359944"/>
            <a:ext cx="57150" cy="892969"/>
          </a:xfrm>
          <a:prstGeom xmlns:a="http://schemas.openxmlformats.org/drawingml/2006/main" prst="rect">
            <a:avLst/>
          </a:prstGeom>
          <a:solidFill xmlns:a="http://schemas.openxmlformats.org/drawingml/2006/main">
            <a:srgbClr val="4D82A0"/>
          </a:solidFill>
          <a:ln xmlns:a="http://schemas.openxmlformats.org/drawingml/2006/main" w="0">
            <a:noFill/>
          </a:ln>
        </p:spPr>
      </p:sp>
      <p:sp>
        <p:nvSpPr>
          <p:cNvPr id="18" name="B">
            <a:extLst xmlns:a="http://schemas.openxmlformats.org/drawingml/2006/main">
              <a:ext uri="{FF2B5EF4-FFF2-40B4-BE49-F238E27FC236}">
                <a16:creationId xmlns:a16="http://schemas.microsoft.com/office/drawing/2014/main" id="{84DE5FCC-1B65-4ADB-AAEE-B93C0D578B5F}"/>
              </a:ext>
            </a:extLst>
          </p:cNvPr>
          <p:cNvSpPr>
            <a:spLocks xmlns:a="http://schemas.openxmlformats.org/drawingml/2006/main" noGrp="1"/>
          </p:cNvSpPr>
          <p:nvPr/>
        </p:nvSpPr>
        <p:spPr>
          <a:xfrm xmlns:a="http://schemas.openxmlformats.org/drawingml/2006/main">
            <a:off x="733425" y="3502819"/>
            <a:ext cx="476250" cy="7024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250" b="1">
                <a:solidFill>
                  <a:srgbClr val="4D82A0"/>
                </a:solidFill>
                <a:latin typeface="Nimbus Sans"/>
                <a:ea typeface="Nimbus Sans"/>
                <a:cs typeface="Nimbus Sans"/>
              </a:defRPr>
            </a:pPr>
            <a:r>
              <a:rPr sz="2250" b="1">
                <a:solidFill>
                  <a:srgbClr val="4D82A0"/>
                </a:solidFill>
                <a:latin typeface="Nimbus Sans"/>
                <a:ea typeface="Nimbus Sans"/>
                <a:cs typeface="Nimbus Sans"/>
              </a:rPr>
              <a:t>B</a:t>
            </a:r>
          </a:p>
        </p:txBody>
      </p:sp>
      <p:sp>
        <p:nvSpPr>
          <p:cNvPr id="19" name="An insulin-producing bacterium becomes human.">
            <a:extLst xmlns:a="http://schemas.openxmlformats.org/drawingml/2006/main">
              <a:ext uri="{FF2B5EF4-FFF2-40B4-BE49-F238E27FC236}">
                <a16:creationId xmlns:a16="http://schemas.microsoft.com/office/drawing/2014/main" id="{50844E95-3EAC-4766-AFD4-997F8FBD5760}"/>
              </a:ext>
            </a:extLst>
          </p:cNvPr>
          <p:cNvSpPr>
            <a:spLocks xmlns:a="http://schemas.openxmlformats.org/drawingml/2006/main" noGrp="1"/>
          </p:cNvSpPr>
          <p:nvPr/>
        </p:nvSpPr>
        <p:spPr>
          <a:xfrm xmlns:a="http://schemas.openxmlformats.org/drawingml/2006/main">
            <a:off x="1266825" y="3502819"/>
            <a:ext cx="10144125" cy="683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100" b="0">
                <a:solidFill>
                  <a:srgbClr val="1F2937"/>
                </a:solidFill>
                <a:latin typeface="Nimbus Sans"/>
                <a:ea typeface="Nimbus Sans"/>
                <a:cs typeface="Nimbus Sans"/>
              </a:defRPr>
            </a:pPr>
            <a:r>
              <a:rPr sz="2100" b="0">
                <a:solidFill>
                  <a:srgbClr val="1F2937"/>
                </a:solidFill>
                <a:latin typeface="Nimbus Sans"/>
                <a:ea typeface="Nimbus Sans"/>
                <a:cs typeface="Nimbus Sans"/>
              </a:rPr>
              <a:t>An insulin-producing bacterium becomes human.</a:t>
            </a:r>
          </a:p>
        </p:txBody>
      </p:sp>
      <p:sp>
        <p:nvSpPr>
          <p:cNvPr id="20" name="surface">
            <a:extLst xmlns:a="http://schemas.openxmlformats.org/drawingml/2006/main">
              <a:ext uri="{FF2B5EF4-FFF2-40B4-BE49-F238E27FC236}">
                <a16:creationId xmlns:a16="http://schemas.microsoft.com/office/drawing/2014/main" id="{6A8094EC-0CFB-402A-9135-9FA1F51E26EF}"/>
              </a:ext>
            </a:extLst>
          </p:cNvPr>
          <p:cNvSpPr>
            <a:spLocks xmlns:a="http://schemas.openxmlformats.org/drawingml/2006/main" noGrp="1"/>
          </p:cNvSpPr>
          <p:nvPr/>
        </p:nvSpPr>
        <p:spPr>
          <a:xfrm xmlns:a="http://schemas.openxmlformats.org/drawingml/2006/main">
            <a:off x="533400" y="4367213"/>
            <a:ext cx="11125200" cy="892969"/>
          </a:xfrm>
          <a:prstGeom xmlns:a="http://schemas.openxmlformats.org/drawingml/2006/main" prst="rect">
            <a:avLst/>
          </a:prstGeom>
          <a:solidFill xmlns:a="http://schemas.openxmlformats.org/drawingml/2006/main">
            <a:srgbClr val="E4EDF2"/>
          </a:solidFill>
          <a:ln xmlns:a="http://schemas.openxmlformats.org/drawingml/2006/main" w="0">
            <a:noFill/>
          </a:ln>
        </p:spPr>
      </p:sp>
      <p:sp>
        <p:nvSpPr>
          <p:cNvPr id="21" name="surface">
            <a:extLst xmlns:a="http://schemas.openxmlformats.org/drawingml/2006/main">
              <a:ext uri="{FF2B5EF4-FFF2-40B4-BE49-F238E27FC236}">
                <a16:creationId xmlns:a16="http://schemas.microsoft.com/office/drawing/2014/main" id="{CB6D2C8B-5E45-4B5E-948E-6B56B65E08B7}"/>
              </a:ext>
            </a:extLst>
          </p:cNvPr>
          <p:cNvSpPr>
            <a:spLocks xmlns:a="http://schemas.openxmlformats.org/drawingml/2006/main" noGrp="1"/>
          </p:cNvSpPr>
          <p:nvPr/>
        </p:nvSpPr>
        <p:spPr>
          <a:xfrm xmlns:a="http://schemas.openxmlformats.org/drawingml/2006/main">
            <a:off x="533400" y="4367213"/>
            <a:ext cx="57150" cy="892969"/>
          </a:xfrm>
          <a:prstGeom xmlns:a="http://schemas.openxmlformats.org/drawingml/2006/main" prst="rect">
            <a:avLst/>
          </a:prstGeom>
          <a:solidFill xmlns:a="http://schemas.openxmlformats.org/drawingml/2006/main">
            <a:srgbClr val="4D82A0"/>
          </a:solidFill>
          <a:ln xmlns:a="http://schemas.openxmlformats.org/drawingml/2006/main" w="0">
            <a:noFill/>
          </a:ln>
        </p:spPr>
      </p:sp>
      <p:sp>
        <p:nvSpPr>
          <p:cNvPr id="22" name="C">
            <a:extLst xmlns:a="http://schemas.openxmlformats.org/drawingml/2006/main">
              <a:ext uri="{FF2B5EF4-FFF2-40B4-BE49-F238E27FC236}">
                <a16:creationId xmlns:a16="http://schemas.microsoft.com/office/drawing/2014/main" id="{CD373214-BF0A-42A1-B296-8E0EE2082BA6}"/>
              </a:ext>
            </a:extLst>
          </p:cNvPr>
          <p:cNvSpPr>
            <a:spLocks xmlns:a="http://schemas.openxmlformats.org/drawingml/2006/main" noGrp="1"/>
          </p:cNvSpPr>
          <p:nvPr/>
        </p:nvSpPr>
        <p:spPr>
          <a:xfrm xmlns:a="http://schemas.openxmlformats.org/drawingml/2006/main">
            <a:off x="733425" y="4510088"/>
            <a:ext cx="476250" cy="7024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250" b="1">
                <a:solidFill>
                  <a:srgbClr val="4D82A0"/>
                </a:solidFill>
                <a:latin typeface="Nimbus Sans"/>
                <a:ea typeface="Nimbus Sans"/>
                <a:cs typeface="Nimbus Sans"/>
              </a:defRPr>
            </a:pPr>
            <a:r>
              <a:rPr sz="2250" b="1">
                <a:solidFill>
                  <a:srgbClr val="4D82A0"/>
                </a:solidFill>
                <a:latin typeface="Nimbus Sans"/>
                <a:ea typeface="Nimbus Sans"/>
                <a:cs typeface="Nimbus Sans"/>
              </a:rPr>
              <a:t>C</a:t>
            </a:r>
          </a:p>
        </p:txBody>
      </p:sp>
      <p:sp>
        <p:nvSpPr>
          <p:cNvPr id="23" name="Engineering alters DNA and may introduce a useful characteristic">
            <a:extLst xmlns:a="http://schemas.openxmlformats.org/drawingml/2006/main">
              <a:ext uri="{FF2B5EF4-FFF2-40B4-BE49-F238E27FC236}">
                <a16:creationId xmlns:a16="http://schemas.microsoft.com/office/drawing/2014/main" id="{B63678B5-CC0D-416A-898A-7CFDD1787DE1}"/>
              </a:ext>
            </a:extLst>
          </p:cNvPr>
          <p:cNvSpPr>
            <a:spLocks xmlns:a="http://schemas.openxmlformats.org/drawingml/2006/main" noGrp="1"/>
          </p:cNvSpPr>
          <p:nvPr/>
        </p:nvSpPr>
        <p:spPr>
          <a:xfrm xmlns:a="http://schemas.openxmlformats.org/drawingml/2006/main">
            <a:off x="1266825" y="4510088"/>
            <a:ext cx="10144125" cy="683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100" b="0">
                <a:solidFill>
                  <a:srgbClr val="1F2937"/>
                </a:solidFill>
                <a:latin typeface="Nimbus Sans"/>
                <a:ea typeface="Nimbus Sans"/>
                <a:cs typeface="Nimbus Sans"/>
              </a:defRPr>
            </a:pPr>
            <a:r>
              <a:rPr sz="2100" b="0">
                <a:solidFill>
                  <a:srgbClr val="1F2937"/>
                </a:solidFill>
                <a:latin typeface="Nimbus Sans"/>
                <a:ea typeface="Nimbus Sans"/>
                <a:cs typeface="Nimbus Sans"/>
              </a:rPr>
              <a:t>Engineering alters DNA and may introduce a useful characteristic.</a:t>
            </a:r>
          </a:p>
        </p:txBody>
      </p:sp>
      <p:sp>
        <p:nvSpPr>
          <p:cNvPr id="24" name="surface">
            <a:extLst xmlns:a="http://schemas.openxmlformats.org/drawingml/2006/main">
              <a:ext uri="{FF2B5EF4-FFF2-40B4-BE49-F238E27FC236}">
                <a16:creationId xmlns:a16="http://schemas.microsoft.com/office/drawing/2014/main" id="{AA91120B-8F18-4440-BF9A-4F5BF4EE6879}"/>
              </a:ext>
            </a:extLst>
          </p:cNvPr>
          <p:cNvSpPr>
            <a:spLocks xmlns:a="http://schemas.openxmlformats.org/drawingml/2006/main" noGrp="1"/>
          </p:cNvSpPr>
          <p:nvPr/>
        </p:nvSpPr>
        <p:spPr>
          <a:xfrm xmlns:a="http://schemas.openxmlformats.org/drawingml/2006/main">
            <a:off x="533400" y="5374481"/>
            <a:ext cx="11125200" cy="892969"/>
          </a:xfrm>
          <a:prstGeom xmlns:a="http://schemas.openxmlformats.org/drawingml/2006/main" prst="rect">
            <a:avLst/>
          </a:prstGeom>
          <a:solidFill xmlns:a="http://schemas.openxmlformats.org/drawingml/2006/main">
            <a:srgbClr val="E4EDF2"/>
          </a:solidFill>
          <a:ln xmlns:a="http://schemas.openxmlformats.org/drawingml/2006/main" w="0">
            <a:noFill/>
          </a:ln>
        </p:spPr>
      </p:sp>
      <p:sp>
        <p:nvSpPr>
          <p:cNvPr id="25" name="surface">
            <a:extLst xmlns:a="http://schemas.openxmlformats.org/drawingml/2006/main">
              <a:ext uri="{FF2B5EF4-FFF2-40B4-BE49-F238E27FC236}">
                <a16:creationId xmlns:a16="http://schemas.microsoft.com/office/drawing/2014/main" id="{C186A25F-EC35-4CBA-B4E7-DE711018B2A4}"/>
              </a:ext>
            </a:extLst>
          </p:cNvPr>
          <p:cNvSpPr>
            <a:spLocks xmlns:a="http://schemas.openxmlformats.org/drawingml/2006/main" noGrp="1"/>
          </p:cNvSpPr>
          <p:nvPr/>
        </p:nvSpPr>
        <p:spPr>
          <a:xfrm xmlns:a="http://schemas.openxmlformats.org/drawingml/2006/main">
            <a:off x="533400" y="5374481"/>
            <a:ext cx="57150" cy="892969"/>
          </a:xfrm>
          <a:prstGeom xmlns:a="http://schemas.openxmlformats.org/drawingml/2006/main" prst="rect">
            <a:avLst/>
          </a:prstGeom>
          <a:solidFill xmlns:a="http://schemas.openxmlformats.org/drawingml/2006/main">
            <a:srgbClr val="4D82A0"/>
          </a:solidFill>
          <a:ln xmlns:a="http://schemas.openxmlformats.org/drawingml/2006/main" w="0">
            <a:noFill/>
          </a:ln>
        </p:spPr>
      </p:sp>
      <p:sp>
        <p:nvSpPr>
          <p:cNvPr id="26" name="D">
            <a:extLst xmlns:a="http://schemas.openxmlformats.org/drawingml/2006/main">
              <a:ext uri="{FF2B5EF4-FFF2-40B4-BE49-F238E27FC236}">
                <a16:creationId xmlns:a16="http://schemas.microsoft.com/office/drawing/2014/main" id="{DE6B0B20-D63D-4D66-81C2-E7B1FF90A624}"/>
              </a:ext>
            </a:extLst>
          </p:cNvPr>
          <p:cNvSpPr>
            <a:spLocks xmlns:a="http://schemas.openxmlformats.org/drawingml/2006/main" noGrp="1"/>
          </p:cNvSpPr>
          <p:nvPr/>
        </p:nvSpPr>
        <p:spPr>
          <a:xfrm xmlns:a="http://schemas.openxmlformats.org/drawingml/2006/main">
            <a:off x="733425" y="5517356"/>
            <a:ext cx="476250" cy="7024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250" b="1">
                <a:solidFill>
                  <a:srgbClr val="4D82A0"/>
                </a:solidFill>
                <a:latin typeface="Nimbus Sans"/>
                <a:ea typeface="Nimbus Sans"/>
                <a:cs typeface="Nimbus Sans"/>
              </a:defRPr>
            </a:pPr>
            <a:r>
              <a:rPr sz="2250" b="1">
                <a:solidFill>
                  <a:srgbClr val="4D82A0"/>
                </a:solidFill>
                <a:latin typeface="Nimbus Sans"/>
                <a:ea typeface="Nimbus Sans"/>
                <a:cs typeface="Nimbus Sans"/>
              </a:rPr>
              <a:t>D</a:t>
            </a:r>
          </a:p>
        </p:txBody>
      </p:sp>
      <p:sp>
        <p:nvSpPr>
          <p:cNvPr id="27" name="Engineering guarantees that all offspring are safer.">
            <a:extLst xmlns:a="http://schemas.openxmlformats.org/drawingml/2006/main">
              <a:ext uri="{FF2B5EF4-FFF2-40B4-BE49-F238E27FC236}">
                <a16:creationId xmlns:a16="http://schemas.microsoft.com/office/drawing/2014/main" id="{5E6D090D-CB95-4666-A2AB-6EC9AFE90958}"/>
              </a:ext>
            </a:extLst>
          </p:cNvPr>
          <p:cNvSpPr>
            <a:spLocks xmlns:a="http://schemas.openxmlformats.org/drawingml/2006/main" noGrp="1"/>
          </p:cNvSpPr>
          <p:nvPr/>
        </p:nvSpPr>
        <p:spPr>
          <a:xfrm xmlns:a="http://schemas.openxmlformats.org/drawingml/2006/main">
            <a:off x="1266825" y="5517356"/>
            <a:ext cx="10144125" cy="683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100" b="0">
                <a:solidFill>
                  <a:srgbClr val="1F2937"/>
                </a:solidFill>
                <a:latin typeface="Nimbus Sans"/>
                <a:ea typeface="Nimbus Sans"/>
                <a:cs typeface="Nimbus Sans"/>
              </a:defRPr>
            </a:pPr>
            <a:r>
              <a:rPr sz="2100" b="0">
                <a:solidFill>
                  <a:srgbClr val="1F2937"/>
                </a:solidFill>
                <a:latin typeface="Nimbus Sans"/>
                <a:ea typeface="Nimbus Sans"/>
                <a:cs typeface="Nimbus Sans"/>
              </a:rPr>
              <a:t>Engineering guarantees that all offspring are safer.</a:t>
            </a:r>
          </a:p>
        </p:txBody>
      </p:sp>
    </p:spTree>
    <p:extLst>
      <p:ext uri="{BB962C8B-B14F-4D97-AF65-F5344CB8AC3E}">
        <p14:creationId xmlns:p14="http://schemas.microsoft.com/office/powerpoint/2010/main" val="1147909489"/>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urface">
            <a:extLst xmlns:a="http://schemas.openxmlformats.org/drawingml/2006/main">
              <a:ext uri="{FF2B5EF4-FFF2-40B4-BE49-F238E27FC236}">
                <a16:creationId xmlns:a16="http://schemas.microsoft.com/office/drawing/2014/main" id="{4CC9838F-D82C-4A80-946D-2692D7587A5E}"/>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D8A63B"/>
          </a:solidFill>
          <a:ln xmlns:a="http://schemas.openxmlformats.org/drawingml/2006/main" w="0">
            <a:noFill/>
          </a:ln>
        </p:spPr>
      </p:sp>
      <p:sp>
        <p:nvSpPr>
          <p:cNvPr id="2" name="surface">
            <a:extLst xmlns:a="http://schemas.openxmlformats.org/drawingml/2006/main">
              <a:ext uri="{FF2B5EF4-FFF2-40B4-BE49-F238E27FC236}">
                <a16:creationId xmlns:a16="http://schemas.microsoft.com/office/drawing/2014/main" id="{4D40B7BF-BC5E-47F6-8A8A-A305C463FE43}"/>
              </a:ext>
            </a:extLst>
          </p:cNvPr>
          <p:cNvSpPr>
            <a:spLocks xmlns:a="http://schemas.openxmlformats.org/drawingml/2006/main" noGrp="1"/>
          </p:cNvSpPr>
          <p:nvPr/>
        </p:nvSpPr>
        <p:spPr>
          <a:xfrm xmlns:a="http://schemas.openxmlformats.org/drawingml/2006/main">
            <a:off x="457200" y="400050"/>
            <a:ext cx="11277600" cy="485775"/>
          </a:xfrm>
          <a:prstGeom xmlns:a="http://schemas.openxmlformats.org/drawingml/2006/main" prst="rect">
            <a:avLst/>
          </a:prstGeom>
          <a:solidFill xmlns:a="http://schemas.openxmlformats.org/drawingml/2006/main">
            <a:srgbClr val="F8F1D9"/>
          </a:solidFill>
          <a:ln xmlns:a="http://schemas.openxmlformats.org/drawingml/2006/main" w="0">
            <a:noFill/>
          </a:ln>
        </p:spPr>
      </p:sp>
      <p:sp>
        <p:nvSpPr>
          <p:cNvPr id="3" name="surface">
            <a:extLst xmlns:a="http://schemas.openxmlformats.org/drawingml/2006/main">
              <a:ext uri="{FF2B5EF4-FFF2-40B4-BE49-F238E27FC236}">
                <a16:creationId xmlns:a16="http://schemas.microsoft.com/office/drawing/2014/main" id="{CE27F8D1-4D61-4249-9704-E326E38E535B}"/>
              </a:ext>
            </a:extLst>
          </p:cNvPr>
          <p:cNvSpPr>
            <a:spLocks xmlns:a="http://schemas.openxmlformats.org/drawingml/2006/main" noGrp="1"/>
          </p:cNvSpPr>
          <p:nvPr/>
        </p:nvSpPr>
        <p:spPr>
          <a:xfrm xmlns:a="http://schemas.openxmlformats.org/drawingml/2006/main">
            <a:off x="457200" y="400050"/>
            <a:ext cx="66675" cy="485775"/>
          </a:xfrm>
          <a:prstGeom xmlns:a="http://schemas.openxmlformats.org/drawingml/2006/main" prst="rect">
            <a:avLst/>
          </a:prstGeom>
          <a:solidFill xmlns:a="http://schemas.openxmlformats.org/drawingml/2006/main">
            <a:srgbClr val="D8A63B"/>
          </a:solidFill>
          <a:ln xmlns:a="http://schemas.openxmlformats.org/drawingml/2006/main" w="0">
            <a:noFill/>
          </a:ln>
        </p:spPr>
      </p:sp>
      <p:sp>
        <p:nvSpPr>
          <p:cNvPr id="4" name="LAUNCH SCIENCE">
            <a:extLst xmlns:a="http://schemas.openxmlformats.org/drawingml/2006/main">
              <a:ext uri="{FF2B5EF4-FFF2-40B4-BE49-F238E27FC236}">
                <a16:creationId xmlns:a16="http://schemas.microsoft.com/office/drawing/2014/main" id="{28BAAC94-6ACB-4715-B670-AA76B02C45B1}"/>
              </a:ext>
            </a:extLst>
          </p:cNvPr>
          <p:cNvSpPr>
            <a:spLocks xmlns:a="http://schemas.openxmlformats.org/drawingml/2006/main" noGrp="1"/>
          </p:cNvSpPr>
          <p:nvPr/>
        </p:nvSpPr>
        <p:spPr>
          <a:xfrm xmlns:a="http://schemas.openxmlformats.org/drawingml/2006/main">
            <a:off x="685800" y="504825"/>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1">
                <a:solidFill>
                  <a:srgbClr val="D8A63B"/>
                </a:solidFill>
                <a:latin typeface="Nimbus Sans"/>
                <a:ea typeface="Nimbus Sans"/>
                <a:cs typeface="Nimbus Sans"/>
              </a:defRPr>
            </a:pPr>
            <a:r>
              <a:rPr sz="1800" b="1">
                <a:solidFill>
                  <a:srgbClr val="D8A63B"/>
                </a:solidFill>
                <a:latin typeface="Nimbus Sans"/>
                <a:ea typeface="Nimbus Sans"/>
                <a:cs typeface="Nimbus Sans"/>
              </a:rPr>
              <a:t>LAUNCH SCIENCE</a:t>
            </a:r>
          </a:p>
        </p:txBody>
      </p:sp>
      <p:sp>
        <p:nvSpPr>
          <p:cNvPr id="5" name="You do">
            <a:extLst xmlns:a="http://schemas.openxmlformats.org/drawingml/2006/main">
              <a:ext uri="{FF2B5EF4-FFF2-40B4-BE49-F238E27FC236}">
                <a16:creationId xmlns:a16="http://schemas.microsoft.com/office/drawing/2014/main" id="{3030E6FE-CD5B-43DF-8930-9010B3E73DA0}"/>
              </a:ext>
            </a:extLst>
          </p:cNvPr>
          <p:cNvSpPr>
            <a:spLocks xmlns:a="http://schemas.openxmlformats.org/drawingml/2006/main" noGrp="1"/>
          </p:cNvSpPr>
          <p:nvPr/>
        </p:nvSpPr>
        <p:spPr>
          <a:xfrm xmlns:a="http://schemas.openxmlformats.org/drawingml/2006/main">
            <a:off x="5943600" y="504825"/>
            <a:ext cx="3752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1">
                <a:solidFill>
                  <a:srgbClr val="D8A63B"/>
                </a:solidFill>
                <a:latin typeface="Nimbus Sans"/>
                <a:ea typeface="Nimbus Sans"/>
                <a:cs typeface="Nimbus Sans"/>
              </a:defRPr>
            </a:pPr>
            <a:r>
              <a:rPr sz="1800" b="1">
                <a:solidFill>
                  <a:srgbClr val="D8A63B"/>
                </a:solidFill>
                <a:latin typeface="Nimbus Sans"/>
                <a:ea typeface="Nimbus Sans"/>
                <a:cs typeface="Nimbus Sans"/>
              </a:rPr>
              <a:t>You do</a:t>
            </a:r>
          </a:p>
        </p:txBody>
      </p:sp>
      <p:sp>
        <p:nvSpPr>
          <p:cNvPr id="6" name="11 min">
            <a:extLst xmlns:a="http://schemas.openxmlformats.org/drawingml/2006/main">
              <a:ext uri="{FF2B5EF4-FFF2-40B4-BE49-F238E27FC236}">
                <a16:creationId xmlns:a16="http://schemas.microsoft.com/office/drawing/2014/main" id="{C9BF960C-8B32-464A-A026-D99898AD2907}"/>
              </a:ext>
            </a:extLst>
          </p:cNvPr>
          <p:cNvSpPr>
            <a:spLocks xmlns:a="http://schemas.openxmlformats.org/drawingml/2006/main" noGrp="1"/>
          </p:cNvSpPr>
          <p:nvPr/>
        </p:nvSpPr>
        <p:spPr>
          <a:xfrm xmlns:a="http://schemas.openxmlformats.org/drawingml/2006/main">
            <a:off x="10029825" y="504825"/>
            <a:ext cx="14573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725" b="0">
                <a:solidFill>
                  <a:srgbClr val="465465"/>
                </a:solidFill>
                <a:latin typeface="Nimbus Sans"/>
                <a:ea typeface="Nimbus Sans"/>
                <a:cs typeface="Nimbus Sans"/>
              </a:defRPr>
            </a:pPr>
            <a:r>
              <a:rPr sz="1725" b="0">
                <a:solidFill>
                  <a:srgbClr val="465465"/>
                </a:solidFill>
                <a:latin typeface="Nimbus Sans"/>
                <a:ea typeface="Nimbus Sans"/>
                <a:cs typeface="Nimbus Sans"/>
              </a:rPr>
              <a:t>11 min</a:t>
            </a:r>
          </a:p>
        </p:txBody>
      </p:sp>
      <p:sp>
        <p:nvSpPr>
          <p:cNvPr id="7" name="Write a provisional recommendation">
            <a:extLst xmlns:a="http://schemas.openxmlformats.org/drawingml/2006/main">
              <a:ext uri="{FF2B5EF4-FFF2-40B4-BE49-F238E27FC236}">
                <a16:creationId xmlns:a16="http://schemas.microsoft.com/office/drawing/2014/main" id="{2E474ED3-91A2-4D90-8CBB-098A366CDA80}"/>
              </a:ext>
            </a:extLst>
          </p:cNvPr>
          <p:cNvSpPr>
            <a:spLocks xmlns:a="http://schemas.openxmlformats.org/drawingml/2006/main" noGrp="1"/>
          </p:cNvSpPr>
          <p:nvPr/>
        </p:nvSpPr>
        <p:spPr>
          <a:xfrm xmlns:a="http://schemas.openxmlformats.org/drawingml/2006/main">
            <a:off x="533400" y="1066800"/>
            <a:ext cx="11125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3000" b="1">
                <a:solidFill>
                  <a:srgbClr val="1F2937"/>
                </a:solidFill>
                <a:latin typeface="Nimbus Sans"/>
                <a:ea typeface="Nimbus Sans"/>
                <a:cs typeface="Nimbus Sans"/>
              </a:defRPr>
            </a:pPr>
            <a:r>
              <a:rPr sz="3000" b="1">
                <a:solidFill>
                  <a:srgbClr val="1F2937"/>
                </a:solidFill>
                <a:latin typeface="Nimbus Sans"/>
                <a:ea typeface="Nimbus Sans"/>
                <a:cs typeface="Nimbus Sans"/>
              </a:rPr>
              <a:t>Write a provisional recommendation</a:t>
            </a:r>
          </a:p>
        </p:txBody>
      </p:sp>
      <p:sp>
        <p:nvSpPr>
          <p:cNvPr id="8" name="surface">
            <a:extLst xmlns:a="http://schemas.openxmlformats.org/drawingml/2006/main">
              <a:ext uri="{FF2B5EF4-FFF2-40B4-BE49-F238E27FC236}">
                <a16:creationId xmlns:a16="http://schemas.microsoft.com/office/drawing/2014/main" id="{4B175EAC-7D09-4B42-B3CC-26437E53E73A}"/>
              </a:ext>
            </a:extLst>
          </p:cNvPr>
          <p:cNvSpPr>
            <a:spLocks xmlns:a="http://schemas.openxmlformats.org/drawingml/2006/main" noGrp="1"/>
          </p:cNvSpPr>
          <p:nvPr/>
        </p:nvSpPr>
        <p:spPr>
          <a:xfrm xmlns:a="http://schemas.openxmlformats.org/drawingml/2006/main">
            <a:off x="457200" y="6496050"/>
            <a:ext cx="11277600" cy="9525"/>
          </a:xfrm>
          <a:prstGeom xmlns:a="http://schemas.openxmlformats.org/drawingml/2006/main" prst="rect">
            <a:avLst/>
          </a:prstGeom>
          <a:solidFill xmlns:a="http://schemas.openxmlformats.org/drawingml/2006/main">
            <a:srgbClr val="D8DDE2"/>
          </a:solidFill>
          <a:ln xmlns:a="http://schemas.openxmlformats.org/drawingml/2006/main" w="0">
            <a:noFill/>
          </a:ln>
        </p:spPr>
      </p:sp>
      <p:sp>
        <p:nvSpPr>
          <p:cNvPr id="9" name="Genetic engineering: change, test, decide">
            <a:extLst xmlns:a="http://schemas.openxmlformats.org/drawingml/2006/main">
              <a:ext uri="{FF2B5EF4-FFF2-40B4-BE49-F238E27FC236}">
                <a16:creationId xmlns:a16="http://schemas.microsoft.com/office/drawing/2014/main" id="{E6A413C4-9E1F-4B4B-86CC-698196B1A6B7}"/>
              </a:ext>
            </a:extLst>
          </p:cNvPr>
          <p:cNvSpPr>
            <a:spLocks xmlns:a="http://schemas.openxmlformats.org/drawingml/2006/main" noGrp="1"/>
          </p:cNvSpPr>
          <p:nvPr/>
        </p:nvSpPr>
        <p:spPr>
          <a:xfrm xmlns:a="http://schemas.openxmlformats.org/drawingml/2006/main">
            <a:off x="533400" y="6600825"/>
            <a:ext cx="10572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Genetic engineering: change, test, decide</a:t>
            </a:r>
          </a:p>
        </p:txBody>
      </p:sp>
      <p:sp>
        <p:nvSpPr>
          <p:cNvPr id="10" name="10 / 15">
            <a:extLst xmlns:a="http://schemas.openxmlformats.org/drawingml/2006/main">
              <a:ext uri="{FF2B5EF4-FFF2-40B4-BE49-F238E27FC236}">
                <a16:creationId xmlns:a16="http://schemas.microsoft.com/office/drawing/2014/main" id="{36478B54-12CB-4EDC-A206-18E0F834E8AA}"/>
              </a:ext>
            </a:extLst>
          </p:cNvPr>
          <p:cNvSpPr>
            <a:spLocks xmlns:a="http://schemas.openxmlformats.org/drawingml/2006/main" noGrp="1"/>
          </p:cNvSpPr>
          <p:nvPr/>
        </p:nvSpPr>
        <p:spPr>
          <a:xfrm xmlns:a="http://schemas.openxmlformats.org/drawingml/2006/main">
            <a:off x="10953750" y="6600825"/>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10 / 15</a:t>
            </a:r>
          </a:p>
        </p:txBody>
      </p:sp>
      <p:sp>
        <p:nvSpPr>
          <p:cNvPr id="11" name="Use the mechanism and crop-trial evidence.">
            <a:extLst xmlns:a="http://schemas.openxmlformats.org/drawingml/2006/main">
              <a:ext uri="{FF2B5EF4-FFF2-40B4-BE49-F238E27FC236}">
                <a16:creationId xmlns:a16="http://schemas.microsoft.com/office/drawing/2014/main" id="{D775F654-C250-49AE-9987-84C5C7D70EC7}"/>
              </a:ext>
            </a:extLst>
          </p:cNvPr>
          <p:cNvSpPr>
            <a:spLocks xmlns:a="http://schemas.openxmlformats.org/drawingml/2006/main" noGrp="1"/>
          </p:cNvSpPr>
          <p:nvPr/>
        </p:nvSpPr>
        <p:spPr>
          <a:xfrm xmlns:a="http://schemas.openxmlformats.org/drawingml/2006/main">
            <a:off x="762000" y="2028825"/>
            <a:ext cx="10668000" cy="3629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1F2937"/>
                </a:solidFill>
                <a:latin typeface="Nimbus Sans"/>
                <a:ea typeface="Nimbus Sans"/>
                <a:cs typeface="Nimbus Sans"/>
              </a:defRPr>
            </a:pPr>
            <a:r>
              <a:rPr sz="2325" b="0">
                <a:solidFill>
                  <a:srgbClr val="1F2937"/>
                </a:solidFill>
                <a:latin typeface="Nimbus Sans"/>
                <a:ea typeface="Nimbus Sans"/>
                <a:cs typeface="Nimbus Sans"/>
              </a:rPr>
              <a:t>Use the mechanism and crop-trial evidence.</a:t>
            </a:r>
          </a:p>
        </p:txBody>
      </p:sp>
      <p:sp>
        <p:nvSpPr>
          <p:cNvPr id="12" name="Recommend a next step with a benefit, risk and missing check.">
            <a:extLst xmlns:a="http://schemas.openxmlformats.org/drawingml/2006/main">
              <a:ext uri="{FF2B5EF4-FFF2-40B4-BE49-F238E27FC236}">
                <a16:creationId xmlns:a16="http://schemas.microsoft.com/office/drawing/2014/main" id="{57CA6558-4863-4A5E-85A1-70D3C72CE325}"/>
              </a:ext>
            </a:extLst>
          </p:cNvPr>
          <p:cNvSpPr>
            <a:spLocks xmlns:a="http://schemas.openxmlformats.org/drawingml/2006/main" noGrp="1"/>
          </p:cNvSpPr>
          <p:nvPr/>
        </p:nvSpPr>
        <p:spPr>
          <a:xfrm xmlns:a="http://schemas.openxmlformats.org/drawingml/2006/main">
            <a:off x="762000" y="2582228"/>
            <a:ext cx="10668000" cy="3629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1F2937"/>
                </a:solidFill>
                <a:latin typeface="Nimbus Sans"/>
                <a:ea typeface="Nimbus Sans"/>
                <a:cs typeface="Nimbus Sans"/>
              </a:defRPr>
            </a:pPr>
            <a:r>
              <a:rPr sz="2325" b="0">
                <a:solidFill>
                  <a:srgbClr val="1F2937"/>
                </a:solidFill>
                <a:latin typeface="Nimbus Sans"/>
                <a:ea typeface="Nimbus Sans"/>
                <a:cs typeface="Nimbus Sans"/>
              </a:rPr>
              <a:t>Recommend a next step with a benefit, risk and missing check.</a:t>
            </a:r>
          </a:p>
        </p:txBody>
      </p:sp>
      <p:sp>
        <p:nvSpPr>
          <p:cNvPr id="13" name="Choose your response route with the teacher.">
            <a:extLst xmlns:a="http://schemas.openxmlformats.org/drawingml/2006/main">
              <a:ext uri="{FF2B5EF4-FFF2-40B4-BE49-F238E27FC236}">
                <a16:creationId xmlns:a16="http://schemas.microsoft.com/office/drawing/2014/main" id="{6D436DC8-F84C-49E6-BA15-7E3643A188D5}"/>
              </a:ext>
            </a:extLst>
          </p:cNvPr>
          <p:cNvSpPr>
            <a:spLocks xmlns:a="http://schemas.openxmlformats.org/drawingml/2006/main" noGrp="1"/>
          </p:cNvSpPr>
          <p:nvPr/>
        </p:nvSpPr>
        <p:spPr>
          <a:xfrm xmlns:a="http://schemas.openxmlformats.org/drawingml/2006/main">
            <a:off x="762000" y="3135630"/>
            <a:ext cx="10668000" cy="3629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1F2937"/>
                </a:solidFill>
                <a:latin typeface="Nimbus Sans"/>
                <a:ea typeface="Nimbus Sans"/>
                <a:cs typeface="Nimbus Sans"/>
              </a:defRPr>
            </a:pPr>
            <a:r>
              <a:rPr sz="2325" b="0">
                <a:solidFill>
                  <a:srgbClr val="1F2937"/>
                </a:solidFill>
                <a:latin typeface="Nimbus Sans"/>
                <a:ea typeface="Nimbus Sans"/>
                <a:cs typeface="Nimbus Sans"/>
              </a:rPr>
              <a:t>Choose your response route with the teacher.</a:t>
            </a:r>
          </a:p>
        </p:txBody>
      </p:sp>
    </p:spTree>
    <p:extLst>
      <p:ext uri="{BB962C8B-B14F-4D97-AF65-F5344CB8AC3E}">
        <p14:creationId xmlns:p14="http://schemas.microsoft.com/office/powerpoint/2010/main" val="864361038"/>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surface">
            <a:extLst xmlns:a="http://schemas.openxmlformats.org/drawingml/2006/main">
              <a:ext uri="{FF2B5EF4-FFF2-40B4-BE49-F238E27FC236}">
                <a16:creationId xmlns:a16="http://schemas.microsoft.com/office/drawing/2014/main" id="{A4F7FC83-E788-4548-98A9-D0602D3FF966}"/>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D8A63B"/>
          </a:solidFill>
          <a:ln xmlns:a="http://schemas.openxmlformats.org/drawingml/2006/main" w="0">
            <a:noFill/>
          </a:ln>
        </p:spPr>
      </p:sp>
      <p:sp>
        <p:nvSpPr>
          <p:cNvPr id="2" name="surface">
            <a:extLst xmlns:a="http://schemas.openxmlformats.org/drawingml/2006/main">
              <a:ext uri="{FF2B5EF4-FFF2-40B4-BE49-F238E27FC236}">
                <a16:creationId xmlns:a16="http://schemas.microsoft.com/office/drawing/2014/main" id="{BDD0E473-5947-4C48-8593-0D94D1BB20B6}"/>
              </a:ext>
            </a:extLst>
          </p:cNvPr>
          <p:cNvSpPr>
            <a:spLocks xmlns:a="http://schemas.openxmlformats.org/drawingml/2006/main" noGrp="1"/>
          </p:cNvSpPr>
          <p:nvPr/>
        </p:nvSpPr>
        <p:spPr>
          <a:xfrm xmlns:a="http://schemas.openxmlformats.org/drawingml/2006/main">
            <a:off x="457200" y="400050"/>
            <a:ext cx="11277600" cy="485775"/>
          </a:xfrm>
          <a:prstGeom xmlns:a="http://schemas.openxmlformats.org/drawingml/2006/main" prst="rect">
            <a:avLst/>
          </a:prstGeom>
          <a:solidFill xmlns:a="http://schemas.openxmlformats.org/drawingml/2006/main">
            <a:srgbClr val="F8F1D9"/>
          </a:solidFill>
          <a:ln xmlns:a="http://schemas.openxmlformats.org/drawingml/2006/main" w="0">
            <a:noFill/>
          </a:ln>
        </p:spPr>
      </p:sp>
      <p:sp>
        <p:nvSpPr>
          <p:cNvPr id="3" name="surface">
            <a:extLst xmlns:a="http://schemas.openxmlformats.org/drawingml/2006/main">
              <a:ext uri="{FF2B5EF4-FFF2-40B4-BE49-F238E27FC236}">
                <a16:creationId xmlns:a16="http://schemas.microsoft.com/office/drawing/2014/main" id="{06881D85-0583-4B37-AB6C-1D4C8A33E45D}"/>
              </a:ext>
            </a:extLst>
          </p:cNvPr>
          <p:cNvSpPr>
            <a:spLocks xmlns:a="http://schemas.openxmlformats.org/drawingml/2006/main" noGrp="1"/>
          </p:cNvSpPr>
          <p:nvPr/>
        </p:nvSpPr>
        <p:spPr>
          <a:xfrm xmlns:a="http://schemas.openxmlformats.org/drawingml/2006/main">
            <a:off x="457200" y="400050"/>
            <a:ext cx="66675" cy="485775"/>
          </a:xfrm>
          <a:prstGeom xmlns:a="http://schemas.openxmlformats.org/drawingml/2006/main" prst="rect">
            <a:avLst/>
          </a:prstGeom>
          <a:solidFill xmlns:a="http://schemas.openxmlformats.org/drawingml/2006/main">
            <a:srgbClr val="D8A63B"/>
          </a:solidFill>
          <a:ln xmlns:a="http://schemas.openxmlformats.org/drawingml/2006/main" w="0">
            <a:noFill/>
          </a:ln>
        </p:spPr>
      </p:sp>
      <p:sp>
        <p:nvSpPr>
          <p:cNvPr id="4" name="LAUNCH SCIENCE">
            <a:extLst xmlns:a="http://schemas.openxmlformats.org/drawingml/2006/main">
              <a:ext uri="{FF2B5EF4-FFF2-40B4-BE49-F238E27FC236}">
                <a16:creationId xmlns:a16="http://schemas.microsoft.com/office/drawing/2014/main" id="{48C66D70-BB3D-4C21-91B0-A0501470407D}"/>
              </a:ext>
            </a:extLst>
          </p:cNvPr>
          <p:cNvSpPr>
            <a:spLocks xmlns:a="http://schemas.openxmlformats.org/drawingml/2006/main" noGrp="1"/>
          </p:cNvSpPr>
          <p:nvPr/>
        </p:nvSpPr>
        <p:spPr>
          <a:xfrm xmlns:a="http://schemas.openxmlformats.org/drawingml/2006/main">
            <a:off x="685800" y="504825"/>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1">
                <a:solidFill>
                  <a:srgbClr val="D8A63B"/>
                </a:solidFill>
                <a:latin typeface="Nimbus Sans"/>
                <a:ea typeface="Nimbus Sans"/>
                <a:cs typeface="Nimbus Sans"/>
              </a:defRPr>
            </a:pPr>
            <a:r>
              <a:rPr sz="1800" b="1">
                <a:solidFill>
                  <a:srgbClr val="D8A63B"/>
                </a:solidFill>
                <a:latin typeface="Nimbus Sans"/>
                <a:ea typeface="Nimbus Sans"/>
                <a:cs typeface="Nimbus Sans"/>
              </a:rPr>
              <a:t>LAUNCH SCIENCE</a:t>
            </a:r>
          </a:p>
        </p:txBody>
      </p:sp>
      <p:sp>
        <p:nvSpPr>
          <p:cNvPr id="5" name="You do">
            <a:extLst xmlns:a="http://schemas.openxmlformats.org/drawingml/2006/main">
              <a:ext uri="{FF2B5EF4-FFF2-40B4-BE49-F238E27FC236}">
                <a16:creationId xmlns:a16="http://schemas.microsoft.com/office/drawing/2014/main" id="{CB00F23C-BADE-443B-9718-6737F7036DF2}"/>
              </a:ext>
            </a:extLst>
          </p:cNvPr>
          <p:cNvSpPr>
            <a:spLocks xmlns:a="http://schemas.openxmlformats.org/drawingml/2006/main" noGrp="1"/>
          </p:cNvSpPr>
          <p:nvPr/>
        </p:nvSpPr>
        <p:spPr>
          <a:xfrm xmlns:a="http://schemas.openxmlformats.org/drawingml/2006/main">
            <a:off x="5943600" y="504825"/>
            <a:ext cx="3752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1">
                <a:solidFill>
                  <a:srgbClr val="D8A63B"/>
                </a:solidFill>
                <a:latin typeface="Nimbus Sans"/>
                <a:ea typeface="Nimbus Sans"/>
                <a:cs typeface="Nimbus Sans"/>
              </a:defRPr>
            </a:pPr>
            <a:r>
              <a:rPr sz="1800" b="1">
                <a:solidFill>
                  <a:srgbClr val="D8A63B"/>
                </a:solidFill>
                <a:latin typeface="Nimbus Sans"/>
                <a:ea typeface="Nimbus Sans"/>
                <a:cs typeface="Nimbus Sans"/>
              </a:rPr>
              <a:t>You do</a:t>
            </a:r>
          </a:p>
        </p:txBody>
      </p:sp>
      <p:sp>
        <p:nvSpPr>
          <p:cNvPr id="6" name="A recommendation is more than a vote">
            <a:extLst xmlns:a="http://schemas.openxmlformats.org/drawingml/2006/main">
              <a:ext uri="{FF2B5EF4-FFF2-40B4-BE49-F238E27FC236}">
                <a16:creationId xmlns:a16="http://schemas.microsoft.com/office/drawing/2014/main" id="{E47995DE-ECB3-4A8A-B23D-A98DDA29BB41}"/>
              </a:ext>
            </a:extLst>
          </p:cNvPr>
          <p:cNvSpPr>
            <a:spLocks xmlns:a="http://schemas.openxmlformats.org/drawingml/2006/main" noGrp="1"/>
          </p:cNvSpPr>
          <p:nvPr/>
        </p:nvSpPr>
        <p:spPr>
          <a:xfrm xmlns:a="http://schemas.openxmlformats.org/drawingml/2006/main">
            <a:off x="533400" y="1066800"/>
            <a:ext cx="11125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3000" b="1">
                <a:solidFill>
                  <a:srgbClr val="1F2937"/>
                </a:solidFill>
                <a:latin typeface="Nimbus Sans"/>
                <a:ea typeface="Nimbus Sans"/>
                <a:cs typeface="Nimbus Sans"/>
              </a:defRPr>
            </a:pPr>
            <a:r>
              <a:rPr sz="3000" b="1">
                <a:solidFill>
                  <a:srgbClr val="1F2937"/>
                </a:solidFill>
                <a:latin typeface="Nimbus Sans"/>
                <a:ea typeface="Nimbus Sans"/>
                <a:cs typeface="Nimbus Sans"/>
              </a:rPr>
              <a:t>A recommendation is more than a vote</a:t>
            </a:r>
          </a:p>
        </p:txBody>
      </p:sp>
      <p:sp>
        <p:nvSpPr>
          <p:cNvPr id="7" name="surface">
            <a:extLst xmlns:a="http://schemas.openxmlformats.org/drawingml/2006/main">
              <a:ext uri="{FF2B5EF4-FFF2-40B4-BE49-F238E27FC236}">
                <a16:creationId xmlns:a16="http://schemas.microsoft.com/office/drawing/2014/main" id="{FD32B01C-974B-4B74-90C0-4335E906005A}"/>
              </a:ext>
            </a:extLst>
          </p:cNvPr>
          <p:cNvSpPr>
            <a:spLocks xmlns:a="http://schemas.openxmlformats.org/drawingml/2006/main" noGrp="1"/>
          </p:cNvSpPr>
          <p:nvPr/>
        </p:nvSpPr>
        <p:spPr>
          <a:xfrm xmlns:a="http://schemas.openxmlformats.org/drawingml/2006/main">
            <a:off x="457200" y="6496050"/>
            <a:ext cx="11277600" cy="9525"/>
          </a:xfrm>
          <a:prstGeom xmlns:a="http://schemas.openxmlformats.org/drawingml/2006/main" prst="rect">
            <a:avLst/>
          </a:prstGeom>
          <a:solidFill xmlns:a="http://schemas.openxmlformats.org/drawingml/2006/main">
            <a:srgbClr val="D8DDE2"/>
          </a:solidFill>
          <a:ln xmlns:a="http://schemas.openxmlformats.org/drawingml/2006/main" w="0">
            <a:noFill/>
          </a:ln>
        </p:spPr>
      </p:sp>
      <p:sp>
        <p:nvSpPr>
          <p:cNvPr id="8" name="Genetic engineering: change, test, decide">
            <a:extLst xmlns:a="http://schemas.openxmlformats.org/drawingml/2006/main">
              <a:ext uri="{FF2B5EF4-FFF2-40B4-BE49-F238E27FC236}">
                <a16:creationId xmlns:a16="http://schemas.microsoft.com/office/drawing/2014/main" id="{AD761ACF-9EA1-4AAD-88AE-BFECEB277FE2}"/>
              </a:ext>
            </a:extLst>
          </p:cNvPr>
          <p:cNvSpPr>
            <a:spLocks xmlns:a="http://schemas.openxmlformats.org/drawingml/2006/main" noGrp="1"/>
          </p:cNvSpPr>
          <p:nvPr/>
        </p:nvSpPr>
        <p:spPr>
          <a:xfrm xmlns:a="http://schemas.openxmlformats.org/drawingml/2006/main">
            <a:off x="533400" y="6600825"/>
            <a:ext cx="10572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Genetic engineering: change, test, decide</a:t>
            </a:r>
          </a:p>
        </p:txBody>
      </p:sp>
      <p:sp>
        <p:nvSpPr>
          <p:cNvPr id="9" name="11 / 15">
            <a:extLst xmlns:a="http://schemas.openxmlformats.org/drawingml/2006/main">
              <a:ext uri="{FF2B5EF4-FFF2-40B4-BE49-F238E27FC236}">
                <a16:creationId xmlns:a16="http://schemas.microsoft.com/office/drawing/2014/main" id="{5BDB84B5-C649-4C72-A8AE-A77B343C0D48}"/>
              </a:ext>
            </a:extLst>
          </p:cNvPr>
          <p:cNvSpPr>
            <a:spLocks xmlns:a="http://schemas.openxmlformats.org/drawingml/2006/main" noGrp="1"/>
          </p:cNvSpPr>
          <p:nvPr/>
        </p:nvSpPr>
        <p:spPr>
          <a:xfrm xmlns:a="http://schemas.openxmlformats.org/drawingml/2006/main">
            <a:off x="10953750" y="6600825"/>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11 / 15</a:t>
            </a:r>
          </a:p>
        </p:txBody>
      </p:sp>
      <p:sp>
        <p:nvSpPr>
          <p:cNvPr id="10" name="In this trial, … so a possible benefit is …">
            <a:extLst xmlns:a="http://schemas.openxmlformats.org/drawingml/2006/main">
              <a:ext uri="{FF2B5EF4-FFF2-40B4-BE49-F238E27FC236}">
                <a16:creationId xmlns:a16="http://schemas.microsoft.com/office/drawing/2014/main" id="{25ECD5E8-A18F-48D2-AA29-9F9483B965C1}"/>
              </a:ext>
            </a:extLst>
          </p:cNvPr>
          <p:cNvSpPr>
            <a:spLocks xmlns:a="http://schemas.openxmlformats.org/drawingml/2006/main" noGrp="1"/>
          </p:cNvSpPr>
          <p:nvPr/>
        </p:nvSpPr>
        <p:spPr>
          <a:xfrm xmlns:a="http://schemas.openxmlformats.org/drawingml/2006/main">
            <a:off x="762000" y="2028825"/>
            <a:ext cx="10668000" cy="3629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1F2937"/>
                </a:solidFill>
                <a:latin typeface="Nimbus Sans"/>
                <a:ea typeface="Nimbus Sans"/>
                <a:cs typeface="Nimbus Sans"/>
              </a:defRPr>
            </a:pPr>
            <a:r>
              <a:rPr sz="2325" b="0">
                <a:solidFill>
                  <a:srgbClr val="1F2937"/>
                </a:solidFill>
                <a:latin typeface="Nimbus Sans"/>
                <a:ea typeface="Nimbus Sans"/>
                <a:cs typeface="Nimbus Sans"/>
              </a:rPr>
              <a:t>In this trial, … so a possible benefit is …</a:t>
            </a:r>
          </a:p>
        </p:txBody>
      </p:sp>
      <p:sp>
        <p:nvSpPr>
          <p:cNvPr id="11" name="However, … could happen because …">
            <a:extLst xmlns:a="http://schemas.openxmlformats.org/drawingml/2006/main">
              <a:ext uri="{FF2B5EF4-FFF2-40B4-BE49-F238E27FC236}">
                <a16:creationId xmlns:a16="http://schemas.microsoft.com/office/drawing/2014/main" id="{1BA7BB0E-A74F-4E07-AC8E-1159F147016A}"/>
              </a:ext>
            </a:extLst>
          </p:cNvPr>
          <p:cNvSpPr>
            <a:spLocks xmlns:a="http://schemas.openxmlformats.org/drawingml/2006/main" noGrp="1"/>
          </p:cNvSpPr>
          <p:nvPr/>
        </p:nvSpPr>
        <p:spPr>
          <a:xfrm xmlns:a="http://schemas.openxmlformats.org/drawingml/2006/main">
            <a:off x="762000" y="2582228"/>
            <a:ext cx="10668000" cy="3629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1F2937"/>
                </a:solidFill>
                <a:latin typeface="Nimbus Sans"/>
                <a:ea typeface="Nimbus Sans"/>
                <a:cs typeface="Nimbus Sans"/>
              </a:defRPr>
            </a:pPr>
            <a:r>
              <a:rPr sz="2325" b="0">
                <a:solidFill>
                  <a:srgbClr val="1F2937"/>
                </a:solidFill>
                <a:latin typeface="Nimbus Sans"/>
                <a:ea typeface="Nimbus Sans"/>
                <a:cs typeface="Nimbus Sans"/>
              </a:rPr>
              <a:t>However, … could happen because …</a:t>
            </a:r>
          </a:p>
        </p:txBody>
      </p:sp>
      <p:sp>
        <p:nvSpPr>
          <p:cNvPr id="12" name="I recommend … while checking …">
            <a:extLst xmlns:a="http://schemas.openxmlformats.org/drawingml/2006/main">
              <a:ext uri="{FF2B5EF4-FFF2-40B4-BE49-F238E27FC236}">
                <a16:creationId xmlns:a16="http://schemas.microsoft.com/office/drawing/2014/main" id="{47E036D3-51ED-4A47-8929-03F6E20785F7}"/>
              </a:ext>
            </a:extLst>
          </p:cNvPr>
          <p:cNvSpPr>
            <a:spLocks xmlns:a="http://schemas.openxmlformats.org/drawingml/2006/main" noGrp="1"/>
          </p:cNvSpPr>
          <p:nvPr/>
        </p:nvSpPr>
        <p:spPr>
          <a:xfrm xmlns:a="http://schemas.openxmlformats.org/drawingml/2006/main">
            <a:off x="762000" y="3135630"/>
            <a:ext cx="10668000" cy="3629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1F2937"/>
                </a:solidFill>
                <a:latin typeface="Nimbus Sans"/>
                <a:ea typeface="Nimbus Sans"/>
                <a:cs typeface="Nimbus Sans"/>
              </a:defRPr>
            </a:pPr>
            <a:r>
              <a:rPr sz="2325" b="0">
                <a:solidFill>
                  <a:srgbClr val="1F2937"/>
                </a:solidFill>
                <a:latin typeface="Nimbus Sans"/>
                <a:ea typeface="Nimbus Sans"/>
                <a:cs typeface="Nimbus Sans"/>
              </a:rPr>
              <a:t>I recommend … while checking …</a:t>
            </a:r>
          </a:p>
        </p:txBody>
      </p:sp>
    </p:spTree>
    <p:extLst>
      <p:ext uri="{BB962C8B-B14F-4D97-AF65-F5344CB8AC3E}">
        <p14:creationId xmlns:p14="http://schemas.microsoft.com/office/powerpoint/2010/main" val="1973187843"/>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surface">
            <a:extLst xmlns:a="http://schemas.openxmlformats.org/drawingml/2006/main">
              <a:ext uri="{FF2B5EF4-FFF2-40B4-BE49-F238E27FC236}">
                <a16:creationId xmlns:a16="http://schemas.microsoft.com/office/drawing/2014/main" id="{94519869-DDA1-46FB-BE1D-9EC93DC1C5FB}"/>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D8A63B"/>
          </a:solidFill>
          <a:ln xmlns:a="http://schemas.openxmlformats.org/drawingml/2006/main" w="0">
            <a:noFill/>
          </a:ln>
        </p:spPr>
      </p:sp>
      <p:sp>
        <p:nvSpPr>
          <p:cNvPr id="2" name="surface">
            <a:extLst xmlns:a="http://schemas.openxmlformats.org/drawingml/2006/main">
              <a:ext uri="{FF2B5EF4-FFF2-40B4-BE49-F238E27FC236}">
                <a16:creationId xmlns:a16="http://schemas.microsoft.com/office/drawing/2014/main" id="{F2A07AD4-3A65-4274-B983-3842B052FDA6}"/>
              </a:ext>
            </a:extLst>
          </p:cNvPr>
          <p:cNvSpPr>
            <a:spLocks xmlns:a="http://schemas.openxmlformats.org/drawingml/2006/main" noGrp="1"/>
          </p:cNvSpPr>
          <p:nvPr/>
        </p:nvSpPr>
        <p:spPr>
          <a:xfrm xmlns:a="http://schemas.openxmlformats.org/drawingml/2006/main">
            <a:off x="457200" y="400050"/>
            <a:ext cx="11277600" cy="485775"/>
          </a:xfrm>
          <a:prstGeom xmlns:a="http://schemas.openxmlformats.org/drawingml/2006/main" prst="rect">
            <a:avLst/>
          </a:prstGeom>
          <a:solidFill xmlns:a="http://schemas.openxmlformats.org/drawingml/2006/main">
            <a:srgbClr val="F8F1D9"/>
          </a:solidFill>
          <a:ln xmlns:a="http://schemas.openxmlformats.org/drawingml/2006/main" w="0">
            <a:noFill/>
          </a:ln>
        </p:spPr>
      </p:sp>
      <p:sp>
        <p:nvSpPr>
          <p:cNvPr id="3" name="surface">
            <a:extLst xmlns:a="http://schemas.openxmlformats.org/drawingml/2006/main">
              <a:ext uri="{FF2B5EF4-FFF2-40B4-BE49-F238E27FC236}">
                <a16:creationId xmlns:a16="http://schemas.microsoft.com/office/drawing/2014/main" id="{0C7AA640-9C48-4290-B324-85FDC21ABEEB}"/>
              </a:ext>
            </a:extLst>
          </p:cNvPr>
          <p:cNvSpPr>
            <a:spLocks xmlns:a="http://schemas.openxmlformats.org/drawingml/2006/main" noGrp="1"/>
          </p:cNvSpPr>
          <p:nvPr/>
        </p:nvSpPr>
        <p:spPr>
          <a:xfrm xmlns:a="http://schemas.openxmlformats.org/drawingml/2006/main">
            <a:off x="457200" y="400050"/>
            <a:ext cx="66675" cy="485775"/>
          </a:xfrm>
          <a:prstGeom xmlns:a="http://schemas.openxmlformats.org/drawingml/2006/main" prst="rect">
            <a:avLst/>
          </a:prstGeom>
          <a:solidFill xmlns:a="http://schemas.openxmlformats.org/drawingml/2006/main">
            <a:srgbClr val="D8A63B"/>
          </a:solidFill>
          <a:ln xmlns:a="http://schemas.openxmlformats.org/drawingml/2006/main" w="0">
            <a:noFill/>
          </a:ln>
        </p:spPr>
      </p:sp>
      <p:sp>
        <p:nvSpPr>
          <p:cNvPr id="4" name="LAUNCH SCIENCE">
            <a:extLst xmlns:a="http://schemas.openxmlformats.org/drawingml/2006/main">
              <a:ext uri="{FF2B5EF4-FFF2-40B4-BE49-F238E27FC236}">
                <a16:creationId xmlns:a16="http://schemas.microsoft.com/office/drawing/2014/main" id="{FE706C4D-B6A1-44C2-8F43-970B4ED62142}"/>
              </a:ext>
            </a:extLst>
          </p:cNvPr>
          <p:cNvSpPr>
            <a:spLocks xmlns:a="http://schemas.openxmlformats.org/drawingml/2006/main" noGrp="1"/>
          </p:cNvSpPr>
          <p:nvPr/>
        </p:nvSpPr>
        <p:spPr>
          <a:xfrm xmlns:a="http://schemas.openxmlformats.org/drawingml/2006/main">
            <a:off x="685800" y="504825"/>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1">
                <a:solidFill>
                  <a:srgbClr val="D8A63B"/>
                </a:solidFill>
                <a:latin typeface="Nimbus Sans"/>
                <a:ea typeface="Nimbus Sans"/>
                <a:cs typeface="Nimbus Sans"/>
              </a:defRPr>
            </a:pPr>
            <a:r>
              <a:rPr sz="1800" b="1">
                <a:solidFill>
                  <a:srgbClr val="D8A63B"/>
                </a:solidFill>
                <a:latin typeface="Nimbus Sans"/>
                <a:ea typeface="Nimbus Sans"/>
                <a:cs typeface="Nimbus Sans"/>
              </a:rPr>
              <a:t>LAUNCH SCIENCE</a:t>
            </a:r>
          </a:p>
        </p:txBody>
      </p:sp>
      <p:sp>
        <p:nvSpPr>
          <p:cNvPr id="5" name="You do">
            <a:extLst xmlns:a="http://schemas.openxmlformats.org/drawingml/2006/main">
              <a:ext uri="{FF2B5EF4-FFF2-40B4-BE49-F238E27FC236}">
                <a16:creationId xmlns:a16="http://schemas.microsoft.com/office/drawing/2014/main" id="{F54CBB66-9DFC-4192-AF1A-918390EF5BC1}"/>
              </a:ext>
            </a:extLst>
          </p:cNvPr>
          <p:cNvSpPr>
            <a:spLocks xmlns:a="http://schemas.openxmlformats.org/drawingml/2006/main" noGrp="1"/>
          </p:cNvSpPr>
          <p:nvPr/>
        </p:nvSpPr>
        <p:spPr>
          <a:xfrm xmlns:a="http://schemas.openxmlformats.org/drawingml/2006/main">
            <a:off x="5943600" y="504825"/>
            <a:ext cx="3752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1">
                <a:solidFill>
                  <a:srgbClr val="D8A63B"/>
                </a:solidFill>
                <a:latin typeface="Nimbus Sans"/>
                <a:ea typeface="Nimbus Sans"/>
                <a:cs typeface="Nimbus Sans"/>
              </a:defRPr>
            </a:pPr>
            <a:r>
              <a:rPr sz="1800" b="1">
                <a:solidFill>
                  <a:srgbClr val="D8A63B"/>
                </a:solidFill>
                <a:latin typeface="Nimbus Sans"/>
                <a:ea typeface="Nimbus Sans"/>
                <a:cs typeface="Nimbus Sans"/>
              </a:rPr>
              <a:t>You do</a:t>
            </a:r>
          </a:p>
        </p:txBody>
      </p:sp>
      <p:sp>
        <p:nvSpPr>
          <p:cNvPr id="6" name="Optional Higher-tier extension">
            <a:extLst xmlns:a="http://schemas.openxmlformats.org/drawingml/2006/main">
              <a:ext uri="{FF2B5EF4-FFF2-40B4-BE49-F238E27FC236}">
                <a16:creationId xmlns:a16="http://schemas.microsoft.com/office/drawing/2014/main" id="{7AF12E59-5E47-48FB-A3B9-B53FA9C0CD3E}"/>
              </a:ext>
            </a:extLst>
          </p:cNvPr>
          <p:cNvSpPr>
            <a:spLocks xmlns:a="http://schemas.openxmlformats.org/drawingml/2006/main" noGrp="1"/>
          </p:cNvSpPr>
          <p:nvPr/>
        </p:nvSpPr>
        <p:spPr>
          <a:xfrm xmlns:a="http://schemas.openxmlformats.org/drawingml/2006/main">
            <a:off x="533400" y="1066800"/>
            <a:ext cx="11125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3000" b="1">
                <a:solidFill>
                  <a:srgbClr val="1F2937"/>
                </a:solidFill>
                <a:latin typeface="Nimbus Sans"/>
                <a:ea typeface="Nimbus Sans"/>
                <a:cs typeface="Nimbus Sans"/>
              </a:defRPr>
            </a:pPr>
            <a:r>
              <a:rPr sz="3000" b="1">
                <a:solidFill>
                  <a:srgbClr val="1F2937"/>
                </a:solidFill>
                <a:latin typeface="Nimbus Sans"/>
                <a:ea typeface="Nimbus Sans"/>
                <a:cs typeface="Nimbus Sans"/>
              </a:rPr>
              <a:t>Optional Higher-tier extension</a:t>
            </a:r>
          </a:p>
        </p:txBody>
      </p:sp>
      <p:sp>
        <p:nvSpPr>
          <p:cNvPr id="7" name="surface">
            <a:extLst xmlns:a="http://schemas.openxmlformats.org/drawingml/2006/main">
              <a:ext uri="{FF2B5EF4-FFF2-40B4-BE49-F238E27FC236}">
                <a16:creationId xmlns:a16="http://schemas.microsoft.com/office/drawing/2014/main" id="{B6297CA0-7840-4ECF-8AA7-E3B58916B57A}"/>
              </a:ext>
            </a:extLst>
          </p:cNvPr>
          <p:cNvSpPr>
            <a:spLocks xmlns:a="http://schemas.openxmlformats.org/drawingml/2006/main" noGrp="1"/>
          </p:cNvSpPr>
          <p:nvPr/>
        </p:nvSpPr>
        <p:spPr>
          <a:xfrm xmlns:a="http://schemas.openxmlformats.org/drawingml/2006/main">
            <a:off x="457200" y="6496050"/>
            <a:ext cx="11277600" cy="9525"/>
          </a:xfrm>
          <a:prstGeom xmlns:a="http://schemas.openxmlformats.org/drawingml/2006/main" prst="rect">
            <a:avLst/>
          </a:prstGeom>
          <a:solidFill xmlns:a="http://schemas.openxmlformats.org/drawingml/2006/main">
            <a:srgbClr val="D8DDE2"/>
          </a:solidFill>
          <a:ln xmlns:a="http://schemas.openxmlformats.org/drawingml/2006/main" w="0">
            <a:noFill/>
          </a:ln>
        </p:spPr>
      </p:sp>
      <p:sp>
        <p:nvSpPr>
          <p:cNvPr id="8" name="Genetic engineering: change, test, decide">
            <a:extLst xmlns:a="http://schemas.openxmlformats.org/drawingml/2006/main">
              <a:ext uri="{FF2B5EF4-FFF2-40B4-BE49-F238E27FC236}">
                <a16:creationId xmlns:a16="http://schemas.microsoft.com/office/drawing/2014/main" id="{2B2FA047-DB7B-42E4-A002-7FAA8679DED9}"/>
              </a:ext>
            </a:extLst>
          </p:cNvPr>
          <p:cNvSpPr>
            <a:spLocks xmlns:a="http://schemas.openxmlformats.org/drawingml/2006/main" noGrp="1"/>
          </p:cNvSpPr>
          <p:nvPr/>
        </p:nvSpPr>
        <p:spPr>
          <a:xfrm xmlns:a="http://schemas.openxmlformats.org/drawingml/2006/main">
            <a:off x="533400" y="6600825"/>
            <a:ext cx="10572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Genetic engineering: change, test, decide</a:t>
            </a:r>
          </a:p>
        </p:txBody>
      </p:sp>
      <p:sp>
        <p:nvSpPr>
          <p:cNvPr id="9" name="12 / 15">
            <a:extLst xmlns:a="http://schemas.openxmlformats.org/drawingml/2006/main">
              <a:ext uri="{FF2B5EF4-FFF2-40B4-BE49-F238E27FC236}">
                <a16:creationId xmlns:a16="http://schemas.microsoft.com/office/drawing/2014/main" id="{3F67CDCB-7ECA-42AF-8A65-69CFD028E8B3}"/>
              </a:ext>
            </a:extLst>
          </p:cNvPr>
          <p:cNvSpPr>
            <a:spLocks xmlns:a="http://schemas.openxmlformats.org/drawingml/2006/main" noGrp="1"/>
          </p:cNvSpPr>
          <p:nvPr/>
        </p:nvSpPr>
        <p:spPr>
          <a:xfrm xmlns:a="http://schemas.openxmlformats.org/drawingml/2006/main">
            <a:off x="10953750" y="6600825"/>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12 / 15</a:t>
            </a:r>
          </a:p>
        </p:txBody>
      </p:sp>
      <p:sp>
        <p:nvSpPr>
          <p:cNvPr id="10" name="Ready for more? Use the extra mechanism box on the Stretch page.">
            <a:extLst xmlns:a="http://schemas.openxmlformats.org/drawingml/2006/main">
              <a:ext uri="{FF2B5EF4-FFF2-40B4-BE49-F238E27FC236}">
                <a16:creationId xmlns:a16="http://schemas.microsoft.com/office/drawing/2014/main" id="{756C3F3D-51F0-4833-A75A-A751B624733A}"/>
              </a:ext>
            </a:extLst>
          </p:cNvPr>
          <p:cNvSpPr>
            <a:spLocks xmlns:a="http://schemas.openxmlformats.org/drawingml/2006/main" noGrp="1"/>
          </p:cNvSpPr>
          <p:nvPr/>
        </p:nvSpPr>
        <p:spPr>
          <a:xfrm xmlns:a="http://schemas.openxmlformats.org/drawingml/2006/main">
            <a:off x="762000" y="2028825"/>
            <a:ext cx="10668000" cy="3629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1F2937"/>
                </a:solidFill>
                <a:latin typeface="Nimbus Sans"/>
                <a:ea typeface="Nimbus Sans"/>
                <a:cs typeface="Nimbus Sans"/>
              </a:defRPr>
            </a:pPr>
            <a:r>
              <a:rPr sz="2325" b="0">
                <a:solidFill>
                  <a:srgbClr val="1F2937"/>
                </a:solidFill>
                <a:latin typeface="Nimbus Sans"/>
                <a:ea typeface="Nimbus Sans"/>
                <a:cs typeface="Nimbus Sans"/>
              </a:rPr>
              <a:t>Ready for more? Use the extra mechanism box on the Stretch page.</a:t>
            </a:r>
          </a:p>
        </p:txBody>
      </p:sp>
      <p:sp>
        <p:nvSpPr>
          <p:cNvPr id="11" name="Explain a vector, restriction enzyme and ligase.">
            <a:extLst xmlns:a="http://schemas.openxmlformats.org/drawingml/2006/main">
              <a:ext uri="{FF2B5EF4-FFF2-40B4-BE49-F238E27FC236}">
                <a16:creationId xmlns:a16="http://schemas.microsoft.com/office/drawing/2014/main" id="{9F0BAF6C-A75A-4ABB-BF90-5DE0840AF894}"/>
              </a:ext>
            </a:extLst>
          </p:cNvPr>
          <p:cNvSpPr>
            <a:spLocks xmlns:a="http://schemas.openxmlformats.org/drawingml/2006/main" noGrp="1"/>
          </p:cNvSpPr>
          <p:nvPr/>
        </p:nvSpPr>
        <p:spPr>
          <a:xfrm xmlns:a="http://schemas.openxmlformats.org/drawingml/2006/main">
            <a:off x="762000" y="2582228"/>
            <a:ext cx="10668000" cy="3629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1F2937"/>
                </a:solidFill>
                <a:latin typeface="Nimbus Sans"/>
                <a:ea typeface="Nimbus Sans"/>
                <a:cs typeface="Nimbus Sans"/>
              </a:defRPr>
            </a:pPr>
            <a:r>
              <a:rPr sz="2325" b="0">
                <a:solidFill>
                  <a:srgbClr val="1F2937"/>
                </a:solidFill>
                <a:latin typeface="Nimbus Sans"/>
                <a:ea typeface="Nimbus Sans"/>
                <a:cs typeface="Nimbus Sans"/>
              </a:rPr>
              <a:t>Explain a vector, restriction enzyme and ligase.</a:t>
            </a:r>
          </a:p>
        </p:txBody>
      </p:sp>
      <p:sp>
        <p:nvSpPr>
          <p:cNvPr id="12" name="This detail is not needed for today’s core success.">
            <a:extLst xmlns:a="http://schemas.openxmlformats.org/drawingml/2006/main">
              <a:ext uri="{FF2B5EF4-FFF2-40B4-BE49-F238E27FC236}">
                <a16:creationId xmlns:a16="http://schemas.microsoft.com/office/drawing/2014/main" id="{A115810C-632C-4659-82BC-5B6F8BEF2AF4}"/>
              </a:ext>
            </a:extLst>
          </p:cNvPr>
          <p:cNvSpPr>
            <a:spLocks xmlns:a="http://schemas.openxmlformats.org/drawingml/2006/main" noGrp="1"/>
          </p:cNvSpPr>
          <p:nvPr/>
        </p:nvSpPr>
        <p:spPr>
          <a:xfrm xmlns:a="http://schemas.openxmlformats.org/drawingml/2006/main">
            <a:off x="762000" y="3135630"/>
            <a:ext cx="10668000" cy="3629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1F2937"/>
                </a:solidFill>
                <a:latin typeface="Nimbus Sans"/>
                <a:ea typeface="Nimbus Sans"/>
                <a:cs typeface="Nimbus Sans"/>
              </a:defRPr>
            </a:pPr>
            <a:r>
              <a:rPr sz="2325" b="0">
                <a:solidFill>
                  <a:srgbClr val="1F2937"/>
                </a:solidFill>
                <a:latin typeface="Nimbus Sans"/>
                <a:ea typeface="Nimbus Sans"/>
                <a:cs typeface="Nimbus Sans"/>
              </a:rPr>
              <a:t>This detail is not needed for today’s core success.</a:t>
            </a:r>
          </a:p>
        </p:txBody>
      </p:sp>
    </p:spTree>
    <p:extLst>
      <p:ext uri="{BB962C8B-B14F-4D97-AF65-F5344CB8AC3E}">
        <p14:creationId xmlns:p14="http://schemas.microsoft.com/office/powerpoint/2010/main" val="1866568017"/>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urface">
            <a:extLst xmlns:a="http://schemas.openxmlformats.org/drawingml/2006/main">
              <a:ext uri="{FF2B5EF4-FFF2-40B4-BE49-F238E27FC236}">
                <a16:creationId xmlns:a16="http://schemas.microsoft.com/office/drawing/2014/main" id="{ED1AECE9-E92D-4CB7-9BF6-8F3F0E5BF9FF}"/>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7A5C9E"/>
          </a:solidFill>
          <a:ln xmlns:a="http://schemas.openxmlformats.org/drawingml/2006/main" w="0">
            <a:noFill/>
          </a:ln>
        </p:spPr>
      </p:sp>
      <p:sp>
        <p:nvSpPr>
          <p:cNvPr id="2" name="surface">
            <a:extLst xmlns:a="http://schemas.openxmlformats.org/drawingml/2006/main">
              <a:ext uri="{FF2B5EF4-FFF2-40B4-BE49-F238E27FC236}">
                <a16:creationId xmlns:a16="http://schemas.microsoft.com/office/drawing/2014/main" id="{4B7B90D5-9C24-46C0-94C9-A66E0B936D32}"/>
              </a:ext>
            </a:extLst>
          </p:cNvPr>
          <p:cNvSpPr>
            <a:spLocks xmlns:a="http://schemas.openxmlformats.org/drawingml/2006/main" noGrp="1"/>
          </p:cNvSpPr>
          <p:nvPr/>
        </p:nvSpPr>
        <p:spPr>
          <a:xfrm xmlns:a="http://schemas.openxmlformats.org/drawingml/2006/main">
            <a:off x="457200" y="400050"/>
            <a:ext cx="11277600" cy="485775"/>
          </a:xfrm>
          <a:prstGeom xmlns:a="http://schemas.openxmlformats.org/drawingml/2006/main" prst="rect">
            <a:avLst/>
          </a:prstGeom>
          <a:solidFill xmlns:a="http://schemas.openxmlformats.org/drawingml/2006/main">
            <a:srgbClr val="E6F0E6"/>
          </a:solidFill>
          <a:ln xmlns:a="http://schemas.openxmlformats.org/drawingml/2006/main" w="0">
            <a:noFill/>
          </a:ln>
        </p:spPr>
      </p:sp>
      <p:sp>
        <p:nvSpPr>
          <p:cNvPr id="3" name="surface">
            <a:extLst xmlns:a="http://schemas.openxmlformats.org/drawingml/2006/main">
              <a:ext uri="{FF2B5EF4-FFF2-40B4-BE49-F238E27FC236}">
                <a16:creationId xmlns:a16="http://schemas.microsoft.com/office/drawing/2014/main" id="{C438F02F-4FE9-4BF0-BDE5-1726CA11C63F}"/>
              </a:ext>
            </a:extLst>
          </p:cNvPr>
          <p:cNvSpPr>
            <a:spLocks xmlns:a="http://schemas.openxmlformats.org/drawingml/2006/main" noGrp="1"/>
          </p:cNvSpPr>
          <p:nvPr/>
        </p:nvSpPr>
        <p:spPr>
          <a:xfrm xmlns:a="http://schemas.openxmlformats.org/drawingml/2006/main">
            <a:off x="457200" y="400050"/>
            <a:ext cx="66675" cy="485775"/>
          </a:xfrm>
          <a:prstGeom xmlns:a="http://schemas.openxmlformats.org/drawingml/2006/main" prst="rect">
            <a:avLst/>
          </a:prstGeom>
          <a:solidFill xmlns:a="http://schemas.openxmlformats.org/drawingml/2006/main">
            <a:srgbClr val="7A5C9E"/>
          </a:solidFill>
          <a:ln xmlns:a="http://schemas.openxmlformats.org/drawingml/2006/main" w="0">
            <a:noFill/>
          </a:ln>
        </p:spPr>
      </p:sp>
      <p:sp>
        <p:nvSpPr>
          <p:cNvPr id="4" name="LAUNCH SCIENCE">
            <a:extLst xmlns:a="http://schemas.openxmlformats.org/drawingml/2006/main">
              <a:ext uri="{FF2B5EF4-FFF2-40B4-BE49-F238E27FC236}">
                <a16:creationId xmlns:a16="http://schemas.microsoft.com/office/drawing/2014/main" id="{32F822E1-7FAA-43C2-928C-5F4072CB467E}"/>
              </a:ext>
            </a:extLst>
          </p:cNvPr>
          <p:cNvSpPr>
            <a:spLocks xmlns:a="http://schemas.openxmlformats.org/drawingml/2006/main" noGrp="1"/>
          </p:cNvSpPr>
          <p:nvPr/>
        </p:nvSpPr>
        <p:spPr>
          <a:xfrm xmlns:a="http://schemas.openxmlformats.org/drawingml/2006/main">
            <a:off x="685800" y="504825"/>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1">
                <a:solidFill>
                  <a:srgbClr val="7A5C9E"/>
                </a:solidFill>
                <a:latin typeface="Nimbus Sans"/>
                <a:ea typeface="Nimbus Sans"/>
                <a:cs typeface="Nimbus Sans"/>
              </a:defRPr>
            </a:pPr>
            <a:r>
              <a:rPr sz="1800" b="1">
                <a:solidFill>
                  <a:srgbClr val="7A5C9E"/>
                </a:solidFill>
                <a:latin typeface="Nimbus Sans"/>
                <a:ea typeface="Nimbus Sans"/>
                <a:cs typeface="Nimbus Sans"/>
              </a:rPr>
              <a:t>LAUNCH SCIENCE</a:t>
            </a:r>
          </a:p>
        </p:txBody>
      </p:sp>
      <p:sp>
        <p:nvSpPr>
          <p:cNvPr id="5" name="Review">
            <a:extLst xmlns:a="http://schemas.openxmlformats.org/drawingml/2006/main">
              <a:ext uri="{FF2B5EF4-FFF2-40B4-BE49-F238E27FC236}">
                <a16:creationId xmlns:a16="http://schemas.microsoft.com/office/drawing/2014/main" id="{3ED9B4FA-B2CB-41FE-A151-84120F933D61}"/>
              </a:ext>
            </a:extLst>
          </p:cNvPr>
          <p:cNvSpPr>
            <a:spLocks xmlns:a="http://schemas.openxmlformats.org/drawingml/2006/main" noGrp="1"/>
          </p:cNvSpPr>
          <p:nvPr/>
        </p:nvSpPr>
        <p:spPr>
          <a:xfrm xmlns:a="http://schemas.openxmlformats.org/drawingml/2006/main">
            <a:off x="5943600" y="504825"/>
            <a:ext cx="3752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1">
                <a:solidFill>
                  <a:srgbClr val="7A5C9E"/>
                </a:solidFill>
                <a:latin typeface="Nimbus Sans"/>
                <a:ea typeface="Nimbus Sans"/>
                <a:cs typeface="Nimbus Sans"/>
              </a:defRPr>
            </a:pPr>
            <a:r>
              <a:rPr sz="1800" b="1">
                <a:solidFill>
                  <a:srgbClr val="7A5C9E"/>
                </a:solidFill>
                <a:latin typeface="Nimbus Sans"/>
                <a:ea typeface="Nimbus Sans"/>
                <a:cs typeface="Nimbus Sans"/>
              </a:rPr>
              <a:t>Review</a:t>
            </a:r>
          </a:p>
        </p:txBody>
      </p:sp>
      <p:sp>
        <p:nvSpPr>
          <p:cNvPr id="6" name="3 min">
            <a:extLst xmlns:a="http://schemas.openxmlformats.org/drawingml/2006/main">
              <a:ext uri="{FF2B5EF4-FFF2-40B4-BE49-F238E27FC236}">
                <a16:creationId xmlns:a16="http://schemas.microsoft.com/office/drawing/2014/main" id="{6EB7710B-F6F1-4A5F-A691-3BEB617932DB}"/>
              </a:ext>
            </a:extLst>
          </p:cNvPr>
          <p:cNvSpPr>
            <a:spLocks xmlns:a="http://schemas.openxmlformats.org/drawingml/2006/main" noGrp="1"/>
          </p:cNvSpPr>
          <p:nvPr/>
        </p:nvSpPr>
        <p:spPr>
          <a:xfrm xmlns:a="http://schemas.openxmlformats.org/drawingml/2006/main">
            <a:off x="10029825" y="504825"/>
            <a:ext cx="14573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725" b="0">
                <a:solidFill>
                  <a:srgbClr val="465465"/>
                </a:solidFill>
                <a:latin typeface="Nimbus Sans"/>
                <a:ea typeface="Nimbus Sans"/>
                <a:cs typeface="Nimbus Sans"/>
              </a:defRPr>
            </a:pPr>
            <a:r>
              <a:rPr sz="1725" b="0">
                <a:solidFill>
                  <a:srgbClr val="465465"/>
                </a:solidFill>
                <a:latin typeface="Nimbus Sans"/>
                <a:ea typeface="Nimbus Sans"/>
                <a:cs typeface="Nimbus Sans"/>
              </a:rPr>
              <a:t>3 min</a:t>
            </a:r>
          </a:p>
        </p:txBody>
      </p:sp>
      <p:sp>
        <p:nvSpPr>
          <p:cNvPr id="7" name="Review a recommendation fairly">
            <a:extLst xmlns:a="http://schemas.openxmlformats.org/drawingml/2006/main">
              <a:ext uri="{FF2B5EF4-FFF2-40B4-BE49-F238E27FC236}">
                <a16:creationId xmlns:a16="http://schemas.microsoft.com/office/drawing/2014/main" id="{89E44526-6674-4F06-9CF5-515D6C3123A8}"/>
              </a:ext>
            </a:extLst>
          </p:cNvPr>
          <p:cNvSpPr>
            <a:spLocks xmlns:a="http://schemas.openxmlformats.org/drawingml/2006/main" noGrp="1"/>
          </p:cNvSpPr>
          <p:nvPr/>
        </p:nvSpPr>
        <p:spPr>
          <a:xfrm xmlns:a="http://schemas.openxmlformats.org/drawingml/2006/main">
            <a:off x="533400" y="1066800"/>
            <a:ext cx="11125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3000" b="1">
                <a:solidFill>
                  <a:srgbClr val="1F2937"/>
                </a:solidFill>
                <a:latin typeface="Nimbus Sans"/>
                <a:ea typeface="Nimbus Sans"/>
                <a:cs typeface="Nimbus Sans"/>
              </a:defRPr>
            </a:pPr>
            <a:r>
              <a:rPr sz="3000" b="1">
                <a:solidFill>
                  <a:srgbClr val="1F2937"/>
                </a:solidFill>
                <a:latin typeface="Nimbus Sans"/>
                <a:ea typeface="Nimbus Sans"/>
                <a:cs typeface="Nimbus Sans"/>
              </a:rPr>
              <a:t>Review a recommendation fairly</a:t>
            </a:r>
          </a:p>
        </p:txBody>
      </p:sp>
      <p:sp>
        <p:nvSpPr>
          <p:cNvPr id="8" name="surface">
            <a:extLst xmlns:a="http://schemas.openxmlformats.org/drawingml/2006/main">
              <a:ext uri="{FF2B5EF4-FFF2-40B4-BE49-F238E27FC236}">
                <a16:creationId xmlns:a16="http://schemas.microsoft.com/office/drawing/2014/main" id="{1DBF94C4-567D-42C4-BF2E-AD06664F5DD7}"/>
              </a:ext>
            </a:extLst>
          </p:cNvPr>
          <p:cNvSpPr>
            <a:spLocks xmlns:a="http://schemas.openxmlformats.org/drawingml/2006/main" noGrp="1"/>
          </p:cNvSpPr>
          <p:nvPr/>
        </p:nvSpPr>
        <p:spPr>
          <a:xfrm xmlns:a="http://schemas.openxmlformats.org/drawingml/2006/main">
            <a:off x="457200" y="6496050"/>
            <a:ext cx="11277600" cy="9525"/>
          </a:xfrm>
          <a:prstGeom xmlns:a="http://schemas.openxmlformats.org/drawingml/2006/main" prst="rect">
            <a:avLst/>
          </a:prstGeom>
          <a:solidFill xmlns:a="http://schemas.openxmlformats.org/drawingml/2006/main">
            <a:srgbClr val="D8DDE2"/>
          </a:solidFill>
          <a:ln xmlns:a="http://schemas.openxmlformats.org/drawingml/2006/main" w="0">
            <a:noFill/>
          </a:ln>
        </p:spPr>
      </p:sp>
      <p:sp>
        <p:nvSpPr>
          <p:cNvPr id="9" name="Genetic engineering: change, test, decide">
            <a:extLst xmlns:a="http://schemas.openxmlformats.org/drawingml/2006/main">
              <a:ext uri="{FF2B5EF4-FFF2-40B4-BE49-F238E27FC236}">
                <a16:creationId xmlns:a16="http://schemas.microsoft.com/office/drawing/2014/main" id="{4F1F6570-9711-4074-B8AE-208340DDFB11}"/>
              </a:ext>
            </a:extLst>
          </p:cNvPr>
          <p:cNvSpPr>
            <a:spLocks xmlns:a="http://schemas.openxmlformats.org/drawingml/2006/main" noGrp="1"/>
          </p:cNvSpPr>
          <p:nvPr/>
        </p:nvSpPr>
        <p:spPr>
          <a:xfrm xmlns:a="http://schemas.openxmlformats.org/drawingml/2006/main">
            <a:off x="533400" y="6600825"/>
            <a:ext cx="10572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Genetic engineering: change, test, decide</a:t>
            </a:r>
          </a:p>
        </p:txBody>
      </p:sp>
      <p:sp>
        <p:nvSpPr>
          <p:cNvPr id="10" name="13 / 15">
            <a:extLst xmlns:a="http://schemas.openxmlformats.org/drawingml/2006/main">
              <a:ext uri="{FF2B5EF4-FFF2-40B4-BE49-F238E27FC236}">
                <a16:creationId xmlns:a16="http://schemas.microsoft.com/office/drawing/2014/main" id="{62D222F1-6A0F-43B9-84AB-9B435D234672}"/>
              </a:ext>
            </a:extLst>
          </p:cNvPr>
          <p:cNvSpPr>
            <a:spLocks xmlns:a="http://schemas.openxmlformats.org/drawingml/2006/main" noGrp="1"/>
          </p:cNvSpPr>
          <p:nvPr/>
        </p:nvSpPr>
        <p:spPr>
          <a:xfrm xmlns:a="http://schemas.openxmlformats.org/drawingml/2006/main">
            <a:off x="10953750" y="6600825"/>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13 / 15</a:t>
            </a:r>
          </a:p>
        </p:txBody>
      </p:sp>
      <p:sp>
        <p:nvSpPr>
          <p:cNvPr id="11" name="Does it explain the genetic change?">
            <a:extLst xmlns:a="http://schemas.openxmlformats.org/drawingml/2006/main">
              <a:ext uri="{FF2B5EF4-FFF2-40B4-BE49-F238E27FC236}">
                <a16:creationId xmlns:a16="http://schemas.microsoft.com/office/drawing/2014/main" id="{9A78E5B7-73B1-40FF-A42F-F55837E9C81A}"/>
              </a:ext>
            </a:extLst>
          </p:cNvPr>
          <p:cNvSpPr>
            <a:spLocks xmlns:a="http://schemas.openxmlformats.org/drawingml/2006/main" noGrp="1"/>
          </p:cNvSpPr>
          <p:nvPr/>
        </p:nvSpPr>
        <p:spPr>
          <a:xfrm xmlns:a="http://schemas.openxmlformats.org/drawingml/2006/main">
            <a:off x="762000" y="2028825"/>
            <a:ext cx="10668000" cy="3629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1F2937"/>
                </a:solidFill>
                <a:latin typeface="Nimbus Sans"/>
                <a:ea typeface="Nimbus Sans"/>
                <a:cs typeface="Nimbus Sans"/>
              </a:defRPr>
            </a:pPr>
            <a:r>
              <a:rPr sz="2325" b="0">
                <a:solidFill>
                  <a:srgbClr val="1F2937"/>
                </a:solidFill>
                <a:latin typeface="Nimbus Sans"/>
                <a:ea typeface="Nimbus Sans"/>
                <a:cs typeface="Nimbus Sans"/>
              </a:rPr>
              <a:t>Does it explain the genetic change?</a:t>
            </a:r>
          </a:p>
        </p:txBody>
      </p:sp>
      <p:sp>
        <p:nvSpPr>
          <p:cNvPr id="12" name="Does it separate evidence from uncertainty?">
            <a:extLst xmlns:a="http://schemas.openxmlformats.org/drawingml/2006/main">
              <a:ext uri="{FF2B5EF4-FFF2-40B4-BE49-F238E27FC236}">
                <a16:creationId xmlns:a16="http://schemas.microsoft.com/office/drawing/2014/main" id="{5FE6B209-2B4B-4C8D-BBE4-D20AC954BE74}"/>
              </a:ext>
            </a:extLst>
          </p:cNvPr>
          <p:cNvSpPr>
            <a:spLocks xmlns:a="http://schemas.openxmlformats.org/drawingml/2006/main" noGrp="1"/>
          </p:cNvSpPr>
          <p:nvPr/>
        </p:nvSpPr>
        <p:spPr>
          <a:xfrm xmlns:a="http://schemas.openxmlformats.org/drawingml/2006/main">
            <a:off x="762000" y="2582228"/>
            <a:ext cx="10668000" cy="3629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1F2937"/>
                </a:solidFill>
                <a:latin typeface="Nimbus Sans"/>
                <a:ea typeface="Nimbus Sans"/>
                <a:cs typeface="Nimbus Sans"/>
              </a:defRPr>
            </a:pPr>
            <a:r>
              <a:rPr sz="2325" b="0">
                <a:solidFill>
                  <a:srgbClr val="1F2937"/>
                </a:solidFill>
                <a:latin typeface="Nimbus Sans"/>
                <a:ea typeface="Nimbus Sans"/>
                <a:cs typeface="Nimbus Sans"/>
              </a:rPr>
              <a:t>Does it separate evidence from uncertainty?</a:t>
            </a:r>
          </a:p>
        </p:txBody>
      </p:sp>
      <p:sp>
        <p:nvSpPr>
          <p:cNvPr id="13" name="Use one audience question to sharpen the next step.">
            <a:extLst xmlns:a="http://schemas.openxmlformats.org/drawingml/2006/main">
              <a:ext uri="{FF2B5EF4-FFF2-40B4-BE49-F238E27FC236}">
                <a16:creationId xmlns:a16="http://schemas.microsoft.com/office/drawing/2014/main" id="{B0C0F401-C43D-4A21-BDB1-4CEF3FEEEC22}"/>
              </a:ext>
            </a:extLst>
          </p:cNvPr>
          <p:cNvSpPr>
            <a:spLocks xmlns:a="http://schemas.openxmlformats.org/drawingml/2006/main" noGrp="1"/>
          </p:cNvSpPr>
          <p:nvPr/>
        </p:nvSpPr>
        <p:spPr>
          <a:xfrm xmlns:a="http://schemas.openxmlformats.org/drawingml/2006/main">
            <a:off x="762000" y="3135630"/>
            <a:ext cx="10668000" cy="3629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1F2937"/>
                </a:solidFill>
                <a:latin typeface="Nimbus Sans"/>
                <a:ea typeface="Nimbus Sans"/>
                <a:cs typeface="Nimbus Sans"/>
              </a:defRPr>
            </a:pPr>
            <a:r>
              <a:rPr sz="2325" b="0">
                <a:solidFill>
                  <a:srgbClr val="1F2937"/>
                </a:solidFill>
                <a:latin typeface="Nimbus Sans"/>
                <a:ea typeface="Nimbus Sans"/>
                <a:cs typeface="Nimbus Sans"/>
              </a:rPr>
              <a:t>Use one audience question to sharpen the next step.</a:t>
            </a:r>
          </a:p>
        </p:txBody>
      </p:sp>
    </p:spTree>
    <p:extLst>
      <p:ext uri="{BB962C8B-B14F-4D97-AF65-F5344CB8AC3E}">
        <p14:creationId xmlns:p14="http://schemas.microsoft.com/office/powerpoint/2010/main" val="350490396"/>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surface">
            <a:extLst xmlns:a="http://schemas.openxmlformats.org/drawingml/2006/main">
              <a:ext uri="{FF2B5EF4-FFF2-40B4-BE49-F238E27FC236}">
                <a16:creationId xmlns:a16="http://schemas.microsoft.com/office/drawing/2014/main" id="{2AD933ED-890F-4FF6-AA0B-3BF53B675748}"/>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7A5C9E"/>
          </a:solidFill>
          <a:ln xmlns:a="http://schemas.openxmlformats.org/drawingml/2006/main" w="0">
            <a:noFill/>
          </a:ln>
        </p:spPr>
      </p:sp>
      <p:sp>
        <p:nvSpPr>
          <p:cNvPr id="2" name="surface">
            <a:extLst xmlns:a="http://schemas.openxmlformats.org/drawingml/2006/main">
              <a:ext uri="{FF2B5EF4-FFF2-40B4-BE49-F238E27FC236}">
                <a16:creationId xmlns:a16="http://schemas.microsoft.com/office/drawing/2014/main" id="{CC90AB1E-DAF8-405E-A3F2-BBAB1C8BDC14}"/>
              </a:ext>
            </a:extLst>
          </p:cNvPr>
          <p:cNvSpPr>
            <a:spLocks xmlns:a="http://schemas.openxmlformats.org/drawingml/2006/main" noGrp="1"/>
          </p:cNvSpPr>
          <p:nvPr/>
        </p:nvSpPr>
        <p:spPr>
          <a:xfrm xmlns:a="http://schemas.openxmlformats.org/drawingml/2006/main">
            <a:off x="457200" y="400050"/>
            <a:ext cx="11277600" cy="485775"/>
          </a:xfrm>
          <a:prstGeom xmlns:a="http://schemas.openxmlformats.org/drawingml/2006/main" prst="rect">
            <a:avLst/>
          </a:prstGeom>
          <a:solidFill xmlns:a="http://schemas.openxmlformats.org/drawingml/2006/main">
            <a:srgbClr val="E6F0E6"/>
          </a:solidFill>
          <a:ln xmlns:a="http://schemas.openxmlformats.org/drawingml/2006/main" w="0">
            <a:noFill/>
          </a:ln>
        </p:spPr>
      </p:sp>
      <p:sp>
        <p:nvSpPr>
          <p:cNvPr id="3" name="surface">
            <a:extLst xmlns:a="http://schemas.openxmlformats.org/drawingml/2006/main">
              <a:ext uri="{FF2B5EF4-FFF2-40B4-BE49-F238E27FC236}">
                <a16:creationId xmlns:a16="http://schemas.microsoft.com/office/drawing/2014/main" id="{F5942E8B-6B9D-4071-8DB0-68E1FEC92BB2}"/>
              </a:ext>
            </a:extLst>
          </p:cNvPr>
          <p:cNvSpPr>
            <a:spLocks xmlns:a="http://schemas.openxmlformats.org/drawingml/2006/main" noGrp="1"/>
          </p:cNvSpPr>
          <p:nvPr/>
        </p:nvSpPr>
        <p:spPr>
          <a:xfrm xmlns:a="http://schemas.openxmlformats.org/drawingml/2006/main">
            <a:off x="457200" y="400050"/>
            <a:ext cx="66675" cy="485775"/>
          </a:xfrm>
          <a:prstGeom xmlns:a="http://schemas.openxmlformats.org/drawingml/2006/main" prst="rect">
            <a:avLst/>
          </a:prstGeom>
          <a:solidFill xmlns:a="http://schemas.openxmlformats.org/drawingml/2006/main">
            <a:srgbClr val="7A5C9E"/>
          </a:solidFill>
          <a:ln xmlns:a="http://schemas.openxmlformats.org/drawingml/2006/main" w="0">
            <a:noFill/>
          </a:ln>
        </p:spPr>
      </p:sp>
      <p:sp>
        <p:nvSpPr>
          <p:cNvPr id="4" name="LAUNCH SCIENCE">
            <a:extLst xmlns:a="http://schemas.openxmlformats.org/drawingml/2006/main">
              <a:ext uri="{FF2B5EF4-FFF2-40B4-BE49-F238E27FC236}">
                <a16:creationId xmlns:a16="http://schemas.microsoft.com/office/drawing/2014/main" id="{EC67EC6C-8C7B-40C6-AB2B-0996B6879059}"/>
              </a:ext>
            </a:extLst>
          </p:cNvPr>
          <p:cNvSpPr>
            <a:spLocks xmlns:a="http://schemas.openxmlformats.org/drawingml/2006/main" noGrp="1"/>
          </p:cNvSpPr>
          <p:nvPr/>
        </p:nvSpPr>
        <p:spPr>
          <a:xfrm xmlns:a="http://schemas.openxmlformats.org/drawingml/2006/main">
            <a:off x="685800" y="504825"/>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1">
                <a:solidFill>
                  <a:srgbClr val="7A5C9E"/>
                </a:solidFill>
                <a:latin typeface="Nimbus Sans"/>
                <a:ea typeface="Nimbus Sans"/>
                <a:cs typeface="Nimbus Sans"/>
              </a:defRPr>
            </a:pPr>
            <a:r>
              <a:rPr sz="1800" b="1">
                <a:solidFill>
                  <a:srgbClr val="7A5C9E"/>
                </a:solidFill>
                <a:latin typeface="Nimbus Sans"/>
                <a:ea typeface="Nimbus Sans"/>
                <a:cs typeface="Nimbus Sans"/>
              </a:rPr>
              <a:t>LAUNCH SCIENCE</a:t>
            </a:r>
          </a:p>
        </p:txBody>
      </p:sp>
      <p:sp>
        <p:nvSpPr>
          <p:cNvPr id="5" name="Review">
            <a:extLst xmlns:a="http://schemas.openxmlformats.org/drawingml/2006/main">
              <a:ext uri="{FF2B5EF4-FFF2-40B4-BE49-F238E27FC236}">
                <a16:creationId xmlns:a16="http://schemas.microsoft.com/office/drawing/2014/main" id="{4D47CEF6-A1F9-472C-AF93-AA7BC2C01A86}"/>
              </a:ext>
            </a:extLst>
          </p:cNvPr>
          <p:cNvSpPr>
            <a:spLocks xmlns:a="http://schemas.openxmlformats.org/drawingml/2006/main" noGrp="1"/>
          </p:cNvSpPr>
          <p:nvPr/>
        </p:nvSpPr>
        <p:spPr>
          <a:xfrm xmlns:a="http://schemas.openxmlformats.org/drawingml/2006/main">
            <a:off x="5943600" y="504825"/>
            <a:ext cx="3752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1">
                <a:solidFill>
                  <a:srgbClr val="7A5C9E"/>
                </a:solidFill>
                <a:latin typeface="Nimbus Sans"/>
                <a:ea typeface="Nimbus Sans"/>
                <a:cs typeface="Nimbus Sans"/>
              </a:defRPr>
            </a:pPr>
            <a:r>
              <a:rPr sz="1800" b="1">
                <a:solidFill>
                  <a:srgbClr val="7A5C9E"/>
                </a:solidFill>
                <a:latin typeface="Nimbus Sans"/>
                <a:ea typeface="Nimbus Sans"/>
                <a:cs typeface="Nimbus Sans"/>
              </a:rPr>
              <a:t>Review</a:t>
            </a:r>
          </a:p>
        </p:txBody>
      </p:sp>
      <p:sp>
        <p:nvSpPr>
          <p:cNvPr id="6" name="Carry a good question into Week 4">
            <a:extLst xmlns:a="http://schemas.openxmlformats.org/drawingml/2006/main">
              <a:ext uri="{FF2B5EF4-FFF2-40B4-BE49-F238E27FC236}">
                <a16:creationId xmlns:a16="http://schemas.microsoft.com/office/drawing/2014/main" id="{04B33231-BB51-4F60-8406-84A162D29453}"/>
              </a:ext>
            </a:extLst>
          </p:cNvPr>
          <p:cNvSpPr>
            <a:spLocks xmlns:a="http://schemas.openxmlformats.org/drawingml/2006/main" noGrp="1"/>
          </p:cNvSpPr>
          <p:nvPr/>
        </p:nvSpPr>
        <p:spPr>
          <a:xfrm xmlns:a="http://schemas.openxmlformats.org/drawingml/2006/main">
            <a:off x="533400" y="1066800"/>
            <a:ext cx="11125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3000" b="1">
                <a:solidFill>
                  <a:srgbClr val="1F2937"/>
                </a:solidFill>
                <a:latin typeface="Nimbus Sans"/>
                <a:ea typeface="Nimbus Sans"/>
                <a:cs typeface="Nimbus Sans"/>
              </a:defRPr>
            </a:pPr>
            <a:r>
              <a:rPr sz="3000" b="1">
                <a:solidFill>
                  <a:srgbClr val="1F2937"/>
                </a:solidFill>
                <a:latin typeface="Nimbus Sans"/>
                <a:ea typeface="Nimbus Sans"/>
                <a:cs typeface="Nimbus Sans"/>
              </a:rPr>
              <a:t>Carry a good question into Week 4</a:t>
            </a:r>
          </a:p>
        </p:txBody>
      </p:sp>
      <p:sp>
        <p:nvSpPr>
          <p:cNvPr id="7" name="surface">
            <a:extLst xmlns:a="http://schemas.openxmlformats.org/drawingml/2006/main">
              <a:ext uri="{FF2B5EF4-FFF2-40B4-BE49-F238E27FC236}">
                <a16:creationId xmlns:a16="http://schemas.microsoft.com/office/drawing/2014/main" id="{7CF646C7-96EB-43DB-9360-9C7A0AB00EA6}"/>
              </a:ext>
            </a:extLst>
          </p:cNvPr>
          <p:cNvSpPr>
            <a:spLocks xmlns:a="http://schemas.openxmlformats.org/drawingml/2006/main" noGrp="1"/>
          </p:cNvSpPr>
          <p:nvPr/>
        </p:nvSpPr>
        <p:spPr>
          <a:xfrm xmlns:a="http://schemas.openxmlformats.org/drawingml/2006/main">
            <a:off x="457200" y="6496050"/>
            <a:ext cx="11277600" cy="9525"/>
          </a:xfrm>
          <a:prstGeom xmlns:a="http://schemas.openxmlformats.org/drawingml/2006/main" prst="rect">
            <a:avLst/>
          </a:prstGeom>
          <a:solidFill xmlns:a="http://schemas.openxmlformats.org/drawingml/2006/main">
            <a:srgbClr val="D8DDE2"/>
          </a:solidFill>
          <a:ln xmlns:a="http://schemas.openxmlformats.org/drawingml/2006/main" w="0">
            <a:noFill/>
          </a:ln>
        </p:spPr>
      </p:sp>
      <p:sp>
        <p:nvSpPr>
          <p:cNvPr id="8" name="Genetic engineering: change, test, decide">
            <a:extLst xmlns:a="http://schemas.openxmlformats.org/drawingml/2006/main">
              <a:ext uri="{FF2B5EF4-FFF2-40B4-BE49-F238E27FC236}">
                <a16:creationId xmlns:a16="http://schemas.microsoft.com/office/drawing/2014/main" id="{6CBDB05E-3AAF-45F5-AA21-18BC4C75E3FC}"/>
              </a:ext>
            </a:extLst>
          </p:cNvPr>
          <p:cNvSpPr>
            <a:spLocks xmlns:a="http://schemas.openxmlformats.org/drawingml/2006/main" noGrp="1"/>
          </p:cNvSpPr>
          <p:nvPr/>
        </p:nvSpPr>
        <p:spPr>
          <a:xfrm xmlns:a="http://schemas.openxmlformats.org/drawingml/2006/main">
            <a:off x="533400" y="6600825"/>
            <a:ext cx="10572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Genetic engineering: change, test, decide</a:t>
            </a:r>
          </a:p>
        </p:txBody>
      </p:sp>
      <p:sp>
        <p:nvSpPr>
          <p:cNvPr id="9" name="14 / 15">
            <a:extLst xmlns:a="http://schemas.openxmlformats.org/drawingml/2006/main">
              <a:ext uri="{FF2B5EF4-FFF2-40B4-BE49-F238E27FC236}">
                <a16:creationId xmlns:a16="http://schemas.microsoft.com/office/drawing/2014/main" id="{8B7FA3CE-70D9-4EBA-BC9F-D927036326B2}"/>
              </a:ext>
            </a:extLst>
          </p:cNvPr>
          <p:cNvSpPr>
            <a:spLocks xmlns:a="http://schemas.openxmlformats.org/drawingml/2006/main" noGrp="1"/>
          </p:cNvSpPr>
          <p:nvPr/>
        </p:nvSpPr>
        <p:spPr>
          <a:xfrm xmlns:a="http://schemas.openxmlformats.org/drawingml/2006/main">
            <a:off x="10953750" y="6600825"/>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14 / 15</a:t>
            </a:r>
          </a:p>
        </p:txBody>
      </p:sp>
      <p:sp>
        <p:nvSpPr>
          <p:cNvPr id="10" name="Which crop and trait are being assessed?">
            <a:extLst xmlns:a="http://schemas.openxmlformats.org/drawingml/2006/main">
              <a:ext uri="{FF2B5EF4-FFF2-40B4-BE49-F238E27FC236}">
                <a16:creationId xmlns:a16="http://schemas.microsoft.com/office/drawing/2014/main" id="{1BAE5D00-70A8-4D1A-B629-106E00F749C7}"/>
              </a:ext>
            </a:extLst>
          </p:cNvPr>
          <p:cNvSpPr>
            <a:spLocks xmlns:a="http://schemas.openxmlformats.org/drawingml/2006/main" noGrp="1"/>
          </p:cNvSpPr>
          <p:nvPr/>
        </p:nvSpPr>
        <p:spPr>
          <a:xfrm xmlns:a="http://schemas.openxmlformats.org/drawingml/2006/main">
            <a:off x="762000" y="2028825"/>
            <a:ext cx="10668000" cy="3629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1F2937"/>
                </a:solidFill>
                <a:latin typeface="Nimbus Sans"/>
                <a:ea typeface="Nimbus Sans"/>
                <a:cs typeface="Nimbus Sans"/>
              </a:defRPr>
            </a:pPr>
            <a:r>
              <a:rPr sz="2325" b="0">
                <a:solidFill>
                  <a:srgbClr val="1F2937"/>
                </a:solidFill>
                <a:latin typeface="Nimbus Sans"/>
                <a:ea typeface="Nimbus Sans"/>
                <a:cs typeface="Nimbus Sans"/>
              </a:rPr>
              <a:t>Which crop and trait are being assessed?</a:t>
            </a:r>
          </a:p>
        </p:txBody>
      </p:sp>
      <p:sp>
        <p:nvSpPr>
          <p:cNvPr id="11" name="What evidence would answer our unanswered question?">
            <a:extLst xmlns:a="http://schemas.openxmlformats.org/drawingml/2006/main">
              <a:ext uri="{FF2B5EF4-FFF2-40B4-BE49-F238E27FC236}">
                <a16:creationId xmlns:a16="http://schemas.microsoft.com/office/drawing/2014/main" id="{D5D23EBB-EA14-4ED9-95F5-96B3929724D6}"/>
              </a:ext>
            </a:extLst>
          </p:cNvPr>
          <p:cNvSpPr>
            <a:spLocks xmlns:a="http://schemas.openxmlformats.org/drawingml/2006/main" noGrp="1"/>
          </p:cNvSpPr>
          <p:nvPr/>
        </p:nvSpPr>
        <p:spPr>
          <a:xfrm xmlns:a="http://schemas.openxmlformats.org/drawingml/2006/main">
            <a:off x="762000" y="2582228"/>
            <a:ext cx="10668000" cy="3629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1F2937"/>
                </a:solidFill>
                <a:latin typeface="Nimbus Sans"/>
                <a:ea typeface="Nimbus Sans"/>
                <a:cs typeface="Nimbus Sans"/>
              </a:defRPr>
            </a:pPr>
            <a:r>
              <a:rPr sz="2325" b="0">
                <a:solidFill>
                  <a:srgbClr val="1F2937"/>
                </a:solidFill>
                <a:latin typeface="Nimbus Sans"/>
                <a:ea typeface="Nimbus Sans"/>
                <a:cs typeface="Nimbus Sans"/>
              </a:rPr>
              <a:t>What evidence would answer our unanswered question?</a:t>
            </a:r>
          </a:p>
        </p:txBody>
      </p:sp>
      <p:sp>
        <p:nvSpPr>
          <p:cNvPr id="12" name="Who would be affected by the decision?">
            <a:extLst xmlns:a="http://schemas.openxmlformats.org/drawingml/2006/main">
              <a:ext uri="{FF2B5EF4-FFF2-40B4-BE49-F238E27FC236}">
                <a16:creationId xmlns:a16="http://schemas.microsoft.com/office/drawing/2014/main" id="{80F5E43A-A4ED-4BBB-8753-E91950A086B6}"/>
              </a:ext>
            </a:extLst>
          </p:cNvPr>
          <p:cNvSpPr>
            <a:spLocks xmlns:a="http://schemas.openxmlformats.org/drawingml/2006/main" noGrp="1"/>
          </p:cNvSpPr>
          <p:nvPr/>
        </p:nvSpPr>
        <p:spPr>
          <a:xfrm xmlns:a="http://schemas.openxmlformats.org/drawingml/2006/main">
            <a:off x="762000" y="3135630"/>
            <a:ext cx="10668000" cy="3629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1F2937"/>
                </a:solidFill>
                <a:latin typeface="Nimbus Sans"/>
                <a:ea typeface="Nimbus Sans"/>
                <a:cs typeface="Nimbus Sans"/>
              </a:defRPr>
            </a:pPr>
            <a:r>
              <a:rPr sz="2325" b="0">
                <a:solidFill>
                  <a:srgbClr val="1F2937"/>
                </a:solidFill>
                <a:latin typeface="Nimbus Sans"/>
                <a:ea typeface="Nimbus Sans"/>
                <a:cs typeface="Nimbus Sans"/>
              </a:rPr>
              <a:t>Who would be affected by the decision?</a:t>
            </a:r>
          </a:p>
        </p:txBody>
      </p:sp>
    </p:spTree>
    <p:extLst>
      <p:ext uri="{BB962C8B-B14F-4D97-AF65-F5344CB8AC3E}">
        <p14:creationId xmlns:p14="http://schemas.microsoft.com/office/powerpoint/2010/main" val="2022563589"/>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urface">
            <a:extLst xmlns:a="http://schemas.openxmlformats.org/drawingml/2006/main">
              <a:ext uri="{FF2B5EF4-FFF2-40B4-BE49-F238E27FC236}">
                <a16:creationId xmlns:a16="http://schemas.microsoft.com/office/drawing/2014/main" id="{9743718E-26A6-450B-904A-79C231552568}"/>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7A5C9E"/>
          </a:solidFill>
          <a:ln xmlns:a="http://schemas.openxmlformats.org/drawingml/2006/main" w="0">
            <a:noFill/>
          </a:ln>
        </p:spPr>
      </p:sp>
      <p:sp>
        <p:nvSpPr>
          <p:cNvPr id="2" name="surface">
            <a:extLst xmlns:a="http://schemas.openxmlformats.org/drawingml/2006/main">
              <a:ext uri="{FF2B5EF4-FFF2-40B4-BE49-F238E27FC236}">
                <a16:creationId xmlns:a16="http://schemas.microsoft.com/office/drawing/2014/main" id="{662CD3F7-A16F-4C1A-A186-BBB81DEC09C4}"/>
              </a:ext>
            </a:extLst>
          </p:cNvPr>
          <p:cNvSpPr>
            <a:spLocks xmlns:a="http://schemas.openxmlformats.org/drawingml/2006/main" noGrp="1"/>
          </p:cNvSpPr>
          <p:nvPr/>
        </p:nvSpPr>
        <p:spPr>
          <a:xfrm xmlns:a="http://schemas.openxmlformats.org/drawingml/2006/main">
            <a:off x="457200" y="400050"/>
            <a:ext cx="11277600" cy="485775"/>
          </a:xfrm>
          <a:prstGeom xmlns:a="http://schemas.openxmlformats.org/drawingml/2006/main" prst="rect">
            <a:avLst/>
          </a:prstGeom>
          <a:solidFill xmlns:a="http://schemas.openxmlformats.org/drawingml/2006/main">
            <a:srgbClr val="E6F0E6"/>
          </a:solidFill>
          <a:ln xmlns:a="http://schemas.openxmlformats.org/drawingml/2006/main" w="0">
            <a:noFill/>
          </a:ln>
        </p:spPr>
      </p:sp>
      <p:sp>
        <p:nvSpPr>
          <p:cNvPr id="3" name="surface">
            <a:extLst xmlns:a="http://schemas.openxmlformats.org/drawingml/2006/main">
              <a:ext uri="{FF2B5EF4-FFF2-40B4-BE49-F238E27FC236}">
                <a16:creationId xmlns:a16="http://schemas.microsoft.com/office/drawing/2014/main" id="{AD1DD731-19D2-46AA-89D8-ECC8E86290BC}"/>
              </a:ext>
            </a:extLst>
          </p:cNvPr>
          <p:cNvSpPr>
            <a:spLocks xmlns:a="http://schemas.openxmlformats.org/drawingml/2006/main" noGrp="1"/>
          </p:cNvSpPr>
          <p:nvPr/>
        </p:nvSpPr>
        <p:spPr>
          <a:xfrm xmlns:a="http://schemas.openxmlformats.org/drawingml/2006/main">
            <a:off x="457200" y="400050"/>
            <a:ext cx="66675" cy="485775"/>
          </a:xfrm>
          <a:prstGeom xmlns:a="http://schemas.openxmlformats.org/drawingml/2006/main" prst="rect">
            <a:avLst/>
          </a:prstGeom>
          <a:solidFill xmlns:a="http://schemas.openxmlformats.org/drawingml/2006/main">
            <a:srgbClr val="7A5C9E"/>
          </a:solidFill>
          <a:ln xmlns:a="http://schemas.openxmlformats.org/drawingml/2006/main" w="0">
            <a:noFill/>
          </a:ln>
        </p:spPr>
      </p:sp>
      <p:sp>
        <p:nvSpPr>
          <p:cNvPr id="4" name="LAUNCH SCIENCE">
            <a:extLst xmlns:a="http://schemas.openxmlformats.org/drawingml/2006/main">
              <a:ext uri="{FF2B5EF4-FFF2-40B4-BE49-F238E27FC236}">
                <a16:creationId xmlns:a16="http://schemas.microsoft.com/office/drawing/2014/main" id="{EE6A0CED-9B04-48AB-8C7B-D8D52E4E3CEC}"/>
              </a:ext>
            </a:extLst>
          </p:cNvPr>
          <p:cNvSpPr>
            <a:spLocks xmlns:a="http://schemas.openxmlformats.org/drawingml/2006/main" noGrp="1"/>
          </p:cNvSpPr>
          <p:nvPr/>
        </p:nvSpPr>
        <p:spPr>
          <a:xfrm xmlns:a="http://schemas.openxmlformats.org/drawingml/2006/main">
            <a:off x="685800" y="504825"/>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1">
                <a:solidFill>
                  <a:srgbClr val="7A5C9E"/>
                </a:solidFill>
                <a:latin typeface="Nimbus Sans"/>
                <a:ea typeface="Nimbus Sans"/>
                <a:cs typeface="Nimbus Sans"/>
              </a:defRPr>
            </a:pPr>
            <a:r>
              <a:rPr sz="1800" b="1">
                <a:solidFill>
                  <a:srgbClr val="7A5C9E"/>
                </a:solidFill>
                <a:latin typeface="Nimbus Sans"/>
                <a:ea typeface="Nimbus Sans"/>
                <a:cs typeface="Nimbus Sans"/>
              </a:rPr>
              <a:t>LAUNCH SCIENCE</a:t>
            </a:r>
          </a:p>
        </p:txBody>
      </p:sp>
      <p:sp>
        <p:nvSpPr>
          <p:cNvPr id="5" name="Exit">
            <a:extLst xmlns:a="http://schemas.openxmlformats.org/drawingml/2006/main">
              <a:ext uri="{FF2B5EF4-FFF2-40B4-BE49-F238E27FC236}">
                <a16:creationId xmlns:a16="http://schemas.microsoft.com/office/drawing/2014/main" id="{962D5BB3-E796-400B-9819-B550E775BC70}"/>
              </a:ext>
            </a:extLst>
          </p:cNvPr>
          <p:cNvSpPr>
            <a:spLocks xmlns:a="http://schemas.openxmlformats.org/drawingml/2006/main" noGrp="1"/>
          </p:cNvSpPr>
          <p:nvPr/>
        </p:nvSpPr>
        <p:spPr>
          <a:xfrm xmlns:a="http://schemas.openxmlformats.org/drawingml/2006/main">
            <a:off x="5943600" y="504825"/>
            <a:ext cx="3752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1">
                <a:solidFill>
                  <a:srgbClr val="7A5C9E"/>
                </a:solidFill>
                <a:latin typeface="Nimbus Sans"/>
                <a:ea typeface="Nimbus Sans"/>
                <a:cs typeface="Nimbus Sans"/>
              </a:defRPr>
            </a:pPr>
            <a:r>
              <a:rPr sz="1800" b="1">
                <a:solidFill>
                  <a:srgbClr val="7A5C9E"/>
                </a:solidFill>
                <a:latin typeface="Nimbus Sans"/>
                <a:ea typeface="Nimbus Sans"/>
                <a:cs typeface="Nimbus Sans"/>
              </a:rPr>
              <a:t>Exit</a:t>
            </a:r>
          </a:p>
        </p:txBody>
      </p:sp>
      <p:sp>
        <p:nvSpPr>
          <p:cNvPr id="6" name="1 min">
            <a:extLst xmlns:a="http://schemas.openxmlformats.org/drawingml/2006/main">
              <a:ext uri="{FF2B5EF4-FFF2-40B4-BE49-F238E27FC236}">
                <a16:creationId xmlns:a16="http://schemas.microsoft.com/office/drawing/2014/main" id="{37A8A4E8-7BFE-4BE4-8882-5535D33537FB}"/>
              </a:ext>
            </a:extLst>
          </p:cNvPr>
          <p:cNvSpPr>
            <a:spLocks xmlns:a="http://schemas.openxmlformats.org/drawingml/2006/main" noGrp="1"/>
          </p:cNvSpPr>
          <p:nvPr/>
        </p:nvSpPr>
        <p:spPr>
          <a:xfrm xmlns:a="http://schemas.openxmlformats.org/drawingml/2006/main">
            <a:off x="10029825" y="504825"/>
            <a:ext cx="14573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725" b="0">
                <a:solidFill>
                  <a:srgbClr val="465465"/>
                </a:solidFill>
                <a:latin typeface="Nimbus Sans"/>
                <a:ea typeface="Nimbus Sans"/>
                <a:cs typeface="Nimbus Sans"/>
              </a:defRPr>
            </a:pPr>
            <a:r>
              <a:rPr sz="1725" b="0">
                <a:solidFill>
                  <a:srgbClr val="465465"/>
                </a:solidFill>
                <a:latin typeface="Nimbus Sans"/>
                <a:ea typeface="Nimbus Sans"/>
                <a:cs typeface="Nimbus Sans"/>
              </a:rPr>
              <a:t>1 min</a:t>
            </a:r>
          </a:p>
        </p:txBody>
      </p:sp>
      <p:sp>
        <p:nvSpPr>
          <p:cNvPr id="7" name="Explain, support, qualify">
            <a:extLst xmlns:a="http://schemas.openxmlformats.org/drawingml/2006/main">
              <a:ext uri="{FF2B5EF4-FFF2-40B4-BE49-F238E27FC236}">
                <a16:creationId xmlns:a16="http://schemas.microsoft.com/office/drawing/2014/main" id="{D9BFD573-916D-4538-BDBA-6D6105CEE488}"/>
              </a:ext>
            </a:extLst>
          </p:cNvPr>
          <p:cNvSpPr>
            <a:spLocks xmlns:a="http://schemas.openxmlformats.org/drawingml/2006/main" noGrp="1"/>
          </p:cNvSpPr>
          <p:nvPr/>
        </p:nvSpPr>
        <p:spPr>
          <a:xfrm xmlns:a="http://schemas.openxmlformats.org/drawingml/2006/main">
            <a:off x="533400" y="1066800"/>
            <a:ext cx="11125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3000" b="1">
                <a:solidFill>
                  <a:srgbClr val="1F2937"/>
                </a:solidFill>
                <a:latin typeface="Nimbus Sans"/>
                <a:ea typeface="Nimbus Sans"/>
                <a:cs typeface="Nimbus Sans"/>
              </a:defRPr>
            </a:pPr>
            <a:r>
              <a:rPr sz="3000" b="1">
                <a:solidFill>
                  <a:srgbClr val="1F2937"/>
                </a:solidFill>
                <a:latin typeface="Nimbus Sans"/>
                <a:ea typeface="Nimbus Sans"/>
                <a:cs typeface="Nimbus Sans"/>
              </a:rPr>
              <a:t>Explain, support, qualify</a:t>
            </a:r>
          </a:p>
        </p:txBody>
      </p:sp>
      <p:sp>
        <p:nvSpPr>
          <p:cNvPr id="8" name="surface">
            <a:extLst xmlns:a="http://schemas.openxmlformats.org/drawingml/2006/main">
              <a:ext uri="{FF2B5EF4-FFF2-40B4-BE49-F238E27FC236}">
                <a16:creationId xmlns:a16="http://schemas.microsoft.com/office/drawing/2014/main" id="{A37F764A-1812-48CD-9BF8-3981D399CE26}"/>
              </a:ext>
            </a:extLst>
          </p:cNvPr>
          <p:cNvSpPr>
            <a:spLocks xmlns:a="http://schemas.openxmlformats.org/drawingml/2006/main" noGrp="1"/>
          </p:cNvSpPr>
          <p:nvPr/>
        </p:nvSpPr>
        <p:spPr>
          <a:xfrm xmlns:a="http://schemas.openxmlformats.org/drawingml/2006/main">
            <a:off x="457200" y="6496050"/>
            <a:ext cx="11277600" cy="9525"/>
          </a:xfrm>
          <a:prstGeom xmlns:a="http://schemas.openxmlformats.org/drawingml/2006/main" prst="rect">
            <a:avLst/>
          </a:prstGeom>
          <a:solidFill xmlns:a="http://schemas.openxmlformats.org/drawingml/2006/main">
            <a:srgbClr val="D8DDE2"/>
          </a:solidFill>
          <a:ln xmlns:a="http://schemas.openxmlformats.org/drawingml/2006/main" w="0">
            <a:noFill/>
          </a:ln>
        </p:spPr>
      </p:sp>
      <p:sp>
        <p:nvSpPr>
          <p:cNvPr id="9" name="Genetic engineering: change, test, decide">
            <a:extLst xmlns:a="http://schemas.openxmlformats.org/drawingml/2006/main">
              <a:ext uri="{FF2B5EF4-FFF2-40B4-BE49-F238E27FC236}">
                <a16:creationId xmlns:a16="http://schemas.microsoft.com/office/drawing/2014/main" id="{D53D5F28-6254-4D78-BF32-0BBF0F68C76C}"/>
              </a:ext>
            </a:extLst>
          </p:cNvPr>
          <p:cNvSpPr>
            <a:spLocks xmlns:a="http://schemas.openxmlformats.org/drawingml/2006/main" noGrp="1"/>
          </p:cNvSpPr>
          <p:nvPr/>
        </p:nvSpPr>
        <p:spPr>
          <a:xfrm xmlns:a="http://schemas.openxmlformats.org/drawingml/2006/main">
            <a:off x="533400" y="6600825"/>
            <a:ext cx="10572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Genetic engineering: change, test, decide</a:t>
            </a:r>
          </a:p>
        </p:txBody>
      </p:sp>
      <p:sp>
        <p:nvSpPr>
          <p:cNvPr id="10" name="15 / 15">
            <a:extLst xmlns:a="http://schemas.openxmlformats.org/drawingml/2006/main">
              <a:ext uri="{FF2B5EF4-FFF2-40B4-BE49-F238E27FC236}">
                <a16:creationId xmlns:a16="http://schemas.microsoft.com/office/drawing/2014/main" id="{333D576B-AB99-4DF5-9DCD-57ED8B9817D5}"/>
              </a:ext>
            </a:extLst>
          </p:cNvPr>
          <p:cNvSpPr>
            <a:spLocks xmlns:a="http://schemas.openxmlformats.org/drawingml/2006/main" noGrp="1"/>
          </p:cNvSpPr>
          <p:nvPr/>
        </p:nvSpPr>
        <p:spPr>
          <a:xfrm xmlns:a="http://schemas.openxmlformats.org/drawingml/2006/main">
            <a:off x="10953750" y="6600825"/>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15 / 15</a:t>
            </a:r>
          </a:p>
        </p:txBody>
      </p:sp>
      <p:sp>
        <p:nvSpPr>
          <p:cNvPr id="11" name="E1. Define genetic engineering in one sentence.">
            <a:extLst xmlns:a="http://schemas.openxmlformats.org/drawingml/2006/main">
              <a:ext uri="{FF2B5EF4-FFF2-40B4-BE49-F238E27FC236}">
                <a16:creationId xmlns:a16="http://schemas.microsoft.com/office/drawing/2014/main" id="{EF55221F-913A-4175-ACD8-D5C7F1FC8EB9}"/>
              </a:ext>
            </a:extLst>
          </p:cNvPr>
          <p:cNvSpPr>
            <a:spLocks xmlns:a="http://schemas.openxmlformats.org/drawingml/2006/main" noGrp="1"/>
          </p:cNvSpPr>
          <p:nvPr/>
        </p:nvSpPr>
        <p:spPr>
          <a:xfrm xmlns:a="http://schemas.openxmlformats.org/drawingml/2006/main">
            <a:off x="762000" y="2028825"/>
            <a:ext cx="10668000" cy="3629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1F2937"/>
                </a:solidFill>
                <a:latin typeface="Nimbus Sans"/>
                <a:ea typeface="Nimbus Sans"/>
                <a:cs typeface="Nimbus Sans"/>
              </a:defRPr>
            </a:pPr>
            <a:r>
              <a:rPr sz="2325" b="0">
                <a:solidFill>
                  <a:srgbClr val="1F2937"/>
                </a:solidFill>
                <a:latin typeface="Nimbus Sans"/>
                <a:ea typeface="Nimbus Sans"/>
                <a:cs typeface="Nimbus Sans"/>
              </a:rPr>
              <a:t>E1. Define genetic engineering in one sentence.</a:t>
            </a:r>
          </a:p>
        </p:txBody>
      </p:sp>
      <p:sp>
        <p:nvSpPr>
          <p:cNvPr id="12" name="E2. Give one measured benefit in the trial.">
            <a:extLst xmlns:a="http://schemas.openxmlformats.org/drawingml/2006/main">
              <a:ext uri="{FF2B5EF4-FFF2-40B4-BE49-F238E27FC236}">
                <a16:creationId xmlns:a16="http://schemas.microsoft.com/office/drawing/2014/main" id="{F9B33F8C-2556-4C38-A953-58F12FD65E4A}"/>
              </a:ext>
            </a:extLst>
          </p:cNvPr>
          <p:cNvSpPr>
            <a:spLocks xmlns:a="http://schemas.openxmlformats.org/drawingml/2006/main" noGrp="1"/>
          </p:cNvSpPr>
          <p:nvPr/>
        </p:nvSpPr>
        <p:spPr>
          <a:xfrm xmlns:a="http://schemas.openxmlformats.org/drawingml/2006/main">
            <a:off x="762000" y="2582228"/>
            <a:ext cx="10668000" cy="3629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1F2937"/>
                </a:solidFill>
                <a:latin typeface="Nimbus Sans"/>
                <a:ea typeface="Nimbus Sans"/>
                <a:cs typeface="Nimbus Sans"/>
              </a:defRPr>
            </a:pPr>
            <a:r>
              <a:rPr sz="2325" b="0">
                <a:solidFill>
                  <a:srgbClr val="1F2937"/>
                </a:solidFill>
                <a:latin typeface="Nimbus Sans"/>
                <a:ea typeface="Nimbus Sans"/>
                <a:cs typeface="Nimbus Sans"/>
              </a:rPr>
              <a:t>E2. Give one measured benefit in the trial.</a:t>
            </a:r>
          </a:p>
        </p:txBody>
      </p:sp>
      <p:sp>
        <p:nvSpPr>
          <p:cNvPr id="13" name="E3. Give one risk and a useful next check.">
            <a:extLst xmlns:a="http://schemas.openxmlformats.org/drawingml/2006/main">
              <a:ext uri="{FF2B5EF4-FFF2-40B4-BE49-F238E27FC236}">
                <a16:creationId xmlns:a16="http://schemas.microsoft.com/office/drawing/2014/main" id="{291D03EF-CE23-48FE-A871-00AF048954C6}"/>
              </a:ext>
            </a:extLst>
          </p:cNvPr>
          <p:cNvSpPr>
            <a:spLocks xmlns:a="http://schemas.openxmlformats.org/drawingml/2006/main" noGrp="1"/>
          </p:cNvSpPr>
          <p:nvPr/>
        </p:nvSpPr>
        <p:spPr>
          <a:xfrm xmlns:a="http://schemas.openxmlformats.org/drawingml/2006/main">
            <a:off x="762000" y="3135630"/>
            <a:ext cx="10668000" cy="3629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1F2937"/>
                </a:solidFill>
                <a:latin typeface="Nimbus Sans"/>
                <a:ea typeface="Nimbus Sans"/>
                <a:cs typeface="Nimbus Sans"/>
              </a:defRPr>
            </a:pPr>
            <a:r>
              <a:rPr sz="2325" b="0">
                <a:solidFill>
                  <a:srgbClr val="1F2937"/>
                </a:solidFill>
                <a:latin typeface="Nimbus Sans"/>
                <a:ea typeface="Nimbus Sans"/>
                <a:cs typeface="Nimbus Sans"/>
              </a:rPr>
              <a:t>E3. Give one risk and a useful next check.</a:t>
            </a:r>
          </a:p>
        </p:txBody>
      </p:sp>
    </p:spTree>
    <p:extLst>
      <p:ext uri="{BB962C8B-B14F-4D97-AF65-F5344CB8AC3E}">
        <p14:creationId xmlns:p14="http://schemas.microsoft.com/office/powerpoint/2010/main" val="124377786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2026-09-08T22:38:47.9250000Z</dcterms:created>
  <dcterms:modified xsi:type="dcterms:W3CDTF">2026-09-08T22:38:47.9250000Z</dcterms:modified>
</coreProperties>
</file>