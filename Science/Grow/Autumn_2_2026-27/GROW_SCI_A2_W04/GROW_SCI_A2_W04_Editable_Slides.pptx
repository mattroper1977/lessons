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a01f1bdcb4943de" Type="http://schemas.openxmlformats.org/officeDocument/2006/relationships/extended-properties" Target="docProps/app.xml"/><Relationship Id="R95fc4a4149da4309" Type="http://schemas.openxmlformats.org/package/2006/relationships/metadata/core-properties" Target="docProps/core.xml"/><Relationship Id="Rda26725293e0400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634720c1734328"/>
  </p:sldMasterIdLst>
  <p:notesMasterIdLst>
    <p:notesMasterId xmlns:r="http://schemas.openxmlformats.org/officeDocument/2006/relationships" r:id="R1fbe45bd2b564b68"/>
  </p:notesMasterIdLst>
  <p:sldIdLst>
    <p:sldId xmlns:r="http://schemas.openxmlformats.org/officeDocument/2006/relationships" id="256" r:id="R6e566e4a79f24dec"/>
    <p:sldId xmlns:r="http://schemas.openxmlformats.org/officeDocument/2006/relationships" id="257" r:id="R5be43d410fef449c"/>
    <p:sldId xmlns:r="http://schemas.openxmlformats.org/officeDocument/2006/relationships" id="258" r:id="R739e10194ce64423"/>
    <p:sldId xmlns:r="http://schemas.openxmlformats.org/officeDocument/2006/relationships" id="259" r:id="R0f6ecf0a7ad54e19"/>
    <p:sldId xmlns:r="http://schemas.openxmlformats.org/officeDocument/2006/relationships" id="260" r:id="Rda7841e733fd4a37"/>
    <p:sldId xmlns:r="http://schemas.openxmlformats.org/officeDocument/2006/relationships" id="261" r:id="Rb1567453af7c4b75"/>
    <p:sldId xmlns:r="http://schemas.openxmlformats.org/officeDocument/2006/relationships" id="262" r:id="R18bd043f8fb2421d"/>
    <p:sldId xmlns:r="http://schemas.openxmlformats.org/officeDocument/2006/relationships" id="263" r:id="R6a614b8c0c60402e"/>
    <p:sldId xmlns:r="http://schemas.openxmlformats.org/officeDocument/2006/relationships" id="264" r:id="Rfeeab24aa0f74b3a"/>
    <p:sldId xmlns:r="http://schemas.openxmlformats.org/officeDocument/2006/relationships" id="265" r:id="Rfb20d29c3e8042a0"/>
    <p:sldId xmlns:r="http://schemas.openxmlformats.org/officeDocument/2006/relationships" id="266" r:id="Re3ec14b6c939437e"/>
    <p:sldId xmlns:r="http://schemas.openxmlformats.org/officeDocument/2006/relationships" id="267" r:id="R908c94b9acaf44ec"/>
    <p:sldId xmlns:r="http://schemas.openxmlformats.org/officeDocument/2006/relationships" id="268" r:id="R7a33c5e85e644a36"/>
    <p:sldId xmlns:r="http://schemas.openxmlformats.org/officeDocument/2006/relationships" id="269" r:id="R101f56ab4cd0482b"/>
    <p:sldId xmlns:r="http://schemas.openxmlformats.org/officeDocument/2006/relationships" id="270" r:id="Rd0e412b505d14301"/>
    <p:sldId xmlns:r="http://schemas.openxmlformats.org/officeDocument/2006/relationships" id="271" r:id="R18bdfd471d8e4562"/>
    <p:sldId xmlns:r="http://schemas.openxmlformats.org/officeDocument/2006/relationships" id="272" r:id="Ra252e7c951334b24"/>
    <p:sldId xmlns:r="http://schemas.openxmlformats.org/officeDocument/2006/relationships" id="273" r:id="Rc204d28aa881498a"/>
    <p:sldId xmlns:r="http://schemas.openxmlformats.org/officeDocument/2006/relationships" id="274" r:id="R7f294ff220ce40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f6ecf0a7ad54e19" Type="http://schemas.openxmlformats.org/officeDocument/2006/relationships/slide" Target="slides/slide4.xml"/><Relationship Id="R101f56ab4cd0482b" Type="http://schemas.openxmlformats.org/officeDocument/2006/relationships/slide" Target="slides/slide14.xml"/><Relationship Id="R18bd043f8fb2421d" Type="http://schemas.openxmlformats.org/officeDocument/2006/relationships/slide" Target="slides/slide7.xml"/><Relationship Id="R18bdfd471d8e4562" Type="http://schemas.openxmlformats.org/officeDocument/2006/relationships/slide" Target="slides/slide16.xml"/><Relationship Id="R1fbe45bd2b564b68" Type="http://schemas.openxmlformats.org/officeDocument/2006/relationships/notesMaster" Target="notesMasters/notesMaster1.xml"/><Relationship Id="R53e4d39d1192414b" Type="http://schemas.openxmlformats.org/officeDocument/2006/relationships/tableStyles" Target="tableStyles.xml"/><Relationship Id="R5be43d410fef449c" Type="http://schemas.openxmlformats.org/officeDocument/2006/relationships/slide" Target="slides/slide2.xml"/><Relationship Id="R6a614b8c0c60402e" Type="http://schemas.openxmlformats.org/officeDocument/2006/relationships/slide" Target="slides/slide8.xml"/><Relationship Id="R6e566e4a79f24dec" Type="http://schemas.openxmlformats.org/officeDocument/2006/relationships/slide" Target="slides/slide1.xml"/><Relationship Id="R739e10194ce64423" Type="http://schemas.openxmlformats.org/officeDocument/2006/relationships/slide" Target="slides/slide3.xml"/><Relationship Id="R7a33c5e85e644a36" Type="http://schemas.openxmlformats.org/officeDocument/2006/relationships/slide" Target="slides/slide13.xml"/><Relationship Id="R7f294ff220ce4061" Type="http://schemas.openxmlformats.org/officeDocument/2006/relationships/slide" Target="slides/slide19.xml"/><Relationship Id="R908c94b9acaf44ec" Type="http://schemas.openxmlformats.org/officeDocument/2006/relationships/slide" Target="slides/slide12.xml"/><Relationship Id="Ra085ebfc7ad44071" Type="http://schemas.openxmlformats.org/officeDocument/2006/relationships/presProps" Target="presProps.xml"/><Relationship Id="Ra252e7c951334b24" Type="http://schemas.openxmlformats.org/officeDocument/2006/relationships/slide" Target="slides/slide17.xml"/><Relationship Id="Rb1567453af7c4b75" Type="http://schemas.openxmlformats.org/officeDocument/2006/relationships/slide" Target="slides/slide6.xml"/><Relationship Id="Rc204d28aa881498a" Type="http://schemas.openxmlformats.org/officeDocument/2006/relationships/slide" Target="slides/slide18.xml"/><Relationship Id="Rcbd8780c11f3422d" Type="http://schemas.openxmlformats.org/officeDocument/2006/relationships/theme" Target="theme/theme1.xml"/><Relationship Id="Rd0e412b505d14301" Type="http://schemas.openxmlformats.org/officeDocument/2006/relationships/slide" Target="slides/slide15.xml"/><Relationship Id="Rda7841e733fd4a37" Type="http://schemas.openxmlformats.org/officeDocument/2006/relationships/slide" Target="slides/slide5.xml"/><Relationship Id="Re3ec14b6c939437e" Type="http://schemas.openxmlformats.org/officeDocument/2006/relationships/slide" Target="slides/slide11.xml"/><Relationship Id="Reb634720c1734328" Type="http://schemas.openxmlformats.org/officeDocument/2006/relationships/slideMaster" Target="slideMasters/slideMaster1.xml"/><Relationship Id="Rfb20d29c3e8042a0" Type="http://schemas.openxmlformats.org/officeDocument/2006/relationships/slide" Target="slides/slide10.xml"/><Relationship Id="Rfeeab24aa0f74b3a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554cf3a1d190439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57bec031369410d" Type="http://schemas.openxmlformats.org/officeDocument/2006/relationships/notesMaster" Target="../notesMasters/notesMaster1.xml"/><Relationship Id="Rd2aa6664a7104d1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9a475511184846f5" Type="http://schemas.openxmlformats.org/officeDocument/2006/relationships/slide" Target="../slides/slide2.xml"/><Relationship Id="Ref50de9b07334285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5c8a44a010c4b6b" Type="http://schemas.openxmlformats.org/officeDocument/2006/relationships/slide" Target="../slides/slide3.xml"/><Relationship Id="R41f2286c4bc64e7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b4e87be12e84394" Type="http://schemas.openxmlformats.org/officeDocument/2006/relationships/slide" Target="../slides/slide4.xml"/><Relationship Id="Rd08e110b42c54d46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a2b5df9eea849b3" Type="http://schemas.openxmlformats.org/officeDocument/2006/relationships/notesMaster" Target="../notesMasters/notesMaster1.xml"/><Relationship Id="R5f1df7ce6727492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124becf1c0b4533" Type="http://schemas.openxmlformats.org/officeDocument/2006/relationships/notesMaster" Target="../notesMasters/notesMaster1.xml"/><Relationship Id="Ra26c8cd013c04a6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c34bbc3e1c864012" Type="http://schemas.openxmlformats.org/officeDocument/2006/relationships/notesMaster" Target="../notesMasters/notesMaster1.xml"/><Relationship Id="Rf4e14ca3f9b6406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1cbaee1e8174b8b" Type="http://schemas.openxmlformats.org/officeDocument/2006/relationships/slide" Target="../slides/slide8.xml"/><Relationship Id="Rdd91f1d3ad1b47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42bde7b7d924554" Type="http://schemas.openxmlformats.org/officeDocument/2006/relationships/slide" Target="../slides/slide9.xml"/><Relationship Id="R8d01e234dfb44f3e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eb5ea3576a84ef0" Type="http://schemas.openxmlformats.org/officeDocument/2006/relationships/slide" Target="../slides/slide10.xml"/><Relationship Id="R9821f849806444f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d7177beed19a4535" Type="http://schemas.openxmlformats.org/officeDocument/2006/relationships/slide" Target="../slides/slide11.xml"/><Relationship Id="Rfda19fe162ff40b6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55502e6d3341464f" Type="http://schemas.openxmlformats.org/officeDocument/2006/relationships/slide" Target="../slides/slide12.xml"/><Relationship Id="Ra22293c5347a4e8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f1f3bd9375e4ee8" Type="http://schemas.openxmlformats.org/officeDocument/2006/relationships/slide" Target="../slides/slide13.xml"/><Relationship Id="Re6bc22c28c2c4e1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9a3ffb748e154208" Type="http://schemas.openxmlformats.org/officeDocument/2006/relationships/notesMaster" Target="../notesMasters/notesMaster1.xml"/><Relationship Id="Rce46940b138e4279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2506e144b504d1a" Type="http://schemas.openxmlformats.org/officeDocument/2006/relationships/slide" Target="../slides/slide15.xml"/><Relationship Id="R9c1250ce9f314200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cd2c06bf05a4984" Type="http://schemas.openxmlformats.org/officeDocument/2006/relationships/slide" Target="../slides/slide16.xml"/><Relationship Id="Rcb90336cae224705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6bf6cf77cf54633" Type="http://schemas.openxmlformats.org/officeDocument/2006/relationships/slide" Target="../slides/slide17.xml"/><Relationship Id="R0a4ede1514574bb6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0fa2ffd99d8647bb" Type="http://schemas.openxmlformats.org/officeDocument/2006/relationships/slide" Target="../slides/slide18.xml"/><Relationship Id="Rc86a5c65cc3b4c1c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6e07721058444804" Type="http://schemas.openxmlformats.org/officeDocument/2006/relationships/slide" Target="../slides/slide19.xml"/><Relationship Id="Re92c4b70a5894a3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SCI-GROW-A2-W04</a:t>
            </a:r>
          </a:p>
          <a:p xmlns:a="http://schemas.openxmlformats.org/drawingml/2006/main">
            <a:r>
              <a:t>SoW objective: Describe causes and effects of global warming and how to reduce our impact.</a:t>
            </a:r>
          </a:p>
          <a:p xmlns:a="http://schemas.openxmlformats.org/drawingml/2006/main">
            <a:r>
              <a:t>Reading band: GROW 8–11</a:t>
            </a:r>
          </a:p>
          <a:p xmlns:a="http://schemas.openxmlformats.org/drawingml/2006/main">
            <a:r>
              <a:t>Staff focus: {'i_do': 'Watch me place cause before effect.', 'we_do': 'Which link is in place? What might go between gas and impact?', 'independent': 'Point to your first link. Which part can you explain on your own?'}</a:t>
            </a:r>
          </a:p>
          <a:p xmlns:a="http://schemas.openxmlformats.org/drawingml/2006/main">
            <a:r>
              <a:t>Prompt ladder: ['Wait and count to 5.', 'Point to the lesson’s diagram, kit or source.', 'Ask: What is done, and what is the next step?', 'Model one step, then return the next step to the pupil.', 'Finish one example together, then fade the help.']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Met Office, Causes of Climate Change, https://weather.metoffice.gov.uk/climate-change/causes-of-climate-change; NASA Science, Causes of Climate Change, https://science.nasa.gov/climate-change/causes/</a:t>
            </a:r>
          </a:p>
          <a:p xmlns:a="http://schemas.openxmlformats.org/drawingml/2006/main">
            <a:r>
              <a:t>NASA Science, Causes of Climate Change, https://science.nasa.gov/climate-change/causes/; Met Office, Causes of Climate Change, https://weather.metoffice.gov.uk/climate-change/causes-of-climate-change</a:t>
            </a:r>
          </a:p>
          <a:p xmlns:a="http://schemas.openxmlformats.org/drawingml/2006/main">
            <a:r>
              <a:t>NASA Science, Causes of Climate Change, https://science.nasa.gov/climate-change/causes/</a:t>
            </a:r>
          </a:p>
          <a:p xmlns:a="http://schemas.openxmlformats.org/drawingml/2006/main">
            <a:r>
              <a:t>Met Office, Climate Glossary, https://weather.metoffice.gov.uk/climate-change/climate-glossary</a:t>
            </a:r>
          </a:p>
          <a:p xmlns:a="http://schemas.openxmlformats.org/drawingml/2006/main">
            <a:r>
              <a:t>Met Office, Effects of Climate Change, https://weather.metoffice.gov.uk/climate-change/effects-of-climate-change</a:t>
            </a:r>
          </a:p>
          <a:p xmlns:a="http://schemas.openxmlformats.org/drawingml/2006/main">
            <a:r>
              <a:t>Met Office, Climate Change Mitigation, https://weather.metoffice.gov.uk/climate/solutions/climate-change-mitigation</a:t>
            </a:r>
          </a:p>
          <a:p xmlns:a="http://schemas.openxmlformats.org/drawingml/2006/main">
            <a:r>
              <a:t>Inference from the task design; NASA Science, Causes of Climate Change, https://science.nasa.gov/climate-change/causes/</a:t>
            </a:r>
          </a:p>
          <a:p xmlns:a="http://schemas.openxmlformats.org/drawingml/2006/main">
            <a:r>
              <a:t>the GROW scheme of work</a:t>
            </a:r>
          </a:p>
          <a:p xmlns:a="http://schemas.openxmlformats.org/drawingml/2006/main">
            <a:r>
              <a:t>NASA Science, Causes of Climate Change, https://science.nasa.gov/climate-change/causes/; Met Office, Climate Change Causes, https://weather.metoffice.gov.uk/climate-change/causes-of-climate-change</a:t>
            </a:r>
          </a:p>
          <a:p xmlns:a="http://schemas.openxmlformats.org/drawingml/2006/main">
            <a:r>
              <a:t>Local school risk assessment and CLEAPSS guidance; staff confirm exact kit</a:t>
            </a:r>
          </a:p>
          <a:p xmlns:a="http://schemas.openxmlformats.org/drawingml/2006/main">
            <a:r>
              <a:t>lesson content–source checks ruling; static SVG geometry and mechanism check; browser confirmation remains NOT 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predictable seat or standing spot and the first visual cue. No public test.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retrieval questions; prior coverage must be checked.</a:t>
            </a:r>
          </a:p>
          <a:p xmlns:a="http://schemas.openxmlformats.org/drawingml/2006/main">
            <a:r>
              <a:t>Name one fact about the Solar System and its class card. → The Sun is a star, on card A; or Earth goes round the Sun, on card B.</a:t>
            </a:r>
          </a:p>
          <a:p xmlns:a="http://schemas.openxmlformats.org/drawingml/2006/main">
            <a:r>
              <a:t>Why does one place have night? → Earth turns so that place faces away from sunlight.</a:t>
            </a:r>
          </a:p>
          <a:p xmlns:a="http://schemas.openxmlformats.org/drawingml/2006/main">
            <a:r>
              <a:t>Name one way friction can affect motion. → It can slow a moving object.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full reasoning step, pre-teach four words and ask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Light comes in. Earth releases heat. More CO₂ slows heat loss. Simplified mechanism;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Burning fuel is the cause card; a hotter day may be an effect.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part-done example, then allow paired talk before an answer. One-minute reset inside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Explain that greenhouse gases slow heat leaving Earth.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Burn fossil fuel → cause</a:t>
            </a:r>
          </a:p>
          <a:p xmlns:a="http://schemas.openxmlformats.org/drawingml/2006/main">
            <a:r>
              <a:t>More greenhouse gas → middle link</a:t>
            </a:r>
          </a:p>
          <a:p xmlns:a="http://schemas.openxmlformats.org/drawingml/2006/main">
            <a:r>
              <a:t>Heat risk in some places → impact</a:t>
            </a:r>
          </a:p>
          <a:p xmlns:a="http://schemas.openxmlformats.org/drawingml/2006/main">
            <a:r>
              <a:t>Cut fuel use → action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answer the four-option hinge; use the decision rule, not a score.</a:t>
            </a:r>
          </a:p>
          <a:p xmlns:a="http://schemas.openxmlformats.org/drawingml/2006/main">
            <a:r>
              <a:t>A. More carbon dioxide is released. | Correct | Uses the new case accurately.</a:t>
            </a:r>
          </a:p>
          <a:p xmlns:a="http://schemas.openxmlformats.org/drawingml/2006/main">
            <a:r>
              <a:t>B. The extra carbon dioxide appears only when the depot has less daylight. | Not correct | Makes the emissions depend on daylight instead of fuel burnt.</a:t>
            </a:r>
          </a:p>
          <a:p xmlns:a="http://schemas.openxmlformats.org/drawingml/2006/main">
            <a:r>
              <a:t>C. The depot warms first; that warmth makes its engines release carbon dioxide. | Not correct | Reverses the chain: warming follows added greenhouse gases, rather than causing this exhaust.</a:t>
            </a:r>
          </a:p>
          <a:p xmlns:a="http://schemas.openxmlformats.org/drawingml/2006/main">
            <a:r>
              <a:t>D. Only local air pollution changes; the amount of carbon dioxide stays the same. | Not correct | Confuses a local air-quality effect with the absence of carbon-dioxide emissions.</a:t>
            </a:r>
          </a:p>
          <a:p xmlns:a="http://schemas.openxmlformats.org/drawingml/2006/main">
            <a:r>
              <a:t>About 3 in 4 or more right → move on. Otherwise re-model with the named I-do example, then ask the parallel hinge.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specific verbal comment (VF) and invite one self-edit (//) or read-back (?).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and name how it changes the next example or support. One-minute reset and handoff.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e4102b3a54a48a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f31094026214a9b" Type="http://schemas.openxmlformats.org/officeDocument/2006/relationships/theme" Target="theme/theme2.xml"/><Relationship Id="Rc7e86004f9be465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e86004f9be46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ac41e81512cd4988" Type="http://schemas.openxmlformats.org/officeDocument/2006/relationships/notesSlide" Target="../notesSlides/notesSlide1.xml"/><Relationship Id="Re78a1a1b6d184eab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0e2157ab6dac4e10" Type="http://schemas.openxmlformats.org/officeDocument/2006/relationships/slideLayout" Target="../slideLayouts/slideLayout1.xml"/><Relationship Id="R1f662ae94758417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afb2fc0e59814ca7" Type="http://schemas.openxmlformats.org/officeDocument/2006/relationships/notesSlide" Target="../notesSlides/notesSlide3.xml"/><Relationship Id="Rc9cb3d46d5eb4ffa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f6ef288730c4d22" Type="http://schemas.openxmlformats.org/officeDocument/2006/relationships/notesSlide" Target="../notesSlides/notesSlide4.xml"/><Relationship Id="R547e91fa48aa40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37fa36bd0a14b93" Type="http://schemas.openxmlformats.org/officeDocument/2006/relationships/image" Target="../media/image.png"/><Relationship Id="R23cf13c701674a2b" Type="http://schemas.openxmlformats.org/officeDocument/2006/relationships/slideLayout" Target="../slideLayouts/slideLayout1.xml"/><Relationship Id="Ra536f6406e44495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2ed264344224cd0" Type="http://schemas.openxmlformats.org/officeDocument/2006/relationships/slideLayout" Target="../slideLayouts/slideLayout1.xml"/><Relationship Id="R7574ab8d4f1d47e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21792723a5074af3" Type="http://schemas.openxmlformats.org/officeDocument/2006/relationships/slideLayout" Target="../slideLayouts/slideLayout1.xml"/><Relationship Id="R6a856448866248f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266ae3f31e0452a" Type="http://schemas.openxmlformats.org/officeDocument/2006/relationships/notesSlide" Target="../notesSlides/notesSlide8.xml"/><Relationship Id="R69d864d71cd4433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212b5a5dfd24ff0" Type="http://schemas.openxmlformats.org/officeDocument/2006/relationships/slideLayout" Target="../slideLayouts/slideLayout1.xml"/><Relationship Id="Rfe984a710f8c4d5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68ab1df29e644bad" Type="http://schemas.openxmlformats.org/officeDocument/2006/relationships/slideLayout" Target="../slideLayouts/slideLayout1.xml"/><Relationship Id="Rd3ab5dfdba93429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142f14fe0c504955" Type="http://schemas.openxmlformats.org/officeDocument/2006/relationships/notesSlide" Target="../notesSlides/notesSlide11.xml"/><Relationship Id="R82f98c4f9796497f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c970a0857ff4a9f" Type="http://schemas.openxmlformats.org/officeDocument/2006/relationships/notesSlide" Target="../notesSlides/notesSlide12.xml"/><Relationship Id="R4043acb9378a4105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d4fc718335034088" Type="http://schemas.openxmlformats.org/officeDocument/2006/relationships/slideLayout" Target="../slideLayouts/slideLayout1.xml"/><Relationship Id="Reeb13c9608d14c0d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18290ef360a94efa" Type="http://schemas.openxmlformats.org/officeDocument/2006/relationships/slideLayout" Target="../slideLayouts/slideLayout1.xml"/><Relationship Id="Rd3a5404619f6499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41d8298bef1042ee" Type="http://schemas.openxmlformats.org/officeDocument/2006/relationships/notesSlide" Target="../notesSlides/notesSlide15.xml"/><Relationship Id="Ra9a52599116f49c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db9d748cdf514835" Type="http://schemas.openxmlformats.org/officeDocument/2006/relationships/slideLayout" Target="../slideLayouts/slideLayout1.xml"/><Relationship Id="Rfcff20f720a6438f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91ec0c701a3c41ef" Type="http://schemas.openxmlformats.org/officeDocument/2006/relationships/slideLayout" Target="../slideLayouts/slideLayout1.xml"/><Relationship Id="Rbeeecb6bbd034dc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8951d9f5245d4fa1" Type="http://schemas.openxmlformats.org/officeDocument/2006/relationships/notesSlide" Target="../notesSlides/notesSlide18.xml"/><Relationship Id="Rcedc665c7590494c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9e2dd892c2884dfd" Type="http://schemas.openxmlformats.org/officeDocument/2006/relationships/slideLayout" Target="../slideLayouts/slideLayout1.xml"/><Relationship Id="Rd687814f2d9f4469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176F1-DBAF-4D0A-9356-4740D194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Global warming and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4A762-A5CC-49FC-9C51-5ED3DDBB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889B9-A014-4558-A82B-F6D8EB89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D5C8F-703F-4F16-80F8-4555A0C4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a cause and an effect of global warming, then compare two kinds of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A0039-62C8-4725-B9EE-C09F5F21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put cause before effect.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EE1E3-FA25-400F-98FE-5617A909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say how gases add to warming.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6E9BB-EB8F-4B32-9E8B-A2BCD4DD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compare a cut in emissions with help for an impact.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5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09E72-2618-44B9-88D9-A793E71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7F28B-8A5F-4176-B8B0-C1CFD065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0516B-3BF0-4D2A-A07D-DBB462E5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BD741-3882-474D-BD24-59FC0BDD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these: weather today; climate over many years. Point to the long-term idea.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18725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43186-281E-41C3-AC65-BE79C7F6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04251-05FE-40DF-93B8-A453EAD1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0BD5B-BA61-4E05-ABFF-9769B2D9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80A1D-4126-4B36-AB7C-F00DF51F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point or write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9DB17-8C77-4BD0-92C4-64F9E352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fact about the Solar System and its class 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0AE2A-64D6-4DC2-B2C8-2B16959F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does one place have night?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4CD41-79B0-402F-8470-97C19AEE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way friction can affect motion.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66783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1BE25-000A-4019-A7B9-5E81054D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0A56A-9208-4CC9-A1F0-C7B0159F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7DC93-7F42-4E53-9535-770096BC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E50C0-17BE-48C2-95F6-2B86A060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order the chain: burn fuel → more carbon dioxide → more heat stays → warming. Cutting emissions acts near the start. A flood defence helps with an impact.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76003-395C-485A-A41B-416DCCA3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Burn fossil fuel → add carbon dioxide → more heat stays → heat risks. Cut fuel use to cut emissions; plan shade to help with heat.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33693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B99EA-BD38-49C3-852E-BFDD769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0A792-89FC-44D2-83B0-F026D9CF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8182A-FEA9-4D5E-88BA-D1320A02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Sunlight reaches Earth. Heat leaves Earth; some heat is retained when greenhouse gases including added carbon dioxide reduce heat loss. A fuel-burning source adds carbon dioxide to air. Simplified mechanism; not to sca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fa36bd0a14b93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00469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BD575-11EA-4718-884A-FBACCAFB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0BDE6-6FED-4502-B38A-5504640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5CAD3-6DA1-46DB-89A6-8E4EC829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66F62-D901-438D-BC78-2BF8A02D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Point to the cause card: burning fuel or a hotter day?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21555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2CBCD-E915-474A-BB1A-7FDFDF93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65A07-D9FE-4B35-8E76-F7375FB7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B1163-399E-4ED5-BAE0-AE7B202B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F8944-4EEA-4AA3-85F5-BF00CB70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burn fuel and impact cards are in place. Sort the missing gas and warming cards. Explain the link.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83A8F-BEB1-4AD2-92ED-88EE059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Burn fuel → add carbon dioxide → ____ → heat risks.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7556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247CF-5381-4358-A48C-3E3D1FA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CB808-906B-4746-B42A-F8D39EB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5B6F5-9D12-4064-BC98-EB576491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40599-7B74-4CBC-BE35-D6AECC69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390A3-131C-426D-B9BE-4AF0F7C7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middle link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0D1BE-60A4-4B17-9FFD-5CDD72E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80B6A-EF95-4AA7-B756-D0B64304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38C59-F425-41EF-8E50-9A3B7D1F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Burn fossil fuel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00B9A-2892-46C0-8449-4E546DA8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More greenhouse gas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9721E-E8D3-41F5-BA79-3B477535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67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Heat risk in some places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52EEA-79F0-4EC5-8DE2-D56D73BC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06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Cut fuel use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02568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44781-BE4C-40F1-86DF-F527E56B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4CEC7-A88B-4257-B9C0-4308D4DC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CA01D-412B-4B3E-B451-41EA51BC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162D4-9A2B-4F61-BD72-3D332201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bus depot burns more diesel. Which immediate link belongs in its emissions chain?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540DC-191B-46FF-8606-BA872044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78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More carbon dioxide is released.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216A6-EBD3-4C96-B9ED-4AD9314D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extra carbon dioxide appears only when the depot has less daylight.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4545B-56D1-4633-8EBE-1D134AF7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664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depot warms first; that warmth makes its engines release carbon dioxide.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CA529-05BE-46FF-B36C-CB58FF3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1035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Only local air pollution changes; the amount of carbon dioxide stays the same.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99584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AE82F-9F72-40E5-951A-40BF224D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94F1C-CFA0-4FCF-9E5B-53867B47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D3042-EB8D-45DF-B112-F2676A42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B4608-9C96-43DD-A2D7-A46A792F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Build a cause-to-impact chain. Compare an emissions cut with help for an impact. Give one reason for 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FC5A8-7E0B-4734-B298-C29615D8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Order one cause and effect.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A387A-DD47-4909-8151-63B43AE9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First ___, then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086513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33601-D956-4B4D-8FC1-107E0F3F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848E7-A82F-49BF-9538-0A5A8AA1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E71D4-B482-462C-9A78-AEB2BDC9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DA490-3D8D-438F-BD80-B99686C1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Build a cause-to-impact chain. Compare an emissions cut with help for an impact. Give one reason for 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14F99-763D-4551-8237-2772DB4B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two chain links.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E56BA-9F06-41FD-852D-40F7726A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Burning ___ adds ___; this leads to ___ because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77098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66EF6-1F6B-4213-BF6C-AC500F7E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0BB39-4D15-4370-80C7-706FD284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F1406-6982-46ED-91DA-00377561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7448A-40A4-44F9-8220-11D256B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Build a cause-to-impact chain. Compare an emissions cut with help for an impact. Give one reason for 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529B7-E18E-40D7-AC9C-43F0411F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Compare an emissions cut with an adaptation.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F0328-D9D0-4C1F-86AF-F586919C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Action A changes ___, while action B helps with ___; I would choose ___ because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599214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DE346-261F-435B-A6DB-183F8193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7BC11-2EDB-4121-B40D-9105FA70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BB39D-CE16-4996-BE61-60FD73F0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94EDE-ED99-41D9-A7C7-A8A30237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might a council cut fuel use and plan flood defences? Name a limit of 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B2F60-446D-48EE-88B5-EFCBF532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council goal, justify the first action and explain the problem still left.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967886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EC22B-D0E1-4EBB-99E2-D4A83A08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1DD1C-DBC2-4F99-9257-89D77E11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C1F3A-3DF8-4172-A836-5F23FA4C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EAAB9-5516-464E-8632-B08AED31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Hear feedback. Move one chain card and say why.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344068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81C43-46BB-49E4-A1A7-329FC262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427F3-A9E2-42F1-9FA9-D67E8D94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BDBEB-BA2A-4A2A-802C-B424E24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A0A13-E4E6-4C0D-863C-806A080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a cause, an effect and an action. Which link does your action change?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1226D-A1D3-4932-BEF5-6297AC74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7895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? Read it back: explain a cause and an effect of global warming, then compare two kinds of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B48A3-6ADE-4EF3-8564-743436D9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229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say what changed. Next I need to… name a 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0B508-42AA-4D58-B275-74F9CDE5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664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put cause before effect. I can say how gases add to warming. I can compare a cut in emissions with help for an impact.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7A2E9-6DD6-476B-8AC3-9AA957AF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103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adult hears you and chooses our next example. Take one quiet minute.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334914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22875-87C7-41B5-8DD5-FD72F98B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climate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04240-8D1E-4564-BA8B-12822484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570F4-47AE-46A3-94DB-681B5750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0DEE1-542C-4EAE-9414-EFB74515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pattern of weather over many years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9B904-43D3-427E-ACC9-0ED22EF1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Climate is not the weather on one day.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975800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B126D-CA11-4B21-91B1-E843C0CE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carbon dioxide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C69B6-0743-4296-96F5-CD457063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51E76-BAA9-4192-A408-B9F497A0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AFAF4-33B3-401A-9C1F-5F31E478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gas added to the air when fossil fuels burn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3EFF8-861A-4637-8319-8E056DFE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Burning coal adds carbon dioxide to the air.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38741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C8A77-FF18-4280-A2D7-2D280CE1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greenhouse 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DBBFD-B3F8-46DB-A8F6-184C2CE3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75930-C140-4A22-A8AD-1CEAD887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7CFB3-B61E-4973-94BD-21ABDFAE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gas in the air that slows heat leaving Earth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8B28E-6D7C-4E11-B31B-307DB485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Carbon dioxide is a greenhouse gas.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278977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529D4-FCEB-481C-8419-C1FADB1B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60CA5-7F0B-437A-9FD1-2DC82A5F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SCI-GROW-A2-W04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58418-1E63-4581-9504-03EC689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88D53-BFBD-49C8-A754-2ABBA657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an effect on people or places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B8BD3-9B6C-40ED-9819-87C6060D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More heat can have an impact on people.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4581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2026-09-25T12:29:13.3160000Z</dcterms:created>
  <dcterms:modified xsi:type="dcterms:W3CDTF">2026-09-25T12:29:13.3160000Z</dcterms:modified>
</coreProperties>
</file>