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28c7ec0c39642f6" Type="http://schemas.openxmlformats.org/officeDocument/2006/relationships/extended-properties" Target="docProps/app.xml"/><Relationship Id="Ra4709f9894474563" Type="http://schemas.openxmlformats.org/package/2006/relationships/metadata/core-properties" Target="docProps/core.xml"/><Relationship Id="Rbd3c9733466647a6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44da2743d249d5"/>
  </p:sldMasterIdLst>
  <p:notesMasterIdLst>
    <p:notesMasterId xmlns:r="http://schemas.openxmlformats.org/officeDocument/2006/relationships" r:id="R32717e1244d74578"/>
  </p:notesMasterIdLst>
  <p:sldIdLst>
    <p:sldId xmlns:r="http://schemas.openxmlformats.org/officeDocument/2006/relationships" id="256" r:id="R85a3ea958ce34c79"/>
    <p:sldId xmlns:r="http://schemas.openxmlformats.org/officeDocument/2006/relationships" id="257" r:id="R2ed4ebc74a0141da"/>
    <p:sldId xmlns:r="http://schemas.openxmlformats.org/officeDocument/2006/relationships" id="258" r:id="Rd648fbe35d5b4d7e"/>
    <p:sldId xmlns:r="http://schemas.openxmlformats.org/officeDocument/2006/relationships" id="259" r:id="Ra2bcbcb1824a440b"/>
    <p:sldId xmlns:r="http://schemas.openxmlformats.org/officeDocument/2006/relationships" id="260" r:id="R5f10694ea803471b"/>
    <p:sldId xmlns:r="http://schemas.openxmlformats.org/officeDocument/2006/relationships" id="261" r:id="R6c1b2399ac244dd4"/>
    <p:sldId xmlns:r="http://schemas.openxmlformats.org/officeDocument/2006/relationships" id="262" r:id="Rab384ffc44e44db2"/>
    <p:sldId xmlns:r="http://schemas.openxmlformats.org/officeDocument/2006/relationships" id="263" r:id="R0e3f7bdf825a4ef3"/>
    <p:sldId xmlns:r="http://schemas.openxmlformats.org/officeDocument/2006/relationships" id="264" r:id="R88fd390174fa4430"/>
    <p:sldId xmlns:r="http://schemas.openxmlformats.org/officeDocument/2006/relationships" id="265" r:id="R97dea521c61a4ae2"/>
    <p:sldId xmlns:r="http://schemas.openxmlformats.org/officeDocument/2006/relationships" id="266" r:id="Rd15d5846b5d14511"/>
    <p:sldId xmlns:r="http://schemas.openxmlformats.org/officeDocument/2006/relationships" id="267" r:id="Rd3b3a1916ee649b5"/>
    <p:sldId xmlns:r="http://schemas.openxmlformats.org/officeDocument/2006/relationships" id="268" r:id="R553065b240e149b2"/>
    <p:sldId xmlns:r="http://schemas.openxmlformats.org/officeDocument/2006/relationships" id="269" r:id="Re9ae4ddfdd8b4362"/>
    <p:sldId xmlns:r="http://schemas.openxmlformats.org/officeDocument/2006/relationships" id="270" r:id="Re6899e5344214c99"/>
    <p:sldId xmlns:r="http://schemas.openxmlformats.org/officeDocument/2006/relationships" id="271" r:id="R6a5a38adf95d4918"/>
    <p:sldId xmlns:r="http://schemas.openxmlformats.org/officeDocument/2006/relationships" id="272" r:id="Rb1d31e00770848bc"/>
    <p:sldId xmlns:r="http://schemas.openxmlformats.org/officeDocument/2006/relationships" id="273" r:id="Rf2a4364bf3304939"/>
    <p:sldId xmlns:r="http://schemas.openxmlformats.org/officeDocument/2006/relationships" id="274" r:id="R431e8c945dc04c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e3f7bdf825a4ef3" Type="http://schemas.openxmlformats.org/officeDocument/2006/relationships/slide" Target="slides/slide8.xml"/><Relationship Id="R2ed4ebc74a0141da" Type="http://schemas.openxmlformats.org/officeDocument/2006/relationships/slide" Target="slides/slide2.xml"/><Relationship Id="R32717e1244d74578" Type="http://schemas.openxmlformats.org/officeDocument/2006/relationships/notesMaster" Target="notesMasters/notesMaster1.xml"/><Relationship Id="R431e8c945dc04cfe" Type="http://schemas.openxmlformats.org/officeDocument/2006/relationships/slide" Target="slides/slide19.xml"/><Relationship Id="R553065b240e149b2" Type="http://schemas.openxmlformats.org/officeDocument/2006/relationships/slide" Target="slides/slide13.xml"/><Relationship Id="R5f10694ea803471b" Type="http://schemas.openxmlformats.org/officeDocument/2006/relationships/slide" Target="slides/slide5.xml"/><Relationship Id="R6a5a38adf95d4918" Type="http://schemas.openxmlformats.org/officeDocument/2006/relationships/slide" Target="slides/slide16.xml"/><Relationship Id="R6c1b2399ac244dd4" Type="http://schemas.openxmlformats.org/officeDocument/2006/relationships/slide" Target="slides/slide6.xml"/><Relationship Id="R7044da2743d249d5" Type="http://schemas.openxmlformats.org/officeDocument/2006/relationships/slideMaster" Target="slideMasters/slideMaster1.xml"/><Relationship Id="R85a3ea958ce34c79" Type="http://schemas.openxmlformats.org/officeDocument/2006/relationships/slide" Target="slides/slide1.xml"/><Relationship Id="R88fd390174fa4430" Type="http://schemas.openxmlformats.org/officeDocument/2006/relationships/slide" Target="slides/slide9.xml"/><Relationship Id="R97dea521c61a4ae2" Type="http://schemas.openxmlformats.org/officeDocument/2006/relationships/slide" Target="slides/slide10.xml"/><Relationship Id="Ra2bcbcb1824a440b" Type="http://schemas.openxmlformats.org/officeDocument/2006/relationships/slide" Target="slides/slide4.xml"/><Relationship Id="Rab384ffc44e44db2" Type="http://schemas.openxmlformats.org/officeDocument/2006/relationships/slide" Target="slides/slide7.xml"/><Relationship Id="Rb1d31e00770848bc" Type="http://schemas.openxmlformats.org/officeDocument/2006/relationships/slide" Target="slides/slide17.xml"/><Relationship Id="Rb3cbcc9e031d4dad" Type="http://schemas.openxmlformats.org/officeDocument/2006/relationships/theme" Target="theme/theme1.xml"/><Relationship Id="Rcef9f267fa844945" Type="http://schemas.openxmlformats.org/officeDocument/2006/relationships/tableStyles" Target="tableStyles.xml"/><Relationship Id="Rd15d5846b5d14511" Type="http://schemas.openxmlformats.org/officeDocument/2006/relationships/slide" Target="slides/slide11.xml"/><Relationship Id="Rd3b3a1916ee649b5" Type="http://schemas.openxmlformats.org/officeDocument/2006/relationships/slide" Target="slides/slide12.xml"/><Relationship Id="Rd648fbe35d5b4d7e" Type="http://schemas.openxmlformats.org/officeDocument/2006/relationships/slide" Target="slides/slide3.xml"/><Relationship Id="Re6899e5344214c99" Type="http://schemas.openxmlformats.org/officeDocument/2006/relationships/slide" Target="slides/slide15.xml"/><Relationship Id="Re9ae4ddfdd8b4362" Type="http://schemas.openxmlformats.org/officeDocument/2006/relationships/slide" Target="slides/slide14.xml"/><Relationship Id="Rf1d2d8e34fce4f14" Type="http://schemas.openxmlformats.org/officeDocument/2006/relationships/presProps" Target="presProps.xml"/><Relationship Id="Rf2a4364bf3304939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a8979a675e9a444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538c3256ebd434d" Type="http://schemas.openxmlformats.org/officeDocument/2006/relationships/notesMaster" Target="../notesMasters/notesMaster1.xml"/><Relationship Id="Rc7bba997cf8c4cd7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a6ff5ca08e404f13" Type="http://schemas.openxmlformats.org/officeDocument/2006/relationships/notesMaster" Target="../notesMasters/notesMaster1.xml"/><Relationship Id="Rf072536ea3044c7d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38a8baa513cc417e" Type="http://schemas.openxmlformats.org/officeDocument/2006/relationships/notesMaster" Target="../notesMasters/notesMaster1.xml"/><Relationship Id="R5daa7dd76fbc40e9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dca5efff5ef4877" Type="http://schemas.openxmlformats.org/officeDocument/2006/relationships/slide" Target="../slides/slide4.xml"/><Relationship Id="R9a9fd155b57e40d4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1827573e287945e4" Type="http://schemas.openxmlformats.org/officeDocument/2006/relationships/notesMaster" Target="../notesMasters/notesMaster1.xml"/><Relationship Id="R39fe2f0ba8bc443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c2f500595514f04" Type="http://schemas.openxmlformats.org/officeDocument/2006/relationships/slide" Target="../slides/slide6.xml"/><Relationship Id="Rbc95696d6d94488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9ba9aa68e63947ce" Type="http://schemas.openxmlformats.org/officeDocument/2006/relationships/notesMaster" Target="../notesMasters/notesMaster1.xml"/><Relationship Id="Rcad6b91426464911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1a038b60830e4b35" Type="http://schemas.openxmlformats.org/officeDocument/2006/relationships/slide" Target="../slides/slide8.xml"/><Relationship Id="Rb66be2834fb943ea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157f5916e76147c1" Type="http://schemas.openxmlformats.org/officeDocument/2006/relationships/notesMaster" Target="../notesMasters/notesMaster1.xml"/><Relationship Id="R8c357a7f5b4d4d79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2930f762c7ea4419" Type="http://schemas.openxmlformats.org/officeDocument/2006/relationships/notesMaster" Target="../notesMasters/notesMaster1.xml"/><Relationship Id="Rb68e1ad7707f4cbb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afcf03f6a2524dd2" Type="http://schemas.openxmlformats.org/officeDocument/2006/relationships/notesMaster" Target="../notesMasters/notesMaster1.xml"/><Relationship Id="Rf10f2a42582640c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95f25951c25b4d77" Type="http://schemas.openxmlformats.org/officeDocument/2006/relationships/slide" Target="../slides/slide12.xml"/><Relationship Id="Rd178b1f8cd1c4e34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afc87f251d314c75" Type="http://schemas.openxmlformats.org/officeDocument/2006/relationships/notesMaster" Target="../notesMasters/notesMaster1.xml"/><Relationship Id="Rb0ff86ae44f64dff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b912459a3b954796" Type="http://schemas.openxmlformats.org/officeDocument/2006/relationships/notesMaster" Target="../notesMasters/notesMaster1.xml"/><Relationship Id="Rfeb53438007442cb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76bf3900d2a841aa" Type="http://schemas.openxmlformats.org/officeDocument/2006/relationships/slide" Target="../slides/slide15.xml"/><Relationship Id="Re62edc1eeed141af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216093b670a04984" Type="http://schemas.openxmlformats.org/officeDocument/2006/relationships/slide" Target="../slides/slide16.xml"/><Relationship Id="R9ff7635b7a6f44b0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d2c33edd8fb34aa1" Type="http://schemas.openxmlformats.org/officeDocument/2006/relationships/notesMaster" Target="../notesMasters/notesMaster1.xml"/><Relationship Id="Rec6a9489a10947ff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7f0fe3ebe58844a5" Type="http://schemas.openxmlformats.org/officeDocument/2006/relationships/slide" Target="../slides/slide18.xml"/><Relationship Id="Re022c0f59abb48ea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a8a6017ba78845ac" Type="http://schemas.openxmlformats.org/officeDocument/2006/relationships/notesMaster" Target="../notesMasters/notesMaster1.xml"/><Relationship Id="Rbf460e25be744c9d" Type="http://schemas.openxmlformats.org/officeDocument/2006/relationships/slide" Target="../slides/slide19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code: SCI-GROW-A2-W03</a:t>
            </a:r>
          </a:p>
          <a:p xmlns:a="http://schemas.openxmlformats.org/drawingml/2006/main">
            <a:r>
              <a:t>SoW objective: Research and present findings about the Solar System (ICT).</a:t>
            </a:r>
          </a:p>
          <a:p xmlns:a="http://schemas.openxmlformats.org/drawingml/2006/main">
            <a:r>
              <a:t>Reading band: GROW 8–11</a:t>
            </a:r>
          </a:p>
          <a:p xmlns:a="http://schemas.openxmlformats.org/drawingml/2006/main">
            <a:r>
              <a:t>Staff focus: {'i_do': 'Listen to my claim, then watch me point to card B.', 'we_do': 'Which part is done? Where is the card label still missing?', 'independent': 'Which card gives your fact? Show that part without my help.'}</a:t>
            </a:r>
          </a:p>
          <a:p xmlns:a="http://schemas.openxmlformats.org/drawingml/2006/main">
            <a:r>
              <a:t>Prompt ladder: ['Wait and count to 5.', 'Point to the lesson’s diagram, kit or source.', 'Ask: What is done, and what is the next step?', 'Model one step, then return the next step to the pupil.', 'Finish one example together, then fade the help.']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NASA Science, Sun Facts, https://science.nasa.gov/sun/facts/</a:t>
            </a:r>
          </a:p>
          <a:p xmlns:a="http://schemas.openxmlformats.org/drawingml/2006/main">
            <a:r>
              <a:t>NASA Science, What is a Planet?, https://science.nasa.gov/solar-system/planets/what-is-a-planet/</a:t>
            </a:r>
          </a:p>
          <a:p xmlns:a="http://schemas.openxmlformats.org/drawingml/2006/main">
            <a:r>
              <a:t>NASA Science, What is a Planet?, https://science.nasa.gov/solar-system/planets/what-is-a-planet/; NASA Science, Facts About Earth, https://science.nasa.gov/earth/facts/</a:t>
            </a:r>
          </a:p>
          <a:p xmlns:a="http://schemas.openxmlformats.org/drawingml/2006/main">
            <a:r>
              <a:t>NASA Science, What is a Planet?, https://science.nasa.gov/solar-system/planets/what-is-a-planet/; NASA Science, Moon Facts, https://science.nasa.gov/moon/facts/</a:t>
            </a:r>
          </a:p>
          <a:p xmlns:a="http://schemas.openxmlformats.org/drawingml/2006/main">
            <a:r>
              <a:t>NASA Science, Solar System Facts, https://science.nasa.gov/solar-system/solar-system-facts/</a:t>
            </a:r>
          </a:p>
          <a:p xmlns:a="http://schemas.openxmlformats.org/drawingml/2006/main">
            <a:r>
              <a:t>NASA Science, Solar System Facts, https://science.nasa.gov/solar-system/solar-system-facts/; NASA Science, What is a Planet?, https://science.nasa.gov/solar-system/planets/what-is-a-planet/</a:t>
            </a:r>
          </a:p>
          <a:p xmlns:a="http://schemas.openxmlformats.org/drawingml/2006/main">
            <a:r>
              <a:t>the GROW scheme of work</a:t>
            </a:r>
          </a:p>
          <a:p xmlns:a="http://schemas.openxmlformats.org/drawingml/2006/main">
            <a:r>
              <a:t>NASA Science, Solar System Facts, https://science.nasa.gov/solar-system/solar-system-facts/; NASA Science, Moon Facts, https://science.nasa.gov/moon/facts/</a:t>
            </a:r>
          </a:p>
          <a:p xmlns:a="http://schemas.openxmlformats.org/drawingml/2006/main">
            <a:r>
              <a:t>Local school risk assessment and exact prepared kit; staff confirm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a predictable seat or standing spot and the first visual cue. No public test.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three low-stakes retrieval questions; prior coverage must be checked.</a:t>
            </a:r>
          </a:p>
          <a:p xmlns:a="http://schemas.openxmlformats.org/drawingml/2006/main">
            <a:r>
              <a:t>What shape is the Moon roughly? → Approximately spherical, like a ball.</a:t>
            </a:r>
          </a:p>
          <a:p xmlns:a="http://schemas.openxmlformats.org/drawingml/2006/main">
            <a:r>
              <a:t>Why do we get day and night? → Earth turns on its axis.</a:t>
            </a:r>
          </a:p>
          <a:p xmlns:a="http://schemas.openxmlformats.org/drawingml/2006/main">
            <a:r>
              <a:t>What goes round Earth? → The Moon.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full reasoning step, pre-teach four words and ask the show-me question.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Earth orbits the Sun. The Moon orbits Earth. Paths and sizes are simplified; not to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Card 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part-done example, then allow paired talk before an answer. One-minute reset inside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Missing step: Choose and name the source card for the Moon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Sun is a star → Card A</a:t>
            </a:r>
          </a:p>
          <a:p xmlns:a="http://schemas.openxmlformats.org/drawingml/2006/main">
            <a:r>
              <a:t>Earth orbits the Sun → Card B</a:t>
            </a:r>
          </a:p>
          <a:p xmlns:a="http://schemas.openxmlformats.org/drawingml/2006/main">
            <a:r>
              <a:t>Moon orbits Earth → Card 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pupils answer the four-option hinge; use the decision rule, not a score.</a:t>
            </a:r>
          </a:p>
          <a:p xmlns:a="http://schemas.openxmlformats.org/drawingml/2006/main">
            <a:r>
              <a:t>A. Earth makes its own light. | Not correct | Confuses a planet with a star.</a:t>
            </a:r>
          </a:p>
          <a:p xmlns:a="http://schemas.openxmlformats.org/drawingml/2006/main">
            <a:r>
              <a:t>B. The Sun is a star. | Correct | Correct use of card A.</a:t>
            </a:r>
          </a:p>
          <a:p xmlns:a="http://schemas.openxmlformats.org/drawingml/2006/main">
            <a:r>
              <a:t>C. The Moon is a planet. | Not correct | Confuses a natural satellite with a planet.</a:t>
            </a:r>
          </a:p>
          <a:p xmlns:a="http://schemas.openxmlformats.org/drawingml/2006/main">
            <a:r>
              <a:t>D. Card C says Earth goes round the Sun. | Not correct | Chooses the wrong source label even for a true fact.</a:t>
            </a:r>
          </a:p>
          <a:p xmlns:a="http://schemas.openxmlformats.org/drawingml/2006/main">
            <a:r>
              <a:t>About 3 in 4 or more right → move on. Otherwise re-model with the named I-do example, then ask the parallel hinge.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agreed pupils, the other holds the group; swap across the week. One-minute reset inside this stage.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agreed pupils, the other holds the group; swap across the week. One-minute reset inside this stage.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agreed pupils, the other holds the group; swap across the week. One-minute reset inside this stage.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a specific verbal comment (VF) and invite one self-edit (//) or read-back (?).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Hear the answer and name how it changes the next example or support. One-minute reset and handoff.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6234b54f860464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d3a46d2e14b48b2" Type="http://schemas.openxmlformats.org/officeDocument/2006/relationships/slideLayout" Target="../slideLayouts/slideLayout1.xml"/><Relationship Id="Rdc73644160884dc2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3a46d2e14b48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19faabbb7c64707" Type="http://schemas.openxmlformats.org/officeDocument/2006/relationships/slideLayout" Target="../slideLayouts/slideLayout1.xml"/><Relationship Id="R47b67f5c538c497b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99fcf83f790f40b0" Type="http://schemas.openxmlformats.org/officeDocument/2006/relationships/notesSlide" Target="../notesSlides/notesSlide2.xml"/><Relationship Id="Rd555f67247a64479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8e884d2c6bfa4819" Type="http://schemas.openxmlformats.org/officeDocument/2006/relationships/slideLayout" Target="../slideLayouts/slideLayout1.xml"/><Relationship Id="Rb8ed8428e032458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68bdb48537924294" Type="http://schemas.openxmlformats.org/officeDocument/2006/relationships/notesSlide" Target="../notesSlides/notesSlide4.xml"/><Relationship Id="R9cea84c033a5496d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5586cec6873540c7" Type="http://schemas.openxmlformats.org/officeDocument/2006/relationships/notesSlide" Target="../notesSlides/notesSlide5.xml"/><Relationship Id="Rc099613e32fa4b73" Type="http://schemas.openxmlformats.org/officeDocument/2006/relationships/slideLayout" Target="../slideLayouts/slideLayout1.xml"/><Relationship Id="Rfcaff030095740e2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06f98a48429848af" Type="http://schemas.openxmlformats.org/officeDocument/2006/relationships/slideLayout" Target="../slideLayouts/slideLayout1.xml"/><Relationship Id="R910143c3f01948c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0218b3fd8fa4984" Type="http://schemas.openxmlformats.org/officeDocument/2006/relationships/slideLayout" Target="../slideLayouts/slideLayout1.xml"/><Relationship Id="R501d1592f502460a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663d069fbc0c4277" Type="http://schemas.openxmlformats.org/officeDocument/2006/relationships/slideLayout" Target="../slideLayouts/slideLayout1.xml"/><Relationship Id="Rd29bfe9b7a97441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23179f2f38a24b2f" Type="http://schemas.openxmlformats.org/officeDocument/2006/relationships/notesSlide" Target="../notesSlides/notesSlide9.xml"/><Relationship Id="R3b6fef84e9604190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52bf6f5aef4e45a1" Type="http://schemas.openxmlformats.org/officeDocument/2006/relationships/slideLayout" Target="../slideLayouts/slideLayout1.xml"/><Relationship Id="Ra7dd3d56df224c6c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559c2ba1174d4285" Type="http://schemas.openxmlformats.org/officeDocument/2006/relationships/slideLayout" Target="../slideLayouts/slideLayout1.xml"/><Relationship Id="Rb9ad8364d9364a5e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54dbbbe7202949ed" Type="http://schemas.openxmlformats.org/officeDocument/2006/relationships/notesSlide" Target="../notesSlides/notesSlide12.xml"/><Relationship Id="R6dabf56e571a4640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9ca6d56e401042f9" Type="http://schemas.openxmlformats.org/officeDocument/2006/relationships/slideLayout" Target="../slideLayouts/slideLayout1.xml"/><Relationship Id="Ree2db978e66c4f5a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52c6fb916ac44918" Type="http://schemas.openxmlformats.org/officeDocument/2006/relationships/notesSlide" Target="../notesSlides/notesSlide14.xml"/><Relationship Id="R8e8ed9195bd54f59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9b08a33d6d374aff" Type="http://schemas.openxmlformats.org/officeDocument/2006/relationships/slideLayout" Target="../slideLayouts/slideLayout1.xml"/><Relationship Id="Rb36749eed9a44b98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89a79de9e8864794" Type="http://schemas.openxmlformats.org/officeDocument/2006/relationships/slideLayout" Target="../slideLayouts/slideLayout1.xml"/><Relationship Id="Rc1aad0bedab54460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7cee795d186e4897" Type="http://schemas.openxmlformats.org/officeDocument/2006/relationships/notesSlide" Target="../notesSlides/notesSlide17.xml"/><Relationship Id="R9e5f5ffe6c7442bc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194b83d04c8744ae" Type="http://schemas.openxmlformats.org/officeDocument/2006/relationships/slideLayout" Target="../slideLayouts/slideLayout1.xml"/><Relationship Id="Re9a62cc5cdab465b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e477fb70d3cc4198" Type="http://schemas.openxmlformats.org/officeDocument/2006/relationships/slideLayout" Target="../slideLayouts/slideLayout1.xml"/><Relationship Id="Rea9ebf733bd7433d" Type="http://schemas.openxmlformats.org/officeDocument/2006/relationships/notesSlide" Target="../notesSlides/notesSlide19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2C1DD-E56F-420B-A78C-665E05ED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Researching the Solar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AB1B2-6619-445B-8666-B6D6EFD3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SCI-GROW-A2-W03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05D78-2F84-42D3-B838-94CB6043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2D967-4E7B-4CA6-8243-ACD0CCBE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check a source and share a fact about the Solar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A497F-BD1A-4721-9CC5-0571E8A4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find a fact on a class source card.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8F288-0EB6-4DD2-8521-BA768CEE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name the card that supports my fact.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E93CB-A0A0-4CF9-8A4A-7EA44DA2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fix a claim that the card does not support.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Made by Mat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5833872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0867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E3C0F-A1DD-4531-877F-BE6F4DEF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965AC-B781-4657-BC26-0F81DC0B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SCI-GROW-A2-W03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3B02A-25FA-4D1F-85F3-149C429A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6D922-0DD3-4008-833E-6B30D937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Choose the body that makes its own light: Sun, Earth or Moon.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7165585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EE14A-0E22-44DB-AA10-C7DFC2F0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94EF2-C13B-443C-B86B-067A730E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SCI-GROW-A2-W03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BC06A-4BD0-4113-9F7A-C0D93198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B7618-82CB-4608-BE4D-43EDF5F3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Think back. Say, point or write one answer for each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5FA60-9425-402D-B022-B49C6158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shape is the Moon roughly?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445F6-5520-43D1-8381-DA0FBECC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Why do we get day and night?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6D65A-5747-41AA-AFB2-34E49DF9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goes round Earth?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0705420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86FD6-D028-4BDA-BB9D-38DE07DB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6D103-9D12-4DB1-8B03-53976ABC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SCI-GROW-A2-W03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DB46B-DA76-4024-9D68-EB6FF275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5B4E6-49B4-4425-B945-3A361C32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read card B: Earth goes round the Sun. I point to card B as my source. A claim without a matching source is a guess.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9B822-F908-4CF4-A249-CA90A38A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Claim: Earth goes round the Sun → card B says the same → cite card B.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1377972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DBC54-F774-4868-BEC8-AC652938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Picture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3E7FE-AB34-433A-9B13-06FF2D2C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SCI-GROW-A2-W03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561C1-EA84-4386-9E37-F849AD02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8" name="" descr="The Sun is drawn at the centre of a dotted Earth orbit path. Earth is on that path, and the Moon is on a smaller orbit path around Earth. Simplified; not to scal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ff030095740e2"/>
          <a:stretch xmlns:a="http://schemas.openxmlformats.org/drawingml/2006/main"/>
        </p:blipFill>
        <p:spPr>
          <a:xfrm xmlns:a="http://schemas.openxmlformats.org/drawingml/2006/main">
            <a:off x="4366347" y="1409700"/>
            <a:ext cx="3459307" cy="44767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2821310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3996A-75DE-4004-8EB5-0AE190E9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Show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2F308-C58E-4EDB-AB7D-7ED0FAA4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SCI-GROW-A2-W03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0F795-DBB2-43E9-BB96-29D66104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BA75D-9DDE-4BD5-B015-174BD8A3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Card B says Earth goes round the Sun. Which card should I name with that claim?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3267210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3B76D-3787-4483-A615-5B8FD449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08178-E2A8-4CB3-90D5-CD35E9FC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SCI-GROW-A2-W03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82FEB-D882-44B6-AC45-3B1496C2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18CF9-A0FC-456A-A341-A8FC6C37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Card A is matched to Sun is a star. Card B has a fact but no label. Find the missing source label for Earth goes round the Sun.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FDEC0-31F0-4CD9-92C2-01998A88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Claim: The Moon goes round Earth → card C says the same → cite card ____.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5814259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21B90-65A5-4EAA-B498-09A865E5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Talk, then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2DE30-34BA-4146-8C41-D1B7DFC1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SCI-GROW-A2-W03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520FF-2252-470B-8E68-E70BCC5F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88A19-EC5D-4FBB-AE62-B0A35907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Card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2C24D-DC86-4505-B38B-DE1D9892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Card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1CA55-7CDC-4D80-8DE5-B5ACBA69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Card 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DB496-D923-4C63-BD20-C3BD0A1F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Sun is a star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BE22D-A3D0-4795-9D26-B2D7D617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902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Earth orbits the Sun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2BC71-85FB-4A93-80FF-C183012B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Moon orbits Earth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764883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37E6B-29B8-4F29-8D64-43C1B969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7F984-7BAC-4186-8836-0CFF2843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SCI-GROW-A2-W03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EE5DF-73D5-4B21-A4AA-E6A14C2C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74B89-52EB-4DCE-ACF8-96BE5433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Which claim is backed by our class cards?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23729-948F-4229-A5D6-BBDA5EAB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A.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Earth makes its own light.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0FC1B-DB20-406E-BFC7-8FAEB0F1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B.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Sun is a star.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5CF0F-0FDB-4594-AA91-8A22582E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C.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Moon is a planet.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2AD1F-2749-4F54-BFBF-9F21F313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902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D.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Card C says Earth goes round the Sun.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6500405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BE1B2-B664-43F1-8BFD-A889A8CD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D2A98-21F8-44B5-BBCF-F836F152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SCI-GROW-A2-W03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637D0-2F1D-46F9-9742-BF8208B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79BDF-9504-4A0F-AFED-EC322CC0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138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Share two facts about the Solar System. Name the class card that supports each fact. Correct one claim if its card does not match.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F2403-0143-4663-A383-E74014E8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9959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Point to one fact and its source card.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114C8-C868-45EB-83F1-FAF6ADAB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83839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Card ___ says 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1378095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21188-67AE-416A-88F4-2A3C1BD3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DE5B7-9C9E-4D3E-8CDB-8FBB0995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SCI-GROW-A2-W03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2FC73-117B-4D81-A6F6-9A37A411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65F0A-FC4B-4006-90EA-60B86845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138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Share two facts about the Solar System. Name the class card that supports each fact. Correct one claim if its card does not match.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A9CA3-7F2E-4860-8A2A-54E84974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9959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Share two facts and name each matching card.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1773A-E53F-4D53-B4E0-913200BA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83839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fact is ___; card ___ supports it.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283176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4D71A-7D64-48AF-98CD-DC3A682B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D9BF1-D9E1-40D0-B7A5-52270460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SCI-GROW-A2-W03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FD315-069D-4FBD-B0A9-6A6E33C9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CA79C-C1DF-4DB8-B8BD-C5B63DC3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138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Share two facts about the Solar System. Name the class card that supports each fact. Correct one claim if its card does not match.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2C82F-FC0E-4254-9962-92E35B7B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9959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Use two cards to explain Earth’s place, then repair a false label.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04398-72C4-43BB-B4C4-5443EC20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189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Card ___ supports ___, but it cannot show ___ because 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7682540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90EC4-AC08-49BF-908E-5B2A7AAC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Go deeper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639D1-B2BB-4067-8973-60B0FFED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SCI-GROW-A2-W03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30FE9-DDAA-4E66-B36A-877DD799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15926-ECD6-4AD8-B363-C984B010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poster calls the Moon a planet. Use two class cards to repair the label and name both sources.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B4ABE-F803-4AF5-B64A-79E6C9C2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Two cards disagree about the Moon. Choose the supported claim, then name a reliable source for a further check.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435816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07AF8-18EE-474F-A11F-7F4080A3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45DF3-BCDB-4C1D-811C-A5323ABA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SCI-GROW-A2-W03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B191A-BC5C-43A8-A6FC-0100612B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5C294-D5FC-4F3C-A4A4-63A75DAC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Hear which card backs your fact. Change a source label or fact if needed, then say what changed.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6616992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AEE0A-DC3A-43FA-852F-DCE568D1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391B5-0644-40BF-B382-13030640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SCI-GROW-A2-W03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5CB05-F570-45DF-AE8A-AA0F538C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22F98-7911-4C80-B67C-5C641078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Say one checked fact and point to the matching class card. Say which source label you fixed.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55E35-5371-457E-9F06-3AFC73AF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789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? Read it back: check a source and share a fact about the Solar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D59AA-37AF-4623-9A75-92CC4D50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224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feedback was… say what changed. Next I need to… name a fix.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90DA7-F10A-412A-94C5-CCCCC550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6595"/>
            <a:ext cx="11087100" cy="1240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I know: I can find a fact on a class source card. I can name the card that supports my fact. I can fix a claim that the card does not support.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9230E-58A1-4C35-8B78-9700F2D0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adult hears you and chooses our next example. Take one quiet minute.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6440540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3B29E-6BEE-41F3-8994-43D9ED7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Solar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746AB-3DAB-4592-BE60-DAD9CD25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SCI-GROW-A2-W03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E9E8B-B04C-49E5-BE1E-EFD1A08D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BA336-4CC6-4731-9F78-162ED541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Sun and the objects that move around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CC245-9D96-4681-A5F5-A907FBD2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Earth is part of our Solar System.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0538351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FB90A-94B1-4FBB-BF9D-51380E3E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planet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C2BD6-3437-4C97-A071-3BF47085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SCI-GROW-A2-W03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D3BF8-65BB-41DC-A91E-BE05D846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EE185-79E6-4707-AEFD-2E81BBAF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large, nearly round body that moves around a star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B0C51-EF47-4186-95F8-F6A54538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Earth is a planet that moves around the Sun.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9446932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D9FDD-CF19-42CA-85DC-B73F3256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star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0238D-F56B-4A28-AFE8-DD52EACA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SCI-GROW-A2-W03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52A57-BF9C-4C77-BBB5-9EF65791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C4243-7AAA-4D97-B897-E2E92CBD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hot body in space that makes its own light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46E1D-BE19-4723-A03C-79F312BB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Sun is a star.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275765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649AC-5F88-4F3A-90EF-A71C8DC2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6C987-2802-478B-98A6-FDEEACA7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SCI-GROW-A2-W03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C6CBA-25A1-47B8-A8FF-DEFE3FBA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2AC12-C689-45F4-A0FF-FC66DF66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where a fact or idea comes from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D526C-B836-41CD-8C1D-4F18001B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Card B is my source for Earth’s orbit.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5049128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2026-09-25T12:29:09.8060000Z</dcterms:created>
  <dcterms:modified xsi:type="dcterms:W3CDTF">2026-09-25T12:29:09.8060000Z</dcterms:modified>
</coreProperties>
</file>