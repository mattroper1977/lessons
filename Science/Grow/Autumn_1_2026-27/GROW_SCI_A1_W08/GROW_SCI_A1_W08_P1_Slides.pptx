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Type="http://schemas.openxmlformats.org/package/2006/relationships/metadata/core-properties" Target="/docProps/core.xml" Id="R5d28d92c6d704771"/><Relationship Type="http://schemas.openxmlformats.org/officeDocument/2006/relationships/extended-properties" Target="/docProps/app.xml" Id="R89082d35570b4c4b"/><Relationship Type="http://schemas.openxmlformats.org/officeDocument/2006/relationships/officeDocument" Target="/ppt/presentation.xml" Id="Rbbad8ad9d2a94247"/><Relationship Id="rIdCustom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efe28b5efb47c1"/>
  </p:sldMasterIdLst>
  <p:notesMasterIdLst>
    <p:notesMasterId xmlns:r="http://schemas.openxmlformats.org/officeDocument/2006/relationships" r:id="R14045a604e3b4bb9"/>
  </p:notesMasterIdLst>
  <p:sldIdLst>
    <p:sldId xmlns:r="http://schemas.openxmlformats.org/officeDocument/2006/relationships" id="256" r:id="R7febc56f0c27479d"/>
    <p:sldId xmlns:r="http://schemas.openxmlformats.org/officeDocument/2006/relationships" id="257" r:id="Rc30bf3ea47974f91"/>
    <p:sldId xmlns:r="http://schemas.openxmlformats.org/officeDocument/2006/relationships" id="258" r:id="R2e0fdc3462854106"/>
    <p:sldId xmlns:r="http://schemas.openxmlformats.org/officeDocument/2006/relationships" id="259" r:id="R03808034969e4718"/>
    <p:sldId xmlns:r="http://schemas.openxmlformats.org/officeDocument/2006/relationships" id="260" r:id="R62f2fa0d06e44235"/>
    <p:sldId xmlns:r="http://schemas.openxmlformats.org/officeDocument/2006/relationships" id="261" r:id="R8ce8928cfa604316"/>
    <p:sldId xmlns:r="http://schemas.openxmlformats.org/officeDocument/2006/relationships" id="262" r:id="R637e7270266c4cbc"/>
    <p:sldId xmlns:r="http://schemas.openxmlformats.org/officeDocument/2006/relationships" id="263" r:id="Rf8024733a9aa44de"/>
    <p:sldId xmlns:r="http://schemas.openxmlformats.org/officeDocument/2006/relationships" id="264" r:id="R218e0c61e8e84f9b"/>
    <p:sldId xmlns:r="http://schemas.openxmlformats.org/officeDocument/2006/relationships" id="265" r:id="Rdf85276b696c4f42"/>
    <p:sldId xmlns:r="http://schemas.openxmlformats.org/officeDocument/2006/relationships" id="266" r:id="Ra9d327275e19477e"/>
    <p:sldId xmlns:r="http://schemas.openxmlformats.org/officeDocument/2006/relationships" id="267" r:id="Ra97a2f4eca7d4c70"/>
    <p:sldId xmlns:r="http://schemas.openxmlformats.org/officeDocument/2006/relationships" id="268" r:id="Rf3d8ad486f144c42"/>
    <p:sldId xmlns:r="http://schemas.openxmlformats.org/officeDocument/2006/relationships" id="269" r:id="R4daef1bd5a9b4fc8"/>
    <p:sldId xmlns:r="http://schemas.openxmlformats.org/officeDocument/2006/relationships" id="270" r:id="Rb3b4abc87d574a3a"/>
    <p:sldId xmlns:r="http://schemas.openxmlformats.org/officeDocument/2006/relationships" id="271" r:id="R23af8dbd745d4d06"/>
    <p:sldId xmlns:r="http://schemas.openxmlformats.org/officeDocument/2006/relationships" id="272" r:id="Rbaaa2704dfad4e04"/>
    <p:sldId xmlns:r="http://schemas.openxmlformats.org/officeDocument/2006/relationships" id="273" r:id="R5e31f526e65a4d09"/>
    <p:sldId xmlns:r="http://schemas.openxmlformats.org/officeDocument/2006/relationships" id="274" r:id="Reb884c25f010430a"/>
    <p:sldId xmlns:r="http://schemas.openxmlformats.org/officeDocument/2006/relationships" id="275" r:id="Rfeed3c53f84e489c"/>
    <p:sldId xmlns:r="http://schemas.openxmlformats.org/officeDocument/2006/relationships" id="276" r:id="Ra788d6cf7db340b5"/>
    <p:sldId xmlns:r="http://schemas.openxmlformats.org/officeDocument/2006/relationships" id="277" r:id="R9b9f3ef85f164a6b"/>
    <p:sldId xmlns:r="http://schemas.openxmlformats.org/officeDocument/2006/relationships" id="278" r:id="R357c65f346e7493a"/>
    <p:sldId xmlns:r="http://schemas.openxmlformats.org/officeDocument/2006/relationships" id="279" r:id="R4e3e2654023a4f2d"/>
    <p:sldId xmlns:r="http://schemas.openxmlformats.org/officeDocument/2006/relationships" id="280" r:id="R019b090e978945e8"/>
    <p:sldId xmlns:r="http://schemas.openxmlformats.org/officeDocument/2006/relationships" id="281" r:id="Rb8ee3a89a83445ef"/>
    <p:sldId xmlns:r="http://schemas.openxmlformats.org/officeDocument/2006/relationships" id="282" r:id="R7bdccd9b32494019"/>
    <p:sldId xmlns:r="http://schemas.openxmlformats.org/officeDocument/2006/relationships" id="283" r:id="Rcda7ba8aa27944b8"/>
    <p:sldId xmlns:r="http://schemas.openxmlformats.org/officeDocument/2006/relationships" id="284" r:id="Rda1823bacf0c4234"/>
    <p:sldId xmlns:r="http://schemas.openxmlformats.org/officeDocument/2006/relationships" id="285" r:id="R19fb886f24864a3b"/>
    <p:sldId xmlns:r="http://schemas.openxmlformats.org/officeDocument/2006/relationships" id="286" r:id="Rbffb22fb423a4f49"/>
    <p:sldId xmlns:r="http://schemas.openxmlformats.org/officeDocument/2006/relationships" id="287" r:id="Rbfa14862d66e46a4"/>
    <p:sldId xmlns:r="http://schemas.openxmlformats.org/officeDocument/2006/relationships" id="288" r:id="R2d51c17d4bd84993"/>
    <p:sldId xmlns:r="http://schemas.openxmlformats.org/officeDocument/2006/relationships" id="289" r:id="R741ba2d6d5fd45c8"/>
    <p:sldId xmlns:r="http://schemas.openxmlformats.org/officeDocument/2006/relationships" id="290" r:id="R1ea1cfe0a19c4fd9"/>
    <p:sldId xmlns:r="http://schemas.openxmlformats.org/officeDocument/2006/relationships" id="291" r:id="R25206c3bcbe34398"/>
    <p:sldId xmlns:r="http://schemas.openxmlformats.org/officeDocument/2006/relationships" id="292" r:id="R9d4e4a3448cb4714"/>
    <p:sldId xmlns:r="http://schemas.openxmlformats.org/officeDocument/2006/relationships" id="293" r:id="Rf9fe66db4fd44b5e"/>
    <p:sldId xmlns:r="http://schemas.openxmlformats.org/officeDocument/2006/relationships" id="294" r:id="R95403f595aa74a0b"/>
    <p:sldId xmlns:r="http://schemas.openxmlformats.org/officeDocument/2006/relationships" id="295" r:id="R793ac6eec4214f1c"/>
    <p:sldId xmlns:r="http://schemas.openxmlformats.org/officeDocument/2006/relationships" id="296" r:id="R37852903deb14cbb"/>
    <p:sldId xmlns:r="http://schemas.openxmlformats.org/officeDocument/2006/relationships" id="297" r:id="R120c280bdb014132"/>
    <p:sldId xmlns:r="http://schemas.openxmlformats.org/officeDocument/2006/relationships" id="298" r:id="Ra374f1f009864c0e"/>
    <p:sldId xmlns:r="http://schemas.openxmlformats.org/officeDocument/2006/relationships" id="299" r:id="Rb16b8502db8241a8"/>
    <p:sldId xmlns:r="http://schemas.openxmlformats.org/officeDocument/2006/relationships" id="300" r:id="R11d8f30210364933"/>
    <p:sldId xmlns:r="http://schemas.openxmlformats.org/officeDocument/2006/relationships" id="301" r:id="R64a890d5aef1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6217d72144878" /><Relationship Type="http://schemas.openxmlformats.org/officeDocument/2006/relationships/slideMaster" Target="/ppt/slideMasters/slideMaster1.xml" Id="R0aefe28b5efb47c1" /><Relationship Type="http://schemas.openxmlformats.org/officeDocument/2006/relationships/notesMaster" Target="/ppt/notesMasters/notesMaster1.xml" Id="R14045a604e3b4bb9" /><Relationship Type="http://schemas.openxmlformats.org/officeDocument/2006/relationships/presProps" Target="/ppt/presProps.xml" Id="Rd3c1cc8450bf46a7" /><Relationship Type="http://schemas.openxmlformats.org/officeDocument/2006/relationships/tableStyles" Target="/ppt/tableStyles.xml" Id="R913d8b1140464a13" /><Relationship Type="http://schemas.openxmlformats.org/officeDocument/2006/relationships/slide" Target="/ppt/slides/slide1.xml" Id="R7febc56f0c27479d" /><Relationship Type="http://schemas.openxmlformats.org/officeDocument/2006/relationships/slide" Target="/ppt/slides/slide2.xml" Id="Rc30bf3ea47974f91" /><Relationship Type="http://schemas.openxmlformats.org/officeDocument/2006/relationships/slide" Target="/ppt/slides/slide3.xml" Id="R2e0fdc3462854106" /><Relationship Type="http://schemas.openxmlformats.org/officeDocument/2006/relationships/slide" Target="/ppt/slides/slide4.xml" Id="R03808034969e4718" /><Relationship Type="http://schemas.openxmlformats.org/officeDocument/2006/relationships/slide" Target="/ppt/slides/slide5.xml" Id="R62f2fa0d06e44235" /><Relationship Type="http://schemas.openxmlformats.org/officeDocument/2006/relationships/slide" Target="/ppt/slides/slide6.xml" Id="R8ce8928cfa604316" /><Relationship Type="http://schemas.openxmlformats.org/officeDocument/2006/relationships/slide" Target="/ppt/slides/slide7.xml" Id="R637e7270266c4cbc" /><Relationship Type="http://schemas.openxmlformats.org/officeDocument/2006/relationships/slide" Target="/ppt/slides/slide8.xml" Id="Rf8024733a9aa44de" /><Relationship Type="http://schemas.openxmlformats.org/officeDocument/2006/relationships/slide" Target="/ppt/slides/slide9.xml" Id="R218e0c61e8e84f9b" /><Relationship Type="http://schemas.openxmlformats.org/officeDocument/2006/relationships/slide" Target="/ppt/slides/slide10.xml" Id="Rdf85276b696c4f42" /><Relationship Type="http://schemas.openxmlformats.org/officeDocument/2006/relationships/slide" Target="/ppt/slides/slide11.xml" Id="Ra9d327275e19477e" /><Relationship Type="http://schemas.openxmlformats.org/officeDocument/2006/relationships/slide" Target="/ppt/slides/slide12.xml" Id="Ra97a2f4eca7d4c70" /><Relationship Type="http://schemas.openxmlformats.org/officeDocument/2006/relationships/slide" Target="/ppt/slides/slide13.xml" Id="Rf3d8ad486f144c42" /><Relationship Type="http://schemas.openxmlformats.org/officeDocument/2006/relationships/slide" Target="/ppt/slides/slide14.xml" Id="R4daef1bd5a9b4fc8" /><Relationship Type="http://schemas.openxmlformats.org/officeDocument/2006/relationships/slide" Target="/ppt/slides/slide15.xml" Id="Rb3b4abc87d574a3a" /><Relationship Type="http://schemas.openxmlformats.org/officeDocument/2006/relationships/slide" Target="/ppt/slides/slide16.xml" Id="R23af8dbd745d4d06" /><Relationship Type="http://schemas.openxmlformats.org/officeDocument/2006/relationships/slide" Target="/ppt/slides/slide17.xml" Id="Rbaaa2704dfad4e04" /><Relationship Type="http://schemas.openxmlformats.org/officeDocument/2006/relationships/slide" Target="/ppt/slides/slide18.xml" Id="R5e31f526e65a4d09" /><Relationship Type="http://schemas.openxmlformats.org/officeDocument/2006/relationships/slide" Target="/ppt/slides/slide19.xml" Id="Reb884c25f010430a" /><Relationship Type="http://schemas.openxmlformats.org/officeDocument/2006/relationships/slide" Target="/ppt/slides/slide20.xml" Id="Rfeed3c53f84e489c" /><Relationship Type="http://schemas.openxmlformats.org/officeDocument/2006/relationships/slide" Target="/ppt/slides/slide21.xml" Id="Ra788d6cf7db340b5" /><Relationship Type="http://schemas.openxmlformats.org/officeDocument/2006/relationships/slide" Target="/ppt/slides/slide22.xml" Id="R9b9f3ef85f164a6b" /><Relationship Type="http://schemas.openxmlformats.org/officeDocument/2006/relationships/slide" Target="/ppt/slides/slide23.xml" Id="R357c65f346e7493a" /><Relationship Type="http://schemas.openxmlformats.org/officeDocument/2006/relationships/slide" Target="/ppt/slides/slide24.xml" Id="R4e3e2654023a4f2d" /><Relationship Type="http://schemas.openxmlformats.org/officeDocument/2006/relationships/slide" Target="/ppt/slides/slide25.xml" Id="R019b090e978945e8" /><Relationship Type="http://schemas.openxmlformats.org/officeDocument/2006/relationships/slide" Target="/ppt/slides/slide26.xml" Id="Rb8ee3a89a83445ef" /><Relationship Type="http://schemas.openxmlformats.org/officeDocument/2006/relationships/slide" Target="/ppt/slides/slide27.xml" Id="R7bdccd9b32494019" /><Relationship Type="http://schemas.openxmlformats.org/officeDocument/2006/relationships/slide" Target="/ppt/slides/slide28.xml" Id="Rcda7ba8aa27944b8" /><Relationship Type="http://schemas.openxmlformats.org/officeDocument/2006/relationships/slide" Target="/ppt/slides/slide29.xml" Id="Rda1823bacf0c4234" /><Relationship Type="http://schemas.openxmlformats.org/officeDocument/2006/relationships/slide" Target="/ppt/slides/slide30.xml" Id="R19fb886f24864a3b" /><Relationship Type="http://schemas.openxmlformats.org/officeDocument/2006/relationships/slide" Target="/ppt/slides/slide31.xml" Id="Rbffb22fb423a4f49" /><Relationship Type="http://schemas.openxmlformats.org/officeDocument/2006/relationships/slide" Target="/ppt/slides/slide32.xml" Id="Rbfa14862d66e46a4" /><Relationship Type="http://schemas.openxmlformats.org/officeDocument/2006/relationships/slide" Target="/ppt/slides/slide33.xml" Id="R2d51c17d4bd84993" /><Relationship Type="http://schemas.openxmlformats.org/officeDocument/2006/relationships/slide" Target="/ppt/slides/slide34.xml" Id="R741ba2d6d5fd45c8" /><Relationship Type="http://schemas.openxmlformats.org/officeDocument/2006/relationships/slide" Target="/ppt/slides/slide35.xml" Id="R1ea1cfe0a19c4fd9" /><Relationship Type="http://schemas.openxmlformats.org/officeDocument/2006/relationships/slide" Target="/ppt/slides/slide36.xml" Id="R25206c3bcbe34398" /><Relationship Type="http://schemas.openxmlformats.org/officeDocument/2006/relationships/slide" Target="/ppt/slides/slide37.xml" Id="R9d4e4a3448cb4714" /><Relationship Type="http://schemas.openxmlformats.org/officeDocument/2006/relationships/slide" Target="/ppt/slides/slide38.xml" Id="Rf9fe66db4fd44b5e" /><Relationship Type="http://schemas.openxmlformats.org/officeDocument/2006/relationships/slide" Target="/ppt/slides/slide39.xml" Id="R95403f595aa74a0b" /><Relationship Type="http://schemas.openxmlformats.org/officeDocument/2006/relationships/slide" Target="/ppt/slides/slide40.xml" Id="R793ac6eec4214f1c" /><Relationship Type="http://schemas.openxmlformats.org/officeDocument/2006/relationships/slide" Target="/ppt/slides/slide41.xml" Id="R37852903deb14cbb" /><Relationship Type="http://schemas.openxmlformats.org/officeDocument/2006/relationships/slide" Target="/ppt/slides/slide42.xml" Id="R120c280bdb014132" /><Relationship Type="http://schemas.openxmlformats.org/officeDocument/2006/relationships/slide" Target="/ppt/slides/slide43.xml" Id="Ra374f1f009864c0e" /><Relationship Type="http://schemas.openxmlformats.org/officeDocument/2006/relationships/slide" Target="/ppt/slides/slide44.xml" Id="Rb16b8502db8241a8" /><Relationship Type="http://schemas.openxmlformats.org/officeDocument/2006/relationships/slide" Target="/ppt/slides/slide45.xml" Id="R11d8f30210364933" /><Relationship Type="http://schemas.openxmlformats.org/officeDocument/2006/relationships/slide" Target="/ppt/slides/slide46.xml" Id="R64a890d5aef1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f883266494a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2698087c84aa7" /><Relationship Type="http://schemas.openxmlformats.org/officeDocument/2006/relationships/notesMaster" Target="/ppt/notesMasters/notesMaster1.xml" Id="R2bb6edb94c0e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680cabc9094c58" /><Relationship Type="http://schemas.openxmlformats.org/officeDocument/2006/relationships/notesMaster" Target="/ppt/notesMasters/notesMaster1.xml" Id="R85d86633d78244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72da374104dd7" /><Relationship Type="http://schemas.openxmlformats.org/officeDocument/2006/relationships/notesMaster" Target="/ppt/notesMasters/notesMaster1.xml" Id="R78701f65cf124a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dc231f6fe4b4e" /><Relationship Type="http://schemas.openxmlformats.org/officeDocument/2006/relationships/notesMaster" Target="/ppt/notesMasters/notesMaster1.xml" Id="R5941ee908ad648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9ffc5859b24a5d" /><Relationship Type="http://schemas.openxmlformats.org/officeDocument/2006/relationships/notesMaster" Target="/ppt/notesMasters/notesMaster1.xml" Id="R2ef9bf6b03dd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51489cc0384725" /><Relationship Type="http://schemas.openxmlformats.org/officeDocument/2006/relationships/notesMaster" Target="/ppt/notesMasters/notesMaster1.xml" Id="Rff99a2e3733945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fe33ec68184c30" /><Relationship Type="http://schemas.openxmlformats.org/officeDocument/2006/relationships/notesMaster" Target="/ppt/notesMasters/notesMaster1.xml" Id="R8222d7394bd7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b9caf0b766440b" /><Relationship Type="http://schemas.openxmlformats.org/officeDocument/2006/relationships/notesMaster" Target="/ppt/notesMasters/notesMaster1.xml" Id="R54af318c14544d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eee3aba1a64720" /><Relationship Type="http://schemas.openxmlformats.org/officeDocument/2006/relationships/notesMaster" Target="/ppt/notesMasters/notesMaster1.xml" Id="Ref91995c3fc7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f85f6d0ce747ac" /><Relationship Type="http://schemas.openxmlformats.org/officeDocument/2006/relationships/notesMaster" Target="/ppt/notesMasters/notesMaster1.xml" Id="R51308c17c6e049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83080a5500416d" /><Relationship Type="http://schemas.openxmlformats.org/officeDocument/2006/relationships/notesMaster" Target="/ppt/notesMasters/notesMaster1.xml" Id="R4eb2ca73160e40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395cc109404063" /><Relationship Type="http://schemas.openxmlformats.org/officeDocument/2006/relationships/notesMaster" Target="/ppt/notesMasters/notesMaster1.xml" Id="Rb45216d46d0e46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169f3eb9064171" /><Relationship Type="http://schemas.openxmlformats.org/officeDocument/2006/relationships/notesMaster" Target="/ppt/notesMasters/notesMaster1.xml" Id="Rb27ccf30c27046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7e2331a1f04e08" /><Relationship Type="http://schemas.openxmlformats.org/officeDocument/2006/relationships/notesMaster" Target="/ppt/notesMasters/notesMaster1.xml" Id="Rbca4d653237542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9e332df72b4503" /><Relationship Type="http://schemas.openxmlformats.org/officeDocument/2006/relationships/notesMaster" Target="/ppt/notesMasters/notesMaster1.xml" Id="R30c444af299f44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f08df4b7c8428d" /><Relationship Type="http://schemas.openxmlformats.org/officeDocument/2006/relationships/notesMaster" Target="/ppt/notesMasters/notesMaster1.xml" Id="R654edcda76ce4f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e80750494d4f50" /><Relationship Type="http://schemas.openxmlformats.org/officeDocument/2006/relationships/notesMaster" Target="/ppt/notesMasters/notesMaster1.xml" Id="R38f68bc9c4e14f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c7611524434133" /><Relationship Type="http://schemas.openxmlformats.org/officeDocument/2006/relationships/notesMaster" Target="/ppt/notesMasters/notesMaster1.xml" Id="R63eea525107348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484c6356754332" /><Relationship Type="http://schemas.openxmlformats.org/officeDocument/2006/relationships/notesMaster" Target="/ppt/notesMasters/notesMaster1.xml" Id="R09cbe19b6b414c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4628206eac429c" /><Relationship Type="http://schemas.openxmlformats.org/officeDocument/2006/relationships/notesMaster" Target="/ppt/notesMasters/notesMaster1.xml" Id="R0ff382dd4cf34d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127e45ebb74cd9" /><Relationship Type="http://schemas.openxmlformats.org/officeDocument/2006/relationships/notesMaster" Target="/ppt/notesMasters/notesMaster1.xml" Id="Raafb1002dc284c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9d0c4b740b4970" /><Relationship Type="http://schemas.openxmlformats.org/officeDocument/2006/relationships/notesMaster" Target="/ppt/notesMasters/notesMaster1.xml" Id="R1a802d0c747d45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b2ffbb79e74fc4" /><Relationship Type="http://schemas.openxmlformats.org/officeDocument/2006/relationships/notesMaster" Target="/ppt/notesMasters/notesMaster1.xml" Id="Ra310d263786c42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bc40605cba4217" /><Relationship Type="http://schemas.openxmlformats.org/officeDocument/2006/relationships/notesMaster" Target="/ppt/notesMasters/notesMaster1.xml" Id="Rba6774b4df4b4d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2e95ca438045a4" /><Relationship Type="http://schemas.openxmlformats.org/officeDocument/2006/relationships/notesMaster" Target="/ppt/notesMasters/notesMaster1.xml" Id="Rc163b12d47e342b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f5329dedf44714" /><Relationship Type="http://schemas.openxmlformats.org/officeDocument/2006/relationships/notesMaster" Target="/ppt/notesMasters/notesMaster1.xml" Id="Re0e75cdf2d2a4cd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2c8290f29b460b" /><Relationship Type="http://schemas.openxmlformats.org/officeDocument/2006/relationships/notesMaster" Target="/ppt/notesMasters/notesMaster1.xml" Id="R05d07fe6e53c4d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c5afa1c03145ad" /><Relationship Type="http://schemas.openxmlformats.org/officeDocument/2006/relationships/notesMaster" Target="/ppt/notesMasters/notesMaster1.xml" Id="Rca5d19826b7d4bf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c206fae1fa44f6" /><Relationship Type="http://schemas.openxmlformats.org/officeDocument/2006/relationships/notesMaster" Target="/ppt/notesMasters/notesMaster1.xml" Id="Rdcaed332f6ce49a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7635d02d2f48c7" /><Relationship Type="http://schemas.openxmlformats.org/officeDocument/2006/relationships/notesMaster" Target="/ppt/notesMasters/notesMaster1.xml" Id="R8752d045ac3646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5673523236b4367" /><Relationship Type="http://schemas.openxmlformats.org/officeDocument/2006/relationships/notesMaster" Target="/ppt/notesMasters/notesMaster1.xml" Id="R89c0da0dcb6c4c5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b86b945008443bb" /><Relationship Type="http://schemas.openxmlformats.org/officeDocument/2006/relationships/notesMaster" Target="/ppt/notesMasters/notesMaster1.xml" Id="R92dcf0ae18d342c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eefa8191ff643b6" /><Relationship Type="http://schemas.openxmlformats.org/officeDocument/2006/relationships/notesMaster" Target="/ppt/notesMasters/notesMaster1.xml" Id="R62c863d1d6404ea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1534b5e4214314" /><Relationship Type="http://schemas.openxmlformats.org/officeDocument/2006/relationships/notesMaster" Target="/ppt/notesMasters/notesMaster1.xml" Id="Ra84147510b904e7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8f11efb00841c0" /><Relationship Type="http://schemas.openxmlformats.org/officeDocument/2006/relationships/notesMaster" Target="/ppt/notesMasters/notesMaster1.xml" Id="R3a52051dd6424c9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c47c5bed8cb4072" /><Relationship Type="http://schemas.openxmlformats.org/officeDocument/2006/relationships/notesMaster" Target="/ppt/notesMasters/notesMaster1.xml" Id="Rdb8db0be2684485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565ae1aec54a5d" /><Relationship Type="http://schemas.openxmlformats.org/officeDocument/2006/relationships/notesMaster" Target="/ppt/notesMasters/notesMaster1.xml" Id="R02a0fa9edbd9462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15430263dd47e6" /><Relationship Type="http://schemas.openxmlformats.org/officeDocument/2006/relationships/notesMaster" Target="/ppt/notesMasters/notesMaster1.xml" Id="R3bbef603881245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9152594ca0d4e47" /><Relationship Type="http://schemas.openxmlformats.org/officeDocument/2006/relationships/notesMaster" Target="/ppt/notesMasters/notesMaster1.xml" Id="R7740ca050de1463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e0749bd69ef431b" /><Relationship Type="http://schemas.openxmlformats.org/officeDocument/2006/relationships/notesMaster" Target="/ppt/notesMasters/notesMaster1.xml" Id="R419fe37434534ac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574216b257441a0" /><Relationship Type="http://schemas.openxmlformats.org/officeDocument/2006/relationships/notesMaster" Target="/ppt/notesMasters/notesMaster1.xml" Id="Rb9d6c0e7acd9475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2a282d947743e1" /><Relationship Type="http://schemas.openxmlformats.org/officeDocument/2006/relationships/notesMaster" Target="/ppt/notesMasters/notesMaster1.xml" Id="R31de1d4042ca4ae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3d43c4a68344bd" /><Relationship Type="http://schemas.openxmlformats.org/officeDocument/2006/relationships/notesMaster" Target="/ppt/notesMasters/notesMaster1.xml" Id="R33973f29951045f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cebbe52ac5e489f" /><Relationship Type="http://schemas.openxmlformats.org/officeDocument/2006/relationships/notesMaster" Target="/ppt/notesMasters/notesMaster1.xml" Id="R4d2911f8e0a94d9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c0bc56de6d146e5" /><Relationship Type="http://schemas.openxmlformats.org/officeDocument/2006/relationships/notesMaster" Target="/ppt/notesMasters/notesMaster1.xml" Id="R06561d428e9f4b8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e2db2c0b82e4172" /><Relationship Type="http://schemas.openxmlformats.org/officeDocument/2006/relationships/notesMaster" Target="/ppt/notesMasters/notesMaster1.xml" Id="Rff182b69c6054a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1.</a:t>
            </a:r>
          </a:p>
          <a:p xmlns:a="http://schemas.openxmlformats.org/drawingml/2006/main">
            <a:r>
              <a:t>Orient pupils to the goal. Teaching totals 40 minutes.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2.</a:t>
            </a:r>
          </a:p>
          <a:p xmlns:a="http://schemas.openxmlformats.org/drawingml/2006/main">
            <a:r>
              <a:t>Read four short retrieval questions, allow independent thinking, then offer a small prompt or two choices. Keep answers in the book. No public test.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3.</a:t>
            </a:r>
          </a:p>
          <a:p xmlns:a="http://schemas.openxmlformats.org/drawingml/2006/main">
            <a:r>
              <a:t>Ask the one opening question. Give thinking time and take a voluntary response. Keep one short answer in the book.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3.</a:t>
            </a:r>
          </a:p>
          <a:p xmlns:a="http://schemas.openxmlformats.org/drawingml/2006/main">
            <a:r>
              <a:t>Ask the one opening question. Give thinking time and take a voluntary response. Keep one short answer in the book.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4.</a:t>
            </a:r>
          </a:p>
          <a:p xmlns:a="http://schemas.openxmlformats.org/drawingml/2006/main">
            <a:r>
              <a:t>Keep the visible model and language linked. Pause at one observation; distinguish what the model shows from its limit.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4.</a:t>
            </a:r>
          </a:p>
          <a:p xmlns:a="http://schemas.openxmlformats.org/drawingml/2006/main">
            <a:r>
              <a:t>Keep the visible model and language linked. Pause at one observation; distinguish what the model shows from its limit.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4.</a:t>
            </a:r>
          </a:p>
          <a:p xmlns:a="http://schemas.openxmlformats.org/drawingml/2006/main">
            <a:r>
              <a:t>Keep the visible model and language linked. Pause at one observation; distinguish what the model shows from its limit.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4.</a:t>
            </a:r>
          </a:p>
          <a:p xmlns:a="http://schemas.openxmlformats.org/drawingml/2006/main">
            <a:r>
              <a:t>Keep the visible model and language linked. Pause at one observation; distinguish what the model shows from its limit.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5.</a:t>
            </a:r>
          </a:p>
          <a:p xmlns:a="http://schemas.openxmlformats.org/drawingml/2006/main">
            <a:r>
              <a:t>Everyone commits. Secure: transfer. Mixed: compare two choices. Misconception: re-model, then use a fresh example. Access: change response mode.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5.</a:t>
            </a:r>
          </a:p>
          <a:p xmlns:a="http://schemas.openxmlformats.org/drawingml/2006/main">
            <a:r>
              <a:t>Everyone commits. Secure: transfer. Mixed: compare two choices. Misconception: re-model, then use a fresh example. Access: change response mode.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6.</a:t>
            </a:r>
          </a:p>
          <a:p xmlns:a="http://schemas.openxmlformats.org/drawingml/2006/main">
            <a:r>
              <a:t>Model the evidence-to-reason connection; keep the stated limitation visible.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7.</a:t>
            </a:r>
          </a:p>
          <a:p xmlns:a="http://schemas.openxmlformats.org/drawingml/2006/main">
            <a:r>
              <a:t>Pupil operates or directs. Name back the clue before any correction. Use the lightest prompt and fade it.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8.</a:t>
            </a:r>
          </a:p>
          <a:p xmlns:a="http://schemas.openxmlformats.org/drawingml/2006/main">
            <a:r>
              <a:t>One adult supports the pupils needing access; the other holds the group, then swap roles across the week. Keep the first answer; give VF and one NS+; pupil edits // in the same colour on the same page.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9.</a:t>
            </a:r>
          </a:p>
          <a:p xmlns:a="http://schemas.openxmlformats.org/drawingml/2006/main">
            <a:r>
              <a:t>Use three minutes: hear one precise VF/NS+ (one minute), make a pupil-owned edit (one minute), then receive the explanation of the change (one minute). Keep the original meaning, use // and add R only after genuine adult audience.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10.</a:t>
            </a:r>
          </a:p>
          <a:p xmlns:a="http://schemas.openxmlformats.org/drawingml/2006/main">
            <a:r>
              <a:t>Read the response privately. Pupil voice plus adult audience closes R only when both happen. Use the response to choose the next teaching route.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10.</a:t>
            </a:r>
          </a:p>
          <a:p xmlns:a="http://schemas.openxmlformats.org/drawingml/2006/main">
            <a:r>
              <a:t>Read the response privately. Pupil voice plus adult audience closes R only when both happen. Use the response to choose the next teaching route.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GROW_SCI_A1_W08_P1.html; page slide 10.</a:t>
            </a:r>
          </a:p>
          <a:p xmlns:a="http://schemas.openxmlformats.org/drawingml/2006/main">
            <a:r>
              <a:t>Read the response privately. Pupil voice plus adult audience closes R only when both happen. Use the response to choose the next teaching route.</a:t>
            </a:r>
          </a:p>
          <a:p xmlns:a="http://schemas.openxmlformats.org/drawingml/2006/main">
            <a:r>
              <a:t>Source page SHA-256: c0c088bbbf2ea336c6d9b46dd1e98c8feff183d949c7fcb5f850f729c71a371b.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2cb2f1b4047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da4db8d264e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a3b69a78e40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c45b6a23a4d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2e40c93dd4e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cb513b92447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9A257D-572D-4DE5-BE92-D1F846BED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0BDB2B-E0C2-4CC1-ACA3-EF07AE0F75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931BA3-3D31-49AA-B6BF-CEE886F27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2217B0-3F9C-4460-AAD3-E3CF20181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7ABCDF-7A7C-404F-A6AF-1888176C0F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FA98C7-50DD-40DB-A43F-377188FF8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F8208E-AA54-4106-BB66-8AF228EFE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6935B7-C656-48A1-A7B6-D1541F5438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0261E1-CD78-4F99-985D-3B7AE5A1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25CFB1-5B03-4057-A7A6-4987507FB8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1db8d89c14e69" /><Relationship Type="http://schemas.openxmlformats.org/officeDocument/2006/relationships/slideLayout" Target="/ppt/slideLayouts/slideLayout1.xml" Id="R691e8f787b0f407e" /><Relationship Type="http://schemas.openxmlformats.org/officeDocument/2006/relationships/slideLayout" Target="/ppt/slideLayouts/slideLayout2.xml" Id="R2d054616540d47f6" /><Relationship Type="http://schemas.openxmlformats.org/officeDocument/2006/relationships/slideLayout" Target="/ppt/slideLayouts/slideLayout3.xml" Id="R1f9cf1dafb294568" /><Relationship Type="http://schemas.openxmlformats.org/officeDocument/2006/relationships/slideLayout" Target="/ppt/slideLayouts/slideLayout4.xml" Id="Rc89558d16b0b4c3f" /><Relationship Type="http://schemas.openxmlformats.org/officeDocument/2006/relationships/slideLayout" Target="/ppt/slideLayouts/slideLayout5.xml" Id="R5f4aafc968fa4911" /><Relationship Type="http://schemas.openxmlformats.org/officeDocument/2006/relationships/slideLayout" Target="/ppt/slideLayouts/slideLayout6.xml" Id="R4a2cc53e58fd46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1e8f787b0f407e"/>
    <p:sldLayoutId xmlns:r="http://schemas.openxmlformats.org/officeDocument/2006/relationships" id="2147483650" r:id="R2d054616540d47f6"/>
    <p:sldLayoutId xmlns:r="http://schemas.openxmlformats.org/officeDocument/2006/relationships" id="2147483651" r:id="R1f9cf1dafb294568"/>
    <p:sldLayoutId xmlns:r="http://schemas.openxmlformats.org/officeDocument/2006/relationships" id="2147483652" r:id="Rc89558d16b0b4c3f"/>
    <p:sldLayoutId xmlns:r="http://schemas.openxmlformats.org/officeDocument/2006/relationships" id="2147483653" r:id="R5f4aafc968fa4911"/>
    <p:sldLayoutId xmlns:r="http://schemas.openxmlformats.org/officeDocument/2006/relationships" id="2147483654" r:id="R4a2cc53e58fd46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Liberation Sans"/>
          <a:ea typeface="Liberation Sans"/>
          <a:cs typeface="Liberation Sans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Liberation Sans"/>
          <a:ea typeface="Liberation Sans"/>
          <a:cs typeface="Liberation Sans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Liberation Sans"/>
          <a:ea typeface="Liberation Sans"/>
          <a:cs typeface="Liberation Sans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Liberation Sans"/>
          <a:ea typeface="Liberation Sans"/>
          <a:cs typeface="Liberation Sans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11b62cd8e4485" /><Relationship Type="http://schemas.openxmlformats.org/officeDocument/2006/relationships/image" Target="/ppt/media/image.jpeg" Id="Rd208266b2a034824" /><Relationship Type="http://schemas.openxmlformats.org/officeDocument/2006/relationships/notesSlide" Target="/ppt/notesSlides/notesSlide1.xml" Id="R7c3d1bad6883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d349dc711494e" /><Relationship Type="http://schemas.openxmlformats.org/officeDocument/2006/relationships/image" Target="/ppt/media/image2.jpeg" Id="Ra7a874bc1f3a4897" /><Relationship Type="http://schemas.openxmlformats.org/officeDocument/2006/relationships/notesSlide" Target="/ppt/notesSlides/notesSlide2.xml" Id="R21150f2aa255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6f78ef8694cbc" /><Relationship Type="http://schemas.openxmlformats.org/officeDocument/2006/relationships/image" Target="/ppt/media/image3.jpeg" Id="R52b728a23efd4841" /><Relationship Type="http://schemas.openxmlformats.org/officeDocument/2006/relationships/notesSlide" Target="/ppt/notesSlides/notesSlide3.xml" Id="R70ca6b9380f6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5dd275bf8411c" /><Relationship Type="http://schemas.openxmlformats.org/officeDocument/2006/relationships/image" Target="/ppt/media/image4.jpeg" Id="R7f081b9e924b44a4" /><Relationship Type="http://schemas.openxmlformats.org/officeDocument/2006/relationships/notesSlide" Target="/ppt/notesSlides/notesSlide4.xml" Id="R7e1d1427bf4b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235ac487a4c72" /><Relationship Type="http://schemas.openxmlformats.org/officeDocument/2006/relationships/image" Target="/ppt/media/image5.jpeg" Id="R2fc018f4c4af4974" /><Relationship Type="http://schemas.openxmlformats.org/officeDocument/2006/relationships/notesSlide" Target="/ppt/notesSlides/notesSlide5.xml" Id="R887b4d1819b44f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a15fdca454587" /><Relationship Type="http://schemas.openxmlformats.org/officeDocument/2006/relationships/image" Target="/ppt/media/image6.jpeg" Id="Rcd83131c4d2a403d" /><Relationship Type="http://schemas.openxmlformats.org/officeDocument/2006/relationships/notesSlide" Target="/ppt/notesSlides/notesSlide6.xml" Id="Re149737d7f4a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77178cbc54605" /><Relationship Type="http://schemas.openxmlformats.org/officeDocument/2006/relationships/image" Target="/ppt/media/image7.jpeg" Id="Rdc5be10975144698" /><Relationship Type="http://schemas.openxmlformats.org/officeDocument/2006/relationships/notesSlide" Target="/ppt/notesSlides/notesSlide7.xml" Id="R977cde3fe87e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96e11dd1245b6" /><Relationship Type="http://schemas.openxmlformats.org/officeDocument/2006/relationships/image" Target="/ppt/media/image8.jpeg" Id="Rb090b52e26954f04" /><Relationship Type="http://schemas.openxmlformats.org/officeDocument/2006/relationships/notesSlide" Target="/ppt/notesSlides/notesSlide8.xml" Id="R15a49075b99141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600603fe044b8" /><Relationship Type="http://schemas.openxmlformats.org/officeDocument/2006/relationships/image" Target="/ppt/media/image9.jpeg" Id="R959c6e370b5c402e" /><Relationship Type="http://schemas.openxmlformats.org/officeDocument/2006/relationships/notesSlide" Target="/ppt/notesSlides/notesSlide9.xml" Id="R88f42d0e4b6c46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1373a936a4ec3" /><Relationship Type="http://schemas.openxmlformats.org/officeDocument/2006/relationships/image" Target="/ppt/media/image10.jpeg" Id="R1e8f29b7ddb94050" /><Relationship Type="http://schemas.openxmlformats.org/officeDocument/2006/relationships/notesSlide" Target="/ppt/notesSlides/notesSlide10.xml" Id="R17e871a5d14a4f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39388e1d24145" /><Relationship Type="http://schemas.openxmlformats.org/officeDocument/2006/relationships/image" Target="/ppt/media/image11.jpeg" Id="R9adcdb453d734968" /><Relationship Type="http://schemas.openxmlformats.org/officeDocument/2006/relationships/notesSlide" Target="/ppt/notesSlides/notesSlide11.xml" Id="Ra9a5fb29cbf74c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2295990d1406a" /><Relationship Type="http://schemas.openxmlformats.org/officeDocument/2006/relationships/image" Target="/ppt/media/image12.jpeg" Id="Rf740c869c8204361" /><Relationship Type="http://schemas.openxmlformats.org/officeDocument/2006/relationships/notesSlide" Target="/ppt/notesSlides/notesSlide12.xml" Id="R5dcfa517d47749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6510933934434" /><Relationship Type="http://schemas.openxmlformats.org/officeDocument/2006/relationships/image" Target="/ppt/media/image13.jpeg" Id="R99b6e8b5673c4c00" /><Relationship Type="http://schemas.openxmlformats.org/officeDocument/2006/relationships/notesSlide" Target="/ppt/notesSlides/notesSlide13.xml" Id="Rd6a81b80f11449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aba582c0943d1" /><Relationship Type="http://schemas.openxmlformats.org/officeDocument/2006/relationships/image" Target="/ppt/media/image14.jpeg" Id="R902086b9baf54058" /><Relationship Type="http://schemas.openxmlformats.org/officeDocument/2006/relationships/notesSlide" Target="/ppt/notesSlides/notesSlide14.xml" Id="R75540d97885f4f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b13e37b4f4743" /><Relationship Type="http://schemas.openxmlformats.org/officeDocument/2006/relationships/image" Target="/ppt/media/image15.jpeg" Id="Re5b8ac41cda948b0" /><Relationship Type="http://schemas.openxmlformats.org/officeDocument/2006/relationships/notesSlide" Target="/ppt/notesSlides/notesSlide15.xml" Id="R37cf76b83bb44c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51a795da04696" /><Relationship Type="http://schemas.openxmlformats.org/officeDocument/2006/relationships/image" Target="/ppt/media/image16.jpeg" Id="R8fd36a74a0c64f8c" /><Relationship Type="http://schemas.openxmlformats.org/officeDocument/2006/relationships/notesSlide" Target="/ppt/notesSlides/notesSlide16.xml" Id="R8e51c0eeeabf4c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aba4040284c7d" /><Relationship Type="http://schemas.openxmlformats.org/officeDocument/2006/relationships/image" Target="/ppt/media/image17.jpeg" Id="R4d9c53dc07704740" /><Relationship Type="http://schemas.openxmlformats.org/officeDocument/2006/relationships/notesSlide" Target="/ppt/notesSlides/notesSlide17.xml" Id="R54f6908334834b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716beeeb94114" /><Relationship Type="http://schemas.openxmlformats.org/officeDocument/2006/relationships/image" Target="/ppt/media/image18.jpeg" Id="R5c9bc86afaf247a9" /><Relationship Type="http://schemas.openxmlformats.org/officeDocument/2006/relationships/notesSlide" Target="/ppt/notesSlides/notesSlide18.xml" Id="Rdb4bfde91fa14d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e98f5650a42ce" /><Relationship Type="http://schemas.openxmlformats.org/officeDocument/2006/relationships/image" Target="/ppt/media/image19.jpeg" Id="R7ac6b58399ac4d91" /><Relationship Type="http://schemas.openxmlformats.org/officeDocument/2006/relationships/notesSlide" Target="/ppt/notesSlides/notesSlide19.xml" Id="R9769c22817e848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9fb9744c34073" /><Relationship Type="http://schemas.openxmlformats.org/officeDocument/2006/relationships/image" Target="/ppt/media/image20.jpeg" Id="R6eafc7f057824c32" /><Relationship Type="http://schemas.openxmlformats.org/officeDocument/2006/relationships/notesSlide" Target="/ppt/notesSlides/notesSlide20.xml" Id="R69f417a03e654f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317360dd1493d" /><Relationship Type="http://schemas.openxmlformats.org/officeDocument/2006/relationships/image" Target="/ppt/media/image21.jpeg" Id="Rdef02d45498642c6" /><Relationship Type="http://schemas.openxmlformats.org/officeDocument/2006/relationships/notesSlide" Target="/ppt/notesSlides/notesSlide21.xml" Id="R652a7c70de4c4c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95d31c0044990" /><Relationship Type="http://schemas.openxmlformats.org/officeDocument/2006/relationships/image" Target="/ppt/media/image22.jpeg" Id="R0663e7494db747df" /><Relationship Type="http://schemas.openxmlformats.org/officeDocument/2006/relationships/notesSlide" Target="/ppt/notesSlides/notesSlide22.xml" Id="R3dbf7bb2bd4d49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385358b094618" /><Relationship Type="http://schemas.openxmlformats.org/officeDocument/2006/relationships/image" Target="/ppt/media/image23.jpeg" Id="Re3614533dbd44069" /><Relationship Type="http://schemas.openxmlformats.org/officeDocument/2006/relationships/notesSlide" Target="/ppt/notesSlides/notesSlide23.xml" Id="R46565be6a99c43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35c66274645e8" /><Relationship Type="http://schemas.openxmlformats.org/officeDocument/2006/relationships/image" Target="/ppt/media/image24.jpeg" Id="R83fd95b7187a414f" /><Relationship Type="http://schemas.openxmlformats.org/officeDocument/2006/relationships/notesSlide" Target="/ppt/notesSlides/notesSlide24.xml" Id="R8fc7b995a2c945d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3bd28c6514759" /><Relationship Type="http://schemas.openxmlformats.org/officeDocument/2006/relationships/image" Target="/ppt/media/image25.jpeg" Id="R525c88119ba04f24" /><Relationship Type="http://schemas.openxmlformats.org/officeDocument/2006/relationships/notesSlide" Target="/ppt/notesSlides/notesSlide25.xml" Id="R88b2f778fa9546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c4076ae3d4de8" /><Relationship Type="http://schemas.openxmlformats.org/officeDocument/2006/relationships/image" Target="/ppt/media/image26.jpeg" Id="R808942bc6089417e" /><Relationship Type="http://schemas.openxmlformats.org/officeDocument/2006/relationships/notesSlide" Target="/ppt/notesSlides/notesSlide26.xml" Id="Rd52b0f6cd2f3486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c8dd76893449d" /><Relationship Type="http://schemas.openxmlformats.org/officeDocument/2006/relationships/image" Target="/ppt/media/image27.jpeg" Id="R266f85dba47245bb" /><Relationship Type="http://schemas.openxmlformats.org/officeDocument/2006/relationships/notesSlide" Target="/ppt/notesSlides/notesSlide27.xml" Id="R8bf2950639444c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f5b2de4054b4a" /><Relationship Type="http://schemas.openxmlformats.org/officeDocument/2006/relationships/image" Target="/ppt/media/image28.jpeg" Id="Rec765d18744a4c00" /><Relationship Type="http://schemas.openxmlformats.org/officeDocument/2006/relationships/notesSlide" Target="/ppt/notesSlides/notesSlide28.xml" Id="R4cd2972f4d1d40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cc6f858b034adf" /><Relationship Type="http://schemas.openxmlformats.org/officeDocument/2006/relationships/image" Target="/ppt/media/image29.jpeg" Id="Rb35c6c38e7d94262" /><Relationship Type="http://schemas.openxmlformats.org/officeDocument/2006/relationships/notesSlide" Target="/ppt/notesSlides/notesSlide29.xml" Id="R65227c2a3b9648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8b83b54d8b4895" /><Relationship Type="http://schemas.openxmlformats.org/officeDocument/2006/relationships/image" Target="/ppt/media/image30.jpeg" Id="Rfc762944bd504d1a" /><Relationship Type="http://schemas.openxmlformats.org/officeDocument/2006/relationships/notesSlide" Target="/ppt/notesSlides/notesSlide30.xml" Id="Rdf5b0845f11b43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52b2049a6415f" /><Relationship Type="http://schemas.openxmlformats.org/officeDocument/2006/relationships/image" Target="/ppt/media/image31.jpeg" Id="R51ae28be528e40ef" /><Relationship Type="http://schemas.openxmlformats.org/officeDocument/2006/relationships/notesSlide" Target="/ppt/notesSlides/notesSlide31.xml" Id="Rbb435946a725412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f6292f61e40a6" /><Relationship Type="http://schemas.openxmlformats.org/officeDocument/2006/relationships/image" Target="/ppt/media/image32.jpeg" Id="Rb098b103de834532" /><Relationship Type="http://schemas.openxmlformats.org/officeDocument/2006/relationships/notesSlide" Target="/ppt/notesSlides/notesSlide32.xml" Id="R7d93f8d25f26481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45be362184ece" /><Relationship Type="http://schemas.openxmlformats.org/officeDocument/2006/relationships/image" Target="/ppt/media/image33.jpeg" Id="R1a74263380264cfb" /><Relationship Type="http://schemas.openxmlformats.org/officeDocument/2006/relationships/notesSlide" Target="/ppt/notesSlides/notesSlide33.xml" Id="R8299af2a3aa4461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9ba38c6e645ff" /><Relationship Type="http://schemas.openxmlformats.org/officeDocument/2006/relationships/image" Target="/ppt/media/image34.jpeg" Id="R63361444744b4083" /><Relationship Type="http://schemas.openxmlformats.org/officeDocument/2006/relationships/notesSlide" Target="/ppt/notesSlides/notesSlide34.xml" Id="R578ab104b444426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1cef51b4441b9" /><Relationship Type="http://schemas.openxmlformats.org/officeDocument/2006/relationships/image" Target="/ppt/media/image35.jpeg" Id="Rf52f89a6dcc14d60" /><Relationship Type="http://schemas.openxmlformats.org/officeDocument/2006/relationships/notesSlide" Target="/ppt/notesSlides/notesSlide35.xml" Id="R4f8a8f60b89b466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1625f1b0c48ed" /><Relationship Type="http://schemas.openxmlformats.org/officeDocument/2006/relationships/image" Target="/ppt/media/image36.jpeg" Id="R3a28e9aac77c4af0" /><Relationship Type="http://schemas.openxmlformats.org/officeDocument/2006/relationships/notesSlide" Target="/ppt/notesSlides/notesSlide36.xml" Id="R46ec157a5f6f40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4f3c80647493b" /><Relationship Type="http://schemas.openxmlformats.org/officeDocument/2006/relationships/image" Target="/ppt/media/image37.jpeg" Id="Rcb2dfcaa3d6a49ab" /><Relationship Type="http://schemas.openxmlformats.org/officeDocument/2006/relationships/notesSlide" Target="/ppt/notesSlides/notesSlide37.xml" Id="Re96cd70ce29d426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4f11f03a24013" /><Relationship Type="http://schemas.openxmlformats.org/officeDocument/2006/relationships/image" Target="/ppt/media/image38.jpeg" Id="R887285d6289a4ad9" /><Relationship Type="http://schemas.openxmlformats.org/officeDocument/2006/relationships/notesSlide" Target="/ppt/notesSlides/notesSlide38.xml" Id="Re19014a9f3714d8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939342d1d4c5c" /><Relationship Type="http://schemas.openxmlformats.org/officeDocument/2006/relationships/image" Target="/ppt/media/image39.jpeg" Id="R69b8a09a23ca4e50" /><Relationship Type="http://schemas.openxmlformats.org/officeDocument/2006/relationships/notesSlide" Target="/ppt/notesSlides/notesSlide39.xml" Id="Rf3ca1767885540f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c40c6f6f241cb" /><Relationship Type="http://schemas.openxmlformats.org/officeDocument/2006/relationships/image" Target="/ppt/media/image40.jpeg" Id="Refecefe689554635" /><Relationship Type="http://schemas.openxmlformats.org/officeDocument/2006/relationships/notesSlide" Target="/ppt/notesSlides/notesSlide40.xml" Id="R61287320587a487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0d7b2d9b04073" /><Relationship Type="http://schemas.openxmlformats.org/officeDocument/2006/relationships/image" Target="/ppt/media/image41.jpeg" Id="R34f5f7e4c65d4913" /><Relationship Type="http://schemas.openxmlformats.org/officeDocument/2006/relationships/notesSlide" Target="/ppt/notesSlides/notesSlide41.xml" Id="R74cd367007614c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6c61b9896419c" /><Relationship Type="http://schemas.openxmlformats.org/officeDocument/2006/relationships/image" Target="/ppt/media/image42.jpeg" Id="Rdc9c884891a74731" /><Relationship Type="http://schemas.openxmlformats.org/officeDocument/2006/relationships/notesSlide" Target="/ppt/notesSlides/notesSlide42.xml" Id="Rc4ae471a0ffb494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945cabd67479b" /><Relationship Type="http://schemas.openxmlformats.org/officeDocument/2006/relationships/image" Target="/ppt/media/image43.jpeg" Id="Rc7e94507007f4db2" /><Relationship Type="http://schemas.openxmlformats.org/officeDocument/2006/relationships/notesSlide" Target="/ppt/notesSlides/notesSlide43.xml" Id="R436bb2f1eeb14d5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004392f2f4175" /><Relationship Type="http://schemas.openxmlformats.org/officeDocument/2006/relationships/image" Target="/ppt/media/image44.jpeg" Id="R711e1ecb20824d63" /><Relationship Type="http://schemas.openxmlformats.org/officeDocument/2006/relationships/notesSlide" Target="/ppt/notesSlides/notesSlide44.xml" Id="Re9782c8b0798450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d8f5841754394" /><Relationship Type="http://schemas.openxmlformats.org/officeDocument/2006/relationships/image" Target="/ppt/media/image45.jpeg" Id="R2d84a9dc334c42d9" /><Relationship Type="http://schemas.openxmlformats.org/officeDocument/2006/relationships/notesSlide" Target="/ppt/notesSlides/notesSlide45.xml" Id="R57eda9050b8d4e1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bb73b6c8d4d13" /><Relationship Type="http://schemas.openxmlformats.org/officeDocument/2006/relationships/image" Target="/ppt/media/image46.jpeg" Id="R9e206f6ee0ce41ce" /><Relationship Type="http://schemas.openxmlformats.org/officeDocument/2006/relationships/notesSlide" Target="/ppt/notesSlides/notesSlide46.xml" Id="R9e4bbe57e5684e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CDA06D-5EDF-4879-BAD1-4C715CB5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06045CC-4F52-4537-B8B1-B6E22448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0 min · 0 to 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CAFE0F5-1C77-4297-A309-728AEE61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Discover: The Moon's Journey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A5B9B-7569-4078-9260-9CCC042B8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8266b2a03482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D6F4B-4B4E-48A6-B863-EC3C8D01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89233D-0817-425F-A878-0F033609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Describe the movement of the Moon around the Earth.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CCF486-9AE1-4CC9-9361-E68565D3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71376-B688-4500-B6D2-D7167334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05B85C-A930-4214-BEAE-3838F8A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State that the Moon orbits Earth in roughly a 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D51ED-77E2-4AF9-B30A-FD20911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3845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F07ACD-02B8-42C4-A0E7-BD6C0E1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Explain that moonlight is reflected sunlight.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C4415-BD2F-498A-9BF8-8118699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289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CB7E77-7D65-4D9D-A5F2-48C16669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Explain phases using our changing view of the lit half.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6A242B0-E110-4CE2-80A7-41A41EA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40 minutes · take a pause when you need one.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747AAD-81E9-4E17-B091-405D11E9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D61EAF5-8F8F-4AAB-AD9C-B18A077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9107BFB-DB33-4A84-B1A5-6F48D242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 / 46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6A79C82-A4EB-42BE-B961-E145EEA6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010451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9A4645B-3A94-438F-B9DC-AAF74A1D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F1A3E6F-EDCF-4248-B4FA-417E4030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D2E64A2-6886-4FA6-AE43-B9275B5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50AE-A6A9-4BC7-9C9F-42320D69A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874bc1f3a4897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69A9A-2CA4-4079-A679-F055F25E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D1EC1-7FC0-4283-8617-5BF3E1AA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995CC0-8EDB-4787-BB4F-4098128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7EBF7B-A328-4493-AF73-1A2BD6D0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your strip; answer four prompts.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E1B3AB-32CE-4E83-9F26-3C5EE59E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Point to the full Moon picture.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D58DD2-C159-4BE3-94D5-2D04497E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Link to today: Choose whether planets move around the Sun or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5F719F-2C8E-40F0-B36E-DA028BDA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Choose: sunlight or the Moon’s own light?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6E311A-460A-4B11-87D3-F4BE260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Point to the part of the lit Moon you can see.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F3F49B-DA17-4CD6-9D24-0F9DCC4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D70869F-575C-4AB1-957B-FA19E93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269CAA-8C9B-4724-AEE8-1EE8D031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B0D02F-8A22-457B-9530-AE65BA4C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7806153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25F3B8-FF98-44D7-87EA-6F8389B5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8E991C-7AA5-47A5-96FC-CDC7C58C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B837DDC-11A2-4214-9CBD-9E6FF58A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1AB5A-5782-4820-8C21-962768733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728a23efd484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F914F-320E-4778-81F7-0CC1BA4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8A37A-A1CB-47E9-A53E-210C5CF9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2DE73-4B17-497F-8030-74EA9B4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1690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9C336-1DF0-4905-BB8B-6AEF8546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91690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0B6B-4103-4FBE-86A4-DF4A11D7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91690"/>
            <a:ext cx="1165860" cy="1165860"/>
          </a:xfrm>
          <a:custGeom xmlns:a="http://schemas.openxmlformats.org/drawingml/2006/main">
            <a:pathLst>
              <a:path w="952500" h="952500">
                <a:moveTo>
                  <a:pt x="476250" y="0"/>
                </a:moveTo>
                <a:lnTo>
                  <a:pt x="501175" y="653"/>
                </a:lnTo>
                <a:lnTo>
                  <a:pt x="526032" y="2609"/>
                </a:lnTo>
                <a:lnTo>
                  <a:pt x="550752" y="5863"/>
                </a:lnTo>
                <a:lnTo>
                  <a:pt x="575268" y="10407"/>
                </a:lnTo>
                <a:lnTo>
                  <a:pt x="599513" y="16228"/>
                </a:lnTo>
                <a:lnTo>
                  <a:pt x="623419" y="23309"/>
                </a:lnTo>
                <a:lnTo>
                  <a:pt x="646923" y="31632"/>
                </a:lnTo>
                <a:lnTo>
                  <a:pt x="669958" y="41174"/>
                </a:lnTo>
                <a:lnTo>
                  <a:pt x="692463" y="51908"/>
                </a:lnTo>
                <a:lnTo>
                  <a:pt x="714375" y="63805"/>
                </a:lnTo>
                <a:lnTo>
                  <a:pt x="735634" y="76833"/>
                </a:lnTo>
                <a:lnTo>
                  <a:pt x="756183" y="90956"/>
                </a:lnTo>
                <a:lnTo>
                  <a:pt x="775964" y="106134"/>
                </a:lnTo>
                <a:lnTo>
                  <a:pt x="794923" y="122327"/>
                </a:lnTo>
                <a:lnTo>
                  <a:pt x="813010" y="139490"/>
                </a:lnTo>
                <a:lnTo>
                  <a:pt x="830173" y="157577"/>
                </a:lnTo>
                <a:lnTo>
                  <a:pt x="846366" y="176536"/>
                </a:lnTo>
                <a:lnTo>
                  <a:pt x="861544" y="196317"/>
                </a:lnTo>
                <a:lnTo>
                  <a:pt x="875667" y="216866"/>
                </a:lnTo>
                <a:lnTo>
                  <a:pt x="888695" y="238125"/>
                </a:lnTo>
                <a:lnTo>
                  <a:pt x="900592" y="260037"/>
                </a:lnTo>
                <a:lnTo>
                  <a:pt x="911326" y="282542"/>
                </a:lnTo>
                <a:lnTo>
                  <a:pt x="920868" y="305577"/>
                </a:lnTo>
                <a:lnTo>
                  <a:pt x="929191" y="329081"/>
                </a:lnTo>
                <a:lnTo>
                  <a:pt x="936272" y="352987"/>
                </a:lnTo>
                <a:lnTo>
                  <a:pt x="942093" y="377232"/>
                </a:lnTo>
                <a:lnTo>
                  <a:pt x="946637" y="401748"/>
                </a:lnTo>
                <a:lnTo>
                  <a:pt x="949891" y="426468"/>
                </a:lnTo>
                <a:lnTo>
                  <a:pt x="951847" y="451325"/>
                </a:lnTo>
                <a:lnTo>
                  <a:pt x="952500" y="476250"/>
                </a:lnTo>
                <a:lnTo>
                  <a:pt x="951847" y="501175"/>
                </a:lnTo>
                <a:lnTo>
                  <a:pt x="949891" y="526032"/>
                </a:lnTo>
                <a:lnTo>
                  <a:pt x="946637" y="550752"/>
                </a:lnTo>
                <a:lnTo>
                  <a:pt x="942093" y="575268"/>
                </a:lnTo>
                <a:lnTo>
                  <a:pt x="936272" y="599513"/>
                </a:lnTo>
                <a:lnTo>
                  <a:pt x="929191" y="623419"/>
                </a:lnTo>
                <a:lnTo>
                  <a:pt x="920868" y="646923"/>
                </a:lnTo>
                <a:lnTo>
                  <a:pt x="911326" y="669958"/>
                </a:lnTo>
                <a:lnTo>
                  <a:pt x="900592" y="692463"/>
                </a:lnTo>
                <a:lnTo>
                  <a:pt x="888695" y="714375"/>
                </a:lnTo>
                <a:lnTo>
                  <a:pt x="875667" y="735634"/>
                </a:lnTo>
                <a:lnTo>
                  <a:pt x="861544" y="756183"/>
                </a:lnTo>
                <a:lnTo>
                  <a:pt x="846366" y="775964"/>
                </a:lnTo>
                <a:lnTo>
                  <a:pt x="830173" y="794923"/>
                </a:lnTo>
                <a:lnTo>
                  <a:pt x="813010" y="813010"/>
                </a:lnTo>
                <a:lnTo>
                  <a:pt x="794923" y="830173"/>
                </a:lnTo>
                <a:lnTo>
                  <a:pt x="775964" y="846366"/>
                </a:lnTo>
                <a:lnTo>
                  <a:pt x="756183" y="861544"/>
                </a:lnTo>
                <a:lnTo>
                  <a:pt x="735634" y="875667"/>
                </a:lnTo>
                <a:lnTo>
                  <a:pt x="714375" y="888695"/>
                </a:lnTo>
                <a:lnTo>
                  <a:pt x="692463" y="900592"/>
                </a:lnTo>
                <a:lnTo>
                  <a:pt x="669958" y="911326"/>
                </a:lnTo>
                <a:lnTo>
                  <a:pt x="646923" y="920868"/>
                </a:lnTo>
                <a:lnTo>
                  <a:pt x="623419" y="929191"/>
                </a:lnTo>
                <a:lnTo>
                  <a:pt x="599513" y="936272"/>
                </a:lnTo>
                <a:lnTo>
                  <a:pt x="575268" y="942093"/>
                </a:lnTo>
                <a:lnTo>
                  <a:pt x="550752" y="946637"/>
                </a:lnTo>
                <a:lnTo>
                  <a:pt x="526032" y="949891"/>
                </a:lnTo>
                <a:lnTo>
                  <a:pt x="501175" y="951847"/>
                </a:lnTo>
                <a:lnTo>
                  <a:pt x="476250" y="952500"/>
                </a:lnTo>
                <a:close/>
              </a:path>
            </a:pathLst>
          </a:custGeom>
          <a:solidFill xmlns:a="http://schemas.openxmlformats.org/drawingml/2006/main">
            <a:srgbClr val="F8C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0143B-9EF8-48BC-AA88-D9BAFB4E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1690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F3F18-0466-4D26-8610-6C651936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1690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9F4A4B-2142-4C6C-9A9E-C599F430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58E6E9-633A-4354-AB1C-D3E6714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BF76D01-D9A6-4D1B-8FF9-0AB9BDD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A2C311A-B87A-423A-9A3E-E280307A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1362979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E1AF60-4953-4DDB-B1A3-4DE9FA8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55FBB7F-D643-4E4D-83EA-ED10AAF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97F66B3-D06F-4EB9-9232-869A2D54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AED3F-7713-49A3-981D-F20959A04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81b9e924b44a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13DD4-5CF8-440F-AC82-8F3B1E4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95EF1-7577-4A0F-BFD1-C43BF375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BD19A1-2BE3-4E80-98BD-E42D16B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9CB9A7-D1FE-4AF7-89D1-567C028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Full Moon: the visible disc is illuminated.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350A6F-AF05-4DEE-B77C-BCDC221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Planets orbit the Sun.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1B6643-DD9F-4671-BE10-A884471C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Sunlight reflected from the Moon.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B14CCD-9658-4F4B-9827-B4188D11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Point to the visible part of the illuminated half.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ACEC51-9514-4914-A408-0F30841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522A3F-9BEA-44C4-8171-022FFF39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6FEFD39-CE45-4FB1-AA43-4B57D899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B68242-0877-4D59-85C2-751307C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2065570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9424F01-FD75-4AA6-B621-05846D9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6FF486-5497-46ED-9419-8077932B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B9A177-CF6C-446D-8589-AB293F6D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4A57A-BE07-4C18-93A6-C5AE7A02F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018f4c4af497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1FA90-3670-4C85-895A-E1F1E7D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587B4-3A40-47A2-B74B-941692A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3BB015-C172-48C3-B3DC-B1EBFE4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Standard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DD5770-5036-4A1C-B01F-35DBF46C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your strip; answer four prompts.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9008D6-7210-4C4D-9C9B-C6CBE784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Name one useful feature and one limit of an orbit model.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F0EE61-A817-487B-A43A-F7BE6DB7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What force keeps planets in orbit?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8C30EC-EAF9-4830-81B8-F589B77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Explain where moonlight comes from.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782320-4B7E-4CF4-AD6E-0E1B28D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Predict why the visible lit part changes.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2A9FF0-0BE9-45C1-81CD-8C9B2E4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5AD414-BA84-4355-8397-89AB414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25C9791-92E3-4D12-8EFB-1AA3464D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218B9A9-F2A5-4EDC-AC9F-B2F55FF1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756046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8D4E5F-C946-4CF3-9D7E-14288F3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E5790B9-8AA3-4C79-81E3-CE1973D1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720E513-879D-4B4D-AD4C-9C911B6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A6ED0-3C29-47C8-98B8-B3BCFEF50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3131c4d2a403d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1A60-61E8-499C-A602-B4602A30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551FE-3495-436A-A2A7-2DC0F2D2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2DD66B-1AD9-4438-B718-47298FF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Standard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6AEB02-9178-4469-B0D1-8769516B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Useful: motion around a centre. Limit: scale or hand-driven motion.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94869EA-B4FE-46CE-AEB7-B4C3039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Gravity.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78ACB8-7DEF-425F-87E5-07FD2500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Sunlight reaches the Moon and reflects towards the observer.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2D2118-2AB1-4D06-BBDB-12F70C1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The Moon orbits Earth, changing our view of its illuminated half.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D6AF79-406C-43AE-96E4-9897432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778588-2E36-4296-BB08-CF7FC8B3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DD4BEEA-530B-47DF-ACA4-731EE3F0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6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8840AC-A329-4B39-8C1F-62BF7DE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16374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94E7CFF-2CEE-40BE-A88C-3474C12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72ED984-2B0F-4C52-8E51-1E8D94D5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DD094A6-4D24-4759-9849-6A08FD4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4AF81-6317-47F8-B3FF-BF788774C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be10975144698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895A9-E9CD-4D5E-B7BE-4D0EBEBB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9F26F-BBFB-465A-ADB1-7483E7AC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E741F6-A561-4744-B3BE-944B0106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Stretch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09EE8D-E734-4163-8EED-2D9935E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Glue in your strip; answer four prompts.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A92ED07-47A0-42BE-8B76-5F281093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You move a model by hand. Why does this not measure gravity?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0D1633-F81D-4AA2-9E59-013D581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How does an orbit differ from a spin, or rotation?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7CC370-69B9-4D3A-8B1C-5309053F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Use the Sun, Moon and the person who looks. Explain how reflected light goes from one to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next.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856021-E2D4-4DD9-B86F-02A46AFE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Think of a normal phase and an eclipse. What difference would you expect?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9F2D9C-00A5-4C9C-91DA-BC48337D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FBAC5F-C059-4FB6-B01D-F339B290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4583CA-1410-4DF6-AEAE-3BB064C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7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611CF3-72BB-48F1-BDE3-582D8576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06960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5391E38-2DAC-434A-81D5-08FD4F44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A0EC60-3B3D-46AE-9A56-63A6481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0 to 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CDF543B-1B85-4974-B293-0CB9C51D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Arrival task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A5995-226F-48BF-91A0-2AA15D648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0b52e26954f0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C25D1-835C-47FA-B3DD-DF7CCE7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25F39-C234-460F-8460-F34BD6A6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3FA071-601E-4ED9-9D82-8347A705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Stretch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6D1A0C-2EF2-4D63-98E8-C314F399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An adult moving a model supplies the motion; it is not a measurement of gravity.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3267A2-5CF7-4768-8E5E-1C06A97C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Orbit is travel around another body; rotation is turning on an axis.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FBC3FB-350D-4FE6-A988-6D1AB08A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Sunlight illuminates the Moon; reflected light travels towards the observer.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F67BC0-E14F-4445-B341-F3BE334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A phase changes our view of the lit half; a lunar eclipse blocks sunlight with Earth.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DBB89C-4B22-413E-9A5D-23B5482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F4ABA2-93FC-4B82-B7A5-2B72728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1652BEA-6324-43A2-8343-6555ED6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8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256ABC9-AD11-4E4D-BFF7-4405EBBE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787256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26F7D9E-F509-4079-86E9-70D91D8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54EDD1D-FE44-455B-BC5A-8495C34F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4 to 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A8ABC26-6F14-4549-B921-04259B75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Starter · choose a first idea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39729-059F-4CF4-9EA0-F8AA53B41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c6e370b5c402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3C3D3-B916-49B8-AEE3-ABAD9B8B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60EBB-F98F-4774-BAAA-6449340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A7A33D-E0DC-4ABD-838F-216B4B46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Keep one first idea and a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896804-51D9-4CEA-B6EA-CD183AB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Look at new, quarter and full Moon. What might be changing?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307F98-6F8C-48D4-937C-D523B74C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Think first. You may point, say, draw, sign or pass and return.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A37FE4-A9B1-4BDA-9DE5-7E4D9931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A15F4D-08F7-4653-B9CF-A49F7E4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84B002-DD91-42F2-B281-86482873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6743FD-1D72-490E-8E71-8E0C5EF8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373895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014890-102E-4EDD-B851-E8BA8B74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3AB6BD-9960-4987-9C54-3D08A35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4 to 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AB6F57-6C01-4260-AF36-AB9F79F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Starter · choose a first idea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4D700-AF00-4C33-8013-FF3608E280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f29b7ddb9405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F34A9-55CF-4744-AD1F-3015543F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243D1-5840-4996-A36F-602BC97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DB2D816-238E-4273-BEAB-8172858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Torch is the Sun, ball is the Moon, observer is Earth. Keep the sunlight direction fixed.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214114-DDE5-4004-B388-0EF9F3A9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Half the Moon is illuminated by the Sun. As it orbits, our view of the illuminated half changes.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883C04-F8AA-4EFB-9F5A-D4706157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When the visible lit half faces us, we see full Moon. When it faces away, we see new Moon.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741534-5D70-491D-9834-30DB2A0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387955-5B04-4D96-A258-075C467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33A24F-5DC6-4EB2-8166-1770EFD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10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6BC4CB-FD91-463B-AD01-6DBB0D68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3714019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FCEEA0-F96B-4A1E-8B5B-E3D88168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02E387-35EC-4B1B-8ACC-18AF271C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8 to 12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973ECA-259A-464A-9BC0-73C0E18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make the science visible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1573C-1F92-4D49-8FCC-5EB1E59BC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cdb453d734968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73982-E9E8-4F76-841D-CF02524E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60994-7A0E-4847-B758-2BD230D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400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8F2BC7-6963-4F2D-A4BC-70440023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model; name the evidence.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3B8406-7814-4829-BA06-E138B427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satellite — an object that orbits a planet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989764-6E57-461E-987C-8C0A385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phase — the shape of the lit part of the Moon visible from Earth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D38B0A-2B30-43F0-B7F8-E8BA650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orbit — a curved path around another body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80D21B-D436-4F5E-B74D-7CA63EFA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reflected — light that changes direction from a surface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57FCB14-895B-4A6D-A538-053C04D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B3A61A-C5D1-4622-98C9-7192B6E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EF3158-7B19-4391-9587-7DCF072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11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190601-447E-40C5-96E4-8EB4F76C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767861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A90C553-276E-4051-A873-848940F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B578F5B-75F6-4832-9F2C-B0BB8557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8 to 12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9A70D96-D271-4414-92A7-339FFF6E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make the science visible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88B60-33C3-44D3-9698-E7176EBC22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0c869c820436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DF04E-C731-41EB-A135-64D58019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496EF-F138-4172-A53F-ADC5B081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400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2CBC1D-237A-4BC1-A508-F9CF1D4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model; name the evidence.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6CED93-F539-4010-8C5F-F1E98334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Torch is the Sun, ball is the Moon, observer is Earth. Keep the sunlight direction fixed.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BC447A-1179-4AF1-BA4D-3A2325D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Half the Moon is illuminated by the Sun. As it orbits, our view of the illuminated half changes.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3F8C47-9736-42AC-AD2C-33659142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When the visible lit half faces us, we see full Moon. When it faces away, we see new Moon.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F3AD68-CA0B-4ABF-B80F-D2BEAD87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 evidence and say what it supports.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1303A2-6282-4066-BB56-837D3B7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model does not show realistic sizes, distances or the tilt of the Moon’s orbit.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56BC9C-EE95-47F2-956A-6029AEFE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E2BDC9C-9E89-49D3-BB2B-3D1D1E44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BAA03E-9F89-4F7E-8643-713317BF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12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97D950E-CB31-40B3-A631-CC238FF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5638242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8E6A98-26E0-487B-A6CA-F7A0514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3492E5-E337-4F71-87F4-265E92FF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8 to 12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BFA1161-4EE8-4B2B-937E-017E905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make the science visible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34E3F-CB29-4A69-92A7-47513B8B7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6e8b5673c4c0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BFE32-1494-4AE0-802E-43F5B9FC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ACCE5-C2AF-4EB4-BFE2-EA143E5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400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EB18A1-8959-45D4-8A45-014EC24E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model; name the evidence.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1EA413-8096-4472-8E56-2C1DF94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New, half and full are views from Earth. The Moon stays round; its visible lit part changes.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6A2665-FBC5-4104-8F81-EA0912B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65B322-A737-4273-98AA-2D74B217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425A48-C599-4DBA-95FE-5C7EE0D4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13 / 46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026629-9757-4690-ACB0-23EA057D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227178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0AB9153-C26C-44F0-904C-0346732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506BC36-800A-4CC7-98D3-92675BAF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8 to 12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26183C1-9159-4D27-AC06-E23D247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make the science visible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817B9-B65E-46F9-ABF4-79F9BAB1A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086b9baf54058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183B0-811F-443A-828E-CADE6D60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37F8D-B856-473E-A822-0B05AC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400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20FA2C-0910-4D14-9639-A3BF783A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model; name the evidence. No writing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45370-39BB-4678-889B-F5A4261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63165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C7F565-46E1-4E1A-BDAB-3886EEC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6185"/>
            <a:ext cx="222885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new Moon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8ABDC-2B19-403B-B764-AD9699B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63165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1431D-6C2D-45C5-8036-D55622DD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63165"/>
            <a:ext cx="1165860" cy="1165860"/>
          </a:xfrm>
          <a:custGeom xmlns:a="http://schemas.openxmlformats.org/drawingml/2006/main">
            <a:pathLst>
              <a:path w="952500" h="952500">
                <a:moveTo>
                  <a:pt x="476250" y="0"/>
                </a:moveTo>
                <a:lnTo>
                  <a:pt x="501175" y="653"/>
                </a:lnTo>
                <a:lnTo>
                  <a:pt x="526032" y="2609"/>
                </a:lnTo>
                <a:lnTo>
                  <a:pt x="550752" y="5863"/>
                </a:lnTo>
                <a:lnTo>
                  <a:pt x="575268" y="10407"/>
                </a:lnTo>
                <a:lnTo>
                  <a:pt x="599513" y="16228"/>
                </a:lnTo>
                <a:lnTo>
                  <a:pt x="623419" y="23309"/>
                </a:lnTo>
                <a:lnTo>
                  <a:pt x="646923" y="31632"/>
                </a:lnTo>
                <a:lnTo>
                  <a:pt x="669958" y="41174"/>
                </a:lnTo>
                <a:lnTo>
                  <a:pt x="692463" y="51908"/>
                </a:lnTo>
                <a:lnTo>
                  <a:pt x="714375" y="63805"/>
                </a:lnTo>
                <a:lnTo>
                  <a:pt x="735634" y="76833"/>
                </a:lnTo>
                <a:lnTo>
                  <a:pt x="756183" y="90956"/>
                </a:lnTo>
                <a:lnTo>
                  <a:pt x="775964" y="106134"/>
                </a:lnTo>
                <a:lnTo>
                  <a:pt x="794923" y="122327"/>
                </a:lnTo>
                <a:lnTo>
                  <a:pt x="813010" y="139490"/>
                </a:lnTo>
                <a:lnTo>
                  <a:pt x="830173" y="157577"/>
                </a:lnTo>
                <a:lnTo>
                  <a:pt x="846366" y="176536"/>
                </a:lnTo>
                <a:lnTo>
                  <a:pt x="861544" y="196317"/>
                </a:lnTo>
                <a:lnTo>
                  <a:pt x="875667" y="216866"/>
                </a:lnTo>
                <a:lnTo>
                  <a:pt x="888695" y="238125"/>
                </a:lnTo>
                <a:lnTo>
                  <a:pt x="900592" y="260037"/>
                </a:lnTo>
                <a:lnTo>
                  <a:pt x="911326" y="282542"/>
                </a:lnTo>
                <a:lnTo>
                  <a:pt x="920868" y="305577"/>
                </a:lnTo>
                <a:lnTo>
                  <a:pt x="929191" y="329081"/>
                </a:lnTo>
                <a:lnTo>
                  <a:pt x="936272" y="352987"/>
                </a:lnTo>
                <a:lnTo>
                  <a:pt x="942093" y="377232"/>
                </a:lnTo>
                <a:lnTo>
                  <a:pt x="946637" y="401748"/>
                </a:lnTo>
                <a:lnTo>
                  <a:pt x="949891" y="426468"/>
                </a:lnTo>
                <a:lnTo>
                  <a:pt x="951847" y="451325"/>
                </a:lnTo>
                <a:lnTo>
                  <a:pt x="952500" y="476250"/>
                </a:lnTo>
                <a:lnTo>
                  <a:pt x="951847" y="501175"/>
                </a:lnTo>
                <a:lnTo>
                  <a:pt x="949891" y="526032"/>
                </a:lnTo>
                <a:lnTo>
                  <a:pt x="946637" y="550752"/>
                </a:lnTo>
                <a:lnTo>
                  <a:pt x="942093" y="575268"/>
                </a:lnTo>
                <a:lnTo>
                  <a:pt x="936272" y="599513"/>
                </a:lnTo>
                <a:lnTo>
                  <a:pt x="929191" y="623419"/>
                </a:lnTo>
                <a:lnTo>
                  <a:pt x="920868" y="646923"/>
                </a:lnTo>
                <a:lnTo>
                  <a:pt x="911326" y="669958"/>
                </a:lnTo>
                <a:lnTo>
                  <a:pt x="900592" y="692463"/>
                </a:lnTo>
                <a:lnTo>
                  <a:pt x="888695" y="714375"/>
                </a:lnTo>
                <a:lnTo>
                  <a:pt x="875667" y="735634"/>
                </a:lnTo>
                <a:lnTo>
                  <a:pt x="861544" y="756183"/>
                </a:lnTo>
                <a:lnTo>
                  <a:pt x="846366" y="775964"/>
                </a:lnTo>
                <a:lnTo>
                  <a:pt x="830173" y="794923"/>
                </a:lnTo>
                <a:lnTo>
                  <a:pt x="813010" y="813010"/>
                </a:lnTo>
                <a:lnTo>
                  <a:pt x="794923" y="830173"/>
                </a:lnTo>
                <a:lnTo>
                  <a:pt x="775964" y="846366"/>
                </a:lnTo>
                <a:lnTo>
                  <a:pt x="756183" y="861544"/>
                </a:lnTo>
                <a:lnTo>
                  <a:pt x="735634" y="875667"/>
                </a:lnTo>
                <a:lnTo>
                  <a:pt x="714375" y="888695"/>
                </a:lnTo>
                <a:lnTo>
                  <a:pt x="692463" y="900592"/>
                </a:lnTo>
                <a:lnTo>
                  <a:pt x="669958" y="911326"/>
                </a:lnTo>
                <a:lnTo>
                  <a:pt x="646923" y="920868"/>
                </a:lnTo>
                <a:lnTo>
                  <a:pt x="623419" y="929191"/>
                </a:lnTo>
                <a:lnTo>
                  <a:pt x="599513" y="936272"/>
                </a:lnTo>
                <a:lnTo>
                  <a:pt x="575268" y="942093"/>
                </a:lnTo>
                <a:lnTo>
                  <a:pt x="550752" y="946637"/>
                </a:lnTo>
                <a:lnTo>
                  <a:pt x="526032" y="949891"/>
                </a:lnTo>
                <a:lnTo>
                  <a:pt x="501175" y="951847"/>
                </a:lnTo>
                <a:lnTo>
                  <a:pt x="476250" y="952500"/>
                </a:lnTo>
                <a:close/>
              </a:path>
            </a:pathLst>
          </a:custGeom>
          <a:solidFill xmlns:a="http://schemas.openxmlformats.org/drawingml/2006/main">
            <a:srgbClr val="F8C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1D7E7F9-E735-4D43-97E0-DD399366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66185"/>
            <a:ext cx="222885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half Moon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B4262-05BC-446C-9942-48A5DBE3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3165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751ED-152A-43E1-BF00-933699AF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3165"/>
            <a:ext cx="1165860" cy="1165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5EF255-BF2D-465C-A121-5233254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66185"/>
            <a:ext cx="2228850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full Moon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A360F9-0E00-4CBC-869B-91554B2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80535"/>
            <a:ext cx="814387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Views from Earth; not to scale.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B6A91B2-CF74-4F40-B310-9F7EFBA4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709160"/>
            <a:ext cx="814387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9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ball stays round at every position.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3A0E43E-6BD3-45E2-AE5B-49FE0E7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E718AF3-A314-44A3-B2CE-FD70C9C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22EE26-FC71-463B-8284-A3CD336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14 / 46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37468D-5BAC-4BFD-BF71-8426562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323922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8C930D-3C64-4B8D-B202-9474D6F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DF622D2-4870-4D53-BABC-2EF93F82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12 to 16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CA2745-583B-468E-A755-B6205F3B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everyone answers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6475D-DDAF-48DA-BB39-E49EBC5A9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8ac41cda948b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D31BD-3049-42B4-A4F0-99177DF2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186A-98BA-4B70-BFBC-0419743D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453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F069BD-2111-4665-8993-DBBEA4D4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Choose an answer; explain the evidence clue.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F08F26-DECF-4C8B-B32F-9243B4B8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What normally causes Moon phases?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128620-DA33-4829-AF5D-CAE0039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A. Our changing view of the sunlit half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5B4B8A-BF89-4AF5-BAAD-49E5A110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B. Earth’s shadow every month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3A069B7-1EDD-402C-997C-A73C1930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C. The Moon making its own light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8FF742B-B8AF-43FD-A61A-7BCF79B3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BF5F8B-0A6F-49C4-9DA6-1A019773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75C76D1-A1E7-48DB-9965-AB4FCEF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15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B5F7605-4447-4015-95FA-41E794F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7116009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0C7D96-0B2A-4F6A-A806-713B0C89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F338DAC-64DF-47DF-A89D-B9E98AB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12 to 16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8FE4AB2-EBDE-4A91-8D41-70093E0F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everyone answers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2F2FC-DAD3-4AF3-911C-7B6FD7217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36a74a0c64f8c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5EA18-0AB9-4D7E-9F64-588B161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437DF-9FB9-4EC8-B8F8-71349102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453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277D3E-FB63-4CD5-B0DD-8E63F07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see a changing part of the half lit by the Sun. This gives the normal phases. Earth's shadow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matters in a lunar eclipse.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ECC6A9-39C9-46E2-8B8B-87701A1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91B03D2-97D5-4EAD-A870-C146CB7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E2A10D-FD27-4E15-9829-4A530DF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16 / 46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D14F63-D32E-4C89-BB03-D5B3DFA0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945513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EF81234-810A-4843-B5DE-05A67468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AA8B25-1409-4097-84FD-F8191527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16 to 19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C60A69-1BCE-4AF2-9E7A-6AD046D3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do · connect the evidence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3358C-4DEC-4575-A8BC-9A0DA0E54A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c53dc0770474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FA017-887E-4990-AB2E-9730D7A8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8AB39-C773-4E55-B003-90FB6E26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538400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574582-BD5B-4D92-80D2-59109C9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Watch the connection; name the limit. No writing yet.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C20077-C910-49A9-9F50-D9001DB8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Trace the light path: Sun → Moon → observer on Earth. Name the Sun as light source and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Moon as reflecting object.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9E1BEE-9CA9-439B-94DB-B92100E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Moon orbits Earth in about 27.3 days, roughly a month. The phase cycle is about 29.5 days.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F71A7D-D7D6-4FD8-880A-3D25908E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Sketch the view beside each physical model position. Mark the sunlight direction.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03B3BDA-EAEA-457D-AF59-24292CF0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lunar eclipse occurs when Earth blocks sunlight from reaching the Moon; the tilted orbit means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this is not monthly.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5110A1-AC75-491A-9B38-94C0442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model does not show realistic sizes, distances or the tilt of the Moon’s orbit.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4499C6-68A5-4887-A64B-1C328C3A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EA98758-5F03-4D9E-AA0C-C45E6C0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73E489-B617-4386-A94D-A0E6D60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17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E4964AB-2913-4810-901E-07A8236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3473091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71BB69F-1EAF-4F8A-B139-ABE2F08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6296CFA-2A26-4AE9-BF40-E6B7DBB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D7C4161-334F-4DF5-9539-01A85B44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18E7F-ED08-4371-9FB7-AE72F080A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bc86afaf247a9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2B385-95C8-4417-ACDF-0F8252FC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18351-E7DE-43A4-9425-AD08FFDA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F67DAB-0356-4498-924D-7BE8E88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placement and its science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4F82A6-5A42-4674-A479-3F35F945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destination for each card. Explain the evidence clue.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0208E4-768E-4CAC-8300-901A87D3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Crescent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5D881A-186E-4389-8305-5119B003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Only a small part of the illuminated half faces us.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AAE0CC-6245-48ED-8AEC-CC5AFB2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Ordinary phase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F380288-A571-4C8F-9456-15C5850F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Lunar eclipse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CE45A85-9D13-4B4A-84AE-08DB2DF5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Incorrect claim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E52DB6-68FC-4DB6-9D84-225631E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4830F13-FDDE-46BD-8BEB-463AD888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1359478-B2D7-407D-9F3C-1A166B11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18 / 46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C779D68-3B35-4C48-A633-DDF5150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169476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8D521CF-4A82-4122-A16A-C43FB396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FED57C2-AA47-4350-ABF7-F1F9124F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FEC2517-F82A-4C52-8EE3-9560AAE4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B0CC9-BD76-4E81-BF91-961E4B849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6b58399ac4d9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D53A9-8DA8-44C3-8C1A-F79F49E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6E6C0-A897-4784-A50E-6D360338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25CE5E-84A6-40E6-94D7-C8C9861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Crescent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E6537C-F5CE-42E6-ACF1-37E705C0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crescent is our view of part of the sunlit half.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779C6E-2769-43B1-825E-EB9C2C42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the card again. Use the model and the named evidence clue.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214182-B315-4127-83FC-F9DA606F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3FD9E6-84DB-462B-8054-4CCA9995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6F1628-A4BA-4F5A-83EB-6E414E32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19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45D201-6EA8-438C-9F1E-936D47AA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7252249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0F0B149-1256-465A-9908-E49C3DAE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97BF74-871E-4E34-AC60-0CAC61B3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C68E2BC-0A34-48F4-BDCF-3528F45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3F7AF-565B-46C4-B2B4-EE885F1F9D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fc7f057824c3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A3DDE-43BE-458D-83C0-DD10BC65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EFCAA-D159-4217-8D52-5ACEF588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01604F-EB24-4132-AE53-540FA507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placement and its science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B660F17-3057-4F5C-BE6A-105B8D6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destination for each card. Explain the evidence clue.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DA7AD9-DD19-476E-857E-D1031A8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Full Moon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26E571E-6A89-4ACA-85E7-FA50BA77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lit side faces the place we look from.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BCAE9A3-5219-4B86-8B0B-87133831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Ordinary phase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4C3E99-E7AE-4FDB-A33D-FB748C9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Lunar eclipse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AA771C-4511-4FC2-AD4B-CFEA932B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Incorrect claim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5D16B0-A181-45B9-ACC6-12EA093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AA140CD-D465-427C-94EB-BEDF3F8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22616BE-A59F-4518-9F21-90D2744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20 / 46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C006B06-E6F4-44DD-BE80-8E0AA5E0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6559214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30A6F7-B97D-450B-8AD2-FF59D99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AA8D23-4874-499B-B900-B653426C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5E4E67E-DBE3-4149-81D1-8FB53186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CE1C-5642-4472-A64D-50BF3840E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02d45498642c6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2D2C1-015E-4FC6-8D24-BAE49F05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04C76-36EF-40B9-8D33-40FBCAD2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8205BA-E045-4BA0-9088-994A46C1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Full Moon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539A20-A2A9-4F86-BA49-B4AA8E7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Full Moon is an ordinary phase; it does not require Earth’s shadow.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2770E5-856A-4A87-8A12-AF93245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the card again. Use the model and the named evidence clue.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0F6028-DFDB-4C3E-9EAE-70FC7AF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7288894-E7F3-49BA-B9E3-FBC36F6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2444C0-1F32-49B5-BDAE-015ED20F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21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FE7EB0-9082-4D38-9663-B7FB7E4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2445101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E1DDCA-D172-4FF0-84B7-B47CC9A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9EF8ADE-209A-4FF4-A1CE-149BDE4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2C56DAA-6636-4A92-BFDE-BBF87196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111BE-B5BD-4847-8A82-FCDA3E471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3e7494db747df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3CE89-526F-49FD-A2A0-5F5F3B7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D1729-F415-470C-BBDA-4B480E6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0E5938-3E33-469A-9DB5-B9F45ED4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placement and its science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99D175-661C-4234-876A-2C1A0A5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destination for each card. Explain the evidence clue.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A6E7B3-BC60-48F8-9BD2-D96720DD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New Moon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D1B234-6FF4-4427-91E0-81F5F11C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lit half faces mostly away from the observer.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E0922D7-69A6-4608-8654-CAA73AFD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Ordinary phase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72DC78-81A8-4210-A6C6-C999191B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Lunar eclipse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F2C0E0-1C96-4FEF-BBA1-09748F42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Incorrect claim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EE96ED7-4A9E-4EB2-AD50-DBD319F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A51385-087A-45FC-A1BD-0BBEA60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0642261-DFCC-4732-82B5-F0DC688A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22 / 46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ED8CD45-723B-49D1-BDB2-03AA521E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2088216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327830-DD87-40B1-9575-D58A5D49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FCE74F-8FFC-49A9-9C30-A36A2BE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633772F-ECD1-43CB-95FA-4B5C214F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273B9-C08C-4D62-88BE-753DE07B64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14533dbd44069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961B1-6F1C-455D-9147-CB9724E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527E3-5215-4B66-880D-6B094363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552F8B6-117F-4295-B8DD-25862002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New Moon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B323BF-5CFD-4B74-8915-B3D5ABAC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At new Moon the visible side is largely unlit.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984D8C-1CDC-41FC-A322-C2462B4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the card again. Use the model and the named evidence clue.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7B80E1-A23F-4196-A321-35A136BB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4D5EA6-F6CE-49E0-982B-2C82BA59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69AF31-FC45-4672-840F-42B2C46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23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079E41-3620-49A8-9A3C-73455EC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487813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99C318C-2584-4D44-893B-B6331646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03B941-81CD-4A66-8FC0-427BA45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3CE80BF-C746-4492-878B-FD72145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38E6-5A9B-4A42-8AD3-C60C1E2E7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d95b7187a414f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DEE5C-F25E-4ECA-9319-072664C6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0B109-DA60-4377-B565-B81C16B0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DD630B-A5AB-45F9-90BE-84DB020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placement and its science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1D9B24-6092-4EA7-8137-1804D25D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destination for each card. Explain the evidence clue.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1A0F0B-CFD4-4490-9357-662F7E5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Dark red Moon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77E3ED-D9CE-4F37-828B-62C4A04D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Earth blocks direct sunlight during this event.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AE3929-B084-4D8F-980F-B321432D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Ordinary phase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D81BD4-74A6-463F-BC90-1432998E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Lunar eclipse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28AEEA-0832-442E-96C9-37B16425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Incorrect claim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3E6F72D-B0D3-47C8-9BB8-43D830F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0C3D1F-FE2A-41C2-B035-3EC0F8E4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69015DC-7A9F-4B16-9CA2-657F7D82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24 / 46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8F8D0C-3D08-4FC6-A9EE-5911854E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4569015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A649961-6449-45ED-9DB6-22CE4617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EE129B6-A4A2-4C65-B128-D4D9D64A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602D304-63CB-421A-A926-9F4943ED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EE392-0DD7-4281-90BE-5A551955F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c88119ba04f24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7C7B-C208-4AF3-A96E-75F0708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B1FA6-A88B-4053-93E9-E5B850B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D5A04-9C93-4A5B-8B97-887B1655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Dark red Moon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B16201-5566-4F7A-9994-111A6D8E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lunar eclipse involves Earth’s shadow.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6E8682-6C6C-43BC-A40C-F5946B3E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the card again. Use the model and the named evidence clue.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CC406C-B558-40A7-B54A-BAAF43C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2F474F-D8C3-4997-B9DB-7C6B24C9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F7BF1B-B612-42C3-87C1-03383B3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25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477717-DD84-4C79-9B27-B7292F93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04702164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31EA21-E97D-45BA-A7C4-D86911E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3F8AF73-7EE4-4CBA-9918-553C10FF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0B1E7D4-9238-4BAB-AC11-67872E46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451DA-8F3D-4E03-8648-A944554E9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942bc6089417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512E0-8A99-40FA-AA3C-CFA4503E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BE3CF-B92C-48DE-BFC7-2DA5404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CB2CCD-151C-40D7-BE66-D9EDB541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placement and its science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6758A5-5F5F-4742-A399-2245465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destination for each card. Explain the evidence clue.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5411E5-8062-46A1-A27B-01BD103E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Own light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AA2AEB4-8DA0-4E9E-BAAD-526B4F5A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Moon glows by itself.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FB8D93-950A-4A85-91E4-0040A12D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Ordinary phase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560568-F19B-44EC-A5C6-ADC40AB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Lunar eclipse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AB9CF9-29B9-4D0B-971C-66A0ABD3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Incorrect claim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530558-36C8-4642-BC4B-EBC0DD4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3319BE-7D50-4EA0-8FAA-1062860B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305826-987E-428F-A1BF-9330C49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26 / 46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B7553A-3E7E-4E3B-98E3-D152254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7175693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680476-FC48-412D-BA5D-A3881E7A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765A503-0448-47F1-9EA2-E472A0F9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5F45F9-13B8-4DED-AB9E-E0A391C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CBBF5-D458-4BF6-8F2D-44CCA531F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f85dba47245b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F19CA-8754-413D-A303-6316E198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6056B-3F2D-45CC-965A-FC34E0C5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A7DDF4-78ED-40D4-A9EF-BFD1518E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Own light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0C76E2-4AC8-4B35-8F53-9635EC1F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Moonlight is reflected sunlight.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33E537-F0C6-4C41-91D3-5CF491A4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the card again. Use the model and the named evidence clue.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DDA794-10A7-4F03-8CB8-2C58875F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54263F-15B0-45AE-AAC5-A7CAB65A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468544-309E-49B0-AF56-1891366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27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2BE3E3-67FB-4753-AC10-B9541CE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1624241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A84855A-2CE6-486A-A4FC-73EF5561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5A11DD6-E1A9-4199-86FB-FD886B1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12AE17-19BA-4B98-87EC-AA35D02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E1A64-2A01-4C57-B798-D0EAAF87E3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65d18744a4c0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4AC59-B132-46D7-BA5E-64A4D695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99502-8340-46DE-9FB4-F30064C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CE9193-1AE7-433D-9A44-B8F582C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Record one placement and its science reason.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7F37FF-1B28-40E1-BEA0-B82DD17C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destination for each card. Explain the evidence clue.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459837-A696-4E83-BFD9-43B2F9E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Every month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74EFBC-2BBF-4EF6-A795-24A66996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Every full Moon must be an eclipse.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D03C52-BFED-4287-B21F-F998B92F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Ordinary phase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239403-F7ED-47EC-816A-0DCEE36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Lunar eclipse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B58DCD8-29C4-4C90-B016-8BDE642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Incorrect claim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739A68-C8A0-4B89-AB0C-7BC34D6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EF3FC4-F3CF-4168-A7ED-2955128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034A69-ECAC-4D0F-966C-7A297C3B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28 / 46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01AA77C-4108-479E-8ADE-D06812D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0281171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4A209C-73E6-45C6-877C-B4AE909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2CB034-6558-4BEB-BA8C-A96677CC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57A507-A408-444C-8EA9-B9B93B5B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394F0-B601-4D5C-A3AD-69A34BF525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c6c38e7d9426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7FA66-077E-4F02-994D-E6CEB04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33E85-67B4-4D55-A337-FF5D080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74EB70-26C2-4AEE-B5B0-75A65066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Every month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9C04AE-BB02-4692-9BD1-6B2C4C00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Moon’s tilted orbit prevents an eclipse every month.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1947EE-4AD6-4A2E-9458-904A3CC2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the card again. Use the model and the named evidence clue.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B0139C-275F-4371-99AB-ED62F88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36F2C4-86E0-45CF-BACC-46766E5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048A4B-714A-4476-BADF-3635C175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29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13B04A-A858-4ACF-86C0-C5A27327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6697851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8392638-4DEC-45CF-8555-885DD8D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7DE63A4-0E50-4AD0-81BB-F975A14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5FCE01-BF6C-4339-AAD0-9DCDBB8E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B4436-9F36-4796-8E59-27AE70CE8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62944bd504d1a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AE1C2-C345-44D0-B6BA-14329C5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1857B-AAB7-4BD5-A5B2-DD47D3D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C86722-4ED2-4B8C-B511-C465CC72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 confident answer is enough evidence.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D0F30B-124D-4E96-9F7C-9D6F477F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Keep it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CFB2DA-41B3-47EA-B2FF-0230BD8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Repair: name the evidence and its limit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6C9F9D-6DB8-46CC-A67B-737382DE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6A9994-331D-43A0-B860-FA66B69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3E734D-11A4-4763-8D66-2206FAC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30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0D6FBC-9A93-4716-B99B-34318C9D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70073481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22DBCA-BCE7-43A4-A2B1-03208D6D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85C21B-C96C-486C-8855-B6A64CE0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ECBF040-84F5-4258-A741-7F783D0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7E2C6-6FD4-40C0-B968-4D948A45E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e28be528e40ef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B3478-7662-4CE8-A10C-796A826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5CC3F-47B5-4181-A02E-D0F7DB5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C9ABBC-4F2A-45C1-BAE6-9662B99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science, a claim needs clues that fit. Give a reason. Say how far the claim can go.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655D04-C593-4ECC-8CA0-7F5C4F9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Being sure does not show that you know the science. Nor does a lot of writing.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F47038-55C5-4C48-A881-0628A26A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39ADBD-787C-4B3B-8765-C038B3E1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3F97FF-B902-4198-91A8-E014C8C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31 / 46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7C9569-AC24-4ED5-803B-60433F5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5390252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48ADFE-65CE-4CB7-8AB9-5A5F315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64FC97A-11BB-4AB8-AF4C-9ADC2E6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EA3A2E-8EA3-47C9-AB8A-1634AB2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C4D51-CB58-4310-A7EA-2FD9964F04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8b103de83453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1A93B-7754-442F-B2D5-84CC4F09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8924-6387-4C8A-8346-16D556B1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8B7332-575F-47BA-9CC6-43AB30A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true or false for each. Repair one false statement in your book.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CA68D3-F43C-4DD3-A420-6BEF758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The Moon reflects sunlight.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F6B9F6-1BEB-4F7A-AACE-CFB8C288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The Moon glows by itself.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38D95B-3425-4381-8E4F-BC6AC5F7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Ordinary phases are Earth’s shadow.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F76CFC1-DF43-4B94-97B6-311888D2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The Moon orbits Earth in about a month.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FB71C1A-1619-42BB-9DAE-7EF56C2F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5. The Moon is only visible at night.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2A4063-AF20-4498-A992-204632D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9FE894-857D-4571-8E3E-7C2E23E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FDAFE1-5B09-4C0D-B264-2F70C6B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32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24815E-1825-45DC-899D-EED2FF35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347312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4219789-4EA9-42F7-9146-50078D84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5601253-5EB0-494B-8B4A-0D04571C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5 min · 19 to 24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418A196-B2A0-44DB-810D-A2510398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We do · Phase or eclipse?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47573-A1AA-41B1-B7EE-1C8390C67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4263380264cf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2BCEE-5A26-4165-B0AE-64D97682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B0032-1CD2-44F9-B8A8-BA16CA6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6800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6A9A53-36BB-44C8-B85C-8CF3C0ED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True: the light reaching us is reflected sunlight.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F64058-150A-4227-9A22-768C0CEA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False: it reflects sunlight rather than making its own visible light.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D6CA5D-7A05-4B9A-B5F8-04E2C25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False: phases come from our changing view of the lit half; Earth’s shadow matters during a lunar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eclipse.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985480-91DC-40CF-B395-FFD5DBDA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True: about 27.3 days for one orbit; the phase cycle is about 29.5 days.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0B59C1-9152-4FF5-99F4-ACC10AE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False: the Moon can also be visible in daylight.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DF14050-C601-475E-B1F9-7483C65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495F20-DB31-4818-88EB-93DAD83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50BF780-63BB-462B-B12B-72670A78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33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8139D62-AFD7-4AD8-9872-BF74B5CE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527773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556B13-41ED-4328-B475-AB9B96E8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9713A57-8404-4BFC-BBDE-7D39E834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51803A7-E2F3-4DF4-BBA0-F7047C0A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69E55-1A53-435D-8A3D-7DE1791A7A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61444744b4083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15F75-6045-4E09-9E0B-35AFB35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2F695-A5AD-4222-8A9B-DBD119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933438-8149-412B-A8AE-E8A153A2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Write or draw your own response to the selected task.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63BBE0-9AEF-43C6-8092-827AE46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Make or sequence a four-position phase strip or wheel. Mark sunlight, the lit half and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Earth-view phase. Explain an eclipse separately.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FD7FE9-3509-4ABA-B713-E633B75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E1C89F-D80A-4B4A-9B28-65FA873C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1EC8D5-FA7D-45E9-A5BF-955F32C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34 / 46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36651B-5A1C-4905-BF91-CD56516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5038142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13F0AA-5DDA-4EC3-A6F7-22119FC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856DCC7-CE79-497D-A272-12B8A02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E97EB64-BA53-41AF-ADA9-8D34970D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79FCC-256E-4FA8-B7AE-D62C8F0E0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f89a6dcc14d6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6C7C7-E830-4A62-9EDF-E646A3C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A1B72-0440-40A3-BF74-8031C08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95FB5-7651-495D-95F4-3D8A4AC3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07836C-AA58-4C98-B607-B9725B16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F6AA7-FB97-45FC-88A0-12BD6B7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97554A-FC80-4A31-8601-EC738784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Put four model views in order. Say why the lit part we see changes.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D34CF46-5E0F-442A-BBB2-9FDDCF43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B12A0E-E739-4700-9D76-0270AEEF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6A4017-A47C-4BFB-8D10-CCD72CC6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35 / 46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4DC60F6-C717-40BA-B10F-92D1390A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33226067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AF6D740-0AE0-4D1E-AEE3-5F07E8D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DE37171-8646-46B4-A832-CEED962F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A70353C-8CEA-4ECD-B955-BC0783A9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3EC60-CFDD-4B41-9D5A-7EC3BE49E5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8e9aac77c4af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9F1EB-B75B-40C7-8EC2-187D27E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35D03-0782-4712-B41A-F489E928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76993-93FC-42D9-B5D0-2D4C7D07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C6FF43-01CF-49EA-8C47-D354AAFE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17C60-C962-4A41-8C08-5D861D5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10E728-46D9-4FE5-B8ED-E03D830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Match new, quarter, full and quarter views, on your own or with a partner.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E1538-A29F-4085-B3CB-549F467F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494986-F51F-4972-8014-5607746A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a fixed sunlight arrow and point to the lit half.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4D104-F090-4FD9-A023-0D68EBF0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3845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A84173-3F6F-4F3F-8BAD-E30D221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 Moon appears… because we see… as it orbits…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372E9C-8C17-4802-A540-B036046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1669AA-E36D-4ED7-8292-646EF41A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91D243B-348F-4ED6-AF65-46777C0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36 / 46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7644C6-9130-4FC4-A7DC-8F69996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9581952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6E72F0-890F-4D2F-AC63-E93DA809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FEE254-4279-4FCC-9832-A1E8E7CD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7A62E08-1B4A-4FA2-9E33-3094670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83C3-D38D-43DC-BC4B-A83A966E55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dfcaa3d6a49ab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5BDC7-5A07-4E20-BFE3-91BCE94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8A7BB-8CB2-478E-83CA-29D03410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CB926-9CB0-4C00-A1C9-6F761FA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2696CA-6820-44C6-8DE2-773F770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A5AB-9993-4E6E-BF24-45D7113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6086C85-C1AE-4203-A468-625C9D92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phase cards to label four model views. Choose each label: full / quarter / new. Order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labelled views around the model. Mark sunlight direction and the lit half. Choose the cause: our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changing view of the lit half / the Moon changing shape. Complete: We see ___ because ___.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Choose the lunar eclipse cause: Earth blocks sunlight / the Moon becomes smaller. Record C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beside your book response.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BEED55E-394A-4722-8468-31D1CFC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88455C-1D11-499D-AF50-E73F5E29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C4B88A-E4D0-4385-968A-E71EA8B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37 / 46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0CECC4-DBD2-488B-BCAD-F820A1BF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2446599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06B2353-EB09-4562-A133-35FB7541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D1A9F21-5B2E-4587-9328-E712F1A0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FCD0C9-A6E1-47FC-93B7-006A7E80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72D56-EBC2-4AE3-B574-A494FCCFA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285d6289a4ad9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F2B63-3E9D-4C76-B60B-927E3A0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F04A4-BA4F-4A8B-AABA-EBFE987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ABBE4-C5C2-42CB-A7E6-A741225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D91575-24AC-4D6F-9200-45A35A77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03E8D-CB69-4833-8591-0FFAC364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57400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50734B-396B-4527-8B2C-9CA9A7E7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Explain the phases in order. Say how an eclipse differs. Give one limit of the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D2038-0406-49D6-82A4-8C05DA7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47925"/>
            <a:ext cx="11372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BDAE2D-8CA7-4629-8B3F-928BD436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Say when our view changes. Say when light is blocked. Explain the tilt of the orbit.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DFBAEA2-7227-40C6-98F0-6437763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7D9BEAE-1B2D-4BDD-A1B3-CB8BF01E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BC08E9-BB22-4BFD-BD54-6A5E602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38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E535A8-E08F-44B6-884B-88416C84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02127246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41467E6-3864-43AE-BF6E-14B378EE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238F50-EF64-4E5A-B74C-7095E64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97F3195-4F06-4ED1-A4B2-21543EB9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C18B3-0050-444E-AC30-E78B0EA52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8a09a23ca4e50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B1CE8-ABC6-4C41-952E-7747FD03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29752-709A-43C2-8ABD-F3D77C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C573F3-F5DE-4287-BEB0-848BF16B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Cool LED torch, large foam ball, observer marker and four phase cards.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9ED7DD-F206-4745-BC58-7F71DCF1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Adult uses a low-power cool light; no lasers or looking at the Sun. No blackout: normal-light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diagrams are equal routes. Keep the ball above the observer’s head shadow so a false eclipse is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not created. Agree before any light change; adult handles equipment and cutting. Keep movement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clear.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F43112-8CE0-4192-ACF9-087734D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 included evidence cards; point, direct, speak, draw or type.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82D9D5-C90C-4576-9322-90E389D5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prepared cards and exact scribing. Keep the same science decision.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1F3363-E09D-420E-8914-78E91CCE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ECE20D-31BF-4C35-8D12-AA78C6A9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82F37F-9A5C-4BC2-8C32-3891D483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39 / 46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23C9B78-6E4F-47E3-BDFF-AB8F99B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12641977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7956B1-F977-4A97-A9C5-9F7FE123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A699136-EFCF-486D-877C-3E995D92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07D301F-7172-4222-AF9F-76857553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D36A1-6AF2-475E-A16D-0016F7346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cefe689554635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BD19B-C1A4-416C-A934-CB4A18E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6303A-BF90-428C-9559-90A414A8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F31C1D-B58C-45E6-B1FA-53352672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Draw or direct a light path Sun → Moon → observer. Name the source and reflecting object.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Compare new, half and full from the same observer position. Shade the part not seen lit;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Moon stays round.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6C2495-21B0-4E50-884F-55F893C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747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Check one view and label with an adult or chosen partner. Correct one label. Name what the model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shows and one limit; restore lighting and return the kit.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8F33CE-5989-4676-ABB8-8BFD87D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183CB5-1C99-4FF0-B71A-A14BFC12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B4BEE37-E1F2-407E-80DB-D70673ED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40 / 46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5424143-7CDE-4E4E-9189-40A38EDA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321152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B038EF-C57E-46B3-8F41-37A10C6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2A37AAD-FFA1-4809-B8E5-0549E3C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6A2297-7AC9-4601-8A90-5C1B3DB8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076C6-428C-4F2A-A00B-913B562A2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5f7e4c65d4913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E4690-1C4D-448C-968C-04BEA131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4C190-A935-4F81-A1D0-4DF32F8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0BD231-E72B-4DC3-9609-A906B7E1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1. Keep the cool light still. Use one Moon model or the phase cards you have.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FD2DCF-5EBE-4B60-86F7-B35C59A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2. Mark the lit half. Mark where you look from. Stop and check with the adult: which way does the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light come from?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980F61-6258-4F4F-ADC5-E7E24CD8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3. Put four views in order. Look from the same place each time. Explain a phase and an eclipse on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their own.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6BE74DE-FA3B-4F0B-8990-649E6E4B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4. In your book, label what you saw. Say why the lit part you can see changes. Put the lights back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as they were. Return the kit.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7A0428E-CA87-49FD-84A0-E70AC681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Only the apparatus needed for the current stage is on the table.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9417F7-92F3-4713-9B48-972592C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If you cannot safely take part, watch the teacher demonstration and record the same</a:t>
            </a:r>
          </a:p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observation and conclusion in your book.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EC935F-580B-49E5-A427-06FAF0E9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AB332B-4432-491C-96A6-C8982B2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D951A4-9227-4182-A912-8F056AA9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41 / 46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660510-9CBD-4842-BCC4-1E3BD2D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00522791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5DAEA4-22BE-419F-BD1E-A06A9F1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EAEC473-AFE3-4F8D-82EF-EC2A3E24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9 min · 24 to 33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A7C775E-E928-457D-B19B-446E9316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You 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A2D4A-F834-451D-B39F-C30B1CC662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c884891a74731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5ED4A-2640-4084-A5A6-4C26D18B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9CF57-6D34-41DC-84A3-62D6A86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935116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861D27-791C-4799-B4B2-C52548E5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After the task, put what you saw in your book. Say what it shows about today's goal.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89A71D-C302-4494-A76F-F1715E84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0B874C-0229-4014-82A8-741D8ED2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F8CF60-355B-4FEF-8E6C-665EB012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42 / 46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ECCC965-611A-4600-A092-304F9E05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186041343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9B12DF-F103-4F50-8CF4-9554AD7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FCA3B2-2442-40A4-BC2F-E194AF5C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3 min · 33 to 36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E47A34-9429-45CA-AB69-A7C3D2E3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Review and improve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7A6E8-70FC-405C-B3AE-D769B589E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94507007f4db2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1CB35-59C8-4947-881A-77839B3A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C8771-2773-4722-A6E9-E5F3CFC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02012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CD374E-5A47-46BD-BCD2-6239A67A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Review one explanation; make one edit and mark it //.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45E26C-F331-4AA9-8799-471BD445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Keep your first answer. Hear one verbal feedback point and one next step.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58EEE0-2908-454F-9EE0-EDE86A0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Read or show one explanation to an adult.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ADFBDC-1DD7-412A-98C5-6943004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Use the feedback to change one precise part; mark the edit //.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0ECC2E4-17BC-4DCB-8BE2-DC12C751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Show what changed and why. On ?, read it back or use your agreed response mode.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A12050-EB51-4551-AE25-73BEE5F8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D73B58C-B5DC-4A91-B0CE-EB36A57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AE2FCE3-3B6A-4532-978D-FB5D05F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43 / 46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F5DBC6-9083-4F81-B317-6F7E5AE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93534517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5A2F98-D7DD-4B4E-95B6-432CCDD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4CDF349-89F9-45FA-BAB1-609CF9E5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36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C6EBD98-CA46-440A-B693-1C5E0BE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2E910-063C-400B-80C5-8729937E37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e1ecb20824d63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08CE0-4BF7-4AE8-98F3-0FE81821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47D2D-A681-43D1-B1BB-2F4B744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E7EC02-96E3-4B26-9F3B-3CF9FBD3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DD23CA-90D2-44F0-A457-E42F302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Under the heading Exit ticket: answer the prompt; show one next step.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AF2C2E-ED3C-4D90-B0FC-016AE3CE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Does the Moon make its own visible light?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592146-A937-40F4-9421-C1AA27D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CBBE5D-4ACA-491C-BDCF-7F9268C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5F0A79-677B-4ADC-A13C-6EAEB5D3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44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A360990-96FB-4782-854A-403FA71E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98797648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CD1805F-F16A-450B-8EA1-D88E88D8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752944-CE45-4074-A8AD-0F318738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36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6931370-10CB-46A8-A443-0F3C10E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C1AFD-8B38-457B-9530-461FBFC434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4a9dc334c42d9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157DE-20A3-477D-AA5D-CD29C15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26EB9-5C4F-4587-A93A-DC86848D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BF40F3-BD07-47ED-821E-E643077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Standard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632776-47CA-492B-B430-CE158AB8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Under the heading Exit ticket: answer the prompt; show one next step.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664073-8FBA-42B5-B65B-3CB09BE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Explain why the Moon appears to change shape.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1E6C28F-2759-43C7-8204-A35C7FD2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BEDB02-E192-46FD-B173-54973824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704D66-C8DB-42ED-88F6-04335168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45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BEC3F6A-BEB2-469C-894F-482E3B76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5318779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203457-17D8-4A7D-9A14-A176ECE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 · SCIENCE · Autumn 1 · Week 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F35F61C-DA6E-4B7D-9BA0-2CBF4AD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 min · 36 to 40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340005D-D057-4F7D-A675-EEA69BB2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A44C9-046C-4422-B271-803DA8E2D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06f6ee0ce41ce"/>
          <a:stretch xmlns:a="http://schemas.openxmlformats.org/drawingml/2006/main"/>
        </p:blipFill>
        <p:spPr>
          <a:xfrm xmlns:a="http://schemas.openxmlformats.org/drawingml/2006/main">
            <a:off x="11144250" y="1143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CC144-8745-4F03-986F-CF1C8265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E6471-6AAC-4FE2-B225-72291D5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1133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597706-D50D-4EDC-973D-F2D4E69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Stretch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454882-97C6-43CD-A025-24CB5FA4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In your book: Under the heading Exit ticket: answer the prompt; show one next step.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937838-15C5-4BF1-8F33-F39E419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Why are ordinary phases not caused by Earth’s shadow?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723079-078D-406C-B702-F710591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I can explain why the Moon appears to change shape as it orbits Earth.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9409B8B-E2E4-4C61-B9E2-34E8B43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GROW-SCI-A1-W08-P1 · Version: ______ · Source page SHA-256: ______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8D2F4C-C407-4961-BDBF-B7479B72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46 / 46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90CE4DE-E753-4DCD-A552-F34CA867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3746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100796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Discover: The Moon's Journey</dc:title>
  <dcterms:created xsi:type="dcterms:W3CDTF">2026-10-18T10:35:37.8100000Z</dcterms:created>
  <dcterms:modified xsi:type="dcterms:W3CDTF">2026-10-18T10:35:37.8100000Z</dcterms:modified>
  <dc:subject>GROW-SCI-A1-W08-P1</dc:subject>
  <dc:description/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ource_page_sha256">
    <vt:lpwstr/>
  </property>
</Properties>
</file>