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4e618ef1d4afc" /><Relationship Type="http://schemas.openxmlformats.org/officeDocument/2006/relationships/extended-properties" Target="/docProps/app.xml" Id="Rd24d41659ca446b2" /><Relationship Type="http://schemas.openxmlformats.org/officeDocument/2006/relationships/officeDocument" Target="/ppt/presentation.xml" Id="R5271bdb2a62648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48d3d44cc0453f"/>
  </p:sldMasterIdLst>
  <p:notesMasterIdLst>
    <p:notesMasterId xmlns:r="http://schemas.openxmlformats.org/officeDocument/2006/relationships" r:id="Re98b0a7940a54449"/>
  </p:notesMasterIdLst>
  <p:sldIdLst>
    <p:sldId xmlns:r="http://schemas.openxmlformats.org/officeDocument/2006/relationships" id="256" r:id="R69dd9edd4a484b2c"/>
    <p:sldId xmlns:r="http://schemas.openxmlformats.org/officeDocument/2006/relationships" id="257" r:id="R3b182aa218d5474b"/>
    <p:sldId xmlns:r="http://schemas.openxmlformats.org/officeDocument/2006/relationships" id="258" r:id="Rcb5e51fcbd374a67"/>
    <p:sldId xmlns:r="http://schemas.openxmlformats.org/officeDocument/2006/relationships" id="259" r:id="Rc865e5b3cd6d416b"/>
    <p:sldId xmlns:r="http://schemas.openxmlformats.org/officeDocument/2006/relationships" id="260" r:id="R311d619766444777"/>
    <p:sldId xmlns:r="http://schemas.openxmlformats.org/officeDocument/2006/relationships" id="261" r:id="Rf964ffbbba7e4717"/>
    <p:sldId xmlns:r="http://schemas.openxmlformats.org/officeDocument/2006/relationships" id="262" r:id="R0b20863ae00c44bb"/>
    <p:sldId xmlns:r="http://schemas.openxmlformats.org/officeDocument/2006/relationships" id="263" r:id="Rfee2f46471034ee8"/>
    <p:sldId xmlns:r="http://schemas.openxmlformats.org/officeDocument/2006/relationships" id="264" r:id="Rfc168f64c4ba4f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5e102284bc42ad" /><Relationship Type="http://schemas.openxmlformats.org/officeDocument/2006/relationships/slideMaster" Target="/ppt/slideMasters/slideMaster1.xml" Id="R0e48d3d44cc0453f" /><Relationship Type="http://schemas.openxmlformats.org/officeDocument/2006/relationships/notesMaster" Target="/ppt/notesMasters/notesMaster1.xml" Id="Re98b0a7940a54449" /><Relationship Type="http://schemas.openxmlformats.org/officeDocument/2006/relationships/presProps" Target="/ppt/presProps.xml" Id="R2aaae50584114aa8" /><Relationship Type="http://schemas.openxmlformats.org/officeDocument/2006/relationships/tableStyles" Target="/ppt/tableStyles.xml" Id="R5388b44abfd64b98" /><Relationship Type="http://schemas.openxmlformats.org/officeDocument/2006/relationships/slide" Target="/ppt/slides/slide1.xml" Id="R69dd9edd4a484b2c" /><Relationship Type="http://schemas.openxmlformats.org/officeDocument/2006/relationships/slide" Target="/ppt/slides/slide2.xml" Id="R3b182aa218d5474b" /><Relationship Type="http://schemas.openxmlformats.org/officeDocument/2006/relationships/slide" Target="/ppt/slides/slide3.xml" Id="Rcb5e51fcbd374a67" /><Relationship Type="http://schemas.openxmlformats.org/officeDocument/2006/relationships/slide" Target="/ppt/slides/slide4.xml" Id="Rc865e5b3cd6d416b" /><Relationship Type="http://schemas.openxmlformats.org/officeDocument/2006/relationships/slide" Target="/ppt/slides/slide5.xml" Id="R311d619766444777" /><Relationship Type="http://schemas.openxmlformats.org/officeDocument/2006/relationships/slide" Target="/ppt/slides/slide6.xml" Id="Rf964ffbbba7e4717" /><Relationship Type="http://schemas.openxmlformats.org/officeDocument/2006/relationships/slide" Target="/ppt/slides/slide7.xml" Id="R0b20863ae00c44bb" /><Relationship Type="http://schemas.openxmlformats.org/officeDocument/2006/relationships/slide" Target="/ppt/slides/slide8.xml" Id="Rfee2f46471034ee8" /><Relationship Type="http://schemas.openxmlformats.org/officeDocument/2006/relationships/slide" Target="/ppt/slides/slide9.xml" Id="Rfc168f64c4ba4f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63344784a04a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506ef0e91b4162" /><Relationship Type="http://schemas.openxmlformats.org/officeDocument/2006/relationships/notesMaster" Target="/ppt/notesMasters/notesMaster1.xml" Id="R085d8c5296284c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f622408ebb433a" /><Relationship Type="http://schemas.openxmlformats.org/officeDocument/2006/relationships/notesMaster" Target="/ppt/notesMasters/notesMaster1.xml" Id="R58cb50e7270741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3b35dec43344b6" /><Relationship Type="http://schemas.openxmlformats.org/officeDocument/2006/relationships/notesMaster" Target="/ppt/notesMasters/notesMaster1.xml" Id="R5b05a89457b04e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0ddaf3e0824c74" /><Relationship Type="http://schemas.openxmlformats.org/officeDocument/2006/relationships/notesMaster" Target="/ppt/notesMasters/notesMaster1.xml" Id="Rab517e20cb3049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3e0d98084e485f" /><Relationship Type="http://schemas.openxmlformats.org/officeDocument/2006/relationships/notesMaster" Target="/ppt/notesMasters/notesMaster1.xml" Id="R45232926dc764c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84aab6a11f4a4c" /><Relationship Type="http://schemas.openxmlformats.org/officeDocument/2006/relationships/notesMaster" Target="/ppt/notesMasters/notesMaster1.xml" Id="Rb519d3adf75449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9e3b364b43414c" /><Relationship Type="http://schemas.openxmlformats.org/officeDocument/2006/relationships/notesMaster" Target="/ppt/notesMasters/notesMaster1.xml" Id="R9b360cf72c6c4e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902353f5764a22" /><Relationship Type="http://schemas.openxmlformats.org/officeDocument/2006/relationships/notesMaster" Target="/ppt/notesMasters/notesMaster1.xml" Id="R511c777834c14b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e3332d7309482b" /><Relationship Type="http://schemas.openxmlformats.org/officeDocument/2006/relationships/notesMaster" Target="/ppt/notesMasters/notesMaster1.xml" Id="Ra0f38026d1754c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one place you recognise near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 0 minutes; one 40-minute session. Independent starts after 26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teaching, confirm the school name and two familiar nearby features. Use the school’s approved local plan if available; otherwise make a shared plan from the classroom viewpoint. Do not ask for home addresses. The supplied fictional plan is for modelling; the independent response must transfer to the pupil’s actual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map is a view from above, not a picture of the front of a building. Keep the page orientation fixed before using left and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Space: allow time and a trusted adult. Voice: receive the stage-specific response in the pupil’s chosen mode. Audience: read it back exactly. Influence: Arrival: use the key beside the four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Ordnance Survey, Mapzone</a:t>
            </a:r>
          </a:p>
          <a:p xmlns:a="http://schemas.openxmlformats.org/drawingml/2006/main">
            <a:r>
              <a:t>https://www.ordnancesurvey.co.uk/mapzone/map-skills</a:t>
            </a:r>
          </a:p>
          <a:p xmlns:a="http://schemas.openxmlformats.org/drawingml/2006/main">
            <a:r>
              <a:t>Map skills context. Our S/P/L plan and symbols are original teaching graphics, not OS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local-plan artwork</a:t>
            </a:r>
          </a:p>
          <a:p xmlns:a="http://schemas.openxmlformats.org/drawingml/2006/main">
            <a:r>
              <a:t>Author-created for PACK-1R</a:t>
            </a:r>
          </a:p>
          <a:p xmlns:a="http://schemas.openxmlformats.org/drawingml/2006/main">
            <a:r>
              <a:t>Fictional diagram. No scale, real school location or safe route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route and answer four retrieval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 4 minutes; one 40-minute session. Independent starts after 26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teaching, confirm the school name and two familiar nearby features. Use the school’s approved local plan if available; otherwise make a shared plan from the classroom viewpoint. Do not ask for home addresses. The supplied fictional plan is for modelling; the independent response must transfer to the pupil’s actual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map is a view from above, not a picture of the front of a building. Keep the page orientation fixed before using left and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Which place is for learning: school or river? Help: Think about where lessons happen. Answer: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key says S = school. What does S mean? Help: Read or point to the words after the equals sign. Answer: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to the right side of this page. Help: An adult can model left, then you show the opposite side. Answer: The right side of the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a natural feature: river or library. Help: A river is flowing water; a library is built by people. Answer: River.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 a place people visit near a school. Help: Think of a park, library, shop or bus stop. Answer: Accept a suitable local place; check the actual locality with the adult.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 does a map have a key? Help: Think about an unfamiliar symbol. Answer: To explain what the symbols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library is on the right of a school on a plan. Which way would you point? Help: Keep the plan the same way up. Answer: Right across the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Which is human-made: a river or a bus stop? Help: Human-made means people built or arranged it. Answer: Bus stop.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 could you check the name of your school? Help: Think of a sign, school document or a trusted adult. Answer: Read the school sign or confirm with a trusted adult.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 can the same square mean different things on different maps? Help: Read each map’s own key. Answer: Symbols depend on the key; do not assume their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must stay fixed when we say left or right on a plan? Help: Imagine turning the page upside down. Answer: The orientation of the plan, or an agreed viewpoint.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 a classroom plan prove a route is safe outside? Help: Think about roads, crossings and changes. Answer: No. An adult must check the actual route and current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Space: allow time and a trusted adult. Voice: receive the stage-specific response in the pupil’s chosen mode. Audience: read it back exactly. Influence: Starter: model the school symbol again or add the park.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Ordnance Survey, Mapzone</a:t>
            </a:r>
          </a:p>
          <a:p xmlns:a="http://schemas.openxmlformats.org/drawingml/2006/main">
            <a:r>
              <a:t>https://www.ordnancesurvey.co.uk/mapzone/map-skills</a:t>
            </a:r>
          </a:p>
          <a:p xmlns:a="http://schemas.openxmlformats.org/drawingml/2006/main">
            <a:r>
              <a:t>Map skills context. Our S/P/L plan and symbols are original teaching graphics, not OS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local-plan artwork</a:t>
            </a:r>
          </a:p>
          <a:p xmlns:a="http://schemas.openxmlformats.org/drawingml/2006/main">
            <a:r>
              <a:t>Author-created for PACK-1R</a:t>
            </a:r>
          </a:p>
          <a:p xmlns:a="http://schemas.openxmlformats.org/drawingml/2006/main">
            <a:r>
              <a:t>Fictional diagram. No scale, real school location or safe route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school symbol using the key.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 4 minutes; one 40-minute session. Independent starts after 26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teaching, confirm the school name and two familiar nearby features. Use the school’s approved local plan if available; otherwise make a shared plan from the classroom viewpoint. Do not ask for home addresses. The supplied fictional plan is for modelling; the independent response must transfer to the pupil’s actual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map is a view from above, not a picture of the front of a building. Keep the page orientation fixed before using left and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Space: allow time and a trusted adult. Voice: receive the stage-specific response in the pupil’s chosen mode. Audience: read it back exactly. Influence: I Do: trace the school and park on the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Ordnance Survey, Mapzone</a:t>
            </a:r>
          </a:p>
          <a:p xmlns:a="http://schemas.openxmlformats.org/drawingml/2006/main">
            <a:r>
              <a:t>https://www.ordnancesurvey.co.uk/mapzone/map-skills</a:t>
            </a:r>
          </a:p>
          <a:p xmlns:a="http://schemas.openxmlformats.org/drawingml/2006/main">
            <a:r>
              <a:t>Map skills context. Our S/P/L plan and symbols are original teaching graphics, not OS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local-plan artwork</a:t>
            </a:r>
          </a:p>
          <a:p xmlns:a="http://schemas.openxmlformats.org/drawingml/2006/main">
            <a:r>
              <a:t>Author-created for PACK-1R</a:t>
            </a:r>
          </a:p>
          <a:p xmlns:a="http://schemas.openxmlformats.org/drawingml/2006/main">
            <a:r>
              <a:t>Fictional diagram. No scale, real school location or safe route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Watch how I locate the school and park.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 5 minutes; one 40-minute session. Independent starts after 26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teaching, confirm the school name and two familiar nearby features. Use the school’s approved local plan if available; otherwise make a shared plan from the classroom viewpoint. Do not ask for home addresses. The supplied fictional plan is for modelling; the independent response must transfer to the pupil’s actual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map is a view from above, not a picture of the front of a building. Keep the page orientation fixed before using left and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Ordnance Survey, Mapzone</a:t>
            </a:r>
          </a:p>
          <a:p xmlns:a="http://schemas.openxmlformats.org/drawingml/2006/main">
            <a:r>
              <a:t>https://www.ordnancesurvey.co.uk/mapzone/map-skills</a:t>
            </a:r>
          </a:p>
          <a:p xmlns:a="http://schemas.openxmlformats.org/drawingml/2006/main">
            <a:r>
              <a:t>Map skills context. Our S/P/L plan and symbols are original teaching graphics, not OS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local-plan artwork</a:t>
            </a:r>
          </a:p>
          <a:p xmlns:a="http://schemas.openxmlformats.org/drawingml/2006/main">
            <a:r>
              <a:t>Author-created for PACK-1R</a:t>
            </a:r>
          </a:p>
          <a:p xmlns:a="http://schemas.openxmlformats.org/drawingml/2006/main">
            <a:r>
              <a:t>Fictional diagram. No scale, real school location or safe route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 each symbol to the feature it represents.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 5 minutes; one 40-minute session. Independent starts after 26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teaching, confirm the school name and two familiar nearby features. Use the school’s approved local plan if available; otherwise make a shared plan from the classroom viewpoint. Do not ask for home addresses. The supplied fictional plan is for modelling; the independent response must transfer to the pupil’s actual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map is a view from above, not a picture of the front of a building. Keep the page orientation fixed before using left and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key shows P in a triangle for park. Read each map’s own key.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Space: allow time and a trusted adult. Voice: receive the stage-specific response in the pupil’s chosen mode. Audience: read it back exactly. Influence: I Do 2: trace the school-to-library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Ordnance Survey, Mapzone</a:t>
            </a:r>
          </a:p>
          <a:p xmlns:a="http://schemas.openxmlformats.org/drawingml/2006/main">
            <a:r>
              <a:t>https://www.ordnancesurvey.co.uk/mapzone/map-skills</a:t>
            </a:r>
          </a:p>
          <a:p xmlns:a="http://schemas.openxmlformats.org/drawingml/2006/main">
            <a:r>
              <a:t>Map skills context. Our S/P/L plan and symbols are original teaching graphics, not OS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local-plan artwork</a:t>
            </a:r>
          </a:p>
          <a:p xmlns:a="http://schemas.openxmlformats.org/drawingml/2006/main">
            <a:r>
              <a:t>Author-created for PACK-1R</a:t>
            </a:r>
          </a:p>
          <a:p xmlns:a="http://schemas.openxmlformats.org/drawingml/2006/main">
            <a:r>
              <a:t>Fictional diagram. No scale, real school location or safe route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Watch how I describe a route from school to the library.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 4 minutes; one 40-minute session. Independent starts after 26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teaching, confirm the school name and two familiar nearby features. Use the school’s approved local plan if available; otherwise make a shared plan from the classroom viewpoint. Do not ask for home addresses. The supplied fictional plan is for modelling; the independent response must transfer to the pupil’s actual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map is a view from above, not a picture of the front of a building. Keep the page orientation fixed before using left and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Ordnance Survey, Mapzone</a:t>
            </a:r>
          </a:p>
          <a:p xmlns:a="http://schemas.openxmlformats.org/drawingml/2006/main">
            <a:r>
              <a:t>https://www.ordnancesurvey.co.uk/mapzone/map-skills</a:t>
            </a:r>
          </a:p>
          <a:p xmlns:a="http://schemas.openxmlformats.org/drawingml/2006/main">
            <a:r>
              <a:t>Map skills context. Our S/P/L plan and symbols are original teaching graphics, not OS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local-plan artwork</a:t>
            </a:r>
          </a:p>
          <a:p xmlns:a="http://schemas.openxmlformats.org/drawingml/2006/main">
            <a:r>
              <a:t>Author-created for PACK-1R</a:t>
            </a:r>
          </a:p>
          <a:p xmlns:a="http://schemas.openxmlformats.org/drawingml/2006/main">
            <a:r>
              <a:t>Fictional diagram. No scale, real school location or safe route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direction from school to the library.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 4 minutes; one 40-minute session. Independent starts after 26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teaching, confirm the school name and two familiar nearby features. Use the school’s approved local plan if available; otherwise make a shared plan from the classroom viewpoint. Do not ask for home addresses. The supplied fictional plan is for modelling; the independent response must transfer to the pupil’s actual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map is a view from above, not a picture of the front of a building. Keep the page orientation fixed before using left and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library is to the right of the school on this fixed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Space: allow time and a trusted adult. Voice: receive the stage-specific response in the pupil’s chosen mode. Audience: read it back exactly. Influence: Independent: draw your school and nearby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Ordnance Survey, Mapzone</a:t>
            </a:r>
          </a:p>
          <a:p xmlns:a="http://schemas.openxmlformats.org/drawingml/2006/main">
            <a:r>
              <a:t>https://www.ordnancesurvey.co.uk/mapzone/map-skills</a:t>
            </a:r>
          </a:p>
          <a:p xmlns:a="http://schemas.openxmlformats.org/drawingml/2006/main">
            <a:r>
              <a:t>Map skills context. Our S/P/L plan and symbols are original teaching graphics, not OS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local-plan artwork</a:t>
            </a:r>
          </a:p>
          <a:p xmlns:a="http://schemas.openxmlformats.org/drawingml/2006/main">
            <a:r>
              <a:t>Author-created for PACK-1R</a:t>
            </a:r>
          </a:p>
          <a:p xmlns:a="http://schemas.openxmlformats.org/drawingml/2006/main">
            <a:r>
              <a:t>Fictional diagram. No scale, real school location or safe route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your school and locate two nearby features on your own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 10 minutes; one 40-minute session. Independent starts after 26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teaching, confirm the school name and two familiar nearby features. Use the school’s approved local plan if available; otherwise make a shared plan from the classroom viewpoint. Do not ask for home addresses. The supplied fictional plan is for modelling; the independent response must transfer to the pupil’s actual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map is a view from above, not a picture of the front of a building. Keep the page orientation fixed before using left and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Space: allow time and a trusted adult. Voice: receive the stage-specific response in the pupil’s chosen mode. Audience: read it back exactly. Influence: Exit: check one location without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Ordnance Survey, Mapzone</a:t>
            </a:r>
          </a:p>
          <a:p xmlns:a="http://schemas.openxmlformats.org/drawingml/2006/main">
            <a:r>
              <a:t>https://www.ordnancesurvey.co.uk/mapzone/map-skills</a:t>
            </a:r>
          </a:p>
          <a:p xmlns:a="http://schemas.openxmlformats.org/drawingml/2006/main">
            <a:r>
              <a:t>Map skills context. Our S/P/L plan and symbols are original teaching graphics, not OS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local-plan artwork</a:t>
            </a:r>
          </a:p>
          <a:p xmlns:a="http://schemas.openxmlformats.org/drawingml/2006/main">
            <a:r>
              <a:t>Author-created for PACK-1R</a:t>
            </a:r>
          </a:p>
          <a:p xmlns:a="http://schemas.openxmlformats.org/drawingml/2006/main">
            <a:r>
              <a:t>Fictional diagram. No scale, real school location or safe route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one feature in relation to the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Timing 4 minutes; one 40-minute session. Independent starts after 26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teaching, confirm the school name and two familiar nearby features. Use the school’s approved local plan if available; otherwise make a shared plan from the classroom viewpoint. Do not ask for home addresses. The supplied fictional plan is for modelling; the independent response must transfer to the pupil’s actual school.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map is a view from above, not a picture of the front of a building. Keep the page orientation fixed before using left and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supported: The park is above the school on the page. Accept pointing or a directed adult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standard: School name and one plausible relative position, checked by the adult against the local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The key identifies the feature; a position word tells the reader where to look.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EFL: 30-second clip, photo, or one-line context note. Central tags only. Listen / look before tagging (Audience).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Space: allow time and a trusted adult. Voice: receive the stage-specific response in the pupil’s chosen mode. Audience: read it back exactly. Influence: Next lesson: use a simple map or plan of a familiar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Ordnance Survey, Mapzone</a:t>
            </a:r>
          </a:p>
          <a:p xmlns:a="http://schemas.openxmlformats.org/drawingml/2006/main">
            <a:r>
              <a:t>https://www.ordnancesurvey.co.uk/mapzone/map-skills</a:t>
            </a:r>
          </a:p>
          <a:p xmlns:a="http://schemas.openxmlformats.org/drawingml/2006/main">
            <a:r>
              <a:t>Map skills context. Our S/P/L plan and symbols are original teaching graphics, not OS symbols.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local-plan artwork</a:t>
            </a:r>
          </a:p>
          <a:p xmlns:a="http://schemas.openxmlformats.org/drawingml/2006/main">
            <a:r>
              <a:t>Author-created for PACK-1R</a:t>
            </a:r>
          </a:p>
          <a:p xmlns:a="http://schemas.openxmlformats.org/drawingml/2006/main">
            <a:r>
              <a:t>Fictional diagram. No scale, real school location or safe route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00a4c7bf54a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75edac3b5a4946" /><Relationship Type="http://schemas.openxmlformats.org/officeDocument/2006/relationships/slideLayout" Target="/ppt/slideLayouts/slideLayout1.xml" Id="R58849566b84c48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49566b84c48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ade696c464996" /><Relationship Type="http://schemas.openxmlformats.org/officeDocument/2006/relationships/notesSlide" Target="/ppt/notesSlides/notesSlide1.xml" Id="Ra3b390ec8292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ca19d5d8c45d9" /><Relationship Type="http://schemas.openxmlformats.org/officeDocument/2006/relationships/notesSlide" Target="/ppt/notesSlides/notesSlide2.xml" Id="Rab12df55d81345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9b05998644710" /><Relationship Type="http://schemas.openxmlformats.org/officeDocument/2006/relationships/image" Target="/ppt/media/image.png" Id="R75ae9f1d159b4262" /><Relationship Type="http://schemas.openxmlformats.org/officeDocument/2006/relationships/notesSlide" Target="/ppt/notesSlides/notesSlide3.xml" Id="R872e22a2c4c1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da8d945f74664" /><Relationship Type="http://schemas.openxmlformats.org/officeDocument/2006/relationships/image" Target="/ppt/media/image2.png" Id="R4580bc1a5cdc4f4d" /><Relationship Type="http://schemas.openxmlformats.org/officeDocument/2006/relationships/notesSlide" Target="/ppt/notesSlides/notesSlide4.xml" Id="Rd7784ac9916948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559efc44847b5" /><Relationship Type="http://schemas.openxmlformats.org/officeDocument/2006/relationships/image" Target="/ppt/media/image3.png" Id="Rf28a36321cb14701" /><Relationship Type="http://schemas.openxmlformats.org/officeDocument/2006/relationships/notesSlide" Target="/ppt/notesSlides/notesSlide5.xml" Id="R11c56a9d087344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1160874e44820" /><Relationship Type="http://schemas.openxmlformats.org/officeDocument/2006/relationships/image" Target="/ppt/media/image4.png" Id="Rfbfa1803e15e4148" /><Relationship Type="http://schemas.openxmlformats.org/officeDocument/2006/relationships/notesSlide" Target="/ppt/notesSlides/notesSlide6.xml" Id="R1edfe058296743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98c03961542ec" /><Relationship Type="http://schemas.openxmlformats.org/officeDocument/2006/relationships/image" Target="/ppt/media/image5.png" Id="R2b1add13515d4a90" /><Relationship Type="http://schemas.openxmlformats.org/officeDocument/2006/relationships/notesSlide" Target="/ppt/notesSlides/notesSlide7.xml" Id="R6a0f448f093343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851bc448a4691" /><Relationship Type="http://schemas.openxmlformats.org/officeDocument/2006/relationships/notesSlide" Target="/ppt/notesSlides/notesSlide8.xml" Id="Rd9aa2963e2814f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f05428ff34233" /><Relationship Type="http://schemas.openxmlformats.org/officeDocument/2006/relationships/notesSlide" Target="/ppt/notesSlides/notesSlide9.xml" Id="Rab58eb9ab09e4c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7B4F5-99DD-4765-9B9E-103431B4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· HUMANITIES · Sum1·W1 · 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E7F19-4B56-45EB-851D-87CF430C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My school and local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4CC28-16AD-493D-BBC9-99FA0BF6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Name and locate my school and local features.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38311-CC90-4312-A6C5-0BF19540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714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Name my school in my chosen response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Use a key to locate two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 Show where one feature is in relation to the school.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55982-A6B0-4C5E-993D-53A68395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190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7A9B"/>
                </a:solidFill>
                <a:latin typeface="Arial"/>
                <a:ea typeface="Arial"/>
                <a:cs typeface="Arial"/>
              </a:rPr>
              <a:t>World of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E7A9B"/>
                </a:solidFill>
                <a:latin typeface="Arial"/>
                <a:ea typeface="Arial"/>
                <a:cs typeface="Arial"/>
              </a:rPr>
              <a:t>A school caretaker uses a site plan to locate places and guide visitors. Practise giving a visitor one clear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CECE9-D3FD-483D-934C-D5EBC79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F53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5364"/>
                </a:solidFill>
                <a:latin typeface="Arial"/>
                <a:ea typeface="Arial"/>
                <a:cs typeface="Arial"/>
              </a:rPr>
              <a:t>Original fictional teaching plan. Not to scale; not a safe walking route.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DB670-F402-4434-940C-510087B5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 / 9</a:t>
            </a:r>
          </a:p>
        </p:txBody>
      </p:sp>
    </p:spTree>
    <p:extLst>
      <p:ext uri="{BB962C8B-B14F-4D97-AF65-F5344CB8AC3E}">
        <p14:creationId xmlns:p14="http://schemas.microsoft.com/office/powerpoint/2010/main" val="168022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F7FF8-F3D6-4245-BDB6-BFE9BBC8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· HUMANITIES · Sum1·W1 · 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E68C3-FC0A-4C28-8C6F-45FEDF54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CC75C-EDE9-4E4F-8482-322766C4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route and answer four retrieval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63EF1-8092-48DD-B294-96A3B44D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5ADFA-2166-4770-BDEF-F7817F40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place is for learning: school or river?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21326-D2EF-437A-A838-B4F6CEAC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The key says S = school. What does S mean?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D5F19-3785-4F11-A6EC-F1BC1F1E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Point to the right side of this page.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6F348-F84D-4E4A-98A6-E8BF6B4E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Choose a natural feature: river or library.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E2C83-7C04-4811-ABE4-044327A2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24B37-A5A6-4C76-9E3A-4478AC13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Name a place people visit near a school.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3F586-262A-42F1-B0B7-7E479E98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337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does a map have a key?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B3E4A-5D8D-48F4-B94F-0244A718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6720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 library is on the right of a school on a plan. Which way would you point?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39239-E059-49D9-A58C-6E4BA574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0062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Which is human-made: a river or a bus stop?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FA1BB-6323-49A9-8ABD-62657B31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1A54E-69E0-4B7B-9FC7-F7718BCA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How could you check the name of your school?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9A649-76BD-4393-86CB-2F75B141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337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can the same square mean different things on different maps?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5F707-45A7-44D3-89B3-079C3054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What must stay fixed when we say left or right on a plan?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61BC8-95E4-4F11-AC71-F46A1DAB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0062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Can a classroom plan prove a route is safe outside?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D40F3-DF4B-4BA8-A893-9177357C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route. Point, speak, sign, draw, write or direct an adult.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90DDF-4D1C-433B-B2AD-68787774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F53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5364"/>
                </a:solidFill>
                <a:latin typeface="Arial"/>
                <a:ea typeface="Arial"/>
                <a:cs typeface="Arial"/>
              </a:rPr>
              <a:t>Original fictional teaching plan. Not to scale; not a safe walking route.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995FE-196A-4364-9402-EF79CBB5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</p:spTree>
    <p:extLst>
      <p:ext uri="{BB962C8B-B14F-4D97-AF65-F5344CB8AC3E}">
        <p14:creationId xmlns:p14="http://schemas.microsoft.com/office/powerpoint/2010/main" val="21148774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012D5-1D4D-4861-86B9-857B42EA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· HUMANITIES · Sum1·W1 · 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CA056-1599-49D0-9B68-025A386F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631C5-989A-4E4C-9C70-3D532FE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Point to the school symbol using the key.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e9f1d159b4262"/>
          <a:stretch xmlns:a="http://schemas.openxmlformats.org/drawingml/2006/main"/>
        </p:blipFill>
        <p:spPr>
          <a:xfrm xmlns:a="http://schemas.openxmlformats.org/drawingml/2006/main">
            <a:off x="571500" y="2479460"/>
            <a:ext cx="6381750" cy="300398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E125D-95AE-418C-B2A1-BDC13E75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4000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before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— find and show where something 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feature — something you can identify in a 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key — the guide explaining map symbols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symbol — a mark that stands for something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D2014-C61E-4765-B636-4A120612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F53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5364"/>
                </a:solidFill>
                <a:latin typeface="Arial"/>
                <a:ea typeface="Arial"/>
                <a:cs typeface="Arial"/>
              </a:rPr>
              <a:t>Original fictional teaching plan. Not to scale; not a safe walking route.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EE287-1CFF-4AFA-A2E4-4AA54331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</p:spTree>
    <p:extLst>
      <p:ext uri="{BB962C8B-B14F-4D97-AF65-F5344CB8AC3E}">
        <p14:creationId xmlns:p14="http://schemas.microsoft.com/office/powerpoint/2010/main" val="1507456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71DDA-808E-4F4F-8EE9-466D8608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· HUMANITIES · Sum1·W1 · 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20D0D-7FF3-4914-B90E-6CB04060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40C7C-15E4-4B54-A912-2A648167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Watch how I locate the school and park.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0bc1a5cdc4f4d"/>
          <a:stretch xmlns:a="http://schemas.openxmlformats.org/drawingml/2006/main"/>
        </p:blipFill>
        <p:spPr>
          <a:xfrm xmlns:a="http://schemas.openxmlformats.org/drawingml/2006/main">
            <a:off x="571500" y="2589575"/>
            <a:ext cx="6096000" cy="286947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91C7C-270F-47E4-BCDF-85A35E3E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33387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read the key: a square marked S stands for school. I find S at the lower left. The triangle marked P is the park at the upper left. The park is above the school on this plan. I use the symbol and position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86613-3617-463B-A050-A6DD8D8E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F53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5364"/>
                </a:solidFill>
                <a:latin typeface="Arial"/>
                <a:ea typeface="Arial"/>
                <a:cs typeface="Arial"/>
              </a:rPr>
              <a:t>Original fictional teaching plan. Not to scale; not a safe walking route.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BBF3B-9C46-4EEF-9505-E68341A1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</p:spTree>
    <p:extLst>
      <p:ext uri="{BB962C8B-B14F-4D97-AF65-F5344CB8AC3E}">
        <p14:creationId xmlns:p14="http://schemas.microsoft.com/office/powerpoint/2010/main" val="1463577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37B27-B4E4-4E95-8743-F9F8B59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· HUMANITIES · Sum1·W1 · 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571DA-1375-4B36-92B8-57865020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706AF-6239-4E99-98FA-3855A37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Match each symbol to the feature it represents.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a36321cb14701"/>
          <a:stretch xmlns:a="http://schemas.openxmlformats.org/drawingml/2006/main"/>
        </p:blipFill>
        <p:spPr>
          <a:xfrm xmlns:a="http://schemas.openxmlformats.org/drawingml/2006/main">
            <a:off x="571500" y="2634411"/>
            <a:ext cx="5905500" cy="27798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174C4-8CDB-4C22-BE25-11D3A6F8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43150"/>
            <a:ext cx="4429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Which symbol means park?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ECFE8-9838-4954-A9E3-AEA5B385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00425"/>
            <a:ext cx="44291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A. S — square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B. P — triangle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C. L — circle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A42B5-14EE-4EF5-8926-7ACACC47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F53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5364"/>
                </a:solidFill>
                <a:latin typeface="Arial"/>
                <a:ea typeface="Arial"/>
                <a:cs typeface="Arial"/>
              </a:rPr>
              <a:t>Original fictional teaching plan. Not to scale; not a safe walking route.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CB8B8-335C-494E-8FE0-BE1C5D3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</p:spTree>
    <p:extLst>
      <p:ext uri="{BB962C8B-B14F-4D97-AF65-F5344CB8AC3E}">
        <p14:creationId xmlns:p14="http://schemas.microsoft.com/office/powerpoint/2010/main" val="278884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283C2-5D5E-4221-885E-52056EE4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· HUMANITIES · Sum1·W1 · 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17B91-ABCD-43FA-AA68-4CA6FD51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79E73-D044-4B4C-917C-0D735B3E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Watch how I describe a route from school to the library.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a1803e15e4148"/>
          <a:stretch xmlns:a="http://schemas.openxmlformats.org/drawingml/2006/main"/>
        </p:blipFill>
        <p:spPr>
          <a:xfrm xmlns:a="http://schemas.openxmlformats.org/drawingml/2006/main">
            <a:off x="571500" y="2589575"/>
            <a:ext cx="6096000" cy="286947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C038C-EE6F-48E1-88EC-963F6C23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33387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start at S, the school. I follow the dashed route to L, the library. I move right across the page. My direction is: “From school, go right to the library.” The plan is a teaching example, so it does not tell us a safe walking route outside.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DE6BA-7B22-40EF-A958-63A7A2F9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F53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5364"/>
                </a:solidFill>
                <a:latin typeface="Arial"/>
                <a:ea typeface="Arial"/>
                <a:cs typeface="Arial"/>
              </a:rPr>
              <a:t>Original fictional teaching plan. Not to scale; not a safe walking route.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F4BAA-73C3-47A0-8983-171259A2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</p:spTree>
    <p:extLst>
      <p:ext uri="{BB962C8B-B14F-4D97-AF65-F5344CB8AC3E}">
        <p14:creationId xmlns:p14="http://schemas.microsoft.com/office/powerpoint/2010/main" val="1581114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8442D-6B2D-4173-96B9-AB886CC1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· HUMANITIES · Sum1·W1 · 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32ED9-A284-4BE2-A654-EB690BF1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E187A-E3AA-49FD-8CC0-9983A117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direction from school to the library.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add13515d4a90"/>
          <a:stretch xmlns:a="http://schemas.openxmlformats.org/drawingml/2006/main"/>
        </p:blipFill>
        <p:spPr>
          <a:xfrm xmlns:a="http://schemas.openxmlformats.org/drawingml/2006/main">
            <a:off x="571500" y="2634411"/>
            <a:ext cx="5905500" cy="27798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D9A20-1908-419F-998E-0125470F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43150"/>
            <a:ext cx="4429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From S to L, which direction crosses this page?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88CF1-D72C-4F66-80F7-63324DBA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00425"/>
            <a:ext cx="44291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A. Left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B. Right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C.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4D3F6-6A0F-41B1-B817-97C172A1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F53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5364"/>
                </a:solidFill>
                <a:latin typeface="Arial"/>
                <a:ea typeface="Arial"/>
                <a:cs typeface="Arial"/>
              </a:rPr>
              <a:t>Original fictional teaching plan. Not to scale; not a safe walking route.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5A454-4E82-4434-A927-A772C3C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</p:spTree>
    <p:extLst>
      <p:ext uri="{BB962C8B-B14F-4D97-AF65-F5344CB8AC3E}">
        <p14:creationId xmlns:p14="http://schemas.microsoft.com/office/powerpoint/2010/main" val="2012104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43FE3-F07C-41C0-87A8-144EF109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· HUMANITIES · Sum1·W1 · 10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DCADF-1EC9-4C62-B89B-1AA3076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D73A6-08D9-4DC3-A2E2-EF2931D4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Name your school and locate two nearby features on your own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DD7F3-6A61-47AF-806D-C6064913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EA41B-493A-45F5-99F6-726F42DB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3429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Name your school to the adult. Draw a school box. Add or point to two nearby features you know. Show one position with above, below, left or right. The adult may scribe your exact words.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92821-9716-40F0-AF20-8DE6782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1BB0F-C787-48F1-914C-50152B6A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3429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Draw a simple plan of your school and two real nearby features. Add a key. Describe one feature’s position using left, right, near or far. Tell the adult which detail needs checking.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CDFCA-BA5C-4A96-9976-8A8B665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19216-FEF4-4C63-BDB6-7C942A00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3429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Draw and label a school plan with three local features and a key. Explain one position and how you would check it against the real place. Explain why this plan alone cannot confirm a safe walking route.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C54F0-8432-4BEC-BC8B-D3F610AE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the map or source, rehearse your explanation, then record your own response.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33DF2-90CB-47C9-BAA5-560A3828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F53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5364"/>
                </a:solidFill>
                <a:latin typeface="Arial"/>
                <a:ea typeface="Arial"/>
                <a:cs typeface="Arial"/>
              </a:rPr>
              <a:t>Original fictional teaching plan. Not to scale; not a safe walking route.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D327C-050C-4278-A5A3-6D3CC047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</p:spTree>
    <p:extLst>
      <p:ext uri="{BB962C8B-B14F-4D97-AF65-F5344CB8AC3E}">
        <p14:creationId xmlns:p14="http://schemas.microsoft.com/office/powerpoint/2010/main" val="1145747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8BB65-87EA-4E56-B579-A299929A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· HUMANITIES · Sum1·W1 · 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81827-F613-474E-8A77-02CDBE6B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A677D-4C40-4549-8FD4-B5B6E3C8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Show one feature in relation to the school.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8FDA4-9CB0-450D-AAB5-F4B59A09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D0040-59CF-4EDF-8C37-2B8B5D2C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3429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On the teaching plan, point to the park in relation to the school.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18E8A-C7B3-4000-90DA-C27538FE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A4D7C-8824-4119-97DE-E5ED5BE0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62275"/>
            <a:ext cx="3429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Name your school and describe where one real feature is on your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37E75-0BAC-40BE-ADEB-C5B35BE2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E1649-31BE-405B-BE29-FE3C8C0F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3429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 how the key and a position word together help someone find a feature.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6ED2-BA7A-4DEB-B529-7112444B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Show your response to the adult. Agree one next step for the next lesson.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3F7A0-D4C9-46DC-94BE-8915FE6E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3F53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5364"/>
                </a:solidFill>
                <a:latin typeface="Arial"/>
                <a:ea typeface="Arial"/>
                <a:cs typeface="Arial"/>
              </a:rPr>
              <a:t>Original fictional teaching plan. Not to scale; not a safe walking route.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A753B-719D-48B4-A00B-8530D7E5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</p:spTree>
    <p:extLst>
      <p:ext uri="{BB962C8B-B14F-4D97-AF65-F5344CB8AC3E}">
        <p14:creationId xmlns:p14="http://schemas.microsoft.com/office/powerpoint/2010/main" val="2019032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2026-09-20T23:46:25.5630000Z</dcterms:created>
  <dcterms:modified xsi:type="dcterms:W3CDTF">2026-09-20T23:46:25.5630000Z</dcterms:modified>
</coreProperties>
</file>