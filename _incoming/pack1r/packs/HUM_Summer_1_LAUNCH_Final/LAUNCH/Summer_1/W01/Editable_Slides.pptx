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3fe1ade1964509" /><Relationship Type="http://schemas.openxmlformats.org/officeDocument/2006/relationships/extended-properties" Target="/docProps/app.xml" Id="Re15be57707d445b5" /><Relationship Type="http://schemas.openxmlformats.org/officeDocument/2006/relationships/officeDocument" Target="/ppt/presentation.xml" Id="R9c4c2fe698044d48" /></Relationships>
</file>

<file path=ppt/presentation.xml><?xml version="1.0" encoding="utf-8"?>
<p:presentation xmlns:p="http://schemas.openxmlformats.org/presentationml/2006/main">
  <p:sldMasterIdLst>
    <p:sldMasterId xmlns:r="http://schemas.openxmlformats.org/officeDocument/2006/relationships" id="2147483648" r:id="R51aa37404b394e2e"/>
  </p:sldMasterIdLst>
  <p:notesMasterIdLst>
    <p:notesMasterId xmlns:r="http://schemas.openxmlformats.org/officeDocument/2006/relationships" r:id="Rde084a9fa63c4f65"/>
  </p:notesMasterIdLst>
  <p:sldIdLst>
    <p:sldId xmlns:r="http://schemas.openxmlformats.org/officeDocument/2006/relationships" id="256" r:id="R4d2694038c9148f1"/>
    <p:sldId xmlns:r="http://schemas.openxmlformats.org/officeDocument/2006/relationships" id="257" r:id="R52e766f27f70467e"/>
    <p:sldId xmlns:r="http://schemas.openxmlformats.org/officeDocument/2006/relationships" id="258" r:id="R5f78605a81f24533"/>
    <p:sldId xmlns:r="http://schemas.openxmlformats.org/officeDocument/2006/relationships" id="259" r:id="R5d4ff32edd644387"/>
    <p:sldId xmlns:r="http://schemas.openxmlformats.org/officeDocument/2006/relationships" id="260" r:id="R3150167a853245f9"/>
    <p:sldId xmlns:r="http://schemas.openxmlformats.org/officeDocument/2006/relationships" id="261" r:id="Rda0002efec584a30"/>
    <p:sldId xmlns:r="http://schemas.openxmlformats.org/officeDocument/2006/relationships" id="262" r:id="R7dbb76a79cc14532"/>
    <p:sldId xmlns:r="http://schemas.openxmlformats.org/officeDocument/2006/relationships" id="263" r:id="R487ca5e623e14d0a"/>
    <p:sldId xmlns:r="http://schemas.openxmlformats.org/officeDocument/2006/relationships" id="264" r:id="R3061a05310aa42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06b8c722ae4d25" /><Relationship Type="http://schemas.openxmlformats.org/officeDocument/2006/relationships/slideMaster" Target="/ppt/slideMasters/slideMaster1.xml" Id="R51aa37404b394e2e" /><Relationship Type="http://schemas.openxmlformats.org/officeDocument/2006/relationships/notesMaster" Target="/ppt/notesMasters/notesMaster1.xml" Id="Rde084a9fa63c4f65" /><Relationship Type="http://schemas.openxmlformats.org/officeDocument/2006/relationships/presProps" Target="/ppt/presProps.xml" Id="R94b8a149629d4d45" /><Relationship Type="http://schemas.openxmlformats.org/officeDocument/2006/relationships/tableStyles" Target="/ppt/tableStyles.xml" Id="Rb861976324dc414d" /><Relationship Type="http://schemas.openxmlformats.org/officeDocument/2006/relationships/slide" Target="/ppt/slides/slide1.xml" Id="R4d2694038c9148f1" /><Relationship Type="http://schemas.openxmlformats.org/officeDocument/2006/relationships/slide" Target="/ppt/slides/slide2.xml" Id="R52e766f27f70467e" /><Relationship Type="http://schemas.openxmlformats.org/officeDocument/2006/relationships/slide" Target="/ppt/slides/slide3.xml" Id="R5f78605a81f24533" /><Relationship Type="http://schemas.openxmlformats.org/officeDocument/2006/relationships/slide" Target="/ppt/slides/slide4.xml" Id="R5d4ff32edd644387" /><Relationship Type="http://schemas.openxmlformats.org/officeDocument/2006/relationships/slide" Target="/ppt/slides/slide5.xml" Id="R3150167a853245f9" /><Relationship Type="http://schemas.openxmlformats.org/officeDocument/2006/relationships/slide" Target="/ppt/slides/slide6.xml" Id="Rda0002efec584a30" /><Relationship Type="http://schemas.openxmlformats.org/officeDocument/2006/relationships/slide" Target="/ppt/slides/slide7.xml" Id="R7dbb76a79cc14532" /><Relationship Type="http://schemas.openxmlformats.org/officeDocument/2006/relationships/slide" Target="/ppt/slides/slide8.xml" Id="R487ca5e623e14d0a" /><Relationship Type="http://schemas.openxmlformats.org/officeDocument/2006/relationships/slide" Target="/ppt/slides/slide9.xml" Id="R3061a05310aa42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c1880f9a604e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b33e5f93fa494c" /><Relationship Type="http://schemas.openxmlformats.org/officeDocument/2006/relationships/notesMaster" Target="/ppt/notesMasters/notesMaster1.xml" Id="R9f53467bc0924e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b4f80c79cc4d96" /><Relationship Type="http://schemas.openxmlformats.org/officeDocument/2006/relationships/notesMaster" Target="/ppt/notesMasters/notesMaster1.xml" Id="R0055a42dcd204a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05ed5425ed4715" /><Relationship Type="http://schemas.openxmlformats.org/officeDocument/2006/relationships/notesMaster" Target="/ppt/notesMasters/notesMaster1.xml" Id="Ref3b78a5dfd445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ddc9784d064200" /><Relationship Type="http://schemas.openxmlformats.org/officeDocument/2006/relationships/notesMaster" Target="/ppt/notesMasters/notesMaster1.xml" Id="R3f1af9c3ad2a43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7723fc3c4e45f7" /><Relationship Type="http://schemas.openxmlformats.org/officeDocument/2006/relationships/notesMaster" Target="/ppt/notesMasters/notesMaster1.xml" Id="R0fb4b331b4a547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9f7f6dd2fb4979" /><Relationship Type="http://schemas.openxmlformats.org/officeDocument/2006/relationships/notesMaster" Target="/ppt/notesMasters/notesMaster1.xml" Id="Rad6785bcde2c45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cac6d703c04a41" /><Relationship Type="http://schemas.openxmlformats.org/officeDocument/2006/relationships/notesMaster" Target="/ppt/notesMasters/notesMaster1.xml" Id="R1ecd9e5f023a4f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ac89f962da4928" /><Relationship Type="http://schemas.openxmlformats.org/officeDocument/2006/relationships/notesMaster" Target="/ppt/notesMasters/notesMaster1.xml" Id="Rb547de5f6c3143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b7b6f7a2a14929" /><Relationship Type="http://schemas.openxmlformats.org/officeDocument/2006/relationships/notesMaster" Target="/ppt/notesMasters/notesMaster1.xml" Id="R298b272926af49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one resource used to provide energy.</a:t>
            </a:r>
          </a:p>
          <a:p xmlns:a="http://schemas.openxmlformats.org/drawingml/2006/main">
            <a:r>
              <a:t/>
            </a:r>
          </a:p>
          <a:p xmlns:a="http://schemas.openxmlformats.org/drawingml/2006/main">
            <a:r>
              <a:t>Timing 0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Arrival: check the meanings of resource, emissions and evidence.</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one route and answer four retrieval questions.</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SUPPORTED</a:t>
            </a:r>
          </a:p>
          <a:p xmlns:a="http://schemas.openxmlformats.org/drawingml/2006/main">
            <a:r>
              <a:t/>
            </a:r>
          </a:p>
          <a:p xmlns:a="http://schemas.openxmlformats.org/drawingml/2006/main">
            <a:r>
              <a:t>Which is a fuel resource: coal or a chart title? Help: A fuel can be burned for energy. Answer: Coal.</a:t>
            </a:r>
          </a:p>
          <a:p xmlns:a="http://schemas.openxmlformats.org/drawingml/2006/main">
            <a:r>
              <a:t/>
            </a:r>
          </a:p>
          <a:p xmlns:a="http://schemas.openxmlformats.org/drawingml/2006/main">
            <a:r>
              <a:t>Does emissions mean gases released or distances travelled? Help: Think about gases entering the atmosphere. Answer: Gases released.</a:t>
            </a:r>
          </a:p>
          <a:p xmlns:a="http://schemas.openxmlformats.org/drawingml/2006/main">
            <a:r>
              <a:t/>
            </a:r>
          </a:p>
          <a:p xmlns:a="http://schemas.openxmlformats.org/drawingml/2006/main">
            <a:r>
              <a:t>Which is larger: 384 or 373? Help: Compare the tens after the shared hundreds. Answer: 384.</a:t>
            </a:r>
          </a:p>
          <a:p xmlns:a="http://schemas.openxmlformats.org/drawingml/2006/main">
            <a:r>
              <a:t/>
            </a:r>
          </a:p>
          <a:p xmlns:a="http://schemas.openxmlformats.org/drawingml/2006/main">
            <a:r>
              <a:t>Which helps check online evidence: its author and date or only its colour? Help: Think about who made it and when. Answer: Its author and date.</a:t>
            </a:r>
          </a:p>
          <a:p xmlns:a="http://schemas.openxmlformats.org/drawingml/2006/main">
            <a:r>
              <a:t/>
            </a:r>
          </a:p>
          <a:p xmlns:a="http://schemas.openxmlformats.org/drawingml/2006/main">
            <a:r>
              <a:t>STANDARD</a:t>
            </a:r>
          </a:p>
          <a:p xmlns:a="http://schemas.openxmlformats.org/drawingml/2006/main">
            <a:r>
              <a:t/>
            </a:r>
          </a:p>
          <a:p xmlns:a="http://schemas.openxmlformats.org/drawingml/2006/main">
            <a:r>
              <a:t>Name one fossil fuel used for energy. Help: Coal is one example. Answer: Coal, oil or natural gas.</a:t>
            </a:r>
          </a:p>
          <a:p xmlns:a="http://schemas.openxmlformats.org/drawingml/2006/main">
            <a:r>
              <a:t/>
            </a:r>
          </a:p>
          <a:p xmlns:a="http://schemas.openxmlformats.org/drawingml/2006/main">
            <a:r>
              <a:t>Why record the date of an online dataset? Help: Figures may refer to earlier years or be revised. Answer: To know the time period and which release is being used.</a:t>
            </a:r>
          </a:p>
          <a:p xmlns:a="http://schemas.openxmlformats.org/drawingml/2006/main">
            <a:r>
              <a:t/>
            </a:r>
          </a:p>
          <a:p xmlns:a="http://schemas.openxmlformats.org/drawingml/2006/main">
            <a:r>
              <a:t>Find the difference between 384 and 373. Help: Subtract 373 from 384. Answer: 11.</a:t>
            </a:r>
          </a:p>
          <a:p xmlns:a="http://schemas.openxmlformats.org/drawingml/2006/main">
            <a:r>
              <a:t/>
            </a:r>
          </a:p>
          <a:p xmlns:a="http://schemas.openxmlformats.org/drawingml/2006/main">
            <a:r>
              <a:t>Does a UK figure automatically describe the whole world? Help: Compare a country with the globe. Answer: No; the geographical coverage differs.</a:t>
            </a:r>
          </a:p>
          <a:p xmlns:a="http://schemas.openxmlformats.org/drawingml/2006/main">
            <a:r>
              <a:t/>
            </a:r>
          </a:p>
          <a:p xmlns:a="http://schemas.openxmlformats.org/drawingml/2006/main">
            <a:r>
              <a:t>STRETCH</a:t>
            </a:r>
          </a:p>
          <a:p xmlns:a="http://schemas.openxmlformats.org/drawingml/2006/main">
            <a:r>
              <a:t/>
            </a:r>
          </a:p>
          <a:p xmlns:a="http://schemas.openxmlformats.org/drawingml/2006/main">
            <a:r>
              <a:t>How can burning a fossil fuel affect climate? Help: Connect combustion, greenhouse gases and warming. Answer: It releases greenhouse gases, including carbon dioxide, which contribute to warming.</a:t>
            </a:r>
          </a:p>
          <a:p xmlns:a="http://schemas.openxmlformats.org/drawingml/2006/main">
            <a:r>
              <a:t/>
            </a:r>
          </a:p>
          <a:p xmlns:a="http://schemas.openxmlformats.org/drawingml/2006/main">
            <a:r>
              <a:t>Name two checks before using a chart as evidence. Help: Consider author, date, units, scope and method. Answer: Any two of author, date, unit, geographical scope or method.</a:t>
            </a:r>
          </a:p>
          <a:p xmlns:a="http://schemas.openxmlformats.org/drawingml/2006/main">
            <a:r>
              <a:t/>
            </a:r>
          </a:p>
          <a:p xmlns:a="http://schemas.openxmlformats.org/drawingml/2006/main">
            <a:r>
              <a:t>A value falls from 384 to 373. Estimate the percentage fall. Help: Use 11 ÷ 384 × 100. Answer: About 2.9%, or 3% rounded.</a:t>
            </a:r>
          </a:p>
          <a:p xmlns:a="http://schemas.openxmlformats.org/drawingml/2006/main">
            <a:r>
              <a:t/>
            </a:r>
          </a:p>
          <a:p xmlns:a="http://schemas.openxmlformats.org/drawingml/2006/main">
            <a:r>
              <a:t>Why does a fall in annual emissions not prove climate change has stopped? Help: Consider emissions still occurring, accumulated gases and global scope. Answer: Annual emissions remain positive; greenhouse gases accumulate, and a UK series is not the global climate record.</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Starter: choose a source check.</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Identify what you would check before trusting an online chart.</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I Do: audit who, when, unit and scope.</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Watch how I audit the source and describe the figures.</a:t>
            </a:r>
          </a:p>
          <a:p xmlns:a="http://schemas.openxmlformats.org/drawingml/2006/main">
            <a:r>
              <a:t/>
            </a:r>
          </a:p>
          <a:p xmlns:a="http://schemas.openxmlformats.org/drawingml/2006/main">
            <a:r>
              <a:t>Timing 5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statement supported by the emissions dataset.</a:t>
            </a:r>
          </a:p>
          <a:p xmlns:a="http://schemas.openxmlformats.org/drawingml/2006/main">
            <a:r>
              <a:t/>
            </a:r>
          </a:p>
          <a:p xmlns:a="http://schemas.openxmlformats.org/drawingml/2006/main">
            <a:r>
              <a:t>Timing 5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Expected answer: 384 − 373 = 11 MtCO₂e. This is a UK emissions measure, not world emissions or temperature.</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I Do 2: connect fuel use to emissions and warming.</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Watch how I link resource use, emissions and warming without overclaiming.</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Repair an overclaim by adding a geographical limitation.</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Expected answer: Territorial means inside the UK. Overseas supply-chain emissions associated with imported goods are outside this measure.</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Independent: build a claim with two figures and a limitation.</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resource use and climate change using two figures and one limitation.</a:t>
            </a:r>
          </a:p>
          <a:p xmlns:a="http://schemas.openxmlformats.org/drawingml/2006/main">
            <a:r>
              <a:t/>
            </a:r>
          </a:p>
          <a:p xmlns:a="http://schemas.openxmlformats.org/drawingml/2006/main">
            <a:r>
              <a:t>Timing 10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Exit: separate a supported claim from a missing answer.</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one supported claim and one thing the dataset cannot tell us.</a:t>
            </a:r>
          </a:p>
          <a:p xmlns:a="http://schemas.openxmlformats.org/drawingml/2006/main">
            <a:r>
              <a:t/>
            </a:r>
          </a:p>
          <a:p xmlns:a="http://schemas.openxmlformats.org/drawingml/2006/main">
            <a:r>
              <a:t>Timing 4 minutes; one 40-minute session. Independent starts after 26 minutes.</a:t>
            </a:r>
          </a:p>
          <a:p xmlns:a="http://schemas.openxmlformats.org/drawingml/2006/main">
            <a:r>
              <a:t/>
            </a:r>
          </a:p>
          <a:p xmlns:a="http://schemas.openxmlformats.org/drawingml/2006/main">
            <a:r>
              <a:t>Use the embedded historical snapshot; pupils do not need live web access. Pre-teach MtCO₂e and territorial. Explain that the source uses rounded headline totals. Assess the pupil’s evidence and reasoning, never demand a personal political belief.</a:t>
            </a:r>
          </a:p>
          <a:p xmlns:a="http://schemas.openxmlformats.org/drawingml/2006/main">
            <a:r>
              <a:t/>
            </a:r>
          </a:p>
          <a:p xmlns:a="http://schemas.openxmlformats.org/drawingml/2006/main">
            <a:r>
              <a:t>A fall in emissions is not a fall of the same number of degrees. These are net annual UK territorial emissions, not atmospheric concentrations or the whole UK consumption footprint.</a:t>
            </a:r>
          </a:p>
          <a:p xmlns:a="http://schemas.openxmlformats.org/drawingml/2006/main">
            <a:r>
              <a:t/>
            </a:r>
          </a:p>
          <a:p xmlns:a="http://schemas.openxmlformats.org/drawingml/2006/main">
            <a:r>
              <a:t>supported: 373 MtCO₂e, rounded; the table cannot give world emissions, local air quality or a temperature change.</a:t>
            </a:r>
          </a:p>
          <a:p xmlns:a="http://schemas.openxmlformats.org/drawingml/2006/main">
            <a:r>
              <a:t/>
            </a:r>
          </a:p>
          <a:p xmlns:a="http://schemas.openxmlformats.org/drawingml/2006/main">
            <a:r>
              <a:t>standard: 384 to 373 MtCO₂e from 2023 to 2024; territorial UK data omit overseas emissions from imported goods.</a:t>
            </a:r>
          </a:p>
          <a:p xmlns:a="http://schemas.openxmlformats.org/drawingml/2006/main">
            <a:r>
              <a:t/>
            </a:r>
          </a:p>
          <a:p xmlns:a="http://schemas.openxmlformats.org/drawingml/2006/main">
            <a:r>
              <a:t>stretch: UK annual emissions still occur, gases accumulate, and the global climate is affected by emissions beyond the UK.</a:t>
            </a:r>
          </a:p>
          <a:p xmlns:a="http://schemas.openxmlformats.org/drawingml/2006/main">
            <a:r>
              <a:t/>
            </a:r>
          </a:p>
          <a:p xmlns:a="http://schemas.openxmlformats.org/drawingml/2006/main">
            <a:r>
              <a:t>EFL: 30-second clip, photo, or one-line context note. Central tags only. Listen / look before tagging (Audience).</a:t>
            </a:r>
          </a:p>
          <a:p xmlns:a="http://schemas.openxmlformats.org/drawingml/2006/main">
            <a:r>
              <a:t/>
            </a:r>
          </a:p>
          <a:p xmlns:a="http://schemas.openxmlformats.org/drawingml/2006/main">
            <a:r>
              <a:t>Space: allow time and a trusted adult. Voice: receive the stage-specific response in the pupil’s chosen mode. Audience: read it back exactly. Influence: Next lesson: evaluate responses to climate change.</a:t>
            </a:r>
          </a:p>
          <a:p xmlns:a="http://schemas.openxmlformats.org/drawingml/2006/main">
            <a:r>
              <a:t/>
            </a:r>
          </a:p>
          <a:p xmlns:a="http://schemas.openxmlformats.org/drawingml/2006/main">
            <a:r>
              <a:t>DESNZ, Final UK greenhouse gas emissions statistics: 1990 to 2024</a:t>
            </a:r>
          </a:p>
          <a:p xmlns:a="http://schemas.openxmlformats.org/drawingml/2006/main">
            <a:r>
              <a:t>https://www.gov.uk/government/statistics/final-uk-greenhouse-gas-emissions-statistics-1990-to-2024</a:t>
            </a:r>
          </a:p>
          <a:p xmlns:a="http://schemas.openxmlformats.org/drawingml/2006/main">
            <a:r>
              <a:t>Statistical release, 5 February 2026, pages 1, 3, 6 and 13. Rounded headline net territorial totals: 1990 790, 2023 384, 2024 373 MtCO₂e. 1990 = 373 + stated fall of 417. Crown copyright, Open Government Licence v3.0.</a:t>
            </a:r>
          </a:p>
          <a:p xmlns:a="http://schemas.openxmlformats.org/drawingml/2006/main">
            <a:r>
              <a:t/>
            </a:r>
          </a:p>
          <a:p xmlns:a="http://schemas.openxmlformats.org/drawingml/2006/main">
            <a:r>
              <a:t>Met Office, Causes of climate change</a:t>
            </a:r>
          </a:p>
          <a:p xmlns:a="http://schemas.openxmlformats.org/drawingml/2006/main">
            <a:r>
              <a:t>https://www.metoffice.gov.uk/weather/climate-change/causes-of-climate-change</a:t>
            </a:r>
          </a:p>
          <a:p xmlns:a="http://schemas.openxmlformats.org/drawingml/2006/main">
            <a:r>
              <a:t>Primary meteorological explanation of fossil-fuel use, greenhouse gases and warming.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acc66014c244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1c04e39b084c59" /><Relationship Type="http://schemas.openxmlformats.org/officeDocument/2006/relationships/slideLayout" Target="/ppt/slideLayouts/slideLayout1.xml" Id="R9b679f04e2b546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679f04e2b546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f49f7a542747cb" /><Relationship Type="http://schemas.openxmlformats.org/officeDocument/2006/relationships/notesSlide" Target="/ppt/notesSlides/notesSlide1.xml" Id="Rc8e8154a670341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b2f5f081e14160" /><Relationship Type="http://schemas.openxmlformats.org/officeDocument/2006/relationships/notesSlide" Target="/ppt/notesSlides/notesSlide2.xml" Id="R13d1543889f04a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84b4e7a5f24b77" /><Relationship Type="http://schemas.openxmlformats.org/officeDocument/2006/relationships/chart" Target="/ppt/slides/charts/chart1.xml" Id="R2084c54ed0054ffc" /><Relationship Type="http://schemas.openxmlformats.org/officeDocument/2006/relationships/notesSlide" Target="/ppt/notesSlides/notesSlide3.xml" Id="R1fc0132d0b7e46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a33001177b4570" /><Relationship Type="http://schemas.openxmlformats.org/officeDocument/2006/relationships/chart" Target="/ppt/slides/charts/chart2.xml" Id="R5fae81cbd6f24081" /><Relationship Type="http://schemas.openxmlformats.org/officeDocument/2006/relationships/notesSlide" Target="/ppt/notesSlides/notesSlide4.xml" Id="R924e502ff91d46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207d8c1c154c81" /><Relationship Type="http://schemas.openxmlformats.org/officeDocument/2006/relationships/chart" Target="/ppt/slides/charts/chart3.xml" Id="Rfb69b09715e9457a" /><Relationship Type="http://schemas.openxmlformats.org/officeDocument/2006/relationships/notesSlide" Target="/ppt/notesSlides/notesSlide5.xml" Id="Rb5305b90bf254f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46257490764006" /><Relationship Type="http://schemas.openxmlformats.org/officeDocument/2006/relationships/chart" Target="/ppt/slides/charts/chart4.xml" Id="Rb0d30ede192142c0" /><Relationship Type="http://schemas.openxmlformats.org/officeDocument/2006/relationships/notesSlide" Target="/ppt/notesSlides/notesSlide6.xml" Id="R69dc0980b7804e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1e9f02372e4fc9" /><Relationship Type="http://schemas.openxmlformats.org/officeDocument/2006/relationships/chart" Target="/ppt/slides/charts/chart5.xml" Id="R40989c33ee0c44eb" /><Relationship Type="http://schemas.openxmlformats.org/officeDocument/2006/relationships/notesSlide" Target="/ppt/notesSlides/notesSlide7.xml" Id="Rbcc36cc52c6a43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a7b72548ab44b9" /><Relationship Type="http://schemas.openxmlformats.org/officeDocument/2006/relationships/notesSlide" Target="/ppt/notesSlides/notesSlide8.xml" Id="R96f148a8b2554d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23c49a3cfc44d2" /><Relationship Type="http://schemas.openxmlformats.org/officeDocument/2006/relationships/notesSlide" Target="/ppt/notesSlides/notesSlide9.xml" Id="R930d608fc0dd4a5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Net UK territorial greenhouse gas emissions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MtCO₂e</c:v>
          </c:tx>
          <c:spPr>
            <a:solidFill xmlns:a="http://schemas.openxmlformats.org/drawingml/2006/main">
              <a:srgbClr val="7A5C9E"/>
            </a:solidFill>
          </c:spPr>
          <c:cat>
            <c:numRef>
              <c:f>'Chart Data'!$A$2:$A$4</c:f>
              <c:numCache>
                <c:formatCode>General</c:formatCode>
                <c:ptCount val="3"/>
                <c:pt idx="0">
                  <c:v>1990</c:v>
                </c:pt>
                <c:pt idx="1">
                  <c:v>2023</c:v>
                </c:pt>
                <c:pt idx="2">
                  <c:v>2024</c:v>
                </c:pt>
              </c:numCache>
            </c:numRef>
          </c:cat>
          <c:val>
            <c:numRef>
              <c:f>'Chart Data'!$B$2:$B$4</c:f>
              <c:numCache>
                <c:formatCode>General</c:formatCode>
                <c:ptCount val="3"/>
                <c:pt idx="0">
                  <c:v>790</c:v>
                </c:pt>
                <c:pt idx="1">
                  <c:v>384</c:v>
                </c:pt>
                <c:pt idx="2">
                  <c:v>373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Net UK territorial greenhouse gas emissions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MtCO₂e</c:v>
          </c:tx>
          <c:spPr>
            <a:solidFill xmlns:a="http://schemas.openxmlformats.org/drawingml/2006/main">
              <a:srgbClr val="7A5C9E"/>
            </a:solidFill>
          </c:spPr>
          <c:cat>
            <c:numRef>
              <c:f>'Chart Data'!$A$2:$A$4</c:f>
              <c:numCache>
                <c:formatCode>General</c:formatCode>
                <c:ptCount val="3"/>
                <c:pt idx="0">
                  <c:v>1990</c:v>
                </c:pt>
                <c:pt idx="1">
                  <c:v>2023</c:v>
                </c:pt>
                <c:pt idx="2">
                  <c:v>2024</c:v>
                </c:pt>
              </c:numCache>
            </c:numRef>
          </c:cat>
          <c:val>
            <c:numRef>
              <c:f>'Chart Data'!$B$2:$B$4</c:f>
              <c:numCache>
                <c:formatCode>General</c:formatCode>
                <c:ptCount val="3"/>
                <c:pt idx="0">
                  <c:v>790</c:v>
                </c:pt>
                <c:pt idx="1">
                  <c:v>384</c:v>
                </c:pt>
                <c:pt idx="2">
                  <c:v>373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Net UK territorial greenhouse gas emissions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MtCO₂e</c:v>
          </c:tx>
          <c:spPr>
            <a:solidFill xmlns:a="http://schemas.openxmlformats.org/drawingml/2006/main">
              <a:srgbClr val="7A5C9E"/>
            </a:solidFill>
          </c:spPr>
          <c:cat>
            <c:numRef>
              <c:f>'Chart Data'!$A$2:$A$4</c:f>
              <c:numCache>
                <c:formatCode>General</c:formatCode>
                <c:ptCount val="3"/>
                <c:pt idx="0">
                  <c:v>1990</c:v>
                </c:pt>
                <c:pt idx="1">
                  <c:v>2023</c:v>
                </c:pt>
                <c:pt idx="2">
                  <c:v>2024</c:v>
                </c:pt>
              </c:numCache>
            </c:numRef>
          </c:cat>
          <c:val>
            <c:numRef>
              <c:f>'Chart Data'!$B$2:$B$4</c:f>
              <c:numCache>
                <c:formatCode>General</c:formatCode>
                <c:ptCount val="3"/>
                <c:pt idx="0">
                  <c:v>790</c:v>
                </c:pt>
                <c:pt idx="1">
                  <c:v>384</c:v>
                </c:pt>
                <c:pt idx="2">
                  <c:v>373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Net UK territorial greenhouse gas emissions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MtCO₂e</c:v>
          </c:tx>
          <c:spPr>
            <a:solidFill xmlns:a="http://schemas.openxmlformats.org/drawingml/2006/main">
              <a:srgbClr val="7A5C9E"/>
            </a:solidFill>
          </c:spPr>
          <c:cat>
            <c:numRef>
              <c:f>'Chart Data'!$A$2:$A$4</c:f>
              <c:numCache>
                <c:formatCode>General</c:formatCode>
                <c:ptCount val="3"/>
                <c:pt idx="0">
                  <c:v>1990</c:v>
                </c:pt>
                <c:pt idx="1">
                  <c:v>2023</c:v>
                </c:pt>
                <c:pt idx="2">
                  <c:v>2024</c:v>
                </c:pt>
              </c:numCache>
            </c:numRef>
          </c:cat>
          <c:val>
            <c:numRef>
              <c:f>'Chart Data'!$B$2:$B$4</c:f>
              <c:numCache>
                <c:formatCode>General</c:formatCode>
                <c:ptCount val="3"/>
                <c:pt idx="0">
                  <c:v>790</c:v>
                </c:pt>
                <c:pt idx="1">
                  <c:v>384</c:v>
                </c:pt>
                <c:pt idx="2">
                  <c:v>373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Net UK territorial greenhouse gas emissions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MtCO₂e</c:v>
          </c:tx>
          <c:spPr>
            <a:solidFill xmlns:a="http://schemas.openxmlformats.org/drawingml/2006/main">
              <a:srgbClr val="7A5C9E"/>
            </a:solidFill>
          </c:spPr>
          <c:cat>
            <c:numRef>
              <c:f>'Chart Data'!$A$2:$A$4</c:f>
              <c:numCache>
                <c:formatCode>General</c:formatCode>
                <c:ptCount val="3"/>
                <c:pt idx="0">
                  <c:v>1990</c:v>
                </c:pt>
                <c:pt idx="1">
                  <c:v>2023</c:v>
                </c:pt>
                <c:pt idx="2">
                  <c:v>2024</c:v>
                </c:pt>
              </c:numCache>
            </c:numRef>
          </c:cat>
          <c:val>
            <c:numRef>
              <c:f>'Chart Data'!$B$2:$B$4</c:f>
              <c:numCache>
                <c:formatCode>General</c:formatCode>
                <c:ptCount val="3"/>
                <c:pt idx="0">
                  <c:v>790</c:v>
                </c:pt>
                <c:pt idx="1">
                  <c:v>384</c:v>
                </c:pt>
                <c:pt idx="2">
                  <c:v>373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DBDEB4-A63C-4E18-B868-2EAE3D24EC57}"/>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0 MIN</a:t>
            </a:r>
          </a:p>
        </p:txBody>
      </p:sp>
      <p:sp>
        <p:nvSpPr>
          <p:cNvPr id="2" name="">
            <a:extLst xmlns:a="http://schemas.openxmlformats.org/drawingml/2006/main">
              <a:ext uri="{FF2B5EF4-FFF2-40B4-BE49-F238E27FC236}">
                <a16:creationId xmlns:a16="http://schemas.microsoft.com/office/drawing/2014/main" id="{3265FAEB-2FC4-4A5C-BA5C-96BE67AAC125}"/>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F2937"/>
                </a:solidFill>
                <a:latin typeface="Arial"/>
                <a:ea typeface="Arial"/>
                <a:cs typeface="Arial"/>
              </a:defRPr>
            </a:pPr>
            <a:r>
              <a:rPr sz="3150" b="1">
                <a:solidFill>
                  <a:srgbClr val="1F2937"/>
                </a:solidFill>
                <a:latin typeface="Arial"/>
                <a:ea typeface="Arial"/>
                <a:cs typeface="Arial"/>
              </a:rPr>
              <a:t>Resource use and climate evidence</a:t>
            </a:r>
          </a:p>
        </p:txBody>
      </p:sp>
      <p:sp>
        <p:nvSpPr>
          <p:cNvPr id="3" name="">
            <a:extLst xmlns:a="http://schemas.openxmlformats.org/drawingml/2006/main">
              <a:ext uri="{FF2B5EF4-FFF2-40B4-BE49-F238E27FC236}">
                <a16:creationId xmlns:a16="http://schemas.microsoft.com/office/drawing/2014/main" id="{48F84109-C8DE-46D6-B0A8-D6DA27631E13}"/>
              </a:ext>
            </a:extLst>
          </p:cNvPr>
          <p:cNvSpPr>
            <a:spLocks xmlns:a="http://schemas.openxmlformats.org/drawingml/2006/main" noGrp="1"/>
          </p:cNvSpPr>
          <p:nvPr/>
        </p:nvSpPr>
        <p:spPr>
          <a:xfrm xmlns:a="http://schemas.openxmlformats.org/drawingml/2006/main">
            <a:off x="571500" y="18573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F2937"/>
                </a:solidFill>
                <a:latin typeface="Arial"/>
                <a:ea typeface="Arial"/>
                <a:cs typeface="Arial"/>
              </a:defRPr>
            </a:pPr>
            <a:r>
              <a:rPr sz="2325" b="1">
                <a:solidFill>
                  <a:srgbClr val="1F2937"/>
                </a:solidFill>
                <a:latin typeface="Arial"/>
                <a:ea typeface="Arial"/>
                <a:cs typeface="Arial"/>
              </a:rPr>
              <a:t>Explain resource use and climate change using online data.</a:t>
            </a:r>
          </a:p>
        </p:txBody>
      </p:sp>
      <p:sp>
        <p:nvSpPr>
          <p:cNvPr id="4" name="">
            <a:extLst xmlns:a="http://schemas.openxmlformats.org/drawingml/2006/main">
              <a:ext uri="{FF2B5EF4-FFF2-40B4-BE49-F238E27FC236}">
                <a16:creationId xmlns:a16="http://schemas.microsoft.com/office/drawing/2014/main" id="{E4FD5079-4C3E-4A61-BDA7-9E25BAEC412E}"/>
              </a:ext>
            </a:extLst>
          </p:cNvPr>
          <p:cNvSpPr>
            <a:spLocks xmlns:a="http://schemas.openxmlformats.org/drawingml/2006/main" noGrp="1"/>
          </p:cNvSpPr>
          <p:nvPr/>
        </p:nvSpPr>
        <p:spPr>
          <a:xfrm xmlns:a="http://schemas.openxmlformats.org/drawingml/2006/main">
            <a:off x="571500" y="2952750"/>
            <a:ext cx="714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F2937"/>
                </a:solidFill>
                <a:latin typeface="Arial"/>
                <a:ea typeface="Arial"/>
                <a:cs typeface="Arial"/>
              </a:defRPr>
            </a:pPr>
            <a:r>
              <a:rPr sz="2025" b="0">
                <a:solidFill>
                  <a:srgbClr val="1F2937"/>
                </a:solidFill>
                <a:latin typeface="Arial"/>
                <a:ea typeface="Arial"/>
                <a:cs typeface="Arial"/>
              </a:rPr>
              <a:t>• Identify the source, date, unit and geographical scope of a dataset.</a:t>
            </a:r>
          </a:p>
          <a:p xmlns:a="http://schemas.openxmlformats.org/drawingml/2006/main">
            <a:r>
              <a:t/>
            </a:r>
          </a:p>
          <a:p xmlns:a="http://schemas.openxmlformats.org/drawingml/2006/main">
            <a:pPr>
              <a:defRPr sz="2025" b="0">
                <a:solidFill>
                  <a:srgbClr val="1F2937"/>
                </a:solidFill>
                <a:latin typeface="Arial"/>
                <a:ea typeface="Arial"/>
                <a:cs typeface="Arial"/>
              </a:defRPr>
            </a:pPr>
            <a:r>
              <a:rPr sz="2025" b="0">
                <a:solidFill>
                  <a:srgbClr val="1F2937"/>
                </a:solidFill>
                <a:latin typeface="Arial"/>
                <a:ea typeface="Arial"/>
                <a:cs typeface="Arial"/>
              </a:rPr>
              <a:t>• Use two figures to describe an emissions pattern.</a:t>
            </a:r>
          </a:p>
          <a:p xmlns:a="http://schemas.openxmlformats.org/drawingml/2006/main">
            <a:r>
              <a:t/>
            </a:r>
          </a:p>
          <a:p xmlns:a="http://schemas.openxmlformats.org/drawingml/2006/main">
            <a:pPr>
              <a:defRPr sz="2025" b="0">
                <a:solidFill>
                  <a:srgbClr val="1F2937"/>
                </a:solidFill>
                <a:latin typeface="Arial"/>
                <a:ea typeface="Arial"/>
                <a:cs typeface="Arial"/>
              </a:defRPr>
            </a:pPr>
            <a:r>
              <a:rPr sz="2025" b="0">
                <a:solidFill>
                  <a:srgbClr val="1F2937"/>
                </a:solidFill>
                <a:latin typeface="Arial"/>
                <a:ea typeface="Arial"/>
                <a:cs typeface="Arial"/>
              </a:rPr>
              <a:t>• Link resource use to climate change and state one limitation.</a:t>
            </a:r>
          </a:p>
        </p:txBody>
      </p:sp>
      <p:sp>
        <p:nvSpPr>
          <p:cNvPr id="5" name="">
            <a:extLst xmlns:a="http://schemas.openxmlformats.org/drawingml/2006/main">
              <a:ext uri="{FF2B5EF4-FFF2-40B4-BE49-F238E27FC236}">
                <a16:creationId xmlns:a16="http://schemas.microsoft.com/office/drawing/2014/main" id="{B8ED09D3-2445-4DEF-A343-7D0880475007}"/>
              </a:ext>
            </a:extLst>
          </p:cNvPr>
          <p:cNvSpPr>
            <a:spLocks xmlns:a="http://schemas.openxmlformats.org/drawingml/2006/main" noGrp="1"/>
          </p:cNvSpPr>
          <p:nvPr/>
        </p:nvSpPr>
        <p:spPr>
          <a:xfrm xmlns:a="http://schemas.openxmlformats.org/drawingml/2006/main">
            <a:off x="8286750" y="2952750"/>
            <a:ext cx="31908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A5C9E"/>
                </a:solidFill>
                <a:latin typeface="Arial"/>
                <a:ea typeface="Arial"/>
                <a:cs typeface="Arial"/>
              </a:defRPr>
            </a:pPr>
            <a:r>
              <a:rPr sz="1800" b="0">
                <a:solidFill>
                  <a:srgbClr val="7A5C9E"/>
                </a:solidFill>
                <a:latin typeface="Arial"/>
                <a:ea typeface="Arial"/>
                <a:cs typeface="Arial"/>
              </a:rPr>
              <a:t>World of work</a:t>
            </a:r>
          </a:p>
          <a:p xmlns:a="http://schemas.openxmlformats.org/drawingml/2006/main">
            <a:r>
              <a:t/>
            </a:r>
          </a:p>
          <a:p xmlns:a="http://schemas.openxmlformats.org/drawingml/2006/main">
            <a:pPr>
              <a:defRPr sz="1800" b="0">
                <a:solidFill>
                  <a:srgbClr val="7A5C9E"/>
                </a:solidFill>
                <a:latin typeface="Arial"/>
                <a:ea typeface="Arial"/>
                <a:cs typeface="Arial"/>
              </a:defRPr>
            </a:pPr>
            <a:r>
              <a:rPr sz="1800" b="0">
                <a:solidFill>
                  <a:srgbClr val="7A5C9E"/>
                </a:solidFill>
                <a:latin typeface="Arial"/>
                <a:ea typeface="Arial"/>
                <a:cs typeface="Arial"/>
              </a:rPr>
              <a:t>A sustainability analyst checks data provenance before advising a council. Use a figure, a geographical boundary and a limitation to make your advice trustworthy.</a:t>
            </a:r>
          </a:p>
        </p:txBody>
      </p:sp>
      <p:sp>
        <p:nvSpPr>
          <p:cNvPr id="6" name="">
            <a:extLst xmlns:a="http://schemas.openxmlformats.org/drawingml/2006/main">
              <a:ext uri="{FF2B5EF4-FFF2-40B4-BE49-F238E27FC236}">
                <a16:creationId xmlns:a16="http://schemas.microsoft.com/office/drawing/2014/main" id="{540BEC19-63DD-4937-B505-BD0490446B49}"/>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7" name="">
            <a:extLst xmlns:a="http://schemas.openxmlformats.org/drawingml/2006/main">
              <a:ext uri="{FF2B5EF4-FFF2-40B4-BE49-F238E27FC236}">
                <a16:creationId xmlns:a16="http://schemas.microsoft.com/office/drawing/2014/main" id="{7F6651B5-ACC7-4865-A985-2A0A6AE29290}"/>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1 / 9</a:t>
            </a:r>
          </a:p>
        </p:txBody>
      </p:sp>
    </p:spTree>
    <p:extLst>
      <p:ext uri="{BB962C8B-B14F-4D97-AF65-F5344CB8AC3E}">
        <p14:creationId xmlns:p14="http://schemas.microsoft.com/office/powerpoint/2010/main" val="14783990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44667AA-B74B-4956-83C4-786788EB1B16}"/>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4 MIN</a:t>
            </a:r>
          </a:p>
        </p:txBody>
      </p:sp>
      <p:sp>
        <p:nvSpPr>
          <p:cNvPr id="2" name="">
            <a:extLst xmlns:a="http://schemas.openxmlformats.org/drawingml/2006/main">
              <a:ext uri="{FF2B5EF4-FFF2-40B4-BE49-F238E27FC236}">
                <a16:creationId xmlns:a16="http://schemas.microsoft.com/office/drawing/2014/main" id="{B96ADDCA-74C8-4DBB-90C2-95DA30855505}"/>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Arrival</a:t>
            </a:r>
          </a:p>
        </p:txBody>
      </p:sp>
      <p:sp>
        <p:nvSpPr>
          <p:cNvPr id="3" name="">
            <a:extLst xmlns:a="http://schemas.openxmlformats.org/drawingml/2006/main">
              <a:ext uri="{FF2B5EF4-FFF2-40B4-BE49-F238E27FC236}">
                <a16:creationId xmlns:a16="http://schemas.microsoft.com/office/drawing/2014/main" id="{EC8EDF5E-A95A-4272-BDAC-BC387C5C6B81}"/>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Choose one route and answer four retrieval questions.</a:t>
            </a:r>
          </a:p>
        </p:txBody>
      </p:sp>
      <p:sp>
        <p:nvSpPr>
          <p:cNvPr id="4" name="">
            <a:extLst xmlns:a="http://schemas.openxmlformats.org/drawingml/2006/main">
              <a:ext uri="{FF2B5EF4-FFF2-40B4-BE49-F238E27FC236}">
                <a16:creationId xmlns:a16="http://schemas.microsoft.com/office/drawing/2014/main" id="{5AD1E0A9-3504-4802-84A4-636A37556FD0}"/>
              </a:ext>
            </a:extLst>
          </p:cNvPr>
          <p:cNvSpPr>
            <a:spLocks xmlns:a="http://schemas.openxmlformats.org/drawingml/2006/main" noGrp="1"/>
          </p:cNvSpPr>
          <p:nvPr/>
        </p:nvSpPr>
        <p:spPr>
          <a:xfrm xmlns:a="http://schemas.openxmlformats.org/drawingml/2006/main">
            <a:off x="571500" y="23622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76AB65C7-8703-43DB-BBE2-33A85674FAA6}"/>
              </a:ext>
            </a:extLst>
          </p:cNvPr>
          <p:cNvSpPr>
            <a:spLocks xmlns:a="http://schemas.openxmlformats.org/drawingml/2006/main" noGrp="1"/>
          </p:cNvSpPr>
          <p:nvPr/>
        </p:nvSpPr>
        <p:spPr>
          <a:xfrm xmlns:a="http://schemas.openxmlformats.org/drawingml/2006/main">
            <a:off x="571500" y="2800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1. Which is a fuel resource: coal or a chart title?</a:t>
            </a:r>
          </a:p>
        </p:txBody>
      </p:sp>
      <p:sp>
        <p:nvSpPr>
          <p:cNvPr id="6" name="">
            <a:extLst xmlns:a="http://schemas.openxmlformats.org/drawingml/2006/main">
              <a:ext uri="{FF2B5EF4-FFF2-40B4-BE49-F238E27FC236}">
                <a16:creationId xmlns:a16="http://schemas.microsoft.com/office/drawing/2014/main" id="{46B9733A-49F5-409A-8F93-9F33E6FABA57}"/>
              </a:ext>
            </a:extLst>
          </p:cNvPr>
          <p:cNvSpPr>
            <a:spLocks xmlns:a="http://schemas.openxmlformats.org/drawingml/2006/main" noGrp="1"/>
          </p:cNvSpPr>
          <p:nvPr/>
        </p:nvSpPr>
        <p:spPr>
          <a:xfrm xmlns:a="http://schemas.openxmlformats.org/drawingml/2006/main">
            <a:off x="571500" y="35337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2. Does emissions mean gases released or distances travelled?</a:t>
            </a:r>
          </a:p>
        </p:txBody>
      </p:sp>
      <p:sp>
        <p:nvSpPr>
          <p:cNvPr id="7" name="">
            <a:extLst xmlns:a="http://schemas.openxmlformats.org/drawingml/2006/main">
              <a:ext uri="{FF2B5EF4-FFF2-40B4-BE49-F238E27FC236}">
                <a16:creationId xmlns:a16="http://schemas.microsoft.com/office/drawing/2014/main" id="{CF8759AE-A01B-4BF7-AE22-785D31B5DB65}"/>
              </a:ext>
            </a:extLst>
          </p:cNvPr>
          <p:cNvSpPr>
            <a:spLocks xmlns:a="http://schemas.openxmlformats.org/drawingml/2006/main" noGrp="1"/>
          </p:cNvSpPr>
          <p:nvPr/>
        </p:nvSpPr>
        <p:spPr>
          <a:xfrm xmlns:a="http://schemas.openxmlformats.org/drawingml/2006/main">
            <a:off x="571500" y="4267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3. Which is larger: 384 or 373?</a:t>
            </a:r>
          </a:p>
        </p:txBody>
      </p:sp>
      <p:sp>
        <p:nvSpPr>
          <p:cNvPr id="8" name="">
            <a:extLst xmlns:a="http://schemas.openxmlformats.org/drawingml/2006/main">
              <a:ext uri="{FF2B5EF4-FFF2-40B4-BE49-F238E27FC236}">
                <a16:creationId xmlns:a16="http://schemas.microsoft.com/office/drawing/2014/main" id="{62B6F0E0-CFBA-4C73-9275-B93002155997}"/>
              </a:ext>
            </a:extLst>
          </p:cNvPr>
          <p:cNvSpPr>
            <a:spLocks xmlns:a="http://schemas.openxmlformats.org/drawingml/2006/main" noGrp="1"/>
          </p:cNvSpPr>
          <p:nvPr/>
        </p:nvSpPr>
        <p:spPr>
          <a:xfrm xmlns:a="http://schemas.openxmlformats.org/drawingml/2006/main">
            <a:off x="571500" y="5000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4. Which helps check online evidence: its author and date or only its colour?</a:t>
            </a:r>
          </a:p>
        </p:txBody>
      </p:sp>
      <p:sp>
        <p:nvSpPr>
          <p:cNvPr id="9" name="">
            <a:extLst xmlns:a="http://schemas.openxmlformats.org/drawingml/2006/main">
              <a:ext uri="{FF2B5EF4-FFF2-40B4-BE49-F238E27FC236}">
                <a16:creationId xmlns:a16="http://schemas.microsoft.com/office/drawing/2014/main" id="{3E5A6AA6-4971-41E0-AD71-329E0F66ADC8}"/>
              </a:ext>
            </a:extLst>
          </p:cNvPr>
          <p:cNvSpPr>
            <a:spLocks xmlns:a="http://schemas.openxmlformats.org/drawingml/2006/main" noGrp="1"/>
          </p:cNvSpPr>
          <p:nvPr/>
        </p:nvSpPr>
        <p:spPr>
          <a:xfrm xmlns:a="http://schemas.openxmlformats.org/drawingml/2006/main">
            <a:off x="4381500" y="23622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STANDARD</a:t>
            </a:r>
          </a:p>
        </p:txBody>
      </p:sp>
      <p:sp>
        <p:nvSpPr>
          <p:cNvPr id="10" name="">
            <a:extLst xmlns:a="http://schemas.openxmlformats.org/drawingml/2006/main">
              <a:ext uri="{FF2B5EF4-FFF2-40B4-BE49-F238E27FC236}">
                <a16:creationId xmlns:a16="http://schemas.microsoft.com/office/drawing/2014/main" id="{BA6AEA52-498D-44B4-AC5C-238297C52998}"/>
              </a:ext>
            </a:extLst>
          </p:cNvPr>
          <p:cNvSpPr>
            <a:spLocks xmlns:a="http://schemas.openxmlformats.org/drawingml/2006/main" noGrp="1"/>
          </p:cNvSpPr>
          <p:nvPr/>
        </p:nvSpPr>
        <p:spPr>
          <a:xfrm xmlns:a="http://schemas.openxmlformats.org/drawingml/2006/main">
            <a:off x="4381500" y="2800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1. Name one fossil fuel used for energy.</a:t>
            </a:r>
          </a:p>
        </p:txBody>
      </p:sp>
      <p:sp>
        <p:nvSpPr>
          <p:cNvPr id="11" name="">
            <a:extLst xmlns:a="http://schemas.openxmlformats.org/drawingml/2006/main">
              <a:ext uri="{FF2B5EF4-FFF2-40B4-BE49-F238E27FC236}">
                <a16:creationId xmlns:a16="http://schemas.microsoft.com/office/drawing/2014/main" id="{0EC9B674-AADC-4900-8F2A-4CC0C107F96F}"/>
              </a:ext>
            </a:extLst>
          </p:cNvPr>
          <p:cNvSpPr>
            <a:spLocks xmlns:a="http://schemas.openxmlformats.org/drawingml/2006/main" noGrp="1"/>
          </p:cNvSpPr>
          <p:nvPr/>
        </p:nvSpPr>
        <p:spPr>
          <a:xfrm xmlns:a="http://schemas.openxmlformats.org/drawingml/2006/main">
            <a:off x="4381500" y="35337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2. Why record the date of an online dataset?</a:t>
            </a:r>
          </a:p>
        </p:txBody>
      </p:sp>
      <p:sp>
        <p:nvSpPr>
          <p:cNvPr id="12" name="">
            <a:extLst xmlns:a="http://schemas.openxmlformats.org/drawingml/2006/main">
              <a:ext uri="{FF2B5EF4-FFF2-40B4-BE49-F238E27FC236}">
                <a16:creationId xmlns:a16="http://schemas.microsoft.com/office/drawing/2014/main" id="{77B209F3-3228-4CD5-9D4D-A73DF7A9C7A9}"/>
              </a:ext>
            </a:extLst>
          </p:cNvPr>
          <p:cNvSpPr>
            <a:spLocks xmlns:a="http://schemas.openxmlformats.org/drawingml/2006/main" noGrp="1"/>
          </p:cNvSpPr>
          <p:nvPr/>
        </p:nvSpPr>
        <p:spPr>
          <a:xfrm xmlns:a="http://schemas.openxmlformats.org/drawingml/2006/main">
            <a:off x="4381500" y="4267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3. Find the difference between 384 and 373.</a:t>
            </a:r>
          </a:p>
        </p:txBody>
      </p:sp>
      <p:sp>
        <p:nvSpPr>
          <p:cNvPr id="13" name="">
            <a:extLst xmlns:a="http://schemas.openxmlformats.org/drawingml/2006/main">
              <a:ext uri="{FF2B5EF4-FFF2-40B4-BE49-F238E27FC236}">
                <a16:creationId xmlns:a16="http://schemas.microsoft.com/office/drawing/2014/main" id="{200708AC-4AC2-4A3D-A891-2BBF99C50F7E}"/>
              </a:ext>
            </a:extLst>
          </p:cNvPr>
          <p:cNvSpPr>
            <a:spLocks xmlns:a="http://schemas.openxmlformats.org/drawingml/2006/main" noGrp="1"/>
          </p:cNvSpPr>
          <p:nvPr/>
        </p:nvSpPr>
        <p:spPr>
          <a:xfrm xmlns:a="http://schemas.openxmlformats.org/drawingml/2006/main">
            <a:off x="4381500" y="5000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4. Does a UK figure automatically describe the whole world?</a:t>
            </a:r>
          </a:p>
        </p:txBody>
      </p:sp>
      <p:sp>
        <p:nvSpPr>
          <p:cNvPr id="14" name="">
            <a:extLst xmlns:a="http://schemas.openxmlformats.org/drawingml/2006/main">
              <a:ext uri="{FF2B5EF4-FFF2-40B4-BE49-F238E27FC236}">
                <a16:creationId xmlns:a16="http://schemas.microsoft.com/office/drawing/2014/main" id="{AFFB5335-D785-4D2F-BA70-A7BB7AD33D70}"/>
              </a:ext>
            </a:extLst>
          </p:cNvPr>
          <p:cNvSpPr>
            <a:spLocks xmlns:a="http://schemas.openxmlformats.org/drawingml/2006/main" noGrp="1"/>
          </p:cNvSpPr>
          <p:nvPr/>
        </p:nvSpPr>
        <p:spPr>
          <a:xfrm xmlns:a="http://schemas.openxmlformats.org/drawingml/2006/main">
            <a:off x="8191500" y="23622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STRETCH</a:t>
            </a:r>
          </a:p>
        </p:txBody>
      </p:sp>
      <p:sp>
        <p:nvSpPr>
          <p:cNvPr id="15" name="">
            <a:extLst xmlns:a="http://schemas.openxmlformats.org/drawingml/2006/main">
              <a:ext uri="{FF2B5EF4-FFF2-40B4-BE49-F238E27FC236}">
                <a16:creationId xmlns:a16="http://schemas.microsoft.com/office/drawing/2014/main" id="{F628E74F-66B6-431E-808A-C5C97995CB6A}"/>
              </a:ext>
            </a:extLst>
          </p:cNvPr>
          <p:cNvSpPr>
            <a:spLocks xmlns:a="http://schemas.openxmlformats.org/drawingml/2006/main" noGrp="1"/>
          </p:cNvSpPr>
          <p:nvPr/>
        </p:nvSpPr>
        <p:spPr>
          <a:xfrm xmlns:a="http://schemas.openxmlformats.org/drawingml/2006/main">
            <a:off x="8191500" y="2800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1. How can burning a fossil fuel affect climate?</a:t>
            </a:r>
          </a:p>
        </p:txBody>
      </p:sp>
      <p:sp>
        <p:nvSpPr>
          <p:cNvPr id="16" name="">
            <a:extLst xmlns:a="http://schemas.openxmlformats.org/drawingml/2006/main">
              <a:ext uri="{FF2B5EF4-FFF2-40B4-BE49-F238E27FC236}">
                <a16:creationId xmlns:a16="http://schemas.microsoft.com/office/drawing/2014/main" id="{746FBA9E-EA26-431F-96D3-809C65197D53}"/>
              </a:ext>
            </a:extLst>
          </p:cNvPr>
          <p:cNvSpPr>
            <a:spLocks xmlns:a="http://schemas.openxmlformats.org/drawingml/2006/main" noGrp="1"/>
          </p:cNvSpPr>
          <p:nvPr/>
        </p:nvSpPr>
        <p:spPr>
          <a:xfrm xmlns:a="http://schemas.openxmlformats.org/drawingml/2006/main">
            <a:off x="8191500" y="35337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2. Name two checks before using a chart as evidence.</a:t>
            </a:r>
          </a:p>
        </p:txBody>
      </p:sp>
      <p:sp>
        <p:nvSpPr>
          <p:cNvPr id="17" name="">
            <a:extLst xmlns:a="http://schemas.openxmlformats.org/drawingml/2006/main">
              <a:ext uri="{FF2B5EF4-FFF2-40B4-BE49-F238E27FC236}">
                <a16:creationId xmlns:a16="http://schemas.microsoft.com/office/drawing/2014/main" id="{0CBD89D3-1E91-4D7F-83BF-6391D9F4436C}"/>
              </a:ext>
            </a:extLst>
          </p:cNvPr>
          <p:cNvSpPr>
            <a:spLocks xmlns:a="http://schemas.openxmlformats.org/drawingml/2006/main" noGrp="1"/>
          </p:cNvSpPr>
          <p:nvPr/>
        </p:nvSpPr>
        <p:spPr>
          <a:xfrm xmlns:a="http://schemas.openxmlformats.org/drawingml/2006/main">
            <a:off x="8191500" y="4267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3. A value falls from 384 to 373. Estimate the percentage fall.</a:t>
            </a:r>
          </a:p>
        </p:txBody>
      </p:sp>
      <p:sp>
        <p:nvSpPr>
          <p:cNvPr id="18" name="">
            <a:extLst xmlns:a="http://schemas.openxmlformats.org/drawingml/2006/main">
              <a:ext uri="{FF2B5EF4-FFF2-40B4-BE49-F238E27FC236}">
                <a16:creationId xmlns:a16="http://schemas.microsoft.com/office/drawing/2014/main" id="{3638ADB7-DE35-44E3-9C44-295AC0D9DADA}"/>
              </a:ext>
            </a:extLst>
          </p:cNvPr>
          <p:cNvSpPr>
            <a:spLocks xmlns:a="http://schemas.openxmlformats.org/drawingml/2006/main" noGrp="1"/>
          </p:cNvSpPr>
          <p:nvPr/>
        </p:nvSpPr>
        <p:spPr>
          <a:xfrm xmlns:a="http://schemas.openxmlformats.org/drawingml/2006/main">
            <a:off x="8191500" y="5000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4. Why does a fall in annual emissions not prove climate change has stopped?</a:t>
            </a:r>
          </a:p>
        </p:txBody>
      </p:sp>
      <p:sp>
        <p:nvSpPr>
          <p:cNvPr id="19" name="">
            <a:extLst xmlns:a="http://schemas.openxmlformats.org/drawingml/2006/main">
              <a:ext uri="{FF2B5EF4-FFF2-40B4-BE49-F238E27FC236}">
                <a16:creationId xmlns:a16="http://schemas.microsoft.com/office/drawing/2014/main" id="{5FDFD5A2-4517-4CCD-AEAA-E0702309336E}"/>
              </a:ext>
            </a:extLst>
          </p:cNvPr>
          <p:cNvSpPr>
            <a:spLocks xmlns:a="http://schemas.openxmlformats.org/drawingml/2006/main" noGrp="1"/>
          </p:cNvSpPr>
          <p:nvPr/>
        </p:nvSpPr>
        <p:spPr>
          <a:xfrm xmlns:a="http://schemas.openxmlformats.org/drawingml/2006/main">
            <a:off x="571500" y="59436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937"/>
                </a:solidFill>
                <a:latin typeface="Arial"/>
                <a:ea typeface="Arial"/>
                <a:cs typeface="Arial"/>
              </a:defRPr>
            </a:pPr>
            <a:r>
              <a:rPr sz="1575" b="0">
                <a:solidFill>
                  <a:srgbClr val="1F2937"/>
                </a:solidFill>
                <a:latin typeface="Arial"/>
                <a:ea typeface="Arial"/>
                <a:cs typeface="Arial"/>
              </a:rPr>
              <a:t>Choose one route. Point, speak, sign, draw, write or direct an adult.</a:t>
            </a:r>
          </a:p>
        </p:txBody>
      </p:sp>
      <p:sp>
        <p:nvSpPr>
          <p:cNvPr id="20" name="">
            <a:extLst xmlns:a="http://schemas.openxmlformats.org/drawingml/2006/main">
              <a:ext uri="{FF2B5EF4-FFF2-40B4-BE49-F238E27FC236}">
                <a16:creationId xmlns:a16="http://schemas.microsoft.com/office/drawing/2014/main" id="{1AEC2498-E0DD-41A2-B06D-A622A614443D}"/>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21" name="">
            <a:extLst xmlns:a="http://schemas.openxmlformats.org/drawingml/2006/main">
              <a:ext uri="{FF2B5EF4-FFF2-40B4-BE49-F238E27FC236}">
                <a16:creationId xmlns:a16="http://schemas.microsoft.com/office/drawing/2014/main" id="{4B2D1041-9F7F-4D06-A5CA-DD0626596114}"/>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2 / 9</a:t>
            </a:r>
          </a:p>
        </p:txBody>
      </p:sp>
    </p:spTree>
    <p:extLst>
      <p:ext uri="{BB962C8B-B14F-4D97-AF65-F5344CB8AC3E}">
        <p14:creationId xmlns:p14="http://schemas.microsoft.com/office/powerpoint/2010/main" val="5207867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723AB2-CF4C-4FDF-9AB3-675C54B7ACE4}"/>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4 MIN</a:t>
            </a:r>
          </a:p>
        </p:txBody>
      </p:sp>
      <p:sp>
        <p:nvSpPr>
          <p:cNvPr id="2" name="">
            <a:extLst xmlns:a="http://schemas.openxmlformats.org/drawingml/2006/main">
              <a:ext uri="{FF2B5EF4-FFF2-40B4-BE49-F238E27FC236}">
                <a16:creationId xmlns:a16="http://schemas.microsoft.com/office/drawing/2014/main" id="{201744F7-D58C-49C2-AE8C-BB0C661A2B0C}"/>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Starter</a:t>
            </a:r>
          </a:p>
        </p:txBody>
      </p:sp>
      <p:sp>
        <p:nvSpPr>
          <p:cNvPr id="3" name="">
            <a:extLst xmlns:a="http://schemas.openxmlformats.org/drawingml/2006/main">
              <a:ext uri="{FF2B5EF4-FFF2-40B4-BE49-F238E27FC236}">
                <a16:creationId xmlns:a16="http://schemas.microsoft.com/office/drawing/2014/main" id="{753AEB9B-DACB-45AA-B348-7CA366A79641}"/>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Identify what you would check before trusting an online chart.</a:t>
            </a:r>
          </a:p>
        </p:txBody>
      </p:sp>
      <p:graphicFrame>
        <p:nvGraphicFramePr>
          <p:cNvPr id="11" name="Chart"/>
          <p:cNvGraphicFramePr/>
          <p:nvPr/>
        </p:nvGraphicFramePr>
        <p:xfrm>
          <a:off xmlns:a="http://schemas.openxmlformats.org/drawingml/2006/main" x="571500" y="2457450"/>
          <a:ext xmlns:a="http://schemas.openxmlformats.org/drawingml/2006/main" cx="6381750" cy="3048000"/>
        </p:xfrm>
        <a:graphic xmlns:a="http://schemas.openxmlformats.org/drawingml/2006/main">
          <a:graphicData uri="http://schemas.openxmlformats.org/drawingml/2006/chart">
            <c:chart xmlns:r="http://schemas.openxmlformats.org/officeDocument/2006/relationships" xmlns:c="http://schemas.openxmlformats.org/drawingml/2006/chart" r:id="R2084c54ed0054ffc"/>
          </a:graphicData>
        </a:graphic>
      </p:graphicFrame>
      <p:sp>
        <p:nvSpPr>
          <p:cNvPr id="5" name="">
            <a:extLst xmlns:a="http://schemas.openxmlformats.org/drawingml/2006/main">
              <a:ext uri="{FF2B5EF4-FFF2-40B4-BE49-F238E27FC236}">
                <a16:creationId xmlns:a16="http://schemas.microsoft.com/office/drawing/2014/main" id="{39CB7524-5C01-4B15-A4F5-708E6B86B6CA}"/>
              </a:ext>
            </a:extLst>
          </p:cNvPr>
          <p:cNvSpPr>
            <a:spLocks xmlns:a="http://schemas.openxmlformats.org/drawingml/2006/main" noGrp="1"/>
          </p:cNvSpPr>
          <p:nvPr/>
        </p:nvSpPr>
        <p:spPr>
          <a:xfrm xmlns:a="http://schemas.openxmlformats.org/drawingml/2006/main">
            <a:off x="7429500" y="2381250"/>
            <a:ext cx="4000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Words before work</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resource — something people use to meet a need</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evidence — information used to support a claim</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territorial — occurring within a defined territory; here, the UK</a:t>
            </a:r>
          </a:p>
          <a:p xmlns:a="http://schemas.openxmlformats.org/drawingml/2006/main">
            <a:r>
              <a:t/>
            </a:r>
          </a:p>
          <a:p xmlns:a="http://schemas.openxmlformats.org/drawingml/2006/main">
            <a:pPr>
              <a:defRPr sz="1725" b="0">
                <a:solidFill>
                  <a:srgbClr val="1F2937"/>
                </a:solidFill>
                <a:latin typeface="Arial"/>
                <a:ea typeface="Arial"/>
                <a:cs typeface="Arial"/>
              </a:defRPr>
            </a:pPr>
            <a:r>
              <a:rPr sz="1725" b="0">
                <a:solidFill>
                  <a:srgbClr val="1F2937"/>
                </a:solidFill>
                <a:latin typeface="Arial"/>
                <a:ea typeface="Arial"/>
                <a:cs typeface="Arial"/>
              </a:rPr>
              <a:t>emissions — gases released into the atmosphere</a:t>
            </a:r>
          </a:p>
        </p:txBody>
      </p:sp>
      <p:sp>
        <p:nvSpPr>
          <p:cNvPr id="6" name="">
            <a:extLst xmlns:a="http://schemas.openxmlformats.org/drawingml/2006/main">
              <a:ext uri="{FF2B5EF4-FFF2-40B4-BE49-F238E27FC236}">
                <a16:creationId xmlns:a16="http://schemas.microsoft.com/office/drawing/2014/main" id="{9607CC07-D9F5-4FA4-A3F2-976FB021F5B3}"/>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7" name="">
            <a:extLst xmlns:a="http://schemas.openxmlformats.org/drawingml/2006/main">
              <a:ext uri="{FF2B5EF4-FFF2-40B4-BE49-F238E27FC236}">
                <a16:creationId xmlns:a16="http://schemas.microsoft.com/office/drawing/2014/main" id="{AF12948B-0DD7-4E76-9753-F85D431041F3}"/>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3 / 9</a:t>
            </a:r>
          </a:p>
        </p:txBody>
      </p:sp>
    </p:spTree>
    <p:extLst>
      <p:ext uri="{BB962C8B-B14F-4D97-AF65-F5344CB8AC3E}">
        <p14:creationId xmlns:p14="http://schemas.microsoft.com/office/powerpoint/2010/main" val="2132409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75CEEB-68DF-44B9-861B-17E72F5F4DDD}"/>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5 MIN</a:t>
            </a:r>
          </a:p>
        </p:txBody>
      </p:sp>
      <p:sp>
        <p:nvSpPr>
          <p:cNvPr id="2" name="">
            <a:extLst xmlns:a="http://schemas.openxmlformats.org/drawingml/2006/main">
              <a:ext uri="{FF2B5EF4-FFF2-40B4-BE49-F238E27FC236}">
                <a16:creationId xmlns:a16="http://schemas.microsoft.com/office/drawing/2014/main" id="{DD968DAF-D076-4C83-8E68-D0E2FAB1FD48}"/>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I Do</a:t>
            </a:r>
          </a:p>
        </p:txBody>
      </p:sp>
      <p:sp>
        <p:nvSpPr>
          <p:cNvPr id="3" name="">
            <a:extLst xmlns:a="http://schemas.openxmlformats.org/drawingml/2006/main">
              <a:ext uri="{FF2B5EF4-FFF2-40B4-BE49-F238E27FC236}">
                <a16:creationId xmlns:a16="http://schemas.microsoft.com/office/drawing/2014/main" id="{045CA8AA-63A3-4F78-967E-A5A62163B793}"/>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Watch how I audit the source and describe the figures.</a:t>
            </a:r>
          </a:p>
        </p:txBody>
      </p:sp>
      <p:graphicFrame>
        <p:nvGraphicFramePr>
          <p:cNvPr id="11" name="Chart"/>
          <p:cNvGraphicFramePr/>
          <p:nvPr/>
        </p:nvGraphicFramePr>
        <p:xfrm>
          <a:off xmlns:a="http://schemas.openxmlformats.org/drawingml/2006/main" x="571500" y="2428875"/>
          <a:ext xmlns:a="http://schemas.openxmlformats.org/drawingml/2006/main" cx="6096000" cy="3190875"/>
        </p:xfrm>
        <a:graphic xmlns:a="http://schemas.openxmlformats.org/drawingml/2006/main">
          <a:graphicData uri="http://schemas.openxmlformats.org/drawingml/2006/chart">
            <c:chart xmlns:r="http://schemas.openxmlformats.org/officeDocument/2006/relationships" xmlns:c="http://schemas.openxmlformats.org/drawingml/2006/chart" r:id="R5fae81cbd6f24081"/>
          </a:graphicData>
        </a:graphic>
      </p:graphicFrame>
      <p:sp>
        <p:nvSpPr>
          <p:cNvPr id="5" name="">
            <a:extLst xmlns:a="http://schemas.openxmlformats.org/drawingml/2006/main">
              <a:ext uri="{FF2B5EF4-FFF2-40B4-BE49-F238E27FC236}">
                <a16:creationId xmlns:a16="http://schemas.microsoft.com/office/drawing/2014/main" id="{36C90BB3-CE38-4A2F-AD55-B0C8595D8652}"/>
              </a:ext>
            </a:extLst>
          </p:cNvPr>
          <p:cNvSpPr>
            <a:spLocks xmlns:a="http://schemas.openxmlformats.org/drawingml/2006/main" noGrp="1"/>
          </p:cNvSpPr>
          <p:nvPr/>
        </p:nvSpPr>
        <p:spPr>
          <a:xfrm xmlns:a="http://schemas.openxmlformats.org/drawingml/2006/main">
            <a:off x="7143750" y="2362200"/>
            <a:ext cx="43338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Who: the UK Department for Energy Security and Net Zero (DESNZ). Published: 5 February 2026. Measure: net UK territorial greenhouse gas emissions, in MtCO₂e. The rounded totals fall from 384 in 2023 to 373 in 2024: a fall of 11 MtCO₂e, about 3%. This tells us about emissions inside the UK, not the world total.</a:t>
            </a:r>
          </a:p>
        </p:txBody>
      </p:sp>
      <p:sp>
        <p:nvSpPr>
          <p:cNvPr id="6" name="">
            <a:extLst xmlns:a="http://schemas.openxmlformats.org/drawingml/2006/main">
              <a:ext uri="{FF2B5EF4-FFF2-40B4-BE49-F238E27FC236}">
                <a16:creationId xmlns:a16="http://schemas.microsoft.com/office/drawing/2014/main" id="{143BA283-F461-4D2E-A2A3-856B07931A07}"/>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7" name="">
            <a:extLst xmlns:a="http://schemas.openxmlformats.org/drawingml/2006/main">
              <a:ext uri="{FF2B5EF4-FFF2-40B4-BE49-F238E27FC236}">
                <a16:creationId xmlns:a16="http://schemas.microsoft.com/office/drawing/2014/main" id="{B469E16D-40AF-42F1-AF52-83B757D53AEF}"/>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4 / 9</a:t>
            </a:r>
          </a:p>
        </p:txBody>
      </p:sp>
    </p:spTree>
    <p:extLst>
      <p:ext uri="{BB962C8B-B14F-4D97-AF65-F5344CB8AC3E}">
        <p14:creationId xmlns:p14="http://schemas.microsoft.com/office/powerpoint/2010/main" val="5701830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4F543B-0882-4569-A8EE-70FC2CB5AFB1}"/>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5 MIN</a:t>
            </a:r>
          </a:p>
        </p:txBody>
      </p:sp>
      <p:sp>
        <p:nvSpPr>
          <p:cNvPr id="2" name="">
            <a:extLst xmlns:a="http://schemas.openxmlformats.org/drawingml/2006/main">
              <a:ext uri="{FF2B5EF4-FFF2-40B4-BE49-F238E27FC236}">
                <a16:creationId xmlns:a16="http://schemas.microsoft.com/office/drawing/2014/main" id="{1CDF570A-0D42-45FE-8D79-4B3BA2B802D7}"/>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We Do</a:t>
            </a:r>
          </a:p>
        </p:txBody>
      </p:sp>
      <p:sp>
        <p:nvSpPr>
          <p:cNvPr id="3" name="">
            <a:extLst xmlns:a="http://schemas.openxmlformats.org/drawingml/2006/main">
              <a:ext uri="{FF2B5EF4-FFF2-40B4-BE49-F238E27FC236}">
                <a16:creationId xmlns:a16="http://schemas.microsoft.com/office/drawing/2014/main" id="{54D73BB2-FE35-4081-BAE7-715073703852}"/>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Choose the statement supported by the emissions dataset.</a:t>
            </a:r>
          </a:p>
        </p:txBody>
      </p:sp>
      <p:graphicFrame>
        <p:nvGraphicFramePr>
          <p:cNvPr id="12" name="Chart"/>
          <p:cNvGraphicFramePr/>
          <p:nvPr/>
        </p:nvGraphicFramePr>
        <p:xfrm>
          <a:off xmlns:a="http://schemas.openxmlformats.org/drawingml/2006/main" x="571500" y="2428875"/>
          <a:ext xmlns:a="http://schemas.openxmlformats.org/drawingml/2006/main" cx="5905500" cy="3190875"/>
        </p:xfrm>
        <a:graphic xmlns:a="http://schemas.openxmlformats.org/drawingml/2006/main">
          <a:graphicData uri="http://schemas.openxmlformats.org/drawingml/2006/chart">
            <c:chart xmlns:r="http://schemas.openxmlformats.org/officeDocument/2006/relationships" xmlns:c="http://schemas.openxmlformats.org/drawingml/2006/chart" r:id="Rfb69b09715e9457a"/>
          </a:graphicData>
        </a:graphic>
      </p:graphicFrame>
      <p:sp>
        <p:nvSpPr>
          <p:cNvPr id="5" name="">
            <a:extLst xmlns:a="http://schemas.openxmlformats.org/drawingml/2006/main">
              <a:ext uri="{FF2B5EF4-FFF2-40B4-BE49-F238E27FC236}">
                <a16:creationId xmlns:a16="http://schemas.microsoft.com/office/drawing/2014/main" id="{FDCDFDBC-940E-4872-B54F-DC74E36A7909}"/>
              </a:ext>
            </a:extLst>
          </p:cNvPr>
          <p:cNvSpPr>
            <a:spLocks xmlns:a="http://schemas.openxmlformats.org/drawingml/2006/main" noGrp="1"/>
          </p:cNvSpPr>
          <p:nvPr/>
        </p:nvSpPr>
        <p:spPr>
          <a:xfrm xmlns:a="http://schemas.openxmlformats.org/drawingml/2006/main">
            <a:off x="7000875" y="234315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Which statement is supported by the rounded figures?</a:t>
            </a:r>
          </a:p>
        </p:txBody>
      </p:sp>
      <p:sp>
        <p:nvSpPr>
          <p:cNvPr id="6" name="">
            <a:extLst xmlns:a="http://schemas.openxmlformats.org/drawingml/2006/main">
              <a:ext uri="{FF2B5EF4-FFF2-40B4-BE49-F238E27FC236}">
                <a16:creationId xmlns:a16="http://schemas.microsoft.com/office/drawing/2014/main" id="{90933492-48C2-4889-B73B-B208EDE9CF04}"/>
              </a:ext>
            </a:extLst>
          </p:cNvPr>
          <p:cNvSpPr>
            <a:spLocks xmlns:a="http://schemas.openxmlformats.org/drawingml/2006/main" noGrp="1"/>
          </p:cNvSpPr>
          <p:nvPr/>
        </p:nvSpPr>
        <p:spPr>
          <a:xfrm xmlns:a="http://schemas.openxmlformats.org/drawingml/2006/main">
            <a:off x="7000875" y="3400425"/>
            <a:ext cx="4429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A. UK emissions fell by 11 MtCO₂e from 2023 to 2024.</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B. World emissions were zero in 2024.</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C. The UK temperature fell by 11 degrees.</a:t>
            </a:r>
          </a:p>
        </p:txBody>
      </p:sp>
      <p:sp>
        <p:nvSpPr>
          <p:cNvPr id="7" name="">
            <a:extLst xmlns:a="http://schemas.openxmlformats.org/drawingml/2006/main">
              <a:ext uri="{FF2B5EF4-FFF2-40B4-BE49-F238E27FC236}">
                <a16:creationId xmlns:a16="http://schemas.microsoft.com/office/drawing/2014/main" id="{F24E8C59-3A0B-461B-A796-CD0A7A4ACF68}"/>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8" name="">
            <a:extLst xmlns:a="http://schemas.openxmlformats.org/drawingml/2006/main">
              <a:ext uri="{FF2B5EF4-FFF2-40B4-BE49-F238E27FC236}">
                <a16:creationId xmlns:a16="http://schemas.microsoft.com/office/drawing/2014/main" id="{6CCCCE64-8FCB-443E-9AF4-8F4D33630EE5}"/>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5 / 9</a:t>
            </a:r>
          </a:p>
        </p:txBody>
      </p:sp>
    </p:spTree>
    <p:extLst>
      <p:ext uri="{BB962C8B-B14F-4D97-AF65-F5344CB8AC3E}">
        <p14:creationId xmlns:p14="http://schemas.microsoft.com/office/powerpoint/2010/main" val="9096873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C095B4-D78E-454F-A00E-9EB4E62E031A}"/>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4 MIN</a:t>
            </a:r>
          </a:p>
        </p:txBody>
      </p:sp>
      <p:sp>
        <p:nvSpPr>
          <p:cNvPr id="2" name="">
            <a:extLst xmlns:a="http://schemas.openxmlformats.org/drawingml/2006/main">
              <a:ext uri="{FF2B5EF4-FFF2-40B4-BE49-F238E27FC236}">
                <a16:creationId xmlns:a16="http://schemas.microsoft.com/office/drawing/2014/main" id="{3515BABE-0A44-422F-B284-6D4E556E92E1}"/>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I Do 2</a:t>
            </a:r>
          </a:p>
        </p:txBody>
      </p:sp>
      <p:sp>
        <p:nvSpPr>
          <p:cNvPr id="3" name="">
            <a:extLst xmlns:a="http://schemas.openxmlformats.org/drawingml/2006/main">
              <a:ext uri="{FF2B5EF4-FFF2-40B4-BE49-F238E27FC236}">
                <a16:creationId xmlns:a16="http://schemas.microsoft.com/office/drawing/2014/main" id="{AE795B47-4571-42F1-BA5F-DBC1B98E9EF8}"/>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Watch how I link resource use, emissions and warming without overclaiming.</a:t>
            </a:r>
          </a:p>
        </p:txBody>
      </p:sp>
      <p:graphicFrame>
        <p:nvGraphicFramePr>
          <p:cNvPr id="11" name="Chart"/>
          <p:cNvGraphicFramePr/>
          <p:nvPr/>
        </p:nvGraphicFramePr>
        <p:xfrm>
          <a:off xmlns:a="http://schemas.openxmlformats.org/drawingml/2006/main" x="571500" y="2428875"/>
          <a:ext xmlns:a="http://schemas.openxmlformats.org/drawingml/2006/main" cx="6096000" cy="3190875"/>
        </p:xfrm>
        <a:graphic xmlns:a="http://schemas.openxmlformats.org/drawingml/2006/main">
          <a:graphicData uri="http://schemas.openxmlformats.org/drawingml/2006/chart">
            <c:chart xmlns:r="http://schemas.openxmlformats.org/officeDocument/2006/relationships" xmlns:c="http://schemas.openxmlformats.org/drawingml/2006/chart" r:id="Rb0d30ede192142c0"/>
          </a:graphicData>
        </a:graphic>
      </p:graphicFrame>
      <p:sp>
        <p:nvSpPr>
          <p:cNvPr id="5" name="">
            <a:extLst xmlns:a="http://schemas.openxmlformats.org/drawingml/2006/main">
              <a:ext uri="{FF2B5EF4-FFF2-40B4-BE49-F238E27FC236}">
                <a16:creationId xmlns:a16="http://schemas.microsoft.com/office/drawing/2014/main" id="{F563CB6A-AA23-4833-9A15-42FAF804346D}"/>
              </a:ext>
            </a:extLst>
          </p:cNvPr>
          <p:cNvSpPr>
            <a:spLocks xmlns:a="http://schemas.openxmlformats.org/drawingml/2006/main" noGrp="1"/>
          </p:cNvSpPr>
          <p:nvPr/>
        </p:nvSpPr>
        <p:spPr>
          <a:xfrm xmlns:a="http://schemas.openxmlformats.org/drawingml/2006/main">
            <a:off x="7143750" y="2362200"/>
            <a:ext cx="43338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People use fossil fuels for electricity, heat and transport. Burning them releases carbon dioxide, a greenhouse gas that contributes to warming. DESNZ attributes much of the UK fall in 2024 to lower gas and coal use in electricity supply and industry. But this UK dataset alone cannot establish global temperature change or count all emissions linked to imported goods.</a:t>
            </a:r>
          </a:p>
        </p:txBody>
      </p:sp>
      <p:sp>
        <p:nvSpPr>
          <p:cNvPr id="6" name="">
            <a:extLst xmlns:a="http://schemas.openxmlformats.org/drawingml/2006/main">
              <a:ext uri="{FF2B5EF4-FFF2-40B4-BE49-F238E27FC236}">
                <a16:creationId xmlns:a16="http://schemas.microsoft.com/office/drawing/2014/main" id="{260CC388-E45A-436B-966C-57E0036C563E}"/>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7" name="">
            <a:extLst xmlns:a="http://schemas.openxmlformats.org/drawingml/2006/main">
              <a:ext uri="{FF2B5EF4-FFF2-40B4-BE49-F238E27FC236}">
                <a16:creationId xmlns:a16="http://schemas.microsoft.com/office/drawing/2014/main" id="{8BD48DE1-BD43-472C-9EFF-75889861FB5B}"/>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6 / 9</a:t>
            </a:r>
          </a:p>
        </p:txBody>
      </p:sp>
    </p:spTree>
    <p:extLst>
      <p:ext uri="{BB962C8B-B14F-4D97-AF65-F5344CB8AC3E}">
        <p14:creationId xmlns:p14="http://schemas.microsoft.com/office/powerpoint/2010/main" val="15493822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BB4E71-57EF-454B-A217-E9602B307589}"/>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4 MIN</a:t>
            </a:r>
          </a:p>
        </p:txBody>
      </p:sp>
      <p:sp>
        <p:nvSpPr>
          <p:cNvPr id="2" name="">
            <a:extLst xmlns:a="http://schemas.openxmlformats.org/drawingml/2006/main">
              <a:ext uri="{FF2B5EF4-FFF2-40B4-BE49-F238E27FC236}">
                <a16:creationId xmlns:a16="http://schemas.microsoft.com/office/drawing/2014/main" id="{4FAD67B7-06BE-452F-9B99-91831CFCCDB8}"/>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We Do 2</a:t>
            </a:r>
          </a:p>
        </p:txBody>
      </p:sp>
      <p:sp>
        <p:nvSpPr>
          <p:cNvPr id="3" name="">
            <a:extLst xmlns:a="http://schemas.openxmlformats.org/drawingml/2006/main">
              <a:ext uri="{FF2B5EF4-FFF2-40B4-BE49-F238E27FC236}">
                <a16:creationId xmlns:a16="http://schemas.microsoft.com/office/drawing/2014/main" id="{F1B8CCEE-8871-4709-80A6-2416C577683A}"/>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Repair an overclaim by adding a geographical limitation.</a:t>
            </a:r>
          </a:p>
        </p:txBody>
      </p:sp>
      <p:graphicFrame>
        <p:nvGraphicFramePr>
          <p:cNvPr id="12" name="Chart"/>
          <p:cNvGraphicFramePr/>
          <p:nvPr/>
        </p:nvGraphicFramePr>
        <p:xfrm>
          <a:off xmlns:a="http://schemas.openxmlformats.org/drawingml/2006/main" x="571500" y="2428875"/>
          <a:ext xmlns:a="http://schemas.openxmlformats.org/drawingml/2006/main" cx="5905500" cy="3190875"/>
        </p:xfrm>
        <a:graphic xmlns:a="http://schemas.openxmlformats.org/drawingml/2006/main">
          <a:graphicData uri="http://schemas.openxmlformats.org/drawingml/2006/chart">
            <c:chart xmlns:r="http://schemas.openxmlformats.org/officeDocument/2006/relationships" xmlns:c="http://schemas.openxmlformats.org/drawingml/2006/chart" r:id="R40989c33ee0c44eb"/>
          </a:graphicData>
        </a:graphic>
      </p:graphicFrame>
      <p:sp>
        <p:nvSpPr>
          <p:cNvPr id="5" name="">
            <a:extLst xmlns:a="http://schemas.openxmlformats.org/drawingml/2006/main">
              <a:ext uri="{FF2B5EF4-FFF2-40B4-BE49-F238E27FC236}">
                <a16:creationId xmlns:a16="http://schemas.microsoft.com/office/drawing/2014/main" id="{1F6352FC-EA0E-488E-9787-FB2A1122166E}"/>
              </a:ext>
            </a:extLst>
          </p:cNvPr>
          <p:cNvSpPr>
            <a:spLocks xmlns:a="http://schemas.openxmlformats.org/drawingml/2006/main" noGrp="1"/>
          </p:cNvSpPr>
          <p:nvPr/>
        </p:nvSpPr>
        <p:spPr>
          <a:xfrm xmlns:a="http://schemas.openxmlformats.org/drawingml/2006/main">
            <a:off x="7000875" y="234315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Choose the sound limitation.</a:t>
            </a:r>
          </a:p>
        </p:txBody>
      </p:sp>
      <p:sp>
        <p:nvSpPr>
          <p:cNvPr id="6" name="">
            <a:extLst xmlns:a="http://schemas.openxmlformats.org/drawingml/2006/main">
              <a:ext uri="{FF2B5EF4-FFF2-40B4-BE49-F238E27FC236}">
                <a16:creationId xmlns:a16="http://schemas.microsoft.com/office/drawing/2014/main" id="{ED4DBA81-8EA4-46DC-8353-24DFACD50FD5}"/>
              </a:ext>
            </a:extLst>
          </p:cNvPr>
          <p:cNvSpPr>
            <a:spLocks xmlns:a="http://schemas.openxmlformats.org/drawingml/2006/main" noGrp="1"/>
          </p:cNvSpPr>
          <p:nvPr/>
        </p:nvSpPr>
        <p:spPr>
          <a:xfrm xmlns:a="http://schemas.openxmlformats.org/drawingml/2006/main">
            <a:off x="7000875" y="3400425"/>
            <a:ext cx="4429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A. The figures include every imported product’s overseas emissions.</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B. UK territorial totals do not count all overseas emissions linked to UK consumption.</a:t>
            </a:r>
          </a:p>
          <a:p xmlns:a="http://schemas.openxmlformats.org/drawingml/2006/main">
            <a:r>
              <a:t/>
            </a:r>
          </a:p>
          <a:p xmlns:a="http://schemas.openxmlformats.org/drawingml/2006/main">
            <a:pPr>
              <a:defRPr sz="1800" b="0">
                <a:solidFill>
                  <a:srgbClr val="1F2937"/>
                </a:solidFill>
                <a:latin typeface="Arial"/>
                <a:ea typeface="Arial"/>
                <a:cs typeface="Arial"/>
              </a:defRPr>
            </a:pPr>
            <a:r>
              <a:rPr sz="1800" b="0">
                <a:solidFill>
                  <a:srgbClr val="1F2937"/>
                </a:solidFill>
                <a:latin typeface="Arial"/>
                <a:ea typeface="Arial"/>
                <a:cs typeface="Arial"/>
              </a:rPr>
              <a:t>C. A government source never has limitations.</a:t>
            </a:r>
          </a:p>
        </p:txBody>
      </p:sp>
      <p:sp>
        <p:nvSpPr>
          <p:cNvPr id="7" name="">
            <a:extLst xmlns:a="http://schemas.openxmlformats.org/drawingml/2006/main">
              <a:ext uri="{FF2B5EF4-FFF2-40B4-BE49-F238E27FC236}">
                <a16:creationId xmlns:a16="http://schemas.microsoft.com/office/drawing/2014/main" id="{6918DF66-3812-45B1-ACAB-B02A1BDADD26}"/>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8" name="">
            <a:extLst xmlns:a="http://schemas.openxmlformats.org/drawingml/2006/main">
              <a:ext uri="{FF2B5EF4-FFF2-40B4-BE49-F238E27FC236}">
                <a16:creationId xmlns:a16="http://schemas.microsoft.com/office/drawing/2014/main" id="{6A1A4400-7BE8-454B-AD85-C3C3C694AC65}"/>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7 / 9</a:t>
            </a:r>
          </a:p>
        </p:txBody>
      </p:sp>
    </p:spTree>
    <p:extLst>
      <p:ext uri="{BB962C8B-B14F-4D97-AF65-F5344CB8AC3E}">
        <p14:creationId xmlns:p14="http://schemas.microsoft.com/office/powerpoint/2010/main" val="18062563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3D841A-4EBB-429F-A773-85338C43C4AD}"/>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10 MIN</a:t>
            </a:r>
          </a:p>
        </p:txBody>
      </p:sp>
      <p:sp>
        <p:nvSpPr>
          <p:cNvPr id="2" name="">
            <a:extLst xmlns:a="http://schemas.openxmlformats.org/drawingml/2006/main">
              <a:ext uri="{FF2B5EF4-FFF2-40B4-BE49-F238E27FC236}">
                <a16:creationId xmlns:a16="http://schemas.microsoft.com/office/drawing/2014/main" id="{DC369ABB-7E83-4C14-8703-D210A514BB02}"/>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Independent</a:t>
            </a:r>
          </a:p>
        </p:txBody>
      </p:sp>
      <p:sp>
        <p:nvSpPr>
          <p:cNvPr id="3" name="">
            <a:extLst xmlns:a="http://schemas.openxmlformats.org/drawingml/2006/main">
              <a:ext uri="{FF2B5EF4-FFF2-40B4-BE49-F238E27FC236}">
                <a16:creationId xmlns:a16="http://schemas.microsoft.com/office/drawing/2014/main" id="{7736EF94-1275-46FD-A5CD-394811076F1E}"/>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Explain resource use and climate change using two figures and one limitation.</a:t>
            </a:r>
          </a:p>
        </p:txBody>
      </p:sp>
      <p:sp>
        <p:nvSpPr>
          <p:cNvPr id="4" name="">
            <a:extLst xmlns:a="http://schemas.openxmlformats.org/drawingml/2006/main">
              <a:ext uri="{FF2B5EF4-FFF2-40B4-BE49-F238E27FC236}">
                <a16:creationId xmlns:a16="http://schemas.microsoft.com/office/drawing/2014/main" id="{DC87C530-3FD5-40BD-B903-B6E8A7A89238}"/>
              </a:ext>
            </a:extLst>
          </p:cNvPr>
          <p:cNvSpPr>
            <a:spLocks xmlns:a="http://schemas.openxmlformats.org/drawingml/2006/main" noGrp="1"/>
          </p:cNvSpPr>
          <p:nvPr/>
        </p:nvSpPr>
        <p:spPr>
          <a:xfrm xmlns:a="http://schemas.openxmlformats.org/drawingml/2006/main">
            <a:off x="571500" y="24574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92A6EB71-36DA-4874-854D-25AEB9C53389}"/>
              </a:ext>
            </a:extLst>
          </p:cNvPr>
          <p:cNvSpPr>
            <a:spLocks xmlns:a="http://schemas.openxmlformats.org/drawingml/2006/main" noGrp="1"/>
          </p:cNvSpPr>
          <p:nvPr/>
        </p:nvSpPr>
        <p:spPr>
          <a:xfrm xmlns:a="http://schemas.openxmlformats.org/drawingml/2006/main">
            <a:off x="571500" y="2971800"/>
            <a:ext cx="3429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Use the frame: “DESNZ reports UK territorial emissions of ___ in 2023 and ___ in 2024, measured in ___. Using less ___ can reduce emissions. Greenhouse gases contribute to ___. This dataset does not show ___.” Say it, write it or direct an exact scribe.</a:t>
            </a:r>
          </a:p>
        </p:txBody>
      </p:sp>
      <p:sp>
        <p:nvSpPr>
          <p:cNvPr id="6" name="">
            <a:extLst xmlns:a="http://schemas.openxmlformats.org/drawingml/2006/main">
              <a:ext uri="{FF2B5EF4-FFF2-40B4-BE49-F238E27FC236}">
                <a16:creationId xmlns:a16="http://schemas.microsoft.com/office/drawing/2014/main" id="{756FFC46-2AAD-4154-A92A-D6B69EF55AA0}"/>
              </a:ext>
            </a:extLst>
          </p:cNvPr>
          <p:cNvSpPr>
            <a:spLocks xmlns:a="http://schemas.openxmlformats.org/drawingml/2006/main" noGrp="1"/>
          </p:cNvSpPr>
          <p:nvPr/>
        </p:nvSpPr>
        <p:spPr>
          <a:xfrm xmlns:a="http://schemas.openxmlformats.org/drawingml/2006/main">
            <a:off x="4381500" y="24574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1F44562F-DA3E-4B84-9BF5-3C26D7FCCED5}"/>
              </a:ext>
            </a:extLst>
          </p:cNvPr>
          <p:cNvSpPr>
            <a:spLocks xmlns:a="http://schemas.openxmlformats.org/drawingml/2006/main" noGrp="1"/>
          </p:cNvSpPr>
          <p:nvPr/>
        </p:nvSpPr>
        <p:spPr>
          <a:xfrm xmlns:a="http://schemas.openxmlformats.org/drawingml/2006/main">
            <a:off x="4381500" y="2971800"/>
            <a:ext cx="3429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Write or present a short geographical explanation: identify the source and date; compare two figures; explain a resource-use link to emissions and climate change; end with one limitation of the dataset.</a:t>
            </a:r>
          </a:p>
        </p:txBody>
      </p:sp>
      <p:sp>
        <p:nvSpPr>
          <p:cNvPr id="8" name="">
            <a:extLst xmlns:a="http://schemas.openxmlformats.org/drawingml/2006/main">
              <a:ext uri="{FF2B5EF4-FFF2-40B4-BE49-F238E27FC236}">
                <a16:creationId xmlns:a16="http://schemas.microsoft.com/office/drawing/2014/main" id="{A6816EF5-AD09-4C47-8C49-6782F8C93754}"/>
              </a:ext>
            </a:extLst>
          </p:cNvPr>
          <p:cNvSpPr>
            <a:spLocks xmlns:a="http://schemas.openxmlformats.org/drawingml/2006/main" noGrp="1"/>
          </p:cNvSpPr>
          <p:nvPr/>
        </p:nvSpPr>
        <p:spPr>
          <a:xfrm xmlns:a="http://schemas.openxmlformats.org/drawingml/2006/main">
            <a:off x="8191500" y="24574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rPr>
              <a:t>STRETCH</a:t>
            </a:r>
          </a:p>
        </p:txBody>
      </p:sp>
      <p:sp>
        <p:nvSpPr>
          <p:cNvPr id="9" name="">
            <a:extLst xmlns:a="http://schemas.openxmlformats.org/drawingml/2006/main">
              <a:ext uri="{FF2B5EF4-FFF2-40B4-BE49-F238E27FC236}">
                <a16:creationId xmlns:a16="http://schemas.microsoft.com/office/drawing/2014/main" id="{A4A9E873-3CEA-4428-8660-0C0F4B3BA574}"/>
              </a:ext>
            </a:extLst>
          </p:cNvPr>
          <p:cNvSpPr>
            <a:spLocks xmlns:a="http://schemas.openxmlformats.org/drawingml/2006/main" noGrp="1"/>
          </p:cNvSpPr>
          <p:nvPr/>
        </p:nvSpPr>
        <p:spPr>
          <a:xfrm xmlns:a="http://schemas.openxmlformats.org/drawingml/2006/main">
            <a:off x="8191500" y="2971800"/>
            <a:ext cx="3429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Evaluate the claim: “Falling UK emissions show resource choices can matter, but do not prove the climate problem is solved.” Use two figures, a causal explanation and a geographical limitation. Distinguish emissions from temperature.</a:t>
            </a:r>
          </a:p>
        </p:txBody>
      </p:sp>
      <p:sp>
        <p:nvSpPr>
          <p:cNvPr id="10" name="">
            <a:extLst xmlns:a="http://schemas.openxmlformats.org/drawingml/2006/main">
              <a:ext uri="{FF2B5EF4-FFF2-40B4-BE49-F238E27FC236}">
                <a16:creationId xmlns:a16="http://schemas.microsoft.com/office/drawing/2014/main" id="{3EF41468-2871-4CC8-8DFC-5BBBF7CA74B8}"/>
              </a:ext>
            </a:extLst>
          </p:cNvPr>
          <p:cNvSpPr>
            <a:spLocks xmlns:a="http://schemas.openxmlformats.org/drawingml/2006/main" noGrp="1"/>
          </p:cNvSpPr>
          <p:nvPr/>
        </p:nvSpPr>
        <p:spPr>
          <a:xfrm xmlns:a="http://schemas.openxmlformats.org/drawingml/2006/main">
            <a:off x="571500" y="58864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F2937"/>
                </a:solidFill>
                <a:latin typeface="Arial"/>
                <a:ea typeface="Arial"/>
                <a:cs typeface="Arial"/>
              </a:defRPr>
            </a:pPr>
            <a:r>
              <a:rPr sz="1650" b="0">
                <a:solidFill>
                  <a:srgbClr val="1F2937"/>
                </a:solidFill>
                <a:latin typeface="Arial"/>
                <a:ea typeface="Arial"/>
                <a:cs typeface="Arial"/>
              </a:rPr>
              <a:t>Use the map or source, rehearse your explanation, then record your own response.</a:t>
            </a:r>
          </a:p>
        </p:txBody>
      </p:sp>
      <p:sp>
        <p:nvSpPr>
          <p:cNvPr id="11" name="">
            <a:extLst xmlns:a="http://schemas.openxmlformats.org/drawingml/2006/main">
              <a:ext uri="{FF2B5EF4-FFF2-40B4-BE49-F238E27FC236}">
                <a16:creationId xmlns:a16="http://schemas.microsoft.com/office/drawing/2014/main" id="{7872DA85-2510-45AE-BDD1-D08AC0A521DB}"/>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12" name="">
            <a:extLst xmlns:a="http://schemas.openxmlformats.org/drawingml/2006/main">
              <a:ext uri="{FF2B5EF4-FFF2-40B4-BE49-F238E27FC236}">
                <a16:creationId xmlns:a16="http://schemas.microsoft.com/office/drawing/2014/main" id="{70894A74-FB0D-4B91-9C9A-5CD16FF79FA2}"/>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8 / 9</a:t>
            </a:r>
          </a:p>
        </p:txBody>
      </p:sp>
    </p:spTree>
    <p:extLst>
      <p:ext uri="{BB962C8B-B14F-4D97-AF65-F5344CB8AC3E}">
        <p14:creationId xmlns:p14="http://schemas.microsoft.com/office/powerpoint/2010/main" val="2247512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9358A8-EAAA-49EF-BAD0-42CA73B47569}"/>
              </a:ext>
            </a:extLst>
          </p:cNvPr>
          <p:cNvSpPr>
            <a:spLocks xmlns:a="http://schemas.openxmlformats.org/drawingml/2006/main" noGrp="1"/>
          </p:cNvSpPr>
          <p:nvPr/>
        </p:nvSpPr>
        <p:spPr>
          <a:xfrm xmlns:a="http://schemas.openxmlformats.org/drawingml/2006/main">
            <a:off x="571500" y="266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A5C9E"/>
                </a:solidFill>
                <a:latin typeface="Arial"/>
                <a:ea typeface="Arial"/>
                <a:cs typeface="Arial"/>
              </a:defRPr>
            </a:pPr>
            <a:r>
              <a:rPr sz="1350" b="1">
                <a:solidFill>
                  <a:srgbClr val="7A5C9E"/>
                </a:solidFill>
                <a:latin typeface="Arial"/>
                <a:ea typeface="Arial"/>
                <a:cs typeface="Arial"/>
              </a:rPr>
              <a:t>LAUNCH · HUMANITIES · Sum1·W1 · 4 MIN</a:t>
            </a:r>
          </a:p>
        </p:txBody>
      </p:sp>
      <p:sp>
        <p:nvSpPr>
          <p:cNvPr id="2" name="">
            <a:extLst xmlns:a="http://schemas.openxmlformats.org/drawingml/2006/main">
              <a:ext uri="{FF2B5EF4-FFF2-40B4-BE49-F238E27FC236}">
                <a16:creationId xmlns:a16="http://schemas.microsoft.com/office/drawing/2014/main" id="{458554C2-C972-439B-925C-951ECFA5F9C0}"/>
              </a:ext>
            </a:extLst>
          </p:cNvPr>
          <p:cNvSpPr>
            <a:spLocks xmlns:a="http://schemas.openxmlformats.org/drawingml/2006/main" noGrp="1"/>
          </p:cNvSpPr>
          <p:nvPr/>
        </p:nvSpPr>
        <p:spPr>
          <a:xfrm xmlns:a="http://schemas.openxmlformats.org/drawingml/2006/main">
            <a:off x="571500" y="7239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F2937"/>
                </a:solidFill>
                <a:latin typeface="Arial"/>
                <a:ea typeface="Arial"/>
                <a:cs typeface="Arial"/>
              </a:defRPr>
            </a:pPr>
            <a:r>
              <a:rPr sz="3000" b="1">
                <a:solidFill>
                  <a:srgbClr val="1F2937"/>
                </a:solidFill>
                <a:latin typeface="Arial"/>
                <a:ea typeface="Arial"/>
                <a:cs typeface="Arial"/>
              </a:rPr>
              <a:t>Exit</a:t>
            </a:r>
          </a:p>
        </p:txBody>
      </p:sp>
      <p:sp>
        <p:nvSpPr>
          <p:cNvPr id="3" name="">
            <a:extLst xmlns:a="http://schemas.openxmlformats.org/drawingml/2006/main">
              <a:ext uri="{FF2B5EF4-FFF2-40B4-BE49-F238E27FC236}">
                <a16:creationId xmlns:a16="http://schemas.microsoft.com/office/drawing/2014/main" id="{8456CE9F-7E19-423D-979E-80B2F52E8A92}"/>
              </a:ext>
            </a:extLst>
          </p:cNvPr>
          <p:cNvSpPr>
            <a:spLocks xmlns:a="http://schemas.openxmlformats.org/drawingml/2006/main" noGrp="1"/>
          </p:cNvSpPr>
          <p:nvPr/>
        </p:nvSpPr>
        <p:spPr>
          <a:xfrm xmlns:a="http://schemas.openxmlformats.org/drawingml/2006/main">
            <a:off x="571500" y="1543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Give one supported claim and one thing the dataset cannot tell us.</a:t>
            </a:r>
          </a:p>
        </p:txBody>
      </p:sp>
      <p:sp>
        <p:nvSpPr>
          <p:cNvPr id="4" name="">
            <a:extLst xmlns:a="http://schemas.openxmlformats.org/drawingml/2006/main">
              <a:ext uri="{FF2B5EF4-FFF2-40B4-BE49-F238E27FC236}">
                <a16:creationId xmlns:a16="http://schemas.microsoft.com/office/drawing/2014/main" id="{9201B28B-8813-493C-99A5-2713FF7AA709}"/>
              </a:ext>
            </a:extLst>
          </p:cNvPr>
          <p:cNvSpPr>
            <a:spLocks xmlns:a="http://schemas.openxmlformats.org/drawingml/2006/main" noGrp="1"/>
          </p:cNvSpPr>
          <p:nvPr/>
        </p:nvSpPr>
        <p:spPr>
          <a:xfrm xmlns:a="http://schemas.openxmlformats.org/drawingml/2006/main">
            <a:off x="571500" y="24288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423602B9-4DB9-4B50-B361-23EAE74C7AF7}"/>
              </a:ext>
            </a:extLst>
          </p:cNvPr>
          <p:cNvSpPr>
            <a:spLocks xmlns:a="http://schemas.openxmlformats.org/drawingml/2006/main" noGrp="1"/>
          </p:cNvSpPr>
          <p:nvPr/>
        </p:nvSpPr>
        <p:spPr>
          <a:xfrm xmlns:a="http://schemas.openxmlformats.org/drawingml/2006/main">
            <a:off x="571500" y="2962275"/>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Arial"/>
                <a:ea typeface="Arial"/>
                <a:cs typeface="Arial"/>
              </a:defRPr>
            </a:pPr>
            <a:r>
              <a:rPr sz="2100" b="0">
                <a:solidFill>
                  <a:srgbClr val="1F2937"/>
                </a:solidFill>
                <a:latin typeface="Arial"/>
                <a:ea typeface="Arial"/>
                <a:cs typeface="Arial"/>
              </a:rPr>
              <a:t>Give the 2024 UK total and one missing answer.</a:t>
            </a:r>
          </a:p>
        </p:txBody>
      </p:sp>
      <p:sp>
        <p:nvSpPr>
          <p:cNvPr id="6" name="">
            <a:extLst xmlns:a="http://schemas.openxmlformats.org/drawingml/2006/main">
              <a:ext uri="{FF2B5EF4-FFF2-40B4-BE49-F238E27FC236}">
                <a16:creationId xmlns:a16="http://schemas.microsoft.com/office/drawing/2014/main" id="{B7F1EA35-D08F-4371-871D-272C087EB201}"/>
              </a:ext>
            </a:extLst>
          </p:cNvPr>
          <p:cNvSpPr>
            <a:spLocks xmlns:a="http://schemas.openxmlformats.org/drawingml/2006/main" noGrp="1"/>
          </p:cNvSpPr>
          <p:nvPr/>
        </p:nvSpPr>
        <p:spPr>
          <a:xfrm xmlns:a="http://schemas.openxmlformats.org/drawingml/2006/main">
            <a:off x="4381500" y="24288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37B65B2A-923F-4445-970F-8C0C917843B0}"/>
              </a:ext>
            </a:extLst>
          </p:cNvPr>
          <p:cNvSpPr>
            <a:spLocks xmlns:a="http://schemas.openxmlformats.org/drawingml/2006/main" noGrp="1"/>
          </p:cNvSpPr>
          <p:nvPr/>
        </p:nvSpPr>
        <p:spPr>
          <a:xfrm xmlns:a="http://schemas.openxmlformats.org/drawingml/2006/main">
            <a:off x="4381500" y="2962275"/>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Arial"/>
                <a:ea typeface="Arial"/>
                <a:cs typeface="Arial"/>
              </a:defRPr>
            </a:pPr>
            <a:r>
              <a:rPr sz="2100" b="0">
                <a:solidFill>
                  <a:srgbClr val="1F2937"/>
                </a:solidFill>
                <a:latin typeface="Arial"/>
                <a:ea typeface="Arial"/>
                <a:cs typeface="Arial"/>
              </a:rPr>
              <a:t>Give one quantified pattern and one geographical limitation.</a:t>
            </a:r>
          </a:p>
        </p:txBody>
      </p:sp>
      <p:sp>
        <p:nvSpPr>
          <p:cNvPr id="8" name="">
            <a:extLst xmlns:a="http://schemas.openxmlformats.org/drawingml/2006/main">
              <a:ext uri="{FF2B5EF4-FFF2-40B4-BE49-F238E27FC236}">
                <a16:creationId xmlns:a16="http://schemas.microsoft.com/office/drawing/2014/main" id="{007DFF25-3A7F-4B4B-B2B1-B51DAE855431}"/>
              </a:ext>
            </a:extLst>
          </p:cNvPr>
          <p:cNvSpPr>
            <a:spLocks xmlns:a="http://schemas.openxmlformats.org/drawingml/2006/main" noGrp="1"/>
          </p:cNvSpPr>
          <p:nvPr/>
        </p:nvSpPr>
        <p:spPr>
          <a:xfrm xmlns:a="http://schemas.openxmlformats.org/drawingml/2006/main">
            <a:off x="8191500" y="24288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rPr>
              <a:t>STRETCH</a:t>
            </a:r>
          </a:p>
        </p:txBody>
      </p:sp>
      <p:sp>
        <p:nvSpPr>
          <p:cNvPr id="9" name="">
            <a:extLst xmlns:a="http://schemas.openxmlformats.org/drawingml/2006/main">
              <a:ext uri="{FF2B5EF4-FFF2-40B4-BE49-F238E27FC236}">
                <a16:creationId xmlns:a16="http://schemas.microsoft.com/office/drawing/2014/main" id="{616695F7-07C2-4787-A547-4E882F075A29}"/>
              </a:ext>
            </a:extLst>
          </p:cNvPr>
          <p:cNvSpPr>
            <a:spLocks xmlns:a="http://schemas.openxmlformats.org/drawingml/2006/main" noGrp="1"/>
          </p:cNvSpPr>
          <p:nvPr/>
        </p:nvSpPr>
        <p:spPr>
          <a:xfrm xmlns:a="http://schemas.openxmlformats.org/drawingml/2006/main">
            <a:off x="8191500" y="2962275"/>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Arial"/>
                <a:ea typeface="Arial"/>
                <a:cs typeface="Arial"/>
              </a:defRPr>
            </a:pPr>
            <a:r>
              <a:rPr sz="2100" b="0">
                <a:solidFill>
                  <a:srgbClr val="1F2937"/>
                </a:solidFill>
                <a:latin typeface="Arial"/>
                <a:ea typeface="Arial"/>
                <a:cs typeface="Arial"/>
              </a:rPr>
              <a:t>Explain why falling UK emissions and continuing global warming can both occur.</a:t>
            </a:r>
          </a:p>
        </p:txBody>
      </p:sp>
      <p:sp>
        <p:nvSpPr>
          <p:cNvPr id="10" name="">
            <a:extLst xmlns:a="http://schemas.openxmlformats.org/drawingml/2006/main">
              <a:ext uri="{FF2B5EF4-FFF2-40B4-BE49-F238E27FC236}">
                <a16:creationId xmlns:a16="http://schemas.microsoft.com/office/drawing/2014/main" id="{424D6AFD-96B0-4DD9-8CE8-48AED550C8A7}"/>
              </a:ext>
            </a:extLst>
          </p:cNvPr>
          <p:cNvSpPr>
            <a:spLocks xmlns:a="http://schemas.openxmlformats.org/drawingml/2006/main" noGrp="1"/>
          </p:cNvSpPr>
          <p:nvPr/>
        </p:nvSpPr>
        <p:spPr>
          <a:xfrm xmlns:a="http://schemas.openxmlformats.org/drawingml/2006/main">
            <a:off x="571500" y="5286375"/>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Show your response to the adult. Agree one next step for the next lesson.</a:t>
            </a:r>
          </a:p>
        </p:txBody>
      </p:sp>
      <p:sp>
        <p:nvSpPr>
          <p:cNvPr id="11" name="">
            <a:extLst xmlns:a="http://schemas.openxmlformats.org/drawingml/2006/main">
              <a:ext uri="{FF2B5EF4-FFF2-40B4-BE49-F238E27FC236}">
                <a16:creationId xmlns:a16="http://schemas.microsoft.com/office/drawing/2014/main" id="{8B699E3C-A15C-4846-8171-41E5F4601845}"/>
              </a:ext>
            </a:extLst>
          </p:cNvPr>
          <p:cNvSpPr>
            <a:spLocks xmlns:a="http://schemas.openxmlformats.org/drawingml/2006/main" noGrp="1"/>
          </p:cNvSpPr>
          <p:nvPr/>
        </p:nvSpPr>
        <p:spPr>
          <a:xfrm xmlns:a="http://schemas.openxmlformats.org/drawingml/2006/main">
            <a:off x="5715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3F5364"/>
                </a:solidFill>
                <a:latin typeface="Arial"/>
                <a:ea typeface="Arial"/>
                <a:cs typeface="Arial"/>
              </a:defRPr>
            </a:pPr>
            <a:r>
              <a:rPr sz="1050" b="0">
                <a:solidFill>
                  <a:srgbClr val="3F5364"/>
                </a:solidFill>
                <a:latin typeface="Arial"/>
                <a:ea typeface="Arial"/>
                <a:cs typeface="Arial"/>
              </a:rPr>
              <a:t>Data: DESNZ, 5 February 2026, rounded headline totals. 1990 = 373 + 417. Selected years; MtCO₂e.</a:t>
            </a:r>
          </a:p>
        </p:txBody>
      </p:sp>
      <p:sp>
        <p:nvSpPr>
          <p:cNvPr id="12" name="">
            <a:extLst xmlns:a="http://schemas.openxmlformats.org/drawingml/2006/main">
              <a:ext uri="{FF2B5EF4-FFF2-40B4-BE49-F238E27FC236}">
                <a16:creationId xmlns:a16="http://schemas.microsoft.com/office/drawing/2014/main" id="{8E91DAD8-3149-4E9D-BAD8-4E4047BB2A7A}"/>
              </a:ext>
            </a:extLst>
          </p:cNvPr>
          <p:cNvSpPr>
            <a:spLocks xmlns:a="http://schemas.openxmlformats.org/drawingml/2006/main" noGrp="1"/>
          </p:cNvSpPr>
          <p:nvPr/>
        </p:nvSpPr>
        <p:spPr>
          <a:xfrm xmlns:a="http://schemas.openxmlformats.org/drawingml/2006/main">
            <a:off x="11049000" y="64103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F2937"/>
                </a:solidFill>
                <a:latin typeface="Arial"/>
                <a:ea typeface="Arial"/>
                <a:cs typeface="Arial"/>
              </a:defRPr>
            </a:pPr>
            <a:r>
              <a:rPr sz="1050" b="0">
                <a:solidFill>
                  <a:srgbClr val="1F2937"/>
                </a:solidFill>
                <a:latin typeface="Arial"/>
                <a:ea typeface="Arial"/>
                <a:cs typeface="Arial"/>
              </a:rPr>
              <a:t>9 / 9</a:t>
            </a:r>
          </a:p>
        </p:txBody>
      </p:sp>
    </p:spTree>
    <p:extLst>
      <p:ext uri="{BB962C8B-B14F-4D97-AF65-F5344CB8AC3E}">
        <p14:creationId xmlns:p14="http://schemas.microsoft.com/office/powerpoint/2010/main" val="907265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2026-09-20T23:47:35.8410000Z</dcterms:created>
  <dcterms:modified xsi:type="dcterms:W3CDTF">2026-09-20T23:47:35.8410000Z</dcterms:modified>
</coreProperties>
</file>