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3138173b14e52" /><Relationship Type="http://schemas.openxmlformats.org/officeDocument/2006/relationships/extended-properties" Target="/docProps/app.xml" Id="R2d5a602cd2b9400c" /><Relationship Type="http://schemas.openxmlformats.org/officeDocument/2006/relationships/officeDocument" Target="/ppt/presentation.xml" Id="R563686250ce145b1" /></Relationships>
</file>

<file path=ppt/presentation.xml><?xml version="1.0" encoding="utf-8"?>
<p:presentation xmlns:p="http://schemas.openxmlformats.org/presentationml/2006/main">
  <p:sldMasterIdLst>
    <p:sldMasterId xmlns:r="http://schemas.openxmlformats.org/officeDocument/2006/relationships" id="2147483648" r:id="Rb970e592123e4177"/>
  </p:sldMasterIdLst>
  <p:notesMasterIdLst>
    <p:notesMasterId xmlns:r="http://schemas.openxmlformats.org/officeDocument/2006/relationships" r:id="R1991142e87924bae"/>
  </p:notesMasterIdLst>
  <p:sldIdLst>
    <p:sldId xmlns:r="http://schemas.openxmlformats.org/officeDocument/2006/relationships" id="256" r:id="R43a657aad8754520"/>
    <p:sldId xmlns:r="http://schemas.openxmlformats.org/officeDocument/2006/relationships" id="257" r:id="Rd4faff2e3a204b30"/>
    <p:sldId xmlns:r="http://schemas.openxmlformats.org/officeDocument/2006/relationships" id="258" r:id="R53a4c566054d40e7"/>
    <p:sldId xmlns:r="http://schemas.openxmlformats.org/officeDocument/2006/relationships" id="259" r:id="Refa57684f9dc449c"/>
    <p:sldId xmlns:r="http://schemas.openxmlformats.org/officeDocument/2006/relationships" id="260" r:id="R86889ca50b2c41cf"/>
    <p:sldId xmlns:r="http://schemas.openxmlformats.org/officeDocument/2006/relationships" id="261" r:id="Rd465ca69988043a4"/>
    <p:sldId xmlns:r="http://schemas.openxmlformats.org/officeDocument/2006/relationships" id="262" r:id="R070fcab85a9f41c2"/>
    <p:sldId xmlns:r="http://schemas.openxmlformats.org/officeDocument/2006/relationships" id="263" r:id="R78ae10932847470c"/>
    <p:sldId xmlns:r="http://schemas.openxmlformats.org/officeDocument/2006/relationships" id="264" r:id="R1632d6e967d543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f97d5d657d4c7e" /><Relationship Type="http://schemas.openxmlformats.org/officeDocument/2006/relationships/slideMaster" Target="/ppt/slideMasters/slideMaster1.xml" Id="Rb970e592123e4177" /><Relationship Type="http://schemas.openxmlformats.org/officeDocument/2006/relationships/notesMaster" Target="/ppt/notesMasters/notesMaster1.xml" Id="R1991142e87924bae" /><Relationship Type="http://schemas.openxmlformats.org/officeDocument/2006/relationships/presProps" Target="/ppt/presProps.xml" Id="Rbe5f450962ab4a74" /><Relationship Type="http://schemas.openxmlformats.org/officeDocument/2006/relationships/tableStyles" Target="/ppt/tableStyles.xml" Id="R2076a0ac713246f9" /><Relationship Type="http://schemas.openxmlformats.org/officeDocument/2006/relationships/slide" Target="/ppt/slides/slide1.xml" Id="R43a657aad8754520" /><Relationship Type="http://schemas.openxmlformats.org/officeDocument/2006/relationships/slide" Target="/ppt/slides/slide2.xml" Id="Rd4faff2e3a204b30" /><Relationship Type="http://schemas.openxmlformats.org/officeDocument/2006/relationships/slide" Target="/ppt/slides/slide3.xml" Id="R53a4c566054d40e7" /><Relationship Type="http://schemas.openxmlformats.org/officeDocument/2006/relationships/slide" Target="/ppt/slides/slide4.xml" Id="Refa57684f9dc449c" /><Relationship Type="http://schemas.openxmlformats.org/officeDocument/2006/relationships/slide" Target="/ppt/slides/slide5.xml" Id="R86889ca50b2c41cf" /><Relationship Type="http://schemas.openxmlformats.org/officeDocument/2006/relationships/slide" Target="/ppt/slides/slide6.xml" Id="Rd465ca69988043a4" /><Relationship Type="http://schemas.openxmlformats.org/officeDocument/2006/relationships/slide" Target="/ppt/slides/slide7.xml" Id="R070fcab85a9f41c2" /><Relationship Type="http://schemas.openxmlformats.org/officeDocument/2006/relationships/slide" Target="/ppt/slides/slide8.xml" Id="R78ae10932847470c" /><Relationship Type="http://schemas.openxmlformats.org/officeDocument/2006/relationships/slide" Target="/ppt/slides/slide9.xml" Id="R1632d6e967d543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31cf7f3dfc45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1b3a9368374ef5" /><Relationship Type="http://schemas.openxmlformats.org/officeDocument/2006/relationships/notesMaster" Target="/ppt/notesMasters/notesMaster1.xml" Id="R1203980787c94a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291712bd6042be" /><Relationship Type="http://schemas.openxmlformats.org/officeDocument/2006/relationships/notesMaster" Target="/ppt/notesMasters/notesMaster1.xml" Id="R8da5a4ac2f714e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8e4f0065634000" /><Relationship Type="http://schemas.openxmlformats.org/officeDocument/2006/relationships/notesMaster" Target="/ppt/notesMasters/notesMaster1.xml" Id="R67404f5475224e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b1309cf9df4d07" /><Relationship Type="http://schemas.openxmlformats.org/officeDocument/2006/relationships/notesMaster" Target="/ppt/notesMasters/notesMaster1.xml" Id="Rba11d43ff6ee47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ed153141294a4b" /><Relationship Type="http://schemas.openxmlformats.org/officeDocument/2006/relationships/notesMaster" Target="/ppt/notesMasters/notesMaster1.xml" Id="R3ffc00f5a7c942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352d31798745b7" /><Relationship Type="http://schemas.openxmlformats.org/officeDocument/2006/relationships/notesMaster" Target="/ppt/notesMasters/notesMaster1.xml" Id="R0c095472770644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251d39a3c94c46" /><Relationship Type="http://schemas.openxmlformats.org/officeDocument/2006/relationships/notesMaster" Target="/ppt/notesMasters/notesMaster1.xml" Id="Re1e31c870636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6d46c06e4c400d" /><Relationship Type="http://schemas.openxmlformats.org/officeDocument/2006/relationships/notesMaster" Target="/ppt/notesMasters/notesMaster1.xml" Id="R8318a8694cd14f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081af6071a43be" /><Relationship Type="http://schemas.openxmlformats.org/officeDocument/2006/relationships/notesMaster" Target="/ppt/notesMasters/notesMaster1.xml" Id="R8a408bf8dd354c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Locate one place you already know on a map.</a:t>
            </a:r>
          </a:p>
          <a:p xmlns:a="http://schemas.openxmlformats.org/drawingml/2006/main">
            <a:r>
              <a:t/>
            </a:r>
          </a:p>
          <a:p xmlns:a="http://schemas.openxmlformats.org/drawingml/2006/main">
            <a:r>
              <a:t>Timing 0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Arrival: check the meanings of country and continent.</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one route and answer four retrieval questions.</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SUPPORTED</a:t>
            </a:r>
          </a:p>
          <a:p xmlns:a="http://schemas.openxmlformats.org/drawingml/2006/main">
            <a:r>
              <a:t/>
            </a:r>
          </a:p>
          <a:p xmlns:a="http://schemas.openxmlformats.org/drawingml/2006/main">
            <a:r>
              <a:t>Does a map help show places or tell the time? Help: Think about finding a place. Answer: It helps show places.</a:t>
            </a:r>
          </a:p>
          <a:p xmlns:a="http://schemas.openxmlformats.org/drawingml/2006/main">
            <a:r>
              <a:t/>
            </a:r>
          </a:p>
          <a:p xmlns:a="http://schemas.openxmlformats.org/drawingml/2006/main">
            <a:r>
              <a:t>Choose a country: England or Europe. Help: Europe is a continent. Answer: England.</a:t>
            </a:r>
          </a:p>
          <a:p xmlns:a="http://schemas.openxmlformats.org/drawingml/2006/main">
            <a:r>
              <a:t/>
            </a:r>
          </a:p>
          <a:p xmlns:a="http://schemas.openxmlformats.org/drawingml/2006/main">
            <a:r>
              <a:t>Choose a continent: Europe or Middlesbrough. Help: Middlesbrough is a town. Answer: Europe.</a:t>
            </a:r>
          </a:p>
          <a:p xmlns:a="http://schemas.openxmlformats.org/drawingml/2006/main">
            <a:r>
              <a:t/>
            </a:r>
          </a:p>
          <a:p xmlns:a="http://schemas.openxmlformats.org/drawingml/2006/main">
            <a:r>
              <a:t>Which view could show a school gate: a local plan or a world map? Help: Look for the view of a smaller area. Answer: A local plan.</a:t>
            </a:r>
          </a:p>
          <a:p xmlns:a="http://schemas.openxmlformats.org/drawingml/2006/main">
            <a:r>
              <a:t/>
            </a:r>
          </a:p>
          <a:p xmlns:a="http://schemas.openxmlformats.org/drawingml/2006/main">
            <a:r>
              <a:t>STANDARD</a:t>
            </a:r>
          </a:p>
          <a:p xmlns:a="http://schemas.openxmlformats.org/drawingml/2006/main">
            <a:r>
              <a:t/>
            </a:r>
          </a:p>
          <a:p xmlns:a="http://schemas.openxmlformats.org/drawingml/2006/main">
            <a:r>
              <a:t>What does locate mean when reading a map? Help: Think find and show. Answer: Find and show where a place is.</a:t>
            </a:r>
          </a:p>
          <a:p xmlns:a="http://schemas.openxmlformats.org/drawingml/2006/main">
            <a:r>
              <a:t/>
            </a:r>
          </a:p>
          <a:p xmlns:a="http://schemas.openxmlformats.org/drawingml/2006/main">
            <a:r>
              <a:t>Is the UK a country or a continent? Help: Europe is the continent containing the UK. Answer: A country made up of England, Scotland, Wales and Northern Ireland.</a:t>
            </a:r>
          </a:p>
          <a:p xmlns:a="http://schemas.openxmlformats.org/drawingml/2006/main">
            <a:r>
              <a:t/>
            </a:r>
          </a:p>
          <a:p xmlns:a="http://schemas.openxmlformats.org/drawingml/2006/main">
            <a:r>
              <a:t>What does north-east combine? Help: Use the two words in the direction. Answer: North and east.</a:t>
            </a:r>
          </a:p>
          <a:p xmlns:a="http://schemas.openxmlformats.org/drawingml/2006/main">
            <a:r>
              <a:t/>
            </a:r>
          </a:p>
          <a:p xmlns:a="http://schemas.openxmlformats.org/drawingml/2006/main">
            <a:r>
              <a:t>Why might a world map be unhelpful for finding a school entrance? Help: Think about how much local detail fits. Answer: It covers a very large area so that local detail is too small.</a:t>
            </a:r>
          </a:p>
          <a:p xmlns:a="http://schemas.openxmlformats.org/drawingml/2006/main">
            <a:r>
              <a:t/>
            </a:r>
          </a:p>
          <a:p xmlns:a="http://schemas.openxmlformats.org/drawingml/2006/main">
            <a:r>
              <a:t>STRETCH</a:t>
            </a:r>
          </a:p>
          <a:p xmlns:a="http://schemas.openxmlformats.org/drawingml/2006/main">
            <a:r>
              <a:t/>
            </a:r>
          </a:p>
          <a:p xmlns:a="http://schemas.openxmlformats.org/drawingml/2006/main">
            <a:r>
              <a:t>Why could two maps of the same place look different? Help: Consider area shown, purpose and detail. Answer: Different scales, purposes or selected features.</a:t>
            </a:r>
          </a:p>
          <a:p xmlns:a="http://schemas.openxmlformats.org/drawingml/2006/main">
            <a:r>
              <a:t/>
            </a:r>
          </a:p>
          <a:p xmlns:a="http://schemas.openxmlformats.org/drawingml/2006/main">
            <a:r>
              <a:t>Name the four countries of the UK. Help: England is one; Northern Ireland is another. Answer: England, Scotland, Wales and Northern Ireland.</a:t>
            </a:r>
          </a:p>
          <a:p xmlns:a="http://schemas.openxmlformats.org/drawingml/2006/main">
            <a:r>
              <a:t/>
            </a:r>
          </a:p>
          <a:p xmlns:a="http://schemas.openxmlformats.org/drawingml/2006/main">
            <a:r>
              <a:t>Correct: “Europe is another name for the UK.” Help: Use country and continent. Answer: The UK is a country in Europe; Europe includes many countries.</a:t>
            </a:r>
          </a:p>
          <a:p xmlns:a="http://schemas.openxmlformats.org/drawingml/2006/main">
            <a:r>
              <a:t/>
            </a:r>
          </a:p>
          <a:p xmlns:a="http://schemas.openxmlformats.org/drawingml/2006/main">
            <a:r>
              <a:t>What happens to local detail when a larger area fits on the same page? Help: Think of zooming out. Answer: Local detail becomes smaller and some is omitted.</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Starter: choose a map for a school entrance.</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view that could show a school entrance.</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I Do: locate Middlesbrough, the UK and Europe.</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Watch how I move from Middlesbrough to the UK and Europe.</a:t>
            </a:r>
          </a:p>
          <a:p xmlns:a="http://schemas.openxmlformats.org/drawingml/2006/main">
            <a:r>
              <a:t/>
            </a:r>
          </a:p>
          <a:p xmlns:a="http://schemas.openxmlformats.org/drawingml/2006/main">
            <a:r>
              <a:t>Timing 5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Locate Middlesbrough and the UK using the map views.</a:t>
            </a:r>
          </a:p>
          <a:p xmlns:a="http://schemas.openxmlformats.org/drawingml/2006/main">
            <a:r>
              <a:t/>
            </a:r>
          </a:p>
          <a:p xmlns:a="http://schemas.openxmlformats.org/drawingml/2006/main">
            <a:r>
              <a:t>Timing 5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Expected answer: The marker places Middlesbrough in north-east England.</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I Do 2: compare detail in two map views.</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Watch how I explain the change from a local view to a world view.</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Repair the statement about a country and a continent.</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Expected answer: The UK is a country in Europe. Europe is the continent; Middlesbrough is a town in England.</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Independent: locate places with the map key.</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Locate your place, the UK and Europe and describe one change of scale.</a:t>
            </a:r>
          </a:p>
          <a:p xmlns:a="http://schemas.openxmlformats.org/drawingml/2006/main">
            <a:r>
              <a:t/>
            </a:r>
          </a:p>
          <a:p xmlns:a="http://schemas.openxmlformats.org/drawingml/2006/main">
            <a:r>
              <a:t>Timing 10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Exit: justify a map view for a local visit.</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which map view you would use for a local visit.</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Locate the school’s own locality with the group before the independent task. Middlesbrough is the worked Teesside example, not an assertion that every pupil lives there. Use the map marker, key and compass together. No home address is requested.</a:t>
            </a:r>
          </a:p>
          <a:p xmlns:a="http://schemas.openxmlformats.org/drawingml/2006/main">
            <a:r>
              <a:t/>
            </a:r>
          </a:p>
          <a:p xmlns:a="http://schemas.openxmlformats.org/drawingml/2006/main">
            <a:r>
              <a:t>Europe is not the EU, and the UK is not a continent. This lesson locates geographical places; membership of a political organisation is a different question.</a:t>
            </a:r>
          </a:p>
          <a:p xmlns:a="http://schemas.openxmlformats.org/drawingml/2006/main">
            <a:r>
              <a:t/>
            </a:r>
          </a:p>
          <a:p xmlns:a="http://schemas.openxmlformats.org/drawingml/2006/main">
            <a:r>
              <a:t>supported: A local plan; Europe.</a:t>
            </a:r>
          </a:p>
          <a:p xmlns:a="http://schemas.openxmlformats.org/drawingml/2006/main">
            <a:r>
              <a:t/>
            </a:r>
          </a:p>
          <a:p xmlns:a="http://schemas.openxmlformats.org/drawingml/2006/main">
            <a:r>
              <a:t>standard: Each shows the area and level of detail suited to the purpose.</a:t>
            </a:r>
          </a:p>
          <a:p xmlns:a="http://schemas.openxmlformats.org/drawingml/2006/main">
            <a:r>
              <a:t/>
            </a:r>
          </a:p>
          <a:p xmlns:a="http://schemas.openxmlformats.org/drawingml/2006/main">
            <a:r>
              <a:t>stretch: The UK is a country in Europe; simplified maps omit detail and are not navigation instructions.</a:t>
            </a:r>
          </a:p>
          <a:p xmlns:a="http://schemas.openxmlformats.org/drawingml/2006/main">
            <a:r>
              <a:t/>
            </a:r>
          </a:p>
          <a:p xmlns:a="http://schemas.openxmlformats.org/drawingml/2006/main">
            <a:r>
              <a:t>EFL: 30-second clip, photo, or one-line context note. Central tags only. Listen / look before tagging (Audience).</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Next lesson: use atlases, grid references and digital maps.</a:t>
            </a:r>
          </a:p>
          <a:p xmlns:a="http://schemas.openxmlformats.org/drawingml/2006/main">
            <a:r>
              <a:t/>
            </a:r>
          </a:p>
          <a:p xmlns:a="http://schemas.openxmlformats.org/drawingml/2006/main">
            <a:r>
              <a:t>Natural Earth, 1:110m land</a:t>
            </a:r>
          </a:p>
          <a:p xmlns:a="http://schemas.openxmlformats.org/drawingml/2006/main">
            <a:r>
              <a:t>https://www.naturalearthdata.com/about/terms-of-use/</a:t>
            </a:r>
          </a:p>
          <a:p xmlns:a="http://schemas.openxmlformats.org/drawingml/2006/main">
            <a:r>
              <a:t>Public-domain coastline data; simplified equirectangular teaching maps generated from the supplied land geometry.</a:t>
            </a:r>
          </a:p>
          <a:p xmlns:a="http://schemas.openxmlformats.org/drawingml/2006/main">
            <a:r>
              <a:t/>
            </a:r>
          </a:p>
          <a:p xmlns:a="http://schemas.openxmlformats.org/drawingml/2006/main">
            <a:r>
              <a:t>Ordnance Survey, Mapzone</a:t>
            </a:r>
          </a:p>
          <a:p xmlns:a="http://schemas.openxmlformats.org/drawingml/2006/main">
            <a:r>
              <a:t>https://www.ordnancesurvey.co.uk/mapzone/map-skills</a:t>
            </a:r>
          </a:p>
          <a:p xmlns:a="http://schemas.openxmlformats.org/drawingml/2006/main">
            <a:r>
              <a:t>Map-skills context; labels, prompts and worked examples authored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e0276aabcb40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52860b98df452b" /><Relationship Type="http://schemas.openxmlformats.org/officeDocument/2006/relationships/slideLayout" Target="/ppt/slideLayouts/slideLayout1.xml" Id="Rfc299bd137dc44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299bd137dc44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57f76509a84483" /><Relationship Type="http://schemas.openxmlformats.org/officeDocument/2006/relationships/notesSlide" Target="/ppt/notesSlides/notesSlide1.xml" Id="R233f67ac4b3542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d38a0843334cbe" /><Relationship Type="http://schemas.openxmlformats.org/officeDocument/2006/relationships/notesSlide" Target="/ppt/notesSlides/notesSlide2.xml" Id="Rc9ef2d00196946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b175ee11284bdf" /><Relationship Type="http://schemas.openxmlformats.org/officeDocument/2006/relationships/image" Target="/ppt/media/image.png" Id="Ra15af14d17c74955" /><Relationship Type="http://schemas.openxmlformats.org/officeDocument/2006/relationships/notesSlide" Target="/ppt/notesSlides/notesSlide3.xml" Id="R58393579089641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07da6317a848d9" /><Relationship Type="http://schemas.openxmlformats.org/officeDocument/2006/relationships/image" Target="/ppt/media/image2.png" Id="Rd64384f57cc54d4d" /><Relationship Type="http://schemas.openxmlformats.org/officeDocument/2006/relationships/notesSlide" Target="/ppt/notesSlides/notesSlide4.xml" Id="Redd73121f7574d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08b5de9a674906" /><Relationship Type="http://schemas.openxmlformats.org/officeDocument/2006/relationships/image" Target="/ppt/media/image3.png" Id="R274eede7cf554dfd" /><Relationship Type="http://schemas.openxmlformats.org/officeDocument/2006/relationships/notesSlide" Target="/ppt/notesSlides/notesSlide5.xml" Id="Rc005f4761bf64d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461fddfdcc41af" /><Relationship Type="http://schemas.openxmlformats.org/officeDocument/2006/relationships/image" Target="/ppt/media/image4.png" Id="R7991f1c030804a20" /><Relationship Type="http://schemas.openxmlformats.org/officeDocument/2006/relationships/notesSlide" Target="/ppt/notesSlides/notesSlide6.xml" Id="Rb0f1bb8e37d647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e871bda3694eaf" /><Relationship Type="http://schemas.openxmlformats.org/officeDocument/2006/relationships/image" Target="/ppt/media/image5.png" Id="R527d668c9b414a7c" /><Relationship Type="http://schemas.openxmlformats.org/officeDocument/2006/relationships/notesSlide" Target="/ppt/notesSlides/notesSlide7.xml" Id="R7663fab4626043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6caec71d784ca6" /><Relationship Type="http://schemas.openxmlformats.org/officeDocument/2006/relationships/notesSlide" Target="/ppt/notesSlides/notesSlide8.xml" Id="R41f5be81899145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15cb208c71403e" /><Relationship Type="http://schemas.openxmlformats.org/officeDocument/2006/relationships/notesSlide" Target="/ppt/notesSlides/notesSlide9.xml" Id="Rbec6d9b4d97343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9773A-E770-433E-A79C-A2282E353975}"/>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0 MIN</a:t>
            </a:r>
          </a:p>
        </p:txBody>
      </p:sp>
      <p:sp>
        <p:nvSpPr>
          <p:cNvPr id="2" name="">
            <a:extLst xmlns:a="http://schemas.openxmlformats.org/drawingml/2006/main">
              <a:ext uri="{FF2B5EF4-FFF2-40B4-BE49-F238E27FC236}">
                <a16:creationId xmlns:a16="http://schemas.microsoft.com/office/drawing/2014/main" id="{608C8C98-08BC-4704-9C7D-CD64ED8CD9C1}"/>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F2937"/>
                </a:solidFill>
                <a:latin typeface="Arial"/>
                <a:ea typeface="Arial"/>
                <a:cs typeface="Arial"/>
              </a:defRPr>
            </a:pPr>
            <a:r>
              <a:rPr sz="3150" b="1">
                <a:solidFill>
                  <a:srgbClr val="1F2937"/>
                </a:solidFill>
                <a:latin typeface="Arial"/>
                <a:ea typeface="Arial"/>
                <a:cs typeface="Arial"/>
              </a:rPr>
              <a:t>My place, the UK and the wider world</a:t>
            </a:r>
          </a:p>
        </p:txBody>
      </p:sp>
      <p:sp>
        <p:nvSpPr>
          <p:cNvPr id="3" name="">
            <a:extLst xmlns:a="http://schemas.openxmlformats.org/drawingml/2006/main">
              <a:ext uri="{FF2B5EF4-FFF2-40B4-BE49-F238E27FC236}">
                <a16:creationId xmlns:a16="http://schemas.microsoft.com/office/drawing/2014/main" id="{AA5E8BCE-31D6-49D6-98C3-047C5C15CA43}"/>
              </a:ext>
            </a:extLst>
          </p:cNvPr>
          <p:cNvSpPr>
            <a:spLocks xmlns:a="http://schemas.openxmlformats.org/drawingml/2006/main" noGrp="1"/>
          </p:cNvSpPr>
          <p:nvPr/>
        </p:nvSpPr>
        <p:spPr>
          <a:xfrm xmlns:a="http://schemas.openxmlformats.org/drawingml/2006/main">
            <a:off x="571500" y="18573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F2937"/>
                </a:solidFill>
                <a:latin typeface="Arial"/>
                <a:ea typeface="Arial"/>
                <a:cs typeface="Arial"/>
              </a:defRPr>
            </a:pPr>
            <a:r>
              <a:rPr sz="2325" b="1">
                <a:solidFill>
                  <a:srgbClr val="1F2937"/>
                </a:solidFill>
                <a:latin typeface="Arial"/>
                <a:ea typeface="Arial"/>
                <a:cs typeface="Arial"/>
              </a:rPr>
              <a:t>Locate my place the UK and the wider world on maps.</a:t>
            </a:r>
          </a:p>
        </p:txBody>
      </p:sp>
      <p:sp>
        <p:nvSpPr>
          <p:cNvPr id="4" name="">
            <a:extLst xmlns:a="http://schemas.openxmlformats.org/drawingml/2006/main">
              <a:ext uri="{FF2B5EF4-FFF2-40B4-BE49-F238E27FC236}">
                <a16:creationId xmlns:a16="http://schemas.microsoft.com/office/drawing/2014/main" id="{A14C85A5-F035-484A-8F48-F4F21F64583E}"/>
              </a:ext>
            </a:extLst>
          </p:cNvPr>
          <p:cNvSpPr>
            <a:spLocks xmlns:a="http://schemas.openxmlformats.org/drawingml/2006/main" noGrp="1"/>
          </p:cNvSpPr>
          <p:nvPr/>
        </p:nvSpPr>
        <p:spPr>
          <a:xfrm xmlns:a="http://schemas.openxmlformats.org/drawingml/2006/main">
            <a:off x="571500" y="2952750"/>
            <a:ext cx="714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F2937"/>
                </a:solidFill>
                <a:latin typeface="Arial"/>
                <a:ea typeface="Arial"/>
                <a:cs typeface="Arial"/>
              </a:defRPr>
            </a:pPr>
            <a:r>
              <a:rPr sz="2025" b="0">
                <a:solidFill>
                  <a:srgbClr val="1F2937"/>
                </a:solidFill>
                <a:latin typeface="Arial"/>
                <a:ea typeface="Arial"/>
                <a:cs typeface="Arial"/>
              </a:rPr>
              <a:t>• Locate Middlesbrough in north-east England.</a:t>
            </a:r>
          </a:p>
          <a:p xmlns:a="http://schemas.openxmlformats.org/drawingml/2006/main">
            <a:r>
              <a:t/>
            </a:r>
          </a:p>
          <a:p xmlns:a="http://schemas.openxmlformats.org/drawingml/2006/main">
            <a:pPr>
              <a:defRPr sz="2025" b="0">
                <a:solidFill>
                  <a:srgbClr val="1F2937"/>
                </a:solidFill>
                <a:latin typeface="Arial"/>
                <a:ea typeface="Arial"/>
                <a:cs typeface="Arial"/>
              </a:defRPr>
            </a:pPr>
            <a:r>
              <a:rPr sz="2025" b="0">
                <a:solidFill>
                  <a:srgbClr val="1F2937"/>
                </a:solidFill>
                <a:latin typeface="Arial"/>
                <a:ea typeface="Arial"/>
                <a:cs typeface="Arial"/>
              </a:rPr>
              <a:t>• Locate the UK in Europe on a world map.</a:t>
            </a:r>
          </a:p>
          <a:p xmlns:a="http://schemas.openxmlformats.org/drawingml/2006/main">
            <a:r>
              <a:t/>
            </a:r>
          </a:p>
          <a:p xmlns:a="http://schemas.openxmlformats.org/drawingml/2006/main">
            <a:pPr>
              <a:defRPr sz="2025" b="0">
                <a:solidFill>
                  <a:srgbClr val="1F2937"/>
                </a:solidFill>
                <a:latin typeface="Arial"/>
                <a:ea typeface="Arial"/>
                <a:cs typeface="Arial"/>
              </a:defRPr>
            </a:pPr>
            <a:r>
              <a:rPr sz="2025" b="0">
                <a:solidFill>
                  <a:srgbClr val="1F2937"/>
                </a:solidFill>
                <a:latin typeface="Arial"/>
                <a:ea typeface="Arial"/>
                <a:cs typeface="Arial"/>
              </a:rPr>
              <a:t>• Explain what changes when a map shows a wider area.</a:t>
            </a:r>
          </a:p>
        </p:txBody>
      </p:sp>
      <p:sp>
        <p:nvSpPr>
          <p:cNvPr id="5" name="">
            <a:extLst xmlns:a="http://schemas.openxmlformats.org/drawingml/2006/main">
              <a:ext uri="{FF2B5EF4-FFF2-40B4-BE49-F238E27FC236}">
                <a16:creationId xmlns:a16="http://schemas.microsoft.com/office/drawing/2014/main" id="{A616DF67-818F-447A-A6F5-4B3C26C01A39}"/>
              </a:ext>
            </a:extLst>
          </p:cNvPr>
          <p:cNvSpPr>
            <a:spLocks xmlns:a="http://schemas.openxmlformats.org/drawingml/2006/main" noGrp="1"/>
          </p:cNvSpPr>
          <p:nvPr/>
        </p:nvSpPr>
        <p:spPr>
          <a:xfrm xmlns:a="http://schemas.openxmlformats.org/drawingml/2006/main">
            <a:off x="8286750" y="2952750"/>
            <a:ext cx="31908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F7D6E"/>
                </a:solidFill>
                <a:latin typeface="Arial"/>
                <a:ea typeface="Arial"/>
                <a:cs typeface="Arial"/>
              </a:defRPr>
            </a:pPr>
            <a:r>
              <a:rPr sz="1800" b="0">
                <a:solidFill>
                  <a:srgbClr val="3F7D6E"/>
                </a:solidFill>
                <a:latin typeface="Arial"/>
                <a:ea typeface="Arial"/>
                <a:cs typeface="Arial"/>
              </a:rPr>
              <a:t>World of work</a:t>
            </a:r>
          </a:p>
          <a:p xmlns:a="http://schemas.openxmlformats.org/drawingml/2006/main">
            <a:r>
              <a:t/>
            </a:r>
          </a:p>
          <a:p xmlns:a="http://schemas.openxmlformats.org/drawingml/2006/main">
            <a:pPr>
              <a:defRPr sz="1800" b="0">
                <a:solidFill>
                  <a:srgbClr val="3F7D6E"/>
                </a:solidFill>
                <a:latin typeface="Arial"/>
                <a:ea typeface="Arial"/>
                <a:cs typeface="Arial"/>
              </a:defRPr>
            </a:pPr>
            <a:r>
              <a:rPr sz="1800" b="0">
                <a:solidFill>
                  <a:srgbClr val="3F7D6E"/>
                </a:solidFill>
                <a:latin typeface="Arial"/>
                <a:ea typeface="Arial"/>
                <a:cs typeface="Arial"/>
              </a:rPr>
              <a:t>A town planner uses maps at different scales to connect a local site with a region. Choose the map view that would help plan a local visit.</a:t>
            </a:r>
          </a:p>
        </p:txBody>
      </p:sp>
      <p:sp>
        <p:nvSpPr>
          <p:cNvPr id="6" name="">
            <a:extLst xmlns:a="http://schemas.openxmlformats.org/drawingml/2006/main">
              <a:ext uri="{FF2B5EF4-FFF2-40B4-BE49-F238E27FC236}">
                <a16:creationId xmlns:a16="http://schemas.microsoft.com/office/drawing/2014/main" id="{8382B6C7-7D91-4E19-ABEE-4EDEB7DB558A}"/>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7" name="">
            <a:extLst xmlns:a="http://schemas.openxmlformats.org/drawingml/2006/main">
              <a:ext uri="{FF2B5EF4-FFF2-40B4-BE49-F238E27FC236}">
                <a16:creationId xmlns:a16="http://schemas.microsoft.com/office/drawing/2014/main" id="{F7139BF1-190E-41B3-8814-5CB3BC4D8AD4}"/>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1 / 9</a:t>
            </a:r>
          </a:p>
        </p:txBody>
      </p:sp>
    </p:spTree>
    <p:extLst>
      <p:ext uri="{BB962C8B-B14F-4D97-AF65-F5344CB8AC3E}">
        <p14:creationId xmlns:p14="http://schemas.microsoft.com/office/powerpoint/2010/main" val="16652341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A5BADB6-43E7-4D15-8506-4C08BD36BD2B}"/>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4 MIN</a:t>
            </a:r>
          </a:p>
        </p:txBody>
      </p:sp>
      <p:sp>
        <p:nvSpPr>
          <p:cNvPr id="2" name="">
            <a:extLst xmlns:a="http://schemas.openxmlformats.org/drawingml/2006/main">
              <a:ext uri="{FF2B5EF4-FFF2-40B4-BE49-F238E27FC236}">
                <a16:creationId xmlns:a16="http://schemas.microsoft.com/office/drawing/2014/main" id="{AED7B35F-3FAB-4E3B-A84E-864518DB0DAE}"/>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Arrival</a:t>
            </a:r>
          </a:p>
        </p:txBody>
      </p:sp>
      <p:sp>
        <p:nvSpPr>
          <p:cNvPr id="3" name="">
            <a:extLst xmlns:a="http://schemas.openxmlformats.org/drawingml/2006/main">
              <a:ext uri="{FF2B5EF4-FFF2-40B4-BE49-F238E27FC236}">
                <a16:creationId xmlns:a16="http://schemas.microsoft.com/office/drawing/2014/main" id="{092F13EA-800E-456F-8588-368EB5535459}"/>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Choose one route and answer four retrieval questions.</a:t>
            </a:r>
          </a:p>
        </p:txBody>
      </p:sp>
      <p:sp>
        <p:nvSpPr>
          <p:cNvPr id="4" name="">
            <a:extLst xmlns:a="http://schemas.openxmlformats.org/drawingml/2006/main">
              <a:ext uri="{FF2B5EF4-FFF2-40B4-BE49-F238E27FC236}">
                <a16:creationId xmlns:a16="http://schemas.microsoft.com/office/drawing/2014/main" id="{D5925C74-3D0E-49FA-A249-CE3857177986}"/>
              </a:ext>
            </a:extLst>
          </p:cNvPr>
          <p:cNvSpPr>
            <a:spLocks xmlns:a="http://schemas.openxmlformats.org/drawingml/2006/main" noGrp="1"/>
          </p:cNvSpPr>
          <p:nvPr/>
        </p:nvSpPr>
        <p:spPr>
          <a:xfrm xmlns:a="http://schemas.openxmlformats.org/drawingml/2006/main">
            <a:off x="571500" y="23622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F6AFBD80-0B91-4AAE-8F29-657A496B4E98}"/>
              </a:ext>
            </a:extLst>
          </p:cNvPr>
          <p:cNvSpPr>
            <a:spLocks xmlns:a="http://schemas.openxmlformats.org/drawingml/2006/main" noGrp="1"/>
          </p:cNvSpPr>
          <p:nvPr/>
        </p:nvSpPr>
        <p:spPr>
          <a:xfrm xmlns:a="http://schemas.openxmlformats.org/drawingml/2006/main">
            <a:off x="571500" y="2800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1. Does a map help show places or tell the time?</a:t>
            </a:r>
          </a:p>
        </p:txBody>
      </p:sp>
      <p:sp>
        <p:nvSpPr>
          <p:cNvPr id="6" name="">
            <a:extLst xmlns:a="http://schemas.openxmlformats.org/drawingml/2006/main">
              <a:ext uri="{FF2B5EF4-FFF2-40B4-BE49-F238E27FC236}">
                <a16:creationId xmlns:a16="http://schemas.microsoft.com/office/drawing/2014/main" id="{B4BC642D-F27E-44C3-91F8-A1046F0B375D}"/>
              </a:ext>
            </a:extLst>
          </p:cNvPr>
          <p:cNvSpPr>
            <a:spLocks xmlns:a="http://schemas.openxmlformats.org/drawingml/2006/main" noGrp="1"/>
          </p:cNvSpPr>
          <p:nvPr/>
        </p:nvSpPr>
        <p:spPr>
          <a:xfrm xmlns:a="http://schemas.openxmlformats.org/drawingml/2006/main">
            <a:off x="571500" y="35337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2. Choose a country: England or Europe.</a:t>
            </a:r>
          </a:p>
        </p:txBody>
      </p:sp>
      <p:sp>
        <p:nvSpPr>
          <p:cNvPr id="7" name="">
            <a:extLst xmlns:a="http://schemas.openxmlformats.org/drawingml/2006/main">
              <a:ext uri="{FF2B5EF4-FFF2-40B4-BE49-F238E27FC236}">
                <a16:creationId xmlns:a16="http://schemas.microsoft.com/office/drawing/2014/main" id="{DE2F063C-389D-48F6-B306-046E6521D4D0}"/>
              </a:ext>
            </a:extLst>
          </p:cNvPr>
          <p:cNvSpPr>
            <a:spLocks xmlns:a="http://schemas.openxmlformats.org/drawingml/2006/main" noGrp="1"/>
          </p:cNvSpPr>
          <p:nvPr/>
        </p:nvSpPr>
        <p:spPr>
          <a:xfrm xmlns:a="http://schemas.openxmlformats.org/drawingml/2006/main">
            <a:off x="571500" y="4267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3. Choose a continent: Europe or Middlesbrough.</a:t>
            </a:r>
          </a:p>
        </p:txBody>
      </p:sp>
      <p:sp>
        <p:nvSpPr>
          <p:cNvPr id="8" name="">
            <a:extLst xmlns:a="http://schemas.openxmlformats.org/drawingml/2006/main">
              <a:ext uri="{FF2B5EF4-FFF2-40B4-BE49-F238E27FC236}">
                <a16:creationId xmlns:a16="http://schemas.microsoft.com/office/drawing/2014/main" id="{795FDA06-1B4A-4DBE-AF4A-2AEE4A66736D}"/>
              </a:ext>
            </a:extLst>
          </p:cNvPr>
          <p:cNvSpPr>
            <a:spLocks xmlns:a="http://schemas.openxmlformats.org/drawingml/2006/main" noGrp="1"/>
          </p:cNvSpPr>
          <p:nvPr/>
        </p:nvSpPr>
        <p:spPr>
          <a:xfrm xmlns:a="http://schemas.openxmlformats.org/drawingml/2006/main">
            <a:off x="571500" y="5000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4. Which view could show a school gate: a local plan or a world map?</a:t>
            </a:r>
          </a:p>
        </p:txBody>
      </p:sp>
      <p:sp>
        <p:nvSpPr>
          <p:cNvPr id="9" name="">
            <a:extLst xmlns:a="http://schemas.openxmlformats.org/drawingml/2006/main">
              <a:ext uri="{FF2B5EF4-FFF2-40B4-BE49-F238E27FC236}">
                <a16:creationId xmlns:a16="http://schemas.microsoft.com/office/drawing/2014/main" id="{2F984F70-B9DD-4525-A953-152C46A75AB9}"/>
              </a:ext>
            </a:extLst>
          </p:cNvPr>
          <p:cNvSpPr>
            <a:spLocks xmlns:a="http://schemas.openxmlformats.org/drawingml/2006/main" noGrp="1"/>
          </p:cNvSpPr>
          <p:nvPr/>
        </p:nvSpPr>
        <p:spPr>
          <a:xfrm xmlns:a="http://schemas.openxmlformats.org/drawingml/2006/main">
            <a:off x="4381500" y="23622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STANDARD</a:t>
            </a:r>
          </a:p>
        </p:txBody>
      </p:sp>
      <p:sp>
        <p:nvSpPr>
          <p:cNvPr id="10" name="">
            <a:extLst xmlns:a="http://schemas.openxmlformats.org/drawingml/2006/main">
              <a:ext uri="{FF2B5EF4-FFF2-40B4-BE49-F238E27FC236}">
                <a16:creationId xmlns:a16="http://schemas.microsoft.com/office/drawing/2014/main" id="{F78DEFF3-8F68-49B5-9809-9511C0106D83}"/>
              </a:ext>
            </a:extLst>
          </p:cNvPr>
          <p:cNvSpPr>
            <a:spLocks xmlns:a="http://schemas.openxmlformats.org/drawingml/2006/main" noGrp="1"/>
          </p:cNvSpPr>
          <p:nvPr/>
        </p:nvSpPr>
        <p:spPr>
          <a:xfrm xmlns:a="http://schemas.openxmlformats.org/drawingml/2006/main">
            <a:off x="4381500" y="2800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1. What does locate mean when reading a map?</a:t>
            </a:r>
          </a:p>
        </p:txBody>
      </p:sp>
      <p:sp>
        <p:nvSpPr>
          <p:cNvPr id="11" name="">
            <a:extLst xmlns:a="http://schemas.openxmlformats.org/drawingml/2006/main">
              <a:ext uri="{FF2B5EF4-FFF2-40B4-BE49-F238E27FC236}">
                <a16:creationId xmlns:a16="http://schemas.microsoft.com/office/drawing/2014/main" id="{458CD490-5DE3-4520-B33B-EE4B767B1B43}"/>
              </a:ext>
            </a:extLst>
          </p:cNvPr>
          <p:cNvSpPr>
            <a:spLocks xmlns:a="http://schemas.openxmlformats.org/drawingml/2006/main" noGrp="1"/>
          </p:cNvSpPr>
          <p:nvPr/>
        </p:nvSpPr>
        <p:spPr>
          <a:xfrm xmlns:a="http://schemas.openxmlformats.org/drawingml/2006/main">
            <a:off x="4381500" y="35337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2. Is the UK a country or a continent?</a:t>
            </a:r>
          </a:p>
        </p:txBody>
      </p:sp>
      <p:sp>
        <p:nvSpPr>
          <p:cNvPr id="12" name="">
            <a:extLst xmlns:a="http://schemas.openxmlformats.org/drawingml/2006/main">
              <a:ext uri="{FF2B5EF4-FFF2-40B4-BE49-F238E27FC236}">
                <a16:creationId xmlns:a16="http://schemas.microsoft.com/office/drawing/2014/main" id="{0A531D68-5274-4DDD-B5AC-7CBA321D7B30}"/>
              </a:ext>
            </a:extLst>
          </p:cNvPr>
          <p:cNvSpPr>
            <a:spLocks xmlns:a="http://schemas.openxmlformats.org/drawingml/2006/main" noGrp="1"/>
          </p:cNvSpPr>
          <p:nvPr/>
        </p:nvSpPr>
        <p:spPr>
          <a:xfrm xmlns:a="http://schemas.openxmlformats.org/drawingml/2006/main">
            <a:off x="4381500" y="4267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3. What does north-east combine?</a:t>
            </a:r>
          </a:p>
        </p:txBody>
      </p:sp>
      <p:sp>
        <p:nvSpPr>
          <p:cNvPr id="13" name="">
            <a:extLst xmlns:a="http://schemas.openxmlformats.org/drawingml/2006/main">
              <a:ext uri="{FF2B5EF4-FFF2-40B4-BE49-F238E27FC236}">
                <a16:creationId xmlns:a16="http://schemas.microsoft.com/office/drawing/2014/main" id="{4EC1E257-9843-417E-B87C-99FB6B3A7B84}"/>
              </a:ext>
            </a:extLst>
          </p:cNvPr>
          <p:cNvSpPr>
            <a:spLocks xmlns:a="http://schemas.openxmlformats.org/drawingml/2006/main" noGrp="1"/>
          </p:cNvSpPr>
          <p:nvPr/>
        </p:nvSpPr>
        <p:spPr>
          <a:xfrm xmlns:a="http://schemas.openxmlformats.org/drawingml/2006/main">
            <a:off x="4381500" y="5000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4. Why might a world map be unhelpful for finding a school entrance?</a:t>
            </a:r>
          </a:p>
        </p:txBody>
      </p:sp>
      <p:sp>
        <p:nvSpPr>
          <p:cNvPr id="14" name="">
            <a:extLst xmlns:a="http://schemas.openxmlformats.org/drawingml/2006/main">
              <a:ext uri="{FF2B5EF4-FFF2-40B4-BE49-F238E27FC236}">
                <a16:creationId xmlns:a16="http://schemas.microsoft.com/office/drawing/2014/main" id="{BD3D4CF7-3193-4D61-81BC-72816448ECB3}"/>
              </a:ext>
            </a:extLst>
          </p:cNvPr>
          <p:cNvSpPr>
            <a:spLocks xmlns:a="http://schemas.openxmlformats.org/drawingml/2006/main" noGrp="1"/>
          </p:cNvSpPr>
          <p:nvPr/>
        </p:nvSpPr>
        <p:spPr>
          <a:xfrm xmlns:a="http://schemas.openxmlformats.org/drawingml/2006/main">
            <a:off x="8191500" y="23622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STRETCH</a:t>
            </a:r>
          </a:p>
        </p:txBody>
      </p:sp>
      <p:sp>
        <p:nvSpPr>
          <p:cNvPr id="15" name="">
            <a:extLst xmlns:a="http://schemas.openxmlformats.org/drawingml/2006/main">
              <a:ext uri="{FF2B5EF4-FFF2-40B4-BE49-F238E27FC236}">
                <a16:creationId xmlns:a16="http://schemas.microsoft.com/office/drawing/2014/main" id="{3E26751F-89D5-4B37-B836-714FB0654EE6}"/>
              </a:ext>
            </a:extLst>
          </p:cNvPr>
          <p:cNvSpPr>
            <a:spLocks xmlns:a="http://schemas.openxmlformats.org/drawingml/2006/main" noGrp="1"/>
          </p:cNvSpPr>
          <p:nvPr/>
        </p:nvSpPr>
        <p:spPr>
          <a:xfrm xmlns:a="http://schemas.openxmlformats.org/drawingml/2006/main">
            <a:off x="8191500" y="2800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1. Why could two maps of the same place look different?</a:t>
            </a:r>
          </a:p>
        </p:txBody>
      </p:sp>
      <p:sp>
        <p:nvSpPr>
          <p:cNvPr id="16" name="">
            <a:extLst xmlns:a="http://schemas.openxmlformats.org/drawingml/2006/main">
              <a:ext uri="{FF2B5EF4-FFF2-40B4-BE49-F238E27FC236}">
                <a16:creationId xmlns:a16="http://schemas.microsoft.com/office/drawing/2014/main" id="{950DB7C2-9052-49D4-9C4D-227BB6C626C1}"/>
              </a:ext>
            </a:extLst>
          </p:cNvPr>
          <p:cNvSpPr>
            <a:spLocks xmlns:a="http://schemas.openxmlformats.org/drawingml/2006/main" noGrp="1"/>
          </p:cNvSpPr>
          <p:nvPr/>
        </p:nvSpPr>
        <p:spPr>
          <a:xfrm xmlns:a="http://schemas.openxmlformats.org/drawingml/2006/main">
            <a:off x="8191500" y="35337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2. Name the four countries of the UK.</a:t>
            </a:r>
          </a:p>
        </p:txBody>
      </p:sp>
      <p:sp>
        <p:nvSpPr>
          <p:cNvPr id="17" name="">
            <a:extLst xmlns:a="http://schemas.openxmlformats.org/drawingml/2006/main">
              <a:ext uri="{FF2B5EF4-FFF2-40B4-BE49-F238E27FC236}">
                <a16:creationId xmlns:a16="http://schemas.microsoft.com/office/drawing/2014/main" id="{58A0ECA7-2E34-4C70-840A-81879886FADC}"/>
              </a:ext>
            </a:extLst>
          </p:cNvPr>
          <p:cNvSpPr>
            <a:spLocks xmlns:a="http://schemas.openxmlformats.org/drawingml/2006/main" noGrp="1"/>
          </p:cNvSpPr>
          <p:nvPr/>
        </p:nvSpPr>
        <p:spPr>
          <a:xfrm xmlns:a="http://schemas.openxmlformats.org/drawingml/2006/main">
            <a:off x="8191500" y="4267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3. Correct: “Europe is another name for the UK.”</a:t>
            </a:r>
          </a:p>
        </p:txBody>
      </p:sp>
      <p:sp>
        <p:nvSpPr>
          <p:cNvPr id="18" name="">
            <a:extLst xmlns:a="http://schemas.openxmlformats.org/drawingml/2006/main">
              <a:ext uri="{FF2B5EF4-FFF2-40B4-BE49-F238E27FC236}">
                <a16:creationId xmlns:a16="http://schemas.microsoft.com/office/drawing/2014/main" id="{BBF65825-3E52-48D4-9B6E-18ACC178F66F}"/>
              </a:ext>
            </a:extLst>
          </p:cNvPr>
          <p:cNvSpPr>
            <a:spLocks xmlns:a="http://schemas.openxmlformats.org/drawingml/2006/main" noGrp="1"/>
          </p:cNvSpPr>
          <p:nvPr/>
        </p:nvSpPr>
        <p:spPr>
          <a:xfrm xmlns:a="http://schemas.openxmlformats.org/drawingml/2006/main">
            <a:off x="8191500" y="5000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4. What happens to local detail when a larger area fits on the same page?</a:t>
            </a:r>
          </a:p>
        </p:txBody>
      </p:sp>
      <p:sp>
        <p:nvSpPr>
          <p:cNvPr id="19" name="">
            <a:extLst xmlns:a="http://schemas.openxmlformats.org/drawingml/2006/main">
              <a:ext uri="{FF2B5EF4-FFF2-40B4-BE49-F238E27FC236}">
                <a16:creationId xmlns:a16="http://schemas.microsoft.com/office/drawing/2014/main" id="{F56CD6E7-5397-4D37-99A8-9C0DAB351D08}"/>
              </a:ext>
            </a:extLst>
          </p:cNvPr>
          <p:cNvSpPr>
            <a:spLocks xmlns:a="http://schemas.openxmlformats.org/drawingml/2006/main" noGrp="1"/>
          </p:cNvSpPr>
          <p:nvPr/>
        </p:nvSpPr>
        <p:spPr>
          <a:xfrm xmlns:a="http://schemas.openxmlformats.org/drawingml/2006/main">
            <a:off x="571500" y="59436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Choose one route. Point, speak, sign, draw, write or direct an adult.</a:t>
            </a:r>
          </a:p>
        </p:txBody>
      </p:sp>
      <p:sp>
        <p:nvSpPr>
          <p:cNvPr id="20" name="">
            <a:extLst xmlns:a="http://schemas.openxmlformats.org/drawingml/2006/main">
              <a:ext uri="{FF2B5EF4-FFF2-40B4-BE49-F238E27FC236}">
                <a16:creationId xmlns:a16="http://schemas.microsoft.com/office/drawing/2014/main" id="{7F0DB46C-79CD-4628-ACBE-CE4B8F8CDB22}"/>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21" name="">
            <a:extLst xmlns:a="http://schemas.openxmlformats.org/drawingml/2006/main">
              <a:ext uri="{FF2B5EF4-FFF2-40B4-BE49-F238E27FC236}">
                <a16:creationId xmlns:a16="http://schemas.microsoft.com/office/drawing/2014/main" id="{A6B9A153-A717-43BA-8F46-98F8298481F1}"/>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2 / 9</a:t>
            </a:r>
          </a:p>
        </p:txBody>
      </p:sp>
    </p:spTree>
    <p:extLst>
      <p:ext uri="{BB962C8B-B14F-4D97-AF65-F5344CB8AC3E}">
        <p14:creationId xmlns:p14="http://schemas.microsoft.com/office/powerpoint/2010/main" val="7706026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74C5A4-1F8D-4881-86DA-2BCB7A7DC6FC}"/>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4 MIN</a:t>
            </a:r>
          </a:p>
        </p:txBody>
      </p:sp>
      <p:sp>
        <p:nvSpPr>
          <p:cNvPr id="2" name="">
            <a:extLst xmlns:a="http://schemas.openxmlformats.org/drawingml/2006/main">
              <a:ext uri="{FF2B5EF4-FFF2-40B4-BE49-F238E27FC236}">
                <a16:creationId xmlns:a16="http://schemas.microsoft.com/office/drawing/2014/main" id="{2D6A4896-F249-470F-8BBA-3C347FA45093}"/>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Starter</a:t>
            </a:r>
          </a:p>
        </p:txBody>
      </p:sp>
      <p:sp>
        <p:nvSpPr>
          <p:cNvPr id="3" name="">
            <a:extLst xmlns:a="http://schemas.openxmlformats.org/drawingml/2006/main">
              <a:ext uri="{FF2B5EF4-FFF2-40B4-BE49-F238E27FC236}">
                <a16:creationId xmlns:a16="http://schemas.microsoft.com/office/drawing/2014/main" id="{1468E784-D5CE-4A5E-82EA-9E752F03C6C0}"/>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Choose the view that could show a school entrance.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15af14d17c74955"/>
          <a:stretch xmlns:a="http://schemas.openxmlformats.org/drawingml/2006/main"/>
        </p:blipFill>
        <p:spPr>
          <a:xfrm xmlns:a="http://schemas.openxmlformats.org/drawingml/2006/main">
            <a:off x="571500" y="2474901"/>
            <a:ext cx="6381750" cy="301309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C3406F-EE8B-4149-B5B8-63AE7B309DBC}"/>
              </a:ext>
            </a:extLst>
          </p:cNvPr>
          <p:cNvSpPr>
            <a:spLocks xmlns:a="http://schemas.openxmlformats.org/drawingml/2006/main" noGrp="1"/>
          </p:cNvSpPr>
          <p:nvPr/>
        </p:nvSpPr>
        <p:spPr>
          <a:xfrm xmlns:a="http://schemas.openxmlformats.org/drawingml/2006/main">
            <a:off x="7429500" y="2381250"/>
            <a:ext cx="4000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Words before work</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locate — find and show a place</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scale — the relationship between map distance and real distance</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locality — the area around a place</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country — an area with its own government; the UK is a country made up of four countries</a:t>
            </a:r>
          </a:p>
        </p:txBody>
      </p:sp>
      <p:sp>
        <p:nvSpPr>
          <p:cNvPr id="6" name="">
            <a:extLst xmlns:a="http://schemas.openxmlformats.org/drawingml/2006/main">
              <a:ext uri="{FF2B5EF4-FFF2-40B4-BE49-F238E27FC236}">
                <a16:creationId xmlns:a16="http://schemas.microsoft.com/office/drawing/2014/main" id="{5A4F57C8-CE1B-4C0E-A985-DD977CA70E7B}"/>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7" name="">
            <a:extLst xmlns:a="http://schemas.openxmlformats.org/drawingml/2006/main">
              <a:ext uri="{FF2B5EF4-FFF2-40B4-BE49-F238E27FC236}">
                <a16:creationId xmlns:a16="http://schemas.microsoft.com/office/drawing/2014/main" id="{C255F6A1-DE7B-4A6C-AD32-05F3EDC5DE4F}"/>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3 / 9</a:t>
            </a:r>
          </a:p>
        </p:txBody>
      </p:sp>
    </p:spTree>
    <p:extLst>
      <p:ext uri="{BB962C8B-B14F-4D97-AF65-F5344CB8AC3E}">
        <p14:creationId xmlns:p14="http://schemas.microsoft.com/office/powerpoint/2010/main" val="6292402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D5C583-3662-4AFA-A053-4F446888B4CC}"/>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5 MIN</a:t>
            </a:r>
          </a:p>
        </p:txBody>
      </p:sp>
      <p:sp>
        <p:nvSpPr>
          <p:cNvPr id="2" name="">
            <a:extLst xmlns:a="http://schemas.openxmlformats.org/drawingml/2006/main">
              <a:ext uri="{FF2B5EF4-FFF2-40B4-BE49-F238E27FC236}">
                <a16:creationId xmlns:a16="http://schemas.microsoft.com/office/drawing/2014/main" id="{2E325DBC-E332-4985-A5D0-1B4C265DA0A1}"/>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I Do</a:t>
            </a:r>
          </a:p>
        </p:txBody>
      </p:sp>
      <p:sp>
        <p:nvSpPr>
          <p:cNvPr id="3" name="">
            <a:extLst xmlns:a="http://schemas.openxmlformats.org/drawingml/2006/main">
              <a:ext uri="{FF2B5EF4-FFF2-40B4-BE49-F238E27FC236}">
                <a16:creationId xmlns:a16="http://schemas.microsoft.com/office/drawing/2014/main" id="{61060C5B-BB0C-4CC7-A812-A18DA580E395}"/>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Watch how I move from Middlesbrough to the UK and Europe.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64384f57cc54d4d"/>
          <a:stretch xmlns:a="http://schemas.openxmlformats.org/drawingml/2006/main"/>
        </p:blipFill>
        <p:spPr>
          <a:xfrm xmlns:a="http://schemas.openxmlformats.org/drawingml/2006/main">
            <a:off x="571500" y="2585221"/>
            <a:ext cx="6096000" cy="287818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0B4E81-B73E-42CB-8B6D-E6E1B7F1617A}"/>
              </a:ext>
            </a:extLst>
          </p:cNvPr>
          <p:cNvSpPr>
            <a:spLocks xmlns:a="http://schemas.openxmlformats.org/drawingml/2006/main" noGrp="1"/>
          </p:cNvSpPr>
          <p:nvPr/>
        </p:nvSpPr>
        <p:spPr>
          <a:xfrm xmlns:a="http://schemas.openxmlformats.org/drawingml/2006/main">
            <a:off x="7143750" y="2362200"/>
            <a:ext cx="43338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I start with the local label: Middlesbrough. On the UK view its marker is in north-east England. I zoom out: the UK lies off the north-west coast of mainland Europe. Europe is a continent. England is one of the four countries of the UK; the UK is not a continent.</a:t>
            </a:r>
          </a:p>
        </p:txBody>
      </p:sp>
      <p:sp>
        <p:nvSpPr>
          <p:cNvPr id="6" name="">
            <a:extLst xmlns:a="http://schemas.openxmlformats.org/drawingml/2006/main">
              <a:ext uri="{FF2B5EF4-FFF2-40B4-BE49-F238E27FC236}">
                <a16:creationId xmlns:a16="http://schemas.microsoft.com/office/drawing/2014/main" id="{7994300B-1684-4352-83CE-C6D6514E20AA}"/>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7" name="">
            <a:extLst xmlns:a="http://schemas.openxmlformats.org/drawingml/2006/main">
              <a:ext uri="{FF2B5EF4-FFF2-40B4-BE49-F238E27FC236}">
                <a16:creationId xmlns:a16="http://schemas.microsoft.com/office/drawing/2014/main" id="{2D2AB183-4F51-4855-9BEA-46CE7B47C817}"/>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4 / 9</a:t>
            </a:r>
          </a:p>
        </p:txBody>
      </p:sp>
    </p:spTree>
    <p:extLst>
      <p:ext uri="{BB962C8B-B14F-4D97-AF65-F5344CB8AC3E}">
        <p14:creationId xmlns:p14="http://schemas.microsoft.com/office/powerpoint/2010/main" val="2162132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FEC8A6-5CAF-4F6D-A829-7F2164403264}"/>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5 MIN</a:t>
            </a:r>
          </a:p>
        </p:txBody>
      </p:sp>
      <p:sp>
        <p:nvSpPr>
          <p:cNvPr id="2" name="">
            <a:extLst xmlns:a="http://schemas.openxmlformats.org/drawingml/2006/main">
              <a:ext uri="{FF2B5EF4-FFF2-40B4-BE49-F238E27FC236}">
                <a16:creationId xmlns:a16="http://schemas.microsoft.com/office/drawing/2014/main" id="{C2CF73E0-3507-4397-924D-91750CB97A4F}"/>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We Do</a:t>
            </a:r>
          </a:p>
        </p:txBody>
      </p:sp>
      <p:sp>
        <p:nvSpPr>
          <p:cNvPr id="3" name="">
            <a:extLst xmlns:a="http://schemas.openxmlformats.org/drawingml/2006/main">
              <a:ext uri="{FF2B5EF4-FFF2-40B4-BE49-F238E27FC236}">
                <a16:creationId xmlns:a16="http://schemas.microsoft.com/office/drawing/2014/main" id="{12A3EE5D-9EFA-4B76-ACA2-E223E2D5B8AE}"/>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Locate Middlesbrough and the UK using the map views.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74eede7cf554dfd"/>
          <a:stretch xmlns:a="http://schemas.openxmlformats.org/drawingml/2006/main"/>
        </p:blipFill>
        <p:spPr>
          <a:xfrm xmlns:a="http://schemas.openxmlformats.org/drawingml/2006/main">
            <a:off x="571500" y="2630193"/>
            <a:ext cx="5905500" cy="27882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AF14029-7D56-429E-BF99-6D0617BAB452}"/>
              </a:ext>
            </a:extLst>
          </p:cNvPr>
          <p:cNvSpPr>
            <a:spLocks xmlns:a="http://schemas.openxmlformats.org/drawingml/2006/main" noGrp="1"/>
          </p:cNvSpPr>
          <p:nvPr/>
        </p:nvSpPr>
        <p:spPr>
          <a:xfrm xmlns:a="http://schemas.openxmlformats.org/drawingml/2006/main">
            <a:off x="7000875" y="234315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Where is Middlesbrough within England?</a:t>
            </a:r>
          </a:p>
        </p:txBody>
      </p:sp>
      <p:sp>
        <p:nvSpPr>
          <p:cNvPr id="6" name="">
            <a:extLst xmlns:a="http://schemas.openxmlformats.org/drawingml/2006/main">
              <a:ext uri="{FF2B5EF4-FFF2-40B4-BE49-F238E27FC236}">
                <a16:creationId xmlns:a16="http://schemas.microsoft.com/office/drawing/2014/main" id="{4CD2C302-0329-40A0-ADCB-B4754D84193A}"/>
              </a:ext>
            </a:extLst>
          </p:cNvPr>
          <p:cNvSpPr>
            <a:spLocks xmlns:a="http://schemas.openxmlformats.org/drawingml/2006/main" noGrp="1"/>
          </p:cNvSpPr>
          <p:nvPr/>
        </p:nvSpPr>
        <p:spPr>
          <a:xfrm xmlns:a="http://schemas.openxmlformats.org/drawingml/2006/main">
            <a:off x="7000875" y="3400425"/>
            <a:ext cx="4429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A. North-east</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B. South-west</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C. Outside England</a:t>
            </a:r>
          </a:p>
        </p:txBody>
      </p:sp>
      <p:sp>
        <p:nvSpPr>
          <p:cNvPr id="7" name="">
            <a:extLst xmlns:a="http://schemas.openxmlformats.org/drawingml/2006/main">
              <a:ext uri="{FF2B5EF4-FFF2-40B4-BE49-F238E27FC236}">
                <a16:creationId xmlns:a16="http://schemas.microsoft.com/office/drawing/2014/main" id="{3DBBA676-360B-41E3-A6F8-8FDF38EC7756}"/>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8" name="">
            <a:extLst xmlns:a="http://schemas.openxmlformats.org/drawingml/2006/main">
              <a:ext uri="{FF2B5EF4-FFF2-40B4-BE49-F238E27FC236}">
                <a16:creationId xmlns:a16="http://schemas.microsoft.com/office/drawing/2014/main" id="{B05401F5-8DBC-460E-B808-2B9FECA85BB5}"/>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5 / 9</a:t>
            </a:r>
          </a:p>
        </p:txBody>
      </p:sp>
    </p:spTree>
    <p:extLst>
      <p:ext uri="{BB962C8B-B14F-4D97-AF65-F5344CB8AC3E}">
        <p14:creationId xmlns:p14="http://schemas.microsoft.com/office/powerpoint/2010/main" val="4513170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0FEDE2-E0BC-4002-B17E-673BDA40F028}"/>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4 MIN</a:t>
            </a:r>
          </a:p>
        </p:txBody>
      </p:sp>
      <p:sp>
        <p:nvSpPr>
          <p:cNvPr id="2" name="">
            <a:extLst xmlns:a="http://schemas.openxmlformats.org/drawingml/2006/main">
              <a:ext uri="{FF2B5EF4-FFF2-40B4-BE49-F238E27FC236}">
                <a16:creationId xmlns:a16="http://schemas.microsoft.com/office/drawing/2014/main" id="{7ED3E5AA-592C-45ED-981B-A08992FA1021}"/>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I Do 2</a:t>
            </a:r>
          </a:p>
        </p:txBody>
      </p:sp>
      <p:sp>
        <p:nvSpPr>
          <p:cNvPr id="3" name="">
            <a:extLst xmlns:a="http://schemas.openxmlformats.org/drawingml/2006/main">
              <a:ext uri="{FF2B5EF4-FFF2-40B4-BE49-F238E27FC236}">
                <a16:creationId xmlns:a16="http://schemas.microsoft.com/office/drawing/2014/main" id="{1718BEB6-0A52-4263-804C-8B6755FE78A5}"/>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Watch how I explain the change from a local view to a world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991f1c030804a20"/>
          <a:stretch xmlns:a="http://schemas.openxmlformats.org/drawingml/2006/main"/>
        </p:blipFill>
        <p:spPr>
          <a:xfrm xmlns:a="http://schemas.openxmlformats.org/drawingml/2006/main">
            <a:off x="571500" y="2585221"/>
            <a:ext cx="6096000" cy="287818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A433DD-D1CC-42D6-82BE-B4DA39ED111B}"/>
              </a:ext>
            </a:extLst>
          </p:cNvPr>
          <p:cNvSpPr>
            <a:spLocks xmlns:a="http://schemas.openxmlformats.org/drawingml/2006/main" noGrp="1"/>
          </p:cNvSpPr>
          <p:nvPr/>
        </p:nvSpPr>
        <p:spPr>
          <a:xfrm xmlns:a="http://schemas.openxmlformats.org/drawingml/2006/main">
            <a:off x="7143750" y="2362200"/>
            <a:ext cx="43338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A local plan can show school entrances and nearby streets. A world map shows countries, continents and oceans but cannot show our school entrance at this size. When I show a wider area on the same size page, local detail becomes smaller. I choose the view to suit the question.</a:t>
            </a:r>
          </a:p>
        </p:txBody>
      </p:sp>
      <p:sp>
        <p:nvSpPr>
          <p:cNvPr id="6" name="">
            <a:extLst xmlns:a="http://schemas.openxmlformats.org/drawingml/2006/main">
              <a:ext uri="{FF2B5EF4-FFF2-40B4-BE49-F238E27FC236}">
                <a16:creationId xmlns:a16="http://schemas.microsoft.com/office/drawing/2014/main" id="{E8F319B0-3719-45C1-9F8F-5E4E5B4B7E95}"/>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7" name="">
            <a:extLst xmlns:a="http://schemas.openxmlformats.org/drawingml/2006/main">
              <a:ext uri="{FF2B5EF4-FFF2-40B4-BE49-F238E27FC236}">
                <a16:creationId xmlns:a16="http://schemas.microsoft.com/office/drawing/2014/main" id="{013574F4-98F0-4CA6-846A-4E8205BA0A62}"/>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6 / 9</a:t>
            </a:r>
          </a:p>
        </p:txBody>
      </p:sp>
    </p:spTree>
    <p:extLst>
      <p:ext uri="{BB962C8B-B14F-4D97-AF65-F5344CB8AC3E}">
        <p14:creationId xmlns:p14="http://schemas.microsoft.com/office/powerpoint/2010/main" val="19525308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2E2358-1EBC-425B-9ED8-CDDCAA49F76F}"/>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4 MIN</a:t>
            </a:r>
          </a:p>
        </p:txBody>
      </p:sp>
      <p:sp>
        <p:nvSpPr>
          <p:cNvPr id="2" name="">
            <a:extLst xmlns:a="http://schemas.openxmlformats.org/drawingml/2006/main">
              <a:ext uri="{FF2B5EF4-FFF2-40B4-BE49-F238E27FC236}">
                <a16:creationId xmlns:a16="http://schemas.microsoft.com/office/drawing/2014/main" id="{7CB1DF86-0CF0-4E54-8CF4-14E60E2A772A}"/>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We Do 2</a:t>
            </a:r>
          </a:p>
        </p:txBody>
      </p:sp>
      <p:sp>
        <p:nvSpPr>
          <p:cNvPr id="3" name="">
            <a:extLst xmlns:a="http://schemas.openxmlformats.org/drawingml/2006/main">
              <a:ext uri="{FF2B5EF4-FFF2-40B4-BE49-F238E27FC236}">
                <a16:creationId xmlns:a16="http://schemas.microsoft.com/office/drawing/2014/main" id="{69D64136-3C67-4435-AECA-DEC32D0E33A9}"/>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Repair the statement about a country and a continent.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27d668c9b414a7c"/>
          <a:stretch xmlns:a="http://schemas.openxmlformats.org/drawingml/2006/main"/>
        </p:blipFill>
        <p:spPr>
          <a:xfrm xmlns:a="http://schemas.openxmlformats.org/drawingml/2006/main">
            <a:off x="571500" y="2630193"/>
            <a:ext cx="5905500" cy="27882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0FE301-7B9B-4932-A72C-294EE0F32442}"/>
              </a:ext>
            </a:extLst>
          </p:cNvPr>
          <p:cNvSpPr>
            <a:spLocks xmlns:a="http://schemas.openxmlformats.org/drawingml/2006/main" noGrp="1"/>
          </p:cNvSpPr>
          <p:nvPr/>
        </p:nvSpPr>
        <p:spPr>
          <a:xfrm xmlns:a="http://schemas.openxmlformats.org/drawingml/2006/main">
            <a:off x="7000875" y="234315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Which correction is accurate?</a:t>
            </a:r>
          </a:p>
        </p:txBody>
      </p:sp>
      <p:sp>
        <p:nvSpPr>
          <p:cNvPr id="6" name="">
            <a:extLst xmlns:a="http://schemas.openxmlformats.org/drawingml/2006/main">
              <a:ext uri="{FF2B5EF4-FFF2-40B4-BE49-F238E27FC236}">
                <a16:creationId xmlns:a16="http://schemas.microsoft.com/office/drawing/2014/main" id="{01F22406-E519-4DBB-82D7-B73CDCC026E6}"/>
              </a:ext>
            </a:extLst>
          </p:cNvPr>
          <p:cNvSpPr>
            <a:spLocks xmlns:a="http://schemas.openxmlformats.org/drawingml/2006/main" noGrp="1"/>
          </p:cNvSpPr>
          <p:nvPr/>
        </p:nvSpPr>
        <p:spPr>
          <a:xfrm xmlns:a="http://schemas.openxmlformats.org/drawingml/2006/main">
            <a:off x="7000875" y="3400425"/>
            <a:ext cx="4429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A. The UK is a continent in Europe.</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B. The UK is a country in the continent of Europe.</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C. Europe is a town in England.</a:t>
            </a:r>
          </a:p>
        </p:txBody>
      </p:sp>
      <p:sp>
        <p:nvSpPr>
          <p:cNvPr id="7" name="">
            <a:extLst xmlns:a="http://schemas.openxmlformats.org/drawingml/2006/main">
              <a:ext uri="{FF2B5EF4-FFF2-40B4-BE49-F238E27FC236}">
                <a16:creationId xmlns:a16="http://schemas.microsoft.com/office/drawing/2014/main" id="{84E5C6F8-814B-442A-9A64-08B2606A863C}"/>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8" name="">
            <a:extLst xmlns:a="http://schemas.openxmlformats.org/drawingml/2006/main">
              <a:ext uri="{FF2B5EF4-FFF2-40B4-BE49-F238E27FC236}">
                <a16:creationId xmlns:a16="http://schemas.microsoft.com/office/drawing/2014/main" id="{26F42A22-A1C7-4EA5-B6B4-5FAB9A1F6F5F}"/>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7 / 9</a:t>
            </a:r>
          </a:p>
        </p:txBody>
      </p:sp>
    </p:spTree>
    <p:extLst>
      <p:ext uri="{BB962C8B-B14F-4D97-AF65-F5344CB8AC3E}">
        <p14:creationId xmlns:p14="http://schemas.microsoft.com/office/powerpoint/2010/main" val="20566105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06462F-B490-4A09-BD94-5867735E6BD7}"/>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10 MIN</a:t>
            </a:r>
          </a:p>
        </p:txBody>
      </p:sp>
      <p:sp>
        <p:nvSpPr>
          <p:cNvPr id="2" name="">
            <a:extLst xmlns:a="http://schemas.openxmlformats.org/drawingml/2006/main">
              <a:ext uri="{FF2B5EF4-FFF2-40B4-BE49-F238E27FC236}">
                <a16:creationId xmlns:a16="http://schemas.microsoft.com/office/drawing/2014/main" id="{DE1D87D5-26E9-473B-ACE5-D646E491D5CE}"/>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Independent</a:t>
            </a:r>
          </a:p>
        </p:txBody>
      </p:sp>
      <p:sp>
        <p:nvSpPr>
          <p:cNvPr id="3" name="">
            <a:extLst xmlns:a="http://schemas.openxmlformats.org/drawingml/2006/main">
              <a:ext uri="{FF2B5EF4-FFF2-40B4-BE49-F238E27FC236}">
                <a16:creationId xmlns:a16="http://schemas.microsoft.com/office/drawing/2014/main" id="{7A49FA48-1D40-4EB4-962A-EE3D3BFFAFE6}"/>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Locate your place, the UK and Europe and describe one change of scale.</a:t>
            </a:r>
          </a:p>
        </p:txBody>
      </p:sp>
      <p:sp>
        <p:nvSpPr>
          <p:cNvPr id="4" name="">
            <a:extLst xmlns:a="http://schemas.openxmlformats.org/drawingml/2006/main">
              <a:ext uri="{FF2B5EF4-FFF2-40B4-BE49-F238E27FC236}">
                <a16:creationId xmlns:a16="http://schemas.microsoft.com/office/drawing/2014/main" id="{33D63FC6-A530-4BE3-BD18-0C8816B3C5AC}"/>
              </a:ext>
            </a:extLst>
          </p:cNvPr>
          <p:cNvSpPr>
            <a:spLocks xmlns:a="http://schemas.openxmlformats.org/drawingml/2006/main" noGrp="1"/>
          </p:cNvSpPr>
          <p:nvPr/>
        </p:nvSpPr>
        <p:spPr>
          <a:xfrm xmlns:a="http://schemas.openxmlformats.org/drawingml/2006/main">
            <a:off x="571500" y="24574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84967D9E-55E2-424F-8ECC-5737737B0BAB}"/>
              </a:ext>
            </a:extLst>
          </p:cNvPr>
          <p:cNvSpPr>
            <a:spLocks xmlns:a="http://schemas.openxmlformats.org/drawingml/2006/main" noGrp="1"/>
          </p:cNvSpPr>
          <p:nvPr/>
        </p:nvSpPr>
        <p:spPr>
          <a:xfrm xmlns:a="http://schemas.openxmlformats.org/drawingml/2006/main">
            <a:off x="571500" y="2971800"/>
            <a:ext cx="3429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Point to Middlesbrough on the UK map and to the UK on the world map. Identify Europe. Complete aloud: “My place is in ___. The UK is in ___.” Use the labels or ask for an exact scribe.</a:t>
            </a:r>
          </a:p>
        </p:txBody>
      </p:sp>
      <p:sp>
        <p:nvSpPr>
          <p:cNvPr id="6" name="">
            <a:extLst xmlns:a="http://schemas.openxmlformats.org/drawingml/2006/main">
              <a:ext uri="{FF2B5EF4-FFF2-40B4-BE49-F238E27FC236}">
                <a16:creationId xmlns:a16="http://schemas.microsoft.com/office/drawing/2014/main" id="{1D7C7CAC-9D06-4A25-85CF-55C90D91E7E0}"/>
              </a:ext>
            </a:extLst>
          </p:cNvPr>
          <p:cNvSpPr>
            <a:spLocks xmlns:a="http://schemas.openxmlformats.org/drawingml/2006/main" noGrp="1"/>
          </p:cNvSpPr>
          <p:nvPr/>
        </p:nvSpPr>
        <p:spPr>
          <a:xfrm xmlns:a="http://schemas.openxmlformats.org/drawingml/2006/main">
            <a:off x="4381500" y="24574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36DF7DC4-1CC9-45B7-93E3-76DEB910FA81}"/>
              </a:ext>
            </a:extLst>
          </p:cNvPr>
          <p:cNvSpPr>
            <a:spLocks xmlns:a="http://schemas.openxmlformats.org/drawingml/2006/main" noGrp="1"/>
          </p:cNvSpPr>
          <p:nvPr/>
        </p:nvSpPr>
        <p:spPr>
          <a:xfrm xmlns:a="http://schemas.openxmlformats.org/drawingml/2006/main">
            <a:off x="4381500" y="2971800"/>
            <a:ext cx="3429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Locate Middlesbrough, the UK and Europe on the supplied maps. Draw a small location chain. Write or say two sentences: where your place is and what changes when you zoom out.</a:t>
            </a:r>
          </a:p>
        </p:txBody>
      </p:sp>
      <p:sp>
        <p:nvSpPr>
          <p:cNvPr id="8" name="">
            <a:extLst xmlns:a="http://schemas.openxmlformats.org/drawingml/2006/main">
              <a:ext uri="{FF2B5EF4-FFF2-40B4-BE49-F238E27FC236}">
                <a16:creationId xmlns:a16="http://schemas.microsoft.com/office/drawing/2014/main" id="{97CD113F-EC17-4A3C-879F-44254C1053EE}"/>
              </a:ext>
            </a:extLst>
          </p:cNvPr>
          <p:cNvSpPr>
            <a:spLocks xmlns:a="http://schemas.openxmlformats.org/drawingml/2006/main" noGrp="1"/>
          </p:cNvSpPr>
          <p:nvPr/>
        </p:nvSpPr>
        <p:spPr>
          <a:xfrm xmlns:a="http://schemas.openxmlformats.org/drawingml/2006/main">
            <a:off x="8191500" y="24574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rPr>
              <a:t>STRETCH</a:t>
            </a:r>
          </a:p>
        </p:txBody>
      </p:sp>
      <p:sp>
        <p:nvSpPr>
          <p:cNvPr id="9" name="">
            <a:extLst xmlns:a="http://schemas.openxmlformats.org/drawingml/2006/main">
              <a:ext uri="{FF2B5EF4-FFF2-40B4-BE49-F238E27FC236}">
                <a16:creationId xmlns:a16="http://schemas.microsoft.com/office/drawing/2014/main" id="{1C669B78-9D3F-4663-A4DB-C8A39299D95B}"/>
              </a:ext>
            </a:extLst>
          </p:cNvPr>
          <p:cNvSpPr>
            <a:spLocks xmlns:a="http://schemas.openxmlformats.org/drawingml/2006/main" noGrp="1"/>
          </p:cNvSpPr>
          <p:nvPr/>
        </p:nvSpPr>
        <p:spPr>
          <a:xfrm xmlns:a="http://schemas.openxmlformats.org/drawingml/2006/main">
            <a:off x="8191500" y="2971800"/>
            <a:ext cx="3429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Locate your place within England, the UK and Europe. Explain why a local plan is more useful than a world map for finding a school entrance. Identify one limitation of these simplified maps.</a:t>
            </a:r>
          </a:p>
        </p:txBody>
      </p:sp>
      <p:sp>
        <p:nvSpPr>
          <p:cNvPr id="10" name="">
            <a:extLst xmlns:a="http://schemas.openxmlformats.org/drawingml/2006/main">
              <a:ext uri="{FF2B5EF4-FFF2-40B4-BE49-F238E27FC236}">
                <a16:creationId xmlns:a16="http://schemas.microsoft.com/office/drawing/2014/main" id="{B82BB8C5-F165-4D42-8403-EC6F3345FDDD}"/>
              </a:ext>
            </a:extLst>
          </p:cNvPr>
          <p:cNvSpPr>
            <a:spLocks xmlns:a="http://schemas.openxmlformats.org/drawingml/2006/main" noGrp="1"/>
          </p:cNvSpPr>
          <p:nvPr/>
        </p:nvSpPr>
        <p:spPr>
          <a:xfrm xmlns:a="http://schemas.openxmlformats.org/drawingml/2006/main">
            <a:off x="571500" y="58864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F2937"/>
                </a:solidFill>
                <a:latin typeface="Arial"/>
                <a:ea typeface="Arial"/>
                <a:cs typeface="Arial"/>
              </a:defRPr>
            </a:pPr>
            <a:r>
              <a:rPr sz="1650" b="0">
                <a:solidFill>
                  <a:srgbClr val="1F2937"/>
                </a:solidFill>
                <a:latin typeface="Arial"/>
                <a:ea typeface="Arial"/>
                <a:cs typeface="Arial"/>
              </a:rPr>
              <a:t>Use the map or source, rehearse your explanation, then record your own response.</a:t>
            </a:r>
          </a:p>
        </p:txBody>
      </p:sp>
      <p:sp>
        <p:nvSpPr>
          <p:cNvPr id="11" name="">
            <a:extLst xmlns:a="http://schemas.openxmlformats.org/drawingml/2006/main">
              <a:ext uri="{FF2B5EF4-FFF2-40B4-BE49-F238E27FC236}">
                <a16:creationId xmlns:a16="http://schemas.microsoft.com/office/drawing/2014/main" id="{9F8D8085-D487-454F-B2D1-A319A376E8FB}"/>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12" name="">
            <a:extLst xmlns:a="http://schemas.openxmlformats.org/drawingml/2006/main">
              <a:ext uri="{FF2B5EF4-FFF2-40B4-BE49-F238E27FC236}">
                <a16:creationId xmlns:a16="http://schemas.microsoft.com/office/drawing/2014/main" id="{B44BCB94-18F2-44F5-9A5B-72EA6B4E0C7A}"/>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8 / 9</a:t>
            </a:r>
          </a:p>
        </p:txBody>
      </p:sp>
    </p:spTree>
    <p:extLst>
      <p:ext uri="{BB962C8B-B14F-4D97-AF65-F5344CB8AC3E}">
        <p14:creationId xmlns:p14="http://schemas.microsoft.com/office/powerpoint/2010/main" val="13242663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55DC64-A6BF-4FA8-AFDF-05E76C92F45C}"/>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F7D6E"/>
                </a:solidFill>
                <a:latin typeface="Arial"/>
                <a:ea typeface="Arial"/>
                <a:cs typeface="Arial"/>
              </a:defRPr>
            </a:pPr>
            <a:r>
              <a:rPr sz="1350" b="1">
                <a:solidFill>
                  <a:srgbClr val="3F7D6E"/>
                </a:solidFill>
                <a:latin typeface="Arial"/>
                <a:ea typeface="Arial"/>
                <a:cs typeface="Arial"/>
              </a:rPr>
              <a:t>GROW · HUMANITIES · Sum1·W1 · 4 MIN</a:t>
            </a:r>
          </a:p>
        </p:txBody>
      </p:sp>
      <p:sp>
        <p:nvSpPr>
          <p:cNvPr id="2" name="">
            <a:extLst xmlns:a="http://schemas.openxmlformats.org/drawingml/2006/main">
              <a:ext uri="{FF2B5EF4-FFF2-40B4-BE49-F238E27FC236}">
                <a16:creationId xmlns:a16="http://schemas.microsoft.com/office/drawing/2014/main" id="{14C8DE39-A544-4339-AE0A-C48A1CCCB413}"/>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Exit</a:t>
            </a:r>
          </a:p>
        </p:txBody>
      </p:sp>
      <p:sp>
        <p:nvSpPr>
          <p:cNvPr id="3" name="">
            <a:extLst xmlns:a="http://schemas.openxmlformats.org/drawingml/2006/main">
              <a:ext uri="{FF2B5EF4-FFF2-40B4-BE49-F238E27FC236}">
                <a16:creationId xmlns:a16="http://schemas.microsoft.com/office/drawing/2014/main" id="{C89ED87E-5147-4EC4-BE5F-A2821C84D226}"/>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Explain which map view you would use for a local visit.</a:t>
            </a:r>
          </a:p>
        </p:txBody>
      </p:sp>
      <p:sp>
        <p:nvSpPr>
          <p:cNvPr id="4" name="">
            <a:extLst xmlns:a="http://schemas.openxmlformats.org/drawingml/2006/main">
              <a:ext uri="{FF2B5EF4-FFF2-40B4-BE49-F238E27FC236}">
                <a16:creationId xmlns:a16="http://schemas.microsoft.com/office/drawing/2014/main" id="{3B58478D-0A84-47DF-88D7-2DC510B849C2}"/>
              </a:ext>
            </a:extLst>
          </p:cNvPr>
          <p:cNvSpPr>
            <a:spLocks xmlns:a="http://schemas.openxmlformats.org/drawingml/2006/main" noGrp="1"/>
          </p:cNvSpPr>
          <p:nvPr/>
        </p:nvSpPr>
        <p:spPr>
          <a:xfrm xmlns:a="http://schemas.openxmlformats.org/drawingml/2006/main">
            <a:off x="571500" y="24288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79CD6605-BC9A-4BB9-9FF0-DC52F65AB349}"/>
              </a:ext>
            </a:extLst>
          </p:cNvPr>
          <p:cNvSpPr>
            <a:spLocks xmlns:a="http://schemas.openxmlformats.org/drawingml/2006/main" noGrp="1"/>
          </p:cNvSpPr>
          <p:nvPr/>
        </p:nvSpPr>
        <p:spPr>
          <a:xfrm xmlns:a="http://schemas.openxmlformats.org/drawingml/2006/main">
            <a:off x="571500" y="2962275"/>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Arial"/>
                <a:ea typeface="Arial"/>
                <a:cs typeface="Arial"/>
              </a:defRPr>
            </a:pPr>
            <a:r>
              <a:rPr sz="2100" b="0">
                <a:solidFill>
                  <a:srgbClr val="1F2937"/>
                </a:solidFill>
                <a:latin typeface="Arial"/>
                <a:ea typeface="Arial"/>
                <a:cs typeface="Arial"/>
              </a:rPr>
              <a:t>Choose the view for a school entrance and name the continent containing the UK.</a:t>
            </a:r>
          </a:p>
        </p:txBody>
      </p:sp>
      <p:sp>
        <p:nvSpPr>
          <p:cNvPr id="6" name="">
            <a:extLst xmlns:a="http://schemas.openxmlformats.org/drawingml/2006/main">
              <a:ext uri="{FF2B5EF4-FFF2-40B4-BE49-F238E27FC236}">
                <a16:creationId xmlns:a16="http://schemas.microsoft.com/office/drawing/2014/main" id="{3BD90C0D-ED8C-4B4F-9A07-303DC0E82165}"/>
              </a:ext>
            </a:extLst>
          </p:cNvPr>
          <p:cNvSpPr>
            <a:spLocks xmlns:a="http://schemas.openxmlformats.org/drawingml/2006/main" noGrp="1"/>
          </p:cNvSpPr>
          <p:nvPr/>
        </p:nvSpPr>
        <p:spPr>
          <a:xfrm xmlns:a="http://schemas.openxmlformats.org/drawingml/2006/main">
            <a:off x="4381500" y="24288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54DE92B5-18F5-459F-BB26-2C8F27F9C781}"/>
              </a:ext>
            </a:extLst>
          </p:cNvPr>
          <p:cNvSpPr>
            <a:spLocks xmlns:a="http://schemas.openxmlformats.org/drawingml/2006/main" noGrp="1"/>
          </p:cNvSpPr>
          <p:nvPr/>
        </p:nvSpPr>
        <p:spPr>
          <a:xfrm xmlns:a="http://schemas.openxmlformats.org/drawingml/2006/main">
            <a:off x="4381500" y="2962275"/>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Arial"/>
                <a:ea typeface="Arial"/>
                <a:cs typeface="Arial"/>
              </a:defRPr>
            </a:pPr>
            <a:r>
              <a:rPr sz="2100" b="0">
                <a:solidFill>
                  <a:srgbClr val="1F2937"/>
                </a:solidFill>
                <a:latin typeface="Arial"/>
                <a:ea typeface="Arial"/>
                <a:cs typeface="Arial"/>
              </a:rPr>
              <a:t>Explain why a local plan is useful for a school visit but a world map is useful for locating the UK.</a:t>
            </a:r>
          </a:p>
        </p:txBody>
      </p:sp>
      <p:sp>
        <p:nvSpPr>
          <p:cNvPr id="8" name="">
            <a:extLst xmlns:a="http://schemas.openxmlformats.org/drawingml/2006/main">
              <a:ext uri="{FF2B5EF4-FFF2-40B4-BE49-F238E27FC236}">
                <a16:creationId xmlns:a16="http://schemas.microsoft.com/office/drawing/2014/main" id="{FBE6B06F-160D-4312-B0FA-53C56EC1ED6A}"/>
              </a:ext>
            </a:extLst>
          </p:cNvPr>
          <p:cNvSpPr>
            <a:spLocks xmlns:a="http://schemas.openxmlformats.org/drawingml/2006/main" noGrp="1"/>
          </p:cNvSpPr>
          <p:nvPr/>
        </p:nvSpPr>
        <p:spPr>
          <a:xfrm xmlns:a="http://schemas.openxmlformats.org/drawingml/2006/main">
            <a:off x="8191500" y="24288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rPr>
              <a:t>STRETCH</a:t>
            </a:r>
          </a:p>
        </p:txBody>
      </p:sp>
      <p:sp>
        <p:nvSpPr>
          <p:cNvPr id="9" name="">
            <a:extLst xmlns:a="http://schemas.openxmlformats.org/drawingml/2006/main">
              <a:ext uri="{FF2B5EF4-FFF2-40B4-BE49-F238E27FC236}">
                <a16:creationId xmlns:a16="http://schemas.microsoft.com/office/drawing/2014/main" id="{0DB1CF07-F3F0-4EC3-96AC-D5B499D9C85B}"/>
              </a:ext>
            </a:extLst>
          </p:cNvPr>
          <p:cNvSpPr>
            <a:spLocks xmlns:a="http://schemas.openxmlformats.org/drawingml/2006/main" noGrp="1"/>
          </p:cNvSpPr>
          <p:nvPr/>
        </p:nvSpPr>
        <p:spPr>
          <a:xfrm xmlns:a="http://schemas.openxmlformats.org/drawingml/2006/main">
            <a:off x="8191500" y="2962275"/>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Arial"/>
                <a:ea typeface="Arial"/>
                <a:cs typeface="Arial"/>
              </a:defRPr>
            </a:pPr>
            <a:r>
              <a:rPr sz="2100" b="0">
                <a:solidFill>
                  <a:srgbClr val="1F2937"/>
                </a:solidFill>
                <a:latin typeface="Arial"/>
                <a:ea typeface="Arial"/>
                <a:cs typeface="Arial"/>
              </a:rPr>
              <a:t>Correct a country/continent confusion and explain one limitation of a simplified map.</a:t>
            </a:r>
          </a:p>
        </p:txBody>
      </p:sp>
      <p:sp>
        <p:nvSpPr>
          <p:cNvPr id="10" name="">
            <a:extLst xmlns:a="http://schemas.openxmlformats.org/drawingml/2006/main">
              <a:ext uri="{FF2B5EF4-FFF2-40B4-BE49-F238E27FC236}">
                <a16:creationId xmlns:a16="http://schemas.microsoft.com/office/drawing/2014/main" id="{5030A813-982C-40C6-A695-E1C6D32A3604}"/>
              </a:ext>
            </a:extLst>
          </p:cNvPr>
          <p:cNvSpPr>
            <a:spLocks xmlns:a="http://schemas.openxmlformats.org/drawingml/2006/main" noGrp="1"/>
          </p:cNvSpPr>
          <p:nvPr/>
        </p:nvSpPr>
        <p:spPr>
          <a:xfrm xmlns:a="http://schemas.openxmlformats.org/drawingml/2006/main">
            <a:off x="571500" y="5286375"/>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Show your response to the adult. Agree one next step for the next lesson.</a:t>
            </a:r>
          </a:p>
        </p:txBody>
      </p:sp>
      <p:sp>
        <p:nvSpPr>
          <p:cNvPr id="11" name="">
            <a:extLst xmlns:a="http://schemas.openxmlformats.org/drawingml/2006/main">
              <a:ext uri="{FF2B5EF4-FFF2-40B4-BE49-F238E27FC236}">
                <a16:creationId xmlns:a16="http://schemas.microsoft.com/office/drawing/2014/main" id="{EB7D9A7F-7DBC-4A68-B112-FB33B86CD120}"/>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Map: Natural Earth public-domain land. Simplified equirectangular view; country boundaries omitted.</a:t>
            </a:r>
          </a:p>
        </p:txBody>
      </p:sp>
      <p:sp>
        <p:nvSpPr>
          <p:cNvPr id="12" name="">
            <a:extLst xmlns:a="http://schemas.openxmlformats.org/drawingml/2006/main">
              <a:ext uri="{FF2B5EF4-FFF2-40B4-BE49-F238E27FC236}">
                <a16:creationId xmlns:a16="http://schemas.microsoft.com/office/drawing/2014/main" id="{3DFCF05A-9592-4CA6-B723-5C1CD7DE2D75}"/>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9 / 9</a:t>
            </a:r>
          </a:p>
        </p:txBody>
      </p:sp>
    </p:spTree>
    <p:extLst>
      <p:ext uri="{BB962C8B-B14F-4D97-AF65-F5344CB8AC3E}">
        <p14:creationId xmlns:p14="http://schemas.microsoft.com/office/powerpoint/2010/main" val="17484317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2026-09-21T00:01:15.9250000Z</dcterms:created>
  <dcterms:modified xsi:type="dcterms:W3CDTF">2026-09-21T00:01:15.9250000Z</dcterms:modified>
</coreProperties>
</file>