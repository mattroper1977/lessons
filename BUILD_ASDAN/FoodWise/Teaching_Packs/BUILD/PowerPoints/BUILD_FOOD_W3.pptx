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d86357a7c4b4d5f" /><Relationship Type="http://schemas.openxmlformats.org/officeDocument/2006/relationships/extended-properties" Target="/docProps/app.xml" Id="Rcd91a16d463e4490" /><Relationship Type="http://schemas.openxmlformats.org/officeDocument/2006/relationships/officeDocument" Target="/ppt/presentation.xml" Id="Rb95aa19a91b142d2" /></Relationships>
</file>

<file path=ppt/presentation.xml><?xml version="1.0" encoding="utf-8"?>
<p:presentation xmlns:p="http://schemas.openxmlformats.org/presentationml/2006/main">
  <p:sldMasterIdLst>
    <p:sldMasterId xmlns:r="http://schemas.openxmlformats.org/officeDocument/2006/relationships" id="2147483648" r:id="Rf5b5f2b166244d32"/>
  </p:sldMasterIdLst>
  <p:notesMasterIdLst>
    <p:notesMasterId xmlns:r="http://schemas.openxmlformats.org/officeDocument/2006/relationships" r:id="R93cb23915eea4c71"/>
  </p:notesMasterIdLst>
  <p:sldIdLst>
    <p:sldId xmlns:r="http://schemas.openxmlformats.org/officeDocument/2006/relationships" id="256" r:id="R04d4362ba547478a"/>
    <p:sldId xmlns:r="http://schemas.openxmlformats.org/officeDocument/2006/relationships" id="257" r:id="R073927aed9bd4748"/>
    <p:sldId xmlns:r="http://schemas.openxmlformats.org/officeDocument/2006/relationships" id="258" r:id="R7a50d3dc660b4395"/>
    <p:sldId xmlns:r="http://schemas.openxmlformats.org/officeDocument/2006/relationships" id="259" r:id="R620a725189044ddb"/>
    <p:sldId xmlns:r="http://schemas.openxmlformats.org/officeDocument/2006/relationships" id="260" r:id="R557b37b622db4288"/>
    <p:sldId xmlns:r="http://schemas.openxmlformats.org/officeDocument/2006/relationships" id="261" r:id="R3dc21719a54842d1"/>
    <p:sldId xmlns:r="http://schemas.openxmlformats.org/officeDocument/2006/relationships" id="262" r:id="Rbc01e39c88f744f3"/>
    <p:sldId xmlns:r="http://schemas.openxmlformats.org/officeDocument/2006/relationships" id="263" r:id="R1dd70c8506544b23"/>
    <p:sldId xmlns:r="http://schemas.openxmlformats.org/officeDocument/2006/relationships" id="264" r:id="Ra6545d365e3b4b5f"/>
    <p:sldId xmlns:r="http://schemas.openxmlformats.org/officeDocument/2006/relationships" id="265" r:id="R7815fd4609204074"/>
    <p:sldId xmlns:r="http://schemas.openxmlformats.org/officeDocument/2006/relationships" id="266" r:id="R8b68c0f83d024e77"/>
    <p:sldId xmlns:r="http://schemas.openxmlformats.org/officeDocument/2006/relationships" id="267" r:id="Rab8732b669a84d04"/>
    <p:sldId xmlns:r="http://schemas.openxmlformats.org/officeDocument/2006/relationships" id="268" r:id="R85a33e1183b24004"/>
    <p:sldId xmlns:r="http://schemas.openxmlformats.org/officeDocument/2006/relationships" id="269" r:id="Rc908efde43494c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7cf2d306d424949" /><Relationship Type="http://schemas.openxmlformats.org/officeDocument/2006/relationships/slideMaster" Target="/ppt/slideMasters/slideMaster1.xml" Id="Rf5b5f2b166244d32" /><Relationship Type="http://schemas.openxmlformats.org/officeDocument/2006/relationships/notesMaster" Target="/ppt/notesMasters/notesMaster1.xml" Id="R93cb23915eea4c71" /><Relationship Type="http://schemas.openxmlformats.org/officeDocument/2006/relationships/presProps" Target="/ppt/presProps.xml" Id="R047844f1f03546ca" /><Relationship Type="http://schemas.openxmlformats.org/officeDocument/2006/relationships/tableStyles" Target="/ppt/tableStyles.xml" Id="R8e4283e407f84da8" /><Relationship Type="http://schemas.openxmlformats.org/officeDocument/2006/relationships/slide" Target="/ppt/slides/slide1.xml" Id="R04d4362ba547478a" /><Relationship Type="http://schemas.openxmlformats.org/officeDocument/2006/relationships/slide" Target="/ppt/slides/slide2.xml" Id="R073927aed9bd4748" /><Relationship Type="http://schemas.openxmlformats.org/officeDocument/2006/relationships/slide" Target="/ppt/slides/slide3.xml" Id="R7a50d3dc660b4395" /><Relationship Type="http://schemas.openxmlformats.org/officeDocument/2006/relationships/slide" Target="/ppt/slides/slide4.xml" Id="R620a725189044ddb" /><Relationship Type="http://schemas.openxmlformats.org/officeDocument/2006/relationships/slide" Target="/ppt/slides/slide5.xml" Id="R557b37b622db4288" /><Relationship Type="http://schemas.openxmlformats.org/officeDocument/2006/relationships/slide" Target="/ppt/slides/slide6.xml" Id="R3dc21719a54842d1" /><Relationship Type="http://schemas.openxmlformats.org/officeDocument/2006/relationships/slide" Target="/ppt/slides/slide7.xml" Id="Rbc01e39c88f744f3" /><Relationship Type="http://schemas.openxmlformats.org/officeDocument/2006/relationships/slide" Target="/ppt/slides/slide8.xml" Id="R1dd70c8506544b23" /><Relationship Type="http://schemas.openxmlformats.org/officeDocument/2006/relationships/slide" Target="/ppt/slides/slide9.xml" Id="Ra6545d365e3b4b5f" /><Relationship Type="http://schemas.openxmlformats.org/officeDocument/2006/relationships/slide" Target="/ppt/slides/slide10.xml" Id="R7815fd4609204074" /><Relationship Type="http://schemas.openxmlformats.org/officeDocument/2006/relationships/slide" Target="/ppt/slides/slide11.xml" Id="R8b68c0f83d024e77" /><Relationship Type="http://schemas.openxmlformats.org/officeDocument/2006/relationships/slide" Target="/ppt/slides/slide12.xml" Id="Rab8732b669a84d04" /><Relationship Type="http://schemas.openxmlformats.org/officeDocument/2006/relationships/slide" Target="/ppt/slides/slide13.xml" Id="R85a33e1183b24004" /><Relationship Type="http://schemas.openxmlformats.org/officeDocument/2006/relationships/slide" Target="/ppt/slides/slide14.xml" Id="Rc908efde43494c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9b1972cea8c4a4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6f86003c0894b55" /><Relationship Type="http://schemas.openxmlformats.org/officeDocument/2006/relationships/notesMaster" Target="/ppt/notesMasters/notesMaster1.xml" Id="R607aaf500ab743e4" /></Relationships>
</file>

<file path=ppt/notesSlides/_rels/notesSlide2.xml.rels>&#65279;<?xml version="1.0" encoding="utf-8"?><Relationships xmlns="http://schemas.openxmlformats.org/package/2006/relationships"><Relationship Type="http://schemas.openxmlformats.org/officeDocument/2006/relationships/slide" Target="/ppt/slides/slide2.xml" Id="R64787720fd2d40e3" /><Relationship Type="http://schemas.openxmlformats.org/officeDocument/2006/relationships/notesMaster" Target="/ppt/notesMasters/notesMaster1.xml" Id="R854286592015481b" /></Relationships>
</file>

<file path=ppt/notesSlides/_rels/notesSlide3.xml.rels>&#65279;<?xml version="1.0" encoding="utf-8"?><Relationships xmlns="http://schemas.openxmlformats.org/package/2006/relationships"><Relationship Type="http://schemas.openxmlformats.org/officeDocument/2006/relationships/slide" Target="/ppt/slides/slide3.xml" Id="Ra352199fbb2240c3" /><Relationship Type="http://schemas.openxmlformats.org/officeDocument/2006/relationships/notesMaster" Target="/ppt/notesMasters/notesMaster1.xml" Id="R5b9269dc542f44bc" /></Relationships>
</file>

<file path=ppt/notesSlides/_rels/notesSlide4.xml.rels>&#65279;<?xml version="1.0" encoding="utf-8"?><Relationships xmlns="http://schemas.openxmlformats.org/package/2006/relationships"><Relationship Type="http://schemas.openxmlformats.org/officeDocument/2006/relationships/slide" Target="/ppt/slides/slide4.xml" Id="R7a6d3ed6ab6e49ce" /><Relationship Type="http://schemas.openxmlformats.org/officeDocument/2006/relationships/notesMaster" Target="/ppt/notesMasters/notesMaster1.xml" Id="Rd58ff61ee5ba488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5b53ff63e15457d" /><Relationship Type="http://schemas.openxmlformats.org/officeDocument/2006/relationships/notesMaster" Target="/ppt/notesMasters/notesMaster1.xml" Id="Ra43398e39207472e" /></Relationships>
</file>

<file path=ppt/notesSlides/_rels/notesSlide6.xml.rels>&#65279;<?xml version="1.0" encoding="utf-8"?><Relationships xmlns="http://schemas.openxmlformats.org/package/2006/relationships"><Relationship Type="http://schemas.openxmlformats.org/officeDocument/2006/relationships/slide" Target="/ppt/slides/slide6.xml" Id="R32027db89734494c" /><Relationship Type="http://schemas.openxmlformats.org/officeDocument/2006/relationships/notesMaster" Target="/ppt/notesMasters/notesMaster1.xml" Id="Reacdd190b5b84418" /></Relationships>
</file>

<file path=ppt/notesSlides/_rels/notesSlide7.xml.rels>&#65279;<?xml version="1.0" encoding="utf-8"?><Relationships xmlns="http://schemas.openxmlformats.org/package/2006/relationships"><Relationship Type="http://schemas.openxmlformats.org/officeDocument/2006/relationships/slide" Target="/ppt/slides/slide7.xml" Id="R85cf84d3fbb6453a" /><Relationship Type="http://schemas.openxmlformats.org/officeDocument/2006/relationships/notesMaster" Target="/ppt/notesMasters/notesMaster1.xml" Id="Ra252d7fd755c4529" /></Relationships>
</file>

<file path=ppt/notesSlides/_rels/notesSlide8.xml.rels>&#65279;<?xml version="1.0" encoding="utf-8"?><Relationships xmlns="http://schemas.openxmlformats.org/package/2006/relationships"><Relationship Type="http://schemas.openxmlformats.org/officeDocument/2006/relationships/slide" Target="/ppt/slides/slide8.xml" Id="Raaa5b5cfdc224db4" /><Relationship Type="http://schemas.openxmlformats.org/officeDocument/2006/relationships/notesMaster" Target="/ppt/notesMasters/notesMaster1.xml" Id="Rd083db33526f44f5" /></Relationships>
</file>

<file path=ppt/notesSlides/_rels/notesSlide9.xml.rels>&#65279;<?xml version="1.0" encoding="utf-8"?><Relationships xmlns="http://schemas.openxmlformats.org/package/2006/relationships"><Relationship Type="http://schemas.openxmlformats.org/officeDocument/2006/relationships/slide" Target="/ppt/slides/slide9.xml" Id="Rd98d48f50d0e4975" /><Relationship Type="http://schemas.openxmlformats.org/officeDocument/2006/relationships/notesMaster" Target="/ppt/notesMasters/notesMaster1.xml" Id="R2fc9208e18434ee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c6de3c8652d4cdd" /><Relationship Type="http://schemas.openxmlformats.org/officeDocument/2006/relationships/notesMaster" Target="/ppt/notesMasters/notesMaster1.xml" Id="R070ec59f7087472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fa56bdac3a141c5" /><Relationship Type="http://schemas.openxmlformats.org/officeDocument/2006/relationships/notesMaster" Target="/ppt/notesMasters/notesMaster1.xml" Id="R8c1385d5d22d476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24970b3f6024347" /><Relationship Type="http://schemas.openxmlformats.org/officeDocument/2006/relationships/notesMaster" Target="/ppt/notesMasters/notesMaster1.xml" Id="R736efd6a4105497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3ee8b43e9474b5c" /><Relationship Type="http://schemas.openxmlformats.org/officeDocument/2006/relationships/notesMaster" Target="/ppt/notesMasters/notesMaster1.xml" Id="Rf7096bf6092a42f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40509043f754cbd" /><Relationship Type="http://schemas.openxmlformats.org/officeDocument/2006/relationships/notesMaster" Target="/ppt/notesMasters/notesMaster1.xml" Id="R5e1176d4f8cf418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BUILD_FOOD_W3 | Reading Labels</a:t>
            </a:r>
          </a:p>
          <a:p xmlns:a="http://schemas.openxmlformats.org/drawingml/2006/main">
            <a:r>
              <a:t>Find important label information and compare the same measure on two fictional labels, asking an adult when suitability is uncertain.</a:t>
            </a:r>
          </a:p>
          <a:p xmlns:a="http://schemas.openxmlformats.org/drawingml/2006/main">
            <a:r>
              <a:t/>
            </a:r>
          </a:p>
          <a:p xmlns:a="http://schemas.openxmlformats.org/drawingml/2006/main">
            <a:r>
              <a:t>Re-authored from existing FW_W3_Reading_Labels.html. Retains locating information and comparing labels; replaces food ranking, colour shortcuts and automatic accredited-evidence language. No uploaded file is claimed as a W3 source.</a:t>
            </a:r>
          </a:p>
          <a:p xmlns:a="http://schemas.openxmlformats.org/drawingml/2006/main">
            <a:r>
              <a:t/>
            </a:r>
          </a:p>
          <a:p xmlns:a="http://schemas.openxmlformats.org/drawingml/2006/main">
            <a:r>
              <a:t>Pupil prompt: Where might a packet tell us what is inside?</a:t>
            </a:r>
          </a:p>
          <a:p xmlns:a="http://schemas.openxmlformats.org/drawingml/2006/main">
            <a:r>
              <a:t/>
            </a:r>
          </a:p>
          <a:p xmlns:a="http://schemas.openxmlformats.org/drawingml/2006/main">
            <a:r>
              <a:t>Teacher answer / acceptable response: The ingredients list.</a:t>
            </a:r>
          </a:p>
          <a:p xmlns:a="http://schemas.openxmlformats.org/drawingml/2006/main">
            <a:r>
              <a:t/>
            </a:r>
          </a:p>
          <a:p xmlns:a="http://schemas.openxmlformats.org/drawingml/2006/main">
            <a:r>
              <a:t>Support: Offer one enlarged label at a time and read the exact wording aloud. Use separate prompts: ingredients, date, storage. Accept pointing, signing, circling or scribing. For the comparison, use 0.60/0.30 as 60/30 hundredths only if decimals are accessible; otherwise let the adult identify the values and ask the pupil to choose the matching smaller-value card.</a:t>
            </a:r>
          </a:p>
          <a:p xmlns:a="http://schemas.openxmlformats.org/drawingml/2006/main">
            <a:r>
              <a:t/>
            </a:r>
          </a:p>
          <a:p xmlns:a="http://schemas.openxmlformats.org/drawingml/2006/main">
            <a:r>
              <a:t>Stretch: Explain why A’s 200g and B’s 300g portion lines cannot be compared as equal portions. Calculate the 0.30g difference in salt per 100g and the 20p price difference, then state one safety question these figures cannot answer.</a:t>
            </a:r>
          </a:p>
          <a:p xmlns:a="http://schemas.openxmlformats.org/drawingml/2006/main">
            <a:r>
              <a:t/>
            </a:r>
          </a:p>
          <a:p xmlns:a="http://schemas.openxmlformats.org/drawingml/2006/main">
            <a:r>
              <a:t>Safeguarding / safety: Use fictional allergy scenarios without inviting disclosure. Follow existing school care plans and food procedures for any real products. Keep food-contact and tasting optional and outside this paper lesson. Do not rank pupils’ choices or ask about personal eating, bodies or household shopping. Refer a real uncertainty to the responsible adult.</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and locate an ingredients-list example.</a:t>
            </a:r>
          </a:p>
          <a:p xmlns:a="http://schemas.openxmlformats.org/drawingml/2006/main">
            <a:r>
              <a:t>6 min: Model ingredients, highlighted allergen and storage checks.</a:t>
            </a:r>
          </a:p>
          <a:p xmlns:a="http://schemas.openxmlformats.org/drawingml/2006/main">
            <a:r>
              <a:t>5 min: Explain use-by versus best before using one dated case.</a:t>
            </a:r>
          </a:p>
          <a:p xmlns:a="http://schemas.openxmlformats.org/drawingml/2006/main">
            <a:r>
              <a:t>7 min: Complete Label A information hunt.</a:t>
            </a:r>
          </a:p>
          <a:p xmlns:a="http://schemas.openxmlformats.org/drawingml/2006/main">
            <a:r>
              <a:t>7 min: Read and decide the three date/storage cases.</a:t>
            </a:r>
          </a:p>
          <a:p xmlns:a="http://schemas.openxmlformats.org/drawingml/2006/main">
            <a:r>
              <a:t>7 min: Compare the two per-100g values and equal-size prices.</a:t>
            </a:r>
          </a:p>
          <a:p xmlns:a="http://schemas.openxmlformats.org/drawingml/2006/main">
            <a:r>
              <a:t>3 min: Exit safety action and corrective feedback.</a:t>
            </a:r>
          </a:p>
          <a:p xmlns:a="http://schemas.openxmlformats.org/drawingml/2006/main">
            <a:r>
              <a:t>2 min: Return labels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BUILD_FOOD_W3 | Reading Labels</a:t>
            </a:r>
          </a:p>
          <a:p xmlns:a="http://schemas.openxmlformats.org/drawingml/2006/main">
            <a:r>
              <a:t>Find important label information and compare the same measure on two fictional labels, asking an adult when suitability is uncertain.</a:t>
            </a:r>
          </a:p>
          <a:p xmlns:a="http://schemas.openxmlformats.org/drawingml/2006/main">
            <a:r>
              <a:t/>
            </a:r>
          </a:p>
          <a:p xmlns:a="http://schemas.openxmlformats.org/drawingml/2006/main">
            <a:r>
              <a:t>Use the full fictional label resource. Label reading is one safety step; it cannot verify actual storage, personal suitability or cross-contact controls.</a:t>
            </a:r>
          </a:p>
          <a:p xmlns:a="http://schemas.openxmlformats.org/drawingml/2006/main">
            <a:r>
              <a:t/>
            </a:r>
          </a:p>
          <a:p xmlns:a="http://schemas.openxmlformats.org/drawingml/2006/main">
            <a:r>
              <a:t>Pupil prompt: Is a picture of a tomato enough information?</a:t>
            </a:r>
          </a:p>
          <a:p xmlns:a="http://schemas.openxmlformats.org/drawingml/2006/main">
            <a:r>
              <a:t/>
            </a:r>
          </a:p>
          <a:p xmlns:a="http://schemas.openxmlformats.org/drawingml/2006/main">
            <a:r>
              <a:t>Teacher answer / acceptable response: No. Find the written ingredients, date and storage instructions too.</a:t>
            </a:r>
          </a:p>
          <a:p xmlns:a="http://schemas.openxmlformats.org/drawingml/2006/main">
            <a:r>
              <a:t/>
            </a:r>
          </a:p>
          <a:p xmlns:a="http://schemas.openxmlformats.org/drawingml/2006/main">
            <a:r>
              <a:t>Support: Offer one enlarged label at a time and read the exact wording aloud. Use separate prompts: ingredients, date, storage. Accept pointing, signing, circling or scribing. For the comparison, use 0.60/0.30 as 60/30 hundredths only if decimals are accessible; otherwise let the adult identify the values and ask the pupil to choose the matching smaller-value card.</a:t>
            </a:r>
          </a:p>
          <a:p xmlns:a="http://schemas.openxmlformats.org/drawingml/2006/main">
            <a:r>
              <a:t/>
            </a:r>
          </a:p>
          <a:p xmlns:a="http://schemas.openxmlformats.org/drawingml/2006/main">
            <a:r>
              <a:t>Stretch: Explain why A’s 200g and B’s 300g portion lines cannot be compared as equal portions. Calculate the 0.30g difference in salt per 100g and the 20p price difference, then state one safety question these figures cannot answer.</a:t>
            </a:r>
          </a:p>
          <a:p xmlns:a="http://schemas.openxmlformats.org/drawingml/2006/main">
            <a:r>
              <a:t/>
            </a:r>
          </a:p>
          <a:p xmlns:a="http://schemas.openxmlformats.org/drawingml/2006/main">
            <a:r>
              <a:t>Safeguarding / safety: Use fictional allergy scenarios without inviting disclosure. Follow existing school care plans and food procedures for any real products. Keep food-contact and tasting optional and outside this paper lesson. Do not rank pupils’ choices or ask about personal eating, bodies or household shopping. Refer a real uncertainty to the responsible adult.</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and locate an ingredients-list example.</a:t>
            </a:r>
          </a:p>
          <a:p xmlns:a="http://schemas.openxmlformats.org/drawingml/2006/main">
            <a:r>
              <a:t>6 min: Model ingredients, highlighted allergen and storage checks.</a:t>
            </a:r>
          </a:p>
          <a:p xmlns:a="http://schemas.openxmlformats.org/drawingml/2006/main">
            <a:r>
              <a:t>5 min: Explain use-by versus best before using one dated case.</a:t>
            </a:r>
          </a:p>
          <a:p xmlns:a="http://schemas.openxmlformats.org/drawingml/2006/main">
            <a:r>
              <a:t>7 min: Complete Label A information hunt.</a:t>
            </a:r>
          </a:p>
          <a:p xmlns:a="http://schemas.openxmlformats.org/drawingml/2006/main">
            <a:r>
              <a:t>7 min: Read and decide the three date/storage cases.</a:t>
            </a:r>
          </a:p>
          <a:p xmlns:a="http://schemas.openxmlformats.org/drawingml/2006/main">
            <a:r>
              <a:t>7 min: Compare the two per-100g values and equal-size prices.</a:t>
            </a:r>
          </a:p>
          <a:p xmlns:a="http://schemas.openxmlformats.org/drawingml/2006/main">
            <a:r>
              <a:t>3 min: Exit safety action and corrective feedback.</a:t>
            </a:r>
          </a:p>
          <a:p xmlns:a="http://schemas.openxmlformats.org/drawingml/2006/main">
            <a:r>
              <a:t>2 min: Return labels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BUILD_FOOD_W3 | Reading Labels</a:t>
            </a:r>
          </a:p>
          <a:p xmlns:a="http://schemas.openxmlformats.org/drawingml/2006/main">
            <a:r>
              <a:t>Find important label information and compare the same measure on two fictional labels, asking an adult when suitability is uncertain.</a:t>
            </a:r>
          </a:p>
          <a:p xmlns:a="http://schemas.openxmlformats.org/drawingml/2006/main">
            <a:r>
              <a:t/>
            </a:r>
          </a:p>
          <a:p xmlns:a="http://schemas.openxmlformats.org/drawingml/2006/main">
            <a:r>
              <a:t>Use the full fictional label resource. Label reading is one safety step; it cannot verify actual storage, personal suitability or cross-contact controls.</a:t>
            </a:r>
          </a:p>
          <a:p xmlns:a="http://schemas.openxmlformats.org/drawingml/2006/main">
            <a:r>
              <a:t/>
            </a:r>
          </a:p>
          <a:p xmlns:a="http://schemas.openxmlformats.org/drawingml/2006/main">
            <a:r>
              <a:t>Pupil prompt: Is a picture of a tomato enough information?</a:t>
            </a:r>
          </a:p>
          <a:p xmlns:a="http://schemas.openxmlformats.org/drawingml/2006/main">
            <a:r>
              <a:t/>
            </a:r>
          </a:p>
          <a:p xmlns:a="http://schemas.openxmlformats.org/drawingml/2006/main">
            <a:r>
              <a:t>Teacher answer / acceptable response: No. Find the written ingredients, date and storage instructions too.</a:t>
            </a:r>
          </a:p>
          <a:p xmlns:a="http://schemas.openxmlformats.org/drawingml/2006/main">
            <a:r>
              <a:t/>
            </a:r>
          </a:p>
          <a:p xmlns:a="http://schemas.openxmlformats.org/drawingml/2006/main">
            <a:r>
              <a:t>Support: Offer one enlarged label at a time and read the exact wording aloud. Use separate prompts: ingredients, date, storage. Accept pointing, signing, circling or scribing. For the comparison, use 0.60/0.30 as 60/30 hundredths only if decimals are accessible; otherwise let the adult identify the values and ask the pupil to choose the matching smaller-value card.</a:t>
            </a:r>
          </a:p>
          <a:p xmlns:a="http://schemas.openxmlformats.org/drawingml/2006/main">
            <a:r>
              <a:t/>
            </a:r>
          </a:p>
          <a:p xmlns:a="http://schemas.openxmlformats.org/drawingml/2006/main">
            <a:r>
              <a:t>Stretch: Explain why A’s 200g and B’s 300g portion lines cannot be compared as equal portions. Calculate the 0.30g difference in salt per 100g and the 20p price difference, then state one safety question these figures cannot answer.</a:t>
            </a:r>
          </a:p>
          <a:p xmlns:a="http://schemas.openxmlformats.org/drawingml/2006/main">
            <a:r>
              <a:t/>
            </a:r>
          </a:p>
          <a:p xmlns:a="http://schemas.openxmlformats.org/drawingml/2006/main">
            <a:r>
              <a:t>Safeguarding / safety: Use fictional allergy scenarios without inviting disclosure. Follow existing school care plans and food procedures for any real products. Keep food-contact and tasting optional and outside this paper lesson. Do not rank pupils’ choices or ask about personal eating, bodies or household shopping. Refer a real uncertainty to the responsible adult.</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and locate an ingredients-list example.</a:t>
            </a:r>
          </a:p>
          <a:p xmlns:a="http://schemas.openxmlformats.org/drawingml/2006/main">
            <a:r>
              <a:t>6 min: Model ingredients, highlighted allergen and storage checks.</a:t>
            </a:r>
          </a:p>
          <a:p xmlns:a="http://schemas.openxmlformats.org/drawingml/2006/main">
            <a:r>
              <a:t>5 min: Explain use-by versus best before using one dated case.</a:t>
            </a:r>
          </a:p>
          <a:p xmlns:a="http://schemas.openxmlformats.org/drawingml/2006/main">
            <a:r>
              <a:t>7 min: Complete Label A information hunt.</a:t>
            </a:r>
          </a:p>
          <a:p xmlns:a="http://schemas.openxmlformats.org/drawingml/2006/main">
            <a:r>
              <a:t>7 min: Read and decide the three date/storage cases.</a:t>
            </a:r>
          </a:p>
          <a:p xmlns:a="http://schemas.openxmlformats.org/drawingml/2006/main">
            <a:r>
              <a:t>7 min: Compare the two per-100g values and equal-size prices.</a:t>
            </a:r>
          </a:p>
          <a:p xmlns:a="http://schemas.openxmlformats.org/drawingml/2006/main">
            <a:r>
              <a:t>3 min: Exit safety action and corrective feedback.</a:t>
            </a:r>
          </a:p>
          <a:p xmlns:a="http://schemas.openxmlformats.org/drawingml/2006/main">
            <a:r>
              <a:t>2 min: Return labels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BUILD_FOOD_W3 | Reading Labels</a:t>
            </a:r>
          </a:p>
          <a:p xmlns:a="http://schemas.openxmlformats.org/drawingml/2006/main">
            <a:r>
              <a:t>Find important label information and compare the same measure on two fictional labels, asking an adult when suitability is uncertain.</a:t>
            </a:r>
          </a:p>
          <a:p xmlns:a="http://schemas.openxmlformats.org/drawingml/2006/main">
            <a:r>
              <a:t/>
            </a:r>
          </a:p>
          <a:p xmlns:a="http://schemas.openxmlformats.org/drawingml/2006/main">
            <a:r>
              <a:t>For relevant prepacked food, any of the 14 regulated allergens used as ingredients must be emphasised; capitals are the teaching format here. Other foods can cause allergies. No emphasised allergen, or no “may contain”, does not prove suitability.</a:t>
            </a:r>
          </a:p>
          <a:p xmlns:a="http://schemas.openxmlformats.org/drawingml/2006/main">
            <a:r>
              <a:t/>
            </a:r>
          </a:p>
          <a:p xmlns:a="http://schemas.openxmlformats.org/drawingml/2006/main">
            <a:r>
              <a:t>Pupil prompt: Can a pupil with a milk allergy choose Label A because it shows tomatoes?</a:t>
            </a:r>
          </a:p>
          <a:p xmlns:a="http://schemas.openxmlformats.org/drawingml/2006/main">
            <a:r>
              <a:t/>
            </a:r>
          </a:p>
          <a:p xmlns:a="http://schemas.openxmlformats.org/drawingml/2006/main">
            <a:r>
              <a:t>Teacher answer / acceptable response: No. The ingredients include milk. Stop and ask the responsible adult.</a:t>
            </a:r>
          </a:p>
          <a:p xmlns:a="http://schemas.openxmlformats.org/drawingml/2006/main">
            <a:r>
              <a:t/>
            </a:r>
          </a:p>
          <a:p xmlns:a="http://schemas.openxmlformats.org/drawingml/2006/main">
            <a:r>
              <a:t>Support: Offer one enlarged label at a time and read the exact wording aloud. Use separate prompts: ingredients, date, storage. Accept pointing, signing, circling or scribing. For the comparison, use 0.60/0.30 as 60/30 hundredths only if decimals are accessible; otherwise let the adult identify the values and ask the pupil to choose the matching smaller-value card.</a:t>
            </a:r>
          </a:p>
          <a:p xmlns:a="http://schemas.openxmlformats.org/drawingml/2006/main">
            <a:r>
              <a:t/>
            </a:r>
          </a:p>
          <a:p xmlns:a="http://schemas.openxmlformats.org/drawingml/2006/main">
            <a:r>
              <a:t>Stretch: Explain why A’s 200g and B’s 300g portion lines cannot be compared as equal portions. Calculate the 0.30g difference in salt per 100g and the 20p price difference, then state one safety question these figures cannot answer.</a:t>
            </a:r>
          </a:p>
          <a:p xmlns:a="http://schemas.openxmlformats.org/drawingml/2006/main">
            <a:r>
              <a:t/>
            </a:r>
          </a:p>
          <a:p xmlns:a="http://schemas.openxmlformats.org/drawingml/2006/main">
            <a:r>
              <a:t>Safeguarding / safety: Use fictional allergy scenarios without inviting disclosure. Follow existing school care plans and food procedures for any real products. Keep food-contact and tasting optional and outside this paper lesson. Do not rank pupils’ choices or ask about personal eating, bodies or household shopping. Refer a real uncertainty to the responsible adult.</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and locate an ingredients-list example.</a:t>
            </a:r>
          </a:p>
          <a:p xmlns:a="http://schemas.openxmlformats.org/drawingml/2006/main">
            <a:r>
              <a:t>6 min: Model ingredients, highlighted allergen and storage checks.</a:t>
            </a:r>
          </a:p>
          <a:p xmlns:a="http://schemas.openxmlformats.org/drawingml/2006/main">
            <a:r>
              <a:t>5 min: Explain use-by versus best before using one dated case.</a:t>
            </a:r>
          </a:p>
          <a:p xmlns:a="http://schemas.openxmlformats.org/drawingml/2006/main">
            <a:r>
              <a:t>7 min: Complete Label A information hunt.</a:t>
            </a:r>
          </a:p>
          <a:p xmlns:a="http://schemas.openxmlformats.org/drawingml/2006/main">
            <a:r>
              <a:t>7 min: Read and decide the three date/storage cases.</a:t>
            </a:r>
          </a:p>
          <a:p xmlns:a="http://schemas.openxmlformats.org/drawingml/2006/main">
            <a:r>
              <a:t>7 min: Compare the two per-100g values and equal-size prices.</a:t>
            </a:r>
          </a:p>
          <a:p xmlns:a="http://schemas.openxmlformats.org/drawingml/2006/main">
            <a:r>
              <a:t>3 min: Exit safety action and corrective feedback.</a:t>
            </a:r>
          </a:p>
          <a:p xmlns:a="http://schemas.openxmlformats.org/drawingml/2006/main">
            <a:r>
              <a:t>2 min: Return labels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BUILD_FOOD_W3 | Reading Labels</a:t>
            </a:r>
          </a:p>
          <a:p xmlns:a="http://schemas.openxmlformats.org/drawingml/2006/main">
            <a:r>
              <a:t>Find important label information and compare the same measure on two fictional labels, asking an adult when suitability is uncertain.</a:t>
            </a:r>
          </a:p>
          <a:p xmlns:a="http://schemas.openxmlformats.org/drawingml/2006/main">
            <a:r>
              <a:t/>
            </a:r>
          </a:p>
          <a:p xmlns:a="http://schemas.openxmlformats.org/drawingml/2006/main">
            <a:r>
              <a:t>For relevant prepacked food, any of the 14 regulated allergens used as ingredients must be emphasised; capitals are the teaching format here. Other foods can cause allergies. No emphasised allergen, or no “may contain”, does not prove suitability.</a:t>
            </a:r>
          </a:p>
          <a:p xmlns:a="http://schemas.openxmlformats.org/drawingml/2006/main">
            <a:r>
              <a:t/>
            </a:r>
          </a:p>
          <a:p xmlns:a="http://schemas.openxmlformats.org/drawingml/2006/main">
            <a:r>
              <a:t>Pupil prompt: Can a pupil with a milk allergy choose Label A because it shows tomatoes?</a:t>
            </a:r>
          </a:p>
          <a:p xmlns:a="http://schemas.openxmlformats.org/drawingml/2006/main">
            <a:r>
              <a:t/>
            </a:r>
          </a:p>
          <a:p xmlns:a="http://schemas.openxmlformats.org/drawingml/2006/main">
            <a:r>
              <a:t>Teacher answer / acceptable response: No. The ingredients include milk. Stop and ask the responsible adult.</a:t>
            </a:r>
          </a:p>
          <a:p xmlns:a="http://schemas.openxmlformats.org/drawingml/2006/main">
            <a:r>
              <a:t/>
            </a:r>
          </a:p>
          <a:p xmlns:a="http://schemas.openxmlformats.org/drawingml/2006/main">
            <a:r>
              <a:t>Support: Offer one enlarged label at a time and read the exact wording aloud. Use separate prompts: ingredients, date, storage. Accept pointing, signing, circling or scribing. For the comparison, use 0.60/0.30 as 60/30 hundredths only if decimals are accessible; otherwise let the adult identify the values and ask the pupil to choose the matching smaller-value card.</a:t>
            </a:r>
          </a:p>
          <a:p xmlns:a="http://schemas.openxmlformats.org/drawingml/2006/main">
            <a:r>
              <a:t/>
            </a:r>
          </a:p>
          <a:p xmlns:a="http://schemas.openxmlformats.org/drawingml/2006/main">
            <a:r>
              <a:t>Stretch: Explain why A’s 200g and B’s 300g portion lines cannot be compared as equal portions. Calculate the 0.30g difference in salt per 100g and the 20p price difference, then state one safety question these figures cannot answer.</a:t>
            </a:r>
          </a:p>
          <a:p xmlns:a="http://schemas.openxmlformats.org/drawingml/2006/main">
            <a:r>
              <a:t/>
            </a:r>
          </a:p>
          <a:p xmlns:a="http://schemas.openxmlformats.org/drawingml/2006/main">
            <a:r>
              <a:t>Safeguarding / safety: Use fictional allergy scenarios without inviting disclosure. Follow existing school care plans and food procedures for any real products. Keep food-contact and tasting optional and outside this paper lesson. Do not rank pupils’ choices or ask about personal eating, bodies or household shopping. Refer a real uncertainty to the responsible adult.</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and locate an ingredients-list example.</a:t>
            </a:r>
          </a:p>
          <a:p xmlns:a="http://schemas.openxmlformats.org/drawingml/2006/main">
            <a:r>
              <a:t>6 min: Model ingredients, highlighted allergen and storage checks.</a:t>
            </a:r>
          </a:p>
          <a:p xmlns:a="http://schemas.openxmlformats.org/drawingml/2006/main">
            <a:r>
              <a:t>5 min: Explain use-by versus best before using one dated case.</a:t>
            </a:r>
          </a:p>
          <a:p xmlns:a="http://schemas.openxmlformats.org/drawingml/2006/main">
            <a:r>
              <a:t>7 min: Complete Label A information hunt.</a:t>
            </a:r>
          </a:p>
          <a:p xmlns:a="http://schemas.openxmlformats.org/drawingml/2006/main">
            <a:r>
              <a:t>7 min: Read and decide the three date/storage cases.</a:t>
            </a:r>
          </a:p>
          <a:p xmlns:a="http://schemas.openxmlformats.org/drawingml/2006/main">
            <a:r>
              <a:t>7 min: Compare the two per-100g values and equal-size prices.</a:t>
            </a:r>
          </a:p>
          <a:p xmlns:a="http://schemas.openxmlformats.org/drawingml/2006/main">
            <a:r>
              <a:t>3 min: Exit safety action and corrective feedback.</a:t>
            </a:r>
          </a:p>
          <a:p xmlns:a="http://schemas.openxmlformats.org/drawingml/2006/main">
            <a:r>
              <a:t>2 min: Return labels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BUILD_FOOD_W3 | Reading Labels</a:t>
            </a:r>
          </a:p>
          <a:p xmlns:a="http://schemas.openxmlformats.org/drawingml/2006/main">
            <a:r>
              <a:t>Find important label information and compare the same measure on two fictional labels, asking an adult when suitability is uncertain.</a:t>
            </a:r>
          </a:p>
          <a:p xmlns:a="http://schemas.openxmlformats.org/drawingml/2006/main">
            <a:r>
              <a:t/>
            </a:r>
          </a:p>
          <a:p xmlns:a="http://schemas.openxmlformats.org/drawingml/2006/main">
            <a:r>
              <a:t>Use the dated paper scenario, not today’s actual date. Timely cooking/freezing can create different rules, but pupils are not making those decisions; the cases explicitly exclude this. See the dated-food resource.</a:t>
            </a:r>
          </a:p>
          <a:p xmlns:a="http://schemas.openxmlformats.org/drawingml/2006/main">
            <a:r>
              <a:t/>
            </a:r>
          </a:p>
          <a:p xmlns:a="http://schemas.openxmlformats.org/drawingml/2006/main">
            <a:r>
              <a:t>Pupil prompt: Soup says “Use by 8 October”. On 9 October it smells normal. It was never cooked or frozen. What now?</a:t>
            </a:r>
          </a:p>
          <a:p xmlns:a="http://schemas.openxmlformats.org/drawingml/2006/main">
            <a:r>
              <a:t/>
            </a:r>
          </a:p>
          <a:p xmlns:a="http://schemas.openxmlformats.org/drawingml/2006/main">
            <a:r>
              <a:t>Teacher answer / acceptable response: Do not eat it. Tell the adult; normal smell does not change the use-by warning.</a:t>
            </a:r>
          </a:p>
          <a:p xmlns:a="http://schemas.openxmlformats.org/drawingml/2006/main">
            <a:r>
              <a:t/>
            </a:r>
          </a:p>
          <a:p xmlns:a="http://schemas.openxmlformats.org/drawingml/2006/main">
            <a:r>
              <a:t>Support: Offer one enlarged label at a time and read the exact wording aloud. Use separate prompts: ingredients, date, storage. Accept pointing, signing, circling or scribing. For the comparison, use 0.60/0.30 as 60/30 hundredths only if decimals are accessible; otherwise let the adult identify the values and ask the pupil to choose the matching smaller-value card.</a:t>
            </a:r>
          </a:p>
          <a:p xmlns:a="http://schemas.openxmlformats.org/drawingml/2006/main">
            <a:r>
              <a:t/>
            </a:r>
          </a:p>
          <a:p xmlns:a="http://schemas.openxmlformats.org/drawingml/2006/main">
            <a:r>
              <a:t>Stretch: Explain why A’s 200g and B’s 300g portion lines cannot be compared as equal portions. Calculate the 0.30g difference in salt per 100g and the 20p price difference, then state one safety question these figures cannot answer.</a:t>
            </a:r>
          </a:p>
          <a:p xmlns:a="http://schemas.openxmlformats.org/drawingml/2006/main">
            <a:r>
              <a:t/>
            </a:r>
          </a:p>
          <a:p xmlns:a="http://schemas.openxmlformats.org/drawingml/2006/main">
            <a:r>
              <a:t>Safeguarding / safety: Use fictional allergy scenarios without inviting disclosure. Follow existing school care plans and food procedures for any real products. Keep food-contact and tasting optional and outside this paper lesson. Do not rank pupils’ choices or ask about personal eating, bodies or household shopping. Refer a real uncertainty to the responsible adult.</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and locate an ingredients-list example.</a:t>
            </a:r>
          </a:p>
          <a:p xmlns:a="http://schemas.openxmlformats.org/drawingml/2006/main">
            <a:r>
              <a:t>6 min: Model ingredients, highlighted allergen and storage checks.</a:t>
            </a:r>
          </a:p>
          <a:p xmlns:a="http://schemas.openxmlformats.org/drawingml/2006/main">
            <a:r>
              <a:t>5 min: Explain use-by versus best before using one dated case.</a:t>
            </a:r>
          </a:p>
          <a:p xmlns:a="http://schemas.openxmlformats.org/drawingml/2006/main">
            <a:r>
              <a:t>7 min: Complete Label A information hunt.</a:t>
            </a:r>
          </a:p>
          <a:p xmlns:a="http://schemas.openxmlformats.org/drawingml/2006/main">
            <a:r>
              <a:t>7 min: Read and decide the three date/storage cases.</a:t>
            </a:r>
          </a:p>
          <a:p xmlns:a="http://schemas.openxmlformats.org/drawingml/2006/main">
            <a:r>
              <a:t>7 min: Compare the two per-100g values and equal-size prices.</a:t>
            </a:r>
          </a:p>
          <a:p xmlns:a="http://schemas.openxmlformats.org/drawingml/2006/main">
            <a:r>
              <a:t>3 min: Exit safety action and corrective feedback.</a:t>
            </a:r>
          </a:p>
          <a:p xmlns:a="http://schemas.openxmlformats.org/drawingml/2006/main">
            <a:r>
              <a:t>2 min: Return labels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BUILD_FOOD_W3 | Reading Labels</a:t>
            </a:r>
          </a:p>
          <a:p xmlns:a="http://schemas.openxmlformats.org/drawingml/2006/main">
            <a:r>
              <a:t>Find important label information and compare the same measure on two fictional labels, asking an adult when suitability is uncertain.</a:t>
            </a:r>
          </a:p>
          <a:p xmlns:a="http://schemas.openxmlformats.org/drawingml/2006/main">
            <a:r>
              <a:t/>
            </a:r>
          </a:p>
          <a:p xmlns:a="http://schemas.openxmlformats.org/drawingml/2006/main">
            <a:r>
              <a:t>Use the dated paper scenario, not today’s actual date. Timely cooking/freezing can create different rules, but pupils are not making those decisions; the cases explicitly exclude this. See the dated-food resource.</a:t>
            </a:r>
          </a:p>
          <a:p xmlns:a="http://schemas.openxmlformats.org/drawingml/2006/main">
            <a:r>
              <a:t/>
            </a:r>
          </a:p>
          <a:p xmlns:a="http://schemas.openxmlformats.org/drawingml/2006/main">
            <a:r>
              <a:t>Pupil prompt: Soup says “Use by 8 October”. On 9 October it smells normal. It was never cooked or frozen. What now?</a:t>
            </a:r>
          </a:p>
          <a:p xmlns:a="http://schemas.openxmlformats.org/drawingml/2006/main">
            <a:r>
              <a:t/>
            </a:r>
          </a:p>
          <a:p xmlns:a="http://schemas.openxmlformats.org/drawingml/2006/main">
            <a:r>
              <a:t>Teacher answer / acceptable response: Do not eat it. Tell the adult; normal smell does not change the use-by warning.</a:t>
            </a:r>
          </a:p>
          <a:p xmlns:a="http://schemas.openxmlformats.org/drawingml/2006/main">
            <a:r>
              <a:t/>
            </a:r>
          </a:p>
          <a:p xmlns:a="http://schemas.openxmlformats.org/drawingml/2006/main">
            <a:r>
              <a:t>Support: Offer one enlarged label at a time and read the exact wording aloud. Use separate prompts: ingredients, date, storage. Accept pointing, signing, circling or scribing. For the comparison, use 0.60/0.30 as 60/30 hundredths only if decimals are accessible; otherwise let the adult identify the values and ask the pupil to choose the matching smaller-value card.</a:t>
            </a:r>
          </a:p>
          <a:p xmlns:a="http://schemas.openxmlformats.org/drawingml/2006/main">
            <a:r>
              <a:t/>
            </a:r>
          </a:p>
          <a:p xmlns:a="http://schemas.openxmlformats.org/drawingml/2006/main">
            <a:r>
              <a:t>Stretch: Explain why A’s 200g and B’s 300g portion lines cannot be compared as equal portions. Calculate the 0.30g difference in salt per 100g and the 20p price difference, then state one safety question these figures cannot answer.</a:t>
            </a:r>
          </a:p>
          <a:p xmlns:a="http://schemas.openxmlformats.org/drawingml/2006/main">
            <a:r>
              <a:t/>
            </a:r>
          </a:p>
          <a:p xmlns:a="http://schemas.openxmlformats.org/drawingml/2006/main">
            <a:r>
              <a:t>Safeguarding / safety: Use fictional allergy scenarios without inviting disclosure. Follow existing school care plans and food procedures for any real products. Keep food-contact and tasting optional and outside this paper lesson. Do not rank pupils’ choices or ask about personal eating, bodies or household shopping. Refer a real uncertainty to the responsible adult.</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and locate an ingredients-list example.</a:t>
            </a:r>
          </a:p>
          <a:p xmlns:a="http://schemas.openxmlformats.org/drawingml/2006/main">
            <a:r>
              <a:t>6 min: Model ingredients, highlighted allergen and storage checks.</a:t>
            </a:r>
          </a:p>
          <a:p xmlns:a="http://schemas.openxmlformats.org/drawingml/2006/main">
            <a:r>
              <a:t>5 min: Explain use-by versus best before using one dated case.</a:t>
            </a:r>
          </a:p>
          <a:p xmlns:a="http://schemas.openxmlformats.org/drawingml/2006/main">
            <a:r>
              <a:t>7 min: Complete Label A information hunt.</a:t>
            </a:r>
          </a:p>
          <a:p xmlns:a="http://schemas.openxmlformats.org/drawingml/2006/main">
            <a:r>
              <a:t>7 min: Read and decide the three date/storage cases.</a:t>
            </a:r>
          </a:p>
          <a:p xmlns:a="http://schemas.openxmlformats.org/drawingml/2006/main">
            <a:r>
              <a:t>7 min: Compare the two per-100g values and equal-size prices.</a:t>
            </a:r>
          </a:p>
          <a:p xmlns:a="http://schemas.openxmlformats.org/drawingml/2006/main">
            <a:r>
              <a:t>3 min: Exit safety action and corrective feedback.</a:t>
            </a:r>
          </a:p>
          <a:p xmlns:a="http://schemas.openxmlformats.org/drawingml/2006/main">
            <a:r>
              <a:t>2 min: Return labels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BUILD_FOOD_W3 | Reading Labels</a:t>
            </a:r>
          </a:p>
          <a:p xmlns:a="http://schemas.openxmlformats.org/drawingml/2006/main">
            <a:r>
              <a:t>Find important label information and compare the same measure on two fictional labels, asking an adult when suitability is uncertain.</a:t>
            </a:r>
          </a:p>
          <a:p xmlns:a="http://schemas.openxmlformats.org/drawingml/2006/main">
            <a:r>
              <a:t/>
            </a:r>
          </a:p>
          <a:p xmlns:a="http://schemas.openxmlformats.org/drawingml/2006/main">
            <a:r>
              <a:t>Worksheet task 1 repeats the full teaching extract. Dates alone do not establish safety if the product was stored incorrectly. No food is opened in this lesson.</a:t>
            </a:r>
          </a:p>
          <a:p xmlns:a="http://schemas.openxmlformats.org/drawingml/2006/main">
            <a:r>
              <a:t/>
            </a:r>
          </a:p>
          <a:p xmlns:a="http://schemas.openxmlformats.org/drawingml/2006/main">
            <a:r>
              <a:t>Pupil prompt: Which instruction tells you what changes after opening?</a:t>
            </a:r>
          </a:p>
          <a:p xmlns:a="http://schemas.openxmlformats.org/drawingml/2006/main">
            <a:r>
              <a:t/>
            </a:r>
          </a:p>
          <a:p xmlns:a="http://schemas.openxmlformats.org/drawingml/2006/main">
            <a:r>
              <a:t>Teacher answer / acceptable response: Use within 24 hours and before the end of the use-by date. Follow whichever deadline comes first.</a:t>
            </a:r>
          </a:p>
          <a:p xmlns:a="http://schemas.openxmlformats.org/drawingml/2006/main">
            <a:r>
              <a:t/>
            </a:r>
          </a:p>
          <a:p xmlns:a="http://schemas.openxmlformats.org/drawingml/2006/main">
            <a:r>
              <a:t>Support: Offer one enlarged label at a time and read the exact wording aloud. Use separate prompts: ingredients, date, storage. Accept pointing, signing, circling or scribing. For the comparison, use 0.60/0.30 as 60/30 hundredths only if decimals are accessible; otherwise let the adult identify the values and ask the pupil to choose the matching smaller-value card.</a:t>
            </a:r>
          </a:p>
          <a:p xmlns:a="http://schemas.openxmlformats.org/drawingml/2006/main">
            <a:r>
              <a:t/>
            </a:r>
          </a:p>
          <a:p xmlns:a="http://schemas.openxmlformats.org/drawingml/2006/main">
            <a:r>
              <a:t>Stretch: Explain why A’s 200g and B’s 300g portion lines cannot be compared as equal portions. Calculate the 0.30g difference in salt per 100g and the 20p price difference, then state one safety question these figures cannot answer.</a:t>
            </a:r>
          </a:p>
          <a:p xmlns:a="http://schemas.openxmlformats.org/drawingml/2006/main">
            <a:r>
              <a:t/>
            </a:r>
          </a:p>
          <a:p xmlns:a="http://schemas.openxmlformats.org/drawingml/2006/main">
            <a:r>
              <a:t>Safeguarding / safety: Use fictional allergy scenarios without inviting disclosure. Follow existing school care plans and food procedures for any real products. Keep food-contact and tasting optional and outside this paper lesson. Do not rank pupils’ choices or ask about personal eating, bodies or household shopping. Refer a real uncertainty to the responsible adult.</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and locate an ingredients-list example.</a:t>
            </a:r>
          </a:p>
          <a:p xmlns:a="http://schemas.openxmlformats.org/drawingml/2006/main">
            <a:r>
              <a:t>6 min: Model ingredients, highlighted allergen and storage checks.</a:t>
            </a:r>
          </a:p>
          <a:p xmlns:a="http://schemas.openxmlformats.org/drawingml/2006/main">
            <a:r>
              <a:t>5 min: Explain use-by versus best before using one dated case.</a:t>
            </a:r>
          </a:p>
          <a:p xmlns:a="http://schemas.openxmlformats.org/drawingml/2006/main">
            <a:r>
              <a:t>7 min: Complete Label A information hunt.</a:t>
            </a:r>
          </a:p>
          <a:p xmlns:a="http://schemas.openxmlformats.org/drawingml/2006/main">
            <a:r>
              <a:t>7 min: Read and decide the three date/storage cases.</a:t>
            </a:r>
          </a:p>
          <a:p xmlns:a="http://schemas.openxmlformats.org/drawingml/2006/main">
            <a:r>
              <a:t>7 min: Compare the two per-100g values and equal-size prices.</a:t>
            </a:r>
          </a:p>
          <a:p xmlns:a="http://schemas.openxmlformats.org/drawingml/2006/main">
            <a:r>
              <a:t>3 min: Exit safety action and corrective feedback.</a:t>
            </a:r>
          </a:p>
          <a:p xmlns:a="http://schemas.openxmlformats.org/drawingml/2006/main">
            <a:r>
              <a:t>2 min: Return labels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BUILD_FOOD_W3 | Reading Labels</a:t>
            </a:r>
          </a:p>
          <a:p xmlns:a="http://schemas.openxmlformats.org/drawingml/2006/main">
            <a:r>
              <a:t>Find important label information and compare the same measure on two fictional labels, asking an adult when suitability is uncertain.</a:t>
            </a:r>
          </a:p>
          <a:p xmlns:a="http://schemas.openxmlformats.org/drawingml/2006/main">
            <a:r>
              <a:t/>
            </a:r>
          </a:p>
          <a:p xmlns:a="http://schemas.openxmlformats.org/drawingml/2006/main">
            <a:r>
              <a:t>Read all three full case cards, including their fictional dates and storage history. Case 2 is a quality-date discussion; pupils do not taste to test or declare it suitable.</a:t>
            </a:r>
          </a:p>
          <a:p xmlns:a="http://schemas.openxmlformats.org/drawingml/2006/main">
            <a:r>
              <a:t/>
            </a:r>
          </a:p>
          <a:p xmlns:a="http://schemas.openxmlformats.org/drawingml/2006/main">
            <a:r>
              <a:t>Pupil prompt: Which case shows that being before the date does not settle the question?</a:t>
            </a:r>
          </a:p>
          <a:p xmlns:a="http://schemas.openxmlformats.org/drawingml/2006/main">
            <a:r>
              <a:t/>
            </a:r>
          </a:p>
          <a:p xmlns:a="http://schemas.openxmlformats.org/drawingml/2006/main">
            <a:r>
              <a:t>Teacher answer / acceptable response: Case 3. The storage instructions were not followed. Stop and tell the adult.</a:t>
            </a:r>
          </a:p>
          <a:p xmlns:a="http://schemas.openxmlformats.org/drawingml/2006/main">
            <a:r>
              <a:t/>
            </a:r>
          </a:p>
          <a:p xmlns:a="http://schemas.openxmlformats.org/drawingml/2006/main">
            <a:r>
              <a:t>Support: Offer one enlarged label at a time and read the exact wording aloud. Use separate prompts: ingredients, date, storage. Accept pointing, signing, circling or scribing. For the comparison, use 0.60/0.30 as 60/30 hundredths only if decimals are accessible; otherwise let the adult identify the values and ask the pupil to choose the matching smaller-value card.</a:t>
            </a:r>
          </a:p>
          <a:p xmlns:a="http://schemas.openxmlformats.org/drawingml/2006/main">
            <a:r>
              <a:t/>
            </a:r>
          </a:p>
          <a:p xmlns:a="http://schemas.openxmlformats.org/drawingml/2006/main">
            <a:r>
              <a:t>Stretch: Explain why A’s 200g and B’s 300g portion lines cannot be compared as equal portions. Calculate the 0.30g difference in salt per 100g and the 20p price difference, then state one safety question these figures cannot answer.</a:t>
            </a:r>
          </a:p>
          <a:p xmlns:a="http://schemas.openxmlformats.org/drawingml/2006/main">
            <a:r>
              <a:t/>
            </a:r>
          </a:p>
          <a:p xmlns:a="http://schemas.openxmlformats.org/drawingml/2006/main">
            <a:r>
              <a:t>Safeguarding / safety: Use fictional allergy scenarios without inviting disclosure. Follow existing school care plans and food procedures for any real products. Keep food-contact and tasting optional and outside this paper lesson. Do not rank pupils’ choices or ask about personal eating, bodies or household shopping. Refer a real uncertainty to the responsible adult.</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and locate an ingredients-list example.</a:t>
            </a:r>
          </a:p>
          <a:p xmlns:a="http://schemas.openxmlformats.org/drawingml/2006/main">
            <a:r>
              <a:t>6 min: Model ingredients, highlighted allergen and storage checks.</a:t>
            </a:r>
          </a:p>
          <a:p xmlns:a="http://schemas.openxmlformats.org/drawingml/2006/main">
            <a:r>
              <a:t>5 min: Explain use-by versus best before using one dated case.</a:t>
            </a:r>
          </a:p>
          <a:p xmlns:a="http://schemas.openxmlformats.org/drawingml/2006/main">
            <a:r>
              <a:t>7 min: Complete Label A information hunt.</a:t>
            </a:r>
          </a:p>
          <a:p xmlns:a="http://schemas.openxmlformats.org/drawingml/2006/main">
            <a:r>
              <a:t>7 min: Read and decide the three date/storage cases.</a:t>
            </a:r>
          </a:p>
          <a:p xmlns:a="http://schemas.openxmlformats.org/drawingml/2006/main">
            <a:r>
              <a:t>7 min: Compare the two per-100g values and equal-size prices.</a:t>
            </a:r>
          </a:p>
          <a:p xmlns:a="http://schemas.openxmlformats.org/drawingml/2006/main">
            <a:r>
              <a:t>3 min: Exit safety action and corrective feedback.</a:t>
            </a:r>
          </a:p>
          <a:p xmlns:a="http://schemas.openxmlformats.org/drawingml/2006/main">
            <a:r>
              <a:t>2 min: Return labels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BUILD_FOOD_W3 | Reading Labels</a:t>
            </a:r>
          </a:p>
          <a:p xmlns:a="http://schemas.openxmlformats.org/drawingml/2006/main">
            <a:r>
              <a:t>Find important label information and compare the same measure on two fictional labels, asking an adult when suitability is uncertain.</a:t>
            </a:r>
          </a:p>
          <a:p xmlns:a="http://schemas.openxmlformats.org/drawingml/2006/main">
            <a:r>
              <a:t/>
            </a:r>
          </a:p>
          <a:p xmlns:a="http://schemas.openxmlformats.org/drawingml/2006/main">
            <a:r>
              <a:t>Read all three full case cards, including their fictional dates and storage history. Case 2 is a quality-date discussion; pupils do not taste to test or declare it suitable.</a:t>
            </a:r>
          </a:p>
          <a:p xmlns:a="http://schemas.openxmlformats.org/drawingml/2006/main">
            <a:r>
              <a:t/>
            </a:r>
          </a:p>
          <a:p xmlns:a="http://schemas.openxmlformats.org/drawingml/2006/main">
            <a:r>
              <a:t>Pupil prompt: Which case shows that being before the date does not settle the question?</a:t>
            </a:r>
          </a:p>
          <a:p xmlns:a="http://schemas.openxmlformats.org/drawingml/2006/main">
            <a:r>
              <a:t/>
            </a:r>
          </a:p>
          <a:p xmlns:a="http://schemas.openxmlformats.org/drawingml/2006/main">
            <a:r>
              <a:t>Teacher answer / acceptable response: Case 3. The storage instructions were not followed. Stop and tell the adult.</a:t>
            </a:r>
          </a:p>
          <a:p xmlns:a="http://schemas.openxmlformats.org/drawingml/2006/main">
            <a:r>
              <a:t/>
            </a:r>
          </a:p>
          <a:p xmlns:a="http://schemas.openxmlformats.org/drawingml/2006/main">
            <a:r>
              <a:t>Support: Offer one enlarged label at a time and read the exact wording aloud. Use separate prompts: ingredients, date, storage. Accept pointing, signing, circling or scribing. For the comparison, use 0.60/0.30 as 60/30 hundredths only if decimals are accessible; otherwise let the adult identify the values and ask the pupil to choose the matching smaller-value card.</a:t>
            </a:r>
          </a:p>
          <a:p xmlns:a="http://schemas.openxmlformats.org/drawingml/2006/main">
            <a:r>
              <a:t/>
            </a:r>
          </a:p>
          <a:p xmlns:a="http://schemas.openxmlformats.org/drawingml/2006/main">
            <a:r>
              <a:t>Stretch: Explain why A’s 200g and B’s 300g portion lines cannot be compared as equal portions. Calculate the 0.30g difference in salt per 100g and the 20p price difference, then state one safety question these figures cannot answer.</a:t>
            </a:r>
          </a:p>
          <a:p xmlns:a="http://schemas.openxmlformats.org/drawingml/2006/main">
            <a:r>
              <a:t/>
            </a:r>
          </a:p>
          <a:p xmlns:a="http://schemas.openxmlformats.org/drawingml/2006/main">
            <a:r>
              <a:t>Safeguarding / safety: Use fictional allergy scenarios without inviting disclosure. Follow existing school care plans and food procedures for any real products. Keep food-contact and tasting optional and outside this paper lesson. Do not rank pupils’ choices or ask about personal eating, bodies or household shopping. Refer a real uncertainty to the responsible adult.</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and locate an ingredients-list example.</a:t>
            </a:r>
          </a:p>
          <a:p xmlns:a="http://schemas.openxmlformats.org/drawingml/2006/main">
            <a:r>
              <a:t>6 min: Model ingredients, highlighted allergen and storage checks.</a:t>
            </a:r>
          </a:p>
          <a:p xmlns:a="http://schemas.openxmlformats.org/drawingml/2006/main">
            <a:r>
              <a:t>5 min: Explain use-by versus best before using one dated case.</a:t>
            </a:r>
          </a:p>
          <a:p xmlns:a="http://schemas.openxmlformats.org/drawingml/2006/main">
            <a:r>
              <a:t>7 min: Complete Label A information hunt.</a:t>
            </a:r>
          </a:p>
          <a:p xmlns:a="http://schemas.openxmlformats.org/drawingml/2006/main">
            <a:r>
              <a:t>7 min: Read and decide the three date/storage cases.</a:t>
            </a:r>
          </a:p>
          <a:p xmlns:a="http://schemas.openxmlformats.org/drawingml/2006/main">
            <a:r>
              <a:t>7 min: Compare the two per-100g values and equal-size prices.</a:t>
            </a:r>
          </a:p>
          <a:p xmlns:a="http://schemas.openxmlformats.org/drawingml/2006/main">
            <a:r>
              <a:t>3 min: Exit safety action and corrective feedback.</a:t>
            </a:r>
          </a:p>
          <a:p xmlns:a="http://schemas.openxmlformats.org/drawingml/2006/main">
            <a:r>
              <a:t>2 min: Return labels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BUILD_FOOD_W3 | Reading Labels</a:t>
            </a:r>
          </a:p>
          <a:p xmlns:a="http://schemas.openxmlformats.org/drawingml/2006/main">
            <a:r>
              <a:t>Find important label information and compare the same measure on two fictional labels, asking an adult when suitability is uncertain.</a:t>
            </a:r>
          </a:p>
          <a:p xmlns:a="http://schemas.openxmlformats.org/drawingml/2006/main">
            <a:r>
              <a:t/>
            </a:r>
          </a:p>
          <a:p xmlns:a="http://schemas.openxmlformats.org/drawingml/2006/main">
            <a:r>
              <a:t>Keep comparison factual. Do not describe a whole product as better for a person. Values and prices are invented. The different per-portion values are an optional same-unit challenge.</a:t>
            </a:r>
          </a:p>
          <a:p xmlns:a="http://schemas.openxmlformats.org/drawingml/2006/main">
            <a:r>
              <a:t/>
            </a:r>
          </a:p>
          <a:p xmlns:a="http://schemas.openxmlformats.org/drawingml/2006/main">
            <a:r>
              <a:t>Pupil prompt: Which label shows the smaller salt amount per 100g?</a:t>
            </a:r>
          </a:p>
          <a:p xmlns:a="http://schemas.openxmlformats.org/drawingml/2006/main">
            <a:r>
              <a:t/>
            </a:r>
          </a:p>
          <a:p xmlns:a="http://schemas.openxmlformats.org/drawingml/2006/main">
            <a:r>
              <a:t>Teacher answer / acceptable response: B: 0.30g per 100g is less than A: 0.60g per 100g. B is also 20p cheaper for the same pack mass.</a:t>
            </a:r>
          </a:p>
          <a:p xmlns:a="http://schemas.openxmlformats.org/drawingml/2006/main">
            <a:r>
              <a:t/>
            </a:r>
          </a:p>
          <a:p xmlns:a="http://schemas.openxmlformats.org/drawingml/2006/main">
            <a:r>
              <a:t>Support: Offer one enlarged label at a time and read the exact wording aloud. Use separate prompts: ingredients, date, storage. Accept pointing, signing, circling or scribing. For the comparison, use 0.60/0.30 as 60/30 hundredths only if decimals are accessible; otherwise let the adult identify the values and ask the pupil to choose the matching smaller-value card.</a:t>
            </a:r>
          </a:p>
          <a:p xmlns:a="http://schemas.openxmlformats.org/drawingml/2006/main">
            <a:r>
              <a:t/>
            </a:r>
          </a:p>
          <a:p xmlns:a="http://schemas.openxmlformats.org/drawingml/2006/main">
            <a:r>
              <a:t>Stretch: Explain why A’s 200g and B’s 300g portion lines cannot be compared as equal portions. Calculate the 0.30g difference in salt per 100g and the 20p price difference, then state one safety question these figures cannot answer.</a:t>
            </a:r>
          </a:p>
          <a:p xmlns:a="http://schemas.openxmlformats.org/drawingml/2006/main">
            <a:r>
              <a:t/>
            </a:r>
          </a:p>
          <a:p xmlns:a="http://schemas.openxmlformats.org/drawingml/2006/main">
            <a:r>
              <a:t>Safeguarding / safety: Use fictional allergy scenarios without inviting disclosure. Follow existing school care plans and food procedures for any real products. Keep food-contact and tasting optional and outside this paper lesson. Do not rank pupils’ choices or ask about personal eating, bodies or household shopping. Refer a real uncertainty to the responsible adult.</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and locate an ingredients-list example.</a:t>
            </a:r>
          </a:p>
          <a:p xmlns:a="http://schemas.openxmlformats.org/drawingml/2006/main">
            <a:r>
              <a:t>6 min: Model ingredients, highlighted allergen and storage checks.</a:t>
            </a:r>
          </a:p>
          <a:p xmlns:a="http://schemas.openxmlformats.org/drawingml/2006/main">
            <a:r>
              <a:t>5 min: Explain use-by versus best before using one dated case.</a:t>
            </a:r>
          </a:p>
          <a:p xmlns:a="http://schemas.openxmlformats.org/drawingml/2006/main">
            <a:r>
              <a:t>7 min: Complete Label A information hunt.</a:t>
            </a:r>
          </a:p>
          <a:p xmlns:a="http://schemas.openxmlformats.org/drawingml/2006/main">
            <a:r>
              <a:t>7 min: Read and decide the three date/storage cases.</a:t>
            </a:r>
          </a:p>
          <a:p xmlns:a="http://schemas.openxmlformats.org/drawingml/2006/main">
            <a:r>
              <a:t>7 min: Compare the two per-100g values and equal-size prices.</a:t>
            </a:r>
          </a:p>
          <a:p xmlns:a="http://schemas.openxmlformats.org/drawingml/2006/main">
            <a:r>
              <a:t>3 min: Exit safety action and corrective feedback.</a:t>
            </a:r>
          </a:p>
          <a:p xmlns:a="http://schemas.openxmlformats.org/drawingml/2006/main">
            <a:r>
              <a:t>2 min: Return labels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BUILD_FOOD_W3 | Reading Labels</a:t>
            </a:r>
          </a:p>
          <a:p xmlns:a="http://schemas.openxmlformats.org/drawingml/2006/main">
            <a:r>
              <a:t>Find important label information and compare the same measure on two fictional labels, asking an adult when suitability is uncertain.</a:t>
            </a:r>
          </a:p>
          <a:p xmlns:a="http://schemas.openxmlformats.org/drawingml/2006/main">
            <a:r>
              <a:t/>
            </a:r>
          </a:p>
          <a:p xmlns:a="http://schemas.openxmlformats.org/drawingml/2006/main">
            <a:r>
              <a:t>Worksheet task 3. Credit identifying the limitation of the comparison. Do not treat missing emphasised ingredients as an allergy clearance.</a:t>
            </a:r>
          </a:p>
          <a:p xmlns:a="http://schemas.openxmlformats.org/drawingml/2006/main">
            <a:r>
              <a:t/>
            </a:r>
          </a:p>
          <a:p xmlns:a="http://schemas.openxmlformats.org/drawingml/2006/main">
            <a:r>
              <a:t>Pupil prompt: Does Label B’s smaller salt number prove it is suitable for someone with a celery allergy?</a:t>
            </a:r>
          </a:p>
          <a:p xmlns:a="http://schemas.openxmlformats.org/drawingml/2006/main">
            <a:r>
              <a:t/>
            </a:r>
          </a:p>
          <a:p xmlns:a="http://schemas.openxmlformats.org/drawingml/2006/main">
            <a:r>
              <a:t>Teacher answer / acceptable response: No. It says “May contain CELERY”. Stop and ask the responsible adult; do not select it for that person.</a:t>
            </a:r>
          </a:p>
          <a:p xmlns:a="http://schemas.openxmlformats.org/drawingml/2006/main">
            <a:r>
              <a:t/>
            </a:r>
          </a:p>
          <a:p xmlns:a="http://schemas.openxmlformats.org/drawingml/2006/main">
            <a:r>
              <a:t>Support: Offer one enlarged label at a time and read the exact wording aloud. Use separate prompts: ingredients, date, storage. Accept pointing, signing, circling or scribing. For the comparison, use 0.60/0.30 as 60/30 hundredths only if decimals are accessible; otherwise let the adult identify the values and ask the pupil to choose the matching smaller-value card.</a:t>
            </a:r>
          </a:p>
          <a:p xmlns:a="http://schemas.openxmlformats.org/drawingml/2006/main">
            <a:r>
              <a:t/>
            </a:r>
          </a:p>
          <a:p xmlns:a="http://schemas.openxmlformats.org/drawingml/2006/main">
            <a:r>
              <a:t>Stretch: Explain why A’s 200g and B’s 300g portion lines cannot be compared as equal portions. Calculate the 0.30g difference in salt per 100g and the 20p price difference, then state one safety question these figures cannot answer.</a:t>
            </a:r>
          </a:p>
          <a:p xmlns:a="http://schemas.openxmlformats.org/drawingml/2006/main">
            <a:r>
              <a:t/>
            </a:r>
          </a:p>
          <a:p xmlns:a="http://schemas.openxmlformats.org/drawingml/2006/main">
            <a:r>
              <a:t>Safeguarding / safety: Use fictional allergy scenarios without inviting disclosure. Follow existing school care plans and food procedures for any real products. Keep food-contact and tasting optional and outside this paper lesson. Do not rank pupils’ choices or ask about personal eating, bodies or household shopping. Refer a real uncertainty to the responsible adult.</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and locate an ingredients-list example.</a:t>
            </a:r>
          </a:p>
          <a:p xmlns:a="http://schemas.openxmlformats.org/drawingml/2006/main">
            <a:r>
              <a:t>6 min: Model ingredients, highlighted allergen and storage checks.</a:t>
            </a:r>
          </a:p>
          <a:p xmlns:a="http://schemas.openxmlformats.org/drawingml/2006/main">
            <a:r>
              <a:t>5 min: Explain use-by versus best before using one dated case.</a:t>
            </a:r>
          </a:p>
          <a:p xmlns:a="http://schemas.openxmlformats.org/drawingml/2006/main">
            <a:r>
              <a:t>7 min: Complete Label A information hunt.</a:t>
            </a:r>
          </a:p>
          <a:p xmlns:a="http://schemas.openxmlformats.org/drawingml/2006/main">
            <a:r>
              <a:t>7 min: Read and decide the three date/storage cases.</a:t>
            </a:r>
          </a:p>
          <a:p xmlns:a="http://schemas.openxmlformats.org/drawingml/2006/main">
            <a:r>
              <a:t>7 min: Compare the two per-100g values and equal-size prices.</a:t>
            </a:r>
          </a:p>
          <a:p xmlns:a="http://schemas.openxmlformats.org/drawingml/2006/main">
            <a:r>
              <a:t>3 min: Exit safety action and corrective feedback.</a:t>
            </a:r>
          </a:p>
          <a:p xmlns:a="http://schemas.openxmlformats.org/drawingml/2006/main">
            <a:r>
              <a:t>2 min: Return labels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BUILD_FOOD_W3 | Reading Labels</a:t>
            </a:r>
          </a:p>
          <a:p xmlns:a="http://schemas.openxmlformats.org/drawingml/2006/main">
            <a:r>
              <a:t>Find important label information and compare the same measure on two fictional labels, asking an adult when suitability is uncertain.</a:t>
            </a:r>
          </a:p>
          <a:p xmlns:a="http://schemas.openxmlformats.org/drawingml/2006/main">
            <a:r>
              <a:t/>
            </a:r>
          </a:p>
          <a:p xmlns:a="http://schemas.openxmlformats.org/drawingml/2006/main">
            <a:r>
              <a:t>Worksheet task 3. Credit identifying the limitation of the comparison. Do not treat missing emphasised ingredients as an allergy clearance.</a:t>
            </a:r>
          </a:p>
          <a:p xmlns:a="http://schemas.openxmlformats.org/drawingml/2006/main">
            <a:r>
              <a:t/>
            </a:r>
          </a:p>
          <a:p xmlns:a="http://schemas.openxmlformats.org/drawingml/2006/main">
            <a:r>
              <a:t>Pupil prompt: Does Label B’s smaller salt number prove it is suitable for someone with a celery allergy?</a:t>
            </a:r>
          </a:p>
          <a:p xmlns:a="http://schemas.openxmlformats.org/drawingml/2006/main">
            <a:r>
              <a:t/>
            </a:r>
          </a:p>
          <a:p xmlns:a="http://schemas.openxmlformats.org/drawingml/2006/main">
            <a:r>
              <a:t>Teacher answer / acceptable response: No. It says “May contain CELERY”. Stop and ask the responsible adult; do not select it for that person.</a:t>
            </a:r>
          </a:p>
          <a:p xmlns:a="http://schemas.openxmlformats.org/drawingml/2006/main">
            <a:r>
              <a:t/>
            </a:r>
          </a:p>
          <a:p xmlns:a="http://schemas.openxmlformats.org/drawingml/2006/main">
            <a:r>
              <a:t>Support: Offer one enlarged label at a time and read the exact wording aloud. Use separate prompts: ingredients, date, storage. Accept pointing, signing, circling or scribing. For the comparison, use 0.60/0.30 as 60/30 hundredths only if decimals are accessible; otherwise let the adult identify the values and ask the pupil to choose the matching smaller-value card.</a:t>
            </a:r>
          </a:p>
          <a:p xmlns:a="http://schemas.openxmlformats.org/drawingml/2006/main">
            <a:r>
              <a:t/>
            </a:r>
          </a:p>
          <a:p xmlns:a="http://schemas.openxmlformats.org/drawingml/2006/main">
            <a:r>
              <a:t>Stretch: Explain why A’s 200g and B’s 300g portion lines cannot be compared as equal portions. Calculate the 0.30g difference in salt per 100g and the 20p price difference, then state one safety question these figures cannot answer.</a:t>
            </a:r>
          </a:p>
          <a:p xmlns:a="http://schemas.openxmlformats.org/drawingml/2006/main">
            <a:r>
              <a:t/>
            </a:r>
          </a:p>
          <a:p xmlns:a="http://schemas.openxmlformats.org/drawingml/2006/main">
            <a:r>
              <a:t>Safeguarding / safety: Use fictional allergy scenarios without inviting disclosure. Follow existing school care plans and food procedures for any real products. Keep food-contact and tasting optional and outside this paper lesson. Do not rank pupils’ choices or ask about personal eating, bodies or household shopping. Refer a real uncertainty to the responsible adult.</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and locate an ingredients-list example.</a:t>
            </a:r>
          </a:p>
          <a:p xmlns:a="http://schemas.openxmlformats.org/drawingml/2006/main">
            <a:r>
              <a:t>6 min: Model ingredients, highlighted allergen and storage checks.</a:t>
            </a:r>
          </a:p>
          <a:p xmlns:a="http://schemas.openxmlformats.org/drawingml/2006/main">
            <a:r>
              <a:t>5 min: Explain use-by versus best before using one dated case.</a:t>
            </a:r>
          </a:p>
          <a:p xmlns:a="http://schemas.openxmlformats.org/drawingml/2006/main">
            <a:r>
              <a:t>7 min: Complete Label A information hunt.</a:t>
            </a:r>
          </a:p>
          <a:p xmlns:a="http://schemas.openxmlformats.org/drawingml/2006/main">
            <a:r>
              <a:t>7 min: Read and decide the three date/storage cases.</a:t>
            </a:r>
          </a:p>
          <a:p xmlns:a="http://schemas.openxmlformats.org/drawingml/2006/main">
            <a:r>
              <a:t>7 min: Compare the two per-100g values and equal-size prices.</a:t>
            </a:r>
          </a:p>
          <a:p xmlns:a="http://schemas.openxmlformats.org/drawingml/2006/main">
            <a:r>
              <a:t>3 min: Exit safety action and corrective feedback.</a:t>
            </a:r>
          </a:p>
          <a:p xmlns:a="http://schemas.openxmlformats.org/drawingml/2006/main">
            <a:r>
              <a:t>2 min: Return labels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BUILD_FOOD_W3 | Reading Labels</a:t>
            </a:r>
          </a:p>
          <a:p xmlns:a="http://schemas.openxmlformats.org/drawingml/2006/main">
            <a:r>
              <a:t>Find important label information and compare the same measure on two fictional labels, asking an adult when suitability is uncertain.</a:t>
            </a:r>
          </a:p>
          <a:p xmlns:a="http://schemas.openxmlformats.org/drawingml/2006/main">
            <a:r>
              <a:t/>
            </a:r>
          </a:p>
          <a:p xmlns:a="http://schemas.openxmlformats.org/drawingml/2006/main">
            <a:r>
              <a:t>Teacher reviews the distinction between date types, then resets the resources. No pupil needs to disclose an allergy, handle packaging or taste food.</a:t>
            </a:r>
          </a:p>
          <a:p xmlns:a="http://schemas.openxmlformats.org/drawingml/2006/main">
            <a:r>
              <a:t/>
            </a:r>
          </a:p>
          <a:p xmlns:a="http://schemas.openxmlformats.org/drawingml/2006/main">
            <a:r>
              <a:t>Pupil prompt: Eat it, or stop and tell an adult?</a:t>
            </a:r>
          </a:p>
          <a:p xmlns:a="http://schemas.openxmlformats.org/drawingml/2006/main">
            <a:r>
              <a:t/>
            </a:r>
          </a:p>
          <a:p xmlns:a="http://schemas.openxmlformats.org/drawingml/2006/main">
            <a:r>
              <a:t>Teacher answer / acceptable response: Stop and tell an adult. It is past its use-by date; normal appearance or smell cannot establish safety.</a:t>
            </a:r>
          </a:p>
          <a:p xmlns:a="http://schemas.openxmlformats.org/drawingml/2006/main">
            <a:r>
              <a:t/>
            </a:r>
          </a:p>
          <a:p xmlns:a="http://schemas.openxmlformats.org/drawingml/2006/main">
            <a:r>
              <a:t>Support: Offer one enlarged label at a time and read the exact wording aloud. Use separate prompts: ingredients, date, storage. Accept pointing, signing, circling or scribing. For the comparison, use 0.60/0.30 as 60/30 hundredths only if decimals are accessible; otherwise let the adult identify the values and ask the pupil to choose the matching smaller-value card.</a:t>
            </a:r>
          </a:p>
          <a:p xmlns:a="http://schemas.openxmlformats.org/drawingml/2006/main">
            <a:r>
              <a:t/>
            </a:r>
          </a:p>
          <a:p xmlns:a="http://schemas.openxmlformats.org/drawingml/2006/main">
            <a:r>
              <a:t>Stretch: Explain why A’s 200g and B’s 300g portion lines cannot be compared as equal portions. Calculate the 0.30g difference in salt per 100g and the 20p price difference, then state one safety question these figures cannot answer.</a:t>
            </a:r>
          </a:p>
          <a:p xmlns:a="http://schemas.openxmlformats.org/drawingml/2006/main">
            <a:r>
              <a:t/>
            </a:r>
          </a:p>
          <a:p xmlns:a="http://schemas.openxmlformats.org/drawingml/2006/main">
            <a:r>
              <a:t>Safeguarding / safety: Use fictional allergy scenarios without inviting disclosure. Follow existing school care plans and food procedures for any real products. Keep food-contact and tasting optional and outside this paper lesson. Do not rank pupils’ choices or ask about personal eating, bodies or household shopping. Refer a real uncertainty to the responsible adult.</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and locate an ingredients-list example.</a:t>
            </a:r>
          </a:p>
          <a:p xmlns:a="http://schemas.openxmlformats.org/drawingml/2006/main">
            <a:r>
              <a:t>6 min: Model ingredients, highlighted allergen and storage checks.</a:t>
            </a:r>
          </a:p>
          <a:p xmlns:a="http://schemas.openxmlformats.org/drawingml/2006/main">
            <a:r>
              <a:t>5 min: Explain use-by versus best before using one dated case.</a:t>
            </a:r>
          </a:p>
          <a:p xmlns:a="http://schemas.openxmlformats.org/drawingml/2006/main">
            <a:r>
              <a:t>7 min: Complete Label A information hunt.</a:t>
            </a:r>
          </a:p>
          <a:p xmlns:a="http://schemas.openxmlformats.org/drawingml/2006/main">
            <a:r>
              <a:t>7 min: Read and decide the three date/storage cases.</a:t>
            </a:r>
          </a:p>
          <a:p xmlns:a="http://schemas.openxmlformats.org/drawingml/2006/main">
            <a:r>
              <a:t>7 min: Compare the two per-100g values and equal-size prices.</a:t>
            </a:r>
          </a:p>
          <a:p xmlns:a="http://schemas.openxmlformats.org/drawingml/2006/main">
            <a:r>
              <a:t>3 min: Exit safety action and corrective feedback.</a:t>
            </a:r>
          </a:p>
          <a:p xmlns:a="http://schemas.openxmlformats.org/drawingml/2006/main">
            <a:r>
              <a:t>2 min: Return labels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1957d9c7d8f46a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839a4592fc0410e" /><Relationship Type="http://schemas.openxmlformats.org/officeDocument/2006/relationships/slideLayout" Target="/ppt/slideLayouts/slideLayout1.xml" Id="Rf6382b08a85e43f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6382b08a85e43f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9b09e5a9f394058" /><Relationship Type="http://schemas.openxmlformats.org/officeDocument/2006/relationships/image" Target="/ppt/media/image.jpeg" Id="R23d8b0beb791409b" /><Relationship Type="http://schemas.openxmlformats.org/officeDocument/2006/relationships/notesSlide" Target="/ppt/notesSlides/notesSlide1.xml" Id="R6fb69288571e413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b5c844119504bea" /><Relationship Type="http://schemas.openxmlformats.org/officeDocument/2006/relationships/image" Target="/ppt/media/image.jpeg" Id="R6d227616509f4a87" /><Relationship Type="http://schemas.openxmlformats.org/officeDocument/2006/relationships/notesSlide" Target="/ppt/notesSlides/notesSlide2.xml" Id="R3cc262d61aab4a3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9b0fa62744d465b" /><Relationship Type="http://schemas.openxmlformats.org/officeDocument/2006/relationships/image" Target="/ppt/media/image.jpeg" Id="R29808204b3654db0" /><Relationship Type="http://schemas.openxmlformats.org/officeDocument/2006/relationships/notesSlide" Target="/ppt/notesSlides/notesSlide3.xml" Id="Rd4bb4dd9b42a49e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e26f7ccd0ad42a1" /><Relationship Type="http://schemas.openxmlformats.org/officeDocument/2006/relationships/image" Target="/ppt/media/image.jpeg" Id="Rde4dc97d9a444ae7" /><Relationship Type="http://schemas.openxmlformats.org/officeDocument/2006/relationships/notesSlide" Target="/ppt/notesSlides/notesSlide4.xml" Id="Ra8aa07c8408b492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eca764033224cde" /><Relationship Type="http://schemas.openxmlformats.org/officeDocument/2006/relationships/image" Target="/ppt/media/image.jpeg" Id="R3358c8308f2042ee" /><Relationship Type="http://schemas.openxmlformats.org/officeDocument/2006/relationships/notesSlide" Target="/ppt/notesSlides/notesSlide5.xml" Id="Rbf95a5927bd3429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51c01c55de34a84" /><Relationship Type="http://schemas.openxmlformats.org/officeDocument/2006/relationships/image" Target="/ppt/media/image.jpeg" Id="Rce48b66d4d7c4d29" /><Relationship Type="http://schemas.openxmlformats.org/officeDocument/2006/relationships/notesSlide" Target="/ppt/notesSlides/notesSlide6.xml" Id="Rc867543289114ec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978d4acb8fc4535" /><Relationship Type="http://schemas.openxmlformats.org/officeDocument/2006/relationships/image" Target="/ppt/media/image.jpeg" Id="R2285237d89434cc0" /><Relationship Type="http://schemas.openxmlformats.org/officeDocument/2006/relationships/notesSlide" Target="/ppt/notesSlides/notesSlide7.xml" Id="R7b80844171144aa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e13e2ae53b14ea9" /><Relationship Type="http://schemas.openxmlformats.org/officeDocument/2006/relationships/image" Target="/ppt/media/image.jpeg" Id="R679453cf68374321" /><Relationship Type="http://schemas.openxmlformats.org/officeDocument/2006/relationships/notesSlide" Target="/ppt/notesSlides/notesSlide8.xml" Id="R7b55c31892d9490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1015a5398644f81" /><Relationship Type="http://schemas.openxmlformats.org/officeDocument/2006/relationships/image" Target="/ppt/media/image.jpeg" Id="R24dfa2d25ebb492f" /><Relationship Type="http://schemas.openxmlformats.org/officeDocument/2006/relationships/notesSlide" Target="/ppt/notesSlides/notesSlide9.xml" Id="Rc9cbbf640c5f46f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d027cdebc1f4b05" /><Relationship Type="http://schemas.openxmlformats.org/officeDocument/2006/relationships/image" Target="/ppt/media/image.jpeg" Id="R29bd9e1cb0c5493d" /><Relationship Type="http://schemas.openxmlformats.org/officeDocument/2006/relationships/notesSlide" Target="/ppt/notesSlides/notesSlide10.xml" Id="R5f80e5f77a7f4ed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fa548a135144ae1" /><Relationship Type="http://schemas.openxmlformats.org/officeDocument/2006/relationships/image" Target="/ppt/media/image.jpeg" Id="R2858fd575c4e44df" /><Relationship Type="http://schemas.openxmlformats.org/officeDocument/2006/relationships/notesSlide" Target="/ppt/notesSlides/notesSlide11.xml" Id="Rcd82028e3b7444e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56fcf8b23bf4d14" /><Relationship Type="http://schemas.openxmlformats.org/officeDocument/2006/relationships/image" Target="/ppt/media/image.jpeg" Id="Rf1987dc0e0ce4293" /><Relationship Type="http://schemas.openxmlformats.org/officeDocument/2006/relationships/notesSlide" Target="/ppt/notesSlides/notesSlide12.xml" Id="R8660a0f0e4a6429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81b208dccce455c" /><Relationship Type="http://schemas.openxmlformats.org/officeDocument/2006/relationships/image" Target="/ppt/media/image.jpeg" Id="Rbeece5f074c841de" /><Relationship Type="http://schemas.openxmlformats.org/officeDocument/2006/relationships/notesSlide" Target="/ppt/notesSlides/notesSlide13.xml" Id="Rb68f281d1ecc456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6fce964f2264ca2" /><Relationship Type="http://schemas.openxmlformats.org/officeDocument/2006/relationships/image" Target="/ppt/media/image.jpeg" Id="Raefea1dad7d842dd" /><Relationship Type="http://schemas.openxmlformats.org/officeDocument/2006/relationships/notesSlide" Target="/ppt/notesSlides/notesSlide14.xml" Id="R3610959c9bcc4a9d" /></Relationships>
</file>

<file path=ppt/slides/slide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23d8b0beb791409b"/>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Reading Labels</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FoodWise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01</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Today’s labels are fictional paper examples.</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Find ingredients, dates and storage; compare the same measure.</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An adult checks any real product before classroom use.</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Where might a packet tell us what is inside?</a:t>
            </a:r>
          </a:p>
        </p:txBody>
      </p:sp>
    </p:spTree>
    <p:extLst>
      <p:ext uri="{BB962C8B-B14F-4D97-AF65-F5344CB8AC3E}">
        <p14:creationId xmlns:p14="http://schemas.microsoft.com/office/powerpoint/2010/main" val="1732344281"/>
      </p:ext>
    </p:extLst>
  </p:cSld>
</p:sld>
</file>

<file path=ppt/slides/slide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d227616509f4a87"/>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Three checks before using food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02</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Read the ingredients and allergen information.</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Read the date words and the date.</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Read storage and after-opening instructions. Ask an adult if anything is unclear.</a:t>
            </a:r>
          </a:p>
        </p:txBody>
      </p:sp>
    </p:spTree>
    <p:extLst>
      <p:ext uri="{BB962C8B-B14F-4D97-AF65-F5344CB8AC3E}">
        <p14:creationId xmlns:p14="http://schemas.microsoft.com/office/powerpoint/2010/main" val="289928415"/>
      </p:ext>
    </p:extLst>
  </p:cSld>
</p:sld>
</file>

<file path=ppt/slides/slide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9808204b3654db0"/>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Three checks before using food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Is a picture of a tomato enough information?</a:t>
            </a:r>
          </a:p>
        </p:txBody>
      </p:sp>
    </p:spTree>
    <p:extLst>
      <p:ext uri="{BB962C8B-B14F-4D97-AF65-F5344CB8AC3E}">
        <p14:creationId xmlns:p14="http://schemas.microsoft.com/office/powerpoint/2010/main" val="289928415"/>
      </p:ext>
    </p:extLst>
  </p:cSld>
</p:sld>
</file>

<file path=ppt/slides/slide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e4dc97d9a444ae7"/>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Spot the ingredient warning</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04</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Label A includes cream (MILK). The capitals highlight milk here.</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Some regulated allergens are emphasised within ingredient lists.</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“May contain CELERY” on Label B also needs an adult check.</a:t>
            </a:r>
          </a:p>
        </p:txBody>
      </p:sp>
    </p:spTree>
    <p:extLst>
      <p:ext uri="{BB962C8B-B14F-4D97-AF65-F5344CB8AC3E}">
        <p14:creationId xmlns:p14="http://schemas.microsoft.com/office/powerpoint/2010/main" val="289928415"/>
      </p:ext>
    </p:extLst>
  </p:cSld>
</p:sld>
</file>

<file path=ppt/slides/slide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358c8308f2042ee"/>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Spot the ingredient warning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05</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Can a pupil with a milk allergy choose Label A because it shows tomatoes?</a:t>
            </a:r>
          </a:p>
        </p:txBody>
      </p:sp>
    </p:spTree>
    <p:extLst>
      <p:ext uri="{BB962C8B-B14F-4D97-AF65-F5344CB8AC3E}">
        <p14:creationId xmlns:p14="http://schemas.microsoft.com/office/powerpoint/2010/main" val="289928415"/>
      </p:ext>
    </p:extLst>
  </p:cSld>
</p:sld>
</file>

<file path=ppt/slides/slide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e48b66d4d7c4d29"/>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Two dates, different jobs</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06</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Use-by: a food-safety date. Do not eat food that has simply stayed chilled beyond it.</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Best before: a quality date; ask an adult to check the product and its storage.</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Smell cannot make an out-of-date use-by food safe.</a:t>
            </a:r>
          </a:p>
        </p:txBody>
      </p:sp>
    </p:spTree>
    <p:extLst>
      <p:ext uri="{BB962C8B-B14F-4D97-AF65-F5344CB8AC3E}">
        <p14:creationId xmlns:p14="http://schemas.microsoft.com/office/powerpoint/2010/main" val="289928415"/>
      </p:ext>
    </p:extLst>
  </p:cSld>
</p:sld>
</file>

<file path=ppt/slides/slide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285237d89434cc0"/>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Two dates, different jobs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07</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Soup says “Use by 8 October”. On 9 October it smells normal. It was never cooked or frozen. What now?</a:t>
            </a:r>
          </a:p>
        </p:txBody>
      </p:sp>
    </p:spTree>
    <p:extLst>
      <p:ext uri="{BB962C8B-B14F-4D97-AF65-F5344CB8AC3E}">
        <p14:creationId xmlns:p14="http://schemas.microsoft.com/office/powerpoint/2010/main" val="289928415"/>
      </p:ext>
    </p:extLst>
  </p:cSld>
</p:sld>
</file>

<file path=ppt/slides/slide8.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79453cf68374321"/>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Find it on Label A</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FoodWise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08</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Ingredients include cream (MILK).</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Use by 8 October 2026. Refrigerate at 5°C or below.</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After opening: use within 24 hours and before the end of the use-by date.</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instruction tells you what changes after opening?</a:t>
            </a:r>
          </a:p>
        </p:txBody>
      </p:sp>
    </p:spTree>
    <p:extLst>
      <p:ext uri="{BB962C8B-B14F-4D97-AF65-F5344CB8AC3E}">
        <p14:creationId xmlns:p14="http://schemas.microsoft.com/office/powerpoint/2010/main" val="1732344281"/>
      </p:ext>
    </p:extLst>
  </p:cSld>
</p:sld>
</file>

<file path=ppt/slides/slide9.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4dfa2d25ebb492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Date and storage detectives</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09</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Case 1: chilled soup is past its use-by date.</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Case 2: dry crackers are past their best-before date.</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Case 3: soup was left warm overnight before its use-by date.</a:t>
            </a:r>
          </a:p>
        </p:txBody>
      </p:sp>
    </p:spTree>
    <p:extLst>
      <p:ext uri="{BB962C8B-B14F-4D97-AF65-F5344CB8AC3E}">
        <p14:creationId xmlns:p14="http://schemas.microsoft.com/office/powerpoint/2010/main" val="289928415"/>
      </p:ext>
    </p:extLst>
  </p:cSld>
</p:sld>
</file>

<file path=ppt/slides/slide10.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9bd9e1cb0c5493d"/>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Date and storage detectives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10</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Which case shows that being before the date does not settle the question?</a:t>
            </a:r>
          </a:p>
        </p:txBody>
      </p:sp>
    </p:spTree>
    <p:extLst>
      <p:ext uri="{BB962C8B-B14F-4D97-AF65-F5344CB8AC3E}">
        <p14:creationId xmlns:p14="http://schemas.microsoft.com/office/powerpoint/2010/main" val="289928415"/>
      </p:ext>
    </p:extLst>
  </p:cSld>
</p:sld>
</file>

<file path=ppt/slides/slide1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2858fd575c4e44d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Compare the same measure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FoodWise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11</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Soup A: salt 0.60g per 100g. Soup B: salt 0.30g per 100g.</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Both packs contain 400g. A costs £1.20; B costs £1.00.</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Read the units. This comparison does not settle allergy suitability.</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label shows the smaller salt amount per 100g?</a:t>
            </a:r>
          </a:p>
        </p:txBody>
      </p:sp>
    </p:spTree>
    <p:extLst>
      <p:ext uri="{BB962C8B-B14F-4D97-AF65-F5344CB8AC3E}">
        <p14:creationId xmlns:p14="http://schemas.microsoft.com/office/powerpoint/2010/main" val="1732344281"/>
      </p:ext>
    </p:extLst>
  </p:cSld>
</p:sld>
</file>

<file path=ppt/slides/slide1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1987dc0e0ce4293"/>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Read, compare, ask</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12</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Find one ingredient warning and the storage instruction.</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Compare salt using per 100g on both labels.</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Tell the adult about “may contain”, unclear information or a storage problem.</a:t>
            </a:r>
          </a:p>
        </p:txBody>
      </p:sp>
    </p:spTree>
    <p:extLst>
      <p:ext uri="{BB962C8B-B14F-4D97-AF65-F5344CB8AC3E}">
        <p14:creationId xmlns:p14="http://schemas.microsoft.com/office/powerpoint/2010/main" val="289928415"/>
      </p:ext>
    </p:extLst>
  </p:cSld>
</p:sld>
</file>

<file path=ppt/slides/slide1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eece5f074c841de"/>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Read, compare, ask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Does Label B’s smaller salt number prove it is suitable for someone with a celery allergy?</a:t>
            </a:r>
          </a:p>
        </p:txBody>
      </p:sp>
    </p:spTree>
    <p:extLst>
      <p:ext uri="{BB962C8B-B14F-4D97-AF65-F5344CB8AC3E}">
        <p14:creationId xmlns:p14="http://schemas.microsoft.com/office/powerpoint/2010/main" val="289928415"/>
      </p:ext>
    </p:extLst>
  </p:cSld>
</p:sld>
</file>

<file path=ppt/slides/slide1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efea1dad7d842dd"/>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One label decision</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FoodWise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14</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pot says “Use by yesterday”. It has only been kept chilled.</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It looks and smells normal.</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Choose an action, explain it and return the paper labels.</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Eat it, or stop and tell an adult?</a:t>
            </a:r>
          </a:p>
        </p:txBody>
      </p:sp>
    </p:spTree>
    <p:extLst>
      <p:ext uri="{BB962C8B-B14F-4D97-AF65-F5344CB8AC3E}">
        <p14:creationId xmlns:p14="http://schemas.microsoft.com/office/powerpoint/2010/main" val="17323442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2026-09-07T12:31:48.6500000Z</dcterms:created>
  <dcterms:modified xsi:type="dcterms:W3CDTF">2026-09-07T12:31:48.6500000Z</dcterms:modified>
</coreProperties>
</file>