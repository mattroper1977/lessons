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c4ade07e3b4eba" /><Relationship Type="http://schemas.openxmlformats.org/officeDocument/2006/relationships/extended-properties" Target="/docProps/app.xml" Id="R0a8950d607284be9" /><Relationship Type="http://schemas.openxmlformats.org/officeDocument/2006/relationships/officeDocument" Target="/ppt/presentation.xml" Id="Rbf19abec34394f77" /></Relationships>
</file>

<file path=ppt/presentation.xml><?xml version="1.0" encoding="utf-8"?>
<p:presentation xmlns:p="http://schemas.openxmlformats.org/presentationml/2006/main">
  <p:sldMasterIdLst>
    <p:sldMasterId xmlns:r="http://schemas.openxmlformats.org/officeDocument/2006/relationships" id="2147483648" r:id="Rcab26a813fae4548"/>
  </p:sldMasterIdLst>
  <p:notesMasterIdLst>
    <p:notesMasterId xmlns:r="http://schemas.openxmlformats.org/officeDocument/2006/relationships" r:id="R207ffb249b724b66"/>
  </p:notesMasterIdLst>
  <p:sldIdLst>
    <p:sldId xmlns:r="http://schemas.openxmlformats.org/officeDocument/2006/relationships" id="256" r:id="Rcc106c99462640cd"/>
    <p:sldId xmlns:r="http://schemas.openxmlformats.org/officeDocument/2006/relationships" id="257" r:id="R294291395e9f4be6"/>
    <p:sldId xmlns:r="http://schemas.openxmlformats.org/officeDocument/2006/relationships" id="258" r:id="Rfb4712b40eaf44a1"/>
    <p:sldId xmlns:r="http://schemas.openxmlformats.org/officeDocument/2006/relationships" id="259" r:id="R74db1d4a1190403e"/>
    <p:sldId xmlns:r="http://schemas.openxmlformats.org/officeDocument/2006/relationships" id="260" r:id="R88a7d7af83654dd8"/>
    <p:sldId xmlns:r="http://schemas.openxmlformats.org/officeDocument/2006/relationships" id="261" r:id="R80bb20b68275443e"/>
    <p:sldId xmlns:r="http://schemas.openxmlformats.org/officeDocument/2006/relationships" id="262" r:id="R13af37882fd24273"/>
    <p:sldId xmlns:r="http://schemas.openxmlformats.org/officeDocument/2006/relationships" id="263" r:id="R3c4c13d7b09c4965"/>
    <p:sldId xmlns:r="http://schemas.openxmlformats.org/officeDocument/2006/relationships" id="264" r:id="R3a1ac74fdb274e73"/>
    <p:sldId xmlns:r="http://schemas.openxmlformats.org/officeDocument/2006/relationships" id="265" r:id="Rb5a978849f3c420b"/>
    <p:sldId xmlns:r="http://schemas.openxmlformats.org/officeDocument/2006/relationships" id="266" r:id="R5fc0b43a748e4d12"/>
    <p:sldId xmlns:r="http://schemas.openxmlformats.org/officeDocument/2006/relationships" id="267" r:id="Recb1ee7e8a9749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972a1340824911" /><Relationship Type="http://schemas.openxmlformats.org/officeDocument/2006/relationships/slideMaster" Target="/ppt/slideMasters/slideMaster1.xml" Id="Rcab26a813fae4548" /><Relationship Type="http://schemas.openxmlformats.org/officeDocument/2006/relationships/notesMaster" Target="/ppt/notesMasters/notesMaster1.xml" Id="R207ffb249b724b66" /><Relationship Type="http://schemas.openxmlformats.org/officeDocument/2006/relationships/presProps" Target="/ppt/presProps.xml" Id="R82397e1e90c24404" /><Relationship Type="http://schemas.openxmlformats.org/officeDocument/2006/relationships/tableStyles" Target="/ppt/tableStyles.xml" Id="R6d9ff253b351467e" /><Relationship Type="http://schemas.openxmlformats.org/officeDocument/2006/relationships/slide" Target="/ppt/slides/slide1.xml" Id="Rcc106c99462640cd" /><Relationship Type="http://schemas.openxmlformats.org/officeDocument/2006/relationships/slide" Target="/ppt/slides/slide2.xml" Id="R294291395e9f4be6" /><Relationship Type="http://schemas.openxmlformats.org/officeDocument/2006/relationships/slide" Target="/ppt/slides/slide3.xml" Id="Rfb4712b40eaf44a1" /><Relationship Type="http://schemas.openxmlformats.org/officeDocument/2006/relationships/slide" Target="/ppt/slides/slide4.xml" Id="R74db1d4a1190403e" /><Relationship Type="http://schemas.openxmlformats.org/officeDocument/2006/relationships/slide" Target="/ppt/slides/slide5.xml" Id="R88a7d7af83654dd8" /><Relationship Type="http://schemas.openxmlformats.org/officeDocument/2006/relationships/slide" Target="/ppt/slides/slide6.xml" Id="R80bb20b68275443e" /><Relationship Type="http://schemas.openxmlformats.org/officeDocument/2006/relationships/slide" Target="/ppt/slides/slide7.xml" Id="R13af37882fd24273" /><Relationship Type="http://schemas.openxmlformats.org/officeDocument/2006/relationships/slide" Target="/ppt/slides/slide8.xml" Id="R3c4c13d7b09c4965" /><Relationship Type="http://schemas.openxmlformats.org/officeDocument/2006/relationships/slide" Target="/ppt/slides/slide9.xml" Id="R3a1ac74fdb274e73" /><Relationship Type="http://schemas.openxmlformats.org/officeDocument/2006/relationships/slide" Target="/ppt/slides/slide10.xml" Id="Rb5a978849f3c420b" /><Relationship Type="http://schemas.openxmlformats.org/officeDocument/2006/relationships/slide" Target="/ppt/slides/slide11.xml" Id="R5fc0b43a748e4d12" /><Relationship Type="http://schemas.openxmlformats.org/officeDocument/2006/relationships/slide" Target="/ppt/slides/slide12.xml" Id="Recb1ee7e8a9749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c5b34c6e094e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5b9314f7bf47de" /><Relationship Type="http://schemas.openxmlformats.org/officeDocument/2006/relationships/notesMaster" Target="/ppt/notesMasters/notesMaster1.xml" Id="R5097dd3511d340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8ea451e2524099" /><Relationship Type="http://schemas.openxmlformats.org/officeDocument/2006/relationships/notesMaster" Target="/ppt/notesMasters/notesMaster1.xml" Id="Reb79503a40e240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4b39d089cc43ba" /><Relationship Type="http://schemas.openxmlformats.org/officeDocument/2006/relationships/notesMaster" Target="/ppt/notesMasters/notesMaster1.xml" Id="R54d36c43b68540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177c03b15845af" /><Relationship Type="http://schemas.openxmlformats.org/officeDocument/2006/relationships/notesMaster" Target="/ppt/notesMasters/notesMaster1.xml" Id="R70abd0f43f7645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3479cf72464e5b" /><Relationship Type="http://schemas.openxmlformats.org/officeDocument/2006/relationships/notesMaster" Target="/ppt/notesMasters/notesMaster1.xml" Id="Ref8aea7a9fdf45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adf7caeab0452c" /><Relationship Type="http://schemas.openxmlformats.org/officeDocument/2006/relationships/notesMaster" Target="/ppt/notesMasters/notesMaster1.xml" Id="Rb58404a0cc6046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12e2ba5f874031" /><Relationship Type="http://schemas.openxmlformats.org/officeDocument/2006/relationships/notesMaster" Target="/ppt/notesMasters/notesMaster1.xml" Id="R3bf6becb142649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effb9d5e7d477f" /><Relationship Type="http://schemas.openxmlformats.org/officeDocument/2006/relationships/notesMaster" Target="/ppt/notesMasters/notesMaster1.xml" Id="R331711c8e0df46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e37c6bdcc145a3" /><Relationship Type="http://schemas.openxmlformats.org/officeDocument/2006/relationships/notesMaster" Target="/ppt/notesMasters/notesMaster1.xml" Id="R861af636e6a14c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be205ac9c548b0" /><Relationship Type="http://schemas.openxmlformats.org/officeDocument/2006/relationships/notesMaster" Target="/ppt/notesMasters/notesMaster1.xml" Id="Rd630e6a7c56c41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1d9e8208984fa4" /><Relationship Type="http://schemas.openxmlformats.org/officeDocument/2006/relationships/notesMaster" Target="/ppt/notesMasters/notesMaster1.xml" Id="R8e918ba9c7b343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34120ed6624398" /><Relationship Type="http://schemas.openxmlformats.org/officeDocument/2006/relationships/notesMaster" Target="/ppt/notesMasters/notesMaster1.xml" Id="R4db6980f2e2545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A calm arrival task, not a test of personal food choices. The upload provides snack, group-identification and process-log context; this lesson rebuilds that context as a preparation lesson.</a:t>
            </a:r>
          </a:p>
          <a:p xmlns:a="http://schemas.openxmlformats.org/drawingml/2006/main">
            <a:r>
              <a:t/>
            </a:r>
          </a:p>
          <a:p xmlns:a="http://schemas.openxmlformats.org/drawingml/2006/main">
            <a:r>
              <a:t>Pupil prompt: Which ingredient word can you recognise: bread, apple or yoghurt?</a:t>
            </a:r>
          </a:p>
          <a:p xmlns:a="http://schemas.openxmlformats.org/drawingml/2006/main">
            <a:r>
              <a:t/>
            </a:r>
          </a:p>
          <a:p xmlns:a="http://schemas.openxmlformats.org/drawingml/2006/main">
            <a:r>
              <a:t>Teacher answer / acceptable response: Accept any correctly identified ingredient; read each word aloud if needed.</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Read the five complete group examples from the resource. These are grouping tools, with variety considered across a day or week. Do not use colour to rank foods or ask pupils to describe what they eat.</a:t>
            </a:r>
          </a:p>
          <a:p xmlns:a="http://schemas.openxmlformats.org/drawingml/2006/main">
            <a:r>
              <a:t/>
            </a:r>
          </a:p>
          <a:p xmlns:a="http://schemas.openxmlformats.org/drawingml/2006/main">
            <a:r>
              <a:t>Pupil prompt: Point to the group for bread.</a:t>
            </a:r>
          </a:p>
          <a:p xmlns:a="http://schemas.openxmlformats.org/drawingml/2006/main">
            <a:r>
              <a:t/>
            </a:r>
          </a:p>
          <a:p xmlns:a="http://schemas.openxmlformats.org/drawingml/2006/main">
            <a:r>
              <a:t>Teacher answer / acceptable response: Starchy foods. Water is a drink; do not force it into one of these five groups.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Read the five complete group examples from the resource. These are grouping tools, with variety considered across a day or week. Do not use colour to rank foods or ask pupils to describe what they eat.</a:t>
            </a:r>
          </a:p>
          <a:p xmlns:a="http://schemas.openxmlformats.org/drawingml/2006/main">
            <a:r>
              <a:t/>
            </a:r>
          </a:p>
          <a:p xmlns:a="http://schemas.openxmlformats.org/drawingml/2006/main">
            <a:r>
              <a:t>Pupil prompt: Point to the group for bread.</a:t>
            </a:r>
          </a:p>
          <a:p xmlns:a="http://schemas.openxmlformats.org/drawingml/2006/main">
            <a:r>
              <a:t/>
            </a:r>
          </a:p>
          <a:p xmlns:a="http://schemas.openxmlformats.org/drawingml/2006/main">
            <a:r>
              <a:t>Teacher answer / acceptable response: Starchy foods. Water is a drink; do not force it into one of these five groups.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Model reading, checking and placing. Do not sort by a food’s colour, packaging or where it grows.</a:t>
            </a:r>
          </a:p>
          <a:p xmlns:a="http://schemas.openxmlformats.org/drawingml/2006/main">
            <a:r>
              <a:t/>
            </a:r>
          </a:p>
          <a:p xmlns:a="http://schemas.openxmlformats.org/drawingml/2006/main">
            <a:r>
              <a:t>Pupil prompt: Where does a carrot go?</a:t>
            </a:r>
          </a:p>
          <a:p xmlns:a="http://schemas.openxmlformats.org/drawingml/2006/main">
            <a:r>
              <a:t/>
            </a:r>
          </a:p>
          <a:p xmlns:a="http://schemas.openxmlformats.org/drawingml/2006/main">
            <a:r>
              <a:t>Teacher answer / acceptable response: Fruit and vegetables. Potato is placed in starchy foods in this guide.</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Worksheet task 1 supplies all eight items and all five group names. Offer two group choices at a time. A card placement is sufficient evidence.</a:t>
            </a:r>
          </a:p>
          <a:p xmlns:a="http://schemas.openxmlformats.org/drawingml/2006/main">
            <a:r>
              <a:t/>
            </a:r>
          </a:p>
          <a:p xmlns:a="http://schemas.openxmlformats.org/drawingml/2006/main">
            <a:r>
              <a:t>Pupil prompt: Which two cards belong in the protein group?</a:t>
            </a:r>
          </a:p>
          <a:p xmlns:a="http://schemas.openxmlformats.org/drawingml/2006/main">
            <a:r>
              <a:t/>
            </a:r>
          </a:p>
          <a:p xmlns:a="http://schemas.openxmlformats.org/drawingml/2006/main">
            <a:r>
              <a:t>Teacher answer / acceptable response: Lentils and egg. Bread/rice: starchy; apple/carrot: fruit and vegetables; milk: dairy; sunflower oil: oils and spreads.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This is a paper example, not a recipe or permission to handle ingredients. Adaptation removes the uploaded health-colour shortcut and replaces it with ingredient evidence.</a:t>
            </a:r>
          </a:p>
          <a:p xmlns:a="http://schemas.openxmlformats.org/drawingml/2006/main">
            <a:r>
              <a:t/>
            </a:r>
          </a:p>
          <a:p xmlns:a="http://schemas.openxmlformats.org/drawingml/2006/main">
            <a:r>
              <a:t>Pupil prompt: Which ingredient goes with dairy and alternatives?</a:t>
            </a:r>
          </a:p>
          <a:p xmlns:a="http://schemas.openxmlformats.org/drawingml/2006/main">
            <a:r>
              <a:t/>
            </a:r>
          </a:p>
          <a:p xmlns:a="http://schemas.openxmlformats.org/drawingml/2006/main">
            <a:r>
              <a:t>Teacher answer / acceptable response: Yoghurt. Bread wrap: starchy; chickpeas: protein; lettuce: fruit and vegetables.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Worksheet task 2. Credit ingredient-to-group explanations, including scribed responses. There is no tasting task.</a:t>
            </a:r>
          </a:p>
          <a:p xmlns:a="http://schemas.openxmlformats.org/drawingml/2006/main">
            <a:r>
              <a:t/>
            </a:r>
          </a:p>
          <a:p xmlns:a="http://schemas.openxmlformats.org/drawingml/2006/main">
            <a:r>
              <a:t>Pupil prompt: Does the whole wrap have to go in one group?</a:t>
            </a:r>
          </a:p>
          <a:p xmlns:a="http://schemas.openxmlformats.org/drawingml/2006/main">
            <a:r>
              <a:t/>
            </a:r>
          </a:p>
          <a:p xmlns:a="http://schemas.openxmlformats.org/drawingml/2006/main">
            <a:r>
              <a:t>Teacher answer / acceptable response: No. Its separate ingredients can belong to different groups.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All prices are invented for this exercise. A calculator, 10p counters or adult scribing is appropriate. No pupil is asked about household spending.</a:t>
            </a:r>
          </a:p>
          <a:p xmlns:a="http://schemas.openxmlformats.org/drawingml/2006/main">
            <a:r>
              <a:t/>
            </a:r>
          </a:p>
          <a:p xmlns:a="http://schemas.openxmlformats.org/drawingml/2006/main">
            <a:r>
              <a:t>Pupil prompt: Can Kai choose the roll and yoghurt for 100p?</a:t>
            </a:r>
          </a:p>
          <a:p xmlns:a="http://schemas.openxmlformats.org/drawingml/2006/main">
            <a:r>
              <a:t/>
            </a:r>
          </a:p>
          <a:p xmlns:a="http://schemas.openxmlformats.org/drawingml/2006/main">
            <a:r>
              <a:t>Teacher answer / acceptable response: Yes: 50p + 40p = 90p, leaving 10p. They come from two different groups.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Review worksheet task 3. Food groups describe ingredients; they do not grade a person or prove a dish is suitable for someone with an allergy.</a:t>
            </a:r>
          </a:p>
          <a:p xmlns:a="http://schemas.openxmlformats.org/drawingml/2006/main">
            <a:r>
              <a:t/>
            </a:r>
          </a:p>
          <a:p xmlns:a="http://schemas.openxmlformats.org/drawingml/2006/main">
            <a:r>
              <a:t>Pupil prompt: Kai chooses an apple and yoghurt. What is the total?</a:t>
            </a:r>
          </a:p>
          <a:p xmlns:a="http://schemas.openxmlformats.org/drawingml/2006/main">
            <a:r>
              <a:t/>
            </a:r>
          </a:p>
          <a:p xmlns:a="http://schemas.openxmlformats.org/drawingml/2006/main">
            <a:r>
              <a:t>Teacher answer / acceptable response: 30p + 40p = 70p. Fruit and vegetables plus dairy and alternatives. 30p remains.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Allow a private point-to-answer check. Record the support used. Reset is included in the lesson timing; no portfolio or accredited achievement is automatic.</a:t>
            </a:r>
          </a:p>
          <a:p xmlns:a="http://schemas.openxmlformats.org/drawingml/2006/main">
            <a:r>
              <a:t/>
            </a:r>
          </a:p>
          <a:p xmlns:a="http://schemas.openxmlformats.org/drawingml/2006/main">
            <a:r>
              <a:t>Pupil prompt: Which group contains milk? Can a sandwich contain more than one group?</a:t>
            </a:r>
          </a:p>
          <a:p xmlns:a="http://schemas.openxmlformats.org/drawingml/2006/main">
            <a:r>
              <a:t/>
            </a:r>
          </a:p>
          <a:p xmlns:a="http://schemas.openxmlformats.org/drawingml/2006/main">
            <a:r>
              <a:t>Teacher answer / acceptable response: Dairy and alternatives. Yes: for example bread and cheese come from different groups.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BUILD_FOOD_W1 | Food Groups</a:t>
            </a:r>
          </a:p>
          <a:p xmlns:a="http://schemas.openxmlformats.org/drawingml/2006/main">
            <a:r>
              <a:t>Recognise the main food groups and identify the ingredients in a simple combination food.</a:t>
            </a:r>
          </a:p>
          <a:p xmlns:a="http://schemas.openxmlformats.org/drawingml/2006/main">
            <a:r>
              <a:t/>
            </a:r>
          </a:p>
          <a:p xmlns:a="http://schemas.openxmlformats.org/drawingml/2006/main">
            <a:r>
              <a:t>Allow a private point-to-answer check. Record the support used. Reset is included in the lesson timing; no portfolio or accredited achievement is automatic.</a:t>
            </a:r>
          </a:p>
          <a:p xmlns:a="http://schemas.openxmlformats.org/drawingml/2006/main">
            <a:r>
              <a:t/>
            </a:r>
          </a:p>
          <a:p xmlns:a="http://schemas.openxmlformats.org/drawingml/2006/main">
            <a:r>
              <a:t>Pupil prompt: Which group contains milk? Can a sandwich contain more than one group?</a:t>
            </a:r>
          </a:p>
          <a:p xmlns:a="http://schemas.openxmlformats.org/drawingml/2006/main">
            <a:r>
              <a:t/>
            </a:r>
          </a:p>
          <a:p xmlns:a="http://schemas.openxmlformats.org/drawingml/2006/main">
            <a:r>
              <a:t>Teacher answer / acceptable response: Dairy and alternatives. Yes: for example bread and cheese come from different groups.</a:t>
            </a:r>
          </a:p>
          <a:p xmlns:a="http://schemas.openxmlformats.org/drawingml/2006/main">
            <a:r>
              <a:t/>
            </a:r>
          </a:p>
          <a:p xmlns:a="http://schemas.openxmlformats.org/drawingml/2006/main">
            <a:r>
              <a:t>Support: Start with bread and apple and two named group areas. Read ingredient cards aloud. Accept pointing, placing, drawing, signing or an exact scribed explanation. Offer one step at a time and a quiet observation role.</a:t>
            </a:r>
          </a:p>
          <a:p xmlns:a="http://schemas.openxmlformats.org/drawingml/2006/main">
            <a:r>
              <a:t/>
            </a:r>
          </a:p>
          <a:p xmlns:a="http://schemas.openxmlformats.org/drawingml/2006/main">
            <a:r>
              <a:t>Stretch: Add potato to the sort and justify its placement. Make two different snack pairs under 100p and calculate the difference between their totals. Do not add personal food questions.</a:t>
            </a:r>
          </a:p>
          <a:p xmlns:a="http://schemas.openxmlformats.org/drawingml/2006/main">
            <a:r>
              <a:t/>
            </a:r>
          </a:p>
          <a:p xmlns:a="http://schemas.openxmlformats.org/drawingml/2006/main">
            <a:r>
              <a:t>Safeguarding / safety: Keep examples fictional and prices invented. Avoid comments about pupils’ food, body, household resources or eating. There is no required tasting or food handling. Pass, observe and quiet participation are valid choices; discuss any disclosed concern privately through school procedures.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a response method and recognise an ingredient.</a:t>
            </a:r>
          </a:p>
          <a:p xmlns:a="http://schemas.openxmlformats.org/drawingml/2006/main">
            <a:r>
              <a:t>6 min: Teach group names and model the potato/carrot distinction.</a:t>
            </a:r>
          </a:p>
          <a:p xmlns:a="http://schemas.openxmlformats.org/drawingml/2006/main">
            <a:r>
              <a:t>8 min: Pairs sort eight ingredients and swap jobs.</a:t>
            </a:r>
          </a:p>
          <a:p xmlns:a="http://schemas.openxmlformats.org/drawingml/2006/main">
            <a:r>
              <a:t>7 min: Model and complete the combination-wrap task.</a:t>
            </a:r>
          </a:p>
          <a:p xmlns:a="http://schemas.openxmlformats.org/drawingml/2006/main">
            <a:r>
              <a:t>8 min: Plan a two-item snack with 100p and explain the check.</a:t>
            </a:r>
          </a:p>
          <a:p xmlns:a="http://schemas.openxmlformats.org/drawingml/2006/main">
            <a:r>
              <a:t>5 min: Review examples and complete the exit check.</a:t>
            </a:r>
          </a:p>
          <a:p xmlns:a="http://schemas.openxmlformats.org/drawingml/2006/main">
            <a:r>
              <a:t>3 min: Return cards and reset the workspace.</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5df6faa9db40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6f741e37ab4b47" /><Relationship Type="http://schemas.openxmlformats.org/officeDocument/2006/relationships/slideLayout" Target="/ppt/slideLayouts/slideLayout1.xml" Id="R313807049dfe47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3807049dfe47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0697465f974d34" /><Relationship Type="http://schemas.openxmlformats.org/officeDocument/2006/relationships/image" Target="/ppt/media/image.jpeg" Id="R35e422498c584953" /><Relationship Type="http://schemas.openxmlformats.org/officeDocument/2006/relationships/notesSlide" Target="/ppt/notesSlides/notesSlide1.xml" Id="R9ebcbd30489340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71ed4225f0485d" /><Relationship Type="http://schemas.openxmlformats.org/officeDocument/2006/relationships/image" Target="/ppt/media/image.jpeg" Id="Rf84410a907924ec9" /><Relationship Type="http://schemas.openxmlformats.org/officeDocument/2006/relationships/notesSlide" Target="/ppt/notesSlides/notesSlide2.xml" Id="R23d72c497df54a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1306ecfa1c483a" /><Relationship Type="http://schemas.openxmlformats.org/officeDocument/2006/relationships/image" Target="/ppt/media/image.jpeg" Id="R6d99cb54f98e4061" /><Relationship Type="http://schemas.openxmlformats.org/officeDocument/2006/relationships/notesSlide" Target="/ppt/notesSlides/notesSlide3.xml" Id="Rbd2aaac889d44f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c09f16e94e48ee" /><Relationship Type="http://schemas.openxmlformats.org/officeDocument/2006/relationships/image" Target="/ppt/media/image.jpeg" Id="R5ed5e883b5bb49da" /><Relationship Type="http://schemas.openxmlformats.org/officeDocument/2006/relationships/notesSlide" Target="/ppt/notesSlides/notesSlide4.xml" Id="R3d141b7c5ede49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33d77a42fe42b1" /><Relationship Type="http://schemas.openxmlformats.org/officeDocument/2006/relationships/image" Target="/ppt/media/image.jpeg" Id="R3f33cb09925140ef" /><Relationship Type="http://schemas.openxmlformats.org/officeDocument/2006/relationships/notesSlide" Target="/ppt/notesSlides/notesSlide5.xml" Id="Rcd83a78a514745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6aa6b0ff5e4e16" /><Relationship Type="http://schemas.openxmlformats.org/officeDocument/2006/relationships/image" Target="/ppt/media/image.jpeg" Id="Rde4f6f79744240b3" /><Relationship Type="http://schemas.openxmlformats.org/officeDocument/2006/relationships/notesSlide" Target="/ppt/notesSlides/notesSlide6.xml" Id="R0e300149c7974f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ad44d06dd64b4e" /><Relationship Type="http://schemas.openxmlformats.org/officeDocument/2006/relationships/image" Target="/ppt/media/image.jpeg" Id="R1d96b6ccad72411f" /><Relationship Type="http://schemas.openxmlformats.org/officeDocument/2006/relationships/notesSlide" Target="/ppt/notesSlides/notesSlide7.xml" Id="R814802595b4342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c2f03488444fb1" /><Relationship Type="http://schemas.openxmlformats.org/officeDocument/2006/relationships/image" Target="/ppt/media/image.jpeg" Id="Rc7eb9cbde0914440" /><Relationship Type="http://schemas.openxmlformats.org/officeDocument/2006/relationships/notesSlide" Target="/ppt/notesSlides/notesSlide8.xml" Id="R68caf23adc6646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d59a2e86670461b" /><Relationship Type="http://schemas.openxmlformats.org/officeDocument/2006/relationships/image" Target="/ppt/media/image.jpeg" Id="R7797a9204bd348c7" /><Relationship Type="http://schemas.openxmlformats.org/officeDocument/2006/relationships/notesSlide" Target="/ppt/notesSlides/notesSlide9.xml" Id="R229ddbfcb0b04f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2a592c4163472a" /><Relationship Type="http://schemas.openxmlformats.org/officeDocument/2006/relationships/image" Target="/ppt/media/image.jpeg" Id="Rd39abc0cd7484b5c" /><Relationship Type="http://schemas.openxmlformats.org/officeDocument/2006/relationships/notesSlide" Target="/ppt/notesSlides/notesSlide10.xml" Id="R00f4000ae70e49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f74a5639a054801" /><Relationship Type="http://schemas.openxmlformats.org/officeDocument/2006/relationships/image" Target="/ppt/media/image.jpeg" Id="R7d2629eb09574aac" /><Relationship Type="http://schemas.openxmlformats.org/officeDocument/2006/relationships/notesSlide" Target="/ppt/notesSlides/notesSlide11.xml" Id="R46d85099af8948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b8995920f14a1c" /><Relationship Type="http://schemas.openxmlformats.org/officeDocument/2006/relationships/image" Target="/ppt/media/image.jpeg" Id="R401b8bdfe3f840da" /><Relationship Type="http://schemas.openxmlformats.org/officeDocument/2006/relationships/notesSlide" Target="/ppt/notesSlides/notesSlide12.xml" Id="Ref9bc0b75f7b4f41"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e422498c58495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Food Groups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sort ingredients, unpack a wrap and plan a snack.</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can point, move cards, draw or speak. An adult can write your words.</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ingredient word can you recognise: bread, apple or yoghurt?</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84410a907924ec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INGREDIENT</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FOOD GROUP</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One of the foods used to make a dish.</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way of putting similar foods together in the Eatwell Guide.</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d99cb54f98e406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Five group names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Fruit and vegetables; starchy foods; protein foods.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Dairy and alternatives; oils and spreads.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the examples on your group mat. Water belongs beside the mat as a drink.</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ed5e883b5bb49d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Five group names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Point to the group for bread.</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f33cb09925140e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Watch me sort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read the ingredient: potato.</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check the examples: potato belongs with starchy foods.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place the card and explain my choice.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Where does a carrot go?</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e4f6f79744240b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turn: sort eight cards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Bread, rice, apple, carrot, lentils, egg, milk, sunflower oil.</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Place each word on the group mat.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Partners take turns: one places, one checks. Swap after four cards.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two cards belong in the protein group?</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d96b6ccad72411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wrap contains several ingredients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This pretend wrap contains: bread wrap, chickpeas, lettuce and yoghurt.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each ingredient separately.</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One dish can contain several food groups.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ingredient goes with dairy and alternatives?</a:t>
            </a:r>
          </a:p>
        </p:txBody>
      </p:sp>
    </p:spTree>
    <p:extLst>
      <p:ext uri="{BB962C8B-B14F-4D97-AF65-F5344CB8AC3E}">
        <p14:creationId xmlns:p14="http://schemas.microsoft.com/office/powerpoint/2010/main" val="1732344281"/>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7eb9cbde091444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Unpack the wrap</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Match the four wrap ingredients to their groups.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Point to two groups that share the same dish.</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Say or complete: “The wrap includes ___ and ___.”</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Does the whole wrap have to go in one group?</a:t>
            </a:r>
          </a:p>
        </p:txBody>
      </p:sp>
    </p:spTree>
    <p:extLst>
      <p:ext uri="{BB962C8B-B14F-4D97-AF65-F5344CB8AC3E}">
        <p14:creationId xmlns:p14="http://schemas.microsoft.com/office/powerpoint/2010/main" val="1732344281"/>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797a9204bd348c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pretend snack shop</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Kai has 100p. Roll 50p; apple 30p; yoghurt 40p.</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two items from different groups. Add their prices.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One partner chooses. One checks the total. Then swap roles.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Kai choose the roll and yoghurt for 100p?</a:t>
            </a:r>
          </a:p>
        </p:txBody>
      </p:sp>
    </p:spTree>
    <p:extLst>
      <p:ext uri="{BB962C8B-B14F-4D97-AF65-F5344CB8AC3E}">
        <p14:creationId xmlns:p14="http://schemas.microsoft.com/office/powerpoint/2010/main" val="1732344281"/>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39abc0cd7484b5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Show the thinking</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one correct group match.</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Show two groups inside the pretend wrap.</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Check the snack total is 100p or less.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Kai chooses an apple and yoghurt. What is the total?</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d2629eb09574aa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One food, one group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bread, carrot or milk.</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or point to its food group.</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Return cards and leave the table ready for the next group.</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01b8bdfe3f840d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One food, one group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group contains milk? Can a sandwich contain more than one group?</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2026-09-07T12:31:32.3600000Z</dcterms:created>
  <dcterms:modified xsi:type="dcterms:W3CDTF">2026-09-07T12:31:32.3600000Z</dcterms:modified>
</coreProperties>
</file>