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f084bf65b3403b" /><Relationship Type="http://schemas.openxmlformats.org/officeDocument/2006/relationships/extended-properties" Target="/docProps/app.xml" Id="Re4fa355dee7c40ed" /><Relationship Type="http://schemas.openxmlformats.org/officeDocument/2006/relationships/officeDocument" Target="/ppt/presentation.xml" Id="R493d43eb098448d9" /></Relationships>
</file>

<file path=ppt/presentation.xml><?xml version="1.0" encoding="utf-8"?>
<p:presentation xmlns:p="http://schemas.openxmlformats.org/presentationml/2006/main">
  <p:sldMasterIdLst>
    <p:sldMasterId xmlns:r="http://schemas.openxmlformats.org/officeDocument/2006/relationships" id="2147483648" r:id="R1a534e88237f4e97"/>
  </p:sldMasterIdLst>
  <p:notesMasterIdLst>
    <p:notesMasterId xmlns:r="http://schemas.openxmlformats.org/officeDocument/2006/relationships" r:id="Rdc30f494c10d4c97"/>
  </p:notesMasterIdLst>
  <p:sldIdLst>
    <p:sldId xmlns:r="http://schemas.openxmlformats.org/officeDocument/2006/relationships" id="256" r:id="R2ea2809f87be4bb5"/>
    <p:sldId xmlns:r="http://schemas.openxmlformats.org/officeDocument/2006/relationships" id="257" r:id="R6261dc35bef54b33"/>
    <p:sldId xmlns:r="http://schemas.openxmlformats.org/officeDocument/2006/relationships" id="258" r:id="Rc9ae2d08fccc422f"/>
    <p:sldId xmlns:r="http://schemas.openxmlformats.org/officeDocument/2006/relationships" id="259" r:id="Re571ba80b7834d59"/>
    <p:sldId xmlns:r="http://schemas.openxmlformats.org/officeDocument/2006/relationships" id="260" r:id="Rbbc193a1413c45c9"/>
    <p:sldId xmlns:r="http://schemas.openxmlformats.org/officeDocument/2006/relationships" id="261" r:id="Rd05656bbe64d4c0a"/>
    <p:sldId xmlns:r="http://schemas.openxmlformats.org/officeDocument/2006/relationships" id="262" r:id="Ra2e433d2ae014c70"/>
    <p:sldId xmlns:r="http://schemas.openxmlformats.org/officeDocument/2006/relationships" id="263" r:id="R274bff7bfaec4529"/>
    <p:sldId xmlns:r="http://schemas.openxmlformats.org/officeDocument/2006/relationships" id="264" r:id="Rf615bd0fb66045ac"/>
    <p:sldId xmlns:r="http://schemas.openxmlformats.org/officeDocument/2006/relationships" id="265" r:id="Rd14427c581da44b5"/>
    <p:sldId xmlns:r="http://schemas.openxmlformats.org/officeDocument/2006/relationships" id="266" r:id="R3cbf6dc0c3e1447b"/>
    <p:sldId xmlns:r="http://schemas.openxmlformats.org/officeDocument/2006/relationships" id="267" r:id="R4eb689aca0fe49d3"/>
    <p:sldId xmlns:r="http://schemas.openxmlformats.org/officeDocument/2006/relationships" id="268" r:id="R14905e060a554b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1e1710e43b4400" /><Relationship Type="http://schemas.openxmlformats.org/officeDocument/2006/relationships/slideMaster" Target="/ppt/slideMasters/slideMaster1.xml" Id="R1a534e88237f4e97" /><Relationship Type="http://schemas.openxmlformats.org/officeDocument/2006/relationships/notesMaster" Target="/ppt/notesMasters/notesMaster1.xml" Id="Rdc30f494c10d4c97" /><Relationship Type="http://schemas.openxmlformats.org/officeDocument/2006/relationships/presProps" Target="/ppt/presProps.xml" Id="R4b75e8c6cef647ba" /><Relationship Type="http://schemas.openxmlformats.org/officeDocument/2006/relationships/tableStyles" Target="/ppt/tableStyles.xml" Id="Rcb03ab5017a54251" /><Relationship Type="http://schemas.openxmlformats.org/officeDocument/2006/relationships/slide" Target="/ppt/slides/slide1.xml" Id="R2ea2809f87be4bb5" /><Relationship Type="http://schemas.openxmlformats.org/officeDocument/2006/relationships/slide" Target="/ppt/slides/slide2.xml" Id="R6261dc35bef54b33" /><Relationship Type="http://schemas.openxmlformats.org/officeDocument/2006/relationships/slide" Target="/ppt/slides/slide3.xml" Id="Rc9ae2d08fccc422f" /><Relationship Type="http://schemas.openxmlformats.org/officeDocument/2006/relationships/slide" Target="/ppt/slides/slide4.xml" Id="Re571ba80b7834d59" /><Relationship Type="http://schemas.openxmlformats.org/officeDocument/2006/relationships/slide" Target="/ppt/slides/slide5.xml" Id="Rbbc193a1413c45c9" /><Relationship Type="http://schemas.openxmlformats.org/officeDocument/2006/relationships/slide" Target="/ppt/slides/slide6.xml" Id="Rd05656bbe64d4c0a" /><Relationship Type="http://schemas.openxmlformats.org/officeDocument/2006/relationships/slide" Target="/ppt/slides/slide7.xml" Id="Ra2e433d2ae014c70" /><Relationship Type="http://schemas.openxmlformats.org/officeDocument/2006/relationships/slide" Target="/ppt/slides/slide8.xml" Id="R274bff7bfaec4529" /><Relationship Type="http://schemas.openxmlformats.org/officeDocument/2006/relationships/slide" Target="/ppt/slides/slide9.xml" Id="Rf615bd0fb66045ac" /><Relationship Type="http://schemas.openxmlformats.org/officeDocument/2006/relationships/slide" Target="/ppt/slides/slide10.xml" Id="Rd14427c581da44b5" /><Relationship Type="http://schemas.openxmlformats.org/officeDocument/2006/relationships/slide" Target="/ppt/slides/slide11.xml" Id="R3cbf6dc0c3e1447b" /><Relationship Type="http://schemas.openxmlformats.org/officeDocument/2006/relationships/slide" Target="/ppt/slides/slide12.xml" Id="R4eb689aca0fe49d3" /><Relationship Type="http://schemas.openxmlformats.org/officeDocument/2006/relationships/slide" Target="/ppt/slides/slide13.xml" Id="R14905e060a554b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5fac5c0da84d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e81061ac894a4e" /><Relationship Type="http://schemas.openxmlformats.org/officeDocument/2006/relationships/notesMaster" Target="/ppt/notesMasters/notesMaster1.xml" Id="R58520d61545541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61e65772b54c5b" /><Relationship Type="http://schemas.openxmlformats.org/officeDocument/2006/relationships/notesMaster" Target="/ppt/notesMasters/notesMaster1.xml" Id="R96c1968f049840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76ceac551d4117" /><Relationship Type="http://schemas.openxmlformats.org/officeDocument/2006/relationships/notesMaster" Target="/ppt/notesMasters/notesMaster1.xml" Id="R4fb517ee315d43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d3b228a1cc425f" /><Relationship Type="http://schemas.openxmlformats.org/officeDocument/2006/relationships/notesMaster" Target="/ppt/notesMasters/notesMaster1.xml" Id="R1c439e8c235f42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58b6b6e760444b" /><Relationship Type="http://schemas.openxmlformats.org/officeDocument/2006/relationships/notesMaster" Target="/ppt/notesMasters/notesMaster1.xml" Id="Rcce7df6386a74e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d6623c683e4d40" /><Relationship Type="http://schemas.openxmlformats.org/officeDocument/2006/relationships/notesMaster" Target="/ppt/notesMasters/notesMaster1.xml" Id="R6e407f4813da49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73fa1ba7f64850" /><Relationship Type="http://schemas.openxmlformats.org/officeDocument/2006/relationships/notesMaster" Target="/ppt/notesMasters/notesMaster1.xml" Id="Rc247570155a347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10293d3bd94293" /><Relationship Type="http://schemas.openxmlformats.org/officeDocument/2006/relationships/notesMaster" Target="/ppt/notesMasters/notesMaster1.xml" Id="Rf25c28a4833e4e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0b4f200d844e99" /><Relationship Type="http://schemas.openxmlformats.org/officeDocument/2006/relationships/notesMaster" Target="/ppt/notesMasters/notesMaster1.xml" Id="R8306439b9cb34e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089ec5b89a4e8b" /><Relationship Type="http://schemas.openxmlformats.org/officeDocument/2006/relationships/notesMaster" Target="/ppt/notesMasters/notesMaster1.xml" Id="R75a7d0c23fcd4a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d9e618d6b14747" /><Relationship Type="http://schemas.openxmlformats.org/officeDocument/2006/relationships/notesMaster" Target="/ppt/notesMasters/notesMaster1.xml" Id="R97ac517f1c1f48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c0c2cc0d334ffd" /><Relationship Type="http://schemas.openxmlformats.org/officeDocument/2006/relationships/notesMaster" Target="/ppt/notesMasters/notesMaster1.xml" Id="R5ffced4da7b841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e68b2853cc4c11" /><Relationship Type="http://schemas.openxmlformats.org/officeDocument/2006/relationships/notesMaster" Target="/ppt/notesMasters/notesMaster1.xml" Id="Re3d5daebe6a944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Adapted from uploaded W1 hygiene/tools and process log. Replaces a “kitchen licence” with observation of today’s skills. No award claim. Enriches existing BUILD module lesson 4 using uploaded FoodWise week 1.</a:t>
            </a:r>
          </a:p>
          <a:p xmlns:a="http://schemas.openxmlformats.org/drawingml/2006/main">
            <a:r>
              <a:t/>
            </a:r>
          </a:p>
          <a:p xmlns:a="http://schemas.openxmlformats.org/drawingml/2006/main">
            <a:r>
              <a:t>Pupil prompt: What makes a team ready to begin?</a:t>
            </a:r>
          </a:p>
          <a:p xmlns:a="http://schemas.openxmlformats.org/drawingml/2006/main">
            <a:r>
              <a:t/>
            </a:r>
          </a:p>
          <a:p xmlns:a="http://schemas.openxmlformats.org/drawingml/2006/main">
            <a:r>
              <a:t>Teacher answer / acceptable response: A clear plan, clean hands/equipment and adult approval.</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written situation; no missing hazard photograph is needed.</a:t>
            </a:r>
          </a:p>
          <a:p xmlns:a="http://schemas.openxmlformats.org/drawingml/2006/main">
            <a:r>
              <a:t/>
            </a:r>
          </a:p>
          <a:p xmlns:a="http://schemas.openxmlformats.org/drawingml/2006/main">
            <a:r>
              <a:t>Pupil prompt: Is looking clean enough?</a:t>
            </a:r>
          </a:p>
          <a:p xmlns:a="http://schemas.openxmlformats.org/drawingml/2006/main">
            <a:r>
              <a:t/>
            </a:r>
          </a:p>
          <a:p xmlns:a="http://schemas.openxmlformats.org/drawingml/2006/main">
            <a:r>
              <a:t>Teacher answer / acceptable response: No. Tell the adult, clear and clean the food surface correctly, then wash hands.</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Adult demonstrates all stages. Adult manages cleaning products and contact times; do not spray near exposed food.</a:t>
            </a:r>
          </a:p>
          <a:p xmlns:a="http://schemas.openxmlformats.org/drawingml/2006/main">
            <a:r>
              <a:t/>
            </a:r>
          </a:p>
          <a:p xmlns:a="http://schemas.openxmlformats.org/drawingml/2006/main">
            <a:r>
              <a:t>Pupil prompt: What do you do after touching your nose?</a:t>
            </a:r>
          </a:p>
          <a:p xmlns:a="http://schemas.openxmlformats.org/drawingml/2006/main">
            <a:r>
              <a:t/>
            </a:r>
          </a:p>
          <a:p xmlns:a="http://schemas.openxmlformats.org/drawingml/2006/main">
            <a:r>
              <a:t>Teacher answer / acceptable response: Pause, wash and dry hands before food work resumes.</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Adult demonstrates all stages. Adult manages cleaning products and contact times; do not spray near exposed food.</a:t>
            </a:r>
          </a:p>
          <a:p xmlns:a="http://schemas.openxmlformats.org/drawingml/2006/main">
            <a:r>
              <a:t/>
            </a:r>
          </a:p>
          <a:p xmlns:a="http://schemas.openxmlformats.org/drawingml/2006/main">
            <a:r>
              <a:t>Pupil prompt: What do you do after touching your nose?</a:t>
            </a:r>
          </a:p>
          <a:p xmlns:a="http://schemas.openxmlformats.org/drawingml/2006/main">
            <a:r>
              <a:t/>
            </a:r>
          </a:p>
          <a:p xmlns:a="http://schemas.openxmlformats.org/drawingml/2006/main">
            <a:r>
              <a:t>Teacher answer / acceptable response: Pause, wash and dry hands before food work resumes.</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Corrects uploaded carry-point-down advice. This pack does not teach pupil knife transport.</a:t>
            </a:r>
          </a:p>
          <a:p xmlns:a="http://schemas.openxmlformats.org/drawingml/2006/main">
            <a:r>
              <a:t/>
            </a:r>
          </a:p>
          <a:p xmlns:a="http://schemas.openxmlformats.org/drawingml/2006/main">
            <a:r>
              <a:t>Pupil prompt: Someone asks you to carry a knife across the room. What next?</a:t>
            </a:r>
          </a:p>
          <a:p xmlns:a="http://schemas.openxmlformats.org/drawingml/2006/main">
            <a:r>
              <a:t/>
            </a:r>
          </a:p>
          <a:p xmlns:a="http://schemas.openxmlformats.org/drawingml/2006/main">
            <a:r>
              <a:t>Teacher answer / acceptable response: Stop, set it flat safely and ask the adult.</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school-approved bridge/claw demonstration appropriate to the tool and pupil. Do not prescribe sharp knives. Observation or pre-cut ingredients are equal access routes.</a:t>
            </a:r>
          </a:p>
          <a:p xmlns:a="http://schemas.openxmlformats.org/drawingml/2006/main">
            <a:r>
              <a:t/>
            </a:r>
          </a:p>
          <a:p xmlns:a="http://schemas.openxmlformats.org/drawingml/2006/main">
            <a:r>
              <a:t>Pupil prompt: Which part will you practise or describe?</a:t>
            </a:r>
          </a:p>
          <a:p xmlns:a="http://schemas.openxmlformats.org/drawingml/2006/main">
            <a:r>
              <a:t/>
            </a:r>
          </a:p>
          <a:p xmlns:a="http://schemas.openxmlformats.org/drawingml/2006/main">
            <a:r>
              <a:t>Teacher answer / acceptable response: A safe hold, small cut, pause and safe placement are valid responses.</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school-approved bridge/claw demonstration appropriate to the tool and pupil. Do not prescribe sharp knives. Observation or pre-cut ingredients are equal access routes.</a:t>
            </a:r>
          </a:p>
          <a:p xmlns:a="http://schemas.openxmlformats.org/drawingml/2006/main">
            <a:r>
              <a:t/>
            </a:r>
          </a:p>
          <a:p xmlns:a="http://schemas.openxmlformats.org/drawingml/2006/main">
            <a:r>
              <a:t>Pupil prompt: Which part will you practise or describe?</a:t>
            </a:r>
          </a:p>
          <a:p xmlns:a="http://schemas.openxmlformats.org/drawingml/2006/main">
            <a:r>
              <a:t/>
            </a:r>
          </a:p>
          <a:p xmlns:a="http://schemas.openxmlformats.org/drawingml/2006/main">
            <a:r>
              <a:t>Teacher answer / acceptable response: A safe hold, small cut, pause and safe placement are valid responses.</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six situation cards for additional practice. Allergens cannot be checked by smell or appearance.</a:t>
            </a:r>
          </a:p>
          <a:p xmlns:a="http://schemas.openxmlformats.org/drawingml/2006/main">
            <a:r>
              <a:t/>
            </a:r>
          </a:p>
          <a:p xmlns:a="http://schemas.openxmlformats.org/drawingml/2006/main">
            <a:r>
              <a:t>Pupil prompt: Sort A, B and C. Give the next action.</a:t>
            </a:r>
          </a:p>
          <a:p xmlns:a="http://schemas.openxmlformats.org/drawingml/2006/main">
            <a:r>
              <a:t/>
            </a:r>
          </a:p>
          <a:p xmlns:a="http://schemas.openxmlformats.org/drawingml/2006/main">
            <a:r>
              <a:t>Teacher answer / acceptable response: A: ready if approved. B: stop and ask for checked food/clean tools. C: pause, keep others clear and tell the adult.</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Two short rotations or seated stations. No hand-over-hand requirement; adult supervision continues throughout.</a:t>
            </a:r>
          </a:p>
          <a:p xmlns:a="http://schemas.openxmlformats.org/drawingml/2006/main">
            <a:r>
              <a:t/>
            </a:r>
          </a:p>
          <a:p xmlns:a="http://schemas.openxmlformats.org/drawingml/2006/main">
            <a:r>
              <a:t>Pupil prompt: Can your observer name one safe action you used?</a:t>
            </a:r>
          </a:p>
          <a:p xmlns:a="http://schemas.openxmlformats.org/drawingml/2006/main">
            <a:r>
              <a:t/>
            </a:r>
          </a:p>
          <a:p xmlns:a="http://schemas.openxmlformats.org/drawingml/2006/main">
            <a:r>
              <a:t>Teacher answer / acceptable response: For example: “You parked the knife before asking a question.”</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Keep records factual. A previous successful task does not remove the need for supervision.</a:t>
            </a:r>
          </a:p>
          <a:p xmlns:a="http://schemas.openxmlformats.org/drawingml/2006/main">
            <a:r>
              <a:t/>
            </a:r>
          </a:p>
          <a:p xmlns:a="http://schemas.openxmlformats.org/drawingml/2006/main">
            <a:r>
              <a:t>Pupil prompt: Which action would you repeat next session?</a:t>
            </a:r>
          </a:p>
          <a:p xmlns:a="http://schemas.openxmlformats.org/drawingml/2006/main">
            <a:r>
              <a:t/>
            </a:r>
          </a:p>
          <a:p xmlns:a="http://schemas.openxmlformats.org/drawingml/2006/main">
            <a:r>
              <a:t>Teacher answer / acceptable response: For example: wash after touching hair; keep equipment separate; stop and ask.</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Keep records factual. A previous successful task does not remove the need for supervision.</a:t>
            </a:r>
          </a:p>
          <a:p xmlns:a="http://schemas.openxmlformats.org/drawingml/2006/main">
            <a:r>
              <a:t/>
            </a:r>
          </a:p>
          <a:p xmlns:a="http://schemas.openxmlformats.org/drawingml/2006/main">
            <a:r>
              <a:t>Pupil prompt: Which action would you repeat next session?</a:t>
            </a:r>
          </a:p>
          <a:p xmlns:a="http://schemas.openxmlformats.org/drawingml/2006/main">
            <a:r>
              <a:t/>
            </a:r>
          </a:p>
          <a:p xmlns:a="http://schemas.openxmlformats.org/drawingml/2006/main">
            <a:r>
              <a:t>Teacher answer / acceptable response: For example: wash after touching hair; keep equipment separate; stop and ask.</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BUILD_FOOD_W4 | Kitchen hygiene and safety</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Check each pupil individually by pointing, speaking, drawing or scribing.</a:t>
            </a:r>
          </a:p>
          <a:p xmlns:a="http://schemas.openxmlformats.org/drawingml/2006/main">
            <a:r>
              <a:t/>
            </a:r>
          </a:p>
          <a:p xmlns:a="http://schemas.openxmlformats.org/drawingml/2006/main">
            <a:r>
              <a:t>Pupil prompt: What is the safe next action?</a:t>
            </a:r>
          </a:p>
          <a:p xmlns:a="http://schemas.openxmlformats.org/drawingml/2006/main">
            <a:r>
              <a:t/>
            </a:r>
          </a:p>
          <a:p xmlns:a="http://schemas.openxmlformats.org/drawingml/2006/main">
            <a:r>
              <a:t>Teacher answer / acceptable response: Keep hands out, stop and tell the adult.</a:t>
            </a:r>
          </a:p>
          <a:p xmlns:a="http://schemas.openxmlformats.org/drawingml/2006/main">
            <a:r>
              <a:t/>
            </a:r>
          </a:p>
          <a:p xmlns:a="http://schemas.openxmlformats.org/drawingml/2006/main">
            <a:r>
              <a:t>Support: BUILD core: one instruction at a time, two hazard choices and an agreed observer or practical role. Adults prepare food pieces and maintain direct tool supervision. Accept pointing, sequencing, demonstration and scribing.</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3a9c92a12e45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a39b01fff847de" /><Relationship Type="http://schemas.openxmlformats.org/officeDocument/2006/relationships/slideLayout" Target="/ppt/slideLayouts/slideLayout1.xml" Id="Re2f8acdb521647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f8acdb521647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f863fad4404116" /><Relationship Type="http://schemas.openxmlformats.org/officeDocument/2006/relationships/image" Target="/ppt/media/image.jpeg" Id="R8320da9a483949ba" /><Relationship Type="http://schemas.openxmlformats.org/officeDocument/2006/relationships/notesSlide" Target="/ppt/notesSlides/notesSlide1.xml" Id="R594c5b04d19540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401b0b67bb4d55" /><Relationship Type="http://schemas.openxmlformats.org/officeDocument/2006/relationships/image" Target="/ppt/media/image.jpeg" Id="Rc09545435ad14e02" /><Relationship Type="http://schemas.openxmlformats.org/officeDocument/2006/relationships/notesSlide" Target="/ppt/notesSlides/notesSlide2.xml" Id="Re38fa70b454141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3c12446d0146dd" /><Relationship Type="http://schemas.openxmlformats.org/officeDocument/2006/relationships/image" Target="/ppt/media/image.jpeg" Id="R3c69972913354c80" /><Relationship Type="http://schemas.openxmlformats.org/officeDocument/2006/relationships/notesSlide" Target="/ppt/notesSlides/notesSlide3.xml" Id="R8932277c3ff144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973be1c8374d5f" /><Relationship Type="http://schemas.openxmlformats.org/officeDocument/2006/relationships/image" Target="/ppt/media/image.jpeg" Id="R69f6f28f38e94987" /><Relationship Type="http://schemas.openxmlformats.org/officeDocument/2006/relationships/notesSlide" Target="/ppt/notesSlides/notesSlide4.xml" Id="Raaa040355f964a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0b92d861ba44a7" /><Relationship Type="http://schemas.openxmlformats.org/officeDocument/2006/relationships/image" Target="/ppt/media/image.jpeg" Id="R9abc64a598234781" /><Relationship Type="http://schemas.openxmlformats.org/officeDocument/2006/relationships/notesSlide" Target="/ppt/notesSlides/notesSlide5.xml" Id="R79c1f5bfe12c47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2da5e7baea49b5" /><Relationship Type="http://schemas.openxmlformats.org/officeDocument/2006/relationships/image" Target="/ppt/media/image.jpeg" Id="R88ac9ffb2b5c40c3" /><Relationship Type="http://schemas.openxmlformats.org/officeDocument/2006/relationships/notesSlide" Target="/ppt/notesSlides/notesSlide6.xml" Id="Rb1d53b5467e149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769a22e90845dc" /><Relationship Type="http://schemas.openxmlformats.org/officeDocument/2006/relationships/image" Target="/ppt/media/image.jpeg" Id="Re346c26dca314d54" /><Relationship Type="http://schemas.openxmlformats.org/officeDocument/2006/relationships/notesSlide" Target="/ppt/notesSlides/notesSlide7.xml" Id="R9c3d983a206745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608ad2346545c1" /><Relationship Type="http://schemas.openxmlformats.org/officeDocument/2006/relationships/image" Target="/ppt/media/image.jpeg" Id="R4759f098570949f9" /><Relationship Type="http://schemas.openxmlformats.org/officeDocument/2006/relationships/notesSlide" Target="/ppt/notesSlides/notesSlide8.xml" Id="R93410b288a514a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2f316c1fe147fc" /><Relationship Type="http://schemas.openxmlformats.org/officeDocument/2006/relationships/image" Target="/ppt/media/image.jpeg" Id="R85115e77ee284b4b" /><Relationship Type="http://schemas.openxmlformats.org/officeDocument/2006/relationships/notesSlide" Target="/ppt/notesSlides/notesSlide9.xml" Id="Raa22c17eac8748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21749e53424cf5" /><Relationship Type="http://schemas.openxmlformats.org/officeDocument/2006/relationships/image" Target="/ppt/media/image.jpeg" Id="Rf5883d1fd7d64893" /><Relationship Type="http://schemas.openxmlformats.org/officeDocument/2006/relationships/notesSlide" Target="/ppt/notesSlides/notesSlide10.xml" Id="R766c40f2fe144f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e203352c0d4b9d" /><Relationship Type="http://schemas.openxmlformats.org/officeDocument/2006/relationships/image" Target="/ppt/media/image.jpeg" Id="R75723224087649e5" /><Relationship Type="http://schemas.openxmlformats.org/officeDocument/2006/relationships/notesSlide" Target="/ppt/notesSlides/notesSlide11.xml" Id="R955cf388746e4b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7d38382f574632" /><Relationship Type="http://schemas.openxmlformats.org/officeDocument/2006/relationships/image" Target="/ppt/media/image.jpeg" Id="R2357aa41644e4b6b" /><Relationship Type="http://schemas.openxmlformats.org/officeDocument/2006/relationships/notesSlide" Target="/ppt/notesSlides/notesSlide12.xml" Id="R12e7a38be4cd47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1273428402485d" /><Relationship Type="http://schemas.openxmlformats.org/officeDocument/2006/relationships/image" Target="/ppt/media/image.jpeg" Id="R8755f0791f47401a" /><Relationship Type="http://schemas.openxmlformats.org/officeDocument/2006/relationships/notesSlide" Target="/ppt/notesSlides/notesSlide13.xml" Id="Ra4a0e92b3b5647c9"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320da9a483949b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Kitchen hygiene and safety</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get ready, spot a hazard and rehearse one tool skill.</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a maker, reader, observer or recorder role. You may ask for a pause.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makes a team ready to begin?</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09545435ad14e0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HYGIENE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HAZARD</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Actions that help keep food and equipment clean.</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that could cause harm.</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c69972913354c8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clean-looking table?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table looks clear, but someone has just put a used tissue on 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fruit will be eaten without cooking.</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Is looking clean enough?</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f6f28f38e9498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ready routine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Secure hair and clothing; apron on. Wash all parts of hands with soap for at least 20 seconds, rinse and dry.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a clean, clear surface, stable board and clean tools.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Check the actual food labels and agreed plan with the adult.</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abc64a59823478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ready routine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do you do after touching your nose?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8ac9ffb2b5c40c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tool has a safe place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only the agreed tool at your supervised station. Keep the board stable.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a sharp tool needs moving, put it flat in its safe place and ask the adult.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Never pass a knife hand to hand or leave it hidden in a sink.</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Someone asks you to carry a knife across the room. What next?</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346c26dca314d5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Watch: slice, pause, park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Adult models a soft banana with an approved table knife on a stable board.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Watch the agreed holding method, fingers clear and small controlled movements.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Set the tool flat in its safe place before speaking or changing tasks.</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759f098570949f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Watch: slice, pause, park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part will you practise or describe?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5115e77ee284b4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Ready, pause or ask?</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Clean hands, stable board and adult ready.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A used yoghurt spoon is offered to someone avoiding milk.</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A spill appears beside the station.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Sort A, B and C. Give the next action.</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883d1fd7d6489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Safety circuit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Station 1: demonstrate or direct the handwash routine.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Station 2: rehearse the agreed tool action or narrate the adult’s model.</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Station 3: choose a hazard card and explain the safe fix.</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your observer name one safe action you used?</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5723224087649e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Record the process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what you showed, what was prompted and what needs another practice.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Give one reason using: “We do this because…”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Reset: tools accounted for, surfaces cleaned and hands washed.</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57aa41644e4b6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Record the process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action would you repeat next session?</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755f0791f47401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Stop is a useful skill</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find a knife under bubbles in the washing-up bowl.</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is the safe next action?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2026-09-07T12:31:56.9360000Z</dcterms:created>
  <dcterms:modified xsi:type="dcterms:W3CDTF">2026-09-07T12:31:56.9360000Z</dcterms:modified>
</coreProperties>
</file>