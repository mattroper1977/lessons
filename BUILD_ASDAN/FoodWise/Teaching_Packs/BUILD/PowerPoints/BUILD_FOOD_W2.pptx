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d1e42372a48c3" /><Relationship Type="http://schemas.openxmlformats.org/officeDocument/2006/relationships/extended-properties" Target="/docProps/app.xml" Id="R4c8c8deaa0964a46" /><Relationship Type="http://schemas.openxmlformats.org/officeDocument/2006/relationships/officeDocument" Target="/ppt/presentation.xml" Id="Ra28f21a34849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ec67cbb9214e47"/>
  </p:sldMasterIdLst>
  <p:notesMasterIdLst>
    <p:notesMasterId xmlns:r="http://schemas.openxmlformats.org/officeDocument/2006/relationships" r:id="R6382d49d800444ee"/>
  </p:notesMasterIdLst>
  <p:sldIdLst>
    <p:sldId xmlns:r="http://schemas.openxmlformats.org/officeDocument/2006/relationships" id="256" r:id="R95467a88c7cb4c7e"/>
    <p:sldId xmlns:r="http://schemas.openxmlformats.org/officeDocument/2006/relationships" id="257" r:id="R816b629343e444ba"/>
    <p:sldId xmlns:r="http://schemas.openxmlformats.org/officeDocument/2006/relationships" id="258" r:id="R58d97889a05a4060"/>
    <p:sldId xmlns:r="http://schemas.openxmlformats.org/officeDocument/2006/relationships" id="259" r:id="R0ebfaf5443a140bb"/>
    <p:sldId xmlns:r="http://schemas.openxmlformats.org/officeDocument/2006/relationships" id="260" r:id="Rce99b028a97f4100"/>
    <p:sldId xmlns:r="http://schemas.openxmlformats.org/officeDocument/2006/relationships" id="261" r:id="Rdb6f74a9f25e4f69"/>
    <p:sldId xmlns:r="http://schemas.openxmlformats.org/officeDocument/2006/relationships" id="262" r:id="R248a1168d9e64e7d"/>
    <p:sldId xmlns:r="http://schemas.openxmlformats.org/officeDocument/2006/relationships" id="263" r:id="R52e61e5c285b4c2d"/>
    <p:sldId xmlns:r="http://schemas.openxmlformats.org/officeDocument/2006/relationships" id="264" r:id="Rb1c0fbb845d94a44"/>
    <p:sldId xmlns:r="http://schemas.openxmlformats.org/officeDocument/2006/relationships" id="265" r:id="R1cee0bef986c4d48"/>
    <p:sldId xmlns:r="http://schemas.openxmlformats.org/officeDocument/2006/relationships" id="266" r:id="R13c8dd9610f849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2685c19f34d96" /><Relationship Type="http://schemas.openxmlformats.org/officeDocument/2006/relationships/slideMaster" Target="/ppt/slideMasters/slideMaster1.xml" Id="R81ec67cbb9214e47" /><Relationship Type="http://schemas.openxmlformats.org/officeDocument/2006/relationships/notesMaster" Target="/ppt/notesMasters/notesMaster1.xml" Id="R6382d49d800444ee" /><Relationship Type="http://schemas.openxmlformats.org/officeDocument/2006/relationships/presProps" Target="/ppt/presProps.xml" Id="R579c2158c5ae48e1" /><Relationship Type="http://schemas.openxmlformats.org/officeDocument/2006/relationships/tableStyles" Target="/ppt/tableStyles.xml" Id="R1c25b3a27b114664" /><Relationship Type="http://schemas.openxmlformats.org/officeDocument/2006/relationships/slide" Target="/ppt/slides/slide1.xml" Id="R95467a88c7cb4c7e" /><Relationship Type="http://schemas.openxmlformats.org/officeDocument/2006/relationships/slide" Target="/ppt/slides/slide2.xml" Id="R816b629343e444ba" /><Relationship Type="http://schemas.openxmlformats.org/officeDocument/2006/relationships/slide" Target="/ppt/slides/slide3.xml" Id="R58d97889a05a4060" /><Relationship Type="http://schemas.openxmlformats.org/officeDocument/2006/relationships/slide" Target="/ppt/slides/slide4.xml" Id="R0ebfaf5443a140bb" /><Relationship Type="http://schemas.openxmlformats.org/officeDocument/2006/relationships/slide" Target="/ppt/slides/slide5.xml" Id="Rce99b028a97f4100" /><Relationship Type="http://schemas.openxmlformats.org/officeDocument/2006/relationships/slide" Target="/ppt/slides/slide6.xml" Id="Rdb6f74a9f25e4f69" /><Relationship Type="http://schemas.openxmlformats.org/officeDocument/2006/relationships/slide" Target="/ppt/slides/slide7.xml" Id="R248a1168d9e64e7d" /><Relationship Type="http://schemas.openxmlformats.org/officeDocument/2006/relationships/slide" Target="/ppt/slides/slide8.xml" Id="R52e61e5c285b4c2d" /><Relationship Type="http://schemas.openxmlformats.org/officeDocument/2006/relationships/slide" Target="/ppt/slides/slide9.xml" Id="Rb1c0fbb845d94a44" /><Relationship Type="http://schemas.openxmlformats.org/officeDocument/2006/relationships/slide" Target="/ppt/slides/slide10.xml" Id="R1cee0bef986c4d48" /><Relationship Type="http://schemas.openxmlformats.org/officeDocument/2006/relationships/slide" Target="/ppt/slides/slide11.xml" Id="R13c8dd9610f8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de24d7ea7d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9ac2d9bd38491c" /><Relationship Type="http://schemas.openxmlformats.org/officeDocument/2006/relationships/notesMaster" Target="/ppt/notesMasters/notesMaster1.xml" Id="R74b273d9b85b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6d00313ac148d4" /><Relationship Type="http://schemas.openxmlformats.org/officeDocument/2006/relationships/notesMaster" Target="/ppt/notesMasters/notesMaster1.xml" Id="Rd0b5e3bb75ae40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a26268051c4156" /><Relationship Type="http://schemas.openxmlformats.org/officeDocument/2006/relationships/notesMaster" Target="/ppt/notesMasters/notesMaster1.xml" Id="Rab0cf00c39c446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39419176d345cb" /><Relationship Type="http://schemas.openxmlformats.org/officeDocument/2006/relationships/notesMaster" Target="/ppt/notesMasters/notesMaster1.xml" Id="R6d94c92689d448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68d2a9d794835" /><Relationship Type="http://schemas.openxmlformats.org/officeDocument/2006/relationships/notesMaster" Target="/ppt/notesMasters/notesMaster1.xml" Id="Rf83c4464fc7d4a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9a900a408a41e1" /><Relationship Type="http://schemas.openxmlformats.org/officeDocument/2006/relationships/notesMaster" Target="/ppt/notesMasters/notesMaster1.xml" Id="R641684b3dac7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b287527f7d4207" /><Relationship Type="http://schemas.openxmlformats.org/officeDocument/2006/relationships/notesMaster" Target="/ppt/notesMasters/notesMaster1.xml" Id="R24e78011942b49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a25b7b6b6246c4" /><Relationship Type="http://schemas.openxmlformats.org/officeDocument/2006/relationships/notesMaster" Target="/ppt/notesMasters/notesMaster1.xml" Id="R1e9c12eb357d4f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a26aace3f74788" /><Relationship Type="http://schemas.openxmlformats.org/officeDocument/2006/relationships/notesMaster" Target="/ppt/notesMasters/notesMaster1.xml" Id="Re5b14c0658164d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46ef5fa037437c" /><Relationship Type="http://schemas.openxmlformats.org/officeDocument/2006/relationships/notesMaster" Target="/ppt/notesMasters/notesMaster1.xml" Id="R41d27da26ed04f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afca6961914d71" /><Relationship Type="http://schemas.openxmlformats.org/officeDocument/2006/relationships/notesMaster" Target="/ppt/notesMasters/notesMaster1.xml" Id="Rcc3a77e5af68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route title is retained from the existing sequence. The uploaded snack lesson informs group identification, assembly order and process reflection; this lesson is a planning rehearsal and does not claim a practical was completed.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group contains rice?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Starchy foods.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NHS Eatwell Guide principle in neutral planning language. Do not ask pupils to record or evaluate their own meals; the fictional café plan provides the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Must every snack include all five groups?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Consider the pattern across a day or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three labelled ingredient cards. Beans are placed with protein foods for this activity. The bowl is an example, not a prescribed portion or a requirement for everyone to 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ingredient gives this bowl its protein-food group?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Beans.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Worksheet task 1. Read the listed ingredients exactly. Do not infer ingredients from an unprovided recipe or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dish includes dairy and alternatives?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Porridge includes milk; the sandwich includes cheese. Both are valid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ingredient prices are illustrative portion costs, not real shop offers. The three-group task is a design brief for this exercise, not a rule for every plate. School tap water costs are not being calculated.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costs less: rice at 40p or a roll at 50p?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Rice costs 10p 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Worksheet task 2 contains every price and option. Use counters or a calculator. Credit any offered combination that meets the brief, including a roll meal at exactly 120p.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rice + beans + tomatoes fit the budget?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Yes: 40p + 40p + 30p = 110p, with 10p left.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Rehearse a respectful request. Work can be individual with an adult as partner. No pupil must handle or taste food, and no physical guidance is imposed.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can the checker say if the total is unclear?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“Let us add the prices again” or “Can we use the counters?”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Worksheet task 3 uses this complete fictional menu. It explores ingredient variety only: the list does not specify sufficient amounts, individual suitability or a full meal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Where are oils and spreads represented?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rapeseed oil in the soup.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Worksheet task 3 uses this complete fictional menu. It explores ingredient variety only: the list does not specify sufficient amounts, individual suitability or a full meal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Where are oils and spreads represented?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The rapeseed oil in the soup.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short reason supported by the pupil’s plan. Record what the pupil actually did, not an automatic evidence-bank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A meal contains rice and beans. Must it include all five groups to count as a meal?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Rice is starchy and beans are protein foods; variety is considered across a day or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BUILD_FOOD_W2 | A Balanced Plate</a:t>
            </a:r>
          </a:p>
          <a:p xmlns:a="http://schemas.openxmlformats.org/drawingml/2006/main">
            <a:r>
              <a:t>Use food groups to plan a simple meal, recognising variety across a day or week rather than requiring every group on every 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short reason supported by the pupil’s plan. Record what the pupil actually did, not an automatic evidence-bank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A meal contains rice and beans. Must it include all five groups to count as a meal?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Rice is starchy and beans are protein foods; variety is considered across a day or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Use just rice, beans and one vegetable card first. Provide a 120p counter mat and remove each cost in turn. Pupils may point, arrange, draw, sign or dictate. Read the fictional menu aloud and offer one group choice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Create both the rice and roll versions and compare their totals. Explain how one dish contains more than one group, and identify the group represented once in the fictional-day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Avoid personal meal logs, public discussions of household budgets, food rankings and body-related explanations. Respect cultural choices, sensory preferences and pass/observe participation. Real cooking would require teacher-approved ingredients, allergen controls and individual care plans; this lesson has no required food contact or tasting.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Settle and retrieve the rice food group.</a:t>
            </a:r>
          </a:p>
          <a:p xmlns:a="http://schemas.openxmlformats.org/drawingml/2006/main">
            <a:r>
              <a:t>5 min: Explain variety across a day/week and model the rice bowl.</a:t>
            </a:r>
          </a:p>
          <a:p xmlns:a="http://schemas.openxmlformats.org/drawingml/2006/main">
            <a:r>
              <a:t>7 min: Identify groups in three named dishes.</a:t>
            </a:r>
          </a:p>
          <a:p xmlns:a="http://schemas.openxmlformats.org/drawingml/2006/main">
            <a:r>
              <a:t>5 min: Model the café brief, prices and worked total.</a:t>
            </a:r>
          </a:p>
          <a:p xmlns:a="http://schemas.openxmlformats.org/drawingml/2006/main">
            <a:r>
              <a:t>10 min: Plan a café meal and swap planner/checker jobs.</a:t>
            </a:r>
          </a:p>
          <a:p xmlns:a="http://schemas.openxmlformats.org/drawingml/2006/main">
            <a:r>
              <a:t>5 min: Sort the fictional-day ingredients and discuss the single-plate misconception.</a:t>
            </a:r>
          </a:p>
          <a:p xmlns:a="http://schemas.openxmlformats.org/drawingml/2006/main">
            <a:r>
              <a:t>3 min: Exit explanation and specific feedback.</a:t>
            </a:r>
          </a:p>
          <a:p xmlns:a="http://schemas.openxmlformats.org/drawingml/2006/main">
            <a:r>
              <a:t>2 min: Return resources and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DT_Aut1_W2_FoodWise_Healthy_Snack_and_Drink.pptx</a:t>
            </a:r>
          </a:p>
          <a:p xmlns:a="http://schemas.openxmlformats.org/drawingml/2006/main">
            <a:r>
              <a:t>Uploaded teaching source: DT_Aut1_W2_Log_I_Made_This.docx</a:t>
            </a:r>
          </a:p>
          <a:p xmlns:a="http://schemas.openxmlformats.org/drawingml/2006/main">
            <a:r>
              <a:t>Uploaded FoodWise PowerPoints and process logs, W1–W4 —  — User-supplied source sequence: safety/tools; snack/drink; recipe; evaluation. W5 onwards in this D&amp;T upload moves to textiles. New resources and recipes are original adaptations; no formal ASDAN or AQA attainment claim.</a:t>
            </a:r>
          </a:p>
          <a:p xmlns:a="http://schemas.openxmlformats.org/drawingml/2006/main">
            <a:r>
              <a:t>FSA: Why is cleaning important — https://www.gov.uk/government/publications/why-is-cleaning-important/why-is-cleaning-important — Verified 7 September 2026. Supports hand, surface, utensil and produce-cleaning routines; adult follows cleaning-product instructions.</a:t>
            </a:r>
          </a:p>
          <a:p xmlns:a="http://schemas.openxmlformats.org/drawingml/2006/main">
            <a:r>
              <a:t>FSA: How to chill, freeze and defrost food safely — https://www.gov.uk/government/publications/how-to-chill-freeze-and-defrost-food-safely/how-to-chill-freeze-and-defrost-food-safely — Verified 7 September 2026. Fridge 0–5°C; minimise time out of fridge; follow actual storage and date instructions.</a:t>
            </a:r>
          </a:p>
          <a:p xmlns:a="http://schemas.openxmlformats.org/drawingml/2006/main">
            <a:r>
              <a:t>FSA: Food allergy and intolerance advice for consumers — https://www.gov.uk/government/publications/food-allergy-and-intolerance-advice-for-consumers/food-allergy-and-intolerance-advice-for-consumers — Verified 7 September 2026. Actual ingredients, emphasised allergens, precautionary labels and cross-contact need checking; a plant-based substitute is not automatically suitable.</a:t>
            </a:r>
          </a:p>
          <a:p xmlns:a="http://schemas.openxmlformats.org/drawingml/2006/main">
            <a:r>
              <a:t>FSA: Best before and use-by dates — https://www.gov.uk/understanding-food-labelling/best-before-and-use-by-dates — Verified 7 September 2026. Use-by concerns safety; best before concerns quality. Smell cannot establish safety after a use-by date.</a:t>
            </a:r>
          </a:p>
          <a:p xmlns:a="http://schemas.openxmlformats.org/drawingml/2006/main">
            <a:r>
              <a:t>NHS: The Eatwell Guide — https://www.nhs.uk/live-well/eat-well/food-guidelines-and-food-labels/the-eatwell-guide/ — Verified 7 September 2026. Food-group and combination-food references; variety and balance considered across a day or week, without personal dietary assessment.</a:t>
            </a:r>
          </a:p>
          <a:p xmlns:a="http://schemas.openxmlformats.org/drawingml/2006/main">
            <a:r>
              <a:t>Existing BUILD FoodWise module — https://madebymatt.uk/Lessons/BUILD_ASDAN/FoodWise/START_HERE.html — Six original topics retained at repository snapshot 0e0cd7431974dc45f139aef0b3e428465db4e557. New source upload numbering is recorded separately from existing module lesson numbers.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6c2141cb3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2ec373bac42e7" /><Relationship Type="http://schemas.openxmlformats.org/officeDocument/2006/relationships/slideLayout" Target="/ppt/slideLayouts/slideLayout1.xml" Id="R4a8953437b4b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953437b4b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6290d92404a9d" /><Relationship Type="http://schemas.openxmlformats.org/officeDocument/2006/relationships/image" Target="/ppt/media/image.jpeg" Id="R7c6e1e175eec4033" /><Relationship Type="http://schemas.openxmlformats.org/officeDocument/2006/relationships/notesSlide" Target="/ppt/notesSlides/notesSlide1.xml" Id="R0a3935cd4691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27dc68b4411f" /><Relationship Type="http://schemas.openxmlformats.org/officeDocument/2006/relationships/image" Target="/ppt/media/image.jpeg" Id="R667a6340f13742f9" /><Relationship Type="http://schemas.openxmlformats.org/officeDocument/2006/relationships/notesSlide" Target="/ppt/notesSlides/notesSlide2.xml" Id="Re0571b6885394e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7826fafc44952" /><Relationship Type="http://schemas.openxmlformats.org/officeDocument/2006/relationships/image" Target="/ppt/media/image.jpeg" Id="Rbccfd7d8fa1640e5" /><Relationship Type="http://schemas.openxmlformats.org/officeDocument/2006/relationships/notesSlide" Target="/ppt/notesSlides/notesSlide3.xml" Id="R71778f177c0a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e74fa05934159" /><Relationship Type="http://schemas.openxmlformats.org/officeDocument/2006/relationships/image" Target="/ppt/media/image.jpeg" Id="R000d48098e4448b6" /><Relationship Type="http://schemas.openxmlformats.org/officeDocument/2006/relationships/notesSlide" Target="/ppt/notesSlides/notesSlide4.xml" Id="R324eeb4c95db46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f4d48a9c44c45" /><Relationship Type="http://schemas.openxmlformats.org/officeDocument/2006/relationships/image" Target="/ppt/media/image.jpeg" Id="Rd5fbc97d87104864" /><Relationship Type="http://schemas.openxmlformats.org/officeDocument/2006/relationships/notesSlide" Target="/ppt/notesSlides/notesSlide5.xml" Id="R1b757835d25648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8e6aad454c26" /><Relationship Type="http://schemas.openxmlformats.org/officeDocument/2006/relationships/image" Target="/ppt/media/image.jpeg" Id="Rebedb810a7cd457e" /><Relationship Type="http://schemas.openxmlformats.org/officeDocument/2006/relationships/notesSlide" Target="/ppt/notesSlides/notesSlide6.xml" Id="R695d286125b7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5450458f4dc9" /><Relationship Type="http://schemas.openxmlformats.org/officeDocument/2006/relationships/image" Target="/ppt/media/image.jpeg" Id="Rd2d2c4c6951c4a57" /><Relationship Type="http://schemas.openxmlformats.org/officeDocument/2006/relationships/notesSlide" Target="/ppt/notesSlides/notesSlide7.xml" Id="R868ac0958b69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725b3b6e1435f" /><Relationship Type="http://schemas.openxmlformats.org/officeDocument/2006/relationships/image" Target="/ppt/media/image.jpeg" Id="R9488aba9280449db" /><Relationship Type="http://schemas.openxmlformats.org/officeDocument/2006/relationships/notesSlide" Target="/ppt/notesSlides/notesSlide8.xml" Id="Rc018ba1c4cdb41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ee2f55cc54430" /><Relationship Type="http://schemas.openxmlformats.org/officeDocument/2006/relationships/image" Target="/ppt/media/image.jpeg" Id="Rbb18c5566df54133" /><Relationship Type="http://schemas.openxmlformats.org/officeDocument/2006/relationships/notesSlide" Target="/ppt/notesSlides/notesSlide9.xml" Id="R4a8f61e1327545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06301d30b4d87" /><Relationship Type="http://schemas.openxmlformats.org/officeDocument/2006/relationships/image" Target="/ppt/media/image.jpeg" Id="Rfde10d39dcef4a51" /><Relationship Type="http://schemas.openxmlformats.org/officeDocument/2006/relationships/notesSlide" Target="/ppt/notesSlides/notesSlide10.xml" Id="Rfa57065e294d4f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5b5d12f7f4fa6" /><Relationship Type="http://schemas.openxmlformats.org/officeDocument/2006/relationships/image" Target="/ppt/media/image.jpeg" Id="Rb28b6c58050b4d90" /><Relationship Type="http://schemas.openxmlformats.org/officeDocument/2006/relationships/notesSlide" Target="/ppt/notesSlides/notesSlide11.xml" Id="R61cb8cb60169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e1e175eec403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Balanced Plate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a pretend café meal using ingredient cards.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Think about groups, cost and team jobs.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Speak, point, draw or ask an adult to write.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group contains rice?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a6340f13742f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Look across a day or week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Food groups help us plan a range of ingredients.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single plate does not have to include every group.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Different meals can contribute different ingredients.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Must every snack include all five groups?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fd7d8fa1640e5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Watch me unpack a meal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Pretend rice bowl: rice, beans and tomatoes.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Rice: starchy. Beans: protein. Tomatoes: fruit and vegetables.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bowl can include several groups.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ingredient gives this bowl its protein-food group?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d48098e4448b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Three dishes, several groups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Porridge: oats and milk.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Jacket potato: potato and beans.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Sandwich: bread, cheese and cucumber.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dish includes dairy and alternatives?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bc97d87104864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 the café special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Budget: 120p for one pretend meal.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rice or a roll; beans; tomatoes or carrots.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paper cup of tap water adds 0p to this classroom budget.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costs less: rice at 40p or a roll at 50p?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db810a7cd457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Choose, add and check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Rice 40p or roll 50p. Beans 40p.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Tomatoes 30p or carrots 30p.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Draw or write the meal. Add prices and check 120p or less.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Does rice + beans + tomatoes fit the budget?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2c4c6951c4a57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Give everyone a useful job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Planner: read the chosen ingredients and groups.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Checker: add the cost and check the brief.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Swap roles. Ask before moving someone else’s cards.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can the checker say if the total is unclear?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8aba9280449db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plan, different possibilities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Sam’s example day has oats and milk; rice, beans and tomatoes; a potato, lentil and carrot soup with a little rapeseed oil.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Point to the five groups across the example.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No one meal has to contain them all.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8c5566df5413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plan, different possibilities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Where are oils and spreads represented?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10d39dcef4a51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one decision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Point to your chosen meal.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Explain a food-group, cost or team-job decision.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Collect cards and reset the table.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BUILD FOODWISE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b6c58050b4d9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Show one decision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2 · FoodWise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meal contains rice and beans. Must it include all five groups to count as a meal?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2026-09-07T12:31:39.9780000Z</dcterms:created>
  <dcterms:modified xsi:type="dcterms:W3CDTF">2026-09-07T12:31:39.9780000Z</dcterms:modified>
</coreProperties>
</file>