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40b7a1d0d14e05" /><Relationship Type="http://schemas.openxmlformats.org/officeDocument/2006/relationships/extended-properties" Target="/docProps/app.xml" Id="R10c9af6922734cf6" /><Relationship Type="http://schemas.openxmlformats.org/officeDocument/2006/relationships/officeDocument" Target="/ppt/presentation.xml" Id="Rb72d25a0c45b40f7" /></Relationships>
</file>

<file path=ppt/presentation.xml><?xml version="1.0" encoding="utf-8"?>
<p:presentation xmlns:p="http://schemas.openxmlformats.org/presentationml/2006/main">
  <p:sldMasterIdLst>
    <p:sldMasterId xmlns:r="http://schemas.openxmlformats.org/officeDocument/2006/relationships" id="2147483648" r:id="R6bfc41bbf36046f7"/>
  </p:sldMasterIdLst>
  <p:notesMasterIdLst>
    <p:notesMasterId xmlns:r="http://schemas.openxmlformats.org/officeDocument/2006/relationships" r:id="Rfdd0ad0a2d484530"/>
  </p:notesMasterIdLst>
  <p:sldIdLst>
    <p:sldId xmlns:r="http://schemas.openxmlformats.org/officeDocument/2006/relationships" id="256" r:id="R60e4512dba3d4980"/>
    <p:sldId xmlns:r="http://schemas.openxmlformats.org/officeDocument/2006/relationships" id="257" r:id="Rc1eb8bdf509f4220"/>
    <p:sldId xmlns:r="http://schemas.openxmlformats.org/officeDocument/2006/relationships" id="258" r:id="R9e6b02e1d0df4c66"/>
    <p:sldId xmlns:r="http://schemas.openxmlformats.org/officeDocument/2006/relationships" id="259" r:id="R44abd74c2dd54529"/>
    <p:sldId xmlns:r="http://schemas.openxmlformats.org/officeDocument/2006/relationships" id="260" r:id="R10ffee9242664c6c"/>
    <p:sldId xmlns:r="http://schemas.openxmlformats.org/officeDocument/2006/relationships" id="261" r:id="R2c558e62bfe04620"/>
    <p:sldId xmlns:r="http://schemas.openxmlformats.org/officeDocument/2006/relationships" id="262" r:id="R01557516740a46ca"/>
    <p:sldId xmlns:r="http://schemas.openxmlformats.org/officeDocument/2006/relationships" id="263" r:id="Ra6f6bc027f014924"/>
    <p:sldId xmlns:r="http://schemas.openxmlformats.org/officeDocument/2006/relationships" id="264" r:id="R70de19757dd34958"/>
    <p:sldId xmlns:r="http://schemas.openxmlformats.org/officeDocument/2006/relationships" id="265" r:id="R1eb963ee1a4840c8"/>
    <p:sldId xmlns:r="http://schemas.openxmlformats.org/officeDocument/2006/relationships" id="266" r:id="R8f530aa63b6d486c"/>
    <p:sldId xmlns:r="http://schemas.openxmlformats.org/officeDocument/2006/relationships" id="267" r:id="R182fd40a9f7c4b00"/>
    <p:sldId xmlns:r="http://schemas.openxmlformats.org/officeDocument/2006/relationships" id="268" r:id="R023a83c83eed442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69e9d14990a404c" /><Relationship Type="http://schemas.openxmlformats.org/officeDocument/2006/relationships/slideMaster" Target="/ppt/slideMasters/slideMaster1.xml" Id="R6bfc41bbf36046f7" /><Relationship Type="http://schemas.openxmlformats.org/officeDocument/2006/relationships/notesMaster" Target="/ppt/notesMasters/notesMaster1.xml" Id="Rfdd0ad0a2d484530" /><Relationship Type="http://schemas.openxmlformats.org/officeDocument/2006/relationships/presProps" Target="/ppt/presProps.xml" Id="Rc3144bf74c464d5d" /><Relationship Type="http://schemas.openxmlformats.org/officeDocument/2006/relationships/tableStyles" Target="/ppt/tableStyles.xml" Id="R714ee99452f84398" /><Relationship Type="http://schemas.openxmlformats.org/officeDocument/2006/relationships/slide" Target="/ppt/slides/slide1.xml" Id="R60e4512dba3d4980" /><Relationship Type="http://schemas.openxmlformats.org/officeDocument/2006/relationships/slide" Target="/ppt/slides/slide2.xml" Id="Rc1eb8bdf509f4220" /><Relationship Type="http://schemas.openxmlformats.org/officeDocument/2006/relationships/slide" Target="/ppt/slides/slide3.xml" Id="R9e6b02e1d0df4c66" /><Relationship Type="http://schemas.openxmlformats.org/officeDocument/2006/relationships/slide" Target="/ppt/slides/slide4.xml" Id="R44abd74c2dd54529" /><Relationship Type="http://schemas.openxmlformats.org/officeDocument/2006/relationships/slide" Target="/ppt/slides/slide5.xml" Id="R10ffee9242664c6c" /><Relationship Type="http://schemas.openxmlformats.org/officeDocument/2006/relationships/slide" Target="/ppt/slides/slide6.xml" Id="R2c558e62bfe04620" /><Relationship Type="http://schemas.openxmlformats.org/officeDocument/2006/relationships/slide" Target="/ppt/slides/slide7.xml" Id="R01557516740a46ca" /><Relationship Type="http://schemas.openxmlformats.org/officeDocument/2006/relationships/slide" Target="/ppt/slides/slide8.xml" Id="Ra6f6bc027f014924" /><Relationship Type="http://schemas.openxmlformats.org/officeDocument/2006/relationships/slide" Target="/ppt/slides/slide9.xml" Id="R70de19757dd34958" /><Relationship Type="http://schemas.openxmlformats.org/officeDocument/2006/relationships/slide" Target="/ppt/slides/slide10.xml" Id="R1eb963ee1a4840c8" /><Relationship Type="http://schemas.openxmlformats.org/officeDocument/2006/relationships/slide" Target="/ppt/slides/slide11.xml" Id="R8f530aa63b6d486c" /><Relationship Type="http://schemas.openxmlformats.org/officeDocument/2006/relationships/slide" Target="/ppt/slides/slide12.xml" Id="R182fd40a9f7c4b00" /><Relationship Type="http://schemas.openxmlformats.org/officeDocument/2006/relationships/slide" Target="/ppt/slides/slide13.xml" Id="R023a83c83eed442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d3c2bcaeae469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9c5229c8d14c1b" /><Relationship Type="http://schemas.openxmlformats.org/officeDocument/2006/relationships/notesMaster" Target="/ppt/notesMasters/notesMaster1.xml" Id="R67a6fe1357b242d7" /></Relationships>
</file>

<file path=ppt/notesSlides/_rels/notesSlide2.xml.rels>&#65279;<?xml version="1.0" encoding="utf-8"?><Relationships xmlns="http://schemas.openxmlformats.org/package/2006/relationships"><Relationship Type="http://schemas.openxmlformats.org/officeDocument/2006/relationships/slide" Target="/ppt/slides/slide2.xml" Id="R6e22aafa70114351" /><Relationship Type="http://schemas.openxmlformats.org/officeDocument/2006/relationships/notesMaster" Target="/ppt/notesMasters/notesMaster1.xml" Id="Rdb863a8d1a0143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b242cff4a4d4958" /><Relationship Type="http://schemas.openxmlformats.org/officeDocument/2006/relationships/notesMaster" Target="/ppt/notesMasters/notesMaster1.xml" Id="R049d4ffb8451458b" /></Relationships>
</file>

<file path=ppt/notesSlides/_rels/notesSlide4.xml.rels>&#65279;<?xml version="1.0" encoding="utf-8"?><Relationships xmlns="http://schemas.openxmlformats.org/package/2006/relationships"><Relationship Type="http://schemas.openxmlformats.org/officeDocument/2006/relationships/slide" Target="/ppt/slides/slide4.xml" Id="Ra7b35d2810014372" /><Relationship Type="http://schemas.openxmlformats.org/officeDocument/2006/relationships/notesMaster" Target="/ppt/notesMasters/notesMaster1.xml" Id="R70bdd6cf0144431f" /></Relationships>
</file>

<file path=ppt/notesSlides/_rels/notesSlide5.xml.rels>&#65279;<?xml version="1.0" encoding="utf-8"?><Relationships xmlns="http://schemas.openxmlformats.org/package/2006/relationships"><Relationship Type="http://schemas.openxmlformats.org/officeDocument/2006/relationships/slide" Target="/ppt/slides/slide5.xml" Id="Ra481153a500849b0" /><Relationship Type="http://schemas.openxmlformats.org/officeDocument/2006/relationships/notesMaster" Target="/ppt/notesMasters/notesMaster1.xml" Id="R872fead417c347a8" /></Relationships>
</file>

<file path=ppt/notesSlides/_rels/notesSlide6.xml.rels>&#65279;<?xml version="1.0" encoding="utf-8"?><Relationships xmlns="http://schemas.openxmlformats.org/package/2006/relationships"><Relationship Type="http://schemas.openxmlformats.org/officeDocument/2006/relationships/slide" Target="/ppt/slides/slide6.xml" Id="R729a9b6a80ef4cce" /><Relationship Type="http://schemas.openxmlformats.org/officeDocument/2006/relationships/notesMaster" Target="/ppt/notesMasters/notesMaster1.xml" Id="R2b7073d22798474d" /></Relationships>
</file>

<file path=ppt/notesSlides/_rels/notesSlide7.xml.rels>&#65279;<?xml version="1.0" encoding="utf-8"?><Relationships xmlns="http://schemas.openxmlformats.org/package/2006/relationships"><Relationship Type="http://schemas.openxmlformats.org/officeDocument/2006/relationships/slide" Target="/ppt/slides/slide7.xml" Id="Rb94d072d28634a18" /><Relationship Type="http://schemas.openxmlformats.org/officeDocument/2006/relationships/notesMaster" Target="/ppt/notesMasters/notesMaster1.xml" Id="Rb610b2a850a64af6" /></Relationships>
</file>

<file path=ppt/notesSlides/_rels/notesSlide8.xml.rels>&#65279;<?xml version="1.0" encoding="utf-8"?><Relationships xmlns="http://schemas.openxmlformats.org/package/2006/relationships"><Relationship Type="http://schemas.openxmlformats.org/officeDocument/2006/relationships/slide" Target="/ppt/slides/slide8.xml" Id="R70110b6a12e243e9" /><Relationship Type="http://schemas.openxmlformats.org/officeDocument/2006/relationships/notesMaster" Target="/ppt/notesMasters/notesMaster1.xml" Id="R1249879eb8584444" /></Relationships>
</file>

<file path=ppt/notesSlides/_rels/notesSlide9.xml.rels>&#65279;<?xml version="1.0" encoding="utf-8"?><Relationships xmlns="http://schemas.openxmlformats.org/package/2006/relationships"><Relationship Type="http://schemas.openxmlformats.org/officeDocument/2006/relationships/slide" Target="/ppt/slides/slide9.xml" Id="R371c7b113f3546c0" /><Relationship Type="http://schemas.openxmlformats.org/officeDocument/2006/relationships/notesMaster" Target="/ppt/notesMasters/notesMaster1.xml" Id="Rbd6608fb284f451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12e62eea9d34f23" /><Relationship Type="http://schemas.openxmlformats.org/officeDocument/2006/relationships/notesMaster" Target="/ppt/notesMasters/notesMaster1.xml" Id="R58c414a518c7421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f04eef653a246d3" /><Relationship Type="http://schemas.openxmlformats.org/officeDocument/2006/relationships/notesMaster" Target="/ppt/notesMasters/notesMaster1.xml" Id="R339e3802f36344b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3180be2fc0a498d" /><Relationship Type="http://schemas.openxmlformats.org/officeDocument/2006/relationships/notesMaster" Target="/ppt/notesMasters/notesMaster1.xml" Id="R327eedfe843e4de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4f8f2a83085431b" /><Relationship Type="http://schemas.openxmlformats.org/officeDocument/2006/relationships/notesMaster" Target="/ppt/notesMasters/notesMaster1.xml" Id="R690ca856c7704b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BUILD_FOOD_W6 | Plan a meal to a brief</a:t>
            </a:r>
          </a:p>
          <a:p xmlns:a="http://schemas.openxmlformats.org/drawingml/2006/main">
            <a:r>
              <a:t>Plan a fictional meal using food groups, a budget and safe preparation checks, then evaluate the plan.</a:t>
            </a:r>
          </a:p>
          <a:p xmlns:a="http://schemas.openxmlformats.org/drawingml/2006/main">
            <a:r>
              <a:t/>
            </a:r>
          </a:p>
          <a:p xmlns:a="http://schemas.openxmlformats.org/drawingml/2006/main">
            <a:r>
              <a:t>Enriches existing BUILD FoodWise module lesson 6 with uploaded W3 recipe reading and W4 evaluation. This is a menu task, not a judgement of pupils’ meals.</a:t>
            </a:r>
          </a:p>
          <a:p xmlns:a="http://schemas.openxmlformats.org/drawingml/2006/main">
            <a:r>
              <a:t/>
            </a:r>
          </a:p>
          <a:p xmlns:a="http://schemas.openxmlformats.org/drawingml/2006/main">
            <a:r>
              <a:t>Pupil prompt: What makes a plan useful to someone else?</a:t>
            </a:r>
          </a:p>
          <a:p xmlns:a="http://schemas.openxmlformats.org/drawingml/2006/main">
            <a:r>
              <a:t/>
            </a:r>
          </a:p>
          <a:p xmlns:a="http://schemas.openxmlformats.org/drawingml/2006/main">
            <a:r>
              <a:t>Teacher answer / acceptable response: Clear components, amounts, steps, costs and safety checks.</a:t>
            </a:r>
          </a:p>
          <a:p xmlns:a="http://schemas.openxmlformats.org/drawingml/2006/main">
            <a:r>
              <a:t/>
            </a:r>
          </a:p>
          <a:p xmlns:a="http://schemas.openxmlformats.org/drawingml/2006/main">
            <a:r>
              <a:t>Support: BUILD: use three component cards, preprinted amounts, 10p/5p counters or a calculator, and two verdict choices before introducing need evidence. Allow pointing, drawing, oral response and scribing.</a:t>
            </a:r>
          </a:p>
          <a:p xmlns:a="http://schemas.openxmlformats.org/drawingml/2006/main">
            <a:r>
              <a:t/>
            </a:r>
          </a:p>
          <a:p xmlns:a="http://schemas.openxmlformats.org/drawingml/2006/main">
            <a:r>
              <a:t>Stretch: Compare the £1.25 plan with the £1.40 alternative, explain what evidence each needs, then calculate two lunch sets. Derive wrap costs from whole packs if appropriate.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food groups and introduce fictional club.</a:t>
            </a:r>
          </a:p>
          <a:p xmlns:a="http://schemas.openxmlformats.org/drawingml/2006/main">
            <a:r>
              <a:t>6 min: Read brief and choose components.</a:t>
            </a:r>
          </a:p>
          <a:p xmlns:a="http://schemas.openxmlformats.org/drawingml/2006/main">
            <a:r>
              <a:t>7 min: Model 125p cost and alternative.</a:t>
            </a:r>
          </a:p>
          <a:p xmlns:a="http://schemas.openxmlformats.org/drawingml/2006/main">
            <a:r>
              <a:t>12 min: Create a component, cost and safe-order plan.</a:t>
            </a:r>
          </a:p>
          <a:p xmlns:a="http://schemas.openxmlformats.org/drawingml/2006/main">
            <a:r>
              <a:t>6 min: Evaluate against the brief and improve one point.</a:t>
            </a:r>
          </a:p>
          <a:p xmlns:a="http://schemas.openxmlformats.org/drawingml/2006/main">
            <a:r>
              <a:t>4 min: Return cards, clear desks and organise plans.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teaching source: DT_Aut1_W4_FoodWise_Evaluate_Against_a_Brief.pptx</a:t>
            </a:r>
          </a:p>
          <a:p xmlns:a="http://schemas.openxmlformats.org/drawingml/2006/main">
            <a:r>
              <a:t>Uploaded teaching source: DT_Aut1_W4_Log_My_Evaluation.docx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BUILD_FOOD_W6 | Plan a meal to a brief</a:t>
            </a:r>
          </a:p>
          <a:p xmlns:a="http://schemas.openxmlformats.org/drawingml/2006/main">
            <a:r>
              <a:t>Plan a fictional meal using food groups, a budget and safe preparation checks, then evaluate the plan.</a:t>
            </a:r>
          </a:p>
          <a:p xmlns:a="http://schemas.openxmlformats.org/drawingml/2006/main">
            <a:r>
              <a:t/>
            </a:r>
          </a:p>
          <a:p xmlns:a="http://schemas.openxmlformats.org/drawingml/2006/main">
            <a:r>
              <a:t>Read each word aloud and link it to a concrete example. Revisit these words during the tasks.</a:t>
            </a:r>
          </a:p>
          <a:p xmlns:a="http://schemas.openxmlformats.org/drawingml/2006/main">
            <a:r>
              <a:t/>
            </a:r>
          </a:p>
          <a:p xmlns:a="http://schemas.openxmlformats.org/drawingml/2006/main">
            <a:r>
              <a:t>Support: BUILD: use three component cards, preprinted amounts, 10p/5p counters or a calculator, and two verdict choices before introducing need evidence. Allow pointing, drawing, oral response and scribing.</a:t>
            </a:r>
          </a:p>
          <a:p xmlns:a="http://schemas.openxmlformats.org/drawingml/2006/main">
            <a:r>
              <a:t/>
            </a:r>
          </a:p>
          <a:p xmlns:a="http://schemas.openxmlformats.org/drawingml/2006/main">
            <a:r>
              <a:t>Stretch: Compare the £1.25 plan with the £1.40 alternative, explain what evidence each needs, then calculate two lunch sets. Derive wrap costs from whole packs if appropriate.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food groups and introduce fictional club.</a:t>
            </a:r>
          </a:p>
          <a:p xmlns:a="http://schemas.openxmlformats.org/drawingml/2006/main">
            <a:r>
              <a:t>6 min: Read brief and choose components.</a:t>
            </a:r>
          </a:p>
          <a:p xmlns:a="http://schemas.openxmlformats.org/drawingml/2006/main">
            <a:r>
              <a:t>7 min: Model 125p cost and alternative.</a:t>
            </a:r>
          </a:p>
          <a:p xmlns:a="http://schemas.openxmlformats.org/drawingml/2006/main">
            <a:r>
              <a:t>12 min: Create a component, cost and safe-order plan.</a:t>
            </a:r>
          </a:p>
          <a:p xmlns:a="http://schemas.openxmlformats.org/drawingml/2006/main">
            <a:r>
              <a:t>6 min: Evaluate against the brief and improve one point.</a:t>
            </a:r>
          </a:p>
          <a:p xmlns:a="http://schemas.openxmlformats.org/drawingml/2006/main">
            <a:r>
              <a:t>4 min: Return cards, clear desks and organise plans.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teaching source: DT_Aut1_W4_FoodWise_Evaluate_Against_a_Brief.pptx</a:t>
            </a:r>
          </a:p>
          <a:p xmlns:a="http://schemas.openxmlformats.org/drawingml/2006/main">
            <a:r>
              <a:t>Uploaded teaching source: DT_Aut1_W4_Log_My_Evaluation.docx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BUILD_FOOD_W6 | Plan a meal to a brief</a:t>
            </a:r>
          </a:p>
          <a:p xmlns:a="http://schemas.openxmlformats.org/drawingml/2006/main">
            <a:r>
              <a:t>Plan a fictional meal using food groups, a budget and safe preparation checks, then evaluate the plan.</a:t>
            </a:r>
          </a:p>
          <a:p xmlns:a="http://schemas.openxmlformats.org/drawingml/2006/main">
            <a:r>
              <a:t/>
            </a:r>
          </a:p>
          <a:p xmlns:a="http://schemas.openxmlformats.org/drawingml/2006/main">
            <a:r>
              <a:t>The brief is fictional; individual food plans and portions are not prescribed.</a:t>
            </a:r>
          </a:p>
          <a:p xmlns:a="http://schemas.openxmlformats.org/drawingml/2006/main">
            <a:r>
              <a:t/>
            </a:r>
          </a:p>
          <a:p xmlns:a="http://schemas.openxmlformats.org/drawingml/2006/main">
            <a:r>
              <a:t>Pupil prompt: Which part of the brief is a money limit?</a:t>
            </a:r>
          </a:p>
          <a:p xmlns:a="http://schemas.openxmlformats.org/drawingml/2006/main">
            <a:r>
              <a:t/>
            </a:r>
          </a:p>
          <a:p xmlns:a="http://schemas.openxmlformats.org/drawingml/2006/main">
            <a:r>
              <a:t>Teacher answer / acceptable response: No more than £1.50 for the supplied ingredients used.</a:t>
            </a:r>
          </a:p>
          <a:p xmlns:a="http://schemas.openxmlformats.org/drawingml/2006/main">
            <a:r>
              <a:t/>
            </a:r>
          </a:p>
          <a:p xmlns:a="http://schemas.openxmlformats.org/drawingml/2006/main">
            <a:r>
              <a:t>Support: BUILD: use three component cards, preprinted amounts, 10p/5p counters or a calculator, and two verdict choices before introducing need evidence. Allow pointing, drawing, oral response and scribing.</a:t>
            </a:r>
          </a:p>
          <a:p xmlns:a="http://schemas.openxmlformats.org/drawingml/2006/main">
            <a:r>
              <a:t/>
            </a:r>
          </a:p>
          <a:p xmlns:a="http://schemas.openxmlformats.org/drawingml/2006/main">
            <a:r>
              <a:t>Stretch: Compare the £1.25 plan with the £1.40 alternative, explain what evidence each needs, then calculate two lunch sets. Derive wrap costs from whole packs if appropriate.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food groups and introduce fictional club.</a:t>
            </a:r>
          </a:p>
          <a:p xmlns:a="http://schemas.openxmlformats.org/drawingml/2006/main">
            <a:r>
              <a:t>6 min: Read brief and choose components.</a:t>
            </a:r>
          </a:p>
          <a:p xmlns:a="http://schemas.openxmlformats.org/drawingml/2006/main">
            <a:r>
              <a:t>7 min: Model 125p cost and alternative.</a:t>
            </a:r>
          </a:p>
          <a:p xmlns:a="http://schemas.openxmlformats.org/drawingml/2006/main">
            <a:r>
              <a:t>12 min: Create a component, cost and safe-order plan.</a:t>
            </a:r>
          </a:p>
          <a:p xmlns:a="http://schemas.openxmlformats.org/drawingml/2006/main">
            <a:r>
              <a:t>6 min: Evaluate against the brief and improve one point.</a:t>
            </a:r>
          </a:p>
          <a:p xmlns:a="http://schemas.openxmlformats.org/drawingml/2006/main">
            <a:r>
              <a:t>4 min: Return cards, clear desks and organise plans.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teaching source: DT_Aut1_W4_FoodWise_Evaluate_Against_a_Brief.pptx</a:t>
            </a:r>
          </a:p>
          <a:p xmlns:a="http://schemas.openxmlformats.org/drawingml/2006/main">
            <a:r>
              <a:t>Uploaded teaching source: DT_Aut1_W4_Log_My_Evaluation.docx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BUILD_FOOD_W6 | Plan a meal to a brief</a:t>
            </a:r>
          </a:p>
          <a:p xmlns:a="http://schemas.openxmlformats.org/drawingml/2006/main">
            <a:r>
              <a:t>Plan a fictional meal using food groups, a budget and safe preparation checks, then evaluate the plan.</a:t>
            </a:r>
          </a:p>
          <a:p xmlns:a="http://schemas.openxmlformats.org/drawingml/2006/main">
            <a:r>
              <a:t/>
            </a:r>
          </a:p>
          <a:p xmlns:a="http://schemas.openxmlformats.org/drawingml/2006/main">
            <a:r>
              <a:t>The brief is fictional; individual food plans and portions are not prescribed.</a:t>
            </a:r>
          </a:p>
          <a:p xmlns:a="http://schemas.openxmlformats.org/drawingml/2006/main">
            <a:r>
              <a:t/>
            </a:r>
          </a:p>
          <a:p xmlns:a="http://schemas.openxmlformats.org/drawingml/2006/main">
            <a:r>
              <a:t>Pupil prompt: Which part of the brief is a money limit?</a:t>
            </a:r>
          </a:p>
          <a:p xmlns:a="http://schemas.openxmlformats.org/drawingml/2006/main">
            <a:r>
              <a:t/>
            </a:r>
          </a:p>
          <a:p xmlns:a="http://schemas.openxmlformats.org/drawingml/2006/main">
            <a:r>
              <a:t>Teacher answer / acceptable response: No more than £1.50 for the supplied ingredients used.</a:t>
            </a:r>
          </a:p>
          <a:p xmlns:a="http://schemas.openxmlformats.org/drawingml/2006/main">
            <a:r>
              <a:t/>
            </a:r>
          </a:p>
          <a:p xmlns:a="http://schemas.openxmlformats.org/drawingml/2006/main">
            <a:r>
              <a:t>Support: BUILD: use three component cards, preprinted amounts, 10p/5p counters or a calculator, and two verdict choices before introducing need evidence. Allow pointing, drawing, oral response and scribing.</a:t>
            </a:r>
          </a:p>
          <a:p xmlns:a="http://schemas.openxmlformats.org/drawingml/2006/main">
            <a:r>
              <a:t/>
            </a:r>
          </a:p>
          <a:p xmlns:a="http://schemas.openxmlformats.org/drawingml/2006/main">
            <a:r>
              <a:t>Stretch: Compare the £1.25 plan with the £1.40 alternative, explain what evidence each needs, then calculate two lunch sets. Derive wrap costs from whole packs if appropriate.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food groups and introduce fictional club.</a:t>
            </a:r>
          </a:p>
          <a:p xmlns:a="http://schemas.openxmlformats.org/drawingml/2006/main">
            <a:r>
              <a:t>6 min: Read brief and choose components.</a:t>
            </a:r>
          </a:p>
          <a:p xmlns:a="http://schemas.openxmlformats.org/drawingml/2006/main">
            <a:r>
              <a:t>7 min: Model 125p cost and alternative.</a:t>
            </a:r>
          </a:p>
          <a:p xmlns:a="http://schemas.openxmlformats.org/drawingml/2006/main">
            <a:r>
              <a:t>12 min: Create a component, cost and safe-order plan.</a:t>
            </a:r>
          </a:p>
          <a:p xmlns:a="http://schemas.openxmlformats.org/drawingml/2006/main">
            <a:r>
              <a:t>6 min: Evaluate against the brief and improve one point.</a:t>
            </a:r>
          </a:p>
          <a:p xmlns:a="http://schemas.openxmlformats.org/drawingml/2006/main">
            <a:r>
              <a:t>4 min: Return cards, clear desks and organise plans.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teaching source: DT_Aut1_W4_FoodWise_Evaluate_Against_a_Brief.pptx</a:t>
            </a:r>
          </a:p>
          <a:p xmlns:a="http://schemas.openxmlformats.org/drawingml/2006/main">
            <a:r>
              <a:t>Uploaded teaching source: DT_Aut1_W4_Log_My_Evaluation.docx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BUILD_FOOD_W6 | Plan a meal to a brief</a:t>
            </a:r>
          </a:p>
          <a:p xmlns:a="http://schemas.openxmlformats.org/drawingml/2006/main">
            <a:r>
              <a:t>Plan a fictional meal using food groups, a budget and safe preparation checks, then evaluate the plan.</a:t>
            </a:r>
          </a:p>
          <a:p xmlns:a="http://schemas.openxmlformats.org/drawingml/2006/main">
            <a:r>
              <a:t/>
            </a:r>
          </a:p>
          <a:p xmlns:a="http://schemas.openxmlformats.org/drawingml/2006/main">
            <a:r>
              <a:t>Food groups identify ingredients; no moral ranking or requirement to disclose personal food.</a:t>
            </a:r>
          </a:p>
          <a:p xmlns:a="http://schemas.openxmlformats.org/drawingml/2006/main">
            <a:r>
              <a:t/>
            </a:r>
          </a:p>
          <a:p xmlns:a="http://schemas.openxmlformats.org/drawingml/2006/main">
            <a:r>
              <a:t>Pupil prompt: Which food group does each wrap ingredient belong to?</a:t>
            </a:r>
          </a:p>
          <a:p xmlns:a="http://schemas.openxmlformats.org/drawingml/2006/main">
            <a:r>
              <a:t/>
            </a:r>
          </a:p>
          <a:p xmlns:a="http://schemas.openxmlformats.org/drawingml/2006/main">
            <a:r>
              <a:t>Teacher answer / acceptable response: Tortilla: starchy foods. Chickpeas: protein foods. Cucumber: fruit and vegetables. Soft cheese: dairy and alternatives.</a:t>
            </a:r>
          </a:p>
          <a:p xmlns:a="http://schemas.openxmlformats.org/drawingml/2006/main">
            <a:r>
              <a:t/>
            </a:r>
          </a:p>
          <a:p xmlns:a="http://schemas.openxmlformats.org/drawingml/2006/main">
            <a:r>
              <a:t>Support: BUILD: use three component cards, preprinted amounts, 10p/5p counters or a calculator, and two verdict choices before introducing need evidence. Allow pointing, drawing, oral response and scribing.</a:t>
            </a:r>
          </a:p>
          <a:p xmlns:a="http://schemas.openxmlformats.org/drawingml/2006/main">
            <a:r>
              <a:t/>
            </a:r>
          </a:p>
          <a:p xmlns:a="http://schemas.openxmlformats.org/drawingml/2006/main">
            <a:r>
              <a:t>Stretch: Compare the £1.25 plan with the £1.40 alternative, explain what evidence each needs, then calculate two lunch sets. Derive wrap costs from whole packs if appropriate.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food groups and introduce fictional club.</a:t>
            </a:r>
          </a:p>
          <a:p xmlns:a="http://schemas.openxmlformats.org/drawingml/2006/main">
            <a:r>
              <a:t>6 min: Read brief and choose components.</a:t>
            </a:r>
          </a:p>
          <a:p xmlns:a="http://schemas.openxmlformats.org/drawingml/2006/main">
            <a:r>
              <a:t>7 min: Model 125p cost and alternative.</a:t>
            </a:r>
          </a:p>
          <a:p xmlns:a="http://schemas.openxmlformats.org/drawingml/2006/main">
            <a:r>
              <a:t>12 min: Create a component, cost and safe-order plan.</a:t>
            </a:r>
          </a:p>
          <a:p xmlns:a="http://schemas.openxmlformats.org/drawingml/2006/main">
            <a:r>
              <a:t>6 min: Evaluate against the brief and improve one point.</a:t>
            </a:r>
          </a:p>
          <a:p xmlns:a="http://schemas.openxmlformats.org/drawingml/2006/main">
            <a:r>
              <a:t>4 min: Return cards, clear desks and organise plans.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teaching source: DT_Aut1_W4_FoodWise_Evaluate_Against_a_Brief.pptx</a:t>
            </a:r>
          </a:p>
          <a:p xmlns:a="http://schemas.openxmlformats.org/drawingml/2006/main">
            <a:r>
              <a:t>Uploaded teaching source: DT_Aut1_W4_Log_My_Evaluation.docx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BUILD_FOOD_W6 | Plan a meal to a brief</a:t>
            </a:r>
          </a:p>
          <a:p xmlns:a="http://schemas.openxmlformats.org/drawingml/2006/main">
            <a:r>
              <a:t>Plan a fictional meal using food groups, a budget and safe preparation checks, then evaluate the plan.</a:t>
            </a:r>
          </a:p>
          <a:p xmlns:a="http://schemas.openxmlformats.org/drawingml/2006/main">
            <a:r>
              <a:t/>
            </a:r>
          </a:p>
          <a:p xmlns:a="http://schemas.openxmlformats.org/drawingml/2006/main">
            <a:r>
              <a:t>Food groups identify ingredients; no moral ranking or requirement to disclose personal food.</a:t>
            </a:r>
          </a:p>
          <a:p xmlns:a="http://schemas.openxmlformats.org/drawingml/2006/main">
            <a:r>
              <a:t/>
            </a:r>
          </a:p>
          <a:p xmlns:a="http://schemas.openxmlformats.org/drawingml/2006/main">
            <a:r>
              <a:t>Pupil prompt: Which food group does each wrap ingredient belong to?</a:t>
            </a:r>
          </a:p>
          <a:p xmlns:a="http://schemas.openxmlformats.org/drawingml/2006/main">
            <a:r>
              <a:t/>
            </a:r>
          </a:p>
          <a:p xmlns:a="http://schemas.openxmlformats.org/drawingml/2006/main">
            <a:r>
              <a:t>Teacher answer / acceptable response: Tortilla: starchy foods. Chickpeas: protein foods. Cucumber: fruit and vegetables. Soft cheese: dairy and alternatives.</a:t>
            </a:r>
          </a:p>
          <a:p xmlns:a="http://schemas.openxmlformats.org/drawingml/2006/main">
            <a:r>
              <a:t/>
            </a:r>
          </a:p>
          <a:p xmlns:a="http://schemas.openxmlformats.org/drawingml/2006/main">
            <a:r>
              <a:t>Support: BUILD: use three component cards, preprinted amounts, 10p/5p counters or a calculator, and two verdict choices before introducing need evidence. Allow pointing, drawing, oral response and scribing.</a:t>
            </a:r>
          </a:p>
          <a:p xmlns:a="http://schemas.openxmlformats.org/drawingml/2006/main">
            <a:r>
              <a:t/>
            </a:r>
          </a:p>
          <a:p xmlns:a="http://schemas.openxmlformats.org/drawingml/2006/main">
            <a:r>
              <a:t>Stretch: Compare the £1.25 plan with the £1.40 alternative, explain what evidence each needs, then calculate two lunch sets. Derive wrap costs from whole packs if appropriate.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food groups and introduce fictional club.</a:t>
            </a:r>
          </a:p>
          <a:p xmlns:a="http://schemas.openxmlformats.org/drawingml/2006/main">
            <a:r>
              <a:t>6 min: Read brief and choose components.</a:t>
            </a:r>
          </a:p>
          <a:p xmlns:a="http://schemas.openxmlformats.org/drawingml/2006/main">
            <a:r>
              <a:t>7 min: Model 125p cost and alternative.</a:t>
            </a:r>
          </a:p>
          <a:p xmlns:a="http://schemas.openxmlformats.org/drawingml/2006/main">
            <a:r>
              <a:t>12 min: Create a component, cost and safe-order plan.</a:t>
            </a:r>
          </a:p>
          <a:p xmlns:a="http://schemas.openxmlformats.org/drawingml/2006/main">
            <a:r>
              <a:t>6 min: Evaluate against the brief and improve one point.</a:t>
            </a:r>
          </a:p>
          <a:p xmlns:a="http://schemas.openxmlformats.org/drawingml/2006/main">
            <a:r>
              <a:t>4 min: Return cards, clear desks and organise plans.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teaching source: DT_Aut1_W4_FoodWise_Evaluate_Against_a_Brief.pptx</a:t>
            </a:r>
          </a:p>
          <a:p xmlns:a="http://schemas.openxmlformats.org/drawingml/2006/main">
            <a:r>
              <a:t>Uploaded teaching source: DT_Aut1_W4_Log_My_Evaluation.docx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BUILD_FOOD_W6 | Plan a meal to a brief</a:t>
            </a:r>
          </a:p>
          <a:p xmlns:a="http://schemas.openxmlformats.org/drawingml/2006/main">
            <a:r>
              <a:t>Plan a fictional meal using food groups, a budget and safe preparation checks, then evaluate the plan.</a:t>
            </a:r>
          </a:p>
          <a:p xmlns:a="http://schemas.openxmlformats.org/drawingml/2006/main">
            <a:r>
              <a:t/>
            </a:r>
          </a:p>
          <a:p xmlns:a="http://schemas.openxmlformats.org/drawingml/2006/main">
            <a:r>
              <a:t>Do not confuse a proportionate ingredient cost with buying whole packets. All prices are fictional.</a:t>
            </a:r>
          </a:p>
          <a:p xmlns:a="http://schemas.openxmlformats.org/drawingml/2006/main">
            <a:r>
              <a:t/>
            </a:r>
          </a:p>
          <a:p xmlns:a="http://schemas.openxmlformats.org/drawingml/2006/main">
            <a:r>
              <a:t>Pupil prompt: Would two wraps plus these sides fit the same £1.50 limit?</a:t>
            </a:r>
          </a:p>
          <a:p xmlns:a="http://schemas.openxmlformats.org/drawingml/2006/main">
            <a:r>
              <a:t/>
            </a:r>
          </a:p>
          <a:p xmlns:a="http://schemas.openxmlformats.org/drawingml/2006/main">
            <a:r>
              <a:t>Teacher answer / acceptable response: No: 140p + 30p + 25p = 195p = £1.95.</a:t>
            </a:r>
          </a:p>
          <a:p xmlns:a="http://schemas.openxmlformats.org/drawingml/2006/main">
            <a:r>
              <a:t/>
            </a:r>
          </a:p>
          <a:p xmlns:a="http://schemas.openxmlformats.org/drawingml/2006/main">
            <a:r>
              <a:t>Support: BUILD: use three component cards, preprinted amounts, 10p/5p counters or a calculator, and two verdict choices before introducing need evidence. Allow pointing, drawing, oral response and scribing.</a:t>
            </a:r>
          </a:p>
          <a:p xmlns:a="http://schemas.openxmlformats.org/drawingml/2006/main">
            <a:r>
              <a:t/>
            </a:r>
          </a:p>
          <a:p xmlns:a="http://schemas.openxmlformats.org/drawingml/2006/main">
            <a:r>
              <a:t>Stretch: Compare the £1.25 plan with the £1.40 alternative, explain what evidence each needs, then calculate two lunch sets. Derive wrap costs from whole packs if appropriate.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food groups and introduce fictional club.</a:t>
            </a:r>
          </a:p>
          <a:p xmlns:a="http://schemas.openxmlformats.org/drawingml/2006/main">
            <a:r>
              <a:t>6 min: Read brief and choose components.</a:t>
            </a:r>
          </a:p>
          <a:p xmlns:a="http://schemas.openxmlformats.org/drawingml/2006/main">
            <a:r>
              <a:t>7 min: Model 125p cost and alternative.</a:t>
            </a:r>
          </a:p>
          <a:p xmlns:a="http://schemas.openxmlformats.org/drawingml/2006/main">
            <a:r>
              <a:t>12 min: Create a component, cost and safe-order plan.</a:t>
            </a:r>
          </a:p>
          <a:p xmlns:a="http://schemas.openxmlformats.org/drawingml/2006/main">
            <a:r>
              <a:t>6 min: Evaluate against the brief and improve one point.</a:t>
            </a:r>
          </a:p>
          <a:p xmlns:a="http://schemas.openxmlformats.org/drawingml/2006/main">
            <a:r>
              <a:t>4 min: Return cards, clear desks and organise plans.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teaching source: DT_Aut1_W4_FoodWise_Evaluate_Against_a_Brief.pptx</a:t>
            </a:r>
          </a:p>
          <a:p xmlns:a="http://schemas.openxmlformats.org/drawingml/2006/main">
            <a:r>
              <a:t>Uploaded teaching source: DT_Aut1_W4_Log_My_Evaluation.docx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BUILD_FOOD_W6 | Plan a meal to a brief</a:t>
            </a:r>
          </a:p>
          <a:p xmlns:a="http://schemas.openxmlformats.org/drawingml/2006/main">
            <a:r>
              <a:t>Plan a fictional meal using food groups, a budget and safe preparation checks, then evaluate the plan.</a:t>
            </a:r>
          </a:p>
          <a:p xmlns:a="http://schemas.openxmlformats.org/drawingml/2006/main">
            <a:r>
              <a:t/>
            </a:r>
          </a:p>
          <a:p xmlns:a="http://schemas.openxmlformats.org/drawingml/2006/main">
            <a:r>
              <a:t>Teaches that meeting the budget does not establish ingredient suitability.</a:t>
            </a:r>
          </a:p>
          <a:p xmlns:a="http://schemas.openxmlformats.org/drawingml/2006/main">
            <a:r>
              <a:t/>
            </a:r>
          </a:p>
          <a:p xmlns:a="http://schemas.openxmlformats.org/drawingml/2006/main">
            <a:r>
              <a:t>Pupil prompt: Can the plan be approved yet?</a:t>
            </a:r>
          </a:p>
          <a:p xmlns:a="http://schemas.openxmlformats.org/drawingml/2006/main">
            <a:r>
              <a:t/>
            </a:r>
          </a:p>
          <a:p xmlns:a="http://schemas.openxmlformats.org/drawingml/2006/main">
            <a:r>
              <a:t>Teacher answer / acceptable response: The new total is 140p, within budget. Ingredient suitability still needs adult evidence before making.</a:t>
            </a:r>
          </a:p>
          <a:p xmlns:a="http://schemas.openxmlformats.org/drawingml/2006/main">
            <a:r>
              <a:t/>
            </a:r>
          </a:p>
          <a:p xmlns:a="http://schemas.openxmlformats.org/drawingml/2006/main">
            <a:r>
              <a:t>Support: BUILD: use three component cards, preprinted amounts, 10p/5p counters or a calculator, and two verdict choices before introducing need evidence. Allow pointing, drawing, oral response and scribing.</a:t>
            </a:r>
          </a:p>
          <a:p xmlns:a="http://schemas.openxmlformats.org/drawingml/2006/main">
            <a:r>
              <a:t/>
            </a:r>
          </a:p>
          <a:p xmlns:a="http://schemas.openxmlformats.org/drawingml/2006/main">
            <a:r>
              <a:t>Stretch: Compare the £1.25 plan with the £1.40 alternative, explain what evidence each needs, then calculate two lunch sets. Derive wrap costs from whole packs if appropriate.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food groups and introduce fictional club.</a:t>
            </a:r>
          </a:p>
          <a:p xmlns:a="http://schemas.openxmlformats.org/drawingml/2006/main">
            <a:r>
              <a:t>6 min: Read brief and choose components.</a:t>
            </a:r>
          </a:p>
          <a:p xmlns:a="http://schemas.openxmlformats.org/drawingml/2006/main">
            <a:r>
              <a:t>7 min: Model 125p cost and alternative.</a:t>
            </a:r>
          </a:p>
          <a:p xmlns:a="http://schemas.openxmlformats.org/drawingml/2006/main">
            <a:r>
              <a:t>12 min: Create a component, cost and safe-order plan.</a:t>
            </a:r>
          </a:p>
          <a:p xmlns:a="http://schemas.openxmlformats.org/drawingml/2006/main">
            <a:r>
              <a:t>6 min: Evaluate against the brief and improve one point.</a:t>
            </a:r>
          </a:p>
          <a:p xmlns:a="http://schemas.openxmlformats.org/drawingml/2006/main">
            <a:r>
              <a:t>4 min: Return cards, clear desks and organise plans.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teaching source: DT_Aut1_W4_FoodWise_Evaluate_Against_a_Brief.pptx</a:t>
            </a:r>
          </a:p>
          <a:p xmlns:a="http://schemas.openxmlformats.org/drawingml/2006/main">
            <a:r>
              <a:t>Uploaded teaching source: DT_Aut1_W4_Log_My_Evaluation.docx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BUILD_FOOD_W6 | Plan a meal to a brief</a:t>
            </a:r>
          </a:p>
          <a:p xmlns:a="http://schemas.openxmlformats.org/drawingml/2006/main">
            <a:r>
              <a:t>Plan a fictional meal using food groups, a budget and safe preparation checks, then evaluate the plan.</a:t>
            </a:r>
          </a:p>
          <a:p xmlns:a="http://schemas.openxmlformats.org/drawingml/2006/main">
            <a:r>
              <a:t/>
            </a:r>
          </a:p>
          <a:p xmlns:a="http://schemas.openxmlformats.org/drawingml/2006/main">
            <a:r>
              <a:t>Refer to the complete wrap recipe for full ingredient amounts, tools and seven steps.</a:t>
            </a:r>
          </a:p>
          <a:p xmlns:a="http://schemas.openxmlformats.org/drawingml/2006/main">
            <a:r>
              <a:t/>
            </a:r>
          </a:p>
          <a:p xmlns:a="http://schemas.openxmlformats.org/drawingml/2006/main">
            <a:r>
              <a:t>Pupil prompt: Put A, B and C in order.</a:t>
            </a:r>
          </a:p>
          <a:p xmlns:a="http://schemas.openxmlformats.org/drawingml/2006/main">
            <a:r>
              <a:t/>
            </a:r>
          </a:p>
          <a:p xmlns:a="http://schemas.openxmlformats.org/drawingml/2006/main">
            <a:r>
              <a:t>Teacher answer / acceptable response: B, A, C.</a:t>
            </a:r>
          </a:p>
          <a:p xmlns:a="http://schemas.openxmlformats.org/drawingml/2006/main">
            <a:r>
              <a:t/>
            </a:r>
          </a:p>
          <a:p xmlns:a="http://schemas.openxmlformats.org/drawingml/2006/main">
            <a:r>
              <a:t>Support: BUILD: use three component cards, preprinted amounts, 10p/5p counters or a calculator, and two verdict choices before introducing need evidence. Allow pointing, drawing, oral response and scribing.</a:t>
            </a:r>
          </a:p>
          <a:p xmlns:a="http://schemas.openxmlformats.org/drawingml/2006/main">
            <a:r>
              <a:t/>
            </a:r>
          </a:p>
          <a:p xmlns:a="http://schemas.openxmlformats.org/drawingml/2006/main">
            <a:r>
              <a:t>Stretch: Compare the £1.25 plan with the £1.40 alternative, explain what evidence each needs, then calculate two lunch sets. Derive wrap costs from whole packs if appropriate.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food groups and introduce fictional club.</a:t>
            </a:r>
          </a:p>
          <a:p xmlns:a="http://schemas.openxmlformats.org/drawingml/2006/main">
            <a:r>
              <a:t>6 min: Read brief and choose components.</a:t>
            </a:r>
          </a:p>
          <a:p xmlns:a="http://schemas.openxmlformats.org/drawingml/2006/main">
            <a:r>
              <a:t>7 min: Model 125p cost and alternative.</a:t>
            </a:r>
          </a:p>
          <a:p xmlns:a="http://schemas.openxmlformats.org/drawingml/2006/main">
            <a:r>
              <a:t>12 min: Create a component, cost and safe-order plan.</a:t>
            </a:r>
          </a:p>
          <a:p xmlns:a="http://schemas.openxmlformats.org/drawingml/2006/main">
            <a:r>
              <a:t>6 min: Evaluate against the brief and improve one point.</a:t>
            </a:r>
          </a:p>
          <a:p xmlns:a="http://schemas.openxmlformats.org/drawingml/2006/main">
            <a:r>
              <a:t>4 min: Return cards, clear desks and organise plans.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teaching source: DT_Aut1_W4_FoodWise_Evaluate_Against_a_Brief.pptx</a:t>
            </a:r>
          </a:p>
          <a:p xmlns:a="http://schemas.openxmlformats.org/drawingml/2006/main">
            <a:r>
              <a:t>Uploaded teaching source: DT_Aut1_W4_Log_My_Evaluation.docx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BUILD_FOOD_W6 | Plan a meal to a brief</a:t>
            </a:r>
          </a:p>
          <a:p xmlns:a="http://schemas.openxmlformats.org/drawingml/2006/main">
            <a:r>
              <a:t>Plan a fictional meal using food groups, a budget and safe preparation checks, then evaluate the plan.</a:t>
            </a:r>
          </a:p>
          <a:p xmlns:a="http://schemas.openxmlformats.org/drawingml/2006/main">
            <a:r>
              <a:t/>
            </a:r>
          </a:p>
          <a:p xmlns:a="http://schemas.openxmlformats.org/drawingml/2006/main">
            <a:r>
              <a:t>No actual lunch is made in this lesson; planning can direct a later authorised practical.</a:t>
            </a:r>
          </a:p>
          <a:p xmlns:a="http://schemas.openxmlformats.org/drawingml/2006/main">
            <a:r>
              <a:t/>
            </a:r>
          </a:p>
          <a:p xmlns:a="http://schemas.openxmlformats.org/drawingml/2006/main">
            <a:r>
              <a:t>Pupil prompt: Can a partner follow your plan without guessing?</a:t>
            </a:r>
          </a:p>
          <a:p xmlns:a="http://schemas.openxmlformats.org/drawingml/2006/main">
            <a:r>
              <a:t/>
            </a:r>
          </a:p>
          <a:p xmlns:a="http://schemas.openxmlformats.org/drawingml/2006/main">
            <a:r>
              <a:t>Teacher answer / acceptable response: They should be able to locate components, quantities, costs, sequence and adult checks.</a:t>
            </a:r>
          </a:p>
          <a:p xmlns:a="http://schemas.openxmlformats.org/drawingml/2006/main">
            <a:r>
              <a:t/>
            </a:r>
          </a:p>
          <a:p xmlns:a="http://schemas.openxmlformats.org/drawingml/2006/main">
            <a:r>
              <a:t>Support: BUILD: use three component cards, preprinted amounts, 10p/5p counters or a calculator, and two verdict choices before introducing need evidence. Allow pointing, drawing, oral response and scribing.</a:t>
            </a:r>
          </a:p>
          <a:p xmlns:a="http://schemas.openxmlformats.org/drawingml/2006/main">
            <a:r>
              <a:t/>
            </a:r>
          </a:p>
          <a:p xmlns:a="http://schemas.openxmlformats.org/drawingml/2006/main">
            <a:r>
              <a:t>Stretch: Compare the £1.25 plan with the £1.40 alternative, explain what evidence each needs, then calculate two lunch sets. Derive wrap costs from whole packs if appropriate.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food groups and introduce fictional club.</a:t>
            </a:r>
          </a:p>
          <a:p xmlns:a="http://schemas.openxmlformats.org/drawingml/2006/main">
            <a:r>
              <a:t>6 min: Read brief and choose components.</a:t>
            </a:r>
          </a:p>
          <a:p xmlns:a="http://schemas.openxmlformats.org/drawingml/2006/main">
            <a:r>
              <a:t>7 min: Model 125p cost and alternative.</a:t>
            </a:r>
          </a:p>
          <a:p xmlns:a="http://schemas.openxmlformats.org/drawingml/2006/main">
            <a:r>
              <a:t>12 min: Create a component, cost and safe-order plan.</a:t>
            </a:r>
          </a:p>
          <a:p xmlns:a="http://schemas.openxmlformats.org/drawingml/2006/main">
            <a:r>
              <a:t>6 min: Evaluate against the brief and improve one point.</a:t>
            </a:r>
          </a:p>
          <a:p xmlns:a="http://schemas.openxmlformats.org/drawingml/2006/main">
            <a:r>
              <a:t>4 min: Return cards, clear desks and organise plans.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teaching source: DT_Aut1_W4_FoodWise_Evaluate_Against_a_Brief.pptx</a:t>
            </a:r>
          </a:p>
          <a:p xmlns:a="http://schemas.openxmlformats.org/drawingml/2006/main">
            <a:r>
              <a:t>Uploaded teaching source: DT_Aut1_W4_Log_My_Evaluation.docx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BUILD_FOOD_W6 | Plan a meal to a brief</a:t>
            </a:r>
          </a:p>
          <a:p xmlns:a="http://schemas.openxmlformats.org/drawingml/2006/main">
            <a:r>
              <a:t>Plan a fictional meal using food groups, a budget and safe preparation checks, then evaluate the plan.</a:t>
            </a:r>
          </a:p>
          <a:p xmlns:a="http://schemas.openxmlformats.org/drawingml/2006/main">
            <a:r>
              <a:t/>
            </a:r>
          </a:p>
          <a:p xmlns:a="http://schemas.openxmlformats.org/drawingml/2006/main">
            <a:r>
              <a:t>No actual lunch is made in this lesson; planning can direct a later authorised practical.</a:t>
            </a:r>
          </a:p>
          <a:p xmlns:a="http://schemas.openxmlformats.org/drawingml/2006/main">
            <a:r>
              <a:t/>
            </a:r>
          </a:p>
          <a:p xmlns:a="http://schemas.openxmlformats.org/drawingml/2006/main">
            <a:r>
              <a:t>Pupil prompt: Can a partner follow your plan without guessing?</a:t>
            </a:r>
          </a:p>
          <a:p xmlns:a="http://schemas.openxmlformats.org/drawingml/2006/main">
            <a:r>
              <a:t/>
            </a:r>
          </a:p>
          <a:p xmlns:a="http://schemas.openxmlformats.org/drawingml/2006/main">
            <a:r>
              <a:t>Teacher answer / acceptable response: They should be able to locate components, quantities, costs, sequence and adult checks.</a:t>
            </a:r>
          </a:p>
          <a:p xmlns:a="http://schemas.openxmlformats.org/drawingml/2006/main">
            <a:r>
              <a:t/>
            </a:r>
          </a:p>
          <a:p xmlns:a="http://schemas.openxmlformats.org/drawingml/2006/main">
            <a:r>
              <a:t>Support: BUILD: use three component cards, preprinted amounts, 10p/5p counters or a calculator, and two verdict choices before introducing need evidence. Allow pointing, drawing, oral response and scribing.</a:t>
            </a:r>
          </a:p>
          <a:p xmlns:a="http://schemas.openxmlformats.org/drawingml/2006/main">
            <a:r>
              <a:t/>
            </a:r>
          </a:p>
          <a:p xmlns:a="http://schemas.openxmlformats.org/drawingml/2006/main">
            <a:r>
              <a:t>Stretch: Compare the £1.25 plan with the £1.40 alternative, explain what evidence each needs, then calculate two lunch sets. Derive wrap costs from whole packs if appropriate.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food groups and introduce fictional club.</a:t>
            </a:r>
          </a:p>
          <a:p xmlns:a="http://schemas.openxmlformats.org/drawingml/2006/main">
            <a:r>
              <a:t>6 min: Read brief and choose components.</a:t>
            </a:r>
          </a:p>
          <a:p xmlns:a="http://schemas.openxmlformats.org/drawingml/2006/main">
            <a:r>
              <a:t>7 min: Model 125p cost and alternative.</a:t>
            </a:r>
          </a:p>
          <a:p xmlns:a="http://schemas.openxmlformats.org/drawingml/2006/main">
            <a:r>
              <a:t>12 min: Create a component, cost and safe-order plan.</a:t>
            </a:r>
          </a:p>
          <a:p xmlns:a="http://schemas.openxmlformats.org/drawingml/2006/main">
            <a:r>
              <a:t>6 min: Evaluate against the brief and improve one point.</a:t>
            </a:r>
          </a:p>
          <a:p xmlns:a="http://schemas.openxmlformats.org/drawingml/2006/main">
            <a:r>
              <a:t>4 min: Return cards, clear desks and organise plans.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teaching source: DT_Aut1_W4_FoodWise_Evaluate_Against_a_Brief.pptx</a:t>
            </a:r>
          </a:p>
          <a:p xmlns:a="http://schemas.openxmlformats.org/drawingml/2006/main">
            <a:r>
              <a:t>Uploaded teaching source: DT_Aut1_W4_Log_My_Evaluation.docx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BUILD_FOOD_W6 | Plan a meal to a brief</a:t>
            </a:r>
          </a:p>
          <a:p xmlns:a="http://schemas.openxmlformats.org/drawingml/2006/main">
            <a:r>
              <a:t>Plan a fictional meal using food groups, a budget and safe preparation checks, then evaluate the plan.</a:t>
            </a:r>
          </a:p>
          <a:p xmlns:a="http://schemas.openxmlformats.org/drawingml/2006/main">
            <a:r>
              <a:t/>
            </a:r>
          </a:p>
          <a:p xmlns:a="http://schemas.openxmlformats.org/drawingml/2006/main">
            <a:r>
              <a:t>Use fictional plans if learners prefer; comparisons are about the work, not personal choices.</a:t>
            </a:r>
          </a:p>
          <a:p xmlns:a="http://schemas.openxmlformats.org/drawingml/2006/main">
            <a:r>
              <a:t/>
            </a:r>
          </a:p>
          <a:p xmlns:a="http://schemas.openxmlformats.org/drawingml/2006/main">
            <a:r>
              <a:t>Pupil prompt: “It looks nice” proves which cost or safety checks?</a:t>
            </a:r>
          </a:p>
          <a:p xmlns:a="http://schemas.openxmlformats.org/drawingml/2006/main">
            <a:r>
              <a:t/>
            </a:r>
          </a:p>
          <a:p xmlns:a="http://schemas.openxmlformats.org/drawingml/2006/main">
            <a:r>
              <a:t>Teacher answer / acceptable response: Neither. Use the sum, labels and preparation plan as evidence.</a:t>
            </a:r>
          </a:p>
          <a:p xmlns:a="http://schemas.openxmlformats.org/drawingml/2006/main">
            <a:r>
              <a:t/>
            </a:r>
          </a:p>
          <a:p xmlns:a="http://schemas.openxmlformats.org/drawingml/2006/main">
            <a:r>
              <a:t>Support: BUILD: use three component cards, preprinted amounts, 10p/5p counters or a calculator, and two verdict choices before introducing need evidence. Allow pointing, drawing, oral response and scribing.</a:t>
            </a:r>
          </a:p>
          <a:p xmlns:a="http://schemas.openxmlformats.org/drawingml/2006/main">
            <a:r>
              <a:t/>
            </a:r>
          </a:p>
          <a:p xmlns:a="http://schemas.openxmlformats.org/drawingml/2006/main">
            <a:r>
              <a:t>Stretch: Compare the £1.25 plan with the £1.40 alternative, explain what evidence each needs, then calculate two lunch sets. Derive wrap costs from whole packs if appropriate.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food groups and introduce fictional club.</a:t>
            </a:r>
          </a:p>
          <a:p xmlns:a="http://schemas.openxmlformats.org/drawingml/2006/main">
            <a:r>
              <a:t>6 min: Read brief and choose components.</a:t>
            </a:r>
          </a:p>
          <a:p xmlns:a="http://schemas.openxmlformats.org/drawingml/2006/main">
            <a:r>
              <a:t>7 min: Model 125p cost and alternative.</a:t>
            </a:r>
          </a:p>
          <a:p xmlns:a="http://schemas.openxmlformats.org/drawingml/2006/main">
            <a:r>
              <a:t>12 min: Create a component, cost and safe-order plan.</a:t>
            </a:r>
          </a:p>
          <a:p xmlns:a="http://schemas.openxmlformats.org/drawingml/2006/main">
            <a:r>
              <a:t>6 min: Evaluate against the brief and improve one point.</a:t>
            </a:r>
          </a:p>
          <a:p xmlns:a="http://schemas.openxmlformats.org/drawingml/2006/main">
            <a:r>
              <a:t>4 min: Return cards, clear desks and organise plans.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teaching source: DT_Aut1_W4_FoodWise_Evaluate_Against_a_Brief.pptx</a:t>
            </a:r>
          </a:p>
          <a:p xmlns:a="http://schemas.openxmlformats.org/drawingml/2006/main">
            <a:r>
              <a:t>Uploaded teaching source: DT_Aut1_W4_Log_My_Evaluation.docx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BUILD_FOOD_W6 | Plan a meal to a brief</a:t>
            </a:r>
          </a:p>
          <a:p xmlns:a="http://schemas.openxmlformats.org/drawingml/2006/main">
            <a:r>
              <a:t>Plan a fictional meal using food groups, a budget and safe preparation checks, then evaluate the plan.</a:t>
            </a:r>
          </a:p>
          <a:p xmlns:a="http://schemas.openxmlformats.org/drawingml/2006/main">
            <a:r>
              <a:t/>
            </a:r>
          </a:p>
          <a:p xmlns:a="http://schemas.openxmlformats.org/drawingml/2006/main">
            <a:r>
              <a:t>Accept a clear short answer using a card or adult scribe; no personal disclosure needed.</a:t>
            </a:r>
          </a:p>
          <a:p xmlns:a="http://schemas.openxmlformats.org/drawingml/2006/main">
            <a:r>
              <a:t/>
            </a:r>
          </a:p>
          <a:p xmlns:a="http://schemas.openxmlformats.org/drawingml/2006/main">
            <a:r>
              <a:t>Pupil prompt: What must happen before a paper plan becomes real food?</a:t>
            </a:r>
          </a:p>
          <a:p xmlns:a="http://schemas.openxmlformats.org/drawingml/2006/main">
            <a:r>
              <a:t/>
            </a:r>
          </a:p>
          <a:p xmlns:a="http://schemas.openxmlformats.org/drawingml/2006/main">
            <a:r>
              <a:t>Teacher answer / acceptable response: The adult checks current labels, individual plans, storage, equipment and the school risk assessment.</a:t>
            </a:r>
          </a:p>
          <a:p xmlns:a="http://schemas.openxmlformats.org/drawingml/2006/main">
            <a:r>
              <a:t/>
            </a:r>
          </a:p>
          <a:p xmlns:a="http://schemas.openxmlformats.org/drawingml/2006/main">
            <a:r>
              <a:t>Support: BUILD: use three component cards, preprinted amounts, 10p/5p counters or a calculator, and two verdict choices before introducing need evidence. Allow pointing, drawing, oral response and scribing.</a:t>
            </a:r>
          </a:p>
          <a:p xmlns:a="http://schemas.openxmlformats.org/drawingml/2006/main">
            <a:r>
              <a:t/>
            </a:r>
          </a:p>
          <a:p xmlns:a="http://schemas.openxmlformats.org/drawingml/2006/main">
            <a:r>
              <a:t>Stretch: Compare the £1.25 plan with the £1.40 alternative, explain what evidence each needs, then calculate two lunch sets. Derive wrap costs from whole packs if appropriate.</a:t>
            </a:r>
          </a:p>
          <a:p xmlns:a="http://schemas.openxmlformats.org/drawingml/2006/main">
            <a:r>
              <a:t/>
            </a:r>
          </a:p>
          <a:p xmlns:a="http://schemas.openxmlformats.org/drawingml/2006/main">
            <a:r>
              <a:t>Safeguarding / safety: Check the school risk assessment, pupil food/allergy and swallowing plans privately, and actual ingredient labels before the lesson. Use the school response plan if anyone becomes unwell. An adult approves substitutions and supervises tool work. No tasting or food contact is required: observer, reader or recorder roles count. Never force physical guidance; agree support and use demonstration, adapted tools or adult preparation. Do not record identifiable pupil details in website files.</a:t>
            </a:r>
          </a:p>
          <a:p xmlns:a="http://schemas.openxmlformats.org/drawingml/2006/main">
            <a:r>
              <a:t/>
            </a:r>
          </a:p>
          <a:p xmlns:a="http://schemas.openxmlformats.org/drawingml/2006/main">
            <a:r>
              <a:t>40-minute lesson flow (total for the whole lesson, not each slide):</a:t>
            </a:r>
          </a:p>
          <a:p xmlns:a="http://schemas.openxmlformats.org/drawingml/2006/main">
            <a:r>
              <a:t>3 min: Recall food groups and introduce fictional club.</a:t>
            </a:r>
          </a:p>
          <a:p xmlns:a="http://schemas.openxmlformats.org/drawingml/2006/main">
            <a:r>
              <a:t>6 min: Read brief and choose components.</a:t>
            </a:r>
          </a:p>
          <a:p xmlns:a="http://schemas.openxmlformats.org/drawingml/2006/main">
            <a:r>
              <a:t>7 min: Model 125p cost and alternative.</a:t>
            </a:r>
          </a:p>
          <a:p xmlns:a="http://schemas.openxmlformats.org/drawingml/2006/main">
            <a:r>
              <a:t>12 min: Create a component, cost and safe-order plan.</a:t>
            </a:r>
          </a:p>
          <a:p xmlns:a="http://schemas.openxmlformats.org/drawingml/2006/main">
            <a:r>
              <a:t>6 min: Evaluate against the brief and improve one point.</a:t>
            </a:r>
          </a:p>
          <a:p xmlns:a="http://schemas.openxmlformats.org/drawingml/2006/main">
            <a:r>
              <a:t>4 min: Return cards, clear desks and organise plans.</a:t>
            </a:r>
          </a:p>
          <a:p xmlns:a="http://schemas.openxmlformats.org/drawingml/2006/main">
            <a:r>
              <a:t>2 min: Individual exit check.</a:t>
            </a:r>
          </a:p>
          <a:p xmlns:a="http://schemas.openxmlformats.org/drawingml/2006/main">
            <a:r>
              <a:t/>
            </a:r>
          </a:p>
          <a:p xmlns:a="http://schemas.openxmlformats.org/drawingml/2006/main">
            <a:r>
              <a:t>Adaptation: New Made by Matt pupil wording and tasks based on the listed uploaded teaching materials. Full lesson preparation, fallback, answers and resource sheets are in the Teacher Guide.</a:t>
            </a:r>
          </a:p>
          <a:p xmlns:a="http://schemas.openxmlformats.org/drawingml/2006/main">
            <a:r>
              <a:t/>
            </a:r>
          </a:p>
          <a:p xmlns:a="http://schemas.openxmlformats.org/drawingml/2006/main">
            <a:r>
              <a:t>[Sources]</a:t>
            </a:r>
          </a:p>
          <a:p xmlns:a="http://schemas.openxmlformats.org/drawingml/2006/main">
            <a:r>
              <a:t>Uploaded teaching source: DT_Aut1_W3_FoodWise_Following_a_Recipe.pptx</a:t>
            </a:r>
          </a:p>
          <a:p xmlns:a="http://schemas.openxmlformats.org/drawingml/2006/main">
            <a:r>
              <a:t>Uploaded teaching source: DT_Aut1_W3_Log_My_Recipe_Record.docx</a:t>
            </a:r>
          </a:p>
          <a:p xmlns:a="http://schemas.openxmlformats.org/drawingml/2006/main">
            <a:r>
              <a:t>Uploaded teaching source: DT_Aut1_W4_FoodWise_Evaluate_Against_a_Brief.pptx</a:t>
            </a:r>
          </a:p>
          <a:p xmlns:a="http://schemas.openxmlformats.org/drawingml/2006/main">
            <a:r>
              <a:t>Uploaded teaching source: DT_Aut1_W4_Log_My_Evaluation.docx</a:t>
            </a:r>
          </a:p>
          <a:p xmlns:a="http://schemas.openxmlformats.org/drawingml/2006/main">
            <a:r>
              <a:t>Uploaded FoodWise PowerPoints and process logs, W1–W4 —  — User-supplied source sequence: safety/tools; snack/drink; recipe; evaluation. W5 onwards in this D&amp;T upload moves to textiles. New resources and recipes are original adaptations; no formal ASDAN or AQA attainment claim.</a:t>
            </a:r>
          </a:p>
          <a:p xmlns:a="http://schemas.openxmlformats.org/drawingml/2006/main">
            <a:r>
              <a:t>FSA: Why is cleaning important — https://www.gov.uk/government/publications/why-is-cleaning-important/why-is-cleaning-important — Verified 7 September 2026. Supports hand, surface, utensil and produce-cleaning routines; adult follows cleaning-product instructions.</a:t>
            </a:r>
          </a:p>
          <a:p xmlns:a="http://schemas.openxmlformats.org/drawingml/2006/main">
            <a:r>
              <a:t>FSA: How to chill, freeze and defrost food safely — https://www.gov.uk/government/publications/how-to-chill-freeze-and-defrost-food-safely/how-to-chill-freeze-and-defrost-food-safely — Verified 7 September 2026. Fridge 0–5°C; minimise time out of fridge; follow actual storage and date instructions.</a:t>
            </a:r>
          </a:p>
          <a:p xmlns:a="http://schemas.openxmlformats.org/drawingml/2006/main">
            <a:r>
              <a:t>FSA: Food allergy and intolerance advice for consumers — https://www.gov.uk/government/publications/food-allergy-and-intolerance-advice-for-consumers/food-allergy-and-intolerance-advice-for-consumers — Verified 7 September 2026. Actual ingredients, emphasised allergens, precautionary labels and cross-contact need checking; a plant-based substitute is not automatically suitable.</a:t>
            </a:r>
          </a:p>
          <a:p xmlns:a="http://schemas.openxmlformats.org/drawingml/2006/main">
            <a:r>
              <a:t>FSA: Best before and use-by dates — https://www.gov.uk/understanding-food-labelling/best-before-and-use-by-dates — Verified 7 September 2026. Use-by concerns safety; best before concerns quality. Smell cannot establish safety after a use-by date.</a:t>
            </a:r>
          </a:p>
          <a:p xmlns:a="http://schemas.openxmlformats.org/drawingml/2006/main">
            <a:r>
              <a:t>NHS: The Eatwell Guide — https://www.nhs.uk/live-well/eat-well/food-guidelines-and-food-labels/the-eatwell-guide/ — Verified 7 September 2026. Food-group and combination-food references; variety and balance considered across a day or week, without personal dietary assessment.</a:t>
            </a:r>
          </a:p>
          <a:p xmlns:a="http://schemas.openxmlformats.org/drawingml/2006/main">
            <a:r>
              <a:t>Existing BUILD FoodWise module — https://madebymatt.uk/Lessons/BUILD_ASDAN/FoodWise/START_HERE.html — Six original topics retained at repository snapshot 0e0cd7431974dc45f139aef0b3e428465db4e557. New source upload numbering is recorded separately from existing module lesson numbers.</a:t>
            </a:r>
          </a:p>
          <a:p xmlns:a="http://schemas.openxmlformats.org/drawingml/2006/main">
            <a:r>
              <a:t>Visual reference and approved brand image: GROW Humanities Week 3 deck supplied by Matt; approved-mark SHA-256 f1095531d88d17f20c7464c62887703321a0872f108d3fb78a4afc0226dac2a7.</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d358997bafb49b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ee4a41dfd34ce2" /><Relationship Type="http://schemas.openxmlformats.org/officeDocument/2006/relationships/slideLayout" Target="/ppt/slideLayouts/slideLayout1.xml" Id="Rb62ad65b2d2b4ba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62ad65b2d2b4ba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57d74c732304e63" /><Relationship Type="http://schemas.openxmlformats.org/officeDocument/2006/relationships/image" Target="/ppt/media/image.jpeg" Id="R2ea829fe9670439f" /><Relationship Type="http://schemas.openxmlformats.org/officeDocument/2006/relationships/notesSlide" Target="/ppt/notesSlides/notesSlide1.xml" Id="R68b4c19a0f2349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f84853eaddf46bf" /><Relationship Type="http://schemas.openxmlformats.org/officeDocument/2006/relationships/image" Target="/ppt/media/image.jpeg" Id="Rc3861114ad2541c5" /><Relationship Type="http://schemas.openxmlformats.org/officeDocument/2006/relationships/notesSlide" Target="/ppt/notesSlides/notesSlide2.xml" Id="Rbc3c4a86010a4c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0a5d7019f214360" /><Relationship Type="http://schemas.openxmlformats.org/officeDocument/2006/relationships/image" Target="/ppt/media/image.jpeg" Id="R1e5e3782892f4130" /><Relationship Type="http://schemas.openxmlformats.org/officeDocument/2006/relationships/notesSlide" Target="/ppt/notesSlides/notesSlide3.xml" Id="R4f9403f7fa314e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075a4b823b34b5d" /><Relationship Type="http://schemas.openxmlformats.org/officeDocument/2006/relationships/image" Target="/ppt/media/image.jpeg" Id="R49df4eeb0b6046ea" /><Relationship Type="http://schemas.openxmlformats.org/officeDocument/2006/relationships/notesSlide" Target="/ppt/notesSlides/notesSlide4.xml" Id="R71fdfb9c5b80480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c2aa6efc0494d83" /><Relationship Type="http://schemas.openxmlformats.org/officeDocument/2006/relationships/image" Target="/ppt/media/image.jpeg" Id="R4d41e3ba9fbe4119" /><Relationship Type="http://schemas.openxmlformats.org/officeDocument/2006/relationships/notesSlide" Target="/ppt/notesSlides/notesSlide5.xml" Id="R373331a7be2a46c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78afd69f6cf4d8c" /><Relationship Type="http://schemas.openxmlformats.org/officeDocument/2006/relationships/image" Target="/ppt/media/image.jpeg" Id="Rf56dc7a0ff0d4b7f" /><Relationship Type="http://schemas.openxmlformats.org/officeDocument/2006/relationships/notesSlide" Target="/ppt/notesSlides/notesSlide6.xml" Id="R6fca615f127e40e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7e427a7b2684add" /><Relationship Type="http://schemas.openxmlformats.org/officeDocument/2006/relationships/image" Target="/ppt/media/image.jpeg" Id="R411ff4f468484ec7" /><Relationship Type="http://schemas.openxmlformats.org/officeDocument/2006/relationships/notesSlide" Target="/ppt/notesSlides/notesSlide7.xml" Id="R588ad18c3c284ed0"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111559fd3854069" /><Relationship Type="http://schemas.openxmlformats.org/officeDocument/2006/relationships/image" Target="/ppt/media/image.jpeg" Id="R19c46f34355d4a2f" /><Relationship Type="http://schemas.openxmlformats.org/officeDocument/2006/relationships/notesSlide" Target="/ppt/notesSlides/notesSlide8.xml" Id="R7acfce5bdd3f4b1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4b2af859cf54c20" /><Relationship Type="http://schemas.openxmlformats.org/officeDocument/2006/relationships/image" Target="/ppt/media/image.jpeg" Id="R145420f92e8a4f3d" /><Relationship Type="http://schemas.openxmlformats.org/officeDocument/2006/relationships/notesSlide" Target="/ppt/notesSlides/notesSlide9.xml" Id="R6a3b87e7edd543f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9307aa4a55a4937" /><Relationship Type="http://schemas.openxmlformats.org/officeDocument/2006/relationships/image" Target="/ppt/media/image.jpeg" Id="R37cec3db9aaf470f" /><Relationship Type="http://schemas.openxmlformats.org/officeDocument/2006/relationships/notesSlide" Target="/ppt/notesSlides/notesSlide10.xml" Id="R6669e31ba6f64bd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d50d82a49714c85" /><Relationship Type="http://schemas.openxmlformats.org/officeDocument/2006/relationships/image" Target="/ppt/media/image.jpeg" Id="R8d0d3a23ec754925" /><Relationship Type="http://schemas.openxmlformats.org/officeDocument/2006/relationships/notesSlide" Target="/ppt/notesSlides/notesSlide11.xml" Id="Rbd856bfe549d4b5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9d543bd7c914f22" /><Relationship Type="http://schemas.openxmlformats.org/officeDocument/2006/relationships/image" Target="/ppt/media/image.jpeg" Id="Reb1a68b7b9344ec0" /><Relationship Type="http://schemas.openxmlformats.org/officeDocument/2006/relationships/notesSlide" Target="/ppt/notesSlides/notesSlide12.xml" Id="R85b2e78de825458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acdd0435c234dcd" /><Relationship Type="http://schemas.openxmlformats.org/officeDocument/2006/relationships/image" Target="/ppt/media/image.jpeg" Id="R65739c6332c84b9f" /><Relationship Type="http://schemas.openxmlformats.org/officeDocument/2006/relationships/notesSlide" Target="/ppt/notesSlides/notesSlide13.xml" Id="Rc1782044cbd74757" /></Relationships>
</file>

<file path=ppt/slides/slide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FF33059C-D699-406A-B441-19C747C68274}"/>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6C60FD3-6A44-40DE-AE21-A30370FB7058}"/>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ea829fe9670439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9A60821E-20B2-471A-8BB3-FAA5062856A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Plan a meal to a brief</a:t>
            </a:r>
          </a:p>
        </p:txBody>
      </p:sp>
      <p:sp>
        <p:nvSpPr>
          <p:cNvPr id="5" name="footer-line">
            <a:extLst xmlns:a="http://schemas.openxmlformats.org/drawingml/2006/main">
              <a:ext uri="{FF2B5EF4-FFF2-40B4-BE49-F238E27FC236}">
                <a16:creationId xmlns:a16="http://schemas.microsoft.com/office/drawing/2014/main" id="{7ECBDB34-6F42-48B3-A8D8-B23549269A3B}"/>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57A55C73-0775-456F-A670-A41D2D64087D}"/>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FoodWise</a:t>
            </a:r>
          </a:p>
        </p:txBody>
      </p:sp>
      <p:sp>
        <p:nvSpPr>
          <p:cNvPr id="7" name="page">
            <a:extLst xmlns:a="http://schemas.openxmlformats.org/drawingml/2006/main">
              <a:ext uri="{FF2B5EF4-FFF2-40B4-BE49-F238E27FC236}">
                <a16:creationId xmlns:a16="http://schemas.microsoft.com/office/drawing/2014/main" id="{E496F9D1-14A9-495E-90A4-CC647BFFA0E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01</a:t>
            </a:r>
          </a:p>
        </p:txBody>
      </p:sp>
      <p:sp>
        <p:nvSpPr>
          <p:cNvPr id="8" name="line-0">
            <a:extLst xmlns:a="http://schemas.openxmlformats.org/drawingml/2006/main">
              <a:ext uri="{FF2B5EF4-FFF2-40B4-BE49-F238E27FC236}">
                <a16:creationId xmlns:a16="http://schemas.microsoft.com/office/drawing/2014/main" id="{1904CE6B-201C-449D-A2D1-41ABF2A6C99E}"/>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Plan a cold lunch for a fictional school club.</a:t>
            </a:r>
          </a:p>
        </p:txBody>
      </p:sp>
      <p:sp>
        <p:nvSpPr>
          <p:cNvPr id="9" name="line-1">
            <a:extLst xmlns:a="http://schemas.openxmlformats.org/drawingml/2006/main">
              <a:ext uri="{FF2B5EF4-FFF2-40B4-BE49-F238E27FC236}">
                <a16:creationId xmlns:a16="http://schemas.microsoft.com/office/drawing/2014/main" id="{19B1D911-7359-424D-8EA3-D4E122CC64B2}"/>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Today is a planning and evaluation lesson; no food needs to be handled.</a:t>
            </a:r>
          </a:p>
        </p:txBody>
      </p:sp>
      <p:sp>
        <p:nvSpPr>
          <p:cNvPr id="10" name="line-2">
            <a:extLst xmlns:a="http://schemas.openxmlformats.org/drawingml/2006/main">
              <a:ext uri="{FF2B5EF4-FFF2-40B4-BE49-F238E27FC236}">
                <a16:creationId xmlns:a16="http://schemas.microsoft.com/office/drawing/2014/main" id="{83C46BCB-BF61-4D42-8073-2594DB100C43}"/>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What makes a plan useful to someone else?</a:t>
            </a:r>
          </a:p>
        </p:txBody>
      </p:sp>
    </p:spTree>
    <p:extLst>
      <p:ext uri="{BB962C8B-B14F-4D97-AF65-F5344CB8AC3E}">
        <p14:creationId xmlns:p14="http://schemas.microsoft.com/office/powerpoint/2010/main" val="899261069"/>
      </p:ext>
    </p:extLst>
  </p:cSld>
</p:sld>
</file>

<file path=ppt/slides/slide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E7DE0724-EA72-4F4B-B4C5-B08681026672}"/>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502C8DF0-0717-4986-97B7-E014DEBCFFC6}"/>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c3861114ad2541c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59E6C87B-5402-4355-B222-E838F90EC54F}"/>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Words that help</a:t>
            </a:r>
          </a:p>
        </p:txBody>
      </p:sp>
      <p:sp>
        <p:nvSpPr>
          <p:cNvPr id="5" name="footer-line">
            <a:extLst xmlns:a="http://schemas.openxmlformats.org/drawingml/2006/main">
              <a:ext uri="{FF2B5EF4-FFF2-40B4-BE49-F238E27FC236}">
                <a16:creationId xmlns:a16="http://schemas.microsoft.com/office/drawing/2014/main" id="{FEB7DC22-E996-4F55-8E5D-48916DEA8513}"/>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B0248D2E-0CDA-4C72-92DC-B76196CC251C}"/>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FoodWise</a:t>
            </a:r>
          </a:p>
        </p:txBody>
      </p:sp>
      <p:sp>
        <p:nvSpPr>
          <p:cNvPr id="7" name="page">
            <a:extLst xmlns:a="http://schemas.openxmlformats.org/drawingml/2006/main">
              <a:ext uri="{FF2B5EF4-FFF2-40B4-BE49-F238E27FC236}">
                <a16:creationId xmlns:a16="http://schemas.microsoft.com/office/drawing/2014/main" id="{4D3A6E0D-EE9E-4262-B0CE-A580D9BE95DE}"/>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02</a:t>
            </a:r>
          </a:p>
        </p:txBody>
      </p:sp>
      <p:sp>
        <p:nvSpPr>
          <p:cNvPr id="8" name="left-heading">
            <a:extLst xmlns:a="http://schemas.openxmlformats.org/drawingml/2006/main">
              <a:ext uri="{FF2B5EF4-FFF2-40B4-BE49-F238E27FC236}">
                <a16:creationId xmlns:a16="http://schemas.microsoft.com/office/drawing/2014/main" id="{237F6565-5B9A-4055-8435-0E500C21780C}"/>
              </a:ext>
            </a:extLst>
          </p:cNvPr>
          <p:cNvSpPr>
            <a:spLocks xmlns:a="http://schemas.openxmlformats.org/drawingml/2006/main" noGrp="1"/>
          </p:cNvSpPr>
          <p:nvPr/>
        </p:nvSpPr>
        <p:spPr>
          <a:xfrm xmlns:a="http://schemas.openxmlformats.org/drawingml/2006/main">
            <a:off x="609600" y="2257425"/>
            <a:ext cx="5143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28685E"/>
                </a:solidFill>
                <a:latin typeface="Arial"/>
                <a:ea typeface="Arial"/>
                <a:cs typeface="Arial"/>
              </a:defRPr>
            </a:pPr>
            <a:r>
              <a:rPr sz="2100" b="1">
                <a:solidFill>
                  <a:srgbClr val="28685E"/>
                </a:solidFill>
                <a:latin typeface="Arial"/>
                <a:ea typeface="Arial"/>
                <a:cs typeface="Arial"/>
              </a:rPr>
              <a:t>PLAN</a:t>
            </a:r>
          </a:p>
        </p:txBody>
      </p:sp>
      <p:sp>
        <p:nvSpPr>
          <p:cNvPr id="9" name="right-heading">
            <a:extLst xmlns:a="http://schemas.openxmlformats.org/drawingml/2006/main">
              <a:ext uri="{FF2B5EF4-FFF2-40B4-BE49-F238E27FC236}">
                <a16:creationId xmlns:a16="http://schemas.microsoft.com/office/drawing/2014/main" id="{A08214FC-397C-48F0-80E6-30DF7D9979DB}"/>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100" b="1">
                <a:solidFill>
                  <a:srgbClr val="A65D25"/>
                </a:solidFill>
                <a:latin typeface="Arial"/>
                <a:ea typeface="Arial"/>
                <a:cs typeface="Arial"/>
              </a:defRPr>
            </a:pPr>
            <a:r>
              <a:rPr sz="2100" b="1">
                <a:solidFill>
                  <a:srgbClr val="A65D25"/>
                </a:solidFill>
                <a:latin typeface="Arial"/>
                <a:ea typeface="Arial"/>
                <a:cs typeface="Arial"/>
              </a:rPr>
              <a:t>BUDGET</a:t>
            </a:r>
          </a:p>
        </p:txBody>
      </p:sp>
      <p:sp>
        <p:nvSpPr>
          <p:cNvPr id="10" name="left">
            <a:extLst xmlns:a="http://schemas.openxmlformats.org/drawingml/2006/main">
              <a:ext uri="{FF2B5EF4-FFF2-40B4-BE49-F238E27FC236}">
                <a16:creationId xmlns:a16="http://schemas.microsoft.com/office/drawing/2014/main" id="{8518DEF3-2872-4279-B7C8-6D1831150973}"/>
              </a:ext>
            </a:extLst>
          </p:cNvPr>
          <p:cNvSpPr>
            <a:spLocks xmlns:a="http://schemas.openxmlformats.org/drawingml/2006/main" noGrp="1"/>
          </p:cNvSpPr>
          <p:nvPr/>
        </p:nvSpPr>
        <p:spPr>
          <a:xfrm xmlns:a="http://schemas.openxmlformats.org/drawingml/2006/main">
            <a:off x="609600" y="3238500"/>
            <a:ext cx="51435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Decide steps and resources before making.</a:t>
            </a:r>
          </a:p>
        </p:txBody>
      </p:sp>
      <p:sp>
        <p:nvSpPr>
          <p:cNvPr id="11" name="right">
            <a:extLst xmlns:a="http://schemas.openxmlformats.org/drawingml/2006/main">
              <a:ext uri="{FF2B5EF4-FFF2-40B4-BE49-F238E27FC236}">
                <a16:creationId xmlns:a16="http://schemas.microsoft.com/office/drawing/2014/main" id="{626E5754-F079-4A02-978E-4F8A55CDC1D9}"/>
              </a:ext>
            </a:extLst>
          </p:cNvPr>
          <p:cNvSpPr>
            <a:spLocks xmlns:a="http://schemas.openxmlformats.org/drawingml/2006/main" noGrp="1"/>
          </p:cNvSpPr>
          <p:nvPr/>
        </p:nvSpPr>
        <p:spPr>
          <a:xfrm xmlns:a="http://schemas.openxmlformats.org/drawingml/2006/main">
            <a:off x="6572250" y="3238500"/>
            <a:ext cx="501015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spcAft>
                <a:spcPts val="0"/>
              </a:spcAft>
              <a:buNone/>
            </a:pPr>
            <a:r>
              <a:rPr sz="2400" b="0">
                <a:solidFill>
                  <a:srgbClr val="152B3A"/>
                </a:solidFill>
                <a:latin typeface="Arial"/>
                <a:ea typeface="Arial"/>
                <a:cs typeface="Arial"/>
              </a:rPr>
              <a:t>The money limit for a task.</a:t>
            </a:r>
          </a:p>
        </p:txBody>
      </p:sp>
      <p:sp>
        <p:nvSpPr>
          <p:cNvPr id="14" name="">
            <a:extLst xmlns:a="http://schemas.openxmlformats.org/drawingml/2006/main">
              <a:ext uri="{FF2B5EF4-FFF2-40B4-BE49-F238E27FC236}">
                <a16:creationId xmlns:a16="http://schemas.microsoft.com/office/drawing/2014/main" id="{2ED7A34E-60B9-43D9-A2D4-72E80AFB5450}"/>
              </a:ext>
            </a:extLst>
          </p:cNvPr>
          <p:cNvSpPr>
            <a:spLocks xmlns:a="http://schemas.openxmlformats.org/drawingml/2006/main" noGrp="1"/>
          </p:cNvSpPr>
          <p:nvPr/>
        </p:nvSpPr>
        <p:spPr>
          <a:xfrm xmlns:a="http://schemas.openxmlformats.org/drawingml/2006/main">
            <a:off x="609600" y="2886075"/>
            <a:ext cx="50482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
        <p:nvSpPr>
          <p:cNvPr id="15" name="">
            <a:extLst xmlns:a="http://schemas.openxmlformats.org/drawingml/2006/main">
              <a:ext uri="{FF2B5EF4-FFF2-40B4-BE49-F238E27FC236}">
                <a16:creationId xmlns:a16="http://schemas.microsoft.com/office/drawing/2014/main" id="{EF7D3D05-6E36-4FEA-8679-B33644206819}"/>
              </a:ext>
            </a:extLst>
          </p:cNvPr>
          <p:cNvSpPr>
            <a:spLocks xmlns:a="http://schemas.openxmlformats.org/drawingml/2006/main" noGrp="1"/>
          </p:cNvSpPr>
          <p:nvPr/>
        </p:nvSpPr>
        <p:spPr>
          <a:xfrm xmlns:a="http://schemas.openxmlformats.org/drawingml/2006/main">
            <a:off x="6572250" y="2886075"/>
            <a:ext cx="5010150" cy="0"/>
          </a:xfrm>
          <a:prstGeom xmlns:a="http://schemas.openxmlformats.org/drawingml/2006/main" prst="line">
            <a:avLst/>
          </a:prstGeom>
          <a:noFill xmlns:a="http://schemas.openxmlformats.org/drawingml/2006/main"/>
          <a:ln xmlns:a="http://schemas.openxmlformats.org/drawingml/2006/main" w="28575">
            <a:solidFill>
              <a:srgbClr val="DCE7DD"/>
            </a:solidFill>
            <a:prstDash val="solid"/>
          </a:ln>
        </p:spPr>
      </p:sp>
    </p:spTree>
    <p:extLst>
      <p:ext uri="{BB962C8B-B14F-4D97-AF65-F5344CB8AC3E}">
        <p14:creationId xmlns:p14="http://schemas.microsoft.com/office/powerpoint/2010/main" val="750140657"/>
      </p:ext>
    </p:extLst>
  </p:cSld>
</p:sld>
</file>

<file path=ppt/slides/slide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e5e3782892f413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The club’s brief</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Plan one cold lunch set: a wrap, a piece of fruit and a yoghurt or adult-approved alternative.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the supplied ingredients, with an illustrative ingredients-used cost of no more than £1.50.</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Show label checks, chilled storage and a clear making order.</a:t>
            </a:r>
          </a:p>
        </p:txBody>
      </p:sp>
    </p:spTree>
    <p:extLst>
      <p:ext uri="{BB962C8B-B14F-4D97-AF65-F5344CB8AC3E}">
        <p14:creationId xmlns:p14="http://schemas.microsoft.com/office/powerpoint/2010/main" val="289928415"/>
      </p:ext>
    </p:extLst>
  </p:cSld>
</p:sld>
</file>

<file path=ppt/slides/slide4.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9df4eeb0b6046ea"/>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The club’s brief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04</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Which part of the brief is a money limit?</a:t>
            </a:r>
          </a:p>
        </p:txBody>
      </p:sp>
    </p:spTree>
    <p:extLst>
      <p:ext uri="{BB962C8B-B14F-4D97-AF65-F5344CB8AC3E}">
        <p14:creationId xmlns:p14="http://schemas.microsoft.com/office/powerpoint/2010/main" val="289928415"/>
      </p:ext>
    </p:extLst>
  </p:cSld>
</p:sld>
</file>

<file path=ppt/slides/slide5.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4d41e3ba9fbe4119"/>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Choose and name components</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05</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Wrap: tortilla, chickpeas, cucumber and soft cheese.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Sides: one apple and one plain yoghurt pot.</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Water can be served alongside; check the full ingredient labels before real use.</a:t>
            </a:r>
          </a:p>
        </p:txBody>
      </p:sp>
    </p:spTree>
    <p:extLst>
      <p:ext uri="{BB962C8B-B14F-4D97-AF65-F5344CB8AC3E}">
        <p14:creationId xmlns:p14="http://schemas.microsoft.com/office/powerpoint/2010/main" val="289928415"/>
      </p:ext>
    </p:extLst>
  </p:cSld>
</p:sld>
</file>

<file path=ppt/slides/slide6.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56dc7a0ff0d4b7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Choose and name components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06</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Which food group does each wrap ingredient belong to?</a:t>
            </a:r>
          </a:p>
        </p:txBody>
      </p:sp>
    </p:spTree>
    <p:extLst>
      <p:ext uri="{BB962C8B-B14F-4D97-AF65-F5344CB8AC3E}">
        <p14:creationId xmlns:p14="http://schemas.microsoft.com/office/powerpoint/2010/main" val="289928415"/>
      </p:ext>
    </p:extLst>
  </p:cSld>
</p:sld>
</file>

<file path=ppt/slides/slide7.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11ff4f468484ec7"/>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Add the given costs</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07</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Invented classroom costs: wrap 70p, apple 30p, yoghurt 25p.</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70p + 30p + 25p = 125p = £1.25.</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The brief allows £1.50, so 25p remains.</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Would two wraps plus these sides fit the same £1.50 limit?</a:t>
            </a:r>
          </a:p>
        </p:txBody>
      </p:sp>
    </p:spTree>
    <p:extLst>
      <p:ext uri="{BB962C8B-B14F-4D97-AF65-F5344CB8AC3E}">
        <p14:creationId xmlns:p14="http://schemas.microsoft.com/office/powerpoint/2010/main" val="1732344281"/>
      </p:ext>
    </p:extLst>
  </p:cSld>
</p:sld>
</file>

<file path=ppt/slides/slide8.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19c46f34355d4a2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Check the changed plan</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08</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An alternative yoghurt costs 40p in this classroom example.</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The adult has not yet checked its actual ingredients.</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Can the plan be approved yet?</a:t>
            </a:r>
          </a:p>
        </p:txBody>
      </p:sp>
    </p:spTree>
    <p:extLst>
      <p:ext uri="{BB962C8B-B14F-4D97-AF65-F5344CB8AC3E}">
        <p14:creationId xmlns:p14="http://schemas.microsoft.com/office/powerpoint/2010/main" val="289928415"/>
      </p:ext>
    </p:extLst>
  </p:cSld>
</p:sld>
</file>

<file path=ppt/slides/slide9.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145420f92e8a4f3d"/>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Make a workable order</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09</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A: Measure and mash chickpeas; mix in soft cheese.</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B: Check labels and complete the hygiene routine.</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 Add prepared cucumber, fold, serve promptly or cover and chill.</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Put A, B and C in order.</a:t>
            </a:r>
          </a:p>
        </p:txBody>
      </p:sp>
    </p:spTree>
    <p:extLst>
      <p:ext uri="{BB962C8B-B14F-4D97-AF65-F5344CB8AC3E}">
        <p14:creationId xmlns:p14="http://schemas.microsoft.com/office/powerpoint/2010/main" val="1732344281"/>
      </p:ext>
    </p:extLst>
  </p:cSld>
</p:sld>
</file>

<file path=ppt/slides/slide10.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37cec3db9aaf470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Build the lunch plan</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10</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Draw or place a wrap, apple and yoghurt on your plan. Add amounts and costs from the cards.</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Write or say who reads, measures and checks.</a:t>
            </a:r>
          </a:p>
        </p:txBody>
      </p:sp>
      <p:sp>
        <p:nvSpPr>
          <p:cNvPr id="10" name="line-2">
            <a:extLst xmlns:a="http://schemas.openxmlformats.org/drawingml/2006/main">
              <a:ext uri="{FF2B5EF4-FFF2-40B4-BE49-F238E27FC236}">
                <a16:creationId xmlns:a16="http://schemas.microsoft.com/office/drawing/2014/main" id="{DE91EC5A-D5D3-4A7F-B366-363E94EC0692}"/>
              </a:ext>
            </a:extLst>
          </p:cNvPr>
          <p:cNvSpPr>
            <a:spLocks xmlns:a="http://schemas.openxmlformats.org/drawingml/2006/main" noGrp="1"/>
          </p:cNvSpPr>
          <p:nvPr/>
        </p:nvSpPr>
        <p:spPr>
          <a:xfrm xmlns:a="http://schemas.openxmlformats.org/drawingml/2006/main">
            <a:off x="609600" y="44005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Circle where the adult label check and chilled storage happen.</a:t>
            </a:r>
          </a:p>
        </p:txBody>
      </p:sp>
    </p:spTree>
    <p:extLst>
      <p:ext uri="{BB962C8B-B14F-4D97-AF65-F5344CB8AC3E}">
        <p14:creationId xmlns:p14="http://schemas.microsoft.com/office/powerpoint/2010/main" val="289928415"/>
      </p:ext>
    </p:extLst>
  </p:cSld>
</p:sld>
</file>

<file path=ppt/slides/slide11.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d0d3a23ec754925"/>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Build the lunch plan — continued</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11</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Can a partner follow your plan without guessing?</a:t>
            </a:r>
          </a:p>
        </p:txBody>
      </p:sp>
    </p:spTree>
    <p:extLst>
      <p:ext uri="{BB962C8B-B14F-4D97-AF65-F5344CB8AC3E}">
        <p14:creationId xmlns:p14="http://schemas.microsoft.com/office/powerpoint/2010/main" val="289928415"/>
      </p:ext>
    </p:extLst>
  </p:cSld>
</p:sld>
</file>

<file path=ppt/slides/slide12.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2" name="top-rule">
            <a:extLst xmlns:a="http://schemas.openxmlformats.org/drawingml/2006/main">
              <a:ext uri="{FF2B5EF4-FFF2-40B4-BE49-F238E27FC236}">
                <a16:creationId xmlns:a16="http://schemas.microsoft.com/office/drawing/2014/main" id="{AC36C9DA-4E70-4CC2-832A-638F33CF7DBA}"/>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2B621CA2-1E2F-4522-BE84-6130E41B7A79}"/>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eb1a68b7b9344ec0"/>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2FECA8C6-1679-4927-9628-13381B8D7D98}"/>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Evaluate and improve</a:t>
            </a:r>
          </a:p>
        </p:txBody>
      </p:sp>
      <p:sp>
        <p:nvSpPr>
          <p:cNvPr id="5" name="footer-line">
            <a:extLst xmlns:a="http://schemas.openxmlformats.org/drawingml/2006/main">
              <a:ext uri="{FF2B5EF4-FFF2-40B4-BE49-F238E27FC236}">
                <a16:creationId xmlns:a16="http://schemas.microsoft.com/office/drawing/2014/main" id="{2CE48676-E6C8-4862-87D8-F9575AB04AEA}"/>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C6C9AB5-F8AE-4FC1-B494-5FDE4501AE02}"/>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FoodWise</a:t>
            </a:r>
          </a:p>
        </p:txBody>
      </p:sp>
      <p:sp>
        <p:nvSpPr>
          <p:cNvPr id="7" name="page">
            <a:extLst xmlns:a="http://schemas.openxmlformats.org/drawingml/2006/main">
              <a:ext uri="{FF2B5EF4-FFF2-40B4-BE49-F238E27FC236}">
                <a16:creationId xmlns:a16="http://schemas.microsoft.com/office/drawing/2014/main" id="{D013F926-89F5-443E-8D42-FFB28F819056}"/>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12</a:t>
            </a:r>
          </a:p>
        </p:txBody>
      </p:sp>
      <p:sp>
        <p:nvSpPr>
          <p:cNvPr id="8" name="line-0">
            <a:extLst xmlns:a="http://schemas.openxmlformats.org/drawingml/2006/main">
              <a:ext uri="{FF2B5EF4-FFF2-40B4-BE49-F238E27FC236}">
                <a16:creationId xmlns:a16="http://schemas.microsoft.com/office/drawing/2014/main" id="{6EE58552-675C-48BC-812E-F1FAE5D91F95}"/>
              </a:ext>
            </a:extLst>
          </p:cNvPr>
          <p:cNvSpPr>
            <a:spLocks xmlns:a="http://schemas.openxmlformats.org/drawingml/2006/main" noGrp="1"/>
          </p:cNvSpPr>
          <p:nvPr/>
        </p:nvSpPr>
        <p:spPr>
          <a:xfrm xmlns:a="http://schemas.openxmlformats.org/drawingml/2006/main">
            <a:off x="609600" y="23050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Check: required components, cost limit, safe plan and clear order.</a:t>
            </a:r>
          </a:p>
        </p:txBody>
      </p:sp>
      <p:sp>
        <p:nvSpPr>
          <p:cNvPr id="9" name="line-1">
            <a:extLst xmlns:a="http://schemas.openxmlformats.org/drawingml/2006/main">
              <a:ext uri="{FF2B5EF4-FFF2-40B4-BE49-F238E27FC236}">
                <a16:creationId xmlns:a16="http://schemas.microsoft.com/office/drawing/2014/main" id="{A355BD32-E3FF-40A0-81DD-AE6072281255}"/>
              </a:ext>
            </a:extLst>
          </p:cNvPr>
          <p:cNvSpPr>
            <a:spLocks xmlns:a="http://schemas.openxmlformats.org/drawingml/2006/main" noGrp="1"/>
          </p:cNvSpPr>
          <p:nvPr/>
        </p:nvSpPr>
        <p:spPr>
          <a:xfrm xmlns:a="http://schemas.openxmlformats.org/drawingml/2006/main">
            <a:off x="609600" y="31432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Use met, not yet or need evidence with a reason.</a:t>
            </a:r>
          </a:p>
        </p:txBody>
      </p:sp>
      <p:sp>
        <p:nvSpPr>
          <p:cNvPr id="10" name="line-2">
            <a:extLst xmlns:a="http://schemas.openxmlformats.org/drawingml/2006/main">
              <a:ext uri="{FF2B5EF4-FFF2-40B4-BE49-F238E27FC236}">
                <a16:creationId xmlns:a16="http://schemas.microsoft.com/office/drawing/2014/main" id="{D2D25638-6343-4898-B8CB-94E2C6C4CA00}"/>
              </a:ext>
            </a:extLst>
          </p:cNvPr>
          <p:cNvSpPr>
            <a:spLocks xmlns:a="http://schemas.openxmlformats.org/drawingml/2006/main" noGrp="1"/>
          </p:cNvSpPr>
          <p:nvPr/>
        </p:nvSpPr>
        <p:spPr>
          <a:xfrm xmlns:a="http://schemas.openxmlformats.org/drawingml/2006/main">
            <a:off x="609600" y="39814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Change one weak point, then check it again.</a:t>
            </a:r>
          </a:p>
        </p:txBody>
      </p:sp>
      <p:sp>
        <p:nvSpPr>
          <p:cNvPr id="11" name="line-3">
            <a:extLst xmlns:a="http://schemas.openxmlformats.org/drawingml/2006/main">
              <a:ext uri="{FF2B5EF4-FFF2-40B4-BE49-F238E27FC236}">
                <a16:creationId xmlns:a16="http://schemas.microsoft.com/office/drawing/2014/main" id="{40F602E6-C104-4075-B81C-17CC05E2ED66}"/>
              </a:ext>
            </a:extLst>
          </p:cNvPr>
          <p:cNvSpPr>
            <a:spLocks xmlns:a="http://schemas.openxmlformats.org/drawingml/2006/main" noGrp="1"/>
          </p:cNvSpPr>
          <p:nvPr/>
        </p:nvSpPr>
        <p:spPr>
          <a:xfrm xmlns:a="http://schemas.openxmlformats.org/drawingml/2006/main">
            <a:off x="609600" y="4819650"/>
            <a:ext cx="10972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1">
                <a:solidFill>
                  <a:srgbClr val="28685E"/>
                </a:solidFill>
                <a:latin typeface="Arial"/>
                <a:ea typeface="Arial"/>
                <a:cs typeface="Arial"/>
              </a:defRPr>
            </a:pPr>
            <a:r>
              <a:rPr sz="2550" b="1">
                <a:solidFill>
                  <a:srgbClr val="28685E"/>
                </a:solidFill>
                <a:latin typeface="Arial"/>
                <a:ea typeface="Arial"/>
                <a:cs typeface="Arial"/>
              </a:rPr>
              <a:t>“It looks nice” proves which cost or safety checks?</a:t>
            </a:r>
          </a:p>
        </p:txBody>
      </p:sp>
    </p:spTree>
    <p:extLst>
      <p:ext uri="{BB962C8B-B14F-4D97-AF65-F5344CB8AC3E}">
        <p14:creationId xmlns:p14="http://schemas.microsoft.com/office/powerpoint/2010/main" val="1732344281"/>
      </p:ext>
    </p:extLst>
  </p:cSld>
</p:sld>
</file>

<file path=ppt/slides/slide13.xml><?xml version="1.0" encoding="utf-8"?>
<p:sld xmlns:p="http://schemas.openxmlformats.org/presentationml/2006/main">
  <p:cSld>
    <p:bg>
      <p:bgPr>
        <a:solidFill xmlns:a="http://schemas.openxmlformats.org/drawingml/2006/main">
          <a:srgbClr val="FBF9F3"/>
        </a:solidFill>
      </p:bgPr>
    </p:bg>
    <p:spTree>
      <p:nvGrpSpPr>
        <p:cNvPr id="1" name=""/>
        <p:cNvGrpSpPr/>
        <p:nvPr/>
      </p:nvGrpSpPr>
      <p:grpSpPr>
        <a:xfrm xmlns:a="http://schemas.openxmlformats.org/drawingml/2006/main"/>
      </p:grpSpPr>
      <p:sp>
        <p:nvSpPr>
          <p:cNvPr id="11" name="top-rule">
            <a:extLst xmlns:a="http://schemas.openxmlformats.org/drawingml/2006/main">
              <a:ext uri="{FF2B5EF4-FFF2-40B4-BE49-F238E27FC236}">
                <a16:creationId xmlns:a16="http://schemas.microsoft.com/office/drawing/2014/main" id="{32FC33A1-19E9-485D-B622-53CFE200A519}"/>
              </a:ext>
            </a:extLst>
          </p:cNvPr>
          <p:cNvSpPr>
            <a:spLocks xmlns:a="http://schemas.openxmlformats.org/drawingml/2006/main" noGrp="1"/>
          </p:cNvSpPr>
          <p:nvPr/>
        </p:nvSpPr>
        <p:spPr>
          <a:xfrm xmlns:a="http://schemas.openxmlformats.org/drawingml/2006/main">
            <a:off x="609600" y="742950"/>
            <a:ext cx="9906000" cy="38100"/>
          </a:xfrm>
          <a:prstGeom xmlns:a="http://schemas.openxmlformats.org/drawingml/2006/main" prst="rect">
            <a:avLst/>
          </a:prstGeom>
          <a:solidFill xmlns:a="http://schemas.openxmlformats.org/drawingml/2006/main">
            <a:srgbClr val="28685E"/>
          </a:solidFill>
          <a:ln xmlns:a="http://schemas.openxmlformats.org/drawingml/2006/main" w="0">
            <a:noFill/>
            <a:prstDash val="solid"/>
          </a:ln>
        </p:spPr>
      </p:sp>
      <p:sp>
        <p:nvSpPr>
          <p:cNvPr id="2" name="brand">
            <a:extLst xmlns:a="http://schemas.openxmlformats.org/drawingml/2006/main">
              <a:ext uri="{FF2B5EF4-FFF2-40B4-BE49-F238E27FC236}">
                <a16:creationId xmlns:a16="http://schemas.microsoft.com/office/drawing/2014/main" id="{9C0A2927-4B06-4B12-827A-74854258EEE2}"/>
              </a:ext>
            </a:extLst>
          </p:cNvPr>
          <p:cNvSpPr>
            <a:spLocks xmlns:a="http://schemas.openxmlformats.org/drawingml/2006/main" noGrp="1"/>
          </p:cNvSpPr>
          <p:nvPr/>
        </p:nvSpPr>
        <p:spPr>
          <a:xfrm xmlns:a="http://schemas.openxmlformats.org/drawingml/2006/main">
            <a:off x="609600" y="342900"/>
            <a:ext cx="933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425" b="1">
                <a:solidFill>
                  <a:srgbClr val="28685E"/>
                </a:solidFill>
                <a:latin typeface="Arial"/>
                <a:ea typeface="Arial"/>
                <a:cs typeface="Arial"/>
              </a:defRPr>
            </a:pPr>
            <a:r>
              <a:rPr sz="1425" b="1">
                <a:solidFill>
                  <a:srgbClr val="28685E"/>
                </a:solidFill>
                <a:latin typeface="Arial"/>
                <a:ea typeface="Arial"/>
                <a:cs typeface="Arial"/>
              </a:rPr>
              <a:t>MADE BY MATT  /  BUILD FOODWISE</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65739c6332c84b9f"/>
          <a:stretch xmlns:a="http://schemas.openxmlformats.org/drawingml/2006/main"/>
        </p:blipFill>
        <p:spPr>
          <a:xfrm xmlns:a="http://schemas.openxmlformats.org/drawingml/2006/main">
            <a:off x="10801350" y="438150"/>
            <a:ext cx="781050" cy="781050"/>
          </a:xfrm>
          <a:prstGeom xmlns:a="http://schemas.openxmlformats.org/drawingml/2006/main" prst="rect">
            <a:avLst/>
          </a:prstGeom>
        </p:spPr>
      </p:pic>
      <p:sp>
        <p:nvSpPr>
          <p:cNvPr id="4" name="title">
            <a:extLst xmlns:a="http://schemas.openxmlformats.org/drawingml/2006/main">
              <a:ext uri="{FF2B5EF4-FFF2-40B4-BE49-F238E27FC236}">
                <a16:creationId xmlns:a16="http://schemas.microsoft.com/office/drawing/2014/main" id="{1890C2AB-A585-439A-A531-4819FD440A5B}"/>
              </a:ext>
            </a:extLst>
          </p:cNvPr>
          <p:cNvSpPr>
            <a:spLocks xmlns:a="http://schemas.openxmlformats.org/drawingml/2006/main" noGrp="1"/>
          </p:cNvSpPr>
          <p:nvPr/>
        </p:nvSpPr>
        <p:spPr>
          <a:xfrm xmlns:a="http://schemas.openxmlformats.org/drawingml/2006/main">
            <a:off x="609600" y="1047750"/>
            <a:ext cx="109728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3600" b="1">
                <a:solidFill>
                  <a:srgbClr val="152B3A"/>
                </a:solidFill>
                <a:latin typeface="Arial"/>
                <a:ea typeface="Arial"/>
                <a:cs typeface="Arial"/>
              </a:defRPr>
            </a:pPr>
            <a:r>
              <a:rPr sz="3600" b="1">
                <a:solidFill>
                  <a:srgbClr val="152B3A"/>
                </a:solidFill>
                <a:latin typeface="Arial"/>
                <a:ea typeface="Arial"/>
                <a:cs typeface="Arial"/>
              </a:rPr>
              <a:t>A plan you can test</a:t>
            </a:r>
          </a:p>
        </p:txBody>
      </p:sp>
      <p:sp>
        <p:nvSpPr>
          <p:cNvPr id="5" name="footer-line">
            <a:extLst xmlns:a="http://schemas.openxmlformats.org/drawingml/2006/main">
              <a:ext uri="{FF2B5EF4-FFF2-40B4-BE49-F238E27FC236}">
                <a16:creationId xmlns:a16="http://schemas.microsoft.com/office/drawing/2014/main" id="{5F9BB920-4327-4B67-BA9F-1733E9B20A38}"/>
              </a:ext>
            </a:extLst>
          </p:cNvPr>
          <p:cNvSpPr>
            <a:spLocks xmlns:a="http://schemas.openxmlformats.org/drawingml/2006/main" noGrp="1"/>
          </p:cNvSpPr>
          <p:nvPr/>
        </p:nvSpPr>
        <p:spPr>
          <a:xfrm xmlns:a="http://schemas.openxmlformats.org/drawingml/2006/main">
            <a:off x="609600" y="6219825"/>
            <a:ext cx="10972800" cy="9525"/>
          </a:xfrm>
          <a:prstGeom xmlns:a="http://schemas.openxmlformats.org/drawingml/2006/main" prst="rect">
            <a:avLst/>
          </a:prstGeom>
          <a:solidFill xmlns:a="http://schemas.openxmlformats.org/drawingml/2006/main">
            <a:srgbClr val="DCE7DD"/>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F9D4C09-C878-403A-8175-3E536C0D2B24}"/>
              </a:ext>
            </a:extLst>
          </p:cNvPr>
          <p:cNvSpPr>
            <a:spLocks xmlns:a="http://schemas.openxmlformats.org/drawingml/2006/main" noGrp="1"/>
          </p:cNvSpPr>
          <p:nvPr/>
        </p:nvSpPr>
        <p:spPr>
          <a:xfrm xmlns:a="http://schemas.openxmlformats.org/drawingml/2006/main">
            <a:off x="609600" y="6381750"/>
            <a:ext cx="990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200" b="0">
                <a:solidFill>
                  <a:srgbClr val="50616B"/>
                </a:solidFill>
                <a:latin typeface="Arial"/>
                <a:ea typeface="Arial"/>
                <a:cs typeface="Arial"/>
              </a:defRPr>
            </a:pPr>
            <a:r>
              <a:rPr sz="1200" b="0">
                <a:solidFill>
                  <a:srgbClr val="50616B"/>
                </a:solidFill>
                <a:latin typeface="Arial"/>
                <a:ea typeface="Arial"/>
                <a:cs typeface="Arial"/>
              </a:rPr>
              <a:t>Autumn 1 · Week 6 · FoodWise</a:t>
            </a:r>
          </a:p>
        </p:txBody>
      </p:sp>
      <p:sp>
        <p:nvSpPr>
          <p:cNvPr id="7" name="page">
            <a:extLst xmlns:a="http://schemas.openxmlformats.org/drawingml/2006/main">
              <a:ext uri="{FF2B5EF4-FFF2-40B4-BE49-F238E27FC236}">
                <a16:creationId xmlns:a16="http://schemas.microsoft.com/office/drawing/2014/main" id="{DD965AFA-C423-4657-BE3B-3CA14C58E392}"/>
              </a:ext>
            </a:extLst>
          </p:cNvPr>
          <p:cNvSpPr>
            <a:spLocks xmlns:a="http://schemas.openxmlformats.org/drawingml/2006/main" noGrp="1"/>
          </p:cNvSpPr>
          <p:nvPr/>
        </p:nvSpPr>
        <p:spPr>
          <a:xfrm xmlns:a="http://schemas.openxmlformats.org/drawingml/2006/main">
            <a:off x="11106150" y="6362700"/>
            <a:ext cx="476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1350" b="1">
                <a:solidFill>
                  <a:srgbClr val="28685E"/>
                </a:solidFill>
                <a:latin typeface="Arial"/>
                <a:ea typeface="Arial"/>
                <a:cs typeface="Arial"/>
              </a:defRPr>
            </a:pPr>
            <a:r>
              <a:rPr sz="1350" b="1">
                <a:solidFill>
                  <a:srgbClr val="28685E"/>
                </a:solidFill>
                <a:latin typeface="Arial"/>
                <a:ea typeface="Arial"/>
                <a:cs typeface="Arial"/>
              </a:rPr>
              <a:t>13</a:t>
            </a:r>
          </a:p>
        </p:txBody>
      </p:sp>
      <p:sp>
        <p:nvSpPr>
          <p:cNvPr id="8" name="line-0">
            <a:extLst xmlns:a="http://schemas.openxmlformats.org/drawingml/2006/main">
              <a:ext uri="{FF2B5EF4-FFF2-40B4-BE49-F238E27FC236}">
                <a16:creationId xmlns:a16="http://schemas.microsoft.com/office/drawing/2014/main" id="{8DDAA2C7-8457-4D52-80C0-C0381F70AEB4}"/>
              </a:ext>
            </a:extLst>
          </p:cNvPr>
          <p:cNvSpPr>
            <a:spLocks xmlns:a="http://schemas.openxmlformats.org/drawingml/2006/main" noGrp="1"/>
          </p:cNvSpPr>
          <p:nvPr/>
        </p:nvSpPr>
        <p:spPr>
          <a:xfrm xmlns:a="http://schemas.openxmlformats.org/drawingml/2006/main">
            <a:off x="609600" y="230505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Finish: “My plan meets ___ because ___.”</a:t>
            </a:r>
          </a:p>
        </p:txBody>
      </p:sp>
      <p:sp>
        <p:nvSpPr>
          <p:cNvPr id="9" name="line-1">
            <a:extLst xmlns:a="http://schemas.openxmlformats.org/drawingml/2006/main">
              <a:ext uri="{FF2B5EF4-FFF2-40B4-BE49-F238E27FC236}">
                <a16:creationId xmlns:a16="http://schemas.microsoft.com/office/drawing/2014/main" id="{4D03E454-F87E-4932-9ED2-E68D36EC599D}"/>
              </a:ext>
            </a:extLst>
          </p:cNvPr>
          <p:cNvSpPr>
            <a:spLocks xmlns:a="http://schemas.openxmlformats.org/drawingml/2006/main" noGrp="1"/>
          </p:cNvSpPr>
          <p:nvPr/>
        </p:nvSpPr>
        <p:spPr>
          <a:xfrm xmlns:a="http://schemas.openxmlformats.org/drawingml/2006/main">
            <a:off x="609600" y="3352800"/>
            <a:ext cx="1097280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buNone/>
              <a:defRPr sz="2550" b="0">
                <a:solidFill>
                  <a:srgbClr val="152B3A"/>
                </a:solidFill>
                <a:latin typeface="Arial"/>
                <a:ea typeface="Arial"/>
                <a:cs typeface="Arial"/>
              </a:defRPr>
            </a:pPr>
            <a:r>
              <a:rPr sz="2550" b="0">
                <a:solidFill>
                  <a:srgbClr val="152B3A"/>
                </a:solidFill>
                <a:latin typeface="Arial"/>
                <a:ea typeface="Arial"/>
                <a:cs typeface="Arial"/>
              </a:rPr>
              <a:t>What must happen before a paper plan becomes real food?</a:t>
            </a:r>
          </a:p>
        </p:txBody>
      </p:sp>
    </p:spTree>
    <p:extLst>
      <p:ext uri="{BB962C8B-B14F-4D97-AF65-F5344CB8AC3E}">
        <p14:creationId xmlns:p14="http://schemas.microsoft.com/office/powerpoint/2010/main" val="2899284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2026-09-07T12:32:13.7850000Z</dcterms:created>
  <dcterms:modified xsi:type="dcterms:W3CDTF">2026-09-07T12:32:13.7850000Z</dcterms:modified>
</coreProperties>
</file>