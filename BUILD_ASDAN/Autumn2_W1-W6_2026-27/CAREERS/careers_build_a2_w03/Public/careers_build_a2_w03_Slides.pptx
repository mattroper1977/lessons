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578109679d014ab3"/><Relationship Type="http://schemas.openxmlformats.org/officeDocument/2006/relationships/extended-properties" Target="/docProps/app.xml" Id="R6d0b35dbd49e4597"/><Relationship Type="http://schemas.openxmlformats.org/officeDocument/2006/relationships/officeDocument" Target="/ppt/presentation.xml" Id="R84bfadc33b9e4a47"/></Relationships>
</file>

<file path=ppt/presentation.xml><?xml version="1.0" encoding="utf-8"?>
<p:presentation xmlns:p="http://schemas.openxmlformats.org/presentationml/2006/main">
  <p:sldMasterIdLst>
    <p:sldMasterId xmlns:r="http://schemas.openxmlformats.org/officeDocument/2006/relationships" id="2147483648" r:id="Ra5d1991ebb654787"/>
  </p:sldMasterIdLst>
  <p:notesMasterIdLst>
    <p:notesMasterId xmlns:r="http://schemas.openxmlformats.org/officeDocument/2006/relationships" r:id="R189a45bd57984379"/>
  </p:notesMasterIdLst>
  <p:sldIdLst>
    <p:sldId xmlns:r="http://schemas.openxmlformats.org/officeDocument/2006/relationships" id="256" r:id="R26d309d888114bc4"/>
    <p:sldId xmlns:r="http://schemas.openxmlformats.org/officeDocument/2006/relationships" id="257" r:id="R58415b16e5a2421c"/>
    <p:sldId xmlns:r="http://schemas.openxmlformats.org/officeDocument/2006/relationships" id="258" r:id="R7dffc24d783f41bf"/>
    <p:sldId xmlns:r="http://schemas.openxmlformats.org/officeDocument/2006/relationships" id="259" r:id="R1797e7f79f4e4281"/>
    <p:sldId xmlns:r="http://schemas.openxmlformats.org/officeDocument/2006/relationships" id="260" r:id="R2483dad43b1e485a"/>
    <p:sldId xmlns:r="http://schemas.openxmlformats.org/officeDocument/2006/relationships" id="261" r:id="R22a062c74b204203"/>
    <p:sldId xmlns:r="http://schemas.openxmlformats.org/officeDocument/2006/relationships" id="262" r:id="R9dbb069d6bef474b"/>
    <p:sldId xmlns:r="http://schemas.openxmlformats.org/officeDocument/2006/relationships" id="263" r:id="R206eb5b0d2e24453"/>
    <p:sldId xmlns:r="http://schemas.openxmlformats.org/officeDocument/2006/relationships" id="264" r:id="R784b44b1a37b414f"/>
    <p:sldId xmlns:r="http://schemas.openxmlformats.org/officeDocument/2006/relationships" id="265" r:id="R5acb9ae51ab2489a"/>
    <p:sldId xmlns:r="http://schemas.openxmlformats.org/officeDocument/2006/relationships" id="266" r:id="Rb4e14a5bd32940d8"/>
    <p:sldId xmlns:r="http://schemas.openxmlformats.org/officeDocument/2006/relationships" id="267" r:id="R3c023340578c43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c0124dcb0ae84bd9"/><Relationship Type="http://schemas.openxmlformats.org/officeDocument/2006/relationships/slideMaster" Target="/ppt/slideMasters/slideMaster1.xml" Id="Ra5d1991ebb654787"/><Relationship Type="http://schemas.openxmlformats.org/officeDocument/2006/relationships/notesMaster" Target="/ppt/notesMasters/notesMaster1.xml" Id="R189a45bd57984379"/><Relationship Type="http://schemas.openxmlformats.org/officeDocument/2006/relationships/presProps" Target="/ppt/presProps.xml" Id="R8f9f9d14b8fa4f1f"/><Relationship Type="http://schemas.openxmlformats.org/officeDocument/2006/relationships/tableStyles" Target="/ppt/tableStyles.xml" Id="Rcf03fb42b9214a90"/><Relationship Type="http://schemas.openxmlformats.org/officeDocument/2006/relationships/slide" Target="/ppt/slides/slide1.xml" Id="R26d309d888114bc4"/><Relationship Type="http://schemas.openxmlformats.org/officeDocument/2006/relationships/slide" Target="/ppt/slides/slide2.xml" Id="R58415b16e5a2421c"/><Relationship Type="http://schemas.openxmlformats.org/officeDocument/2006/relationships/slide" Target="/ppt/slides/slide3.xml" Id="R7dffc24d783f41bf"/><Relationship Type="http://schemas.openxmlformats.org/officeDocument/2006/relationships/slide" Target="/ppt/slides/slide4.xml" Id="R1797e7f79f4e4281"/><Relationship Type="http://schemas.openxmlformats.org/officeDocument/2006/relationships/slide" Target="/ppt/slides/slide5.xml" Id="R2483dad43b1e485a"/><Relationship Type="http://schemas.openxmlformats.org/officeDocument/2006/relationships/slide" Target="/ppt/slides/slide6.xml" Id="R22a062c74b204203"/><Relationship Type="http://schemas.openxmlformats.org/officeDocument/2006/relationships/slide" Target="/ppt/slides/slide7.xml" Id="R9dbb069d6bef474b"/><Relationship Type="http://schemas.openxmlformats.org/officeDocument/2006/relationships/slide" Target="/ppt/slides/slide8.xml" Id="R206eb5b0d2e24453"/><Relationship Type="http://schemas.openxmlformats.org/officeDocument/2006/relationships/slide" Target="/ppt/slides/slide9.xml" Id="R784b44b1a37b414f"/><Relationship Type="http://schemas.openxmlformats.org/officeDocument/2006/relationships/slide" Target="/ppt/slides/slide10.xml" Id="R5acb9ae51ab2489a"/><Relationship Type="http://schemas.openxmlformats.org/officeDocument/2006/relationships/slide" Target="/ppt/slides/slide11.xml" Id="Rb4e14a5bd32940d8"/><Relationship Type="http://schemas.openxmlformats.org/officeDocument/2006/relationships/slide" Target="/ppt/slides/slide12.xml" Id="R3c023340578c4354"/></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45f12cf3639c4376"/></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dd72cdb8475f4308"/><Relationship Type="http://schemas.openxmlformats.org/officeDocument/2006/relationships/notesMaster" Target="/ppt/notesMasters/notesMaster1.xml" Id="Rc764de07906a47bd"/></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31158951d9ab4422"/><Relationship Type="http://schemas.openxmlformats.org/officeDocument/2006/relationships/notesMaster" Target="/ppt/notesMasters/notesMaster1.xml" Id="R806bd0a613644c9c"/></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89d1dc2d2ea44d66"/><Relationship Type="http://schemas.openxmlformats.org/officeDocument/2006/relationships/notesMaster" Target="/ppt/notesMasters/notesMaster1.xml" Id="Rc3d206d8004a469f"/></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7bb5e989d2e949e8"/><Relationship Type="http://schemas.openxmlformats.org/officeDocument/2006/relationships/notesMaster" Target="/ppt/notesMasters/notesMaster1.xml" Id="R283e6b3c485d4111"/></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f9bea57f9a2d44e0"/><Relationship Type="http://schemas.openxmlformats.org/officeDocument/2006/relationships/notesMaster" Target="/ppt/notesMasters/notesMaster1.xml" Id="Rf8e1828033f84fef"/></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a89b050a586a49d3"/><Relationship Type="http://schemas.openxmlformats.org/officeDocument/2006/relationships/notesMaster" Target="/ppt/notesMasters/notesMaster1.xml" Id="R34a935b3db744cba"/></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6a0259a569a048bc"/><Relationship Type="http://schemas.openxmlformats.org/officeDocument/2006/relationships/notesMaster" Target="/ppt/notesMasters/notesMaster1.xml" Id="Rb54bc24e447144a6"/></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b564cdb2221b41b6"/><Relationship Type="http://schemas.openxmlformats.org/officeDocument/2006/relationships/notesMaster" Target="/ppt/notesMasters/notesMaster1.xml" Id="Ra184652f88c2490b"/></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99d1a321aab2479f"/><Relationship Type="http://schemas.openxmlformats.org/officeDocument/2006/relationships/notesMaster" Target="/ppt/notesMasters/notesMaster1.xml" Id="Rf488bd8a0482472d"/></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75279a3a3ea54b47"/><Relationship Type="http://schemas.openxmlformats.org/officeDocument/2006/relationships/notesMaster" Target="/ppt/notesMasters/notesMaster1.xml" Id="R88c648abc8a54931"/></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28174b634be74bed"/><Relationship Type="http://schemas.openxmlformats.org/officeDocument/2006/relationships/notesMaster" Target="/ppt/notesMasters/notesMaster1.xml" Id="R72ddd9d0b34f4b51"/></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86fb35c803e24195"/><Relationship Type="http://schemas.openxmlformats.org/officeDocument/2006/relationships/notesMaster" Target="/ppt/notesMasters/notesMaster1.xml" Id="R0d3c890a952040ea"/></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CAREERS-BUILD-A2-W03 · Year A · Week beginning 16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Title and big question: 0 minutes.</a:t>
            </a:r>
          </a:p>
          <a:p xmlns:a="http://schemas.openxmlformats.org/drawingml/2006/main">
            <a:r>
              <a:t>Teacher: Read the big question and careers line before the timed sequence.</a:t>
            </a:r>
          </a:p>
          <a:p xmlns:a="http://schemas.openxmlformats.org/drawingml/2006/main">
            <a:r>
              <a:t>Routes: Supported: read the two picture cards together, choose which comes first, then carry out both steps with prompts recorded. Independent: order both picture cards, pack the set and compare it with the final picture. Aspire: check a separate mock pack with an extra or missing square, explain the error and correct it.</a:t>
            </a:r>
          </a:p>
          <a:p xmlns:a="http://schemas.openxmlformats.org/drawingml/2006/main">
            <a:r>
              <a:t>Evidence: Sequenced instructions, the completed task and an observation recording accuracy and prompts.</a:t>
            </a:r>
          </a:p>
          <a:p xmlns:a="http://schemas.openxmlformats.org/drawingml/2006/main">
            <a:r>
              <a:t>Careers: This helps me follow instructions and check my work.</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CAREERS-BUILD-A2-W03 · Year A · Week beginning 16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Arrival and regulation: 3 minutes.</a:t>
            </a:r>
          </a:p>
          <a:p xmlns:a="http://schemas.openxmlformats.org/drawingml/2006/main">
            <a:r>
              <a:t>Teacher: Offer a calm seat, usual communication aid and help choice. No personal disclosure is required.</a:t>
            </a:r>
          </a:p>
          <a:p xmlns:a="http://schemas.openxmlformats.org/drawingml/2006/main">
            <a:r>
              <a:t>Routes: Supported: read the two picture cards together, choose which comes first, then carry out both steps with prompts recorded. Independent: order both picture cards, pack the set and compare it with the final picture. Aspire: check a separate mock pack with an extra or missing square, explain the error and correct it.</a:t>
            </a:r>
          </a:p>
          <a:p xmlns:a="http://schemas.openxmlformats.org/drawingml/2006/main">
            <a:r>
              <a:t>Evidence: Sequenced instructions, the completed task and an observation recording accuracy and prompts.</a:t>
            </a:r>
          </a:p>
          <a:p xmlns:a="http://schemas.openxmlformats.org/drawingml/2006/main">
            <a:r>
              <a:t>Careers: This helps me follow instructions and check my work.</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CAREERS-BUILD-A2-W03 · Year A · Week beginning 16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Starter: 3 minutes.</a:t>
            </a:r>
          </a:p>
          <a:p xmlns:a="http://schemas.openxmlformats.org/drawingml/2006/main">
            <a:r>
              <a:t>Teacher: Read the fictional task. Ask about the step or missing detail. Accept pointing, speech or an aid.</a:t>
            </a:r>
          </a:p>
          <a:p xmlns:a="http://schemas.openxmlformats.org/drawingml/2006/main">
            <a:r>
              <a:t>Routes: Supported: read the two picture cards together, choose which comes first, then carry out both steps with prompts recorded. Independent: order both picture cards, pack the set and compare it with the final picture. Aspire: check a separate mock pack with an extra or missing square, explain the error and correct it.</a:t>
            </a:r>
          </a:p>
          <a:p xmlns:a="http://schemas.openxmlformats.org/drawingml/2006/main">
            <a:r>
              <a:t>Evidence: Sequenced instructions, the completed task and an observation recording accuracy and prompts.</a:t>
            </a:r>
          </a:p>
          <a:p xmlns:a="http://schemas.openxmlformats.org/drawingml/2006/main">
            <a:r>
              <a:t>Careers: This helps me follow instructions and check my work.</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CAREERS-BUILD-A2-W03 · Year A · Week beginning 16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Today: 0 minutes.</a:t>
            </a:r>
          </a:p>
          <a:p xmlns:a="http://schemas.openxmlformats.org/drawingml/2006/main">
            <a:r>
              <a:t>Teacher: Read the approved objective and three success checks. Explain any new word with a concrete action.</a:t>
            </a:r>
          </a:p>
          <a:p xmlns:a="http://schemas.openxmlformats.org/drawingml/2006/main">
            <a:r>
              <a:t>Routes: Supported: read the two picture cards together, choose which comes first, then carry out both steps with prompts recorded. Independent: order both picture cards, pack the set and compare it with the final picture. Aspire: check a separate mock pack with an extra or missing square, explain the error and correct it.</a:t>
            </a:r>
          </a:p>
          <a:p xmlns:a="http://schemas.openxmlformats.org/drawingml/2006/main">
            <a:r>
              <a:t>Evidence: Sequenced instructions, the completed task and an observation recording accuracy and prompts.</a:t>
            </a:r>
          </a:p>
          <a:p xmlns:a="http://schemas.openxmlformats.org/drawingml/2006/main">
            <a:r>
              <a:t>Careers: This helps me follow instructions and check my work.</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CAREERS-BUILD-A2-W03 · Year A · Week beginning 16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I Do: 5 minutes.</a:t>
            </a:r>
          </a:p>
          <a:p xmlns:a="http://schemas.openxmlformats.org/drawingml/2006/main">
            <a:r>
              <a:t>Teacher: Model the six lines with a separate set. Week 3: show the two packing steps and check. Week 4: model a question, reply and action. Do not record an adult model as learner evidence.</a:t>
            </a:r>
          </a:p>
          <a:p xmlns:a="http://schemas.openxmlformats.org/drawingml/2006/main">
            <a:r>
              <a:t>Routes: Supported: read the two picture cards together, choose which comes first, then carry out both steps with prompts recorded. Independent: order both picture cards, pack the set and compare it with the final picture. Aspire: check a separate mock pack with an extra or missing square, explain the error and correct it.</a:t>
            </a:r>
          </a:p>
          <a:p xmlns:a="http://schemas.openxmlformats.org/drawingml/2006/main">
            <a:r>
              <a:t>Evidence: Sequenced instructions, the completed task and an observation recording accuracy and prompts.</a:t>
            </a:r>
          </a:p>
          <a:p xmlns:a="http://schemas.openxmlformats.org/drawingml/2006/main">
            <a:r>
              <a:t>Careers: This helps me follow instructions and check my work.</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CAREERS-BUILD-A2-W03 · Year A · Week beginning 16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We Do: 5 minutes.</a:t>
            </a:r>
          </a:p>
          <a:p xmlns:a="http://schemas.openxmlformats.org/drawingml/2006/main">
            <a:r>
              <a:t>Teacher: A follows the second instruction. B adds an extra square; C leaves the pack incomplete. A final correct pack alone does not prove the order of actions, so observe the steps as they happen. Reteach with the two picture cards: a circle must already be present before a square can go next to it.</a:t>
            </a:r>
          </a:p>
          <a:p xmlns:a="http://schemas.openxmlformats.org/drawingml/2006/main">
            <a:r>
              <a:t>Routes: Supported: read the two picture cards together, choose which comes first, then carry out both steps with prompts recorded. Independent: order both picture cards, pack the set and compare it with the final picture. Aspire: check a separate mock pack with an extra or missing square, explain the error and correct it.</a:t>
            </a:r>
          </a:p>
          <a:p xmlns:a="http://schemas.openxmlformats.org/drawingml/2006/main">
            <a:r>
              <a:t>Evidence: Sequenced instructions, the completed task and an observation recording accuracy and prompts.</a:t>
            </a:r>
          </a:p>
          <a:p xmlns:a="http://schemas.openxmlformats.org/drawingml/2006/main">
            <a:r>
              <a:t>Careers: This helps me follow instructions and check my work.</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CAREERS-BUILD-A2-W03 · Year A · Week beginning 16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You Do practice: 12 minutes.</a:t>
            </a:r>
          </a:p>
          <a:p xmlns:a="http://schemas.openxmlformats.org/drawingml/2006/main">
            <a:r>
              <a:t>Teacher: Use four minutes to order the two picture cards and keep a record of the first choice. Use five minutes to carry out the two packing steps on the printed tray mat. Use three minutes to compare the pack with the picture, identify help used and correct an error if needed. For Aspire, use a separate mock pack with one extra or missing square.</a:t>
            </a:r>
          </a:p>
          <a:p xmlns:a="http://schemas.openxmlformats.org/drawingml/2006/main">
            <a:r>
              <a:t>Routes: Supported: read the two picture cards together, choose which comes first, then carry out both steps with prompts recorded. Independent: order both picture cards, pack the set and compare it with the final picture. Aspire: check a separate mock pack with an extra or missing square, explain the error and correct it.</a:t>
            </a:r>
          </a:p>
          <a:p xmlns:a="http://schemas.openxmlformats.org/drawingml/2006/main">
            <a:r>
              <a:t>Evidence: Sequenced instructions, the completed task and an observation recording accuracy and prompts.</a:t>
            </a:r>
          </a:p>
          <a:p xmlns:a="http://schemas.openxmlformats.org/drawingml/2006/main">
            <a:r>
              <a:t>Careers: This helps me follow instructions and check my work.</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CAREERS-BUILD-A2-W03 · Year A · Week beginning 16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You Do evidence: 6 minutes.</a:t>
            </a:r>
          </a:p>
          <a:p xmlns:a="http://schemas.openxmlformats.org/drawingml/2006/main">
            <a:r>
              <a:t>Teacher: Capture each learner’s actual sequence or question, reply and action as applicable. Record prompts and changed responses separately. Do not infer learning from a group answer.</a:t>
            </a:r>
          </a:p>
          <a:p xmlns:a="http://schemas.openxmlformats.org/drawingml/2006/main">
            <a:r>
              <a:t>Routes: Supported: read the two picture cards together, choose which comes first, then carry out both steps with prompts recorded. Independent: order both picture cards, pack the set and compare it with the final picture. Aspire: check a separate mock pack with an extra or missing square, explain the error and correct it.</a:t>
            </a:r>
          </a:p>
          <a:p xmlns:a="http://schemas.openxmlformats.org/drawingml/2006/main">
            <a:r>
              <a:t>Evidence: Sequenced instructions, the completed task and an observation recording accuracy and prompts.</a:t>
            </a:r>
          </a:p>
          <a:p xmlns:a="http://schemas.openxmlformats.org/drawingml/2006/main">
            <a:r>
              <a:t>Careers: This helps me follow instructions and check my work.</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CAREERS-BUILD-A2-W03 · Year A · Week beginning 16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Tidy and evidence check: 4 minutes.</a:t>
            </a:r>
          </a:p>
          <a:p xmlns:a="http://schemas.openxmlformats.org/drawingml/2006/main">
            <a:r>
              <a:t>Teacher: Check learner IDs, actual work references and support. Store the evidence only when it exists; leave gaps visible.</a:t>
            </a:r>
          </a:p>
          <a:p xmlns:a="http://schemas.openxmlformats.org/drawingml/2006/main">
            <a:r>
              <a:t>Routes: Supported: read the two picture cards together, choose which comes first, then carry out both steps with prompts recorded. Independent: order both picture cards, pack the set and compare it with the final picture. Aspire: check a separate mock pack with an extra or missing square, explain the error and correct it.</a:t>
            </a:r>
          </a:p>
          <a:p xmlns:a="http://schemas.openxmlformats.org/drawingml/2006/main">
            <a:r>
              <a:t>Evidence: Sequenced instructions, the completed task and an observation recording accuracy and prompts.</a:t>
            </a:r>
          </a:p>
          <a:p xmlns:a="http://schemas.openxmlformats.org/drawingml/2006/main">
            <a:r>
              <a:t>Careers: This helps me follow instructions and check my work.</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CAREERS-BUILD-A2-W03 · Year A · Week beginning 16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Exit ticket: 2 minutes.</a:t>
            </a:r>
          </a:p>
          <a:p xmlns:a="http://schemas.openxmlformats.org/drawingml/2006/main">
            <a:r>
              <a:t>Teacher: Take an individual exit response. Agree one next teaching step, without requiring public speaking.</a:t>
            </a:r>
          </a:p>
          <a:p xmlns:a="http://schemas.openxmlformats.org/drawingml/2006/main">
            <a:r>
              <a:t>Routes: Supported: read the two picture cards together, choose which comes first, then carry out both steps with prompts recorded. Independent: order both picture cards, pack the set and compare it with the final picture. Aspire: check a separate mock pack with an extra or missing square, explain the error and correct it.</a:t>
            </a:r>
          </a:p>
          <a:p xmlns:a="http://schemas.openxmlformats.org/drawingml/2006/main">
            <a:r>
              <a:t>Evidence: Sequenced instructions, the completed task and an observation recording accuracy and prompts.</a:t>
            </a:r>
          </a:p>
          <a:p xmlns:a="http://schemas.openxmlformats.org/drawingml/2006/main">
            <a:r>
              <a:t>Careers: This helps me follow instructions and check my work.</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CAREERS-BUILD-A2-W03 · Year A · Week beginning 16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Vocabulary: 0 minutes.</a:t>
            </a:r>
          </a:p>
          <a:p xmlns:a="http://schemas.openxmlformats.org/drawingml/2006/main">
            <a:r>
              <a:t>Teacher: Read and show each word with an action or concrete example. Keep the mat available.</a:t>
            </a:r>
          </a:p>
          <a:p xmlns:a="http://schemas.openxmlformats.org/drawingml/2006/main">
            <a:r>
              <a:t>Routes: Supported: read the two picture cards together, choose which comes first, then carry out both steps with prompts recorded. Independent: order both picture cards, pack the set and compare it with the final picture. Aspire: check a separate mock pack with an extra or missing square, explain the error and correct it.</a:t>
            </a:r>
          </a:p>
          <a:p xmlns:a="http://schemas.openxmlformats.org/drawingml/2006/main">
            <a:r>
              <a:t>Evidence: Sequenced instructions, the completed task and an observation recording accuracy and prompts.</a:t>
            </a:r>
          </a:p>
          <a:p xmlns:a="http://schemas.openxmlformats.org/drawingml/2006/main">
            <a:r>
              <a:t>Careers: This helps me follow instructions and check my work.</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CAREERS-BUILD-A2-W03 · Year A · Week beginning 16 November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Staff brief: 0 minutes.</a:t>
            </a:r>
          </a:p>
          <a:p xmlns:a="http://schemas.openxmlformats.org/drawingml/2006/main">
            <a:r>
              <a:t>Teacher: All worker profiles, job roles, employers and settings are fictional. Use only large paper cards and the supplied tray mats on a clear table. Adults prepare any cutting. No lifting, machinery, sharp tools or real workplace task is needed. Do not ask about body, family or private experiences. No names are required. Respect a pause or quiet response, with no forced partner work or public performance. A learner can query an unclear or unsafe instruction. Follow the setting’s safeguarding route if a concern is raised.</a:t>
            </a:r>
          </a:p>
          <a:p xmlns:a="http://schemas.openxmlformats.org/drawingml/2006/main">
            <a:r>
              <a:t>Routes: Supported: read the two picture cards together, choose which comes first, then carry out both steps with prompts recorded. Independent: order both picture cards, pack the set and compare it with the final picture. Aspire: check a separate mock pack with an extra or missing square, explain the error and correct it.</a:t>
            </a:r>
          </a:p>
          <a:p xmlns:a="http://schemas.openxmlformats.org/drawingml/2006/main">
            <a:r>
              <a:t>Evidence: Sequenced instructions, the completed task and an observation recording accuracy and prompts.</a:t>
            </a:r>
          </a:p>
          <a:p xmlns:a="http://schemas.openxmlformats.org/drawingml/2006/main">
            <a:r>
              <a:t>Careers: This helps me follow instructions and check my work.</a:t>
            </a:r>
          </a:p>
          <a:p xmlns:a="http://schemas.openxmlformats.org/drawingml/2006/main">
            <a:r>
              <a:t>Source: owner_orders/BUILD_Careers_Autumn2_YearA_outline; revision approved-2026-10-26.</a:t>
            </a:r>
          </a:p>
          <a:p xmlns:a="http://schemas.openxmlformats.org/drawingml/2006/main">
            <a:r>
              <a:t>The fictional illustration supports a paper rehearsal. Exact tasks and any fixed replies are in Support Cards and Staff Answers.</a:t>
            </a:r>
          </a:p>
          <a:p xmlns:a="http://schemas.openxmlformats.org/drawingml/2006/main">
            <a:r>
              <a:t>Week 7 is the assessing lesson.</a:t>
            </a:r>
          </a:p>
          <a:p xmlns:a="http://schemas.openxmlformats.org/drawingml/2006/main">
            <a:r>
              <a:t>Sources and limits: FACTS_LEDGER.md</a:t>
            </a:r>
          </a:p>
          <a:p xmlns:a="http://schemas.openxmlformats.org/drawingml/2006/main">
            <a:r>
              <a:t>Lesson resource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d3bf7e18567d4b46"/></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1afe4b7c075c4f23"/></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ae991eb4887042a7"/></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2c78595cb8474fbb"/></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e7c58b375bde4dde"/></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45dcc3182ded4402"/></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45e170b9448644d1"/><Relationship Type="http://schemas.openxmlformats.org/officeDocument/2006/relationships/slideLayout" Target="/ppt/slideLayouts/slideLayout1.xml" Id="Rf7c711115e6d42a4"/><Relationship Type="http://schemas.openxmlformats.org/officeDocument/2006/relationships/slideLayout" Target="/ppt/slideLayouts/slideLayout2.xml" Id="R43c233d59bec4499"/><Relationship Type="http://schemas.openxmlformats.org/officeDocument/2006/relationships/slideLayout" Target="/ppt/slideLayouts/slideLayout3.xml" Id="R1bf890a84e534a1a"/><Relationship Type="http://schemas.openxmlformats.org/officeDocument/2006/relationships/slideLayout" Target="/ppt/slideLayouts/slideLayout4.xml" Id="R1ed3dc243bf84b36"/><Relationship Type="http://schemas.openxmlformats.org/officeDocument/2006/relationships/slideLayout" Target="/ppt/slideLayouts/slideLayout5.xml" Id="R7564c870ccf04526"/><Relationship Type="http://schemas.openxmlformats.org/officeDocument/2006/relationships/slideLayout" Target="/ppt/slideLayouts/slideLayout6.xml" Id="Rfc011a02f1f94430"/></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c711115e6d42a4"/>
    <p:sldLayoutId xmlns:r="http://schemas.openxmlformats.org/officeDocument/2006/relationships" id="2147483650" r:id="R43c233d59bec4499"/>
    <p:sldLayoutId xmlns:r="http://schemas.openxmlformats.org/officeDocument/2006/relationships" id="2147483651" r:id="R1bf890a84e534a1a"/>
    <p:sldLayoutId xmlns:r="http://schemas.openxmlformats.org/officeDocument/2006/relationships" id="2147483652" r:id="R1ed3dc243bf84b36"/>
    <p:sldLayoutId xmlns:r="http://schemas.openxmlformats.org/officeDocument/2006/relationships" id="2147483653" r:id="R7564c870ccf04526"/>
    <p:sldLayoutId xmlns:r="http://schemas.openxmlformats.org/officeDocument/2006/relationships" id="2147483654" r:id="Rfc011a02f1f94430"/>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f3499e00e0384c8a"/><Relationship Type="http://schemas.openxmlformats.org/officeDocument/2006/relationships/notesSlide" Target="/ppt/notesSlides/notesSlide1.xml" Id="Ref826a1659174b8c"/></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27006a90f33148de"/><Relationship Type="http://schemas.openxmlformats.org/officeDocument/2006/relationships/notesSlide" Target="/ppt/notesSlides/notesSlide2.xml" Id="R610c6a8b71cc497d"/></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f3a5f4e9f4aa44e9"/><Relationship Type="http://schemas.openxmlformats.org/officeDocument/2006/relationships/image" Target="/ppt/media/image.jpeg" Id="R2059d7c473ca4960"/><Relationship Type="http://schemas.openxmlformats.org/officeDocument/2006/relationships/notesSlide" Target="/ppt/notesSlides/notesSlide3.xml" Id="R13444ba8787c4fdd"/></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f9bd4fb21d1849e0"/><Relationship Type="http://schemas.openxmlformats.org/officeDocument/2006/relationships/notesSlide" Target="/ppt/notesSlides/notesSlide4.xml" Id="Raef6a3117f774a6e"/></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146ef46b0e804832"/><Relationship Type="http://schemas.openxmlformats.org/officeDocument/2006/relationships/notesSlide" Target="/ppt/notesSlides/notesSlide5.xml" Id="Rc27fb5963a3943b4"/></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b997dc60126c4870"/><Relationship Type="http://schemas.openxmlformats.org/officeDocument/2006/relationships/notesSlide" Target="/ppt/notesSlides/notesSlide6.xml" Id="R48619f46cc9a4b9f"/></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40d23fb5e3fd4eef"/><Relationship Type="http://schemas.openxmlformats.org/officeDocument/2006/relationships/notesSlide" Target="/ppt/notesSlides/notesSlide7.xml" Id="Rff9dd3c6197d4755"/></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acbe08f658b146c6"/><Relationship Type="http://schemas.openxmlformats.org/officeDocument/2006/relationships/notesSlide" Target="/ppt/notesSlides/notesSlide8.xml" Id="R293730857ddf455f"/></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abac413a53494361"/><Relationship Type="http://schemas.openxmlformats.org/officeDocument/2006/relationships/notesSlide" Target="/ppt/notesSlides/notesSlide9.xml" Id="R8247bdc96a594de0"/></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bf85e8ba87f44169"/><Relationship Type="http://schemas.openxmlformats.org/officeDocument/2006/relationships/notesSlide" Target="/ppt/notesSlides/notesSlide10.xml" Id="R931cbf3b315c4e87"/></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16658072c57d42ca"/><Relationship Type="http://schemas.openxmlformats.org/officeDocument/2006/relationships/notesSlide" Target="/ppt/notesSlides/notesSlide11.xml" Id="R1182426bd50444f3"/></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3b99790f825e4cfc"/><Relationship Type="http://schemas.openxmlformats.org/officeDocument/2006/relationships/notesSlide" Target="/ppt/notesSlides/notesSlide12.xml" Id="Re288cabb749c474f"/></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TITLE AND BIG QUESTION</a:t>
            </a:r>
          </a: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Follow the steps</a:t>
            </a:r>
          </a: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a:p xmlns:a="http://schemas.openxmlformats.org/drawingml/2006/main">
            <a:pPr algn="l">
              <a:buNone/>
              <a:defRPr sz="2250" b="0">
                <a:solidFill>
                  <a:srgbClr val="146B68"/>
                </a:solidFill>
                <a:latin typeface="Arial"/>
                <a:ea typeface="Arial"/>
                <a:cs typeface="Arial"/>
              </a:defRPr>
            </a:pPr>
            <a:r>
              <a:rPr sz="2250" b="0">
                <a:solidFill>
                  <a:srgbClr val="146B68"/>
                </a:solidFill>
                <a:latin typeface="Arial"/>
                <a:ea typeface="Arial"/>
                <a:cs typeface="Arial"/>
              </a:rPr>
              <a:t>Year A · Week 3 · 16–20 November 2026 · 40 minutes</a:t>
            </a:r>
          </a: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CAREERS-BUILD-A2-W03</a:t>
            </a:r>
          </a: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worker must pack a set. How can they check it?</a:t>
            </a:r>
          </a: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helps me follow instructions and check my work.</a:t>
            </a:r>
          </a: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47548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Term theme: Identity &amp; Belonging</a:t>
            </a:r>
          </a: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3 min</a:t>
            </a:r>
          </a: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calm start</a:t>
            </a:r>
          </a: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CAREERS-BUILD-A2-W03</a:t>
            </a:r>
          </a: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 calm place to sit.</a:t>
            </a:r>
          </a: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a short pause if needed.</a:t>
            </a:r>
          </a: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work space clear.</a:t>
            </a:r>
          </a: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help with the words.</a:t>
            </a:r>
          </a: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a point, a word or your aid.</a:t>
            </a:r>
          </a: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Let each person have time.</a:t>
            </a:r>
          </a: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STARTER</a:t>
            </a:r>
          </a: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3 min</a:t>
            </a:r>
          </a: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The picture steps</a:t>
            </a:r>
          </a: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CAREERS-BUILD-A2-W03</a:t>
            </a:r>
          </a: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pic>
        <p:nvPicPr>
          <p:cNvPr id="18" name="">
            <a:extLst xmlns:a="http://schemas.openxmlformats.org/drawingml/2006/main">
              <a:ext uri="{FF2B5EF4-FFF2-40B4-BE49-F238E27FC236}">
                <a16:creationId xmlns:a16="http://schemas.microsoft.com/office/drawing/2014/main" id="{079D8A8E-D30C-4D4D-B3FA-665912476EB4}"/>
              </a:ext>
            </a:extLst>
          </p:cNvPr>
          <p:cNvPicPr>
            <a:picLocks xmlns:a="http://schemas.openxmlformats.org/drawingml/2006/main" noChangeAspect="1"/>
          </p:cNvPicPr>
          <p:nvPr/>
        </p:nvPicPr>
        <p:blipFill>
          <a:blip xmlns:r="http://schemas.openxmlformats.org/officeDocument/2006/relationships" xmlns:a="http://schemas.openxmlformats.org/drawingml/2006/main" r:embed="R2059d7c473ca4960"/>
          <a:stretch xmlns:a="http://schemas.openxmlformats.org/drawingml/2006/main"/>
        </p:blipFill>
        <p:spPr>
          <a:xfrm xmlns:a="http://schemas.openxmlformats.org/drawingml/2006/main">
            <a:off x="609600" y="1638300"/>
            <a:ext cx="6343650" cy="4229100"/>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This is a made-up packing task.</a:t>
            </a:r>
          </a: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199704"/>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What is in the first tray?</a:t>
            </a:r>
          </a: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2684907"/>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What has changed in the next tray?</a:t>
            </a:r>
          </a: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3483864"/>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Which card must go in first?</a:t>
            </a:r>
          </a: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a:t>
            </a:r>
          </a: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CAREERS-BUILD-A2-W03</a:t>
            </a:r>
          </a: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Follow two work steps. Check the result.</a:t>
            </a:r>
          </a: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Put the two step cards in order.</a:t>
            </a:r>
          </a: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Pack the cards in the tray.</a:t>
            </a:r>
          </a: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Check the pack and show any change.</a:t>
            </a:r>
          </a: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Watch the model</a:t>
            </a:r>
          </a: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CAREERS-BUILD-A2-W03</a:t>
            </a:r>
          </a: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First, put one circle card in the tray.</a:t>
            </a:r>
          </a: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Next, put one square next to the circle.</a:t>
            </a:r>
          </a: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Now stop and check the pack.</a:t>
            </a:r>
          </a: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There is one of each shape.</a:t>
            </a:r>
          </a: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cards are next to each other.</a:t>
            </a:r>
          </a: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spare square stays out of the tray.</a:t>
            </a:r>
          </a: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buNone/>
              <a:defRPr sz="2025" b="0">
                <a:solidFill>
                  <a:srgbClr val="146B68"/>
                </a:solidFill>
                <a:latin typeface="Arial"/>
                <a:ea typeface="Arial"/>
                <a:cs typeface="Arial"/>
              </a:defRPr>
            </a:lvl1pPr>
            <a:lvl2pPr algn="l">
              <a:buNone/>
              <a:defRPr sz="2025" b="0">
                <a:solidFill>
                  <a:srgbClr val="146B68"/>
                </a:solidFill>
                <a:latin typeface="Arial"/>
                <a:ea typeface="Arial"/>
                <a:cs typeface="Arial"/>
              </a:defRPr>
            </a:lvl2pPr>
            <a:lvl3pPr algn="l">
              <a:buNone/>
              <a:defRPr sz="2025" b="0">
                <a:solidFill>
                  <a:srgbClr val="146B68"/>
                </a:solidFill>
                <a:latin typeface="Arial"/>
                <a:ea typeface="Arial"/>
                <a:cs typeface="Arial"/>
              </a:defRPr>
            </a:lvl3pPr>
            <a:lvl4pPr algn="l">
              <a:buNone/>
              <a:defRPr sz="2025" b="0">
                <a:solidFill>
                  <a:srgbClr val="146B68"/>
                </a:solidFill>
                <a:latin typeface="Arial"/>
                <a:ea typeface="Arial"/>
                <a:cs typeface="Arial"/>
              </a:defRPr>
            </a:lvl4pPr>
            <a:lvl5pPr algn="l">
              <a:buNone/>
              <a:defRPr sz="2025" b="0">
                <a:solidFill>
                  <a:srgbClr val="146B68"/>
                </a:solidFill>
                <a:latin typeface="Arial"/>
                <a:ea typeface="Arial"/>
                <a:cs typeface="Arial"/>
              </a:defRPr>
            </a:lvl5pPr>
            <a:lvl6pPr algn="l">
              <a:buNone/>
              <a:defRPr sz="2025" b="0">
                <a:solidFill>
                  <a:srgbClr val="146B68"/>
                </a:solidFill>
                <a:latin typeface="Arial"/>
                <a:ea typeface="Arial"/>
                <a:cs typeface="Arial"/>
              </a:defRPr>
            </a:lvl6pPr>
            <a:lvl7pPr algn="l">
              <a:buNone/>
              <a:defRPr sz="2025" b="0">
                <a:solidFill>
                  <a:srgbClr val="146B68"/>
                </a:solidFill>
                <a:latin typeface="Arial"/>
                <a:ea typeface="Arial"/>
                <a:cs typeface="Arial"/>
              </a:defRPr>
            </a:lvl7pPr>
            <a:lvl8pPr algn="l">
              <a:buNone/>
              <a:defRPr sz="2025" b="0">
                <a:solidFill>
                  <a:srgbClr val="146B68"/>
                </a:solidFill>
                <a:latin typeface="Arial"/>
                <a:ea typeface="Arial"/>
                <a:cs typeface="Arial"/>
              </a:defRPr>
            </a:lvl8pPr>
            <a:lvl9pPr algn="l">
              <a:buNone/>
              <a:defRPr sz="2025" b="0">
                <a:solidFill>
                  <a:srgbClr val="146B68"/>
                </a:solidFill>
                <a:latin typeface="Arial"/>
                <a:ea typeface="Arial"/>
                <a:cs typeface="Arial"/>
              </a:defRPr>
            </a:lvl9pPr>
          </a:lstStyle>
          <a:p xmlns:a="http://schemas.openxmlformats.org/drawingml/2006/main">
            <a:pPr algn="l">
              <a:buNone/>
              <a:defRPr sz="2025" b="0">
                <a:solidFill>
                  <a:srgbClr val="146B68"/>
                </a:solidFill>
                <a:latin typeface="Arial"/>
                <a:ea typeface="Arial"/>
                <a:cs typeface="Arial"/>
              </a:defRPr>
            </a:pPr>
            <a:r>
              <a:rPr sz="2025" b="0">
                <a:solidFill>
                  <a:srgbClr val="146B68"/>
                </a:solidFill>
                <a:latin typeface="Arial"/>
                <a:ea typeface="Arial"/>
                <a:cs typeface="Arial"/>
              </a:rPr>
              <a:t>First one circle. Next one square. Then check.</a:t>
            </a:r>
          </a: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Which next step</a:t>
            </a:r>
          </a: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CAREERS-BUILD-A2-W03</a:t>
            </a:r>
          </a: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One circle is in the tray. What comes next?</a:t>
            </a:r>
          </a: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Put one square next to the circle.</a:t>
            </a:r>
          </a: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B  Put two squares in the tray.</a:t>
            </a:r>
          </a: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  Leave out the square.</a:t>
            </a:r>
          </a: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PRACTICE</a:t>
            </a:r>
          </a: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Try the task</a:t>
            </a:r>
          </a: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CAREERS-BUILD-A2-W03</a:t>
            </a:r>
          </a: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the help needed for this task.</a:t>
            </a:r>
          </a: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Supported: order two cards with help.</a:t>
            </a:r>
          </a: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Independent: order, pack and check.</a:t>
            </a:r>
          </a: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Aspire: find and fix a pack error.</a:t>
            </a:r>
          </a: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first try and any change.</a:t>
            </a:r>
          </a: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EVIDENCE</a:t>
            </a:r>
          </a: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work</a:t>
            </a:r>
          </a: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CAREERS-BUILD-A2-W03</a:t>
            </a:r>
          </a: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order of the two step cards.</a:t>
            </a:r>
          </a: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packed set or its work record.</a:t>
            </a:r>
          </a: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what the check found.</a:t>
            </a:r>
          </a: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 adult notes the steps and the help.</a:t>
            </a:r>
          </a: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Tidy and check</a:t>
            </a:r>
          </a: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CAREERS-BUILD-A2-W03</a:t>
            </a:r>
          </a: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Check the code on both sheets.</a:t>
            </a:r>
          </a: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the work and note the help.</a:t>
            </a:r>
          </a: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Put the cards away with care.</a:t>
            </a:r>
          </a: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Tell the adult the next step.</a:t>
            </a:r>
          </a: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Exit task</a:t>
            </a:r>
          </a: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CAREERS-BUILD-A2-W03</a:t>
            </a:r>
          </a: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Which step came first?</a:t>
            </a:r>
          </a: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did the final check show?</a:t>
            </a:r>
          </a: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help was needed for the task?</a:t>
            </a:r>
          </a: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Words that help</a:t>
            </a:r>
          </a: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CAREERS-BUILD-A2-W03</a:t>
            </a:r>
          </a: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Step: One part of a task.</a:t>
            </a:r>
          </a: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First: The part that comes before the rest.</a:t>
            </a:r>
          </a: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Next: The part that comes after this one.</a:t>
            </a:r>
          </a: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Pack: Put the needed items in a set.</a:t>
            </a:r>
          </a: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Check: Look to see if the result is right.</a:t>
            </a:r>
          </a: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Tray: A space used to hold the cards.</a:t>
            </a:r>
          </a: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Result: What is there when the task is done.</a:t>
            </a:r>
          </a: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CAREERS-BUILD-A2-W03</a:t>
            </a:r>
          </a: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Read the planner and support route.</a:t>
            </a:r>
          </a: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only fictional roles and settings.</a:t>
            </a:r>
          </a: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Scribe exact words; record help.</a:t>
            </a:r>
          </a: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each learner’s own evidence.</a:t>
            </a:r>
          </a: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Week 7 is the assessing lesson.</a:t>
            </a:r>
          </a: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
  <dc:title>Follow the steps</dc:title>
  <dcterms:created xsi:type="dcterms:W3CDTF">2026-10-26T11:18:32.4230000Z</dcterms:created>
  <dcterms:modified xsi:type="dcterms:W3CDTF">2026-10-26T11:18:32.4230000Z</dcterms:modified>
</coreProperties>
</file>