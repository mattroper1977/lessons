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500d7e3c2e4be7" /><Relationship Type="http://schemas.openxmlformats.org/officeDocument/2006/relationships/extended-properties" Target="/docProps/app.xml" Id="R911ea525232540c4" /><Relationship Type="http://schemas.openxmlformats.org/officeDocument/2006/relationships/officeDocument" Target="/ppt/presentation.xml" Id="R0b7583a3a738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506abf11244421"/>
  </p:sldMasterIdLst>
  <p:notesMasterIdLst>
    <p:notesMasterId xmlns:r="http://schemas.openxmlformats.org/officeDocument/2006/relationships" r:id="R225f13e8719e4087"/>
  </p:notesMasterIdLst>
  <p:sldIdLst>
    <p:sldId xmlns:r="http://schemas.openxmlformats.org/officeDocument/2006/relationships" id="256" r:id="R4a85422c303b4ed5"/>
    <p:sldId xmlns:r="http://schemas.openxmlformats.org/officeDocument/2006/relationships" id="257" r:id="R6282dd1def3046cb"/>
    <p:sldId xmlns:r="http://schemas.openxmlformats.org/officeDocument/2006/relationships" id="258" r:id="Rb6b59639fcb847b2"/>
    <p:sldId xmlns:r="http://schemas.openxmlformats.org/officeDocument/2006/relationships" id="259" r:id="Rac3fec413166418a"/>
    <p:sldId xmlns:r="http://schemas.openxmlformats.org/officeDocument/2006/relationships" id="260" r:id="Rafbe18ed2b6a4484"/>
    <p:sldId xmlns:r="http://schemas.openxmlformats.org/officeDocument/2006/relationships" id="261" r:id="Rdaab3bbbd6a64535"/>
    <p:sldId xmlns:r="http://schemas.openxmlformats.org/officeDocument/2006/relationships" id="262" r:id="Rbb1203bade914ea0"/>
    <p:sldId xmlns:r="http://schemas.openxmlformats.org/officeDocument/2006/relationships" id="263" r:id="R5278d8fe49f8405e"/>
    <p:sldId xmlns:r="http://schemas.openxmlformats.org/officeDocument/2006/relationships" id="264" r:id="Refa5fe56d4ed486f"/>
    <p:sldId xmlns:r="http://schemas.openxmlformats.org/officeDocument/2006/relationships" id="265" r:id="Rda40a9ae3c3248db"/>
    <p:sldId xmlns:r="http://schemas.openxmlformats.org/officeDocument/2006/relationships" id="266" r:id="R5e45e62761464716"/>
    <p:sldId xmlns:r="http://schemas.openxmlformats.org/officeDocument/2006/relationships" id="267" r:id="R85cd0b489cf643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cc8fe615b54f64" /><Relationship Type="http://schemas.openxmlformats.org/officeDocument/2006/relationships/slideMaster" Target="/ppt/slideMasters/slideMaster1.xml" Id="R43506abf11244421" /><Relationship Type="http://schemas.openxmlformats.org/officeDocument/2006/relationships/notesMaster" Target="/ppt/notesMasters/notesMaster1.xml" Id="R225f13e8719e4087" /><Relationship Type="http://schemas.openxmlformats.org/officeDocument/2006/relationships/presProps" Target="/ppt/presProps.xml" Id="R166304e161f24189" /><Relationship Type="http://schemas.openxmlformats.org/officeDocument/2006/relationships/tableStyles" Target="/ppt/tableStyles.xml" Id="R26b7e73359994ec0" /><Relationship Type="http://schemas.openxmlformats.org/officeDocument/2006/relationships/slide" Target="/ppt/slides/slide1.xml" Id="R4a85422c303b4ed5" /><Relationship Type="http://schemas.openxmlformats.org/officeDocument/2006/relationships/slide" Target="/ppt/slides/slide2.xml" Id="R6282dd1def3046cb" /><Relationship Type="http://schemas.openxmlformats.org/officeDocument/2006/relationships/slide" Target="/ppt/slides/slide3.xml" Id="Rb6b59639fcb847b2" /><Relationship Type="http://schemas.openxmlformats.org/officeDocument/2006/relationships/slide" Target="/ppt/slides/slide4.xml" Id="Rac3fec413166418a" /><Relationship Type="http://schemas.openxmlformats.org/officeDocument/2006/relationships/slide" Target="/ppt/slides/slide5.xml" Id="Rafbe18ed2b6a4484" /><Relationship Type="http://schemas.openxmlformats.org/officeDocument/2006/relationships/slide" Target="/ppt/slides/slide6.xml" Id="Rdaab3bbbd6a64535" /><Relationship Type="http://schemas.openxmlformats.org/officeDocument/2006/relationships/slide" Target="/ppt/slides/slide7.xml" Id="Rbb1203bade914ea0" /><Relationship Type="http://schemas.openxmlformats.org/officeDocument/2006/relationships/slide" Target="/ppt/slides/slide8.xml" Id="R5278d8fe49f8405e" /><Relationship Type="http://schemas.openxmlformats.org/officeDocument/2006/relationships/slide" Target="/ppt/slides/slide9.xml" Id="Refa5fe56d4ed486f" /><Relationship Type="http://schemas.openxmlformats.org/officeDocument/2006/relationships/slide" Target="/ppt/slides/slide10.xml" Id="Rda40a9ae3c3248db" /><Relationship Type="http://schemas.openxmlformats.org/officeDocument/2006/relationships/slide" Target="/ppt/slides/slide11.xml" Id="R5e45e62761464716" /><Relationship Type="http://schemas.openxmlformats.org/officeDocument/2006/relationships/slide" Target="/ppt/slides/slide12.xml" Id="R85cd0b489cf643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e3b1cd3cda4a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0c94d98b1a4c25" /><Relationship Type="http://schemas.openxmlformats.org/officeDocument/2006/relationships/notesMaster" Target="/ppt/notesMasters/notesMaster1.xml" Id="R3c9305c1decc40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906788e2f74544" /><Relationship Type="http://schemas.openxmlformats.org/officeDocument/2006/relationships/notesMaster" Target="/ppt/notesMasters/notesMaster1.xml" Id="R92ec512046804d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c99ba9d42f445b" /><Relationship Type="http://schemas.openxmlformats.org/officeDocument/2006/relationships/notesMaster" Target="/ppt/notesMasters/notesMaster1.xml" Id="R06ed3ccb179449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0f41541fc94d4d" /><Relationship Type="http://schemas.openxmlformats.org/officeDocument/2006/relationships/notesMaster" Target="/ppt/notesMasters/notesMaster1.xml" Id="Rce7b48897a5c47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2013889c574a87" /><Relationship Type="http://schemas.openxmlformats.org/officeDocument/2006/relationships/notesMaster" Target="/ppt/notesMasters/notesMaster1.xml" Id="Rcc0a4bf653654a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aad3ea34ef4faf" /><Relationship Type="http://schemas.openxmlformats.org/officeDocument/2006/relationships/notesMaster" Target="/ppt/notesMasters/notesMaster1.xml" Id="R678a210bc4ca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22990a60b248f8" /><Relationship Type="http://schemas.openxmlformats.org/officeDocument/2006/relationships/notesMaster" Target="/ppt/notesMasters/notesMaster1.xml" Id="Rf58f9a9373294e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6f9e3740c346ab" /><Relationship Type="http://schemas.openxmlformats.org/officeDocument/2006/relationships/notesMaster" Target="/ppt/notesMasters/notesMaster1.xml" Id="Rca5da557c77947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d7ec2da5e64dc8" /><Relationship Type="http://schemas.openxmlformats.org/officeDocument/2006/relationships/notesMaster" Target="/ppt/notesMasters/notesMaster1.xml" Id="Rb2fc01f14be446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605710dd70400f" /><Relationship Type="http://schemas.openxmlformats.org/officeDocument/2006/relationships/notesMaster" Target="/ppt/notesMasters/notesMaster1.xml" Id="Rad81ce6e98aa44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27eb5163224f50" /><Relationship Type="http://schemas.openxmlformats.org/officeDocument/2006/relationships/notesMaster" Target="/ppt/notesMasters/notesMaster1.xml" Id="R6ffe7709468940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3e284eccd74f1f" /><Relationship Type="http://schemas.openxmlformats.org/officeDocument/2006/relationships/notesMaster" Target="/ppt/notesMasters/notesMaster1.xml" Id="R6e63fe2b133f45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Title and big question: 0 minutes.</a:t>
            </a:r>
          </a:p>
          <a:p xmlns:a="http://schemas.openxmlformats.org/drawingml/2006/main">
            <a:r>
              <a:t>Teacher: Read the big question and careers line before the timed sequence.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Arrival and regulation: 3 minutes.</a:t>
            </a:r>
          </a:p>
          <a:p xmlns:a="http://schemas.openxmlformats.org/drawingml/2006/main">
            <a:r>
              <a:t>Teacher: Offer a calm seat, usual communication aid and help choice. No personal disclosure is required.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Starter: 3 minutes.</a:t>
            </a:r>
          </a:p>
          <a:p xmlns:a="http://schemas.openxmlformats.org/drawingml/2006/main">
            <a:r>
              <a:t>Teacher: Read the fictional role captions. Ask about the action, not the worker’s appearance. Accept pointing, speech or an aid.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Today: 0 minutes.</a:t>
            </a:r>
          </a:p>
          <a:p xmlns:a="http://schemas.openxmlformats.org/drawingml/2006/main">
            <a:r>
              <a:t>Teacher: Read the approved objective and three success checks. Explain any new word with a concrete action.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I Do: 5 minutes.</a:t>
            </a:r>
          </a:p>
          <a:p xmlns:a="http://schemas.openxmlformats.org/drawingml/2006/main">
            <a:r>
              <a:t>Teacher: Model the six lines, using a separate token set or task card. Identify the stated fact that supports the match. Do not record the adult model as learner evidence.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We Do: 5 minutes.</a:t>
            </a:r>
          </a:p>
          <a:p xmlns:a="http://schemas.openxmlformats.org/drawingml/2006/main">
            <a:r>
              <a:t>Teacher: A fits the supplied garden role. B is the store role and C the shop role in this particular brief. Real jobs can share tasks; do not teach a universal rule from these fictional examples. Recheck with a new task card and ask what fact in the role brief supports the match.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You Do practice: 12 minutes.</a:t>
            </a:r>
          </a:p>
          <a:p xmlns:a="http://schemas.openxmlformats.org/drawingml/2006/main">
            <a:r>
              <a:t>Teacher: Use four minutes to explore the three fictional role briefs. Use five minutes to sort tasks: all routes record two different job-role matches, with the Supported route choosing between two roles. Use three minutes to choose a role and give a reason from its brief. Ask for a clarification or improvement after one specific prompt; keep the first response.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You Do evidence: 6 minutes.</a:t>
            </a:r>
          </a:p>
          <a:p xmlns:a="http://schemas.openxmlformats.org/drawingml/2006/main">
            <a:r>
              <a:t>Teacher: Capture each learner’s actual match, reason and practical action as applicable. Record prompts and changed responses separately. Do not infer learning from a group answer.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Tidy and evidence check: 4 minutes.</a:t>
            </a:r>
          </a:p>
          <a:p xmlns:a="http://schemas.openxmlformats.org/drawingml/2006/main">
            <a:r>
              <a:t>Teacher: Check learner IDs, actual work references and support. Store the evidence only when it exists; leave gaps visible.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Exit ticket: 2 minutes.</a:t>
            </a:r>
          </a:p>
          <a:p xmlns:a="http://schemas.openxmlformats.org/drawingml/2006/main">
            <a:r>
              <a:t>Teacher: Take an individual exit response. Agree one next teaching step, without requiring public speaking.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Vocabulary: 0 minutes.</a:t>
            </a:r>
          </a:p>
          <a:p xmlns:a="http://schemas.openxmlformats.org/drawingml/2006/main">
            <a:r>
              <a:t>Teacher: Read and show each word with an action or concrete example. Keep the mat available.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CAREERS-BUILD-A2-W02 · Year A · Week beginning 9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S/So (M/C: none); British Values IL/MR (D/RL/T: none).</a:t>
            </a:r>
          </a:p>
          <a:p xmlns:a="http://schemas.openxmlformats.org/drawingml/2006/main">
            <a:r>
              <a:t>Staff brief: 0 minutes.</a:t>
            </a:r>
          </a:p>
          <a:p xmlns:a="http://schemas.openxmlformats.org/drawingml/2006/main">
            <a:r>
              <a:t>Teacher: All worker profiles, job roles, employers and settings are fictional. Use only the supplied classroom tasks; no real employers, applications or personal contact details. No names are required. Do not ask about family, body or private experiences. Respect a choice to pause or respond privately. No forced pair work or public performance. Follow the setting’s safeguarding route if a concern is raised.</a:t>
            </a:r>
          </a:p>
          <a:p xmlns:a="http://schemas.openxmlformats.org/drawingml/2006/main">
            <a:r>
              <a:t>Routes: Supported: choose between two role cards; make two job-to-task matches with reading support. Independent: sort all six task cards, then record two different role matches and one reason. Aspire: explain how a skill could be used in more than one role, using the supplied briefs.</a:t>
            </a:r>
          </a:p>
          <a:p xmlns:a="http://schemas.openxmlformats.org/drawingml/2006/main">
            <a:r>
              <a:t>Evidence: Two recorded job-to-task matches and the learner’s reason, spoken, selected or written.</a:t>
            </a:r>
          </a:p>
          <a:p xmlns:a="http://schemas.openxmlformats.org/drawingml/2006/main">
            <a:r>
              <a:t>Careers: This helps me find out what different jobs involve.</a:t>
            </a:r>
          </a:p>
          <a:p xmlns:a="http://schemas.openxmlformats.org/drawingml/2006/main">
            <a:r>
              <a:t>Source: owner_orders/BUILD_Careers_Autumn2_YearA_outline; revision approved-2026-10-26.</a:t>
            </a:r>
          </a:p>
          <a:p xmlns:a="http://schemas.openxmlformats.org/drawingml/2006/main">
            <a:r>
              <a:t>Fictional worker illustration is an authored visual prompt, not evidence of a real employer or vacancy.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9469c8e574e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0cbe0552b4e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c51671fe040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c0193486a40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5a20bdd054b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dba861d2b4b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7189d4481441e1" /><Relationship Type="http://schemas.openxmlformats.org/officeDocument/2006/relationships/slideLayout" Target="/ppt/slideLayouts/slideLayout1.xml" Id="R468a1d675d78449c" /><Relationship Type="http://schemas.openxmlformats.org/officeDocument/2006/relationships/slideLayout" Target="/ppt/slideLayouts/slideLayout2.xml" Id="Rfc0d3f6f57ef4544" /><Relationship Type="http://schemas.openxmlformats.org/officeDocument/2006/relationships/slideLayout" Target="/ppt/slideLayouts/slideLayout3.xml" Id="R9a5a339b28fe4878" /><Relationship Type="http://schemas.openxmlformats.org/officeDocument/2006/relationships/slideLayout" Target="/ppt/slideLayouts/slideLayout4.xml" Id="R23d92e965ca04f35" /><Relationship Type="http://schemas.openxmlformats.org/officeDocument/2006/relationships/slideLayout" Target="/ppt/slideLayouts/slideLayout5.xml" Id="R9d504ccd15b843ee" /><Relationship Type="http://schemas.openxmlformats.org/officeDocument/2006/relationships/slideLayout" Target="/ppt/slideLayouts/slideLayout6.xml" Id="Re41b25e3cc3d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8a1d675d78449c"/>
    <p:sldLayoutId xmlns:r="http://schemas.openxmlformats.org/officeDocument/2006/relationships" id="2147483650" r:id="Rfc0d3f6f57ef4544"/>
    <p:sldLayoutId xmlns:r="http://schemas.openxmlformats.org/officeDocument/2006/relationships" id="2147483651" r:id="R9a5a339b28fe4878"/>
    <p:sldLayoutId xmlns:r="http://schemas.openxmlformats.org/officeDocument/2006/relationships" id="2147483652" r:id="R23d92e965ca04f35"/>
    <p:sldLayoutId xmlns:r="http://schemas.openxmlformats.org/officeDocument/2006/relationships" id="2147483653" r:id="R9d504ccd15b843ee"/>
    <p:sldLayoutId xmlns:r="http://schemas.openxmlformats.org/officeDocument/2006/relationships" id="2147483654" r:id="Re41b25e3cc3d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ffd002c7c46f4" /><Relationship Type="http://schemas.openxmlformats.org/officeDocument/2006/relationships/notesSlide" Target="/ppt/notesSlides/notesSlide1.xml" Id="Rc6aba59945294d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7140bb06f4e51" /><Relationship Type="http://schemas.openxmlformats.org/officeDocument/2006/relationships/notesSlide" Target="/ppt/notesSlides/notesSlide2.xml" Id="Rf45d56211bd049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e692ee4a144d2" /><Relationship Type="http://schemas.openxmlformats.org/officeDocument/2006/relationships/image" Target="/ppt/media/image.jpeg" Id="Ra319bb917b9a4f2b" /><Relationship Type="http://schemas.openxmlformats.org/officeDocument/2006/relationships/notesSlide" Target="/ppt/notesSlides/notesSlide3.xml" Id="R1a71f251535449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3867bba4d4b02" /><Relationship Type="http://schemas.openxmlformats.org/officeDocument/2006/relationships/notesSlide" Target="/ppt/notesSlides/notesSlide4.xml" Id="R21ac2622b99749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f02cb2f7642f8" /><Relationship Type="http://schemas.openxmlformats.org/officeDocument/2006/relationships/notesSlide" Target="/ppt/notesSlides/notesSlide5.xml" Id="Rf411c1a6c35b47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bfa8807d74061" /><Relationship Type="http://schemas.openxmlformats.org/officeDocument/2006/relationships/notesSlide" Target="/ppt/notesSlides/notesSlide6.xml" Id="Rb4c96f65d89e4b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105dc273c443c" /><Relationship Type="http://schemas.openxmlformats.org/officeDocument/2006/relationships/notesSlide" Target="/ppt/notesSlides/notesSlide7.xml" Id="Rc542062ed20e42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82bdfc4c94c26" /><Relationship Type="http://schemas.openxmlformats.org/officeDocument/2006/relationships/notesSlide" Target="/ppt/notesSlides/notesSlide8.xml" Id="R16d1d2afb48244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7c4f35b724828" /><Relationship Type="http://schemas.openxmlformats.org/officeDocument/2006/relationships/notesSlide" Target="/ppt/notesSlides/notesSlide9.xml" Id="R0cf6eaec143f4c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a407effd449e2" /><Relationship Type="http://schemas.openxmlformats.org/officeDocument/2006/relationships/notesSlide" Target="/ppt/notesSlides/notesSlide10.xml" Id="Rec3569aca93e48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a53716eda4e7c" /><Relationship Type="http://schemas.openxmlformats.org/officeDocument/2006/relationships/notesSlide" Target="/ppt/notesSlides/notesSlide11.xml" Id="Rbc29f792f52045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fbe365a8d47ef" /><Relationship Type="http://schemas.openxmlformats.org/officeDocument/2006/relationships/notesSlide" Target="/ppt/notesSlides/notesSlide12.xml" Id="Rfc614786ba4240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TITLE AND BIG QUESTION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Jobs and their tasks</a:t>
            </a:r>
          </a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Year A · Week 2 · 9–13 November 2026 · 40 minutes</a:t>
            </a:r>
          </a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tasks do people do at work?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helps me find out what different jobs involve.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Term theme: Identity &amp; Belonging</a:t>
            </a:r>
          </a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ARRIVAL AND REGULATION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2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calm start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a calm place to sit.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Ask for a short pause if needed.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work space clear.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Ask for help with the words.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a point, a word or your aid.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Let each person have time.</a:t>
            </a:r>
          </a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3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Look at the workers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E9475-161D-4896-A42D-70560EFC7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9bb917b9a4f2b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Look at the three scenes.</a:t>
            </a:r>
          </a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worker cares for plants?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worker checks boxes?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Point to a job and its task.</a:t>
            </a:r>
          </a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Match two job roles to the tasks people do.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can match two jobs to tasks.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can choose a role to look at.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can give one reason for my choice.</a:t>
            </a:r>
          </a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5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is a made-up garden job.</a:t>
            </a:r>
          </a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worker cares for plants.</a:t>
            </a:r>
          </a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task says: give water to pots.</a:t>
            </a:r>
          </a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That task fits the garden role.</a:t>
            </a:r>
          </a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check the role card to be sure.</a:t>
            </a:r>
          </a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chose it because plants need care.</a:t>
            </a:r>
          </a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Read the role. Match the task. Give a reason.</a:t>
            </a:r>
          </a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6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task fits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task fits the made-up garden job?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 Give water to pots.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B  Check boxes on a list.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  Put tins on a shelf.</a:t>
            </a:r>
          </a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PRACTICE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7 / 12  ·  12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Try the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the help you need.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Supported: match two job tasks.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Independent: sort all six cards.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Aspire: find a skill two jobs share.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Choose a role. Give one reason.</a:t>
            </a:r>
          </a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EVIDENCE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8 / 12  ·  6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My work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two job and task matches.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the role you chose.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your reason in your own words.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Note the help and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TIDY AND EVIDENCE CHECK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9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Tidy and check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Check the code on both sheets.</a:t>
            </a:r>
          </a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work and note the help.</a:t>
            </a:r>
          </a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Put the cards away with care.</a:t>
            </a:r>
          </a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Tell the adult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10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Exit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two jobs did you match?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task fits the role you chose?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fact helped you choose?</a:t>
            </a:r>
          </a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Job: Work a person does.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Role: A part you have in a job.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Task: A piece of work.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Match: Put things that fit together.</a:t>
            </a:r>
          </a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Shop: A place where goods are sold.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Store: A place to keep goods.</a:t>
            </a:r>
          </a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Reason: Why you chose something.</a:t>
            </a:r>
          </a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CAREERS-BUILD-A2-W02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Read the planner and support route.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only fictional roles and settings.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Scribe exact words; record help.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learner’s own evidence.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Week 7 is the assessing lesson.</a:t>
            </a:r>
          </a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/>
  <dc:title>Jobs and their tasks</dc:title>
  <dcterms:created xsi:type="dcterms:W3CDTF">2026-10-26T00:21:27.7160000Z</dcterms:created>
  <dcterms:modified xsi:type="dcterms:W3CDTF">2026-10-26T00:21:27.7160000Z</dcterms:modified>
</coreProperties>
</file>