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1c0ac9d4da44f05"/><Relationship Type="http://schemas.openxmlformats.org/officeDocument/2006/relationships/extended-properties" Target="/docProps/app.xml" Id="R911e6b2a3ae747bc"/><Relationship Type="http://schemas.openxmlformats.org/officeDocument/2006/relationships/officeDocument" Target="/ppt/presentation.xml" Id="R357a420fb4b34b33"/></Relationships>
</file>

<file path=ppt/presentation.xml><?xml version="1.0" encoding="utf-8"?>
<p:presentation xmlns:p="http://schemas.openxmlformats.org/presentationml/2006/main">
  <p:sldMasterIdLst>
    <p:sldMasterId xmlns:r="http://schemas.openxmlformats.org/officeDocument/2006/relationships" id="2147483648" r:id="R31a3b8b9a2b34352"/>
  </p:sldMasterIdLst>
  <p:notesMasterIdLst>
    <p:notesMasterId xmlns:r="http://schemas.openxmlformats.org/officeDocument/2006/relationships" r:id="R631c0288452a4545"/>
  </p:notesMasterIdLst>
  <p:sldIdLst>
    <p:sldId xmlns:r="http://schemas.openxmlformats.org/officeDocument/2006/relationships" id="256" r:id="R81edd926ad9949fe"/>
    <p:sldId xmlns:r="http://schemas.openxmlformats.org/officeDocument/2006/relationships" id="257" r:id="R8366aebdb7834a15"/>
    <p:sldId xmlns:r="http://schemas.openxmlformats.org/officeDocument/2006/relationships" id="258" r:id="Rc8f002ce07844c9e"/>
    <p:sldId xmlns:r="http://schemas.openxmlformats.org/officeDocument/2006/relationships" id="259" r:id="R5d56d016cca14e91"/>
    <p:sldId xmlns:r="http://schemas.openxmlformats.org/officeDocument/2006/relationships" id="260" r:id="Ra3420d188d684533"/>
    <p:sldId xmlns:r="http://schemas.openxmlformats.org/officeDocument/2006/relationships" id="261" r:id="Rfe6d4d0978024ac6"/>
    <p:sldId xmlns:r="http://schemas.openxmlformats.org/officeDocument/2006/relationships" id="262" r:id="Rbaf9d6c86e8147a0"/>
    <p:sldId xmlns:r="http://schemas.openxmlformats.org/officeDocument/2006/relationships" id="263" r:id="R1c5484bd904949ca"/>
    <p:sldId xmlns:r="http://schemas.openxmlformats.org/officeDocument/2006/relationships" id="264" r:id="Ra9288e2553b141c7"/>
    <p:sldId xmlns:r="http://schemas.openxmlformats.org/officeDocument/2006/relationships" id="265" r:id="R8ab32c9ea6354f1e"/>
    <p:sldId xmlns:r="http://schemas.openxmlformats.org/officeDocument/2006/relationships" id="266" r:id="Rbe64b999ec554f04"/>
    <p:sldId xmlns:r="http://schemas.openxmlformats.org/officeDocument/2006/relationships" id="267" r:id="Rb247796c9e6b43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5b30bac0fdbf4ec6"/><Relationship Type="http://schemas.openxmlformats.org/officeDocument/2006/relationships/slideMaster" Target="/ppt/slideMasters/slideMaster1.xml" Id="R31a3b8b9a2b34352"/><Relationship Type="http://schemas.openxmlformats.org/officeDocument/2006/relationships/notesMaster" Target="/ppt/notesMasters/notesMaster1.xml" Id="R631c0288452a4545"/><Relationship Type="http://schemas.openxmlformats.org/officeDocument/2006/relationships/presProps" Target="/ppt/presProps.xml" Id="R83e28f3a1478425e"/><Relationship Type="http://schemas.openxmlformats.org/officeDocument/2006/relationships/tableStyles" Target="/ppt/tableStyles.xml" Id="Rcb7dd3dc7f124c30"/><Relationship Type="http://schemas.openxmlformats.org/officeDocument/2006/relationships/slide" Target="/ppt/slides/slide1.xml" Id="R81edd926ad9949fe"/><Relationship Type="http://schemas.openxmlformats.org/officeDocument/2006/relationships/slide" Target="/ppt/slides/slide2.xml" Id="R8366aebdb7834a15"/><Relationship Type="http://schemas.openxmlformats.org/officeDocument/2006/relationships/slide" Target="/ppt/slides/slide3.xml" Id="Rc8f002ce07844c9e"/><Relationship Type="http://schemas.openxmlformats.org/officeDocument/2006/relationships/slide" Target="/ppt/slides/slide4.xml" Id="R5d56d016cca14e91"/><Relationship Type="http://schemas.openxmlformats.org/officeDocument/2006/relationships/slide" Target="/ppt/slides/slide5.xml" Id="Ra3420d188d684533"/><Relationship Type="http://schemas.openxmlformats.org/officeDocument/2006/relationships/slide" Target="/ppt/slides/slide6.xml" Id="Rfe6d4d0978024ac6"/><Relationship Type="http://schemas.openxmlformats.org/officeDocument/2006/relationships/slide" Target="/ppt/slides/slide7.xml" Id="Rbaf9d6c86e8147a0"/><Relationship Type="http://schemas.openxmlformats.org/officeDocument/2006/relationships/slide" Target="/ppt/slides/slide8.xml" Id="R1c5484bd904949ca"/><Relationship Type="http://schemas.openxmlformats.org/officeDocument/2006/relationships/slide" Target="/ppt/slides/slide9.xml" Id="Ra9288e2553b141c7"/><Relationship Type="http://schemas.openxmlformats.org/officeDocument/2006/relationships/slide" Target="/ppt/slides/slide10.xml" Id="R8ab32c9ea6354f1e"/><Relationship Type="http://schemas.openxmlformats.org/officeDocument/2006/relationships/slide" Target="/ppt/slides/slide11.xml" Id="Rbe64b999ec554f04"/><Relationship Type="http://schemas.openxmlformats.org/officeDocument/2006/relationships/slide" Target="/ppt/slides/slide12.xml" Id="Rb247796c9e6b43a0"/></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ae55d422ae4f4d3d"/></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ce91104927b14132"/><Relationship Type="http://schemas.openxmlformats.org/officeDocument/2006/relationships/notesMaster" Target="/ppt/notesMasters/notesMaster1.xml" Id="R70fabb4dd80b43e5"/></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c1cddfe85f204de3"/><Relationship Type="http://schemas.openxmlformats.org/officeDocument/2006/relationships/notesMaster" Target="/ppt/notesMasters/notesMaster1.xml" Id="Rd46cf24ee6e84e7f"/></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b619f0ba300462e"/><Relationship Type="http://schemas.openxmlformats.org/officeDocument/2006/relationships/notesMaster" Target="/ppt/notesMasters/notesMaster1.xml" Id="R63eee5f3e05a4ac6"/></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f90b54d0f3584fd0"/><Relationship Type="http://schemas.openxmlformats.org/officeDocument/2006/relationships/notesMaster" Target="/ppt/notesMasters/notesMaster1.xml" Id="R73090e9844ac4a22"/></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d50e13a7b4f8461a"/><Relationship Type="http://schemas.openxmlformats.org/officeDocument/2006/relationships/notesMaster" Target="/ppt/notesMasters/notesMaster1.xml" Id="R82d009a1732a4d3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51b027015df4eb8"/><Relationship Type="http://schemas.openxmlformats.org/officeDocument/2006/relationships/notesMaster" Target="/ppt/notesMasters/notesMaster1.xml" Id="R459c680a240c435a"/></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233caffef5ce4318"/><Relationship Type="http://schemas.openxmlformats.org/officeDocument/2006/relationships/notesMaster" Target="/ppt/notesMasters/notesMaster1.xml" Id="R41a722b11a084597"/></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6b8c6d84fd5b4509"/><Relationship Type="http://schemas.openxmlformats.org/officeDocument/2006/relationships/notesMaster" Target="/ppt/notesMasters/notesMaster1.xml" Id="R0af76ed3b1e34fc9"/></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a79586fd2dd94f10"/><Relationship Type="http://schemas.openxmlformats.org/officeDocument/2006/relationships/notesMaster" Target="/ppt/notesMasters/notesMaster1.xml" Id="R5ddb775db3c54ac3"/></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4d672a09cde47a8"/><Relationship Type="http://schemas.openxmlformats.org/officeDocument/2006/relationships/notesMaster" Target="/ppt/notesMasters/notesMaster1.xml" Id="Re6436252574840c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5508309e42ea4890"/><Relationship Type="http://schemas.openxmlformats.org/officeDocument/2006/relationships/notesMaster" Target="/ppt/notesMasters/notesMaster1.xml" Id="R47646d38437d4eda"/></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2f4bf63784124b3c"/><Relationship Type="http://schemas.openxmlformats.org/officeDocument/2006/relationships/notesMaster" Target="/ppt/notesMasters/notesMaster1.xml" Id="R6319d05537484140"/></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Title and big question: 0 minutes.</a:t>
            </a:r>
          </a:p>
          <a:p xmlns:a="http://schemas.openxmlformats.org/drawingml/2006/main">
            <a:r>
              <a:t>Teacher: Introduce the assessing week and its careers line. This is a review of familiar learning, not new teaching.</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Arrival and regulation: 3 minutes.</a:t>
            </a:r>
          </a:p>
          <a:p xmlns:a="http://schemas.openxmlformats.org/drawingml/2006/main">
            <a:r>
              <a:t>Teacher: Offer the established response mode and regulation routine. Record a pause or unobserved task without treating it as failure.</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Gather earlier work: 4 minutes.</a:t>
            </a:r>
          </a:p>
          <a:p xmlns:a="http://schemas.openxmlformats.org/drawingml/2006/main">
            <a:r>
              <a:t>Teacher: Use the half-term audit in Staff Answers. Gather work by code and actual date. Do not explain target answers or rehearse the task. Missing work stays missing; a new check has the current date.</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Today: 0 minutes.</a:t>
            </a:r>
          </a:p>
          <a:p xmlns:a="http://schemas.openxmlformats.org/drawingml/2006/main">
            <a:r>
              <a:t>Teacher: Read the objective and success checks only. Do not ask for or model target answers.</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Assessment brief: 3 minutes.</a:t>
            </a:r>
          </a:p>
          <a:p xmlns:a="http://schemas.openxmlformats.org/drawingml/2006/main">
            <a:r>
              <a:t>Teacher: Explain the response method and the separation of initial work from feedback. Reading, exact scribing and an aid are access support. Reduced options, an answer cue or a supplied question are content support; record precisely.</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Initial job check: 6 minutes.</a:t>
            </a:r>
          </a:p>
          <a:p xmlns:a="http://schemas.openxmlformats.org/drawingml/2006/main">
            <a:r>
              <a:t>Teacher: Use Support Cards page 1. Every learner matches both A and B to one of task cards 1–3 and gives one reason. Key: A–3; B–1. Card 2 is the spare. Record first choices verbatim before feedback. Do not reveal the key during this stage.</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Initial task check: 10 minutes.</a:t>
            </a:r>
          </a:p>
          <a:p xmlns:a="http://schemas.openxmlformats.org/drawingml/2006/main">
            <a:r>
              <a:t>Teacher: Use page 2 first: put one circle in the tray, then one square next to it. Observe the order and final set. Remove the finished tray before page 3. Present the vague instruction without suggesting a question. A suitable question asks which tray; give the fixed reply Use tray 2, then observe one circle in tray 2. If a question is supplied, retain the initial gap and record the prompt. Use parallel sets only where an adult can observe each learner. Queue short individual turns; if not observed in ten minutes, mark not observed and plan a dated check rather than infer success.</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Review earlier work: 6 minutes.</a:t>
            </a:r>
          </a:p>
          <a:p xmlns:a="http://schemas.openxmlformats.org/drawingml/2006/main">
            <a:r>
              <a:t>Teacher: Use Evidence Sheet page 2. Record the learner’s explanation before feedback. Check that earlier work is theirs and its record shows the claimed skill, with help used. Review the Week 5 individual contribution, not just a team product. If no earlier work exists, mark the gap and keep the Week 7 task as new evidence dated today.</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Feedback and response: 6 minutes.</a:t>
            </a:r>
          </a:p>
          <a:p xmlns:a="http://schemas.openxmlformats.org/drawingml/2006/main">
            <a:r>
              <a:t>Teacher: After all initial checks, give one specific feedback point. Preserve the first record. Use Evidence Sheet page 3 for the learner’s later response and any changed action. If they retry a task, label it after feedback with support and date. Record voice, audience, next step and response; agree a practice date. Do not reclassify a revised answer as independent initial performance.</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Exit ticket: 2 minutes.</a:t>
            </a:r>
          </a:p>
          <a:p xmlns:a="http://schemas.openxmlformats.org/drawingml/2006/main">
            <a:r>
              <a:t>Teacher: Ask for a skill, next step and help needed. Confirm the work storage reference and unfinished evidence. A learner can point, speak, draw, write or use an aid.</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Vocabulary: 0 minutes.</a:t>
            </a:r>
          </a:p>
          <a:p xmlns:a="http://schemas.openxmlformats.org/drawingml/2006/main">
            <a:r>
              <a:t>Teacher: This familiar word mat can be available for access. It gives no task answer. Record if an explanation supplies content needed for an assessed response.</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CAREERS-BUILD-A2-W07 · Year A · Week beginning 14 December 2026</a:t>
            </a:r>
          </a:p>
          <a:p xmlns:a="http://schemas.openxmlformats.org/drawingml/2006/main">
            <a:r>
              <a:t>Term theme: Identity &amp; Belonging</a:t>
            </a:r>
          </a:p>
          <a:p xmlns:a="http://schemas.openxmlformats.org/drawingml/2006/main">
            <a:r>
              <a:t>Thread tags: SMSC S/So (M/C: none); British Values IL/MR (D/RL/T: none).</a:t>
            </a:r>
          </a:p>
          <a:p xmlns:a="http://schemas.openxmlformats.org/drawingml/2006/main">
            <a:r>
              <a:t>Staff brief: 0 minutes.</a:t>
            </a:r>
          </a:p>
          <a:p xmlns:a="http://schemas.openxmlformats.org/drawingml/2006/main">
            <a:r>
              <a:t>Teacher: Use fictional job roles and paper shapes only. No real work placement, lifting, tools or personal career disclosure is needed. Respect a pass, pause or aid. Missing or unobserved work stays clearly marked. Do not infer a qualification result or completion from this lesson. Use VF · WS · I · NS+ (Yellow Box) · // self-edit · ? read back · R responded · E evidence. R requires Voice, Audience, a specific NS+ prompt and the learner response in their own colour. E is recorded only when actual work is banked. Keep the initial record unchanged; record feedback and the later response separately.</a:t>
            </a:r>
          </a:p>
          <a:p xmlns:a="http://schemas.openxmlformats.org/drawingml/2006/main">
            <a:r>
              <a:t>Routes: Supported: Read the same task words without suggesting an answer. Allow pointing, an aid or exact scribing. If choices are reduced, a step is prompted or a question is supplied, record that content support. Keep the first response before any help. Independent: Complete the familiar job matches, two-step task and clarification check. Link an earlier work sample to a skill and job task. Choose a next step after feedback; record any help actually used. Aspire: Complete the same initial checks. Compare two earlier samples and explain which is stronger evidence or where a gap remains. This extends review of familiar work, with no new content.</a:t>
            </a:r>
          </a:p>
          <a:p xmlns:a="http://schemas.openxmlformats.org/drawingml/2006/main">
            <a:r>
              <a:t>Evidence: An individual assessment record of job knowledge, task performance and help used; initial responses, later feedback response and next step kept separately. Earlier work is linked by code and actual date, with gaps retained.</a:t>
            </a:r>
          </a:p>
          <a:p xmlns:a="http://schemas.openxmlformats.org/drawingml/2006/main">
            <a:r>
              <a:t>Careers: This helps me show my skills and plan what to practise next.</a:t>
            </a:r>
          </a:p>
          <a:p xmlns:a="http://schemas.openxmlformats.org/drawingml/2006/main">
            <a:r>
              <a:t>Source: owner_orders/BUILD_Careers_Autumn2_YearA_outline; revision approved-2026-10-26.</a:t>
            </a:r>
          </a:p>
          <a:p xmlns:a="http://schemas.openxmlformats.org/drawingml/2006/main">
            <a:r>
              <a:t>Use fictional job roles and paper shapes only. No real work placement, lifting, tools or personal career disclosure is needed. Respect a pass, pause or aid. Missing or unobserved work stays clearly marked. Do not infer a qualification result or completion from this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a73ac9475c614121"/></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9d2174d301ef43c3"/></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eede491d8c694151"/></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305d1f2921884e3e"/></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ffdb310b576c4c83"/></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57d315407018476e"/></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99856f11c07c45ae"/><Relationship Type="http://schemas.openxmlformats.org/officeDocument/2006/relationships/slideLayout" Target="/ppt/slideLayouts/slideLayout1.xml" Id="Ree8a38990b614d59"/><Relationship Type="http://schemas.openxmlformats.org/officeDocument/2006/relationships/slideLayout" Target="/ppt/slideLayouts/slideLayout2.xml" Id="R6f3dddb633e34a97"/><Relationship Type="http://schemas.openxmlformats.org/officeDocument/2006/relationships/slideLayout" Target="/ppt/slideLayouts/slideLayout3.xml" Id="R843da2b1e9e14b22"/><Relationship Type="http://schemas.openxmlformats.org/officeDocument/2006/relationships/slideLayout" Target="/ppt/slideLayouts/slideLayout4.xml" Id="R94b53e060f85422a"/><Relationship Type="http://schemas.openxmlformats.org/officeDocument/2006/relationships/slideLayout" Target="/ppt/slideLayouts/slideLayout5.xml" Id="R3503df8d79d64cb2"/><Relationship Type="http://schemas.openxmlformats.org/officeDocument/2006/relationships/slideLayout" Target="/ppt/slideLayouts/slideLayout6.xml" Id="R00996745cb5240fe"/></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8a38990b614d59"/>
    <p:sldLayoutId xmlns:r="http://schemas.openxmlformats.org/officeDocument/2006/relationships" id="2147483650" r:id="R6f3dddb633e34a97"/>
    <p:sldLayoutId xmlns:r="http://schemas.openxmlformats.org/officeDocument/2006/relationships" id="2147483651" r:id="R843da2b1e9e14b22"/>
    <p:sldLayoutId xmlns:r="http://schemas.openxmlformats.org/officeDocument/2006/relationships" id="2147483652" r:id="R94b53e060f85422a"/>
    <p:sldLayoutId xmlns:r="http://schemas.openxmlformats.org/officeDocument/2006/relationships" id="2147483653" r:id="R3503df8d79d64cb2"/>
    <p:sldLayoutId xmlns:r="http://schemas.openxmlformats.org/officeDocument/2006/relationships" id="2147483654" r:id="R00996745cb5240fe"/>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e3dfa3f932034251"/><Relationship Type="http://schemas.openxmlformats.org/officeDocument/2006/relationships/notesSlide" Target="/ppt/notesSlides/notesSlide1.xml" Id="R8769b9e7b0e94f57"/></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57328089591e4d55"/><Relationship Type="http://schemas.openxmlformats.org/officeDocument/2006/relationships/notesSlide" Target="/ppt/notesSlides/notesSlide2.xml" Id="Rebe1ceeddcee431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e3b615018a544627"/><Relationship Type="http://schemas.openxmlformats.org/officeDocument/2006/relationships/notesSlide" Target="/ppt/notesSlides/notesSlide3.xml" Id="R8aa44ec4c666454c"/></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683ddee02b854759"/><Relationship Type="http://schemas.openxmlformats.org/officeDocument/2006/relationships/notesSlide" Target="/ppt/notesSlides/notesSlide4.xml" Id="R4b11782c6ad1418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71a99a69aa2b47e1"/><Relationship Type="http://schemas.openxmlformats.org/officeDocument/2006/relationships/notesSlide" Target="/ppt/notesSlides/notesSlide5.xml" Id="R7a75c261f4d946e2"/></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a628504d41644e67"/><Relationship Type="http://schemas.openxmlformats.org/officeDocument/2006/relationships/notesSlide" Target="/ppt/notesSlides/notesSlide6.xml" Id="R6a6e4bca1aad4ea9"/></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ae35ffa6dea24a15"/><Relationship Type="http://schemas.openxmlformats.org/officeDocument/2006/relationships/notesSlide" Target="/ppt/notesSlides/notesSlide7.xml" Id="Re4c96a144c8d4d7e"/></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5517428debda40f3"/><Relationship Type="http://schemas.openxmlformats.org/officeDocument/2006/relationships/notesSlide" Target="/ppt/notesSlides/notesSlide8.xml" Id="Ra9b153fd9a3c4b29"/></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d1407eb382af46a9"/><Relationship Type="http://schemas.openxmlformats.org/officeDocument/2006/relationships/notesSlide" Target="/ppt/notesSlides/notesSlide9.xml" Id="R0d1227249b5c4b7f"/></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87877a4415444b58"/><Relationship Type="http://schemas.openxmlformats.org/officeDocument/2006/relationships/notesSlide" Target="/ppt/notesSlides/notesSlide10.xml" Id="R663044a3e2fe4f95"/></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d256d956829c42b1"/><Relationship Type="http://schemas.openxmlformats.org/officeDocument/2006/relationships/notesSlide" Target="/ppt/notesSlides/notesSlide11.xml" Id="Rf112a1203a0a494d"/></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a2033440e8734d92"/><Relationship Type="http://schemas.openxmlformats.org/officeDocument/2006/relationships/notesSlide" Target="/ppt/notesSlides/notesSlide12.xml" Id="R963660ea30f94982"/></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My skills and next step</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7 · 14–18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7147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work shows a skill? What could I try next?</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26720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show my skills and plan what to practise next.</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4819650"/>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calm place to sit.</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a short pause if needed.</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space clear.</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Ask for help with the words.</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a point, a word or your aid.</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5105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each person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GATHER EARLIER WORK</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4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Gather earlier work</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609600" y="17335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Find your work from the past six weeks.</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609600" y="25908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code and the date with each piece.</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609600" y="344805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Say if a piece is missing. Leave that gap clear.</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609600" y="4305300"/>
            <a:ext cx="109728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Choose a piece to look at later. Keep it safe.</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a work skill. Link it to a job. Plan a next step.</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Match two tasks to jobs.</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Follow steps and ask when a task is not clear.</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earlier work. Then use feedback.</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ASSESSMENT BRIEF</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3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How the check works</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These are tasks you have met before.</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2574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Try each task on your own first.</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8384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An adult can read the words or write what you say.</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41947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will note any help with an answer.</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40005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first try as it is.</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581525"/>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You can respond to feedback at the end.</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try. Keep the record. Then hear feedback and respond.</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JOB CHECK</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6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Match jobs and tasks</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Use job cards A and B.</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Match each job to a task card.</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Say why one match fits.</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first choices. Do not copy a peer.</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INITIAL TASK CHECK</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10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Show the steps and 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two-step task on page 2.</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Let the adult see what you do.</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use the ask task on page 3.</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If a task is not clear, ask about the missing fact.</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the reply. The adult notes the steps and help.</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REVIEW EARLIER WORK</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work and skill</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one piece of your earlier work.</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skill does it show? Give a clue from the work.</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Which job task could use that skill?</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work code, date and any gap clear.</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FEEDBACK AND RESPONSE</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6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Listen, then respond</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your first try as it is.</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Listen to one clear point of feedback.</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Make your reply in the new space.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one next step and when to try it.</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My next step</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skill did the work show?</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will you practise next?</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help will you need?</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Skill: Something a person can do.</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Work: A task or a record of what was done.</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Evidence: Work that helps show a claim is true.</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44386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Role: One part of the work.</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6954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Reply: An answer in words, signs or an aid.</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6098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Gap: Work or a fact that is still missing.</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3524250"/>
            <a:ext cx="52197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Next step: One thing to try or learn next.</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CAREERS-BUILD-A2-W07</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protocol and key before the lesson.</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3622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answer model before the initial checks.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30480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Record actions, exact words, access and content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7338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feedback and the later response separate.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441960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Mark gaps. No new content or completion claim.</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2026-10-27T22:34:24.6040000Z</dcterms:created>
  <dcterms:modified xsi:type="dcterms:W3CDTF">2026-10-27T22:34:24.6040000Z</dcterms:modified>
</coreProperties>
</file>