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4d7bbaa249d4e43"/><Relationship Type="http://schemas.openxmlformats.org/officeDocument/2006/relationships/extended-properties" Target="/docProps/app.xml" Id="R007933076fa94927"/><Relationship Type="http://schemas.openxmlformats.org/officeDocument/2006/relationships/officeDocument" Target="/ppt/presentation.xml" Id="R5b5071013114406c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1d5ef662d34719"/>
  </p:sldMasterIdLst>
  <p:notesMasterIdLst>
    <p:notesMasterId xmlns:r="http://schemas.openxmlformats.org/officeDocument/2006/relationships" r:id="Rc4916b62c9444940"/>
  </p:notesMasterIdLst>
  <p:sldIdLst>
    <p:sldId xmlns:r="http://schemas.openxmlformats.org/officeDocument/2006/relationships" id="256" r:id="Rd0a6725d5be54cd9"/>
    <p:sldId xmlns:r="http://schemas.openxmlformats.org/officeDocument/2006/relationships" id="257" r:id="R9ba20ec0b2a9469a"/>
    <p:sldId xmlns:r="http://schemas.openxmlformats.org/officeDocument/2006/relationships" id="258" r:id="R9e0ed8f89c5a4a32"/>
    <p:sldId xmlns:r="http://schemas.openxmlformats.org/officeDocument/2006/relationships" id="259" r:id="R579e6d52b9e440fc"/>
    <p:sldId xmlns:r="http://schemas.openxmlformats.org/officeDocument/2006/relationships" id="260" r:id="R9d9017a8ba6c48d9"/>
    <p:sldId xmlns:r="http://schemas.openxmlformats.org/officeDocument/2006/relationships" id="261" r:id="Rd8160e491265497d"/>
    <p:sldId xmlns:r="http://schemas.openxmlformats.org/officeDocument/2006/relationships" id="262" r:id="Ra50983fa3cfc4a80"/>
    <p:sldId xmlns:r="http://schemas.openxmlformats.org/officeDocument/2006/relationships" id="263" r:id="R61dc85659e0d4318"/>
    <p:sldId xmlns:r="http://schemas.openxmlformats.org/officeDocument/2006/relationships" id="264" r:id="R4e7be42cd3164fc4"/>
    <p:sldId xmlns:r="http://schemas.openxmlformats.org/officeDocument/2006/relationships" id="265" r:id="R10a8daee8d3341b8"/>
    <p:sldId xmlns:r="http://schemas.openxmlformats.org/officeDocument/2006/relationships" id="266" r:id="R4c7fa1d339974513"/>
    <p:sldId xmlns:r="http://schemas.openxmlformats.org/officeDocument/2006/relationships" id="267" r:id="Re66cb8225cd2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2e5f0f6d57184ce2"/><Relationship Type="http://schemas.openxmlformats.org/officeDocument/2006/relationships/slideMaster" Target="/ppt/slideMasters/slideMaster1.xml" Id="Rd81d5ef662d34719"/><Relationship Type="http://schemas.openxmlformats.org/officeDocument/2006/relationships/notesMaster" Target="/ppt/notesMasters/notesMaster1.xml" Id="Rc4916b62c9444940"/><Relationship Type="http://schemas.openxmlformats.org/officeDocument/2006/relationships/presProps" Target="/ppt/presProps.xml" Id="Re6c3cab44a984eb3"/><Relationship Type="http://schemas.openxmlformats.org/officeDocument/2006/relationships/tableStyles" Target="/ppt/tableStyles.xml" Id="R8dbecba19a6e4bd8"/><Relationship Type="http://schemas.openxmlformats.org/officeDocument/2006/relationships/slide" Target="/ppt/slides/slide1.xml" Id="Rd0a6725d5be54cd9"/><Relationship Type="http://schemas.openxmlformats.org/officeDocument/2006/relationships/slide" Target="/ppt/slides/slide2.xml" Id="R9ba20ec0b2a9469a"/><Relationship Type="http://schemas.openxmlformats.org/officeDocument/2006/relationships/slide" Target="/ppt/slides/slide3.xml" Id="R9e0ed8f89c5a4a32"/><Relationship Type="http://schemas.openxmlformats.org/officeDocument/2006/relationships/slide" Target="/ppt/slides/slide4.xml" Id="R579e6d52b9e440fc"/><Relationship Type="http://schemas.openxmlformats.org/officeDocument/2006/relationships/slide" Target="/ppt/slides/slide5.xml" Id="R9d9017a8ba6c48d9"/><Relationship Type="http://schemas.openxmlformats.org/officeDocument/2006/relationships/slide" Target="/ppt/slides/slide6.xml" Id="Rd8160e491265497d"/><Relationship Type="http://schemas.openxmlformats.org/officeDocument/2006/relationships/slide" Target="/ppt/slides/slide7.xml" Id="Ra50983fa3cfc4a80"/><Relationship Type="http://schemas.openxmlformats.org/officeDocument/2006/relationships/slide" Target="/ppt/slides/slide8.xml" Id="R61dc85659e0d4318"/><Relationship Type="http://schemas.openxmlformats.org/officeDocument/2006/relationships/slide" Target="/ppt/slides/slide9.xml" Id="R4e7be42cd3164fc4"/><Relationship Type="http://schemas.openxmlformats.org/officeDocument/2006/relationships/slide" Target="/ppt/slides/slide10.xml" Id="R10a8daee8d3341b8"/><Relationship Type="http://schemas.openxmlformats.org/officeDocument/2006/relationships/slide" Target="/ppt/slides/slide11.xml" Id="R4c7fa1d339974513"/><Relationship Type="http://schemas.openxmlformats.org/officeDocument/2006/relationships/slide" Target="/ppt/slides/slide12.xml" Id="Re66cb8225cd24600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92e64895a38f49cb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eb3bc302b60d45a0"/><Relationship Type="http://schemas.openxmlformats.org/officeDocument/2006/relationships/notesMaster" Target="/ppt/notesMasters/notesMaster1.xml" Id="Rf4fa233347b04dd9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ac41dc3552e24c73"/><Relationship Type="http://schemas.openxmlformats.org/officeDocument/2006/relationships/notesMaster" Target="/ppt/notesMasters/notesMaster1.xml" Id="Rb41c651ad0884cf7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ba781865540547a2"/><Relationship Type="http://schemas.openxmlformats.org/officeDocument/2006/relationships/notesMaster" Target="/ppt/notesMasters/notesMaster1.xml" Id="Rcb9a5c57677a4cab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4fb99bbc183b4524"/><Relationship Type="http://schemas.openxmlformats.org/officeDocument/2006/relationships/notesMaster" Target="/ppt/notesMasters/notesMaster1.xml" Id="R367cee29d71843fe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8e1547becfdd4179"/><Relationship Type="http://schemas.openxmlformats.org/officeDocument/2006/relationships/notesMaster" Target="/ppt/notesMasters/notesMaster1.xml" Id="R6b4ef0854e0648d2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b6880f37e2bc4a72"/><Relationship Type="http://schemas.openxmlformats.org/officeDocument/2006/relationships/notesMaster" Target="/ppt/notesMasters/notesMaster1.xml" Id="R6c568d5b94ff4d53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5ea15cb0057e48bb"/><Relationship Type="http://schemas.openxmlformats.org/officeDocument/2006/relationships/notesMaster" Target="/ppt/notesMasters/notesMaster1.xml" Id="Rc5ee8f4e3333472f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8e5b387a5cc7467a"/><Relationship Type="http://schemas.openxmlformats.org/officeDocument/2006/relationships/notesMaster" Target="/ppt/notesMasters/notesMaster1.xml" Id="Ra65995049c0b4f0d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ccc54eab59cb43c9"/><Relationship Type="http://schemas.openxmlformats.org/officeDocument/2006/relationships/notesMaster" Target="/ppt/notesMasters/notesMaster1.xml" Id="R0905f97042da4cce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d086f9d24bb94a5e"/><Relationship Type="http://schemas.openxmlformats.org/officeDocument/2006/relationships/notesMaster" Target="/ppt/notesMasters/notesMaster1.xml" Id="Rac1a3e9131fb457b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3684d0cfbd9c4b78"/><Relationship Type="http://schemas.openxmlformats.org/officeDocument/2006/relationships/notesMaster" Target="/ppt/notesMasters/notesMaster1.xml" Id="Rf7b198445b9f462f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b47181eef72240e4"/><Relationship Type="http://schemas.openxmlformats.org/officeDocument/2006/relationships/notesMaster" Target="/ppt/notesMasters/notesMaster1.xml" Id="Rcdabd99831ea4aa4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Title and big question: 0 minutes.</a:t>
            </a:r>
          </a:p>
          <a:p xmlns:a="http://schemas.openxmlformats.org/drawingml/2006/main">
            <a:r>
              <a:t>Teacher: Read the objective, question, theme and careers line.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Arrival and regulation: 3 minutes.</a:t>
            </a:r>
          </a:p>
          <a:p xmlns:a="http://schemas.openxmlformats.org/drawingml/2006/main">
            <a:r>
              <a:t>Teacher: Offer a pause, chosen response mode and usual aid. Record access support.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Starter: 3 minutes.</a:t>
            </a:r>
          </a:p>
          <a:p xmlns:a="http://schemas.openxmlformats.org/drawingml/2006/main">
            <a:r>
              <a:t>Teacher: Link to the familiar food and clean-up lessons without requiring any learner to share family work or future job ambitions. Accept broad useful-task talk. Do not claim that a classroom task is a professional qualification.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Today: 0 minutes.</a:t>
            </a:r>
          </a:p>
          <a:p xmlns:a="http://schemas.openxmlformats.org/drawingml/2006/main">
            <a:r>
              <a:t>Teacher: Read the objective and three success checks. This is a formative taught lesson.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I Do: 5 minutes.</a:t>
            </a:r>
          </a:p>
          <a:p xmlns:a="http://schemas.openxmlformats.org/drawingml/2006/main">
            <a:r>
              <a:t>Teacher: Read the separate model story about soup. Think aloud: making food for a meal is evidence for cook; the bowl and spoon help explain the action. Many roles share tasks, so a job is not proved by clothing, a tool alone or a single stereotype.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We Do: 5 minutes.</a:t>
            </a:r>
          </a:p>
          <a:p xmlns:a="http://schemas.openxmlformats.org/drawingml/2006/main">
            <a:r>
              <a:t>Teacher: Read: “A worker puts plants in soil and waters them.” Offer gardener or packer. Expected: gardener, with the plant-care action as the clue. If unsure, point to the action, rephrase and offer a choice before modelling. Parallel recheck: “A worker checks items, boxes them and adds a label.” Expected: packer; record the clue and help.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You Do practice: 12 minutes.</a:t>
            </a:r>
          </a:p>
          <a:p xmlns:a="http://schemas.openxmlformats.org/drawingml/2006/main">
            <a:r>
              <a:t>Teacher: Use Support Cards page 1 task stories A–D and page 2 shuffled job and kit cards. Ask for each learner’s own choice before confirming it. Supported route may check two cards first; record all unpresented cards as gaps. Allow speech, pointing, drawing, writing or an aid.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You Do evidence: 6 minutes.</a:t>
            </a:r>
          </a:p>
          <a:p xmlns:a="http://schemas.openxmlformats.org/drawingml/2006/main">
            <a:r>
              <a:t>Teacher: Evidence Sheet page 1 holds initial matches and a clue. Page 2 links one role to a familiar daily task: for example, cook to following steps, cleaner to washing up, gardener to caring for a plant, or packer to sorting and checking items. Accept justified alternatives; keep the exact learner words or selections.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Tidy and evidence check: 4 minutes.</a:t>
            </a:r>
          </a:p>
          <a:p xmlns:a="http://schemas.openxmlformats.org/drawingml/2006/main">
            <a:r>
              <a:t>Teacher: Give one specific next-step prompt, such as “Point to what the worker does.” Preserve initial matches and record the later response on page 2, including any reduced choice, model or cue.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Exit ticket: 2 minutes.</a:t>
            </a:r>
          </a:p>
          <a:p xmlns:a="http://schemas.openxmlformats.org/drawingml/2006/main">
            <a:r>
              <a:t>Teacher: New exit clue: mopping and leaving a floor clean supports cleaner. Accept another plausible role if the learner links it to the task. Record the response; do not infer knowledge from a group chorus.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Vocabulary: 0 minutes.</a:t>
            </a:r>
          </a:p>
          <a:p xmlns:a="http://schemas.openxmlformats.org/drawingml/2006/main">
            <a:r>
              <a:t>Teacher: Keep the word mat available and explain each word in the task.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VOCATIONAL-BUILD-A2-W04 · Year A · Friday 27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Staff brief: 0 minutes.</a:t>
            </a:r>
          </a:p>
          <a:p xmlns:a="http://schemas.openxmlformats.org/drawingml/2006/main">
            <a:r>
              <a:t>Teacher: 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 Use VF · WS · I · NS+ (Yellow Box) · // self-edit · ? read back · R responded · E evidence. R requires Voice, Audience, a specific NS+ prompt and the learner response in their own colour. E is used only when actual work is banked. Keep the first try and any later change separate.</a:t>
            </a:r>
          </a:p>
          <a:p xmlns:a="http://schemas.openxmlformats.org/drawingml/2006/main">
            <a:r>
              <a:t>First and then: First find the task. Then choose a job and show the clue.</a:t>
            </a:r>
          </a:p>
          <a:p xmlns:a="http://schemas.openxmlformats.org/drawingml/2006/main">
            <a:r>
              <a:t>Routes: Supported: Read one task card at a time and offer two job choices. Allow a point, sign or aid and exact scribing. Record the reduced choice set; unpresented cards stay not checked. Independent: Match all four task cards to jobs, show a clue and link one job to a familiar daily skill. Use kit cards to explain rather than guess. Record help used. Aspire: Complete the same task, then explain why a useful skill can occur in more than one job. Justify a sensible alternative role using the stated task; do not infer a role from appearance.</a:t>
            </a:r>
          </a:p>
          <a:p xmlns:a="http://schemas.openxmlformats.org/drawingml/2006/main">
            <a:r>
              <a:t>Evidence: An individual record of job-to-task matches, a stated or pointed task clue and one link to a familiar daily skill; actual response mode, prompts, gaps and a later response are recorded.</a:t>
            </a:r>
          </a:p>
          <a:p xmlns:a="http://schemas.openxmlformats.org/drawingml/2006/main">
            <a:r>
              <a:t>Careers: This helps me link a job to a task and value each role.</a:t>
            </a:r>
          </a:p>
          <a:p xmlns:a="http://schemas.openxmlformats.org/drawingml/2006/main">
            <a:r>
              <a:t>Source: scheme_references/BUILD_SOW.xlsx; BUILD Weekly - Autumn, C140; owner-confirmed strand and Friday slot.</a:t>
            </a:r>
          </a:p>
          <a:p xmlns:a="http://schemas.openxmlformats.org/drawingml/2006/main">
            <a:r>
              <a:t>All workers and settings are fictional and unnamed. Use task clues, not appearance, clothing, gender, background or perceived status, to identify a role. A task can be shared by several jobs; accept a sensible alternative when the learner gives a relevant clue. Do not ask about family employment, income or personal aspirations. No real applications, contact details or workplace access are required. Respect a pause, private response or aid. A role match is knowledge evidence, not proof of practical competence or job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00750298ac042c8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03f5c8519ac4e9e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9e82ecae92245bb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3e349acd74e43ca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b58e008fe2245a8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773b78d22204029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c0352a7c4fcd4abf"/><Relationship Type="http://schemas.openxmlformats.org/officeDocument/2006/relationships/slideLayout" Target="/ppt/slideLayouts/slideLayout1.xml" Id="Rd21e69cf059b4c85"/><Relationship Type="http://schemas.openxmlformats.org/officeDocument/2006/relationships/slideLayout" Target="/ppt/slideLayouts/slideLayout2.xml" Id="R30ef7d83745249fd"/><Relationship Type="http://schemas.openxmlformats.org/officeDocument/2006/relationships/slideLayout" Target="/ppt/slideLayouts/slideLayout3.xml" Id="Re8fa61dbd26f4bd9"/><Relationship Type="http://schemas.openxmlformats.org/officeDocument/2006/relationships/slideLayout" Target="/ppt/slideLayouts/slideLayout4.xml" Id="R41a351b1f3e64813"/><Relationship Type="http://schemas.openxmlformats.org/officeDocument/2006/relationships/slideLayout" Target="/ppt/slideLayouts/slideLayout5.xml" Id="R19359bef34174d41"/><Relationship Type="http://schemas.openxmlformats.org/officeDocument/2006/relationships/slideLayout" Target="/ppt/slideLayouts/slideLayout6.xml" Id="R8962ebf5d9da4732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e69cf059b4c85"/>
    <p:sldLayoutId xmlns:r="http://schemas.openxmlformats.org/officeDocument/2006/relationships" id="2147483650" r:id="R30ef7d83745249fd"/>
    <p:sldLayoutId xmlns:r="http://schemas.openxmlformats.org/officeDocument/2006/relationships" id="2147483651" r:id="Re8fa61dbd26f4bd9"/>
    <p:sldLayoutId xmlns:r="http://schemas.openxmlformats.org/officeDocument/2006/relationships" id="2147483652" r:id="R41a351b1f3e64813"/>
    <p:sldLayoutId xmlns:r="http://schemas.openxmlformats.org/officeDocument/2006/relationships" id="2147483653" r:id="R19359bef34174d41"/>
    <p:sldLayoutId xmlns:r="http://schemas.openxmlformats.org/officeDocument/2006/relationships" id="2147483654" r:id="R8962ebf5d9da47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8daea6bb8bd4951"/><Relationship Type="http://schemas.openxmlformats.org/officeDocument/2006/relationships/notesSlide" Target="/ppt/notesSlides/notesSlide1.xml" Id="Rcf0c6afdde384e24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d58914302fb4d57"/><Relationship Type="http://schemas.openxmlformats.org/officeDocument/2006/relationships/notesSlide" Target="/ppt/notesSlides/notesSlide2.xml" Id="R04f7367b36974767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1b8503eed2d4a06"/><Relationship Type="http://schemas.openxmlformats.org/officeDocument/2006/relationships/notesSlide" Target="/ppt/notesSlides/notesSlide3.xml" Id="R5acc99273bf7423d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b5ae1f7cd304c28"/><Relationship Type="http://schemas.openxmlformats.org/officeDocument/2006/relationships/notesSlide" Target="/ppt/notesSlides/notesSlide4.xml" Id="R3324d465bea744d7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7a230347f414379"/><Relationship Type="http://schemas.openxmlformats.org/officeDocument/2006/relationships/notesSlide" Target="/ppt/notesSlides/notesSlide5.xml" Id="R9f0513ef49c34615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bba699266404ede"/><Relationship Type="http://schemas.openxmlformats.org/officeDocument/2006/relationships/notesSlide" Target="/ppt/notesSlides/notesSlide6.xml" Id="R7919710902f64973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53c07b20a1a473c"/><Relationship Type="http://schemas.openxmlformats.org/officeDocument/2006/relationships/notesSlide" Target="/ppt/notesSlides/notesSlide7.xml" Id="R6302c2888d124d78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41b2877db5645a6"/><Relationship Type="http://schemas.openxmlformats.org/officeDocument/2006/relationships/notesSlide" Target="/ppt/notesSlides/notesSlide8.xml" Id="R638fc8d8f1814ed3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db41a805c84259"/><Relationship Type="http://schemas.openxmlformats.org/officeDocument/2006/relationships/notesSlide" Target="/ppt/notesSlides/notesSlide9.xml" Id="Rc35e3f1d3ccf42e2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5fc6b348884fd2"/><Relationship Type="http://schemas.openxmlformats.org/officeDocument/2006/relationships/notesSlide" Target="/ppt/notesSlides/notesSlide10.xml" Id="R7d49e1a40ee74363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de50dc8dbfb45d8"/><Relationship Type="http://schemas.openxmlformats.org/officeDocument/2006/relationships/notesSlide" Target="/ppt/notesSlides/notesSlide11.xml" Id="Rf9d1e289c8494ff3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b38355a0ef44d8e"/><Relationship Type="http://schemas.openxmlformats.org/officeDocument/2006/relationships/notesSlide" Target="/ppt/notesSlides/notesSlide12.xml" Id="Rb5cff9210665450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TITLE AND BIG QUESTION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Jobs people do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Year A · Friday 27 November 2026 · 40 minutes</a:t>
            </a:r>
          </a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does the worker do?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helps me link a job to a task and value each role.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Term theme: Identity &amp; Belonging</a:t>
            </a:r>
          </a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calm start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a calm place to sit.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Ask for a short pause if needed.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Point, say, draw, write or use an aid.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Give each person time.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All workers in these cards are made up.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 private story is needed.</a:t>
            </a:r>
          </a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Useful daily skills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We have planned food and cleaned up.</a:t>
            </a:r>
          </a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These skills can help in some jobs.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task might a cook do?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task might a cleaner do?</a:t>
            </a:r>
          </a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Recognise jobs people do.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Match a job to what the worker does.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 to a clue from the task.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Link one job to a useful daily skill.</a:t>
            </a:r>
          </a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is a made-up worker.</a:t>
            </a:r>
          </a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worker gets soup ready for a meal.</a:t>
            </a:r>
          </a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job could be cook.</a:t>
            </a:r>
          </a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clue is making food for a meal.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bowl and spoon could help with that task.</a:t>
            </a:r>
          </a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use the task clue, not how the person looks.</a:t>
            </a:r>
          </a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First find the task. Then choose a job and show the clue.</a:t>
            </a:r>
          </a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job fits?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worker puts plants in soil.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worker waters the plants.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job fits: gardener or packer?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 to the task clue.</a:t>
            </a:r>
          </a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Try the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Read task cards A, B, C and D.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Match each card to a job.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 to a clue in the task.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kit that could help with one task.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point, word, drawing or aid can show your choice.</a:t>
            </a:r>
          </a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My work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your own job matches on page 1.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one task clue for a match.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On page 2, link a job to a daily skill.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choices and help used.</a:t>
            </a:r>
          </a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check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Hear one point of feedback.</a:t>
            </a:r>
          </a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page 2 for a change or new reply.</a:t>
            </a:r>
          </a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your first choices and the help used.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Return the cards and store the work.</a:t>
            </a:r>
          </a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worker mops a floor and leaves it clean.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job could this be? Show the clue.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Point, say, draw, write or use an aid.</a:t>
            </a:r>
          </a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Job: Work a person does in a role.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Task: A piece of work to do.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Cook: A person who makes food for meals.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Cleaner: A person who cleans spaces and kit.</a:t>
            </a:r>
          </a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Gardener: A person who cares for plants.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Packer: A person who packs items.</a:t>
            </a:r>
          </a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Clue: A fact that helps me make a choice.</a:t>
            </a:r>
          </a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VOCATIONAL-BUILD-A2-W04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Friday 27 November 2026; 40 minutes; formative.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fictional workers and task clues only.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 family work, income or private-life questions.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Record matches, clues, daily-skill link and support.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match does not prove a practical work skill.</a:t>
            </a:r>
          </a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Lesson resource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>Lesson resource</lastModifiedBy>
  <dc:title>Presentation</dc:title>
  <dcterms:created xsi:type="dcterms:W3CDTF">2026-10-27T23:36:34.2900000Z</dcterms:created>
  <dcterms:modified xsi:type="dcterms:W3CDTF">2026-10-27T23:36:34.2900000Z</dcterms:modified>
</coreProperties>
</file>