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5ecbde544b0c4607"/><Relationship Type="http://schemas.openxmlformats.org/officeDocument/2006/relationships/extended-properties" Target="/docProps/app.xml" Id="R5f20b3f4bc314ba6"/><Relationship Type="http://schemas.openxmlformats.org/officeDocument/2006/relationships/officeDocument" Target="/ppt/presentation.xml" Id="R560532dacd544ddd"/></Relationships>
</file>

<file path=ppt/presentation.xml><?xml version="1.0" encoding="utf-8"?>
<p:presentation xmlns:p="http://schemas.openxmlformats.org/presentationml/2006/main">
  <p:sldMasterIdLst>
    <p:sldMasterId xmlns:r="http://schemas.openxmlformats.org/officeDocument/2006/relationships" id="2147483648" r:id="Rca0cac244fa64322"/>
  </p:sldMasterIdLst>
  <p:notesMasterIdLst>
    <p:notesMasterId xmlns:r="http://schemas.openxmlformats.org/officeDocument/2006/relationships" r:id="R8c8601f88eac4e19"/>
  </p:notesMasterIdLst>
  <p:sldIdLst>
    <p:sldId xmlns:r="http://schemas.openxmlformats.org/officeDocument/2006/relationships" id="256" r:id="Rf3bd0b6c0cbc4069"/>
    <p:sldId xmlns:r="http://schemas.openxmlformats.org/officeDocument/2006/relationships" id="257" r:id="R94e2470b326a43b2"/>
    <p:sldId xmlns:r="http://schemas.openxmlformats.org/officeDocument/2006/relationships" id="258" r:id="R2a0894a251e24b3b"/>
    <p:sldId xmlns:r="http://schemas.openxmlformats.org/officeDocument/2006/relationships" id="259" r:id="R195d17a5b3334bc6"/>
    <p:sldId xmlns:r="http://schemas.openxmlformats.org/officeDocument/2006/relationships" id="260" r:id="R6c511c8e97434612"/>
    <p:sldId xmlns:r="http://schemas.openxmlformats.org/officeDocument/2006/relationships" id="261" r:id="R6b7a248bcaf343cd"/>
    <p:sldId xmlns:r="http://schemas.openxmlformats.org/officeDocument/2006/relationships" id="262" r:id="Rb3495dc9abda4d51"/>
    <p:sldId xmlns:r="http://schemas.openxmlformats.org/officeDocument/2006/relationships" id="263" r:id="Rae1d46416a24465a"/>
    <p:sldId xmlns:r="http://schemas.openxmlformats.org/officeDocument/2006/relationships" id="264" r:id="R4684440e98f144ba"/>
    <p:sldId xmlns:r="http://schemas.openxmlformats.org/officeDocument/2006/relationships" id="265" r:id="Rc818e46aea6146ca"/>
    <p:sldId xmlns:r="http://schemas.openxmlformats.org/officeDocument/2006/relationships" id="266" r:id="Ra0b1e9e96d0e4521"/>
    <p:sldId xmlns:r="http://schemas.openxmlformats.org/officeDocument/2006/relationships" id="267" r:id="R8151bbd0b3c54e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8e738af393064ba1"/><Relationship Type="http://schemas.openxmlformats.org/officeDocument/2006/relationships/slideMaster" Target="/ppt/slideMasters/slideMaster1.xml" Id="Rca0cac244fa64322"/><Relationship Type="http://schemas.openxmlformats.org/officeDocument/2006/relationships/notesMaster" Target="/ppt/notesMasters/notesMaster1.xml" Id="R8c8601f88eac4e19"/><Relationship Type="http://schemas.openxmlformats.org/officeDocument/2006/relationships/presProps" Target="/ppt/presProps.xml" Id="Raff041dfdc0c4e4d"/><Relationship Type="http://schemas.openxmlformats.org/officeDocument/2006/relationships/tableStyles" Target="/ppt/tableStyles.xml" Id="R5c46184c72b04742"/><Relationship Type="http://schemas.openxmlformats.org/officeDocument/2006/relationships/slide" Target="/ppt/slides/slide1.xml" Id="Rf3bd0b6c0cbc4069"/><Relationship Type="http://schemas.openxmlformats.org/officeDocument/2006/relationships/slide" Target="/ppt/slides/slide2.xml" Id="R94e2470b326a43b2"/><Relationship Type="http://schemas.openxmlformats.org/officeDocument/2006/relationships/slide" Target="/ppt/slides/slide3.xml" Id="R2a0894a251e24b3b"/><Relationship Type="http://schemas.openxmlformats.org/officeDocument/2006/relationships/slide" Target="/ppt/slides/slide4.xml" Id="R195d17a5b3334bc6"/><Relationship Type="http://schemas.openxmlformats.org/officeDocument/2006/relationships/slide" Target="/ppt/slides/slide5.xml" Id="R6c511c8e97434612"/><Relationship Type="http://schemas.openxmlformats.org/officeDocument/2006/relationships/slide" Target="/ppt/slides/slide6.xml" Id="R6b7a248bcaf343cd"/><Relationship Type="http://schemas.openxmlformats.org/officeDocument/2006/relationships/slide" Target="/ppt/slides/slide7.xml" Id="Rb3495dc9abda4d51"/><Relationship Type="http://schemas.openxmlformats.org/officeDocument/2006/relationships/slide" Target="/ppt/slides/slide8.xml" Id="Rae1d46416a24465a"/><Relationship Type="http://schemas.openxmlformats.org/officeDocument/2006/relationships/slide" Target="/ppt/slides/slide9.xml" Id="R4684440e98f144ba"/><Relationship Type="http://schemas.openxmlformats.org/officeDocument/2006/relationships/slide" Target="/ppt/slides/slide10.xml" Id="Rc818e46aea6146ca"/><Relationship Type="http://schemas.openxmlformats.org/officeDocument/2006/relationships/slide" Target="/ppt/slides/slide11.xml" Id="Ra0b1e9e96d0e4521"/><Relationship Type="http://schemas.openxmlformats.org/officeDocument/2006/relationships/slide" Target="/ppt/slides/slide12.xml" Id="R8151bbd0b3c54e7d"/></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f4aeb8d31f14cac"/></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c2b01f4cbf674572"/><Relationship Type="http://schemas.openxmlformats.org/officeDocument/2006/relationships/notesMaster" Target="/ppt/notesMasters/notesMaster1.xml" Id="R5c138d8890e640f1"/></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668e70ba368f4ccd"/><Relationship Type="http://schemas.openxmlformats.org/officeDocument/2006/relationships/notesMaster" Target="/ppt/notesMasters/notesMaster1.xml" Id="R6a65fe47043c47f6"/></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553ec7e3b1fa49dc"/><Relationship Type="http://schemas.openxmlformats.org/officeDocument/2006/relationships/notesMaster" Target="/ppt/notesMasters/notesMaster1.xml" Id="R671cd33c693b4daf"/></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2ed161ad33624800"/><Relationship Type="http://schemas.openxmlformats.org/officeDocument/2006/relationships/notesMaster" Target="/ppt/notesMasters/notesMaster1.xml" Id="R89ad429dda134e5e"/></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c04acd7f6e947d4"/><Relationship Type="http://schemas.openxmlformats.org/officeDocument/2006/relationships/notesMaster" Target="/ppt/notesMasters/notesMaster1.xml" Id="Rde821380cc384fee"/></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5f46ed97ea4f43c8"/><Relationship Type="http://schemas.openxmlformats.org/officeDocument/2006/relationships/notesMaster" Target="/ppt/notesMasters/notesMaster1.xml" Id="R12faa7a2921f46cf"/></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026ec506de046df"/><Relationship Type="http://schemas.openxmlformats.org/officeDocument/2006/relationships/notesMaster" Target="/ppt/notesMasters/notesMaster1.xml" Id="Rb0bae50917f44007"/></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ff71fa55cbd4ff2"/><Relationship Type="http://schemas.openxmlformats.org/officeDocument/2006/relationships/notesMaster" Target="/ppt/notesMasters/notesMaster1.xml" Id="R6f11e324c8474f6c"/></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03265ed89abd453b"/><Relationship Type="http://schemas.openxmlformats.org/officeDocument/2006/relationships/notesMaster" Target="/ppt/notesMasters/notesMaster1.xml" Id="Re798e9ad85a5453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a5fb9b3f92dc4e18"/><Relationship Type="http://schemas.openxmlformats.org/officeDocument/2006/relationships/notesMaster" Target="/ppt/notesMasters/notesMaster1.xml" Id="R975ea7e13bca4b47"/></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f64f9daca80a48ac"/><Relationship Type="http://schemas.openxmlformats.org/officeDocument/2006/relationships/notesMaster" Target="/ppt/notesMasters/notesMaster1.xml" Id="R9913e79fa6614cbb"/></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fdecb8236824710"/><Relationship Type="http://schemas.openxmlformats.org/officeDocument/2006/relationships/notesMaster" Target="/ppt/notesMasters/notesMaster1.xml" Id="R2405dc5ccdb34a3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Title and big question: 0 minutes.</a:t>
            </a:r>
          </a:p>
          <a:p xmlns:a="http://schemas.openxmlformats.org/drawingml/2006/main">
            <a:r>
              <a:t>Teacher: Read the objective, question, theme and careers line.</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Arrival and regulation: 3 minutes.</a:t>
            </a:r>
          </a:p>
          <a:p xmlns:a="http://schemas.openxmlformats.org/drawingml/2006/main">
            <a:r>
              <a:t>Teacher: Offer a pause, chosen response mode and usual aid. Record access support.</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Starter: 3 minutes.</a:t>
            </a:r>
          </a:p>
          <a:p xmlns:a="http://schemas.openxmlformats.org/drawingml/2006/main">
            <a:r>
              <a:t>Teacher: Show a separate adult-made example of a folded card with three crossed paper strips and Welcome. The crossed strips give a simple six-armed snowflake pattern for a seasonal craft. Offer a simpler strip or dot pattern if more accessible, with the actual design recorded. This does not depend on a particular celebration or actual weather.</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Today: 0 minutes.</a:t>
            </a:r>
          </a:p>
          <a:p xmlns:a="http://schemas.openxmlformats.org/drawingml/2006/main">
            <a:r>
              <a:t>Teacher: Read the objective and three success checks. This is a formative taught lesson.</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I Do: 5 minutes.</a:t>
            </a:r>
          </a:p>
          <a:p xmlns:a="http://schemas.openxmlformats.org/drawingml/2006/main">
            <a:r>
              <a:t>Teacher: Model four craft stages. Fold the blank. Place one strip upright and two diagonally across the same centre point. Check the pattern fits on the front and leaves room for Welcome. Lift and glue one strip at a time, then add the word or word strip. Check attachments gently and place the card in the drying area. The model is separate from learner work.</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We Do: 5 minutes.</a:t>
            </a:r>
          </a:p>
          <a:p xmlns:a="http://schemas.openxmlformats.org/drawingml/2006/main">
            <a:r>
              <a:t>Teacher: Show the separate adult card with three strips laid loosely on the front, one sticking beyond the edge. Ask: “Glue now, or check and move the strip first?” Expected: adjust the layout before gluing. If unsure, point to the card edge, rephrase, offer a choice and model one adjustment. Parallel recheck: the strips fit but cover the space for Welcome; move the design or word strip before gluing.</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practice: 12 minutes.</a:t>
            </a:r>
          </a:p>
          <a:p xmlns:a="http://schemas.openxmlformats.org/drawingml/2006/main">
            <a:r>
              <a:t>Teacher: Use Support Cards page 1. Learners choose colour or pattern and follow the four stages with support as required. Staff provide pre-cut parts and check glue use. Record arranging, securing and finishing separately from adult preparation. A supported choice or action is valid evidence of that contribution; do not claim the learner completed unseen parts.</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evidence: 6 minutes.</a:t>
            </a:r>
          </a:p>
          <a:p xmlns:a="http://schemas.openxmlformats.org/drawingml/2006/main">
            <a:r>
              <a:t>Teacher: Record the physical item location or a reference to an item-only image, plus actual making actions, prompts and remaining work. The learner checks whether paper fits, parts are secure and the card has a welcome word or chosen accessible mark. An unfinished item remains useful formative evidence; do not silently finish it and credit the learner.</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Tidy and evidence check: 4 minutes.</a:t>
            </a:r>
          </a:p>
          <a:p xmlns:a="http://schemas.openxmlformats.org/drawingml/2006/main">
            <a:r>
              <a:t>Teacher: Give one specific prompt, such as “Check whether the word has a clear space.” Allow a safe change without forcing a wet glued piece off. Record the first state and later response. Use the agreed drying area and clear the workspace; staff handle caps, waste and any sharp equipment.</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Exit ticket: 2 minutes.</a:t>
            </a:r>
          </a:p>
          <a:p xmlns:a="http://schemas.openxmlformats.org/drawingml/2006/main">
            <a:r>
              <a:t>Teacher: Accept a point to a part of the card, a named making step or a help request. Keep the judgement about following the task and checking, not artistic neatness or comparison with a peer.</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Vocabulary: 0 minutes.</a:t>
            </a:r>
          </a:p>
          <a:p xmlns:a="http://schemas.openxmlformats.org/drawingml/2006/main">
            <a:r>
              <a:t>Teacher: Keep the word mat available and explain each word in the task.</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VOCATIONAL-BUILD-A2-W06 · Year A · Friday 11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Staff brief: 0 minutes.</a:t>
            </a:r>
          </a:p>
          <a:p xmlns:a="http://schemas.openxmlformats.org/drawingml/2006/main">
            <a:r>
              <a:t>Teacher: 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 Use VF · WS · I · NS+ (Yellow Box) · // self-edit · ? read back · R responded · E evidence. R requires Voice, Audience, a specific NS+ prompt and the learner response in their own colour. E is used only when actual work is banked. Keep the first try and any later change separate.</a:t>
            </a:r>
          </a:p>
          <a:p xmlns:a="http://schemas.openxmlformats.org/drawingml/2006/main">
            <a:r>
              <a:t>First and then: First place and check the paper. Then glue and finish the card.</a:t>
            </a:r>
          </a:p>
          <a:p xmlns:a="http://schemas.openxmlformats.org/drawingml/2006/main">
            <a:r>
              <a:t>Routes: Supported: Offer a pre-folded blank, large pre-cut strips and one step card at a time. The learner chooses, places or presses pieces with agreed support. Record which parts they did; adult preparation is not learner evidence. Independent: Choose paper colours, fold the card, arrange and secure the three strips, add Welcome and check the item and work space with the agreed safety supervision. Aspire: Complete the same item, explain how the arrangement fits the front and improve one feature after a check. Keep the same safe materials; a more complex or neater design is not required.</a:t>
            </a:r>
          </a:p>
          <a:p xmlns:a="http://schemas.openxmlformats.org/drawingml/2006/main">
            <a:r>
              <a:t>Evidence: An individual winter welcome card or clearly recorded unfinished item, linked to dated observations of planning, making, checking, support and one response to feedback.</a:t>
            </a:r>
          </a:p>
          <a:p xmlns:a="http://schemas.openxmlformats.org/drawingml/2006/main">
            <a:r>
              <a:t>Careers: This helps me follow a plan, make an item and check it.</a:t>
            </a:r>
          </a:p>
          <a:p xmlns:a="http://schemas.openxmlformats.org/drawingml/2006/main">
            <a:r>
              <a:t>Source: scheme_references/BUILD_SOW.xlsx; BUILD Weekly - Autumn, C142; owner-confirmed strand and Friday slot.</a:t>
            </a:r>
          </a:p>
          <a:p xmlns:a="http://schemas.openxmlformats.org/drawingml/2006/main">
            <a:r>
              <a:t>This lesson selects the craft option of the food/craft row. Use paper, card and staff-approved classroom adhesive only. Adults pre-cut pieces, manage caps and any sharp equipment, check access needs and supervise adhesive use. No food, heat, glitter, beads, loose string or hot glue is used. Keep materials away from mouths. Offer larger pieces, an adult-prepared fold or a chosen simpler pattern; record the learner’s actions and adult help. A winter pattern is a design choice; no personal celebration, family detail or named recipient is required. Store the item safely while it dries.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9e66547ecbf43a9"/></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334623f3ed044720"/></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276966aa78884bee"/></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672eb5b97d2c4cab"/></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7e2d442e598f4ded"/></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958e3989566648b6"/></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382e31aea09745f1"/><Relationship Type="http://schemas.openxmlformats.org/officeDocument/2006/relationships/slideLayout" Target="/ppt/slideLayouts/slideLayout1.xml" Id="Rc345630736124dbd"/><Relationship Type="http://schemas.openxmlformats.org/officeDocument/2006/relationships/slideLayout" Target="/ppt/slideLayouts/slideLayout2.xml" Id="R50409483a38f47a5"/><Relationship Type="http://schemas.openxmlformats.org/officeDocument/2006/relationships/slideLayout" Target="/ppt/slideLayouts/slideLayout3.xml" Id="Ra982b05b10d84b19"/><Relationship Type="http://schemas.openxmlformats.org/officeDocument/2006/relationships/slideLayout" Target="/ppt/slideLayouts/slideLayout4.xml" Id="Rc634e20b346c467f"/><Relationship Type="http://schemas.openxmlformats.org/officeDocument/2006/relationships/slideLayout" Target="/ppt/slideLayouts/slideLayout5.xml" Id="R36c27017af5047f0"/><Relationship Type="http://schemas.openxmlformats.org/officeDocument/2006/relationships/slideLayout" Target="/ppt/slideLayouts/slideLayout6.xml" Id="R8692568b26b54c67"/></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45630736124dbd"/>
    <p:sldLayoutId xmlns:r="http://schemas.openxmlformats.org/officeDocument/2006/relationships" id="2147483650" r:id="R50409483a38f47a5"/>
    <p:sldLayoutId xmlns:r="http://schemas.openxmlformats.org/officeDocument/2006/relationships" id="2147483651" r:id="Ra982b05b10d84b19"/>
    <p:sldLayoutId xmlns:r="http://schemas.openxmlformats.org/officeDocument/2006/relationships" id="2147483652" r:id="Rc634e20b346c467f"/>
    <p:sldLayoutId xmlns:r="http://schemas.openxmlformats.org/officeDocument/2006/relationships" id="2147483653" r:id="R36c27017af5047f0"/>
    <p:sldLayoutId xmlns:r="http://schemas.openxmlformats.org/officeDocument/2006/relationships" id="2147483654" r:id="R8692568b26b54c67"/>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1c3bdbab8ce94e85"/><Relationship Type="http://schemas.openxmlformats.org/officeDocument/2006/relationships/notesSlide" Target="/ppt/notesSlides/notesSlide1.xml" Id="Ra18bddca7b9241ae"/></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e6f96e663e22427c"/><Relationship Type="http://schemas.openxmlformats.org/officeDocument/2006/relationships/notesSlide" Target="/ppt/notesSlides/notesSlide2.xml" Id="R5996fa4310dd4e9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3fbac10e41f7445b"/><Relationship Type="http://schemas.openxmlformats.org/officeDocument/2006/relationships/notesSlide" Target="/ppt/notesSlides/notesSlide3.xml" Id="Rb415aa543349453d"/></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0dc928577fd04f2d"/><Relationship Type="http://schemas.openxmlformats.org/officeDocument/2006/relationships/notesSlide" Target="/ppt/notesSlides/notesSlide4.xml" Id="R981fe4cff03e415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233446df0e444ce9"/><Relationship Type="http://schemas.openxmlformats.org/officeDocument/2006/relationships/notesSlide" Target="/ppt/notesSlides/notesSlide5.xml" Id="Ra08c0b6588bd4b12"/></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7602e6e9f3ef466e"/><Relationship Type="http://schemas.openxmlformats.org/officeDocument/2006/relationships/notesSlide" Target="/ppt/notesSlides/notesSlide6.xml" Id="R76ff3e554abb4339"/></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5f5f27bee25645bf"/><Relationship Type="http://schemas.openxmlformats.org/officeDocument/2006/relationships/notesSlide" Target="/ppt/notesSlides/notesSlide7.xml" Id="R6d7e6127db0a465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98124d71421a4ada"/><Relationship Type="http://schemas.openxmlformats.org/officeDocument/2006/relationships/notesSlide" Target="/ppt/notesSlides/notesSlide8.xml" Id="R69934002db9a4535"/></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c630d3c041714d48"/><Relationship Type="http://schemas.openxmlformats.org/officeDocument/2006/relationships/notesSlide" Target="/ppt/notesSlides/notesSlide9.xml" Id="Ra280a9fcb6d64ef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24d0c88e7c324ca2"/><Relationship Type="http://schemas.openxmlformats.org/officeDocument/2006/relationships/notesSlide" Target="/ppt/notesSlides/notesSlide10.xml" Id="R9265568dbb0e46e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de3ea8279c734364"/><Relationship Type="http://schemas.openxmlformats.org/officeDocument/2006/relationships/notesSlide" Target="/ppt/notesSlides/notesSlide11.xml" Id="R21f3a2c6c9004ffa"/></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e75c9b4df6c941e2"/><Relationship Type="http://schemas.openxmlformats.org/officeDocument/2006/relationships/notesSlide" Target="/ppt/notesSlides/notesSlide12.xml" Id="R189ee22e88574308"/></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Make a winter welcome card</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Friday 11 December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How can I make and check my card?</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6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follow a plan, make an item and check it.</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52578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calm place to work.</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say or use an aid.</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Give each person time.</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the help you need.</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paper and glue away from your mouth.</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3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winter card</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609600" y="17335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 will make a winter welcome card.</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609600" y="25908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example uses a paper snowflake pattern.</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609600" y="3448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Find the card, three strips and word strip.</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609600" y="43053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You can choose your paper colours.</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Make a winter card.</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a design and get the kit ready.</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Follow the craft steps with support.</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the item and leave the space ready.</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Watch the model</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choose my paper colours and kit.</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fold the card, with help if needed.</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cross three strips to make a snowflake pattern.</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check the strips fit and leave space for a word.</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glue the strips and add Welcome.</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check my card and put it in the drying space.</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First place and check the paper. Then glue and finish the card.</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Check before gluing</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strips are loose on the card.</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One strip sticks past the edge.</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Glue now, or move the strip first?</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the part you would check.</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Try the task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Fold the card with the help you need.</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Arrange three strips and check the pattern.</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Glue the strips with adult support.</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Add the word Welcome.</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the item and put it in the drying space.</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work</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the card you have made so far.</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adult notes what you did and the help used.</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one part you checked.</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any work not done marked as a gap.</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Hear one point of feedback.</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Make one safe change if needed.</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Leave the card to dry and clear the work space.</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Store the first record and your new reply.</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task</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one step you did to make the card.</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one check or help you used.</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Point, say or use an aid.</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Craft: An item made by hand.</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Fold: Bend the card over.</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Strip: A long, thin piece of paper.</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Arrange: Put parts where I want them.</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Glue: Stick parts together.</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Look to see what needs a change.</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Dry: No longer wet with glue.</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VOCATIONAL-BUILD-A2-W06</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Friday 11 December 2026; 40 minutes; formative.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Craft option: winter welcome card; no food task.</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Adults pre-cut parts and check adhesive and access.</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Record choices, making actions, checks and help.</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unfinished work clear; a model is not learner work.</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Lesson resource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Presentation</dc:title>
  <dcterms:created xsi:type="dcterms:W3CDTF">2026-10-27T23:54:33.8750000Z</dcterms:created>
  <dcterms:modified xsi:type="dcterms:W3CDTF">2026-10-27T23:54:33.8760000Z</dcterms:modified>
</coreProperties>
</file>