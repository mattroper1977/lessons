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69c80978dd443c8"/><Relationship Type="http://schemas.openxmlformats.org/officeDocument/2006/relationships/extended-properties" Target="/docProps/app.xml" Id="Ra08147aa591844c9"/><Relationship Type="http://schemas.openxmlformats.org/officeDocument/2006/relationships/officeDocument" Target="/ppt/presentation.xml" Id="R8ac760884d8a467b"/></Relationships>
</file>

<file path=ppt/presentation.xml><?xml version="1.0" encoding="utf-8"?>
<p:presentation xmlns:p="http://schemas.openxmlformats.org/presentationml/2006/main">
  <p:sldMasterIdLst>
    <p:sldMasterId xmlns:r="http://schemas.openxmlformats.org/officeDocument/2006/relationships" id="2147483648" r:id="R351114d626aa4408"/>
  </p:sldMasterIdLst>
  <p:notesMasterIdLst>
    <p:notesMasterId xmlns:r="http://schemas.openxmlformats.org/officeDocument/2006/relationships" r:id="R2ac76ca43859409a"/>
  </p:notesMasterIdLst>
  <p:sldIdLst>
    <p:sldId xmlns:r="http://schemas.openxmlformats.org/officeDocument/2006/relationships" id="256" r:id="R0f45d00df6b54277"/>
    <p:sldId xmlns:r="http://schemas.openxmlformats.org/officeDocument/2006/relationships" id="257" r:id="Rdef95cb8dba04ec0"/>
    <p:sldId xmlns:r="http://schemas.openxmlformats.org/officeDocument/2006/relationships" id="258" r:id="R00c1bcb454a1416c"/>
    <p:sldId xmlns:r="http://schemas.openxmlformats.org/officeDocument/2006/relationships" id="259" r:id="R7688c7d54e4d4aa1"/>
    <p:sldId xmlns:r="http://schemas.openxmlformats.org/officeDocument/2006/relationships" id="260" r:id="R7531824d10dc4504"/>
    <p:sldId xmlns:r="http://schemas.openxmlformats.org/officeDocument/2006/relationships" id="261" r:id="R43dfd1150cb0407a"/>
    <p:sldId xmlns:r="http://schemas.openxmlformats.org/officeDocument/2006/relationships" id="262" r:id="R87bafc7e434f415d"/>
    <p:sldId xmlns:r="http://schemas.openxmlformats.org/officeDocument/2006/relationships" id="263" r:id="R703c1c7548584904"/>
    <p:sldId xmlns:r="http://schemas.openxmlformats.org/officeDocument/2006/relationships" id="264" r:id="R06ee619bf06b4f07"/>
    <p:sldId xmlns:r="http://schemas.openxmlformats.org/officeDocument/2006/relationships" id="265" r:id="R0ca3abc485a14508"/>
    <p:sldId xmlns:r="http://schemas.openxmlformats.org/officeDocument/2006/relationships" id="266" r:id="R3a99ec71cf3b4f73"/>
    <p:sldId xmlns:r="http://schemas.openxmlformats.org/officeDocument/2006/relationships" id="267" r:id="R6687b720aee348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bbd95b0925a4aa1"/><Relationship Type="http://schemas.openxmlformats.org/officeDocument/2006/relationships/slideMaster" Target="/ppt/slideMasters/slideMaster1.xml" Id="R351114d626aa4408"/><Relationship Type="http://schemas.openxmlformats.org/officeDocument/2006/relationships/notesMaster" Target="/ppt/notesMasters/notesMaster1.xml" Id="R2ac76ca43859409a"/><Relationship Type="http://schemas.openxmlformats.org/officeDocument/2006/relationships/presProps" Target="/ppt/presProps.xml" Id="R61afa94519754b56"/><Relationship Type="http://schemas.openxmlformats.org/officeDocument/2006/relationships/tableStyles" Target="/ppt/tableStyles.xml" Id="Rc8063f9dc3d44ff5"/><Relationship Type="http://schemas.openxmlformats.org/officeDocument/2006/relationships/slide" Target="/ppt/slides/slide1.xml" Id="R0f45d00df6b54277"/><Relationship Type="http://schemas.openxmlformats.org/officeDocument/2006/relationships/slide" Target="/ppt/slides/slide2.xml" Id="Rdef95cb8dba04ec0"/><Relationship Type="http://schemas.openxmlformats.org/officeDocument/2006/relationships/slide" Target="/ppt/slides/slide3.xml" Id="R00c1bcb454a1416c"/><Relationship Type="http://schemas.openxmlformats.org/officeDocument/2006/relationships/slide" Target="/ppt/slides/slide4.xml" Id="R7688c7d54e4d4aa1"/><Relationship Type="http://schemas.openxmlformats.org/officeDocument/2006/relationships/slide" Target="/ppt/slides/slide5.xml" Id="R7531824d10dc4504"/><Relationship Type="http://schemas.openxmlformats.org/officeDocument/2006/relationships/slide" Target="/ppt/slides/slide6.xml" Id="R43dfd1150cb0407a"/><Relationship Type="http://schemas.openxmlformats.org/officeDocument/2006/relationships/slide" Target="/ppt/slides/slide7.xml" Id="R87bafc7e434f415d"/><Relationship Type="http://schemas.openxmlformats.org/officeDocument/2006/relationships/slide" Target="/ppt/slides/slide8.xml" Id="R703c1c7548584904"/><Relationship Type="http://schemas.openxmlformats.org/officeDocument/2006/relationships/slide" Target="/ppt/slides/slide9.xml" Id="R06ee619bf06b4f07"/><Relationship Type="http://schemas.openxmlformats.org/officeDocument/2006/relationships/slide" Target="/ppt/slides/slide10.xml" Id="R0ca3abc485a14508"/><Relationship Type="http://schemas.openxmlformats.org/officeDocument/2006/relationships/slide" Target="/ppt/slides/slide11.xml" Id="R3a99ec71cf3b4f73"/><Relationship Type="http://schemas.openxmlformats.org/officeDocument/2006/relationships/slide" Target="/ppt/slides/slide12.xml" Id="R6687b720aee34888"/></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10774130dd04d45"/></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be7b5df58524734"/><Relationship Type="http://schemas.openxmlformats.org/officeDocument/2006/relationships/notesMaster" Target="/ppt/notesMasters/notesMaster1.xml" Id="R77ac06d70528448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ef76e1bb831f4739"/><Relationship Type="http://schemas.openxmlformats.org/officeDocument/2006/relationships/notesMaster" Target="/ppt/notesMasters/notesMaster1.xml" Id="Rf16ddf7a4dbc4b0f"/></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7565cee85ede4ee8"/><Relationship Type="http://schemas.openxmlformats.org/officeDocument/2006/relationships/notesMaster" Target="/ppt/notesMasters/notesMaster1.xml" Id="R64f0c595835146c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986e421196314f74"/><Relationship Type="http://schemas.openxmlformats.org/officeDocument/2006/relationships/notesMaster" Target="/ppt/notesMasters/notesMaster1.xml" Id="R7cea7331b9f847bb"/></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4dfce7b32fb14cbd"/><Relationship Type="http://schemas.openxmlformats.org/officeDocument/2006/relationships/notesMaster" Target="/ppt/notesMasters/notesMaster1.xml" Id="R2980a6c5c2c94735"/></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8fbcc03dd7b4240"/><Relationship Type="http://schemas.openxmlformats.org/officeDocument/2006/relationships/notesMaster" Target="/ppt/notesMasters/notesMaster1.xml" Id="R9372b68f1e6f4af0"/></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f1ad917e9bdf47fa"/><Relationship Type="http://schemas.openxmlformats.org/officeDocument/2006/relationships/notesMaster" Target="/ppt/notesMasters/notesMaster1.xml" Id="R841b2a20ce3d43f9"/></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7f4f2c101fb24696"/><Relationship Type="http://schemas.openxmlformats.org/officeDocument/2006/relationships/notesMaster" Target="/ppt/notesMasters/notesMaster1.xml" Id="R9cd434017d6a4b7d"/></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29016e1279384741"/><Relationship Type="http://schemas.openxmlformats.org/officeDocument/2006/relationships/notesMaster" Target="/ppt/notesMasters/notesMaster1.xml" Id="Rab5fdcaea4aa4965"/></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b10a24bd9514e00"/><Relationship Type="http://schemas.openxmlformats.org/officeDocument/2006/relationships/notesMaster" Target="/ppt/notesMasters/notesMaster1.xml" Id="Re0b59d04d5b541df"/></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a652d7c93334004"/><Relationship Type="http://schemas.openxmlformats.org/officeDocument/2006/relationships/notesMaster" Target="/ppt/notesMasters/notesMaster1.xml" Id="Rbd616b86bd7b40b6"/></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fcb8b99d077f4eb9"/><Relationship Type="http://schemas.openxmlformats.org/officeDocument/2006/relationships/notesMaster" Target="/ppt/notesMasters/notesMaster1.xml" Id="R0ccac64ee1be4ace"/></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Explain that this is the assessing week. Review familiar work rather than introduce a new practical skill.</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the established aid and regulation routine. Respect a pause. An unobserved response is not a wrong answer.</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Gather earlier work: 4 minutes.</a:t>
            </a:r>
          </a:p>
          <a:p xmlns:a="http://schemas.openxmlformats.org/drawingml/2006/main">
            <a:r>
              <a:t>Teacher: Use the staff audit for all six weeks. Gather only the learner’s own work and dated observations. List missing or partial evidence. Do not rehearse an explanation or supply the learner’s claim.</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exact scheme objective aloud with the plain display wording. Explain that work folder means the independence portfolio. Read the review checks without giving a target answer.</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Assessment brief: 3 minutes.</a:t>
            </a:r>
          </a:p>
          <a:p xmlns:a="http://schemas.openxmlformats.org/drawingml/2006/main">
            <a:r>
              <a:t>Teacher: Explain how to respond. Read prompts exactly and scribe without correcting. Access help enables a response; a supplied reason, answer or reduced choice is content support. Record both precisely. Keep the first record before feedback.</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Choose and check evidence: 8 minutes.</a:t>
            </a:r>
          </a:p>
          <a:p xmlns:a="http://schemas.openxmlformats.org/drawingml/2006/main">
            <a:r>
              <a:t>Teacher: Use Support Cards page 1 and Evidence Sheet page 1. Offer available verified work. A learner chooses at least one piece if available. Record its code, original date, source week and location. If the work is already filed, cross-reference it; do not duplicate it as a new achievement. If ownership or date is unclear, retain that uncertainty.</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Explain earlier work: 8 minutes.</a:t>
            </a:r>
          </a:p>
          <a:p xmlns:a="http://schemas.openxmlformats.org/drawingml/2006/main">
            <a:r>
              <a:t>Teacher: Take an individual first explanation: what did the learner do, what supports that claim, and what help was used? Accept a point, aid or exact scribed response. Cross-check with the earlier record. Do not credit adult work to the learner or infer a practical skill solely from today’s recall. Keep content cues and later replies separate. If no individual turn fits, mark not observed and plan a dated review.</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Add and check records: 6 minutes.</a:t>
            </a:r>
          </a:p>
          <a:p xmlns:a="http://schemas.openxmlformats.org/drawingml/2006/main">
            <a:r>
              <a:t>Teacher: Support adding the selected work or a clear reference to its actual storage location. Record filing help separately from help during the original task. Complete the six-week audit with available, partial, missing or not observed status. No earlier work: retain the gap and use today’s record only as evidence of the review or help request, never as replacement practical evidence.</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Feedback and response: 6 minutes.</a:t>
            </a:r>
          </a:p>
          <a:p xmlns:a="http://schemas.openxmlformats.org/drawingml/2006/main">
            <a:r>
              <a:t>Teacher: After initial explanations are recorded, give one specific feedback point linked to the selected work. Example: ask the learner to make the adult help clearer. Record the actual prompt and later response on page 2. Agree one familiar skill or evidence gap to revisit, help needed and a review date. Retain the original response and date.</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Confirm one work reference and an achievable next step. Check the learner knows the help available. Staff secure the records; no new practical task is started.</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These are access words for the review. Record any explanation that provides content needed for an assessed answer. The portfolio is called a work folder in the pupil text.</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VOCATIONAL-BUILD-A2-W07 · Year A · Friday 18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Keep the initial review, feedback and later response separate. Staff assess only what actual records support. No qualification result, total score or completion is inferred.</a:t>
            </a:r>
          </a:p>
          <a:p xmlns:a="http://schemas.openxmlformats.org/drawingml/2006/main">
            <a:r>
              <a:t>First and then: First show your work. Then say what you did.</a:t>
            </a:r>
          </a:p>
          <a:p xmlns:a="http://schemas.openxmlformats.org/drawingml/2006/main">
            <a:r>
              <a:t>Routes: Supported: Offer one verified piece at a time and read the same review prompts. Allow pointing, an aid and exact scribing. Record access help separately from a supplied explanation, reduced choice or content cue. Preserve the first response and record any later supported reply. Independent: Choose an available piece, explain the learner’s action and help used, then file or cross-reference it with the original date. Record any actual help. Respond to feedback and agree a next step. Aspire: Use the same review. If two suitable pieces exist, compare their support for one claim or identify a gap between them. Explain the next step from that comparison. No extra piece is required when none is available.</a:t>
            </a:r>
          </a:p>
          <a:p xmlns:a="http://schemas.openxmlformats.org/drawingml/2006/main">
            <a:r>
              <a:t>Evidence: An individual portfolio review linked to actual earlier work by code, original date and storage reference; the learner’s contribution, support and initial explanation, a six-week evidence audit, a separate response to feedback and an agreed next step with a review date.</a:t>
            </a:r>
          </a:p>
          <a:p xmlns:a="http://schemas.openxmlformats.org/drawingml/2006/main">
            <a:r>
              <a:t>Careers: This helps me show what I can do and plan my next step.</a:t>
            </a:r>
          </a:p>
          <a:p xmlns:a="http://schemas.openxmlformats.org/drawingml/2006/main">
            <a:r>
              <a:t>Source: scheme_references/BUILD_SOW.xlsx; BUILD Weekly - Autumn, C143; owner-confirmed strand and Friday slot.</a:t>
            </a:r>
          </a:p>
          <a:p xmlns:a="http://schemas.openxmlformats.org/drawingml/2006/main">
            <a:r>
              <a:t>Use only each learner’s own existing work and records. No food preparation, cleaning chemicals, sharp tools or new practical task is introduced. Staff manage confidential records and final storage. A learner can point, speak, draw, write, use an aid or pause. Do not invite private family details. Missing or unobserved evidence remains a gap. A recollection is recorded as a recollection until supported by a work sample or dated 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1c9d1ede1aab4843"/></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5473c68e61c84171"/></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5bb60d655f524d11"/></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3857fa15f0b74d55"/></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a31ae07573b3462c"/></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b663ae787a8c4bc6"/></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04229731ba0c435c"/><Relationship Type="http://schemas.openxmlformats.org/officeDocument/2006/relationships/slideLayout" Target="/ppt/slideLayouts/slideLayout1.xml" Id="R5a090d8553e34fe5"/><Relationship Type="http://schemas.openxmlformats.org/officeDocument/2006/relationships/slideLayout" Target="/ppt/slideLayouts/slideLayout2.xml" Id="Rbad7e990f49c4245"/><Relationship Type="http://schemas.openxmlformats.org/officeDocument/2006/relationships/slideLayout" Target="/ppt/slideLayouts/slideLayout3.xml" Id="R66ecd1bfe0aa4fa3"/><Relationship Type="http://schemas.openxmlformats.org/officeDocument/2006/relationships/slideLayout" Target="/ppt/slideLayouts/slideLayout4.xml" Id="R64a1fed567d84b27"/><Relationship Type="http://schemas.openxmlformats.org/officeDocument/2006/relationships/slideLayout" Target="/ppt/slideLayouts/slideLayout5.xml" Id="Rf68049474af4494d"/><Relationship Type="http://schemas.openxmlformats.org/officeDocument/2006/relationships/slideLayout" Target="/ppt/slideLayouts/slideLayout6.xml" Id="Rf517b209f1114629"/></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090d8553e34fe5"/>
    <p:sldLayoutId xmlns:r="http://schemas.openxmlformats.org/officeDocument/2006/relationships" id="2147483650" r:id="Rbad7e990f49c4245"/>
    <p:sldLayoutId xmlns:r="http://schemas.openxmlformats.org/officeDocument/2006/relationships" id="2147483651" r:id="R66ecd1bfe0aa4fa3"/>
    <p:sldLayoutId xmlns:r="http://schemas.openxmlformats.org/officeDocument/2006/relationships" id="2147483652" r:id="R64a1fed567d84b27"/>
    <p:sldLayoutId xmlns:r="http://schemas.openxmlformats.org/officeDocument/2006/relationships" id="2147483653" r:id="Rf68049474af4494d"/>
    <p:sldLayoutId xmlns:r="http://schemas.openxmlformats.org/officeDocument/2006/relationships" id="2147483654" r:id="Rf517b209f11146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faa83b464a2d456f"/><Relationship Type="http://schemas.openxmlformats.org/officeDocument/2006/relationships/notesSlide" Target="/ppt/notesSlides/notesSlide1.xml" Id="R41f5434b76054105"/></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523c5f7b151c43a0"/><Relationship Type="http://schemas.openxmlformats.org/officeDocument/2006/relationships/notesSlide" Target="/ppt/notesSlides/notesSlide2.xml" Id="Rddb86badf89b41f4"/></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6af1f873c3b04579"/><Relationship Type="http://schemas.openxmlformats.org/officeDocument/2006/relationships/notesSlide" Target="/ppt/notesSlides/notesSlide3.xml" Id="Rdd72a9f0ab1a4986"/></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bc17c3dd639a49b8"/><Relationship Type="http://schemas.openxmlformats.org/officeDocument/2006/relationships/notesSlide" Target="/ppt/notesSlides/notesSlide4.xml" Id="R03702c307a3140fe"/></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c3c4615d26784f2f"/><Relationship Type="http://schemas.openxmlformats.org/officeDocument/2006/relationships/notesSlide" Target="/ppt/notesSlides/notesSlide5.xml" Id="R5af090cb755e461e"/></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e9cdccece34547a0"/><Relationship Type="http://schemas.openxmlformats.org/officeDocument/2006/relationships/notesSlide" Target="/ppt/notesSlides/notesSlide6.xml" Id="Rb5ac8baebf6e46ee"/></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077bffaf54534a21"/><Relationship Type="http://schemas.openxmlformats.org/officeDocument/2006/relationships/notesSlide" Target="/ppt/notesSlides/notesSlide7.xml" Id="R54e732290b8c4905"/></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42435e588d814aad"/><Relationship Type="http://schemas.openxmlformats.org/officeDocument/2006/relationships/notesSlide" Target="/ppt/notesSlides/notesSlide8.xml" Id="R3693c5c86811429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2933da2c3cfd4e37"/><Relationship Type="http://schemas.openxmlformats.org/officeDocument/2006/relationships/notesSlide" Target="/ppt/notesSlides/notesSlide9.xml" Id="R9ab7beb1eb6f4661"/></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29794422bb054b5c"/><Relationship Type="http://schemas.openxmlformats.org/officeDocument/2006/relationships/notesSlide" Target="/ppt/notesSlides/notesSlide10.xml" Id="R90f995cf592d4d97"/></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215098d11894a51"/><Relationship Type="http://schemas.openxmlformats.org/officeDocument/2006/relationships/notesSlide" Target="/ppt/notesSlides/notesSlide11.xml" Id="R6cdad5e5e51e4c50"/></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66c5d95c2a3c457a"/><Relationship Type="http://schemas.openxmlformats.org/officeDocument/2006/relationships/notesSlide" Target="/ppt/notesSlides/notesSlide12.xml" Id="R1336212f1d974c15"/></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My work and next step</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Friday 18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does my work show? What will I try next?</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6720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show what I can do and plan my next step.</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52578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work.</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say or use an aid.</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Give each person time.</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help with the words.</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your own work close by.</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GATHER EARLIER WORK</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4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Our work so far</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609600" y="17335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Find your work from the past six weeks.</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609600" y="25908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work code and date with each piece.</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609600" y="3448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Say if a piece is missing.</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609600" y="43053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piece to look at. Keep it safe.</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Add my work to my work folder.</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real work from this term.</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my part and the help I used.</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work and plan a next step.</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ASSESSMENT BRIEF</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3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How the review works</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We will look at work you have done.</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or say what you did first.</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An adult can read or write your words.</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adult will note the help you use.</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your first reply as it is.</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You can reply to feedback at the end.</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show your work. Then say what you did.</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CHOOSE AND CHECK EVIDENCE</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8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choice of work</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one piece of your work.</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its code and the day it was done.</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Point to the part you want to talk about.</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Say if a fact or piece is missing.</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EXPLAIN EARLIER WORK</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8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part in the work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the part you did.</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does the work show you can do?</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help did you use?</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Point to a clue in the work or its record.</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adult keeps your first words or response.</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ADD AND CHECK RECORDS</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 folder</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Put the work in your folder, or link to where it is kept.</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its code and the day it was done.</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the work can be found again.</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Leave any gap clear. Ask for help if needed.</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FEEDBACK AND RESPONSE</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6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reply to feedback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Hear one point of feedback.</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your first reply as it is.</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a new reply in the next space.</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one next step, the help and a date.</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next step</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does your work show?</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is your next step?</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help will you need?</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Work: A task or a record of it.</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Proof: Work that helps show what I did.</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Part: The bit I did.</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Help: Support with a task.</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Date: The day the work was done.</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Gap: Work or a fact still missing.</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Next step: One thing to try next.</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VOCATIONAL-BUILD-A2-W07</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Friday 18 December 2026; 40 minutes; assessing.</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Review actual work from Weeks 1–6.</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Record first responses, access help and content cues.</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later feedback and replies separate.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Retain gaps. No new task or completion claim.</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2026-10-28T22:14:30.0060000Z</dcterms:created>
  <dcterms:modified xsi:type="dcterms:W3CDTF">2026-10-28T22:14:30.0060000Z</dcterms:modified>
</coreProperties>
</file>