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c4ab3ad7d6f432b"/><Relationship Type="http://schemas.openxmlformats.org/officeDocument/2006/relationships/extended-properties" Target="/docProps/app.xml" Id="R520e0d2acfd442bf"/><Relationship Type="http://schemas.openxmlformats.org/officeDocument/2006/relationships/officeDocument" Target="/ppt/presentation.xml" Id="Rb51b8076ef1349d0"/></Relationships>
</file>

<file path=ppt/presentation.xml><?xml version="1.0" encoding="utf-8"?>
<p:presentation xmlns:p="http://schemas.openxmlformats.org/presentationml/2006/main">
  <p:sldMasterIdLst>
    <p:sldMasterId xmlns:r="http://schemas.openxmlformats.org/officeDocument/2006/relationships" id="2147483648" r:id="Rc1f77c7680664cc3"/>
  </p:sldMasterIdLst>
  <p:notesMasterIdLst>
    <p:notesMasterId xmlns:r="http://schemas.openxmlformats.org/officeDocument/2006/relationships" r:id="R0ce11467c0ea47e9"/>
  </p:notesMasterIdLst>
  <p:sldIdLst>
    <p:sldId xmlns:r="http://schemas.openxmlformats.org/officeDocument/2006/relationships" id="256" r:id="R9262d40f6e244740"/>
    <p:sldId xmlns:r="http://schemas.openxmlformats.org/officeDocument/2006/relationships" id="257" r:id="Reab7c200d4304405"/>
    <p:sldId xmlns:r="http://schemas.openxmlformats.org/officeDocument/2006/relationships" id="258" r:id="R3c7bf18d40804c4d"/>
    <p:sldId xmlns:r="http://schemas.openxmlformats.org/officeDocument/2006/relationships" id="259" r:id="R6e8c5a9de07b4f1f"/>
    <p:sldId xmlns:r="http://schemas.openxmlformats.org/officeDocument/2006/relationships" id="260" r:id="R29ef12828ad54cf9"/>
    <p:sldId xmlns:r="http://schemas.openxmlformats.org/officeDocument/2006/relationships" id="261" r:id="Rcfed589c2af64fff"/>
    <p:sldId xmlns:r="http://schemas.openxmlformats.org/officeDocument/2006/relationships" id="262" r:id="R3fec9fae0bde409d"/>
    <p:sldId xmlns:r="http://schemas.openxmlformats.org/officeDocument/2006/relationships" id="263" r:id="R0e681282888d45b8"/>
    <p:sldId xmlns:r="http://schemas.openxmlformats.org/officeDocument/2006/relationships" id="264" r:id="R261f7a5b2590472c"/>
    <p:sldId xmlns:r="http://schemas.openxmlformats.org/officeDocument/2006/relationships" id="265" r:id="R223243c2683445be"/>
    <p:sldId xmlns:r="http://schemas.openxmlformats.org/officeDocument/2006/relationships" id="266" r:id="R6ce53f84b8d84c7e"/>
    <p:sldId xmlns:r="http://schemas.openxmlformats.org/officeDocument/2006/relationships" id="267" r:id="Rf465a15be21246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c5f619eb728419f"/><Relationship Type="http://schemas.openxmlformats.org/officeDocument/2006/relationships/slideMaster" Target="/ppt/slideMasters/slideMaster1.xml" Id="Rc1f77c7680664cc3"/><Relationship Type="http://schemas.openxmlformats.org/officeDocument/2006/relationships/notesMaster" Target="/ppt/notesMasters/notesMaster1.xml" Id="R0ce11467c0ea47e9"/><Relationship Type="http://schemas.openxmlformats.org/officeDocument/2006/relationships/presProps" Target="/ppt/presProps.xml" Id="R55c18a150f514117"/><Relationship Type="http://schemas.openxmlformats.org/officeDocument/2006/relationships/tableStyles" Target="/ppt/tableStyles.xml" Id="R47a31378a6b84022"/><Relationship Type="http://schemas.openxmlformats.org/officeDocument/2006/relationships/slide" Target="/ppt/slides/slide1.xml" Id="R9262d40f6e244740"/><Relationship Type="http://schemas.openxmlformats.org/officeDocument/2006/relationships/slide" Target="/ppt/slides/slide2.xml" Id="Reab7c200d4304405"/><Relationship Type="http://schemas.openxmlformats.org/officeDocument/2006/relationships/slide" Target="/ppt/slides/slide3.xml" Id="R3c7bf18d40804c4d"/><Relationship Type="http://schemas.openxmlformats.org/officeDocument/2006/relationships/slide" Target="/ppt/slides/slide4.xml" Id="R6e8c5a9de07b4f1f"/><Relationship Type="http://schemas.openxmlformats.org/officeDocument/2006/relationships/slide" Target="/ppt/slides/slide5.xml" Id="R29ef12828ad54cf9"/><Relationship Type="http://schemas.openxmlformats.org/officeDocument/2006/relationships/slide" Target="/ppt/slides/slide6.xml" Id="Rcfed589c2af64fff"/><Relationship Type="http://schemas.openxmlformats.org/officeDocument/2006/relationships/slide" Target="/ppt/slides/slide7.xml" Id="R3fec9fae0bde409d"/><Relationship Type="http://schemas.openxmlformats.org/officeDocument/2006/relationships/slide" Target="/ppt/slides/slide8.xml" Id="R0e681282888d45b8"/><Relationship Type="http://schemas.openxmlformats.org/officeDocument/2006/relationships/slide" Target="/ppt/slides/slide9.xml" Id="R261f7a5b2590472c"/><Relationship Type="http://schemas.openxmlformats.org/officeDocument/2006/relationships/slide" Target="/ppt/slides/slide10.xml" Id="R223243c2683445be"/><Relationship Type="http://schemas.openxmlformats.org/officeDocument/2006/relationships/slide" Target="/ppt/slides/slide11.xml" Id="R6ce53f84b8d84c7e"/><Relationship Type="http://schemas.openxmlformats.org/officeDocument/2006/relationships/slide" Target="/ppt/slides/slide12.xml" Id="Rf465a15be2124669"/></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a9361dfc613422b"/></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459c76262624351"/><Relationship Type="http://schemas.openxmlformats.org/officeDocument/2006/relationships/notesMaster" Target="/ppt/notesMasters/notesMaster1.xml" Id="R8c6061d531bc42c6"/></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6678749aa7a4419"/><Relationship Type="http://schemas.openxmlformats.org/officeDocument/2006/relationships/notesMaster" Target="/ppt/notesMasters/notesMaster1.xml" Id="Rb18046f17cff40ad"/></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93c3442394249a3"/><Relationship Type="http://schemas.openxmlformats.org/officeDocument/2006/relationships/notesMaster" Target="/ppt/notesMasters/notesMaster1.xml" Id="R201513084d294f6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0c2a9e7b7544bcb"/><Relationship Type="http://schemas.openxmlformats.org/officeDocument/2006/relationships/notesMaster" Target="/ppt/notesMasters/notesMaster1.xml" Id="R39ddf6f5785346b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6a06cf585ec44cb0"/><Relationship Type="http://schemas.openxmlformats.org/officeDocument/2006/relationships/notesMaster" Target="/ppt/notesMasters/notesMaster1.xml" Id="Rc9183ddf2abe4b7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f16f3ff6a92f4131"/><Relationship Type="http://schemas.openxmlformats.org/officeDocument/2006/relationships/notesMaster" Target="/ppt/notesMasters/notesMaster1.xml" Id="R52f0091318e44f2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6626a79bb824fec"/><Relationship Type="http://schemas.openxmlformats.org/officeDocument/2006/relationships/notesMaster" Target="/ppt/notesMasters/notesMaster1.xml" Id="R1d6dc659e99d4b6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23f4a1c68b574ac8"/><Relationship Type="http://schemas.openxmlformats.org/officeDocument/2006/relationships/notesMaster" Target="/ppt/notesMasters/notesMaster1.xml" Id="Ra315c6e04b3e403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8a5d724298346f4"/><Relationship Type="http://schemas.openxmlformats.org/officeDocument/2006/relationships/notesMaster" Target="/ppt/notesMasters/notesMaster1.xml" Id="Re7cb6d4c944b4181"/></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cd3d07ceb5904f03"/><Relationship Type="http://schemas.openxmlformats.org/officeDocument/2006/relationships/notesMaster" Target="/ppt/notesMasters/notesMaster1.xml" Id="R389819ad2771468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2c7e74bf39444d5"/><Relationship Type="http://schemas.openxmlformats.org/officeDocument/2006/relationships/notesMaster" Target="/ppt/notesMasters/notesMaster1.xml" Id="R6a00c729b9664414"/></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521301284854251"/><Relationship Type="http://schemas.openxmlformats.org/officeDocument/2006/relationships/notesMaster" Target="/ppt/notesMasters/notesMaster1.xml" Id="R408fa397c2ff48e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objective, question, theme and careers line.</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pause, chosen response mode and usual aid. Record access support.</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Briefly recall the previous plan and clean-up. Show the numbered prepared pots, bowl and spoon. Model soap-and-water handwashing; learners wash and dry hands before handling food. Complete this hygiene routine before any practical turn; it is not a third recipe step.</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objective and three success checks. This is a formative taught lesson.</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Use the recipe card and a separate adult set. Step 1: put the prepared fruit from pot 1 into the bowl. Step 2: add the yoghurt from pot 2 and stir gently. Set-up, handwashing and clear-up surround the two-step recipe. Use individual checked portions, not a shared serving container. Keep the adult model separate from learner evidence.</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On the separate adult set, show fruit in the bowl and pot 2 still full. Ask: “Do step 1 again, or use pot 2 for step 2?” Expected: add pot 2 and stir gently. If unsure, point to the step number, ask a short question, rephrase, offer a choice, then model only the first needed action. Recheck on the adult set and record support during the learner’s own turn.</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Support Cards page 1. A small group can have one supervised turn of about three minutes per learner; prepare extra supervised stations or record unfinished turns if more time is needed. Read and point as needed. Capture actual learner action, sequence and exact support during the task; an adult doing a step is not the learner doing it.</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Evidence Sheet page 1 records each step and order. Use this stage for any short safe unfinished turn, then the learner’s check or help request. Card ordering or dry rehearsal is useful learning but cannot be logged as practical recipe performance.</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Give one precise next-step prompt, such as “Check the card for what comes after adding pot 2.” Record the new response separately. Any retry must use a safe unchanged set or fresh checked portions; no unnecessary extra ingredients. Staff manage remaining food, chilled storage or disposal and final cleaning.</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Ask what came first and for one check or help used. Accept pointing to the card. Do not require tasting or an independent performance to demonstrate following with support.</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word mat available and explain each word in the task.</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VOCATIONAL-BUILD-A2-W03 · Year A · Friday 20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 Use VF · WS · I · NS+ (Yellow Box) · // self-edit · ? read back · R responded · E evidence. R requires Voice, Audience, a specific NS+ prompt and the learner response in their own colour. E is used only when actual work is banked. Keep the first try and any later change separate.</a:t>
            </a:r>
          </a:p>
          <a:p xmlns:a="http://schemas.openxmlformats.org/drawingml/2006/main">
            <a:r>
              <a:t>First and then: First put in the fruit. Then add the yoghurt and stir.</a:t>
            </a:r>
          </a:p>
          <a:p xmlns:a="http://schemas.openxmlformats.org/drawingml/2006/main">
            <a:r>
              <a:t>Routes: Supported: Present one numbered card and matching pot at a time. Read the instruction, allow an aid or adapted grip and offer agreed physical support with consent. Record what the learner did and what the adult did. Independent: Use both numbered cards to carry out the two steps with the agreed adult safety supervision. Check the order and ask for help when needed. Record support actually used. Aspire: Complete the same two steps, explain why the order helps and use the card to spot a missed action. No new recipe, extra ingredients or equipment is introduced.</a:t>
            </a:r>
          </a:p>
          <a:p xmlns:a="http://schemas.openxmlformats.org/drawingml/2006/main">
            <a:r>
              <a:t>Evidence: A dated individual observation of the two recipe steps, their order, actual support and any unfinished action; the learner gives a check or help request and a next step.</a:t>
            </a:r>
          </a:p>
          <a:p xmlns:a="http://schemas.openxmlformats.org/drawingml/2006/main">
            <a:r>
              <a:t>Careers: This helps me follow a task in order and ask for help.</a:t>
            </a:r>
          </a:p>
          <a:p xmlns:a="http://schemas.openxmlformats.org/drawingml/2006/main">
            <a:r>
              <a:t>Source: scheme_references/BUILD_SOW.xlsx; BUILD Weekly - Autumn, C139; owner-confirmed strand and Friday slot.</a:t>
            </a:r>
          </a:p>
          <a:p xmlns:a="http://schemas.openxmlformats.org/drawingml/2006/main">
            <a:r>
              <a:t>Before bringing food into the room, staff check individual allergy, dietary, texture and swallowing needs privately, ingredient labels, use-by dates, storage and cross-contact controls. Plain yoghurt contains milk; alternatives also need checking. Staff wash and prepare fruit, portion ingredients, clean equipment and arrange a safe work surface. Keep chilled food refrigerated until use and follow storage instructions. No heat, blades, glass or raw animal foods. Learners use only their own checked pots and kit; no sharing or tasting is required. Staff manage spills, products, food storage or disposal and the setting’s emergency procedures. If food work cannot be made safe, use a dry rehearsal and record practical work as not yet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9937d0dab4984c6f"/></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92dbb0d5bcad4bae"/></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1f6a34dde9da40b1"/></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455f1dc7c3a442bd"/></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5361c287ea484d5d"/></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307cae6824404177"/></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14c8adacc15d4d61"/><Relationship Type="http://schemas.openxmlformats.org/officeDocument/2006/relationships/slideLayout" Target="/ppt/slideLayouts/slideLayout1.xml" Id="Rcffc3d5e257545ba"/><Relationship Type="http://schemas.openxmlformats.org/officeDocument/2006/relationships/slideLayout" Target="/ppt/slideLayouts/slideLayout2.xml" Id="R4f48c9574df04e17"/><Relationship Type="http://schemas.openxmlformats.org/officeDocument/2006/relationships/slideLayout" Target="/ppt/slideLayouts/slideLayout3.xml" Id="R9fefe7a2e84a4680"/><Relationship Type="http://schemas.openxmlformats.org/officeDocument/2006/relationships/slideLayout" Target="/ppt/slideLayouts/slideLayout4.xml" Id="Rbd860c6276454ff4"/><Relationship Type="http://schemas.openxmlformats.org/officeDocument/2006/relationships/slideLayout" Target="/ppt/slideLayouts/slideLayout5.xml" Id="R2f24e91ecc6247e8"/><Relationship Type="http://schemas.openxmlformats.org/officeDocument/2006/relationships/slideLayout" Target="/ppt/slideLayouts/slideLayout6.xml" Id="Rb33d9137f3eb40a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fc3d5e257545ba"/>
    <p:sldLayoutId xmlns:r="http://schemas.openxmlformats.org/officeDocument/2006/relationships" id="2147483650" r:id="R4f48c9574df04e17"/>
    <p:sldLayoutId xmlns:r="http://schemas.openxmlformats.org/officeDocument/2006/relationships" id="2147483651" r:id="R9fefe7a2e84a4680"/>
    <p:sldLayoutId xmlns:r="http://schemas.openxmlformats.org/officeDocument/2006/relationships" id="2147483652" r:id="Rbd860c6276454ff4"/>
    <p:sldLayoutId xmlns:r="http://schemas.openxmlformats.org/officeDocument/2006/relationships" id="2147483653" r:id="R2f24e91ecc6247e8"/>
    <p:sldLayoutId xmlns:r="http://schemas.openxmlformats.org/officeDocument/2006/relationships" id="2147483654" r:id="Rb33d9137f3eb40a0"/>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d057b64853864271"/><Relationship Type="http://schemas.openxmlformats.org/officeDocument/2006/relationships/notesSlide" Target="/ppt/notesSlides/notesSlide1.xml" Id="R722dbdededf34ea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213137caa5804cef"/><Relationship Type="http://schemas.openxmlformats.org/officeDocument/2006/relationships/notesSlide" Target="/ppt/notesSlides/notesSlide2.xml" Id="R9994e67e7287474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1c7c734c5faf4a51"/><Relationship Type="http://schemas.openxmlformats.org/officeDocument/2006/relationships/notesSlide" Target="/ppt/notesSlides/notesSlide3.xml" Id="R50d6e1e56e9b474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3a1ca8902e9c4cdb"/><Relationship Type="http://schemas.openxmlformats.org/officeDocument/2006/relationships/notesSlide" Target="/ppt/notesSlides/notesSlide4.xml" Id="Rbd15fcb4f49644f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09a0c982f3a141c8"/><Relationship Type="http://schemas.openxmlformats.org/officeDocument/2006/relationships/notesSlide" Target="/ppt/notesSlides/notesSlide5.xml" Id="Rea71f29e576044b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751d56f3bcd84bad"/><Relationship Type="http://schemas.openxmlformats.org/officeDocument/2006/relationships/notesSlide" Target="/ppt/notesSlides/notesSlide6.xml" Id="R174506857518428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d7bf9a2db93f47ad"/><Relationship Type="http://schemas.openxmlformats.org/officeDocument/2006/relationships/notesSlide" Target="/ppt/notesSlides/notesSlide7.xml" Id="Rb9035ff8681d48f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8df0902ce5ae4efd"/><Relationship Type="http://schemas.openxmlformats.org/officeDocument/2006/relationships/notesSlide" Target="/ppt/notesSlides/notesSlide8.xml" Id="R4c723c32127a4cc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026102799504eb4"/><Relationship Type="http://schemas.openxmlformats.org/officeDocument/2006/relationships/notesSlide" Target="/ppt/notesSlides/notesSlide9.xml" Id="Rf753deb035e44a3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e93ce2385b744cf6"/><Relationship Type="http://schemas.openxmlformats.org/officeDocument/2006/relationships/notesSlide" Target="/ppt/notesSlides/notesSlide10.xml" Id="R5ac42d6e7e8f44a0"/></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b0345902a54e4d97"/><Relationship Type="http://schemas.openxmlformats.org/officeDocument/2006/relationships/notesSlide" Target="/ppt/notesSlides/notesSlide11.xml" Id="R0caffb759b334c3a"/></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99638b09147e4455"/><Relationship Type="http://schemas.openxmlformats.org/officeDocument/2006/relationships/notesSlide" Target="/ppt/notesSlides/notesSlide12.xml" Id="R7e681d0b196b4f95"/></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Follow a two-step recipe</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Friday 20 November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comes first? What comes next?</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follow a task in order and ask for help.</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safe place to work.</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use an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each person time.</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Wait for the adult’s food check.</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No one has to taste the food.</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Ready for the recipe</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planned a snack and learnt to clean up.</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Today we follow two recipe steps.</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Find the bowl, spoon and numbered pots.</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Wash and dry your hands before you start.</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Follow a two-step recipe with support.</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Find the first step.</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Follow both recipe steps with support.</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what I did and the help I used.</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has checked my food and kit.</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My hands and work space are clean.</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read step 1 and find pot 1.</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put the fruit into the bowl.</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add pot 2 and stir gently for step 2.</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check both steps and ask for help if needed.</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put in the fruit. Then add the yoghurt and stir.</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What comes next?</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fruit is in the bowl.</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Pot 2 is still full.</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Do step 1 again, or do step 2 next?</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the next card and pot.</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Wait for the adult to check your set.</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Step 1: put the fruit from pot 1 in the bowl.</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Step 2: add pot 2 and stir gently.</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card. Ask for help when needed.</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food and kit on your own tray.</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two steps you did.</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the order and help used.</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any step not done marked as a gap.</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one check or help request.</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Try the step again if it is safe.</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Help clear the kit. The adult deals with the food.</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Store the record. Wash and dry your hands.</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did you do first?</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one check or help you used.</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say or use an aid.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Recipe: Steps that tell us how to make food.</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Step: One part of a task.</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First: The step at the start.</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The step that comes after this one.</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Stir: Move a spoon round to mix the food.</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again to see what is done.</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Support with a task.</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VOCATIONAL-BUILD-A2-W03</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Friday 20 November 2026; 40 minutes; formative.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food needs, labels, clean kit and chilled storage.</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Adult prepares the pots; no heat, blades or tasting task.</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Log actual steps, order, prompts, adult actions and gaps.</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Dry rehearsal does not prove recipe performance.</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2026-10-27T23:33:16.3560000Z</dcterms:created>
  <dcterms:modified xsi:type="dcterms:W3CDTF">2026-10-27T23:33:16.3560000Z</dcterms:modified>
</coreProperties>
</file>