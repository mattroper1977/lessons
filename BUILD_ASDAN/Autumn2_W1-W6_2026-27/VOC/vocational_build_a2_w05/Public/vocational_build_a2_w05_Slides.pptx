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88b7957d35c340b1"/><Relationship Type="http://schemas.openxmlformats.org/officeDocument/2006/relationships/extended-properties" Target="/docProps/app.xml" Id="Re86a3680d62d411c"/><Relationship Type="http://schemas.openxmlformats.org/officeDocument/2006/relationships/officeDocument" Target="/ppt/presentation.xml" Id="Ra2f19e110f6b4a56"/></Relationships>
</file>

<file path=ppt/presentation.xml><?xml version="1.0" encoding="utf-8"?>
<p:presentation xmlns:p="http://schemas.openxmlformats.org/presentationml/2006/main">
  <p:sldMasterIdLst>
    <p:sldMasterId xmlns:r="http://schemas.openxmlformats.org/officeDocument/2006/relationships" id="2147483648" r:id="R0ac8b54852bb40b0"/>
  </p:sldMasterIdLst>
  <p:notesMasterIdLst>
    <p:notesMasterId xmlns:r="http://schemas.openxmlformats.org/officeDocument/2006/relationships" r:id="R1074fc50b6a34615"/>
  </p:notesMasterIdLst>
  <p:sldIdLst>
    <p:sldId xmlns:r="http://schemas.openxmlformats.org/officeDocument/2006/relationships" id="256" r:id="R9d886f978fb84f43"/>
    <p:sldId xmlns:r="http://schemas.openxmlformats.org/officeDocument/2006/relationships" id="257" r:id="Rb6d46594d5234381"/>
    <p:sldId xmlns:r="http://schemas.openxmlformats.org/officeDocument/2006/relationships" id="258" r:id="R4c3de18e6df3430a"/>
    <p:sldId xmlns:r="http://schemas.openxmlformats.org/officeDocument/2006/relationships" id="259" r:id="R47dbf4473e274448"/>
    <p:sldId xmlns:r="http://schemas.openxmlformats.org/officeDocument/2006/relationships" id="260" r:id="R15c921eccf2d42eb"/>
    <p:sldId xmlns:r="http://schemas.openxmlformats.org/officeDocument/2006/relationships" id="261" r:id="R5e72de69fcb64ccc"/>
    <p:sldId xmlns:r="http://schemas.openxmlformats.org/officeDocument/2006/relationships" id="262" r:id="R87dba1b760d64c93"/>
    <p:sldId xmlns:r="http://schemas.openxmlformats.org/officeDocument/2006/relationships" id="263" r:id="Rf95216c3160d4ab9"/>
    <p:sldId xmlns:r="http://schemas.openxmlformats.org/officeDocument/2006/relationships" id="264" r:id="Ra7cd5865bc54456e"/>
    <p:sldId xmlns:r="http://schemas.openxmlformats.org/officeDocument/2006/relationships" id="265" r:id="R42d01378e8054341"/>
    <p:sldId xmlns:r="http://schemas.openxmlformats.org/officeDocument/2006/relationships" id="266" r:id="Redc8c0830f164a00"/>
    <p:sldId xmlns:r="http://schemas.openxmlformats.org/officeDocument/2006/relationships" id="267" r:id="R6e76e5da521048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a613fcd6fb542c1"/><Relationship Type="http://schemas.openxmlformats.org/officeDocument/2006/relationships/slideMaster" Target="/ppt/slideMasters/slideMaster1.xml" Id="R0ac8b54852bb40b0"/><Relationship Type="http://schemas.openxmlformats.org/officeDocument/2006/relationships/notesMaster" Target="/ppt/notesMasters/notesMaster1.xml" Id="R1074fc50b6a34615"/><Relationship Type="http://schemas.openxmlformats.org/officeDocument/2006/relationships/presProps" Target="/ppt/presProps.xml" Id="R496152843b0d45f8"/><Relationship Type="http://schemas.openxmlformats.org/officeDocument/2006/relationships/tableStyles" Target="/ppt/tableStyles.xml" Id="R2b1507e44f524c77"/><Relationship Type="http://schemas.openxmlformats.org/officeDocument/2006/relationships/slide" Target="/ppt/slides/slide1.xml" Id="R9d886f978fb84f43"/><Relationship Type="http://schemas.openxmlformats.org/officeDocument/2006/relationships/slide" Target="/ppt/slides/slide2.xml" Id="Rb6d46594d5234381"/><Relationship Type="http://schemas.openxmlformats.org/officeDocument/2006/relationships/slide" Target="/ppt/slides/slide3.xml" Id="R4c3de18e6df3430a"/><Relationship Type="http://schemas.openxmlformats.org/officeDocument/2006/relationships/slide" Target="/ppt/slides/slide4.xml" Id="R47dbf4473e274448"/><Relationship Type="http://schemas.openxmlformats.org/officeDocument/2006/relationships/slide" Target="/ppt/slides/slide5.xml" Id="R15c921eccf2d42eb"/><Relationship Type="http://schemas.openxmlformats.org/officeDocument/2006/relationships/slide" Target="/ppt/slides/slide6.xml" Id="R5e72de69fcb64ccc"/><Relationship Type="http://schemas.openxmlformats.org/officeDocument/2006/relationships/slide" Target="/ppt/slides/slide7.xml" Id="R87dba1b760d64c93"/><Relationship Type="http://schemas.openxmlformats.org/officeDocument/2006/relationships/slide" Target="/ppt/slides/slide8.xml" Id="Rf95216c3160d4ab9"/><Relationship Type="http://schemas.openxmlformats.org/officeDocument/2006/relationships/slide" Target="/ppt/slides/slide9.xml" Id="Ra7cd5865bc54456e"/><Relationship Type="http://schemas.openxmlformats.org/officeDocument/2006/relationships/slide" Target="/ppt/slides/slide10.xml" Id="R42d01378e8054341"/><Relationship Type="http://schemas.openxmlformats.org/officeDocument/2006/relationships/slide" Target="/ppt/slides/slide11.xml" Id="Redc8c0830f164a00"/><Relationship Type="http://schemas.openxmlformats.org/officeDocument/2006/relationships/slide" Target="/ppt/slides/slide12.xml" Id="R6e76e5da521048d4"/></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a22dd59314ea49e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a4d640c4a20478e"/><Relationship Type="http://schemas.openxmlformats.org/officeDocument/2006/relationships/notesMaster" Target="/ppt/notesMasters/notesMaster1.xml" Id="R0cbd151b6848406e"/></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2be0ebd89a44234"/><Relationship Type="http://schemas.openxmlformats.org/officeDocument/2006/relationships/notesMaster" Target="/ppt/notesMasters/notesMaster1.xml" Id="R5aca2d2101854e5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66ed09534ceb4d4f"/><Relationship Type="http://schemas.openxmlformats.org/officeDocument/2006/relationships/notesMaster" Target="/ppt/notesMasters/notesMaster1.xml" Id="R52b9826629eb42ae"/></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47aea92f04fd4680"/><Relationship Type="http://schemas.openxmlformats.org/officeDocument/2006/relationships/notesMaster" Target="/ppt/notesMasters/notesMaster1.xml" Id="R10798a3b8aa840f6"/></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2596c9fc53941fa"/><Relationship Type="http://schemas.openxmlformats.org/officeDocument/2006/relationships/notesMaster" Target="/ppt/notesMasters/notesMaster1.xml" Id="R8fde9e620dd54f1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5df2fdc05764a0f"/><Relationship Type="http://schemas.openxmlformats.org/officeDocument/2006/relationships/notesMaster" Target="/ppt/notesMasters/notesMaster1.xml" Id="Ra75adadd8e6c44d7"/></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b014db22e1064d4b"/><Relationship Type="http://schemas.openxmlformats.org/officeDocument/2006/relationships/notesMaster" Target="/ppt/notesMasters/notesMaster1.xml" Id="Rdfa21a3edf25476f"/></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903308027f944543"/><Relationship Type="http://schemas.openxmlformats.org/officeDocument/2006/relationships/notesMaster" Target="/ppt/notesMasters/notesMaster1.xml" Id="R4794080711d84076"/></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c2dc66c548d6487b"/><Relationship Type="http://schemas.openxmlformats.org/officeDocument/2006/relationships/notesMaster" Target="/ppt/notesMasters/notesMaster1.xml" Id="R117d418199fc48c8"/></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d07ff38ab6424d8a"/><Relationship Type="http://schemas.openxmlformats.org/officeDocument/2006/relationships/notesMaster" Target="/ppt/notesMasters/notesMaster1.xml" Id="Rfeef596b1e384e4e"/></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8c8c86476aa44161"/><Relationship Type="http://schemas.openxmlformats.org/officeDocument/2006/relationships/notesMaster" Target="/ppt/notesMasters/notesMaster1.xml" Id="Rdfbafdeb7eab48b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ad57cd3561e4a72"/><Relationship Type="http://schemas.openxmlformats.org/officeDocument/2006/relationships/notesMaster" Target="/ppt/notesMasters/notesMaster1.xml" Id="Rb010913e22a049cf"/></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Read the objective, question, theme and careers line.</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a pause, chosen response mode and usual aid. Record access support.</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Starter: 3 minutes.</a:t>
            </a:r>
          </a:p>
          <a:p xmlns:a="http://schemas.openxmlformats.org/drawingml/2006/main">
            <a:r>
              <a:t>Teacher: Explain the real purpose: prepare a tray for the brief mark-making task during the evidence stage. Show one sheet, one suitable pencil and one help card. Each learner is responsible for one tray; agree where it goes. No waiting learner has to stand or carry a tray if an adapted position is needed.</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objective and three success checks. This is a formative taught lesson.</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 Do: 5 minutes.</a:t>
            </a:r>
          </a:p>
          <a:p xmlns:a="http://schemas.openxmlformats.org/drawingml/2006/main">
            <a:r>
              <a:t>Teacher: Use the separate adult model. Read the list, collect and place the three items, check against the list, put the tray in the agreed place and report its status. Say that noticing a missing item and asking for help is part of doing the job responsibly.</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We Do: 5 minutes.</a:t>
            </a:r>
          </a:p>
          <a:p xmlns:a="http://schemas.openxmlformats.org/drawingml/2006/main">
            <a:r>
              <a:t>Teacher: The adult tray has a sheet and a pencil but no help card. Ask: “Is the job ready, or is something missing?” Expected: notice the help card; add it if available or tell the adult it is needed. If unsure, point to the job list, ask a short question, rephrase, offer a choice and model only the first needed action. Parallel recheck: a tray has a sheet and help card but no pencil.</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practice: 12 minutes.</a:t>
            </a:r>
          </a:p>
          <a:p xmlns:a="http://schemas.openxmlformats.org/drawingml/2006/main">
            <a:r>
              <a:t>Teacher: Give each learner one tray and a clear reachable supply area. Observe collecting, placing, checking and reporting individually. Offer the prompt ladder and usual aid. Record the learner’s actions separately from adult completion. Allow a responsible report of an unfinished need; do not treat a polished tray as the only evidence.</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evidence: 6 minutes.</a:t>
            </a:r>
          </a:p>
          <a:p xmlns:a="http://schemas.openxmlformats.org/drawingml/2006/main">
            <a:r>
              <a:t>Teacher: Complete the observation from actual performance. Each learner then uses a prepared tray to draw one simple shape or make a chosen mark, with the help card available. This verifies the resources have a real use; drawing quality is not assessed. If a tray needs correction, keep the first record and note the help. Reading a job card alone is not practical completion.</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Tidy and evidence check: 4 minutes.</a:t>
            </a:r>
          </a:p>
          <a:p xmlns:a="http://schemas.openxmlformats.org/drawingml/2006/main">
            <a:r>
              <a:t>Teacher: Give one specific prompt such as “Check your tray against the list.” Record any changed action or report on Evidence Sheet page 2. Keep initial observations intact. Return materials after the short task, with adult support as required.</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Expected: checking each listed item shows readiness. If an item is missing, find it safely if available or tell the adult what is needed. Accept a point, sign, aid or brief spoken report.</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Keep the word mat available and explain each word in the task.</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VOCATIONAL-BUILD-A2-W05 · Year A · Friday 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 Use VF · WS · I · NS+ (Yellow Box) · // self-edit · ? read back · R responded · E evidence. R requires Voice, Audience, a specific NS+ prompt and the learner response in their own colour. E is used only when actual work is banked. Keep the first try and any later change separate.</a:t>
            </a:r>
          </a:p>
          <a:p xmlns:a="http://schemas.openxmlformats.org/drawingml/2006/main">
            <a:r>
              <a:t>First and then: First do the job. Then check and report back.</a:t>
            </a:r>
          </a:p>
          <a:p xmlns:a="http://schemas.openxmlformats.org/drawingml/2006/main">
            <a:r>
              <a:t>Routes: Supported: Read one part of the job card at a time. Offer the required items within reach, a point or aid, and an adapted way to place them. Record prompts and adult actions; keep the learner’s own contribution clear. Independent: Use the full job card to collect the three items, check the tray and report ready or a need. Use the usual adult safety supervision and record any help requested. Aspire: Complete the same job, explain how the check helped and spot a missing item in the separate adult tray. Suggest a way to make the next set-up clearer without taking over another learner’s work.</a:t>
            </a:r>
          </a:p>
          <a:p xmlns:a="http://schemas.openxmlformats.org/drawingml/2006/main">
            <a:r>
              <a:t>Evidence: A dated observation of each learner preparing a work tray, checking it against the job card and reporting ready or a remaining need; actual actions, prompts, adult help and a next step are recorded.</a:t>
            </a:r>
          </a:p>
          <a:p xmlns:a="http://schemas.openxmlformats.org/drawingml/2006/main">
            <a:r>
              <a:t>Careers: This helps me finish a job, check it and report back.</a:t>
            </a:r>
          </a:p>
          <a:p xmlns:a="http://schemas.openxmlformats.org/drawingml/2006/main">
            <a:r>
              <a:t>Source: scheme_references/BUILD_SOW.xlsx; BUILD Weekly - Autumn, C141; owner-confirmed strand and Friday slot.</a:t>
            </a:r>
          </a:p>
          <a:p xmlns:a="http://schemas.openxmlformats.org/drawingml/2006/main">
            <a:r>
              <a:t>Agree a small, safe class job with a clear finish point. Use light trays and ordinary checked stationery in an accessible work area. Adults manage any heavy item, high storage, spill or unsafe equipment. Do not use personal records or real names. A request for help is a responsible action, not failure. Respect a pause or adapted role; record what the learner did and what an adult completed. A group result does not prove that each learner completed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9ae6f4024df147e3"/></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1beed83168f54acf"/></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e67816d4ae9244d8"/></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260ee97ac55e4e07"/></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42d0cddee16a4397"/></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7ee1796a835d4a8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b9695055fbf64cd0"/><Relationship Type="http://schemas.openxmlformats.org/officeDocument/2006/relationships/slideLayout" Target="/ppt/slideLayouts/slideLayout1.xml" Id="R867024efc6564c0c"/><Relationship Type="http://schemas.openxmlformats.org/officeDocument/2006/relationships/slideLayout" Target="/ppt/slideLayouts/slideLayout2.xml" Id="R52332210aeed4592"/><Relationship Type="http://schemas.openxmlformats.org/officeDocument/2006/relationships/slideLayout" Target="/ppt/slideLayouts/slideLayout3.xml" Id="Rdaab31d6295542bf"/><Relationship Type="http://schemas.openxmlformats.org/officeDocument/2006/relationships/slideLayout" Target="/ppt/slideLayouts/slideLayout4.xml" Id="R05d00d225da5449b"/><Relationship Type="http://schemas.openxmlformats.org/officeDocument/2006/relationships/slideLayout" Target="/ppt/slideLayouts/slideLayout5.xml" Id="Rcf2414ce5e4e44dc"/><Relationship Type="http://schemas.openxmlformats.org/officeDocument/2006/relationships/slideLayout" Target="/ppt/slideLayouts/slideLayout6.xml" Id="R4c7f67cb504a48e3"/></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7024efc6564c0c"/>
    <p:sldLayoutId xmlns:r="http://schemas.openxmlformats.org/officeDocument/2006/relationships" id="2147483650" r:id="R52332210aeed4592"/>
    <p:sldLayoutId xmlns:r="http://schemas.openxmlformats.org/officeDocument/2006/relationships" id="2147483651" r:id="Rdaab31d6295542bf"/>
    <p:sldLayoutId xmlns:r="http://schemas.openxmlformats.org/officeDocument/2006/relationships" id="2147483652" r:id="R05d00d225da5449b"/>
    <p:sldLayoutId xmlns:r="http://schemas.openxmlformats.org/officeDocument/2006/relationships" id="2147483653" r:id="Rcf2414ce5e4e44dc"/>
    <p:sldLayoutId xmlns:r="http://schemas.openxmlformats.org/officeDocument/2006/relationships" id="2147483654" r:id="R4c7f67cb504a48e3"/>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b7001cf3eb514719"/><Relationship Type="http://schemas.openxmlformats.org/officeDocument/2006/relationships/notesSlide" Target="/ppt/notesSlides/notesSlide1.xml" Id="Reeca14407f174a49"/></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49269e1c51f341e3"/><Relationship Type="http://schemas.openxmlformats.org/officeDocument/2006/relationships/notesSlide" Target="/ppt/notesSlides/notesSlide2.xml" Id="R4b7e4890a2f64205"/></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9d2478e257b64579"/><Relationship Type="http://schemas.openxmlformats.org/officeDocument/2006/relationships/notesSlide" Target="/ppt/notesSlides/notesSlide3.xml" Id="R691183d4fb8c451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847f0695377749d8"/><Relationship Type="http://schemas.openxmlformats.org/officeDocument/2006/relationships/notesSlide" Target="/ppt/notesSlides/notesSlide4.xml" Id="R6f8c41b4752b4b1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dc4a130a062b4782"/><Relationship Type="http://schemas.openxmlformats.org/officeDocument/2006/relationships/notesSlide" Target="/ppt/notesSlides/notesSlide5.xml" Id="R308c7786d3d5454e"/></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3ed35c13e074ce7"/><Relationship Type="http://schemas.openxmlformats.org/officeDocument/2006/relationships/notesSlide" Target="/ppt/notesSlides/notesSlide6.xml" Id="R5b968d40479f40a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67e18b6f3f204b21"/><Relationship Type="http://schemas.openxmlformats.org/officeDocument/2006/relationships/notesSlide" Target="/ppt/notesSlides/notesSlide7.xml" Id="R48f5d1c581a14200"/></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ca92eda2bb54489e"/><Relationship Type="http://schemas.openxmlformats.org/officeDocument/2006/relationships/notesSlide" Target="/ppt/notesSlides/notesSlide8.xml" Id="Rb9e6195fa78c488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034e828ae24445e4"/><Relationship Type="http://schemas.openxmlformats.org/officeDocument/2006/relationships/notesSlide" Target="/ppt/notesSlides/notesSlide9.xml" Id="R0c5b08a565e14b4e"/></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ccd3ece7f71a416c"/><Relationship Type="http://schemas.openxmlformats.org/officeDocument/2006/relationships/notesSlide" Target="/ppt/notesSlides/notesSlide10.xml" Id="R3900ae848f4a451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6f703a37a6f436b"/><Relationship Type="http://schemas.openxmlformats.org/officeDocument/2006/relationships/notesSlide" Target="/ppt/notesSlides/notesSlide11.xml" Id="Rff2c1f31765c4faf"/></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7c165706685b4092"/><Relationship Type="http://schemas.openxmlformats.org/officeDocument/2006/relationships/notesSlide" Target="/ppt/notesSlides/notesSlide12.xml" Id="R88f7786005e64179"/></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Take care of a class job</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Friday 4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How will I know my job is done?</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6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finish a job, check it and report back.</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52578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work.</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say or use an aid.</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Give each person time.</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what help you need for the job.</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 will check the work together.</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job with a purpose</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609600" y="17335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next task needs a work tray.</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609600" y="25908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Each tray needs a sheet, pencil and help card.</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609600" y="3448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Your job is to set up one tray.</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609600" y="43053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 will use the trays after the check.</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Take responsibility for a class job.</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Find out what the job needs.</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Do the job with care and ask for help.</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the result and report back.</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My job is to set up one work tray.</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read the list: one sheet, pencil and help card.</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put the three items on the tray.</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check each item against the list.</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put the tray in the agreed place.</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tell the adult it is ready, or say what I need.</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do the job. Then check and report back.</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Is the tray ready?</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tray has a sheet and pencil.</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There is no help card.</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Is the tray ready? What is missing?</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what to add or ask for.</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Try the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job card with the help you need.</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Put one sheet, pencil and help card on the tray.</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the tray against the list.</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Put it in the agreed place.</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Tell the adult: ready, or what is still needed.</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the job you did and the check you made.</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adult notes your actions and help.</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tray to make one chosen mark or shape.</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help card if you need support.</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Hear one point of feedback.</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the list to check or try the report again.</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Return the kit after it has been used.</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first record and your new reply.</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How did you know the job was ready?</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would you do if an item was missing?</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Point, say or use an aid.</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Job: A task I agree to do.</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Kit: The things needed for a task.</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Tray: A flat holder for the kit.</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Look to see if the job is done.</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Ready: Set up for the next task.</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Report: Tell how the job went.</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Help: Support with a task.</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VOCATIONAL-BUILD-A2-W05</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Friday 4 December 2026; 40 minutes; formative.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Give a real small class job with a clear finish point.</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supplies accessible; adults manage unsafe items.</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Record learner actions, checks, reports and exact help.</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Help seeking can show responsibility.</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2026-10-27T23:59:29.2290000Z</dcterms:created>
  <dcterms:modified xsi:type="dcterms:W3CDTF">2026-10-27T23:59:29.2290000Z</dcterms:modified>
</coreProperties>
</file>