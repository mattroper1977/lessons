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386f374aa79e4bf3"/><Relationship Type="http://schemas.openxmlformats.org/officeDocument/2006/relationships/extended-properties" Target="/docProps/app.xml" Id="R824c43f5213d4143"/><Relationship Type="http://schemas.openxmlformats.org/officeDocument/2006/relationships/officeDocument" Target="/ppt/presentation.xml" Id="R6da01d9788cf4a03"/></Relationships>
</file>

<file path=ppt/presentation.xml><?xml version="1.0" encoding="utf-8"?>
<p:presentation xmlns:p="http://schemas.openxmlformats.org/presentationml/2006/main">
  <p:sldMasterIdLst>
    <p:sldMasterId xmlns:r="http://schemas.openxmlformats.org/officeDocument/2006/relationships" id="2147483648" r:id="Rd9fbc2b0d0294f80"/>
  </p:sldMasterIdLst>
  <p:notesMasterIdLst>
    <p:notesMasterId xmlns:r="http://schemas.openxmlformats.org/officeDocument/2006/relationships" r:id="R39cdb36a343849a4"/>
  </p:notesMasterIdLst>
  <p:sldIdLst>
    <p:sldId xmlns:r="http://schemas.openxmlformats.org/officeDocument/2006/relationships" id="256" r:id="R069c02dd7a424b8e"/>
    <p:sldId xmlns:r="http://schemas.openxmlformats.org/officeDocument/2006/relationships" id="257" r:id="Ra6cb3940be6845f3"/>
    <p:sldId xmlns:r="http://schemas.openxmlformats.org/officeDocument/2006/relationships" id="258" r:id="Rcfc123e0ae1d43e0"/>
    <p:sldId xmlns:r="http://schemas.openxmlformats.org/officeDocument/2006/relationships" id="259" r:id="R9394778142ef422e"/>
    <p:sldId xmlns:r="http://schemas.openxmlformats.org/officeDocument/2006/relationships" id="260" r:id="Rac4e7f52fb0e4209"/>
    <p:sldId xmlns:r="http://schemas.openxmlformats.org/officeDocument/2006/relationships" id="261" r:id="Ra0aceb07963a4d9c"/>
    <p:sldId xmlns:r="http://schemas.openxmlformats.org/officeDocument/2006/relationships" id="262" r:id="R460e21687bf741c3"/>
    <p:sldId xmlns:r="http://schemas.openxmlformats.org/officeDocument/2006/relationships" id="263" r:id="R8cb0f4ae522440d4"/>
    <p:sldId xmlns:r="http://schemas.openxmlformats.org/officeDocument/2006/relationships" id="264" r:id="Red1b9810357949bb"/>
    <p:sldId xmlns:r="http://schemas.openxmlformats.org/officeDocument/2006/relationships" id="265" r:id="R74512223a4dd4dac"/>
    <p:sldId xmlns:r="http://schemas.openxmlformats.org/officeDocument/2006/relationships" id="266" r:id="Ra88ef8357b2540ba"/>
    <p:sldId xmlns:r="http://schemas.openxmlformats.org/officeDocument/2006/relationships" id="267" r:id="Rf13d66ac1b2548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05af745a4adb43b3"/><Relationship Type="http://schemas.openxmlformats.org/officeDocument/2006/relationships/slideMaster" Target="/ppt/slideMasters/slideMaster1.xml" Id="Rd9fbc2b0d0294f80"/><Relationship Type="http://schemas.openxmlformats.org/officeDocument/2006/relationships/notesMaster" Target="/ppt/notesMasters/notesMaster1.xml" Id="R39cdb36a343849a4"/><Relationship Type="http://schemas.openxmlformats.org/officeDocument/2006/relationships/presProps" Target="/ppt/presProps.xml" Id="R05868cd2c14d4220"/><Relationship Type="http://schemas.openxmlformats.org/officeDocument/2006/relationships/tableStyles" Target="/ppt/tableStyles.xml" Id="R2607d0f2f0a74ebf"/><Relationship Type="http://schemas.openxmlformats.org/officeDocument/2006/relationships/slide" Target="/ppt/slides/slide1.xml" Id="R069c02dd7a424b8e"/><Relationship Type="http://schemas.openxmlformats.org/officeDocument/2006/relationships/slide" Target="/ppt/slides/slide2.xml" Id="Ra6cb3940be6845f3"/><Relationship Type="http://schemas.openxmlformats.org/officeDocument/2006/relationships/slide" Target="/ppt/slides/slide3.xml" Id="Rcfc123e0ae1d43e0"/><Relationship Type="http://schemas.openxmlformats.org/officeDocument/2006/relationships/slide" Target="/ppt/slides/slide4.xml" Id="R9394778142ef422e"/><Relationship Type="http://schemas.openxmlformats.org/officeDocument/2006/relationships/slide" Target="/ppt/slides/slide5.xml" Id="Rac4e7f52fb0e4209"/><Relationship Type="http://schemas.openxmlformats.org/officeDocument/2006/relationships/slide" Target="/ppt/slides/slide6.xml" Id="Ra0aceb07963a4d9c"/><Relationship Type="http://schemas.openxmlformats.org/officeDocument/2006/relationships/slide" Target="/ppt/slides/slide7.xml" Id="R460e21687bf741c3"/><Relationship Type="http://schemas.openxmlformats.org/officeDocument/2006/relationships/slide" Target="/ppt/slides/slide8.xml" Id="R8cb0f4ae522440d4"/><Relationship Type="http://schemas.openxmlformats.org/officeDocument/2006/relationships/slide" Target="/ppt/slides/slide9.xml" Id="Red1b9810357949bb"/><Relationship Type="http://schemas.openxmlformats.org/officeDocument/2006/relationships/slide" Target="/ppt/slides/slide10.xml" Id="R74512223a4dd4dac"/><Relationship Type="http://schemas.openxmlformats.org/officeDocument/2006/relationships/slide" Target="/ppt/slides/slide11.xml" Id="Ra88ef8357b2540ba"/><Relationship Type="http://schemas.openxmlformats.org/officeDocument/2006/relationships/slide" Target="/ppt/slides/slide12.xml" Id="Rf13d66ac1b254833"/></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afe3651778244658"/></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95f7b642e45546b3"/><Relationship Type="http://schemas.openxmlformats.org/officeDocument/2006/relationships/notesMaster" Target="/ppt/notesMasters/notesMaster1.xml" Id="R019e24d4f62b4fb7"/></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a246bcc02ab64f16"/><Relationship Type="http://schemas.openxmlformats.org/officeDocument/2006/relationships/notesMaster" Target="/ppt/notesMasters/notesMaster1.xml" Id="R09942e938f3b430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38543e63fb554364"/><Relationship Type="http://schemas.openxmlformats.org/officeDocument/2006/relationships/notesMaster" Target="/ppt/notesMasters/notesMaster1.xml" Id="Rd75c98c6043d45de"/></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93ff6b75eccd4895"/><Relationship Type="http://schemas.openxmlformats.org/officeDocument/2006/relationships/notesMaster" Target="/ppt/notesMasters/notesMaster1.xml" Id="R125925a519a544f8"/></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2a583da209b74225"/><Relationship Type="http://schemas.openxmlformats.org/officeDocument/2006/relationships/notesMaster" Target="/ppt/notesMasters/notesMaster1.xml" Id="R430cebc3b23149a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68badbd45d6e4e30"/><Relationship Type="http://schemas.openxmlformats.org/officeDocument/2006/relationships/notesMaster" Target="/ppt/notesMasters/notesMaster1.xml" Id="R4d5edd4775694e3a"/></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94814d0b65be438e"/><Relationship Type="http://schemas.openxmlformats.org/officeDocument/2006/relationships/notesMaster" Target="/ppt/notesMasters/notesMaster1.xml" Id="R9c73f79a67c449f0"/></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c8c8da2236c84438"/><Relationship Type="http://schemas.openxmlformats.org/officeDocument/2006/relationships/notesMaster" Target="/ppt/notesMasters/notesMaster1.xml" Id="R8f5d437eb413446c"/></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d8d37c2daf82434e"/><Relationship Type="http://schemas.openxmlformats.org/officeDocument/2006/relationships/notesMaster" Target="/ppt/notesMasters/notesMaster1.xml" Id="R1f52b81ead6c4efc"/></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9b429eccb8cc44df"/><Relationship Type="http://schemas.openxmlformats.org/officeDocument/2006/relationships/notesMaster" Target="/ppt/notesMasters/notesMaster1.xml" Id="R429b2a2fbd3b4e17"/></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910f1fb5fe474a4c"/><Relationship Type="http://schemas.openxmlformats.org/officeDocument/2006/relationships/notesMaster" Target="/ppt/notesMasters/notesMaster1.xml" Id="R17fcd0e441914b44"/></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af9e4d0520a475a"/><Relationship Type="http://schemas.openxmlformats.org/officeDocument/2006/relationships/notesMaster" Target="/ppt/notesMasters/notesMaster1.xml" Id="Rd3d840c9afe34959"/></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VOCATIONAL-BUILD-A2-W02 · Year A · Friday 13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Title and big question: 0 minutes.</a:t>
            </a:r>
          </a:p>
          <a:p xmlns:a="http://schemas.openxmlformats.org/drawingml/2006/main">
            <a:r>
              <a:t>Teacher: Read the objective, question, theme and careers line.</a:t>
            </a:r>
          </a:p>
          <a:p xmlns:a="http://schemas.openxmlformats.org/drawingml/2006/main">
            <a:r>
              <a:t>First and then: First wash, rinse and drain. Then clean the space and check.</a:t>
            </a:r>
          </a:p>
          <a:p xmlns:a="http://schemas.openxmlformats.org/drawingml/2006/main">
            <a:r>
              <a:t>Routes: Supported: Use one step card at a time, an adapted grip or a stable tray. Allow pointing to request help. Staff can support an action with consent; record exactly what the learner did and what the adult did. Independent: Follow the wash, rinse, drain and surface-cleaning sequence with the agreed adult safety checks. Check the work and request help as needed. Adult safety supervision still applies. Aspire: Complete the same task, explain why dish and surface cloths stay separate, and spot an unfinished step. Improve that step with adult approval; do not handle products or hotter water.</a:t>
            </a:r>
          </a:p>
          <a:p xmlns:a="http://schemas.openxmlformats.org/drawingml/2006/main">
            <a:r>
              <a:t>Evidence: A dated observation of each learner washing an item and cleaning a work area after a water-transfer activity, recording actions, prompts, safety support, unfinished steps and a next step.</a:t>
            </a:r>
          </a:p>
          <a:p xmlns:a="http://schemas.openxmlformats.org/drawingml/2006/main">
            <a:r>
              <a:t>Careers: This helps me care for kit and leave a shared space ready.</a:t>
            </a:r>
          </a:p>
          <a:p xmlns:a="http://schemas.openxmlformats.org/drawingml/2006/main">
            <a:r>
              <a:t>Source: scheme_references/BUILD_SOW.xlsx; BUILD Weekly - Autumn, C138; owner-confirmed strand and Friday slot.</a:t>
            </a:r>
          </a:p>
          <a:p xmlns:a="http://schemas.openxmlformats.org/drawingml/2006/main">
            <a:r>
              <a:t>Staff complete the setting’s practical risk check and adapt equipment and access before teaching. Use only unbreakable items from a clean-water transfer task; no raw food, blades, glass, heat or electrical equipment. Adults prepare and handle cleaning products, check safe water temperature, change dirty water and manage spills promptly. Learners never mix or dose products. Use separate dish and surface cloths. Detergent cleaning is not disinfection; staff complete any required disinfection separately under the setting’s procedure. Keep chemicals secure. If the task is unsafe, stop and seek help. A dry rehearsal is an access alternative, not evidence of completed washing.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VOCATIONAL-BUILD-A2-W02 · Year A · Friday 13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Arrival and regulation: 3 minutes.</a:t>
            </a:r>
          </a:p>
          <a:p xmlns:a="http://schemas.openxmlformats.org/drawingml/2006/main">
            <a:r>
              <a:t>Teacher: Offer a pause, chosen response mode and usual aid. Record any access help.</a:t>
            </a:r>
          </a:p>
          <a:p xmlns:a="http://schemas.openxmlformats.org/drawingml/2006/main">
            <a:r>
              <a:t>First and then: First wash, rinse and drain. Then clean the space and check.</a:t>
            </a:r>
          </a:p>
          <a:p xmlns:a="http://schemas.openxmlformats.org/drawingml/2006/main">
            <a:r>
              <a:t>Routes: Supported: Use one step card at a time, an adapted grip or a stable tray. Allow pointing to request help. Staff can support an action with consent; record exactly what the learner did and what the adult did. Independent: Follow the wash, rinse, drain and surface-cleaning sequence with the agreed adult safety checks. Check the work and request help as needed. Adult safety supervision still applies. Aspire: Complete the same task, explain why dish and surface cloths stay separate, and spot an unfinished step. Improve that step with adult approval; do not handle products or hotter water.</a:t>
            </a:r>
          </a:p>
          <a:p xmlns:a="http://schemas.openxmlformats.org/drawingml/2006/main">
            <a:r>
              <a:t>Evidence: A dated observation of each learner washing an item and cleaning a work area after a water-transfer activity, recording actions, prompts, safety support, unfinished steps and a next step.</a:t>
            </a:r>
          </a:p>
          <a:p xmlns:a="http://schemas.openxmlformats.org/drawingml/2006/main">
            <a:r>
              <a:t>Careers: This helps me care for kit and leave a shared space ready.</a:t>
            </a:r>
          </a:p>
          <a:p xmlns:a="http://schemas.openxmlformats.org/drawingml/2006/main">
            <a:r>
              <a:t>Source: scheme_references/BUILD_SOW.xlsx; BUILD Weekly - Autumn, C138; owner-confirmed strand and Friday slot.</a:t>
            </a:r>
          </a:p>
          <a:p xmlns:a="http://schemas.openxmlformats.org/drawingml/2006/main">
            <a:r>
              <a:t>Staff complete the setting’s practical risk check and adapt equipment and access before teaching. Use only unbreakable items from a clean-water transfer task; no raw food, blades, glass, heat or electrical equipment. Adults prepare and handle cleaning products, check safe water temperature, change dirty water and manage spills promptly. Learners never mix or dose products. Use separate dish and surface cloths. Detergent cleaning is not disinfection; staff complete any required disinfection separately under the setting’s procedure. Keep chemicals secure. If the task is unsafe, stop and seek help. A dry rehearsal is an access alternative, not evidence of completed washing.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VOCATIONAL-BUILD-A2-W02 · Year A · Friday 13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Starter: 3 minutes.</a:t>
            </a:r>
          </a:p>
          <a:p xmlns:a="http://schemas.openxmlformats.org/drawingml/2006/main">
            <a:r>
              <a:t>Teacher: With stable trays, each learner moves a little clean water from cup to tray using an unbreakable spoon for about one minute. No drinking, food, dyes or sensory additives. Stop spills promptly. The resulting used items and wet space give the clean-up task a real purpose.</a:t>
            </a:r>
          </a:p>
          <a:p xmlns:a="http://schemas.openxmlformats.org/drawingml/2006/main">
            <a:r>
              <a:t>First and then: First wash, rinse and drain. Then clean the space and check.</a:t>
            </a:r>
          </a:p>
          <a:p xmlns:a="http://schemas.openxmlformats.org/drawingml/2006/main">
            <a:r>
              <a:t>Routes: Supported: Use one step card at a time, an adapted grip or a stable tray. Allow pointing to request help. Staff can support an action with consent; record exactly what the learner did and what the adult did. Independent: Follow the wash, rinse, drain and surface-cleaning sequence with the agreed adult safety checks. Check the work and request help as needed. Adult safety supervision still applies. Aspire: Complete the same task, explain why dish and surface cloths stay separate, and spot an unfinished step. Improve that step with adult approval; do not handle products or hotter water.</a:t>
            </a:r>
          </a:p>
          <a:p xmlns:a="http://schemas.openxmlformats.org/drawingml/2006/main">
            <a:r>
              <a:t>Evidence: A dated observation of each learner washing an item and cleaning a work area after a water-transfer activity, recording actions, prompts, safety support, unfinished steps and a next step.</a:t>
            </a:r>
          </a:p>
          <a:p xmlns:a="http://schemas.openxmlformats.org/drawingml/2006/main">
            <a:r>
              <a:t>Careers: This helps me care for kit and leave a shared space ready.</a:t>
            </a:r>
          </a:p>
          <a:p xmlns:a="http://schemas.openxmlformats.org/drawingml/2006/main">
            <a:r>
              <a:t>Source: scheme_references/BUILD_SOW.xlsx; BUILD Weekly - Autumn, C138; owner-confirmed strand and Friday slot.</a:t>
            </a:r>
          </a:p>
          <a:p xmlns:a="http://schemas.openxmlformats.org/drawingml/2006/main">
            <a:r>
              <a:t>Staff complete the setting’s practical risk check and adapt equipment and access before teaching. Use only unbreakable items from a clean-water transfer task; no raw food, blades, glass, heat or electrical equipment. Adults prepare and handle cleaning products, check safe water temperature, change dirty water and manage spills promptly. Learners never mix or dose products. Use separate dish and surface cloths. Detergent cleaning is not disinfection; staff complete any required disinfection separately under the setting’s procedure. Keep chemicals secure. If the task is unsafe, stop and seek help. A dry rehearsal is an access alternative, not evidence of completed washing.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VOCATIONAL-BUILD-A2-W02 · Year A · Friday 13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Today: 0 minutes.</a:t>
            </a:r>
          </a:p>
          <a:p xmlns:a="http://schemas.openxmlformats.org/drawingml/2006/main">
            <a:r>
              <a:t>Teacher: Read the objective and three success checks. These are formative teaching tasks.</a:t>
            </a:r>
          </a:p>
          <a:p xmlns:a="http://schemas.openxmlformats.org/drawingml/2006/main">
            <a:r>
              <a:t>First and then: First wash, rinse and drain. Then clean the space and check.</a:t>
            </a:r>
          </a:p>
          <a:p xmlns:a="http://schemas.openxmlformats.org/drawingml/2006/main">
            <a:r>
              <a:t>Routes: Supported: Use one step card at a time, an adapted grip or a stable tray. Allow pointing to request help. Staff can support an action with consent; record exactly what the learner did and what the adult did. Independent: Follow the wash, rinse, drain and surface-cleaning sequence with the agreed adult safety checks. Check the work and request help as needed. Adult safety supervision still applies. Aspire: Complete the same task, explain why dish and surface cloths stay separate, and spot an unfinished step. Improve that step with adult approval; do not handle products or hotter water.</a:t>
            </a:r>
          </a:p>
          <a:p xmlns:a="http://schemas.openxmlformats.org/drawingml/2006/main">
            <a:r>
              <a:t>Evidence: A dated observation of each learner washing an item and cleaning a work area after a water-transfer activity, recording actions, prompts, safety support, unfinished steps and a next step.</a:t>
            </a:r>
          </a:p>
          <a:p xmlns:a="http://schemas.openxmlformats.org/drawingml/2006/main">
            <a:r>
              <a:t>Careers: This helps me care for kit and leave a shared space ready.</a:t>
            </a:r>
          </a:p>
          <a:p xmlns:a="http://schemas.openxmlformats.org/drawingml/2006/main">
            <a:r>
              <a:t>Source: scheme_references/BUILD_SOW.xlsx; BUILD Weekly - Autumn, C138; owner-confirmed strand and Friday slot.</a:t>
            </a:r>
          </a:p>
          <a:p xmlns:a="http://schemas.openxmlformats.org/drawingml/2006/main">
            <a:r>
              <a:t>Staff complete the setting’s practical risk check and adapt equipment and access before teaching. Use only unbreakable items from a clean-water transfer task; no raw food, blades, glass, heat or electrical equipment. Adults prepare and handle cleaning products, check safe water temperature, change dirty water and manage spills promptly. Learners never mix or dose products. Use separate dish and surface cloths. Detergent cleaning is not disinfection; staff complete any required disinfection separately under the setting’s procedure. Keep chemicals secure. If the task is unsafe, stop and seek help. A dry rehearsal is an access alternative, not evidence of completed washing.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VOCATIONAL-BUILD-A2-W02 · Year A · Friday 13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I Do: 5 minutes.</a:t>
            </a:r>
          </a:p>
          <a:p xmlns:a="http://schemas.openxmlformats.org/drawingml/2006/main">
            <a:r>
              <a:t>Teacher: Use a separate used cup or tray. Clear the area. Staff check water and prepared washing-up solution. Wash all surfaces using the dish cloth, rinse in fresh water, then drain and air-dry. Use the separate surface cloth with adult-prepared solution to wipe the work area; staff check dryness and finish any required procedure. Demonstrate soap-and-water handwashing and drying after the task.</a:t>
            </a:r>
          </a:p>
          <a:p xmlns:a="http://schemas.openxmlformats.org/drawingml/2006/main">
            <a:r>
              <a:t>First and then: First wash, rinse and drain. Then clean the space and check.</a:t>
            </a:r>
          </a:p>
          <a:p xmlns:a="http://schemas.openxmlformats.org/drawingml/2006/main">
            <a:r>
              <a:t>Routes: Supported: Use one step card at a time, an adapted grip or a stable tray. Allow pointing to request help. Staff can support an action with consent; record exactly what the learner did and what the adult did. Independent: Follow the wash, rinse, drain and surface-cleaning sequence with the agreed adult safety checks. Check the work and request help as needed. Adult safety supervision still applies. Aspire: Complete the same task, explain why dish and surface cloths stay separate, and spot an unfinished step. Improve that step with adult approval; do not handle products or hotter water.</a:t>
            </a:r>
          </a:p>
          <a:p xmlns:a="http://schemas.openxmlformats.org/drawingml/2006/main">
            <a:r>
              <a:t>Evidence: A dated observation of each learner washing an item and cleaning a work area after a water-transfer activity, recording actions, prompts, safety support, unfinished steps and a next step.</a:t>
            </a:r>
          </a:p>
          <a:p xmlns:a="http://schemas.openxmlformats.org/drawingml/2006/main">
            <a:r>
              <a:t>Careers: This helps me care for kit and leave a shared space ready.</a:t>
            </a:r>
          </a:p>
          <a:p xmlns:a="http://schemas.openxmlformats.org/drawingml/2006/main">
            <a:r>
              <a:t>Source: scheme_references/BUILD_SOW.xlsx; BUILD Weekly - Autumn, C138; owner-confirmed strand and Friday slot.</a:t>
            </a:r>
          </a:p>
          <a:p xmlns:a="http://schemas.openxmlformats.org/drawingml/2006/main">
            <a:r>
              <a:t>Staff complete the setting’s practical risk check and adapt equipment and access before teaching. Use only unbreakable items from a clean-water transfer task; no raw food, blades, glass, heat or electrical equipment. Adults prepare and handle cleaning products, check safe water temperature, change dirty water and manage spills promptly. Learners never mix or dose products. Use separate dish and surface cloths. Detergent cleaning is not disinfection; staff complete any required disinfection separately under the setting’s procedure. Keep chemicals secure. If the task is unsafe, stop and seek help. A dry rehearsal is an access alternative, not evidence of completed washing.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VOCATIONAL-BUILD-A2-W02 · Year A · Friday 13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We Do: 5 minutes.</a:t>
            </a:r>
          </a:p>
          <a:p xmlns:a="http://schemas.openxmlformats.org/drawingml/2006/main">
            <a:r>
              <a:t>Teacher: Show a clean but wet cup and a dry storage space. Ask: “Put it away now, or let it dry first?” Expected: let it drain and air-dry, then check it is dry before storage. If unsure, model the safe position on the rack and recheck with a wet spoon. The adult manages any remaining drying and later storage.</a:t>
            </a:r>
          </a:p>
          <a:p xmlns:a="http://schemas.openxmlformats.org/drawingml/2006/main">
            <a:r>
              <a:t>First and then: First wash, rinse and drain. Then clean the space and check.</a:t>
            </a:r>
          </a:p>
          <a:p xmlns:a="http://schemas.openxmlformats.org/drawingml/2006/main">
            <a:r>
              <a:t>Routes: Supported: Use one step card at a time, an adapted grip or a stable tray. Allow pointing to request help. Staff can support an action with consent; record exactly what the learner did and what the adult did. Independent: Follow the wash, rinse, drain and surface-cleaning sequence with the agreed adult safety checks. Check the work and request help as needed. Adult safety supervision still applies. Aspire: Complete the same task, explain why dish and surface cloths stay separate, and spot an unfinished step. Improve that step with adult approval; do not handle products or hotter water.</a:t>
            </a:r>
          </a:p>
          <a:p xmlns:a="http://schemas.openxmlformats.org/drawingml/2006/main">
            <a:r>
              <a:t>Evidence: A dated observation of each learner washing an item and cleaning a work area after a water-transfer activity, recording actions, prompts, safety support, unfinished steps and a next step.</a:t>
            </a:r>
          </a:p>
          <a:p xmlns:a="http://schemas.openxmlformats.org/drawingml/2006/main">
            <a:r>
              <a:t>Careers: This helps me care for kit and leave a shared space ready.</a:t>
            </a:r>
          </a:p>
          <a:p xmlns:a="http://schemas.openxmlformats.org/drawingml/2006/main">
            <a:r>
              <a:t>Source: scheme_references/BUILD_SOW.xlsx; BUILD Weekly - Autumn, C138; owner-confirmed strand and Friday slot.</a:t>
            </a:r>
          </a:p>
          <a:p xmlns:a="http://schemas.openxmlformats.org/drawingml/2006/main">
            <a:r>
              <a:t>Staff complete the setting’s practical risk check and adapt equipment and access before teaching. Use only unbreakable items from a clean-water transfer task; no raw food, blades, glass, heat or electrical equipment. Adults prepare and handle cleaning products, check safe water temperature, change dirty water and manage spills promptly. Learners never mix or dose products. Use separate dish and surface cloths. Detergent cleaning is not disinfection; staff complete any required disinfection separately under the setting’s procedure. Keep chemicals secure. If the task is unsafe, stop and seek help. A dry rehearsal is an access alternative, not evidence of completed washing.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VOCATIONAL-BUILD-A2-W02 · Year A · Friday 13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practice: 12 minutes.</a:t>
            </a:r>
          </a:p>
          <a:p xmlns:a="http://schemas.openxmlformats.org/drawingml/2006/main">
            <a:r>
              <a:t>Teacher: Allow a supervised turn for each learner to wash one item, rinse and drain it, then clean their own work space with the separate cloth. Staff control water, detergent and spills throughout. Record individual steps while observing. For a small group, allow about three minutes per turn; prepare extra supervised stations or record unfinished turns if group size or needs require more time. Do not imply that watching a peer proves a skill.</a:t>
            </a:r>
          </a:p>
          <a:p xmlns:a="http://schemas.openxmlformats.org/drawingml/2006/main">
            <a:r>
              <a:t>First and then: First wash, rinse and drain. Then clean the space and check.</a:t>
            </a:r>
          </a:p>
          <a:p xmlns:a="http://schemas.openxmlformats.org/drawingml/2006/main">
            <a:r>
              <a:t>Routes: Supported: Use one step card at a time, an adapted grip or a stable tray. Allow pointing to request help. Staff can support an action with consent; record exactly what the learner did and what the adult did. Independent: Follow the wash, rinse, drain and surface-cleaning sequence with the agreed adult safety checks. Check the work and request help as needed. Adult safety supervision still applies. Aspire: Complete the same task, explain why dish and surface cloths stay separate, and spot an unfinished step. Improve that step with adult approval; do not handle products or hotter water.</a:t>
            </a:r>
          </a:p>
          <a:p xmlns:a="http://schemas.openxmlformats.org/drawingml/2006/main">
            <a:r>
              <a:t>Evidence: A dated observation of each learner washing an item and cleaning a work area after a water-transfer activity, recording actions, prompts, safety support, unfinished steps and a next step.</a:t>
            </a:r>
          </a:p>
          <a:p xmlns:a="http://schemas.openxmlformats.org/drawingml/2006/main">
            <a:r>
              <a:t>Careers: This helps me care for kit and leave a shared space ready.</a:t>
            </a:r>
          </a:p>
          <a:p xmlns:a="http://schemas.openxmlformats.org/drawingml/2006/main">
            <a:r>
              <a:t>Source: scheme_references/BUILD_SOW.xlsx; BUILD Weekly - Autumn, C138; owner-confirmed strand and Friday slot.</a:t>
            </a:r>
          </a:p>
          <a:p xmlns:a="http://schemas.openxmlformats.org/drawingml/2006/main">
            <a:r>
              <a:t>Staff complete the setting’s practical risk check and adapt equipment and access before teaching. Use only unbreakable items from a clean-water transfer task; no raw food, blades, glass, heat or electrical equipment. Adults prepare and handle cleaning products, check safe water temperature, change dirty water and manage spills promptly. Learners never mix or dose products. Use separate dish and surface cloths. Detergent cleaning is not disinfection; staff complete any required disinfection separately under the setting’s procedure. Keep chemicals secure. If the task is unsafe, stop and seek help. A dry rehearsal is an access alternative, not evidence of completed washing.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VOCATIONAL-BUILD-A2-W02 · Year A · Friday 13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evidence: 6 minutes.</a:t>
            </a:r>
          </a:p>
          <a:p xmlns:a="http://schemas.openxmlformats.org/drawingml/2006/main">
            <a:r>
              <a:t>Teacher: Complete the criterion record from actual observation; use this stage for any short unfinished turn or recheck if safe. Record adult actions separately from the learner’s actions. A dry rehearsal or choosing step cards is recorded as rehearsal, not practical completion. Anything still not observed remains a gap.</a:t>
            </a:r>
          </a:p>
          <a:p xmlns:a="http://schemas.openxmlformats.org/drawingml/2006/main">
            <a:r>
              <a:t>First and then: First wash, rinse and drain. Then clean the space and check.</a:t>
            </a:r>
          </a:p>
          <a:p xmlns:a="http://schemas.openxmlformats.org/drawingml/2006/main">
            <a:r>
              <a:t>Routes: Supported: Use one step card at a time, an adapted grip or a stable tray. Allow pointing to request help. Staff can support an action with consent; record exactly what the learner did and what the adult did. Independent: Follow the wash, rinse, drain and surface-cleaning sequence with the agreed adult safety checks. Check the work and request help as needed. Adult safety supervision still applies. Aspire: Complete the same task, explain why dish and surface cloths stay separate, and spot an unfinished step. Improve that step with adult approval; do not handle products or hotter water.</a:t>
            </a:r>
          </a:p>
          <a:p xmlns:a="http://schemas.openxmlformats.org/drawingml/2006/main">
            <a:r>
              <a:t>Evidence: A dated observation of each learner washing an item and cleaning a work area after a water-transfer activity, recording actions, prompts, safety support, unfinished steps and a next step.</a:t>
            </a:r>
          </a:p>
          <a:p xmlns:a="http://schemas.openxmlformats.org/drawingml/2006/main">
            <a:r>
              <a:t>Careers: This helps me care for kit and leave a shared space ready.</a:t>
            </a:r>
          </a:p>
          <a:p xmlns:a="http://schemas.openxmlformats.org/drawingml/2006/main">
            <a:r>
              <a:t>Source: scheme_references/BUILD_SOW.xlsx; BUILD Weekly - Autumn, C138; owner-confirmed strand and Friday slot.</a:t>
            </a:r>
          </a:p>
          <a:p xmlns:a="http://schemas.openxmlformats.org/drawingml/2006/main">
            <a:r>
              <a:t>Staff complete the setting’s practical risk check and adapt equipment and access before teaching. Use only unbreakable items from a clean-water transfer task; no raw food, blades, glass, heat or electrical equipment. Adults prepare and handle cleaning products, check safe water temperature, change dirty water and manage spills promptly. Learners never mix or dose products. Use separate dish and surface cloths. Detergent cleaning is not disinfection; staff complete any required disinfection separately under the setting’s procedure. Keep chemicals secure. If the task is unsafe, stop and seek help. A dry rehearsal is an access alternative, not evidence of completed washing.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VOCATIONAL-BUILD-A2-W02 · Year A · Friday 13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Tidy and evidence check: 4 minutes.</a:t>
            </a:r>
          </a:p>
          <a:p xmlns:a="http://schemas.openxmlformats.org/drawingml/2006/main">
            <a:r>
              <a:t>Teacher: Give one specific prompt and allow a brief safe retry. Record first performance and retry separately. Leave wet items on the rack. Staff arrange later storage once dry and complete residual cleaning; do not rush drying to claim completion. End with handwashing and drying after any further cleaning.</a:t>
            </a:r>
          </a:p>
          <a:p xmlns:a="http://schemas.openxmlformats.org/drawingml/2006/main">
            <a:r>
              <a:t>First and then: First wash, rinse and drain. Then clean the space and check.</a:t>
            </a:r>
          </a:p>
          <a:p xmlns:a="http://schemas.openxmlformats.org/drawingml/2006/main">
            <a:r>
              <a:t>Routes: Supported: Use one step card at a time, an adapted grip or a stable tray. Allow pointing to request help. Staff can support an action with consent; record exactly what the learner did and what the adult did. Independent: Follow the wash, rinse, drain and surface-cleaning sequence with the agreed adult safety checks. Check the work and request help as needed. Adult safety supervision still applies. Aspire: Complete the same task, explain why dish and surface cloths stay separate, and spot an unfinished step. Improve that step with adult approval; do not handle products or hotter water.</a:t>
            </a:r>
          </a:p>
          <a:p xmlns:a="http://schemas.openxmlformats.org/drawingml/2006/main">
            <a:r>
              <a:t>Evidence: A dated observation of each learner washing an item and cleaning a work area after a water-transfer activity, recording actions, prompts, safety support, unfinished steps and a next step.</a:t>
            </a:r>
          </a:p>
          <a:p xmlns:a="http://schemas.openxmlformats.org/drawingml/2006/main">
            <a:r>
              <a:t>Careers: This helps me care for kit and leave a shared space ready.</a:t>
            </a:r>
          </a:p>
          <a:p xmlns:a="http://schemas.openxmlformats.org/drawingml/2006/main">
            <a:r>
              <a:t>Source: scheme_references/BUILD_SOW.xlsx; BUILD Weekly - Autumn, C138; owner-confirmed strand and Friday slot.</a:t>
            </a:r>
          </a:p>
          <a:p xmlns:a="http://schemas.openxmlformats.org/drawingml/2006/main">
            <a:r>
              <a:t>Staff complete the setting’s practical risk check and adapt equipment and access before teaching. Use only unbreakable items from a clean-water transfer task; no raw food, blades, glass, heat or electrical equipment. Adults prepare and handle cleaning products, check safe water temperature, change dirty water and manage spills promptly. Learners never mix or dose products. Use separate dish and surface cloths. Detergent cleaning is not disinfection; staff complete any required disinfection separately under the setting’s procedure. Keep chemicals secure. If the task is unsafe, stop and seek help. A dry rehearsal is an access alternative, not evidence of completed washing.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VOCATIONAL-BUILD-A2-W02 · Year A · Friday 13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Exit ticket: 2 minutes.</a:t>
            </a:r>
          </a:p>
          <a:p xmlns:a="http://schemas.openxmlformats.org/drawingml/2006/main">
            <a:r>
              <a:t>Teacher: Accept a correct sequence step. For a floor spill: stop, keep clear and tell the adult; the adult manages the spill. Do not send the learner to find or mix a product.</a:t>
            </a:r>
          </a:p>
          <a:p xmlns:a="http://schemas.openxmlformats.org/drawingml/2006/main">
            <a:r>
              <a:t>First and then: First wash, rinse and drain. Then clean the space and check.</a:t>
            </a:r>
          </a:p>
          <a:p xmlns:a="http://schemas.openxmlformats.org/drawingml/2006/main">
            <a:r>
              <a:t>Routes: Supported: Use one step card at a time, an adapted grip or a stable tray. Allow pointing to request help. Staff can support an action with consent; record exactly what the learner did and what the adult did. Independent: Follow the wash, rinse, drain and surface-cleaning sequence with the agreed adult safety checks. Check the work and request help as needed. Adult safety supervision still applies. Aspire: Complete the same task, explain why dish and surface cloths stay separate, and spot an unfinished step. Improve that step with adult approval; do not handle products or hotter water.</a:t>
            </a:r>
          </a:p>
          <a:p xmlns:a="http://schemas.openxmlformats.org/drawingml/2006/main">
            <a:r>
              <a:t>Evidence: A dated observation of each learner washing an item and cleaning a work area after a water-transfer activity, recording actions, prompts, safety support, unfinished steps and a next step.</a:t>
            </a:r>
          </a:p>
          <a:p xmlns:a="http://schemas.openxmlformats.org/drawingml/2006/main">
            <a:r>
              <a:t>Careers: This helps me care for kit and leave a shared space ready.</a:t>
            </a:r>
          </a:p>
          <a:p xmlns:a="http://schemas.openxmlformats.org/drawingml/2006/main">
            <a:r>
              <a:t>Source: scheme_references/BUILD_SOW.xlsx; BUILD Weekly - Autumn, C138; owner-confirmed strand and Friday slot.</a:t>
            </a:r>
          </a:p>
          <a:p xmlns:a="http://schemas.openxmlformats.org/drawingml/2006/main">
            <a:r>
              <a:t>Staff complete the setting’s practical risk check and adapt equipment and access before teaching. Use only unbreakable items from a clean-water transfer task; no raw food, blades, glass, heat or electrical equipment. Adults prepare and handle cleaning products, check safe water temperature, change dirty water and manage spills promptly. Learners never mix or dose products. Use separate dish and surface cloths. Detergent cleaning is not disinfection; staff complete any required disinfection separately under the setting’s procedure. Keep chemicals secure. If the task is unsafe, stop and seek help. A dry rehearsal is an access alternative, not evidence of completed washing.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VOCATIONAL-BUILD-A2-W02 · Year A · Friday 13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Vocabulary: 0 minutes.</a:t>
            </a:r>
          </a:p>
          <a:p xmlns:a="http://schemas.openxmlformats.org/drawingml/2006/main">
            <a:r>
              <a:t>Teacher: Keep the word mat available and explain words in the task.</a:t>
            </a:r>
          </a:p>
          <a:p xmlns:a="http://schemas.openxmlformats.org/drawingml/2006/main">
            <a:r>
              <a:t>First and then: First wash, rinse and drain. Then clean the space and check.</a:t>
            </a:r>
          </a:p>
          <a:p xmlns:a="http://schemas.openxmlformats.org/drawingml/2006/main">
            <a:r>
              <a:t>Routes: Supported: Use one step card at a time, an adapted grip or a stable tray. Allow pointing to request help. Staff can support an action with consent; record exactly what the learner did and what the adult did. Independent: Follow the wash, rinse, drain and surface-cleaning sequence with the agreed adult safety checks. Check the work and request help as needed. Adult safety supervision still applies. Aspire: Complete the same task, explain why dish and surface cloths stay separate, and spot an unfinished step. Improve that step with adult approval; do not handle products or hotter water.</a:t>
            </a:r>
          </a:p>
          <a:p xmlns:a="http://schemas.openxmlformats.org/drawingml/2006/main">
            <a:r>
              <a:t>Evidence: A dated observation of each learner washing an item and cleaning a work area after a water-transfer activity, recording actions, prompts, safety support, unfinished steps and a next step.</a:t>
            </a:r>
          </a:p>
          <a:p xmlns:a="http://schemas.openxmlformats.org/drawingml/2006/main">
            <a:r>
              <a:t>Careers: This helps me care for kit and leave a shared space ready.</a:t>
            </a:r>
          </a:p>
          <a:p xmlns:a="http://schemas.openxmlformats.org/drawingml/2006/main">
            <a:r>
              <a:t>Source: scheme_references/BUILD_SOW.xlsx; BUILD Weekly - Autumn, C138; owner-confirmed strand and Friday slot.</a:t>
            </a:r>
          </a:p>
          <a:p xmlns:a="http://schemas.openxmlformats.org/drawingml/2006/main">
            <a:r>
              <a:t>Staff complete the setting’s practical risk check and adapt equipment and access before teaching. Use only unbreakable items from a clean-water transfer task; no raw food, blades, glass, heat or electrical equipment. Adults prepare and handle cleaning products, check safe water temperature, change dirty water and manage spills promptly. Learners never mix or dose products. Use separate dish and surface cloths. Detergent cleaning is not disinfection; staff complete any required disinfection separately under the setting’s procedure. Keep chemicals secure. If the task is unsafe, stop and seek help. A dry rehearsal is an access alternative, not evidence of completed washing.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VOCATIONAL-BUILD-A2-W02 · Year A · Friday 13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Staff brief: 0 minutes.</a:t>
            </a:r>
          </a:p>
          <a:p xmlns:a="http://schemas.openxmlformats.org/drawingml/2006/main">
            <a:r>
              <a:t>Teacher: Staff complete the setting’s practical risk check and adapt equipment and access before teaching. Use only unbreakable items from a clean-water transfer task; no raw food, blades, glass, heat or electrical equipment. Adults prepare and handle cleaning products, check safe water temperature, change dirty water and manage spills promptly. Learners never mix or dose products. Use separate dish and surface cloths. Detergent cleaning is not disinfection; staff complete any required disinfection separately under the setting’s procedure. Keep chemicals secure. If the task is unsafe, stop and seek help. A dry rehearsal is an access alternative, not evidence of completed washing. Use VF · WS · I · NS+ (Yellow Box) · // self-edit · ? read back · R responded · E evidence. R requires Voice, Audience, a specific NS+ prompt and the learner response in their own colour. E is used only when actual work is banked. Keep the first try and any later change separate.</a:t>
            </a:r>
          </a:p>
          <a:p xmlns:a="http://schemas.openxmlformats.org/drawingml/2006/main">
            <a:r>
              <a:t>First and then: First wash, rinse and drain. Then clean the space and check.</a:t>
            </a:r>
          </a:p>
          <a:p xmlns:a="http://schemas.openxmlformats.org/drawingml/2006/main">
            <a:r>
              <a:t>Routes: Supported: Use one step card at a time, an adapted grip or a stable tray. Allow pointing to request help. Staff can support an action with consent; record exactly what the learner did and what the adult did. Independent: Follow the wash, rinse, drain and surface-cleaning sequence with the agreed adult safety checks. Check the work and request help as needed. Adult safety supervision still applies. Aspire: Complete the same task, explain why dish and surface cloths stay separate, and spot an unfinished step. Improve that step with adult approval; do not handle products or hotter water.</a:t>
            </a:r>
          </a:p>
          <a:p xmlns:a="http://schemas.openxmlformats.org/drawingml/2006/main">
            <a:r>
              <a:t>Evidence: A dated observation of each learner washing an item and cleaning a work area after a water-transfer activity, recording actions, prompts, safety support, unfinished steps and a next step.</a:t>
            </a:r>
          </a:p>
          <a:p xmlns:a="http://schemas.openxmlformats.org/drawingml/2006/main">
            <a:r>
              <a:t>Careers: This helps me care for kit and leave a shared space ready.</a:t>
            </a:r>
          </a:p>
          <a:p xmlns:a="http://schemas.openxmlformats.org/drawingml/2006/main">
            <a:r>
              <a:t>Source: scheme_references/BUILD_SOW.xlsx; BUILD Weekly - Autumn, C138; owner-confirmed strand and Friday slot.</a:t>
            </a:r>
          </a:p>
          <a:p xmlns:a="http://schemas.openxmlformats.org/drawingml/2006/main">
            <a:r>
              <a:t>Staff complete the setting’s practical risk check and adapt equipment and access before teaching. Use only unbreakable items from a clean-water transfer task; no raw food, blades, glass, heat or electrical equipment. Adults prepare and handle cleaning products, check safe water temperature, change dirty water and manage spills promptly. Learners never mix or dose products. Use separate dish and surface cloths. Detergent cleaning is not disinfection; staff complete any required disinfection separately under the setting’s procedure. Keep chemicals secure. If the task is unsafe, stop and seek help. A dry rehearsal is an access alternative, not evidence of completed washing.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d962bfa8389548b4"/></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9839e4b5407d4ad9"/></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c4f977e3411e4dff"/></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a8ca0c1db72e4af3"/></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4d029a03f44f488f"/></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248f70e7cee24a1e"/></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400ff6fed5da4116"/><Relationship Type="http://schemas.openxmlformats.org/officeDocument/2006/relationships/slideLayout" Target="/ppt/slideLayouts/slideLayout1.xml" Id="Rd23c489e2aae4640"/><Relationship Type="http://schemas.openxmlformats.org/officeDocument/2006/relationships/slideLayout" Target="/ppt/slideLayouts/slideLayout2.xml" Id="Re41e94916bb74d06"/><Relationship Type="http://schemas.openxmlformats.org/officeDocument/2006/relationships/slideLayout" Target="/ppt/slideLayouts/slideLayout3.xml" Id="R3b19b2e8ccec471a"/><Relationship Type="http://schemas.openxmlformats.org/officeDocument/2006/relationships/slideLayout" Target="/ppt/slideLayouts/slideLayout4.xml" Id="R65a8a8d7e2a04765"/><Relationship Type="http://schemas.openxmlformats.org/officeDocument/2006/relationships/slideLayout" Target="/ppt/slideLayouts/slideLayout5.xml" Id="R38b2a613b7e743e8"/><Relationship Type="http://schemas.openxmlformats.org/officeDocument/2006/relationships/slideLayout" Target="/ppt/slideLayouts/slideLayout6.xml" Id="R47ba1522b8ed4991"/></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3c489e2aae4640"/>
    <p:sldLayoutId xmlns:r="http://schemas.openxmlformats.org/officeDocument/2006/relationships" id="2147483650" r:id="Re41e94916bb74d06"/>
    <p:sldLayoutId xmlns:r="http://schemas.openxmlformats.org/officeDocument/2006/relationships" id="2147483651" r:id="R3b19b2e8ccec471a"/>
    <p:sldLayoutId xmlns:r="http://schemas.openxmlformats.org/officeDocument/2006/relationships" id="2147483652" r:id="R65a8a8d7e2a04765"/>
    <p:sldLayoutId xmlns:r="http://schemas.openxmlformats.org/officeDocument/2006/relationships" id="2147483653" r:id="R38b2a613b7e743e8"/>
    <p:sldLayoutId xmlns:r="http://schemas.openxmlformats.org/officeDocument/2006/relationships" id="2147483654" r:id="R47ba1522b8ed4991"/>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e2dd71b3ca254671"/><Relationship Type="http://schemas.openxmlformats.org/officeDocument/2006/relationships/notesSlide" Target="/ppt/notesSlides/notesSlide1.xml" Id="Rc6fc314a1bda4644"/></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abd26894e9e04e2d"/><Relationship Type="http://schemas.openxmlformats.org/officeDocument/2006/relationships/notesSlide" Target="/ppt/notesSlides/notesSlide2.xml" Id="R9c68f211078148e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f6835309d5af434a"/><Relationship Type="http://schemas.openxmlformats.org/officeDocument/2006/relationships/notesSlide" Target="/ppt/notesSlides/notesSlide3.xml" Id="R92733e279d204d95"/></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fa86276356dd4058"/><Relationship Type="http://schemas.openxmlformats.org/officeDocument/2006/relationships/notesSlide" Target="/ppt/notesSlides/notesSlide4.xml" Id="R0548a7adf357454d"/></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4b8e8e4346234fce"/><Relationship Type="http://schemas.openxmlformats.org/officeDocument/2006/relationships/notesSlide" Target="/ppt/notesSlides/notesSlide5.xml" Id="Rd84beacb11e54617"/></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7848c484ddb84a40"/><Relationship Type="http://schemas.openxmlformats.org/officeDocument/2006/relationships/notesSlide" Target="/ppt/notesSlides/notesSlide6.xml" Id="Rf5de446286174d3d"/></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17970de0472c4cce"/><Relationship Type="http://schemas.openxmlformats.org/officeDocument/2006/relationships/notesSlide" Target="/ppt/notesSlides/notesSlide7.xml" Id="R7187cb156a6a4a39"/></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154caf06083249e8"/><Relationship Type="http://schemas.openxmlformats.org/officeDocument/2006/relationships/notesSlide" Target="/ppt/notesSlides/notesSlide8.xml" Id="R057bec18ba5b421f"/></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82f109017a764f40"/><Relationship Type="http://schemas.openxmlformats.org/officeDocument/2006/relationships/notesSlide" Target="/ppt/notesSlides/notesSlide9.xml" Id="R2cbe512ce1e44fe8"/></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f05e2199eedb467d"/><Relationship Type="http://schemas.openxmlformats.org/officeDocument/2006/relationships/notesSlide" Target="/ppt/notesSlides/notesSlide10.xml" Id="R5a138a07d0774c9d"/></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9b790a4f5fb448ef"/><Relationship Type="http://schemas.openxmlformats.org/officeDocument/2006/relationships/notesSlide" Target="/ppt/notesSlides/notesSlide11.xml" Id="R5215461dd9584f9a"/></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8cea44d7c874410a"/><Relationship Type="http://schemas.openxmlformats.org/officeDocument/2006/relationships/notesSlide" Target="/ppt/notesSlides/notesSlide12.xml" Id="Rdbbbfced0f4c4ecf"/></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Wash up and clean up</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Friday 13 November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VOCATIONAL-BUILD-A2-W02</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How can I leave the space ready?</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6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care for kit and leave a shared space ready.</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52578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3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VOCATIONAL-BUILD-A2-W02</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safe place to work.</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a short pause if needed.</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Point, say or use an aid.</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Give each person time.</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Wait for the adult’s check.</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help if a step feels hard.</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STARTER</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3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Finish the water task</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VOCATIONAL-BUILD-A2-W02</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609600" y="17335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An adult runs a short water task.</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609600" y="25908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a spoon to move water from cup to tray.</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609600" y="3448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water in the tray.</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609600" y="43053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task is done. What needs to be clean?</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VOCATIONAL-BUILD-A2-W02</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Wash up and clean up after an activity.</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Follow the steps to wash up.</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Clean the work space with the right cloth.</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Check the work and ask for help when needed.</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Watch the model</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VOCATIONAL-BUILD-A2-W02</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water task is done. I clear the tray.</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An adult checks the water and adds the soap.</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wash each side of the cup.</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rinse it with clean water.</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put it on the rack to drain and dry.</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use a fresh cloth to clean the work space.</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First wash, rinse and drain. Then clean the space and check.</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Is it ready to store?</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VOCATIONAL-BUILD-A2-W02</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cup is clean but still wet.</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cupboard is dry.</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Put it away now, or let it dry first?</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Point to the safe place for the wet cup.</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Try the task</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VOCATIONAL-BUILD-A2-W02</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Wait for the adult to check the wash space.</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Clear, wash, rinse and drain your item.</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a fresh cloth to clean the work space.</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the item, space and floor with an adult.</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Wash and dry your hands when done.</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work</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VOCATIONAL-BUILD-A2-W02</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the step you can do.</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adult notes what you did and the help used.</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any step not done marked as a gap.</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one step to try again or get help with.</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VOCATIONAL-BUILD-A2-W02</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Hear one point of feedback. Try the step again.</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wet kit on the rack to dry.</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An adult checks the floor and puts products away.</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Store the record. Wash and dry your hands.</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task</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VOCATIONAL-BUILD-A2-W02</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one step that leaves the space ready.</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would you do if water spills on the floor?</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Point, say or use an aid.</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VOCATIONAL-BUILD-A2-W02</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Wash: Use water and soap to clean an item.</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Rinse: Use clean water to take the soap off.</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Drain: Let the water run off.</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Dry: With no water left on it.</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Cloth: A piece of fabric used to clean.</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Look to see if the task is done.</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Help: Support with a task.</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VOCATIONAL-BUILD-A2-W02</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Friday 13 November 2026; 40 minutes; formative.</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Adult checks water, equipment and cleaning products.</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No glass, blades, raw food, heat or electrical kit.</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Record actual actions and support; do not prefill success.</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Week 7 is the assessing lesson.</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Lesson resource</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Presentation</dc:title>
  <dcterms:created xsi:type="dcterms:W3CDTF">2026-10-27T23:14:31.2910000Z</dcterms:created>
  <dcterms:modified xsi:type="dcterms:W3CDTF">2026-10-27T23:14:31.2910000Z</dcterms:modified>
</coreProperties>
</file>