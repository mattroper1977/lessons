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180361151588495f"/><Relationship Type="http://schemas.openxmlformats.org/officeDocument/2006/relationships/extended-properties" Target="/docProps/app.xml" Id="R55e845ed7fc648af"/><Relationship Type="http://schemas.openxmlformats.org/officeDocument/2006/relationships/officeDocument" Target="/ppt/presentation.xml" Id="Re8c514c78a1f4c29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a40b1a4b7b4303"/>
  </p:sldMasterIdLst>
  <p:notesMasterIdLst>
    <p:notesMasterId xmlns:r="http://schemas.openxmlformats.org/officeDocument/2006/relationships" r:id="Rea6a22e15d7a4a31"/>
  </p:notesMasterIdLst>
  <p:sldIdLst>
    <p:sldId xmlns:r="http://schemas.openxmlformats.org/officeDocument/2006/relationships" id="256" r:id="R63778d59366947e8"/>
    <p:sldId xmlns:r="http://schemas.openxmlformats.org/officeDocument/2006/relationships" id="257" r:id="R77c8715b82fa488e"/>
    <p:sldId xmlns:r="http://schemas.openxmlformats.org/officeDocument/2006/relationships" id="258" r:id="R9055089590534e9d"/>
    <p:sldId xmlns:r="http://schemas.openxmlformats.org/officeDocument/2006/relationships" id="259" r:id="R3cfdd27e672f4c6d"/>
    <p:sldId xmlns:r="http://schemas.openxmlformats.org/officeDocument/2006/relationships" id="260" r:id="R81bcb58cafad4ea9"/>
    <p:sldId xmlns:r="http://schemas.openxmlformats.org/officeDocument/2006/relationships" id="261" r:id="R812ad3c2241541b8"/>
    <p:sldId xmlns:r="http://schemas.openxmlformats.org/officeDocument/2006/relationships" id="262" r:id="Rf2ac4ef89e454e36"/>
    <p:sldId xmlns:r="http://schemas.openxmlformats.org/officeDocument/2006/relationships" id="263" r:id="R0b41b3f146c24733"/>
    <p:sldId xmlns:r="http://schemas.openxmlformats.org/officeDocument/2006/relationships" id="264" r:id="Rb7c0644af22c45c5"/>
    <p:sldId xmlns:r="http://schemas.openxmlformats.org/officeDocument/2006/relationships" id="265" r:id="Ra1160f747d004072"/>
    <p:sldId xmlns:r="http://schemas.openxmlformats.org/officeDocument/2006/relationships" id="266" r:id="R9d692f6001304527"/>
    <p:sldId xmlns:r="http://schemas.openxmlformats.org/officeDocument/2006/relationships" id="267" r:id="R850512c14b414e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2ea7e3e94c46458a"/><Relationship Type="http://schemas.openxmlformats.org/officeDocument/2006/relationships/slideMaster" Target="/ppt/slideMasters/slideMaster1.xml" Id="Rfca40b1a4b7b4303"/><Relationship Type="http://schemas.openxmlformats.org/officeDocument/2006/relationships/notesMaster" Target="/ppt/notesMasters/notesMaster1.xml" Id="Rea6a22e15d7a4a31"/><Relationship Type="http://schemas.openxmlformats.org/officeDocument/2006/relationships/presProps" Target="/ppt/presProps.xml" Id="R88623c8742c2448d"/><Relationship Type="http://schemas.openxmlformats.org/officeDocument/2006/relationships/tableStyles" Target="/ppt/tableStyles.xml" Id="R4314793b9c2d4896"/><Relationship Type="http://schemas.openxmlformats.org/officeDocument/2006/relationships/slide" Target="/ppt/slides/slide1.xml" Id="R63778d59366947e8"/><Relationship Type="http://schemas.openxmlformats.org/officeDocument/2006/relationships/slide" Target="/ppt/slides/slide2.xml" Id="R77c8715b82fa488e"/><Relationship Type="http://schemas.openxmlformats.org/officeDocument/2006/relationships/slide" Target="/ppt/slides/slide3.xml" Id="R9055089590534e9d"/><Relationship Type="http://schemas.openxmlformats.org/officeDocument/2006/relationships/slide" Target="/ppt/slides/slide4.xml" Id="R3cfdd27e672f4c6d"/><Relationship Type="http://schemas.openxmlformats.org/officeDocument/2006/relationships/slide" Target="/ppt/slides/slide5.xml" Id="R81bcb58cafad4ea9"/><Relationship Type="http://schemas.openxmlformats.org/officeDocument/2006/relationships/slide" Target="/ppt/slides/slide6.xml" Id="R812ad3c2241541b8"/><Relationship Type="http://schemas.openxmlformats.org/officeDocument/2006/relationships/slide" Target="/ppt/slides/slide7.xml" Id="Rf2ac4ef89e454e36"/><Relationship Type="http://schemas.openxmlformats.org/officeDocument/2006/relationships/slide" Target="/ppt/slides/slide8.xml" Id="R0b41b3f146c24733"/><Relationship Type="http://schemas.openxmlformats.org/officeDocument/2006/relationships/slide" Target="/ppt/slides/slide9.xml" Id="Rb7c0644af22c45c5"/><Relationship Type="http://schemas.openxmlformats.org/officeDocument/2006/relationships/slide" Target="/ppt/slides/slide10.xml" Id="Ra1160f747d004072"/><Relationship Type="http://schemas.openxmlformats.org/officeDocument/2006/relationships/slide" Target="/ppt/slides/slide11.xml" Id="R9d692f6001304527"/><Relationship Type="http://schemas.openxmlformats.org/officeDocument/2006/relationships/slide" Target="/ppt/slides/slide12.xml" Id="R850512c14b414eff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1a0fd3284bbf461d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5be6825137824878"/><Relationship Type="http://schemas.openxmlformats.org/officeDocument/2006/relationships/notesMaster" Target="/ppt/notesMasters/notesMaster1.xml" Id="R514f7de51dc14efb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0b83feaad9ef4017"/><Relationship Type="http://schemas.openxmlformats.org/officeDocument/2006/relationships/notesMaster" Target="/ppt/notesMasters/notesMaster1.xml" Id="R8bb88f9177754a92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371b2c033a4e4742"/><Relationship Type="http://schemas.openxmlformats.org/officeDocument/2006/relationships/notesMaster" Target="/ppt/notesMasters/notesMaster1.xml" Id="R12e82727f8ad44b1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d6d8ad1e12bd42b1"/><Relationship Type="http://schemas.openxmlformats.org/officeDocument/2006/relationships/notesMaster" Target="/ppt/notesMasters/notesMaster1.xml" Id="R1b5af3d5cc67435d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72edaf688cae4f8a"/><Relationship Type="http://schemas.openxmlformats.org/officeDocument/2006/relationships/notesMaster" Target="/ppt/notesMasters/notesMaster1.xml" Id="R14eba2ea7efd4aaa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d7dc2705bab8417b"/><Relationship Type="http://schemas.openxmlformats.org/officeDocument/2006/relationships/notesMaster" Target="/ppt/notesMasters/notesMaster1.xml" Id="Rd5c44b15eadb4067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1baf504752ff4640"/><Relationship Type="http://schemas.openxmlformats.org/officeDocument/2006/relationships/notesMaster" Target="/ppt/notesMasters/notesMaster1.xml" Id="R7d525065f6344dcb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4c94a10e9a0a41a3"/><Relationship Type="http://schemas.openxmlformats.org/officeDocument/2006/relationships/notesMaster" Target="/ppt/notesMasters/notesMaster1.xml" Id="R6241e0bb7aaf4155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8774d44c463f4f02"/><Relationship Type="http://schemas.openxmlformats.org/officeDocument/2006/relationships/notesMaster" Target="/ppt/notesMasters/notesMaster1.xml" Id="Re94f1ea679fb4550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d0f3cac72788478c"/><Relationship Type="http://schemas.openxmlformats.org/officeDocument/2006/relationships/notesMaster" Target="/ppt/notesMasters/notesMaster1.xml" Id="R10c2201d985845da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515e2bae14124e24"/><Relationship Type="http://schemas.openxmlformats.org/officeDocument/2006/relationships/notesMaster" Target="/ppt/notesMasters/notesMaster1.xml" Id="R01ce061671fb4822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/ppt/slides/slide12.xml" Id="R36cb073333334a29"/><Relationship Type="http://schemas.openxmlformats.org/officeDocument/2006/relationships/notesMaster" Target="/ppt/notesMasters/notesMaster1.xml" Id="R131cc92c5106421a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RSHE-BUILD-A2-W05 · Year A · Week beginning 30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Title and big question: 0 minutes.</a:t>
            </a:r>
          </a:p>
          <a:p xmlns:a="http://schemas.openxmlformats.org/drawingml/2006/main">
            <a:r>
              <a:t>Teacher: Read the question and careers statement without asking for a personal example.</a:t>
            </a:r>
          </a:p>
          <a:p xmlns:a="http://schemas.openxmlformats.org/drawingml/2006/main">
            <a:r>
              <a:t>First and then: First sort the acts. Then choose a safe next step.</a:t>
            </a:r>
          </a:p>
          <a:p xmlns:a="http://schemas.openxmlformats.org/drawingml/2006/main">
            <a:r>
              <a:t>Routes: Supported: sort A, B and C with two choices at a time and adult reading. Choose a help or boundary action for C and select a matching reason. Record each prompt. Independent: sort the six cards, choose a response for C or E, and explain the choice using a detail from the story. Aspire: retain the sort and response, explain why repeated asking after no is pressure, and compare a helpful response in a new story.</a:t>
            </a:r>
          </a:p>
          <a:p xmlns:a="http://schemas.openxmlformats.org/drawingml/2006/main">
            <a:r>
              <a:t>Evidence: Behaviour choices plus one boundary or help response and a reason, with support recorded.</a:t>
            </a:r>
          </a:p>
          <a:p xmlns:a="http://schemas.openxmlformats.org/drawingml/2006/main">
            <a:r>
              <a:t>Careers: This helps me recognise respectful teamwork and seek support when behaviour is wrong.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All teaching prompts concern fictional young people. Never ask about a learner’s own body, family or experiences. No touching, personal role-play or real-life comparisons are required. An adult may narrate both fictional parts while the learner chooses or explains a response. Respect a pass, pause or use of an aid without asking why. If a real concern arises, listen calmly and follow the setting’s safeguarding procedure promptly. Do not promise secrecy or use a disclosure as lesson evidence. Safety is the adult’s responsibility; a child is never to blame for another person’s harmful 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RSHE-BUILD-A2-W05 · Year A · Week beginning 30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Arrival and regulation: 3 minutes.</a:t>
            </a:r>
          </a:p>
          <a:p xmlns:a="http://schemas.openxmlformats.org/drawingml/2006/main">
            <a:r>
              <a:t>Teacher: Offer a pause, pass, time or an aid. Use only fictional cases.</a:t>
            </a:r>
          </a:p>
          <a:p xmlns:a="http://schemas.openxmlformats.org/drawingml/2006/main">
            <a:r>
              <a:t>First and then: First sort the acts. Then choose a safe next step.</a:t>
            </a:r>
          </a:p>
          <a:p xmlns:a="http://schemas.openxmlformats.org/drawingml/2006/main">
            <a:r>
              <a:t>Routes: Supported: sort A, B and C with two choices at a time and adult reading. Choose a help or boundary action for C and select a matching reason. Record each prompt. Independent: sort the six cards, choose a response for C or E, and explain the choice using a detail from the story. Aspire: retain the sort and response, explain why repeated asking after no is pressure, and compare a helpful response in a new story.</a:t>
            </a:r>
          </a:p>
          <a:p xmlns:a="http://schemas.openxmlformats.org/drawingml/2006/main">
            <a:r>
              <a:t>Evidence: Behaviour choices plus one boundary or help response and a reason, with support recorded.</a:t>
            </a:r>
          </a:p>
          <a:p xmlns:a="http://schemas.openxmlformats.org/drawingml/2006/main">
            <a:r>
              <a:t>Careers: This helps me recognise respectful teamwork and seek support when behaviour is wrong.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All teaching prompts concern fictional young people. Never ask about a learner’s own body, family or experiences. No touching, personal role-play or real-life comparisons are required. An adult may narrate both fictional parts while the learner chooses or explains a response. Respect a pass, pause or use of an aid without asking why. If a real concern arises, listen calmly and follow the setting’s safeguarding procedure promptly. Do not promise secrecy or use a disclosure as lesson evidence. Safety is the adult’s responsibility; a child is never to blame for another person’s harmful 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RSHE-BUILD-A2-W05 · Year A · Week beginning 30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Starter: 3 minutes.</a:t>
            </a:r>
          </a:p>
          <a:p xmlns:a="http://schemas.openxmlformats.org/drawingml/2006/main">
            <a:r>
              <a:t>Teacher: Read the caption. The story supplies the facts; do not infer trust or permission from a face.</a:t>
            </a:r>
          </a:p>
          <a:p xmlns:a="http://schemas.openxmlformats.org/drawingml/2006/main">
            <a:r>
              <a:t>First and then: First sort the acts. Then choose a safe next step.</a:t>
            </a:r>
          </a:p>
          <a:p xmlns:a="http://schemas.openxmlformats.org/drawingml/2006/main">
            <a:r>
              <a:t>Routes: Supported: sort A, B and C with two choices at a time and adult reading. Choose a help or boundary action for C and select a matching reason. Record each prompt. Independent: sort the six cards, choose a response for C or E, and explain the choice using a detail from the story. Aspire: retain the sort and response, explain why repeated asking after no is pressure, and compare a helpful response in a new story.</a:t>
            </a:r>
          </a:p>
          <a:p xmlns:a="http://schemas.openxmlformats.org/drawingml/2006/main">
            <a:r>
              <a:t>Evidence: Behaviour choices plus one boundary or help response and a reason, with support recorded.</a:t>
            </a:r>
          </a:p>
          <a:p xmlns:a="http://schemas.openxmlformats.org/drawingml/2006/main">
            <a:r>
              <a:t>Careers: This helps me recognise respectful teamwork and seek support when behaviour is wrong.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All teaching prompts concern fictional young people. Never ask about a learner’s own body, family or experiences. No touching, personal role-play or real-life comparisons are required. An adult may narrate both fictional parts while the learner chooses or explains a response. Respect a pass, pause or use of an aid without asking why. If a real concern arises, listen calmly and follow the setting’s safeguarding procedure promptly. Do not promise secrecy or use a disclosure as lesson evidence. Safety is the adult’s responsibility; a child is never to blame for another person’s harmful act.</a:t>
            </a:r>
          </a:p>
          <a:p xmlns:a="http://schemas.openxmlformats.org/drawingml/2006/main">
            <a:r>
              <a:t>Visual: Two fictional unnamed young people sit apart at a table. An open palm supports the written refusal story. The story supplies the facts; facial expressions are not evidence of permission.</a:t>
            </a:r>
          </a:p>
          <a:p xmlns:a="http://schemas.openxmlformats.org/drawingml/2006/main">
            <a:r>
              <a:t>Asset: ../../assets/a_respected_choice.jpg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RSHE-BUILD-A2-W05 · Year A · Week beginning 30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Today: 0 minutes.</a:t>
            </a:r>
          </a:p>
          <a:p xmlns:a="http://schemas.openxmlformats.org/drawingml/2006/main">
            <a:r>
              <a:t>Teacher: Read the objective and three success checks.</a:t>
            </a:r>
          </a:p>
          <a:p xmlns:a="http://schemas.openxmlformats.org/drawingml/2006/main">
            <a:r>
              <a:t>First and then: First sort the acts. Then choose a safe next step.</a:t>
            </a:r>
          </a:p>
          <a:p xmlns:a="http://schemas.openxmlformats.org/drawingml/2006/main">
            <a:r>
              <a:t>Routes: Supported: sort A, B and C with two choices at a time and adult reading. Choose a help or boundary action for C and select a matching reason. Record each prompt. Independent: sort the six cards, choose a response for C or E, and explain the choice using a detail from the story. Aspire: retain the sort and response, explain why repeated asking after no is pressure, and compare a helpful response in a new story.</a:t>
            </a:r>
          </a:p>
          <a:p xmlns:a="http://schemas.openxmlformats.org/drawingml/2006/main">
            <a:r>
              <a:t>Evidence: Behaviour choices plus one boundary or help response and a reason, with support recorded.</a:t>
            </a:r>
          </a:p>
          <a:p xmlns:a="http://schemas.openxmlformats.org/drawingml/2006/main">
            <a:r>
              <a:t>Careers: This helps me recognise respectful teamwork and seek support when behaviour is wrong.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All teaching prompts concern fictional young people. Never ask about a learner’s own body, family or experiences. No touching, personal role-play or real-life comparisons are required. An adult may narrate both fictional parts while the learner chooses or explains a response. Respect a pass, pause or use of an aid without asking why. If a real concern arises, listen calmly and follow the setting’s safeguarding procedure promptly. Do not promise secrecy or use a disclosure as lesson evidence. Safety is the adult’s responsibility; a child is never to blame for another person’s harmful 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RSHE-BUILD-A2-W05 · Year A · Week beginning 30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I Do: 5 minutes.</a:t>
            </a:r>
          </a:p>
          <a:p xmlns:a="http://schemas.openxmlformats.org/drawingml/2006/main">
            <a:r>
              <a:t>Teacher: Model on a separate adult set. Keep the actual sorting choices for at least three cards covering caring, unkind and pressuring behaviour. Keep one boundary or help response with a reason linked to C or E. Record the response mode, prompts and changes. A category label alone does not show the next step. A copied model is not individual evidence.</a:t>
            </a:r>
          </a:p>
          <a:p xmlns:a="http://schemas.openxmlformats.org/drawingml/2006/main">
            <a:r>
              <a:t>First and then: First sort the acts. Then choose a safe next step.</a:t>
            </a:r>
          </a:p>
          <a:p xmlns:a="http://schemas.openxmlformats.org/drawingml/2006/main">
            <a:r>
              <a:t>Routes: Supported: sort A, B and C with two choices at a time and adult reading. Choose a help or boundary action for C and select a matching reason. Record each prompt. Independent: sort the six cards, choose a response for C or E, and explain the choice using a detail from the story. Aspire: retain the sort and response, explain why repeated asking after no is pressure, and compare a helpful response in a new story.</a:t>
            </a:r>
          </a:p>
          <a:p xmlns:a="http://schemas.openxmlformats.org/drawingml/2006/main">
            <a:r>
              <a:t>Evidence: Behaviour choices plus one boundary or help response and a reason, with support recorded.</a:t>
            </a:r>
          </a:p>
          <a:p xmlns:a="http://schemas.openxmlformats.org/drawingml/2006/main">
            <a:r>
              <a:t>Careers: This helps me recognise respectful teamwork and seek support when behaviour is wrong.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All teaching prompts concern fictional young people. Never ask about a learner’s own body, family or experiences. No touching, personal role-play or real-life comparisons are required. An adult may narrate both fictional parts while the learner chooses or explains a response. Respect a pass, pause or use of an aid without asking why. If a real concern arises, listen calmly and follow the setting’s safeguarding procedure promptly. Do not promise secrecy or use a disclosure as lesson evidence. Safety is the adult’s responsibility; a child is never to blame for another person’s harmful 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RSHE-BUILD-A2-W05 · Year A · Week beginning 30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We Do: 5 minutes.</a:t>
            </a:r>
          </a:p>
          <a:p xmlns:a="http://schemas.openxmlformats.org/drawingml/2006/main">
            <a:r>
              <a:t>Teacher: B offers help without requiring the young person to give in. A refusal does not need repeated defence. Saying stop is an option if safe, not a condition for getting help. The young person is not responsible for changing the peer’s behaviour. Reteach by comparing A, where no is respected, with C, where the pressure continues.</a:t>
            </a:r>
          </a:p>
          <a:p xmlns:a="http://schemas.openxmlformats.org/drawingml/2006/main">
            <a:r>
              <a:t>First and then: First sort the acts. Then choose a safe next step.</a:t>
            </a:r>
          </a:p>
          <a:p xmlns:a="http://schemas.openxmlformats.org/drawingml/2006/main">
            <a:r>
              <a:t>Routes: Supported: sort A, B and C with two choices at a time and adult reading. Choose a help or boundary action for C and select a matching reason. Record each prompt. Independent: sort the six cards, choose a response for C or E, and explain the choice using a detail from the story. Aspire: retain the sort and response, explain why repeated asking after no is pressure, and compare a helpful response in a new story.</a:t>
            </a:r>
          </a:p>
          <a:p xmlns:a="http://schemas.openxmlformats.org/drawingml/2006/main">
            <a:r>
              <a:t>Evidence: Behaviour choices plus one boundary or help response and a reason, with support recorded.</a:t>
            </a:r>
          </a:p>
          <a:p xmlns:a="http://schemas.openxmlformats.org/drawingml/2006/main">
            <a:r>
              <a:t>Careers: This helps me recognise respectful teamwork and seek support when behaviour is wrong.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All teaching prompts concern fictional young people. Never ask about a learner’s own body, family or experiences. No touching, personal role-play or real-life comparisons are required. An adult may narrate both fictional parts while the learner chooses or explains a response. Respect a pass, pause or use of an aid without asking why. If a real concern arises, listen calmly and follow the setting’s safeguarding procedure promptly. Do not promise secrecy or use a disclosure as lesson evidence. Safety is the adult’s responsibility; a child is never to blame for another person’s harmful 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RSHE-BUILD-A2-W05 · Year A · Week beginning 30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You Do practice: 12 minutes.</a:t>
            </a:r>
          </a:p>
          <a:p xmlns:a="http://schemas.openxmlformats.org/drawingml/2006/main">
            <a:r>
              <a:t>Teacher: Use four minutes to sort A, B and C into caring, unkind or pressuring behaviour. Use five minutes to choose a boundary or help action for C and give a story-based reason. Use three minutes to try D, E or F and check whether asking once differs from pressure after no. A learner may point or use an aid while an adult reads and records.</a:t>
            </a:r>
          </a:p>
          <a:p xmlns:a="http://schemas.openxmlformats.org/drawingml/2006/main">
            <a:r>
              <a:t>First and then: First sort the acts. Then choose a safe next step.</a:t>
            </a:r>
          </a:p>
          <a:p xmlns:a="http://schemas.openxmlformats.org/drawingml/2006/main">
            <a:r>
              <a:t>Routes: Supported: sort A, B and C with two choices at a time and adult reading. Choose a help or boundary action for C and select a matching reason. Record each prompt. Independent: sort the six cards, choose a response for C or E, and explain the choice using a detail from the story. Aspire: retain the sort and response, explain why repeated asking after no is pressure, and compare a helpful response in a new story.</a:t>
            </a:r>
          </a:p>
          <a:p xmlns:a="http://schemas.openxmlformats.org/drawingml/2006/main">
            <a:r>
              <a:t>Evidence: Behaviour choices plus one boundary or help response and a reason, with support recorded.</a:t>
            </a:r>
          </a:p>
          <a:p xmlns:a="http://schemas.openxmlformats.org/drawingml/2006/main">
            <a:r>
              <a:t>Careers: This helps me recognise respectful teamwork and seek support when behaviour is wrong.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All teaching prompts concern fictional young people. Never ask about a learner’s own body, family or experiences. No touching, personal role-play or real-life comparisons are required. An adult may narrate both fictional parts while the learner chooses or explains a response. Respect a pass, pause or use of an aid without asking why. If a real concern arises, listen calmly and follow the setting’s safeguarding procedure promptly. Do not promise secrecy or use a disclosure as lesson evidence. Safety is the adult’s responsibility; a child is never to blame for another person’s harmful 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RSHE-BUILD-A2-W05 · Year A · Week beginning 30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You Do evidence: 6 minutes.</a:t>
            </a:r>
          </a:p>
          <a:p xmlns:a="http://schemas.openxmlformats.org/drawingml/2006/main">
            <a:r>
              <a:t>Teacher: Keep the actual sorting choices for at least three cards covering caring, unkind and pressuring behaviour. Keep one boundary or help response with a reason linked to C or E. Record the response mode, prompts and changes. A category label alone does not show the next step. A copied model is not individual evidence.</a:t>
            </a:r>
          </a:p>
          <a:p xmlns:a="http://schemas.openxmlformats.org/drawingml/2006/main">
            <a:r>
              <a:t>First and then: First sort the acts. Then choose a safe next step.</a:t>
            </a:r>
          </a:p>
          <a:p xmlns:a="http://schemas.openxmlformats.org/drawingml/2006/main">
            <a:r>
              <a:t>Routes: Supported: sort A, B and C with two choices at a time and adult reading. Choose a help or boundary action for C and select a matching reason. Record each prompt. Independent: sort the six cards, choose a response for C or E, and explain the choice using a detail from the story. Aspire: retain the sort and response, explain why repeated asking after no is pressure, and compare a helpful response in a new story.</a:t>
            </a:r>
          </a:p>
          <a:p xmlns:a="http://schemas.openxmlformats.org/drawingml/2006/main">
            <a:r>
              <a:t>Evidence: Behaviour choices plus one boundary or help response and a reason, with support recorded.</a:t>
            </a:r>
          </a:p>
          <a:p xmlns:a="http://schemas.openxmlformats.org/drawingml/2006/main">
            <a:r>
              <a:t>Careers: This helps me recognise respectful teamwork and seek support when behaviour is wrong.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All teaching prompts concern fictional young people. Never ask about a learner’s own body, family or experiences. No touching, personal role-play or real-life comparisons are required. An adult may narrate both fictional parts while the learner chooses or explains a response. Respect a pass, pause or use of an aid without asking why. If a real concern arises, listen calmly and follow the setting’s safeguarding procedure promptly. Do not promise secrecy or use a disclosure as lesson evidence. Safety is the adult’s responsibility; a child is never to blame for another person’s harmful 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RSHE-BUILD-A2-W05 · Year A · Week beginning 30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Tidy and evidence check: 4 minutes.</a:t>
            </a:r>
          </a:p>
          <a:p xmlns:a="http://schemas.openxmlformats.org/drawingml/2006/main">
            <a:r>
              <a:t>Teacher: Check the case reference, actual responses and support. Do not fill gaps with the model.</a:t>
            </a:r>
          </a:p>
          <a:p xmlns:a="http://schemas.openxmlformats.org/drawingml/2006/main">
            <a:r>
              <a:t>First and then: First sort the acts. Then choose a safe next step.</a:t>
            </a:r>
          </a:p>
          <a:p xmlns:a="http://schemas.openxmlformats.org/drawingml/2006/main">
            <a:r>
              <a:t>Routes: Supported: sort A, B and C with two choices at a time and adult reading. Choose a help or boundary action for C and select a matching reason. Record each prompt. Independent: sort the six cards, choose a response for C or E, and explain the choice using a detail from the story. Aspire: retain the sort and response, explain why repeated asking after no is pressure, and compare a helpful response in a new story.</a:t>
            </a:r>
          </a:p>
          <a:p xmlns:a="http://schemas.openxmlformats.org/drawingml/2006/main">
            <a:r>
              <a:t>Evidence: Behaviour choices plus one boundary or help response and a reason, with support recorded.</a:t>
            </a:r>
          </a:p>
          <a:p xmlns:a="http://schemas.openxmlformats.org/drawingml/2006/main">
            <a:r>
              <a:t>Careers: This helps me recognise respectful teamwork and seek support when behaviour is wrong.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All teaching prompts concern fictional young people. Never ask about a learner’s own body, family or experiences. No touching, personal role-play or real-life comparisons are required. An adult may narrate both fictional parts while the learner chooses or explains a response. Respect a pass, pause or use of an aid without asking why. If a real concern arises, listen calmly and follow the setting’s safeguarding procedure promptly. Do not promise secrecy or use a disclosure as lesson evidence. Safety is the adult’s responsibility; a child is never to blame for another person’s harmful 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RSHE-BUILD-A2-W05 · Year A · Week beginning 30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Exit ticket: 2 minutes.</a:t>
            </a:r>
          </a:p>
          <a:p xmlns:a="http://schemas.openxmlformats.org/drawingml/2006/main">
            <a:r>
              <a:t>Teacher: Accept speech, point, drawing, writing or an aid. Keep the response about the fictional person.</a:t>
            </a:r>
          </a:p>
          <a:p xmlns:a="http://schemas.openxmlformats.org/drawingml/2006/main">
            <a:r>
              <a:t>First and then: First sort the acts. Then choose a safe next step.</a:t>
            </a:r>
          </a:p>
          <a:p xmlns:a="http://schemas.openxmlformats.org/drawingml/2006/main">
            <a:r>
              <a:t>Routes: Supported: sort A, B and C with two choices at a time and adult reading. Choose a help or boundary action for C and select a matching reason. Record each prompt. Independent: sort the six cards, choose a response for C or E, and explain the choice using a detail from the story. Aspire: retain the sort and response, explain why repeated asking after no is pressure, and compare a helpful response in a new story.</a:t>
            </a:r>
          </a:p>
          <a:p xmlns:a="http://schemas.openxmlformats.org/drawingml/2006/main">
            <a:r>
              <a:t>Evidence: Behaviour choices plus one boundary or help response and a reason, with support recorded.</a:t>
            </a:r>
          </a:p>
          <a:p xmlns:a="http://schemas.openxmlformats.org/drawingml/2006/main">
            <a:r>
              <a:t>Careers: This helps me recognise respectful teamwork and seek support when behaviour is wrong.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All teaching prompts concern fictional young people. Never ask about a learner’s own body, family or experiences. No touching, personal role-play or real-life comparisons are required. An adult may narrate both fictional parts while the learner chooses or explains a response. Respect a pass, pause or use of an aid without asking why. If a real concern arises, listen calmly and follow the setting’s safeguarding procedure promptly. Do not promise secrecy or use a disclosure as lesson evidence. Safety is the adult’s responsibility; a child is never to blame for another person’s harmful 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RSHE-BUILD-A2-W05 · Year A · Week beginning 30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Vocabulary: 0 minutes.</a:t>
            </a:r>
          </a:p>
          <a:p xmlns:a="http://schemas.openxmlformats.org/drawingml/2006/main">
            <a:r>
              <a:t>Teacher: Keep the word mat available. Explain each word in the story.</a:t>
            </a:r>
          </a:p>
          <a:p xmlns:a="http://schemas.openxmlformats.org/drawingml/2006/main">
            <a:r>
              <a:t>First and then: First sort the acts. Then choose a safe next step.</a:t>
            </a:r>
          </a:p>
          <a:p xmlns:a="http://schemas.openxmlformats.org/drawingml/2006/main">
            <a:r>
              <a:t>Routes: Supported: sort A, B and C with two choices at a time and adult reading. Choose a help or boundary action for C and select a matching reason. Record each prompt. Independent: sort the six cards, choose a response for C or E, and explain the choice using a detail from the story. Aspire: retain the sort and response, explain why repeated asking after no is pressure, and compare a helpful response in a new story.</a:t>
            </a:r>
          </a:p>
          <a:p xmlns:a="http://schemas.openxmlformats.org/drawingml/2006/main">
            <a:r>
              <a:t>Evidence: Behaviour choices plus one boundary or help response and a reason, with support recorded.</a:t>
            </a:r>
          </a:p>
          <a:p xmlns:a="http://schemas.openxmlformats.org/drawingml/2006/main">
            <a:r>
              <a:t>Careers: This helps me recognise respectful teamwork and seek support when behaviour is wrong.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All teaching prompts concern fictional young people. Never ask about a learner’s own body, family or experiences. No touching, personal role-play or real-life comparisons are required. An adult may narrate both fictional parts while the learner chooses or explains a response. Respect a pass, pause or use of an aid without asking why. If a real concern arises, listen calmly and follow the setting’s safeguarding procedure promptly. Do not promise secrecy or use a disclosure as lesson evidence. Safety is the adult’s responsibility; a child is never to blame for another person’s harmful 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RSHE-BUILD-A2-W05 · Year A · Week beginning 30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Staff brief: 0 minutes.</a:t>
            </a:r>
          </a:p>
          <a:p xmlns:a="http://schemas.openxmlformats.org/drawingml/2006/main">
            <a:r>
              <a:t>Teacher: All teaching prompts concern fictional young people. Never ask about a learner’s own body, family or experiences. No touching, personal role-play or real-life comparisons are required. An adult may narrate both fictional parts while the learner chooses or explains a response. Respect a pass, pause or use of an aid without asking why. If a real concern arises, listen calmly and follow the setting’s safeguarding procedure promptly. Do not promise secrecy or use a disclosure as lesson evidence. Safety is the adult’s responsibility; a child is never to blame for another person’s harmful act.</a:t>
            </a:r>
          </a:p>
          <a:p xmlns:a="http://schemas.openxmlformats.org/drawingml/2006/main">
            <a:r>
              <a:t>First and then: First sort the acts. Then choose a safe next step.</a:t>
            </a:r>
          </a:p>
          <a:p xmlns:a="http://schemas.openxmlformats.org/drawingml/2006/main">
            <a:r>
              <a:t>Routes: Supported: sort A, B and C with two choices at a time and adult reading. Choose a help or boundary action for C and select a matching reason. Record each prompt. Independent: sort the six cards, choose a response for C or E, and explain the choice using a detail from the story. Aspire: retain the sort and response, explain why repeated asking after no is pressure, and compare a helpful response in a new story.</a:t>
            </a:r>
          </a:p>
          <a:p xmlns:a="http://schemas.openxmlformats.org/drawingml/2006/main">
            <a:r>
              <a:t>Evidence: Behaviour choices plus one boundary or help response and a reason, with support recorded.</a:t>
            </a:r>
          </a:p>
          <a:p xmlns:a="http://schemas.openxmlformats.org/drawingml/2006/main">
            <a:r>
              <a:t>Careers: This helps me recognise respectful teamwork and seek support when behaviour is wrong.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All teaching prompts concern fictional young people. Never ask about a learner’s own body, family or experiences. No touching, personal role-play or real-life comparisons are required. An adult may narrate both fictional parts while the learner chooses or explains a response. Respect a pass, pause or use of an aid without asking why. If a real concern arises, listen calmly and follow the setting’s safeguarding procedure promptly. Do not promise secrecy or use a disclosure as lesson evidence. Safety is the adult’s responsibility; a child is never to blame for another person’s harmful 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999fae2947de4bba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5902562ddd594656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765f5c96e5e34c10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8b3d56615fbd4c90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05d829be9f3d44a4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d37586971451490c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f487808b80964b4b"/><Relationship Type="http://schemas.openxmlformats.org/officeDocument/2006/relationships/slideLayout" Target="/ppt/slideLayouts/slideLayout1.xml" Id="R3712863f2baa4501"/><Relationship Type="http://schemas.openxmlformats.org/officeDocument/2006/relationships/slideLayout" Target="/ppt/slideLayouts/slideLayout2.xml" Id="R90610723b27c4d14"/><Relationship Type="http://schemas.openxmlformats.org/officeDocument/2006/relationships/slideLayout" Target="/ppt/slideLayouts/slideLayout3.xml" Id="R59095979ec634909"/><Relationship Type="http://schemas.openxmlformats.org/officeDocument/2006/relationships/slideLayout" Target="/ppt/slideLayouts/slideLayout4.xml" Id="Rd0d9e49f4bd24dd8"/><Relationship Type="http://schemas.openxmlformats.org/officeDocument/2006/relationships/slideLayout" Target="/ppt/slideLayouts/slideLayout5.xml" Id="R73e2e353b2b64b7c"/><Relationship Type="http://schemas.openxmlformats.org/officeDocument/2006/relationships/slideLayout" Target="/ppt/slideLayouts/slideLayout6.xml" Id="R081c33d9ba9a4359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12863f2baa4501"/>
    <p:sldLayoutId xmlns:r="http://schemas.openxmlformats.org/officeDocument/2006/relationships" id="2147483650" r:id="R90610723b27c4d14"/>
    <p:sldLayoutId xmlns:r="http://schemas.openxmlformats.org/officeDocument/2006/relationships" id="2147483651" r:id="R59095979ec634909"/>
    <p:sldLayoutId xmlns:r="http://schemas.openxmlformats.org/officeDocument/2006/relationships" id="2147483652" r:id="Rd0d9e49f4bd24dd8"/>
    <p:sldLayoutId xmlns:r="http://schemas.openxmlformats.org/officeDocument/2006/relationships" id="2147483653" r:id="R73e2e353b2b64b7c"/>
    <p:sldLayoutId xmlns:r="http://schemas.openxmlformats.org/officeDocument/2006/relationships" id="2147483654" r:id="R081c33d9ba9a43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31971e7a96248f8"/><Relationship Type="http://schemas.openxmlformats.org/officeDocument/2006/relationships/notesSlide" Target="/ppt/notesSlides/notesSlide1.xml" Id="R793925d3a2924635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f9488fbc60c4162"/><Relationship Type="http://schemas.openxmlformats.org/officeDocument/2006/relationships/notesSlide" Target="/ppt/notesSlides/notesSlide2.xml" Id="R565efacbcd094988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368b6a0acde4f5d"/><Relationship Type="http://schemas.openxmlformats.org/officeDocument/2006/relationships/image" Target="/ppt/media/image.jpeg" Id="Rcb161e6f6b7d4ba1"/><Relationship Type="http://schemas.openxmlformats.org/officeDocument/2006/relationships/notesSlide" Target="/ppt/notesSlides/notesSlide3.xml" Id="R3cc1b61454864fe4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00297c3d29b44b7"/><Relationship Type="http://schemas.openxmlformats.org/officeDocument/2006/relationships/notesSlide" Target="/ppt/notesSlides/notesSlide4.xml" Id="R9d19b0bbc00441a5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6454aed0df748ac"/><Relationship Type="http://schemas.openxmlformats.org/officeDocument/2006/relationships/notesSlide" Target="/ppt/notesSlides/notesSlide5.xml" Id="R276ddb665c25405c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aeb87d50c464eba"/><Relationship Type="http://schemas.openxmlformats.org/officeDocument/2006/relationships/notesSlide" Target="/ppt/notesSlides/notesSlide6.xml" Id="Rf038d685753e4217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340add43aa5466b"/><Relationship Type="http://schemas.openxmlformats.org/officeDocument/2006/relationships/notesSlide" Target="/ppt/notesSlides/notesSlide7.xml" Id="R9477900d42734191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73b22408b664f57"/><Relationship Type="http://schemas.openxmlformats.org/officeDocument/2006/relationships/notesSlide" Target="/ppt/notesSlides/notesSlide8.xml" Id="R903bb0f1ba024cd6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64e8e7828f6446c"/><Relationship Type="http://schemas.openxmlformats.org/officeDocument/2006/relationships/notesSlide" Target="/ppt/notesSlides/notesSlide9.xml" Id="Rb3a8f4f707ab4859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100aed96cba4304"/><Relationship Type="http://schemas.openxmlformats.org/officeDocument/2006/relationships/notesSlide" Target="/ppt/notesSlides/notesSlide10.xml" Id="R58abc3affa194e57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dd672836c2b41c8"/><Relationship Type="http://schemas.openxmlformats.org/officeDocument/2006/relationships/notesSlide" Target="/ppt/notesSlides/notesSlide11.xml" Id="Rf9b6e5c1b27d484e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47989d7683c453c"/><Relationship Type="http://schemas.openxmlformats.org/officeDocument/2006/relationships/notesSlide" Target="/ppt/notesSlides/notesSlide12.xml" Id="R44f7aab9961640fc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TITLE AND BIG QUESTION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 / 12</a:t>
            </a:r>
          </a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Kind and respectful relationships</a:t>
            </a:r>
          </a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6B68"/>
                </a:solidFill>
                <a:latin typeface="Arial"/>
                <a:ea typeface="Arial"/>
                <a:cs typeface="Arial"/>
              </a:rPr>
              <a:t>Year A · Week 5 · 30 November–4 December 2026 · 40 minutes</a:t>
            </a:r>
          </a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RSHE-BUILD-A2-W05</a:t>
            </a:r>
          </a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teen says no. A peer still asks them to join a game. The teen does not want to join. The peer will not stop. Is this fair? Who could help?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This helps me recognise respectful teamwork and seek support when behaviour is wrong.</a:t>
            </a:r>
          </a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Term theme: Identity &amp; Belonging</a:t>
            </a:r>
          </a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ARRIVAL AND REGULATION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2 / 12  ·  3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A calm start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RSHE-BUILD-A2-W05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These stories are all made up.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No one needs to share a real story.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young person can ask for a pause.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young person can use an aid.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young person can pass on a question.</a:t>
            </a:r>
          </a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Each person can have time.</a:t>
            </a:r>
          </a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3 / 12  ·  3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young person’s story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RSHE-BUILD-A2-W05</a:t>
            </a:r>
          </a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B9C3FE-8D80-4A08-BA28-DF5426C9E7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61e6f6b7d4ba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2025" y="1638300"/>
            <a:ext cx="563880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peer says no to lending a pencil.</a:t>
            </a:r>
          </a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71750"/>
            <a:ext cx="4200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teen leaves the pencil alone.</a:t>
            </a:r>
          </a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29000"/>
            <a:ext cx="4200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Which act shows care in this story?</a:t>
            </a:r>
          </a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86250"/>
            <a:ext cx="4200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Use the story. A face is not proof.</a:t>
            </a:r>
          </a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RSHE-BUILD-A2-W05</a:t>
            </a:r>
          </a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Spot kind acts and pressure. Choose a helpful next step.</a:t>
            </a:r>
          </a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Sort three short story cards.</a:t>
            </a:r>
          </a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Choose a next step for the young person.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Give a reason from the story.</a:t>
            </a:r>
          </a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5 / 12  ·  5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A helpful response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RSHE-BUILD-A2-W05</a:t>
            </a:r>
          </a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peer says no to lending a pen.</a:t>
            </a:r>
          </a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other teen keeps asking.</a:t>
            </a:r>
          </a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This puts pressure on the peer.</a:t>
            </a:r>
          </a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peer can move away if it is safe.</a:t>
            </a:r>
          </a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They can ask a trusted adult for help.</a:t>
            </a:r>
          </a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They do not have to give in.</a:t>
            </a:r>
          </a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6B68"/>
                </a:solidFill>
                <a:latin typeface="Arial"/>
                <a:ea typeface="Arial"/>
                <a:cs typeface="Arial"/>
              </a:rPr>
              <a:t>First sort the acts. Then choose a safe next step.</a:t>
            </a:r>
          </a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6 / 12  ·  5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A choice for the young person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RSHE-BUILD-A2-W05</a:t>
            </a:r>
          </a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peer keeps asking after no. What could help?</a:t>
            </a:r>
          </a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 Give in so the peer will stop.</a:t>
            </a:r>
          </a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B  Get help from a trusted adult.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  Keep the worry secret.</a:t>
            </a:r>
          </a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YOU DO PRACTICE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7 / 12  ·  12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story task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RSHE-BUILD-A2-W05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task is about made-up young people.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Supported: sort three cards with help.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Independent: sort and give a reason.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Aspire: show why repeated asks are pressure.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Each route keeps a next step and a reason.</a:t>
            </a:r>
          </a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YOU DO EVIDENCE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8 / 12  ·  6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story record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RSHE-BUILD-A2-W05</a:t>
            </a:r>
          </a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the choices for three story cards.</a:t>
            </a:r>
          </a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Show one safe next step for the teen.</a:t>
            </a:r>
          </a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Give one reason from the story.</a:t>
            </a:r>
          </a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adult notes the help and any change.</a:t>
            </a:r>
          </a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TIDY AND EVIDENCE CHECK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9 / 12  ·  4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Tidy and check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RSHE-BUILD-A2-W05</a:t>
            </a:r>
          </a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the work about the made-up person.</a:t>
            </a:r>
          </a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each story and its response together.</a:t>
            </a:r>
          </a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adult notes the help and any change.</a:t>
            </a:r>
          </a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Which next step could help the person?</a:t>
            </a:r>
          </a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10 / 12  ·  2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Exit task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RSHE-BUILD-A2-W05</a:t>
            </a:r>
          </a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Which act shows care for the young person?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What could help when a peer will not stop?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Why could that step help the teen?</a:t>
            </a:r>
          </a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Words that help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RSHE-BUILD-A2-W05</a:t>
            </a:r>
          </a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21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Care: An act that helps a person.</a:t>
            </a:r>
          </a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521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Kind: An act that shows care.</a:t>
            </a:r>
          </a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21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Respect: Treat a person and their choice with care.</a:t>
            </a:r>
          </a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1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Pressure: Trying to make a person give in.</a:t>
            </a:r>
          </a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521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Boundary: A limit a person wants others to respect.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62250"/>
            <a:ext cx="521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Help: Support with a task or worry.</a:t>
            </a:r>
          </a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10000"/>
            <a:ext cx="521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Choice: An option a person can pick.</a:t>
            </a:r>
          </a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STAFF BRIEF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Staff brief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RSHE-BUILD-A2-W05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Read the planner and support route.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Use only fictional young people and settings.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Scribe exact words; record help.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each learner’s own evidence.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Week 7 is the assessing lesson.</a:t>
            </a:r>
          </a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Lesson resource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Lesson resource</dc:creator>
  <lastModifiedBy>Lesson resource</lastModifiedBy>
  <dc:title>Presentation</dc:title>
  <dcterms:created xsi:type="dcterms:W3CDTF">2026-10-27T21:41:11.9670000Z</dcterms:created>
  <dcterms:modified xsi:type="dcterms:W3CDTF">2026-10-27T21:41:11.9670000Z</dcterms:modified>
</coreProperties>
</file>