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f2f8e7b271884c2b"/><Relationship Type="http://schemas.openxmlformats.org/officeDocument/2006/relationships/extended-properties" Target="/docProps/app.xml" Id="R6bf2285f11da40bd"/><Relationship Type="http://schemas.openxmlformats.org/officeDocument/2006/relationships/officeDocument" Target="/ppt/presentation.xml" Id="R3711c2e960dc42e4"/></Relationships>
</file>

<file path=ppt/presentation.xml><?xml version="1.0" encoding="utf-8"?>
<p:presentation xmlns:p="http://schemas.openxmlformats.org/presentationml/2006/main">
  <p:sldMasterIdLst>
    <p:sldMasterId xmlns:r="http://schemas.openxmlformats.org/officeDocument/2006/relationships" id="2147483648" r:id="Rf15fa3e3639c4b71"/>
  </p:sldMasterIdLst>
  <p:notesMasterIdLst>
    <p:notesMasterId xmlns:r="http://schemas.openxmlformats.org/officeDocument/2006/relationships" r:id="R05765d54f6b64010"/>
  </p:notesMasterIdLst>
  <p:sldIdLst>
    <p:sldId xmlns:r="http://schemas.openxmlformats.org/officeDocument/2006/relationships" id="256" r:id="Re570a7bd43a34fbe"/>
    <p:sldId xmlns:r="http://schemas.openxmlformats.org/officeDocument/2006/relationships" id="257" r:id="R2e167327932d44ed"/>
    <p:sldId xmlns:r="http://schemas.openxmlformats.org/officeDocument/2006/relationships" id="258" r:id="Rf5ea100fcd9d462b"/>
    <p:sldId xmlns:r="http://schemas.openxmlformats.org/officeDocument/2006/relationships" id="259" r:id="Rd4a6056e6a8a40ec"/>
    <p:sldId xmlns:r="http://schemas.openxmlformats.org/officeDocument/2006/relationships" id="260" r:id="R6e16ba816f464f2e"/>
    <p:sldId xmlns:r="http://schemas.openxmlformats.org/officeDocument/2006/relationships" id="261" r:id="R72baf8c6ff2d4f8f"/>
    <p:sldId xmlns:r="http://schemas.openxmlformats.org/officeDocument/2006/relationships" id="262" r:id="Ra2dad24ce5064c27"/>
    <p:sldId xmlns:r="http://schemas.openxmlformats.org/officeDocument/2006/relationships" id="263" r:id="Rf59b898661864983"/>
    <p:sldId xmlns:r="http://schemas.openxmlformats.org/officeDocument/2006/relationships" id="264" r:id="R4cb3b98f26374944"/>
    <p:sldId xmlns:r="http://schemas.openxmlformats.org/officeDocument/2006/relationships" id="265" r:id="Rbf7b37dcb2ca4e65"/>
    <p:sldId xmlns:r="http://schemas.openxmlformats.org/officeDocument/2006/relationships" id="266" r:id="R36ebe8142eef44ed"/>
    <p:sldId xmlns:r="http://schemas.openxmlformats.org/officeDocument/2006/relationships" id="267" r:id="R168e0c3528a541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da23135a792f4c39"/><Relationship Type="http://schemas.openxmlformats.org/officeDocument/2006/relationships/slideMaster" Target="/ppt/slideMasters/slideMaster1.xml" Id="Rf15fa3e3639c4b71"/><Relationship Type="http://schemas.openxmlformats.org/officeDocument/2006/relationships/notesMaster" Target="/ppt/notesMasters/notesMaster1.xml" Id="R05765d54f6b64010"/><Relationship Type="http://schemas.openxmlformats.org/officeDocument/2006/relationships/presProps" Target="/ppt/presProps.xml" Id="Ra6c4a92b99cd4f29"/><Relationship Type="http://schemas.openxmlformats.org/officeDocument/2006/relationships/tableStyles" Target="/ppt/tableStyles.xml" Id="Refb81a87b3aa4174"/><Relationship Type="http://schemas.openxmlformats.org/officeDocument/2006/relationships/slide" Target="/ppt/slides/slide1.xml" Id="Re570a7bd43a34fbe"/><Relationship Type="http://schemas.openxmlformats.org/officeDocument/2006/relationships/slide" Target="/ppt/slides/slide2.xml" Id="R2e167327932d44ed"/><Relationship Type="http://schemas.openxmlformats.org/officeDocument/2006/relationships/slide" Target="/ppt/slides/slide3.xml" Id="Rf5ea100fcd9d462b"/><Relationship Type="http://schemas.openxmlformats.org/officeDocument/2006/relationships/slide" Target="/ppt/slides/slide4.xml" Id="Rd4a6056e6a8a40ec"/><Relationship Type="http://schemas.openxmlformats.org/officeDocument/2006/relationships/slide" Target="/ppt/slides/slide5.xml" Id="R6e16ba816f464f2e"/><Relationship Type="http://schemas.openxmlformats.org/officeDocument/2006/relationships/slide" Target="/ppt/slides/slide6.xml" Id="R72baf8c6ff2d4f8f"/><Relationship Type="http://schemas.openxmlformats.org/officeDocument/2006/relationships/slide" Target="/ppt/slides/slide7.xml" Id="Ra2dad24ce5064c27"/><Relationship Type="http://schemas.openxmlformats.org/officeDocument/2006/relationships/slide" Target="/ppt/slides/slide8.xml" Id="Rf59b898661864983"/><Relationship Type="http://schemas.openxmlformats.org/officeDocument/2006/relationships/slide" Target="/ppt/slides/slide9.xml" Id="R4cb3b98f26374944"/><Relationship Type="http://schemas.openxmlformats.org/officeDocument/2006/relationships/slide" Target="/ppt/slides/slide10.xml" Id="Rbf7b37dcb2ca4e65"/><Relationship Type="http://schemas.openxmlformats.org/officeDocument/2006/relationships/slide" Target="/ppt/slides/slide11.xml" Id="R36ebe8142eef44ed"/><Relationship Type="http://schemas.openxmlformats.org/officeDocument/2006/relationships/slide" Target="/ppt/slides/slide12.xml" Id="R168e0c3528a54143"/></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0164619faf74a91"/></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2953e9beedb947ce"/><Relationship Type="http://schemas.openxmlformats.org/officeDocument/2006/relationships/notesMaster" Target="/ppt/notesMasters/notesMaster1.xml" Id="Rb0aceef3551c4d25"/></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faf4f6bbbcd4650"/><Relationship Type="http://schemas.openxmlformats.org/officeDocument/2006/relationships/notesMaster" Target="/ppt/notesMasters/notesMaster1.xml" Id="Rbe2b49efb941453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869ea6c51784e7c"/><Relationship Type="http://schemas.openxmlformats.org/officeDocument/2006/relationships/notesMaster" Target="/ppt/notesMasters/notesMaster1.xml" Id="R8a5a54ac291a4bc8"/></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520e3d9b8fe4916"/><Relationship Type="http://schemas.openxmlformats.org/officeDocument/2006/relationships/notesMaster" Target="/ppt/notesMasters/notesMaster1.xml" Id="Rac28efb44ddc44f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f2de7f56e9c45bd"/><Relationship Type="http://schemas.openxmlformats.org/officeDocument/2006/relationships/notesMaster" Target="/ppt/notesMasters/notesMaster1.xml" Id="Ra5885d95f1cd4e1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1c525cdc478842d6"/><Relationship Type="http://schemas.openxmlformats.org/officeDocument/2006/relationships/notesMaster" Target="/ppt/notesMasters/notesMaster1.xml" Id="R46e5ef2ec158409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1d1753064f542d6"/><Relationship Type="http://schemas.openxmlformats.org/officeDocument/2006/relationships/notesMaster" Target="/ppt/notesMasters/notesMaster1.xml" Id="R2cdacaa0c7d841a3"/></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2b9b9144ebfd49b9"/><Relationship Type="http://schemas.openxmlformats.org/officeDocument/2006/relationships/notesMaster" Target="/ppt/notesMasters/notesMaster1.xml" Id="Rdd7805ae630b49d4"/></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5685a615f61d4f5f"/><Relationship Type="http://schemas.openxmlformats.org/officeDocument/2006/relationships/notesMaster" Target="/ppt/notesMasters/notesMaster1.xml" Id="Rf34e7deb60844bcf"/></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8d0ea08e62804f71"/><Relationship Type="http://schemas.openxmlformats.org/officeDocument/2006/relationships/notesMaster" Target="/ppt/notesMasters/notesMaster1.xml" Id="Rd0772bb2018c4726"/></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9bc615d1fecc47b0"/><Relationship Type="http://schemas.openxmlformats.org/officeDocument/2006/relationships/notesMaster" Target="/ppt/notesMasters/notesMaster1.xml" Id="R093078b4bb41434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6f9f36b49f541ca"/><Relationship Type="http://schemas.openxmlformats.org/officeDocument/2006/relationships/notesMaster" Target="/ppt/notesMasters/notesMaster1.xml" Id="Re99a5f38beb84a2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Title and big question: 0 minutes.</a:t>
            </a:r>
          </a:p>
          <a:p xmlns:a="http://schemas.openxmlformats.org/drawingml/2006/main">
            <a:r>
              <a:t>Teacher: Read the approved objective and careers line. The first-person careers statement is a general purpose line, not a request for personal disclosure. All tasks concern fictional young people.</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Arrival and regulation: 3 minutes.</a:t>
            </a:r>
          </a:p>
          <a:p xmlns:a="http://schemas.openxmlformats.org/drawingml/2006/main">
            <a:r>
              <a:t>Teacher: Use the established regulation routine. Offer a pass, pause or usual aid. Never ask for a reason for declining. Mark work not observed or not assessed, not automatically wrong.</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Gather earlier work: 4 minutes.</a:t>
            </a:r>
          </a:p>
          <a:p xmlns:a="http://schemas.openxmlformats.org/drawingml/2006/main">
            <a:r>
              <a:t>Teacher: Gather the actual earlier work by code and date. Use the half-term audit in Staff Answers. Do not rehearse answers. Keep work and the word mat closed during initial checks if they would supply an answer.</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Assessment brief: 3 minutes.</a:t>
            </a:r>
          </a:p>
          <a:p xmlns:a="http://schemas.openxmlformats.org/drawingml/2006/main">
            <a:r>
              <a:t>Teacher: Explain the initial record and later feedback. Read task words exactly and scribe without correction. Reading or an aid is access support; an answer cue, reduced choice, reason or model is content support. The supplied word bank is part of the matching task and must be recorded as such.</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Initial care check: 5 minutes.</a:t>
            </a:r>
          </a:p>
          <a:p xmlns:a="http://schemas.openxmlformats.org/drawingml/2006/main">
            <a:r>
              <a:t>Teacher: Use Support Cards page 1 story A. Record the act of care and a story-based reason. An adult may read. Do not supply the expected waiting/listening answer before the initial record.</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Initial word check: 4 minutes.</a:t>
            </a:r>
          </a:p>
          <a:p xmlns:a="http://schemas.openxmlformats.org/drawingml/2006/main">
            <a:r>
              <a:t>Teacher: Use the four-word matching task. Private key: A–4, B–2, C–3, D–1. Terms and meanings are those taught in Week 3. Before the lesson, confirm which terms were actually taught. Do not teach a missing word during assessment. Use the staff substitution procedure and record exactly which terms were assessed. Do not refer to anyone’s own body or infer identity from body parts.</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Initial boundary check: 4 minutes.</a:t>
            </a:r>
          </a:p>
          <a:p xmlns:a="http://schemas.openxmlformats.org/drawingml/2006/main">
            <a:r>
              <a:t>Teacher: Use page 2 stories B and C separately. Record privacy judgement, next action and reason for B; boundary response and reason for C. No acted touch or personal comparison. Accept a justified safe response, not just a fixed phrase.</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Initial help check: 7 minutes.</a:t>
            </a:r>
          </a:p>
          <a:p xmlns:a="http://schemas.openxmlformats.org/drawingml/2006/main">
            <a:r>
              <a:t>Teacher: Present page 3 story D, then story E. This new bag concern applies the familiar help route; no new safety rule is taught. The fictional tutor and duty adult are trusted available roles for the story, except the tutor is away in E. Record a request that communicates the worry and asks for help, then a follow-up request to the duty adult. An adult may narrate both parts while the learner selects or explains. Safety does not depend on the young person getting perfect words or confronting the peer.</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Review earlier work: 4 minutes.</a:t>
            </a:r>
          </a:p>
          <a:p xmlns:a="http://schemas.openxmlformats.org/drawingml/2006/main">
            <a:r>
              <a:t>Teacher: Review one or more genuine earlier records about the fictional cases. Evidence Sheet page 2 holds work references, what the work shows, help and gaps. The audit covers all six weeks; not every old criterion is reassessed afresh. Missing work stays missing. A new check is dated today.</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Feedback and next step: 6 minutes.</a:t>
            </a:r>
          </a:p>
          <a:p xmlns:a="http://schemas.openxmlformats.org/drawingml/2006/main">
            <a:r>
              <a:t>Teacher: After all initial checks, give one specific feedback point. Keep the learner’s later response separate on Evidence Sheet page 3. The response stays about the fictional person. Retain the first answer even if the revision is correct. Agree a practice step, support and review date; record voice and audience. Exit: confirm that next step and where work is stored.</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Words for review: 0 minutes.</a:t>
            </a:r>
          </a:p>
          <a:p xmlns:a="http://schemas.openxmlformats.org/drawingml/2006/main">
            <a:r>
              <a:t>Teacher: Display this familiar word mat for the review after initial checks. It can supply content cues; if used earlier, record the specific help. No new vocabulary is introduced.</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RSHE-BUILD-A2-W07 · Year A · Week beginning 14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Staff brief: 0 minutes.</a:t>
            </a:r>
          </a:p>
          <a:p xmlns:a="http://schemas.openxmlformats.org/drawingml/2006/main">
            <a:r>
              <a:t>Teacher: 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 Use VF · WS · I · NS+ (Yellow Box) · // self-edit · ? read back · R responded · E evidence. R requires Voice, Audience, a specific NS+ prompt and the learner response in their own colour. E is recorded only when actual work is banked. Keep the initial record unchanged; record feedback and the later response separately.</a:t>
            </a:r>
          </a:p>
          <a:p xmlns:a="http://schemas.openxmlformats.org/drawingml/2006/main">
            <a:r>
              <a:t>Routes: Supported: Read the same story and task words. Allow pointing, an aid or exact scribing. Record any reduced choices, supplied reason, answer cue or model as content support. Retain the first response before prompting. Independent: Complete the fictional care, taught-word matching, privacy and permission checks, then the help request and follow-up. Review earlier evidence and choose a next step after feedback. Record help actually used. Aspire: Complete the same checks. Explain a reason from each story and use earlier work to show a stronger response or an unresolved gap. This deepens review of familiar learning, without adding new content.</a:t>
            </a:r>
          </a:p>
          <a:p xmlns:a="http://schemas.openxmlformats.org/drawingml/2006/main">
            <a:r>
              <a:t>Evidence: An individual assessment record containing actual responses, support used and gaps, with initial responses and later feedback responses kept separate.</a:t>
            </a:r>
          </a:p>
          <a:p xmlns:a="http://schemas.openxmlformats.org/drawingml/2006/main">
            <a:r>
              <a:t>Careers: This helps me show how I can respect others, protect my boundaries and ask for support.</a:t>
            </a:r>
          </a:p>
          <a:p xmlns:a="http://schemas.openxmlformats.org/drawingml/2006/main">
            <a:r>
              <a:t>Source: owner_orders/BUILD_RSHE_Autumn2_YearA_outline; revision approved-2026-10-26.</a:t>
            </a:r>
          </a:p>
          <a:p xmlns:a="http://schemas.openxmlformats.org/drawingml/2006/main">
            <a:r>
              <a:t>All prompts are about fictional young people. Never ask about a learner’s own body, family or experiences. No touching, personal role-play or real-life comparison is required. An adult may narrate the fictional parts while the learner chooses or explains. Respect a pass, pause or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21e48bf321bd487e"/></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86417e915be44433"/></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10c1a1173a584478"/></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d4c6d44026f540e7"/></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6f7d92d050114452"/></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97043ae7021745c7"/></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58453d4813647e5"/><Relationship Type="http://schemas.openxmlformats.org/officeDocument/2006/relationships/slideLayout" Target="/ppt/slideLayouts/slideLayout1.xml" Id="R185988432e804e11"/><Relationship Type="http://schemas.openxmlformats.org/officeDocument/2006/relationships/slideLayout" Target="/ppt/slideLayouts/slideLayout2.xml" Id="Refdce8185f27447b"/><Relationship Type="http://schemas.openxmlformats.org/officeDocument/2006/relationships/slideLayout" Target="/ppt/slideLayouts/slideLayout3.xml" Id="R0871ccc8141147d7"/><Relationship Type="http://schemas.openxmlformats.org/officeDocument/2006/relationships/slideLayout" Target="/ppt/slideLayouts/slideLayout4.xml" Id="Rd17b328b97e04a2e"/><Relationship Type="http://schemas.openxmlformats.org/officeDocument/2006/relationships/slideLayout" Target="/ppt/slideLayouts/slideLayout5.xml" Id="R487c0d5c8032449d"/><Relationship Type="http://schemas.openxmlformats.org/officeDocument/2006/relationships/slideLayout" Target="/ppt/slideLayouts/slideLayout6.xml" Id="R67853df99a64484c"/></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5988432e804e11"/>
    <p:sldLayoutId xmlns:r="http://schemas.openxmlformats.org/officeDocument/2006/relationships" id="2147483650" r:id="Refdce8185f27447b"/>
    <p:sldLayoutId xmlns:r="http://schemas.openxmlformats.org/officeDocument/2006/relationships" id="2147483651" r:id="R0871ccc8141147d7"/>
    <p:sldLayoutId xmlns:r="http://schemas.openxmlformats.org/officeDocument/2006/relationships" id="2147483652" r:id="Rd17b328b97e04a2e"/>
    <p:sldLayoutId xmlns:r="http://schemas.openxmlformats.org/officeDocument/2006/relationships" id="2147483653" r:id="R487c0d5c8032449d"/>
    <p:sldLayoutId xmlns:r="http://schemas.openxmlformats.org/officeDocument/2006/relationships" id="2147483654" r:id="R67853df99a64484c"/>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835ef9b0162645ec"/><Relationship Type="http://schemas.openxmlformats.org/officeDocument/2006/relationships/notesSlide" Target="/ppt/notesSlides/notesSlide1.xml" Id="R179cb14c36f44640"/></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f53be0c3043e41d8"/><Relationship Type="http://schemas.openxmlformats.org/officeDocument/2006/relationships/notesSlide" Target="/ppt/notesSlides/notesSlide2.xml" Id="R2ebec2ff8bfa485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b07ae754cd3343d0"/><Relationship Type="http://schemas.openxmlformats.org/officeDocument/2006/relationships/notesSlide" Target="/ppt/notesSlides/notesSlide3.xml" Id="R3447d9178db14545"/></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d67d9f7a12c14c66"/><Relationship Type="http://schemas.openxmlformats.org/officeDocument/2006/relationships/notesSlide" Target="/ppt/notesSlides/notesSlide4.xml" Id="Rf66fbe9171f6478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ccccc0af98664e37"/><Relationship Type="http://schemas.openxmlformats.org/officeDocument/2006/relationships/notesSlide" Target="/ppt/notesSlides/notesSlide5.xml" Id="R9eb5646b38124761"/></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d187da1d54a54edd"/><Relationship Type="http://schemas.openxmlformats.org/officeDocument/2006/relationships/notesSlide" Target="/ppt/notesSlides/notesSlide6.xml" Id="Rc258ad491d63499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e23ba8e320b4fec"/><Relationship Type="http://schemas.openxmlformats.org/officeDocument/2006/relationships/notesSlide" Target="/ppt/notesSlides/notesSlide7.xml" Id="R9939bad95cd34de1"/></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6214aaa3293c479d"/><Relationship Type="http://schemas.openxmlformats.org/officeDocument/2006/relationships/notesSlide" Target="/ppt/notesSlides/notesSlide8.xml" Id="Rfabea7f442c4430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d5a346d87c854119"/><Relationship Type="http://schemas.openxmlformats.org/officeDocument/2006/relationships/notesSlide" Target="/ppt/notesSlides/notesSlide9.xml" Id="R40cc1c41796e41c1"/></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124b1718f28e4d88"/><Relationship Type="http://schemas.openxmlformats.org/officeDocument/2006/relationships/notesSlide" Target="/ppt/notesSlides/notesSlide10.xml" Id="R6654ebf7f828402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c1cd591c22d6402e"/><Relationship Type="http://schemas.openxmlformats.org/officeDocument/2006/relationships/notesSlide" Target="/ppt/notesSlides/notesSlide11.xml" Id="R9533932679d84446"/></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b0cb82632a2546e6"/><Relationship Type="http://schemas.openxmlformats.org/officeDocument/2006/relationships/notesSlide" Target="/ppt/notesSlides/notesSlide12.xml" Id="R497e476fbffb43fd"/></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Care, boundaries and help</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7 · 14–18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young person needs help. What could they do?</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show how I can respect others, protect my boundaries and ask for support.</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sit.</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a point, a word or your aid.</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All stories are made up.</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No one has to share a private story.</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5105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Let each person have time.</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GATHER EARLIER WORK</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4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Gather earlier work</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609600" y="17335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Gather work from the past six weeks.</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609600" y="2590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work code and its actual date.</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609600" y="3448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Leave missing work marked as a gap.</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609600" y="43053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work is about made-up young people.</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ASSESSMENT BRIEF</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  ·  3 min</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How the check works</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care, a boundary rule and a way to get help.</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These checks use things taught before.</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first try. The adult notes all help.</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Feedback and a new reply come at the end.</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INITIAL CARE CHECK</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An act of care</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story A on page 1.</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2574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young person needs time to talk.</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8384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An adult waits while they use an aid.</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41947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Which act shows care?</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40005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Why could it help the young person?</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5815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Point, say, draw, write or use an aid.</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choose the act. Then give a reason from the story.</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INITIAL WORD CHECK</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4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Taught body words</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the word task on page 1.</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Match each taught word to its meaning.</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only words taught in the earlier lesson.</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each first choice. The adult notes help.</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INITIAL BOUNDARY CHECK</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4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Privacy and permission</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story B, then story C on page 2.</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B: does the act respect privacy?</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should the person outside do next?</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 the owner says no. What should happen next?</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a reason from each story.</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INITIAL HELP CHECK</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7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request for help</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story D, then story E on page 3.</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a help request about the young person’s worry.</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first adult is away. Choose the next adult.</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what the young person could ask next.</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REVIEW EARLIER WORK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Review the work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first answers as they are.</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Find earlier work about care, space or help.</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the work to show what was learnt.</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each gap and the help used clear.</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FEEDBACK AND NEXT STEP</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6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Reply and next step</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Hear one point of feedback. Keep the first try.</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the new space to reply about the story.</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one next step, when to try it and any help.</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WORDS FOR REVIEW</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for review</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Care: An act that helps a person.</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6098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Privacy: Space to do a task in private.</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5242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Permission: A freely given yes to a clear request.</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44386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Boundary: A limit a person wants others to respect.</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Help: Support with a task or worry.</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6098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Reply: An answer in words, signs or an aid.</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35242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Next step: One thing to try or learn next.</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RSHE-BUILD-A2-W07</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protocol and key before the lesson.</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fictional prompts; no personal disclosure.</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Assess only taught body words; log substitutions.</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initial work and feedback responses separate.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gaps and support. No completion claim.</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2026-10-27T22:48:32.2230000Z</dcterms:created>
  <dcterms:modified xsi:type="dcterms:W3CDTF">2026-10-27T22:48:32.2230000Z</dcterms:modified>
</coreProperties>
</file>