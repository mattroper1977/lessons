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9e23f9401fcb4bba"/><Relationship Type="http://schemas.openxmlformats.org/officeDocument/2006/relationships/extended-properties" Target="/docProps/app.xml" Id="R04e0c13542b34f80"/><Relationship Type="http://schemas.openxmlformats.org/officeDocument/2006/relationships/officeDocument" Target="/ppt/presentation.xml" Id="R62848a4a2e8441cc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8df6e2d0b34430"/>
  </p:sldMasterIdLst>
  <p:notesMasterIdLst>
    <p:notesMasterId xmlns:r="http://schemas.openxmlformats.org/officeDocument/2006/relationships" r:id="R476ba125e9bb4b07"/>
  </p:notesMasterIdLst>
  <p:sldIdLst>
    <p:sldId xmlns:r="http://schemas.openxmlformats.org/officeDocument/2006/relationships" id="256" r:id="R4d922ab045df425c"/>
    <p:sldId xmlns:r="http://schemas.openxmlformats.org/officeDocument/2006/relationships" id="257" r:id="R70619c79823e4427"/>
    <p:sldId xmlns:r="http://schemas.openxmlformats.org/officeDocument/2006/relationships" id="258" r:id="R22c04f10f73c4bee"/>
    <p:sldId xmlns:r="http://schemas.openxmlformats.org/officeDocument/2006/relationships" id="259" r:id="R7a271dff02ac42e7"/>
    <p:sldId xmlns:r="http://schemas.openxmlformats.org/officeDocument/2006/relationships" id="260" r:id="R964ac23f872146cd"/>
    <p:sldId xmlns:r="http://schemas.openxmlformats.org/officeDocument/2006/relationships" id="261" r:id="R9c6c5547e174472f"/>
    <p:sldId xmlns:r="http://schemas.openxmlformats.org/officeDocument/2006/relationships" id="262" r:id="R0f1e9f5a83454207"/>
    <p:sldId xmlns:r="http://schemas.openxmlformats.org/officeDocument/2006/relationships" id="263" r:id="Rf6567b2c3f6746fd"/>
    <p:sldId xmlns:r="http://schemas.openxmlformats.org/officeDocument/2006/relationships" id="264" r:id="R5320d29c0a164835"/>
    <p:sldId xmlns:r="http://schemas.openxmlformats.org/officeDocument/2006/relationships" id="265" r:id="R36521c6f69614eae"/>
    <p:sldId xmlns:r="http://schemas.openxmlformats.org/officeDocument/2006/relationships" id="266" r:id="R2bd221d15b784b4b"/>
    <p:sldId xmlns:r="http://schemas.openxmlformats.org/officeDocument/2006/relationships" id="267" r:id="Rb8f8b5aa3ed64b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4605ea1b65d4be4"/><Relationship Type="http://schemas.openxmlformats.org/officeDocument/2006/relationships/slideMaster" Target="/ppt/slideMasters/slideMaster1.xml" Id="R9b8df6e2d0b34430"/><Relationship Type="http://schemas.openxmlformats.org/officeDocument/2006/relationships/notesMaster" Target="/ppt/notesMasters/notesMaster1.xml" Id="R476ba125e9bb4b07"/><Relationship Type="http://schemas.openxmlformats.org/officeDocument/2006/relationships/presProps" Target="/ppt/presProps.xml" Id="R988d548c814b4f77"/><Relationship Type="http://schemas.openxmlformats.org/officeDocument/2006/relationships/tableStyles" Target="/ppt/tableStyles.xml" Id="R65f8e352a553471b"/><Relationship Type="http://schemas.openxmlformats.org/officeDocument/2006/relationships/slide" Target="/ppt/slides/slide1.xml" Id="R4d922ab045df425c"/><Relationship Type="http://schemas.openxmlformats.org/officeDocument/2006/relationships/slide" Target="/ppt/slides/slide2.xml" Id="R70619c79823e4427"/><Relationship Type="http://schemas.openxmlformats.org/officeDocument/2006/relationships/slide" Target="/ppt/slides/slide3.xml" Id="R22c04f10f73c4bee"/><Relationship Type="http://schemas.openxmlformats.org/officeDocument/2006/relationships/slide" Target="/ppt/slides/slide4.xml" Id="R7a271dff02ac42e7"/><Relationship Type="http://schemas.openxmlformats.org/officeDocument/2006/relationships/slide" Target="/ppt/slides/slide5.xml" Id="R964ac23f872146cd"/><Relationship Type="http://schemas.openxmlformats.org/officeDocument/2006/relationships/slide" Target="/ppt/slides/slide6.xml" Id="R9c6c5547e174472f"/><Relationship Type="http://schemas.openxmlformats.org/officeDocument/2006/relationships/slide" Target="/ppt/slides/slide7.xml" Id="R0f1e9f5a83454207"/><Relationship Type="http://schemas.openxmlformats.org/officeDocument/2006/relationships/slide" Target="/ppt/slides/slide8.xml" Id="Rf6567b2c3f6746fd"/><Relationship Type="http://schemas.openxmlformats.org/officeDocument/2006/relationships/slide" Target="/ppt/slides/slide9.xml" Id="R5320d29c0a164835"/><Relationship Type="http://schemas.openxmlformats.org/officeDocument/2006/relationships/slide" Target="/ppt/slides/slide10.xml" Id="R36521c6f69614eae"/><Relationship Type="http://schemas.openxmlformats.org/officeDocument/2006/relationships/slide" Target="/ppt/slides/slide11.xml" Id="R2bd221d15b784b4b"/><Relationship Type="http://schemas.openxmlformats.org/officeDocument/2006/relationships/slide" Target="/ppt/slides/slide12.xml" Id="Rb8f8b5aa3ed64b3a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616d76bf35fc447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5096adc2acb54881"/><Relationship Type="http://schemas.openxmlformats.org/officeDocument/2006/relationships/notesMaster" Target="/ppt/notesMasters/notesMaster1.xml" Id="R8c362098bc444661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0bbbd59a2d024a3e"/><Relationship Type="http://schemas.openxmlformats.org/officeDocument/2006/relationships/notesMaster" Target="/ppt/notesMasters/notesMaster1.xml" Id="Ra0ff6160eac44a3c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964a47adeb6d44ed"/><Relationship Type="http://schemas.openxmlformats.org/officeDocument/2006/relationships/notesMaster" Target="/ppt/notesMasters/notesMaster1.xml" Id="Rf03c08918f634e3b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91f91de510fd424d"/><Relationship Type="http://schemas.openxmlformats.org/officeDocument/2006/relationships/notesMaster" Target="/ppt/notesMasters/notesMaster1.xml" Id="R26de04628ea84ad4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a1461873b8804ff7"/><Relationship Type="http://schemas.openxmlformats.org/officeDocument/2006/relationships/notesMaster" Target="/ppt/notesMasters/notesMaster1.xml" Id="R38d5afdf0ddc4b15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69a987a23a514033"/><Relationship Type="http://schemas.openxmlformats.org/officeDocument/2006/relationships/notesMaster" Target="/ppt/notesMasters/notesMaster1.xml" Id="R9764a9cafb06435f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614b4d042dfe41fa"/><Relationship Type="http://schemas.openxmlformats.org/officeDocument/2006/relationships/notesMaster" Target="/ppt/notesMasters/notesMaster1.xml" Id="Red8ecd89f022433e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030f6606d49f44fe"/><Relationship Type="http://schemas.openxmlformats.org/officeDocument/2006/relationships/notesMaster" Target="/ppt/notesMasters/notesMaster1.xml" Id="Ra50e891373d14434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38ca9b3dfac44bd4"/><Relationship Type="http://schemas.openxmlformats.org/officeDocument/2006/relationships/notesMaster" Target="/ppt/notesMasters/notesMaster1.xml" Id="Rb6e5d53b5d874d88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22055f45e6c8440d"/><Relationship Type="http://schemas.openxmlformats.org/officeDocument/2006/relationships/notesMaster" Target="/ppt/notesMasters/notesMaster1.xml" Id="R92831ae7372941ce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026f49bb26d74dd7"/><Relationship Type="http://schemas.openxmlformats.org/officeDocument/2006/relationships/notesMaster" Target="/ppt/notesMasters/notesMaster1.xml" Id="Rcb25e449f48f4138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36f3a990f5304475"/><Relationship Type="http://schemas.openxmlformats.org/officeDocument/2006/relationships/notesMaster" Target="/ppt/notesMasters/notesMaster1.xml" Id="R95641cb8e1a6477d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Title and big question: 0 minutes.</a:t>
            </a:r>
          </a:p>
          <a:p xmlns:a="http://schemas.openxmlformats.org/drawingml/2006/main">
            <a:r>
              <a:t>Teacher: Read the big question and approved careers line as a statement, not an invitation to personal disclosure.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Arrival and regulation: 3 minutes.</a:t>
            </a:r>
          </a:p>
          <a:p xmlns:a="http://schemas.openxmlformats.org/drawingml/2006/main">
            <a:r>
              <a:t>Teacher: Read the fictional-case boundary. Offer a pass, quiet response and usual aid without asking why.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Starter: 3 minutes.</a:t>
            </a:r>
          </a:p>
          <a:p xmlns:a="http://schemas.openxmlformats.org/drawingml/2006/main">
            <a:r>
              <a:t>Teacher: Read the story before interpreting the image. Ask about the stated action or clue, never the learner’s own life.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Today: 0 minutes.</a:t>
            </a:r>
          </a:p>
          <a:p xmlns:a="http://schemas.openxmlformats.org/drawingml/2006/main">
            <a:r>
              <a:t>Teacher: Read the accessible objective and checks. Keep the exact approved objective in the Planner.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I Do: 5 minutes.</a:t>
            </a:r>
          </a:p>
          <a:p xmlns:a="http://schemas.openxmlformats.org/drawingml/2006/main">
            <a:r>
              <a:t>Teacher: Model only the fictional case using a separate set. The adult model is not learner evidence.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We Do: 5 minutes.</a:t>
            </a:r>
          </a:p>
          <a:p xmlns:a="http://schemas.openxmlformats.org/drawingml/2006/main">
            <a:r>
              <a:t>Teacher: A respects an unclear response. Silence, uncertainty or lack of a spoken no is not agreement. A clear freely given yes may be spoken, signed, pointed to or communicated through an aid; speech and eye contact are not required. If someone changes their mind, stop the action. Reteach with the unsure-seat card, keeping the exchange fictional and avoiding repeated pressure.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practice: 12 minutes.</a:t>
            </a:r>
          </a:p>
          <a:p xmlns:a="http://schemas.openxmlformats.org/drawingml/2006/main">
            <a:r>
              <a:t>Teacher: Use four minutes to form or select a permission request for a fictional everyday action. Use five minutes to decide what should happen in two different boundary stories, normally A and C. Use three minutes to explore B or D and show why an unclear response means waiting. If rehearsing, an adult narrates the characters and no real borrowing or touching takes place.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evidence: 6 minutes.</a:t>
            </a:r>
          </a:p>
          <a:p xmlns:a="http://schemas.openxmlformats.org/drawingml/2006/main">
            <a:r>
              <a:t>Teacher: Record the actual case response, explanation and support. Do not infer understanding from a group answer.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Tidy and evidence check: 4 minutes.</a:t>
            </a:r>
          </a:p>
          <a:p xmlns:a="http://schemas.openxmlformats.org/drawingml/2006/main">
            <a:r>
              <a:t>Teacher: Check the case references and learner ID. Keep prompts and changed responses distinct.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Exit ticket: 2 minutes.</a:t>
            </a:r>
          </a:p>
          <a:p xmlns:a="http://schemas.openxmlformats.org/drawingml/2006/main">
            <a:r>
              <a:t>Teacher: Use the three questions about the fictional young person. Agree a next teaching step.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Vocabulary: 0 minutes.</a:t>
            </a:r>
          </a:p>
          <a:p xmlns:a="http://schemas.openxmlformats.org/drawingml/2006/main">
            <a:r>
              <a:t>Teacher: Explain each word through the supplied fictional story. No personal examples or body checks.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RSHE-BUILD-A2-W04 · Year A · Week beginning 23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Staff brief: 0 minutes.</a:t>
            </a:r>
          </a:p>
          <a:p xmlns:a="http://schemas.openxmlformats.org/drawingml/2006/main">
            <a:r>
              <a:t>Teacher: All teaching prompts concern fictional young people. Never ask about a learner’s own body, family or experiences. Use only the supplied diagrams and stories. No body checking, touching, removing clothes, photographs, real-life comparisons or personal role-play. An adult may read both parts of a fictional exchange; learners can choose or describe a response. Respect a pass, pause or quiet response without asking why. Follow the setting’s safeguarding procedure if a personal concern arises; do not turn a disclosure into lesson evidence. Use the agreed support and care arrangements.</a:t>
            </a:r>
          </a:p>
          <a:p xmlns:a="http://schemas.openxmlformats.org/drawingml/2006/main">
            <a:r>
              <a:t>Routes: Supported: choose a relevant permission request from two choices, then choose respectful actions for two different boundary stories, with reading or scribing support. Independent: compose a request for borrowing, sitting nearby or offering help, then record responses and reasons for two different boundary situations. Aspire: retain the request and two responses, explain an unclear reply and a changed mind, and show how the person can avoid pressure.</a:t>
            </a:r>
          </a:p>
          <a:p xmlns:a="http://schemas.openxmlformats.org/drawingml/2006/main">
            <a:r>
              <a:t>Evidence: A permission request and responses to two boundary situations, recorded in the learner’s chosen mode.</a:t>
            </a:r>
          </a:p>
          <a:p xmlns:a="http://schemas.openxmlformats.org/drawingml/2006/main">
            <a:r>
              <a:t>Careers: This helps me respect other people’s space, belongings and choices.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Two fictional unnamed young people sit apart at a table. One asks about borrowing a pencil; the other raises an open palm. The written story supplies the refusal. No names or brands.</a:t>
            </a:r>
          </a:p>
          <a:p xmlns:a="http://schemas.openxmlformats.org/drawingml/2006/main">
            <a:r>
              <a:t>Fact sources: source_notes/everyday_permission;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8b62f16afab40d8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d47fb4822be4cd9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6ffba831f504a14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eb884461e6f94807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e9addb19a8244bc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2c1d7183cd342f8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9ad08bc902a4a8c"/><Relationship Type="http://schemas.openxmlformats.org/officeDocument/2006/relationships/slideLayout" Target="/ppt/slideLayouts/slideLayout1.xml" Id="R44109b7912884722"/><Relationship Type="http://schemas.openxmlformats.org/officeDocument/2006/relationships/slideLayout" Target="/ppt/slideLayouts/slideLayout2.xml" Id="R6ef9caff73424c00"/><Relationship Type="http://schemas.openxmlformats.org/officeDocument/2006/relationships/slideLayout" Target="/ppt/slideLayouts/slideLayout3.xml" Id="R00802239d86e4839"/><Relationship Type="http://schemas.openxmlformats.org/officeDocument/2006/relationships/slideLayout" Target="/ppt/slideLayouts/slideLayout4.xml" Id="R1b3ee5621e4d41a5"/><Relationship Type="http://schemas.openxmlformats.org/officeDocument/2006/relationships/slideLayout" Target="/ppt/slideLayouts/slideLayout5.xml" Id="Rb20e419d63e34b6c"/><Relationship Type="http://schemas.openxmlformats.org/officeDocument/2006/relationships/slideLayout" Target="/ppt/slideLayouts/slideLayout6.xml" Id="Re737ada4b3474b4f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09b7912884722"/>
    <p:sldLayoutId xmlns:r="http://schemas.openxmlformats.org/officeDocument/2006/relationships" id="2147483650" r:id="R6ef9caff73424c00"/>
    <p:sldLayoutId xmlns:r="http://schemas.openxmlformats.org/officeDocument/2006/relationships" id="2147483651" r:id="R00802239d86e4839"/>
    <p:sldLayoutId xmlns:r="http://schemas.openxmlformats.org/officeDocument/2006/relationships" id="2147483652" r:id="R1b3ee5621e4d41a5"/>
    <p:sldLayoutId xmlns:r="http://schemas.openxmlformats.org/officeDocument/2006/relationships" id="2147483653" r:id="Rb20e419d63e34b6c"/>
    <p:sldLayoutId xmlns:r="http://schemas.openxmlformats.org/officeDocument/2006/relationships" id="2147483654" r:id="Re737ada4b3474b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55e22d00bca4f6f"/><Relationship Type="http://schemas.openxmlformats.org/officeDocument/2006/relationships/notesSlide" Target="/ppt/notesSlides/notesSlide1.xml" Id="R5d5ea3e652354080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dd67155c3924ec1"/><Relationship Type="http://schemas.openxmlformats.org/officeDocument/2006/relationships/notesSlide" Target="/ppt/notesSlides/notesSlide2.xml" Id="R6a0b906db0f0445c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ba4c0c6fd55464c"/><Relationship Type="http://schemas.openxmlformats.org/officeDocument/2006/relationships/image" Target="/ppt/media/image.jpeg" Id="R31c442ef611d462c"/><Relationship Type="http://schemas.openxmlformats.org/officeDocument/2006/relationships/notesSlide" Target="/ppt/notesSlides/notesSlide3.xml" Id="Rdd8fcdb40e22463d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f9e8adcd7d0484c"/><Relationship Type="http://schemas.openxmlformats.org/officeDocument/2006/relationships/notesSlide" Target="/ppt/notesSlides/notesSlide4.xml" Id="R2c7bb155679f4917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981badca0444e4b"/><Relationship Type="http://schemas.openxmlformats.org/officeDocument/2006/relationships/notesSlide" Target="/ppt/notesSlides/notesSlide5.xml" Id="Re0977495e6094d24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0af0388fca4e22"/><Relationship Type="http://schemas.openxmlformats.org/officeDocument/2006/relationships/notesSlide" Target="/ppt/notesSlides/notesSlide6.xml" Id="R0fb33bff6756403e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3436e612e1d4f02"/><Relationship Type="http://schemas.openxmlformats.org/officeDocument/2006/relationships/notesSlide" Target="/ppt/notesSlides/notesSlide7.xml" Id="Rbfee83c2959041d2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ad63d5f5fd49b4"/><Relationship Type="http://schemas.openxmlformats.org/officeDocument/2006/relationships/notesSlide" Target="/ppt/notesSlides/notesSlide8.xml" Id="Rf3060fb7d71e4fb8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5cf7f2ecb384e0b"/><Relationship Type="http://schemas.openxmlformats.org/officeDocument/2006/relationships/notesSlide" Target="/ppt/notesSlides/notesSlide9.xml" Id="R677204bb3fec4e1b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a4ccc7cdada472c"/><Relationship Type="http://schemas.openxmlformats.org/officeDocument/2006/relationships/notesSlide" Target="/ppt/notesSlides/notesSlide10.xml" Id="R70064ed642e0469e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fc827e178294e0c"/><Relationship Type="http://schemas.openxmlformats.org/officeDocument/2006/relationships/notesSlide" Target="/ppt/notesSlides/notesSlide11.xml" Id="R5248ed9595854f16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6cf6a98a30b4cdf"/><Relationship Type="http://schemas.openxmlformats.org/officeDocument/2006/relationships/notesSlide" Target="/ppt/notesSlides/notesSlide12.xml" Id="R7b9ae403b2824009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TITLE AND BIG QUESTION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Personal space and permission</a:t>
            </a:r>
          </a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Year A · Week 4 · 23–27 November 2026 · 40 minutes</a:t>
            </a:r>
          </a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teen wants a pen. They ask first. The peer says no. What next?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helps me respect other people’s space, belongings and choices.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Term theme: Identity &amp; Belonging</a:t>
            </a:r>
          </a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ARRIVAL AND REGULATION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2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calm start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These stories are all made up.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 one needs to share a real story.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ask for a pause.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use an aid.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pass on a question.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Each person can have time.</a:t>
            </a:r>
          </a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3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young person’s story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023C1-0160-462A-BB60-771F4F4D53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442ef611d462c"/>
          <a:stretch xmlns:a="http://schemas.openxmlformats.org/drawingml/2006/main"/>
        </p:blipFill>
        <p:spPr>
          <a:xfrm xmlns:a="http://schemas.openxmlformats.org/drawingml/2006/main">
            <a:off x="962025" y="1638300"/>
            <a:ext cx="563880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teen would like to use a pencil.</a:t>
            </a:r>
          </a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other teen says no in this story.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2900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should the first teen do next?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8625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gives the reply. A face is not proof.</a:t>
            </a:r>
          </a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how a teen can ask first and respect a reply.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a clear request for the teen.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Respond to two short stories.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Stop or wait if the reply is not clear.</a:t>
            </a:r>
          </a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5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helpful response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wants to borrow a pen.</a:t>
            </a:r>
          </a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They could ask to use it for the task.</a:t>
            </a:r>
          </a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other person says no.</a:t>
            </a:r>
          </a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young person leaves the pen alone.</a:t>
            </a:r>
          </a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They do not keep asking to wear the person down.</a:t>
            </a:r>
          </a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They can ask an adult for another pen.</a:t>
            </a:r>
          </a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Ask first. Wait for a clear reply. Respect the choice.</a:t>
            </a:r>
          </a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6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choice for the young person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person gives no clear reply. What should happen?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 Wait and check; do not take the item.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B  Take it, since no one said no.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  Keep asking until the answer changes.</a:t>
            </a:r>
          </a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PRACTICE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7 / 12  ·  12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task is about two made-up young people.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Supported: choose a request and two acts.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Independent: give a request and two reasons.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Aspire: explain an unsure or changed reply.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No, no clear reply, or stop means wait or stop.</a:t>
            </a:r>
          </a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EVIDENCE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8 / 12  ·  6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record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request for the made-up teen.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choices for two stories.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the next act for each reply.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the help and any change.</a:t>
            </a:r>
          </a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TIDY AND EVIDENCE CHECK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9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Tidy and check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work about the made-up person.</a:t>
            </a:r>
          </a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story and its response together.</a:t>
            </a:r>
          </a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the help and any change.</a:t>
            </a:r>
          </a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next step could help the person?</a:t>
            </a:r>
          </a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10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Exit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could the young person ask first?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should happen when the reply is no?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if the other person changes their mind?</a:t>
            </a:r>
          </a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Permission: A freely given yes to a clear request.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Space: Room around a person.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Ask: Use a question to find something out.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Reply: An answer in words, signs or an aid.</a:t>
            </a:r>
          </a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Unsure: Not yet sure about a choice.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Stop: End the action now.</a:t>
            </a:r>
          </a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Choice: An option a person can pick.</a:t>
            </a:r>
          </a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RSHE-BUILD-A2-W04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Read the planner and support route.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only fictional young people and settings.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Scribe exact words; record help.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learner’s own evidence.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Week 7 is the assessing lesson.</a:t>
            </a:r>
          </a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/>
  <dc:title>Personal space and permission</dc:title>
  <dcterms:created xsi:type="dcterms:W3CDTF">2026-10-26T13:16:47.9590000Z</dcterms:created>
  <dcterms:modified xsi:type="dcterms:W3CDTF">2026-10-26T13:16:47.9590000Z</dcterms:modified>
</coreProperties>
</file>