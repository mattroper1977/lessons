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e0616f7917e54148"/><Relationship Type="http://schemas.openxmlformats.org/officeDocument/2006/relationships/extended-properties" Target="/docProps/app.xml" Id="R3945491b65c745e8"/><Relationship Type="http://schemas.openxmlformats.org/officeDocument/2006/relationships/officeDocument" Target="/ppt/presentation.xml" Id="R2f3e6aefa2ab4bc1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da35a10b4345b7"/>
  </p:sldMasterIdLst>
  <p:notesMasterIdLst>
    <p:notesMasterId xmlns:r="http://schemas.openxmlformats.org/officeDocument/2006/relationships" r:id="Ra080dc1f6b7044a7"/>
  </p:notesMasterIdLst>
  <p:sldIdLst>
    <p:sldId xmlns:r="http://schemas.openxmlformats.org/officeDocument/2006/relationships" id="256" r:id="Re7482a75cefd45a7"/>
    <p:sldId xmlns:r="http://schemas.openxmlformats.org/officeDocument/2006/relationships" id="257" r:id="R8bc1b06c26c940c2"/>
    <p:sldId xmlns:r="http://schemas.openxmlformats.org/officeDocument/2006/relationships" id="258" r:id="Rbd8fe73b8b734899"/>
    <p:sldId xmlns:r="http://schemas.openxmlformats.org/officeDocument/2006/relationships" id="259" r:id="R45e774d3c8f64126"/>
    <p:sldId xmlns:r="http://schemas.openxmlformats.org/officeDocument/2006/relationships" id="260" r:id="Re35629f5e8b14331"/>
    <p:sldId xmlns:r="http://schemas.openxmlformats.org/officeDocument/2006/relationships" id="261" r:id="R8e636bad7e424b3e"/>
    <p:sldId xmlns:r="http://schemas.openxmlformats.org/officeDocument/2006/relationships" id="262" r:id="Rfae1ea82667b4ca7"/>
    <p:sldId xmlns:r="http://schemas.openxmlformats.org/officeDocument/2006/relationships" id="263" r:id="Rf1fefc051ee6452c"/>
    <p:sldId xmlns:r="http://schemas.openxmlformats.org/officeDocument/2006/relationships" id="264" r:id="R86d95abac859403b"/>
    <p:sldId xmlns:r="http://schemas.openxmlformats.org/officeDocument/2006/relationships" id="265" r:id="R8a03e61abca7493f"/>
    <p:sldId xmlns:r="http://schemas.openxmlformats.org/officeDocument/2006/relationships" id="266" r:id="R7dbf756e56b24455"/>
    <p:sldId xmlns:r="http://schemas.openxmlformats.org/officeDocument/2006/relationships" id="267" r:id="R5fade5a31eae46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b13c606457714a50"/><Relationship Type="http://schemas.openxmlformats.org/officeDocument/2006/relationships/slideMaster" Target="/ppt/slideMasters/slideMaster1.xml" Id="Rbfda35a10b4345b7"/><Relationship Type="http://schemas.openxmlformats.org/officeDocument/2006/relationships/notesMaster" Target="/ppt/notesMasters/notesMaster1.xml" Id="Ra080dc1f6b7044a7"/><Relationship Type="http://schemas.openxmlformats.org/officeDocument/2006/relationships/presProps" Target="/ppt/presProps.xml" Id="R82210dbafb6a45f6"/><Relationship Type="http://schemas.openxmlformats.org/officeDocument/2006/relationships/tableStyles" Target="/ppt/tableStyles.xml" Id="R4ad39a4cb4bd438b"/><Relationship Type="http://schemas.openxmlformats.org/officeDocument/2006/relationships/slide" Target="/ppt/slides/slide1.xml" Id="Re7482a75cefd45a7"/><Relationship Type="http://schemas.openxmlformats.org/officeDocument/2006/relationships/slide" Target="/ppt/slides/slide2.xml" Id="R8bc1b06c26c940c2"/><Relationship Type="http://schemas.openxmlformats.org/officeDocument/2006/relationships/slide" Target="/ppt/slides/slide3.xml" Id="Rbd8fe73b8b734899"/><Relationship Type="http://schemas.openxmlformats.org/officeDocument/2006/relationships/slide" Target="/ppt/slides/slide4.xml" Id="R45e774d3c8f64126"/><Relationship Type="http://schemas.openxmlformats.org/officeDocument/2006/relationships/slide" Target="/ppt/slides/slide5.xml" Id="Re35629f5e8b14331"/><Relationship Type="http://schemas.openxmlformats.org/officeDocument/2006/relationships/slide" Target="/ppt/slides/slide6.xml" Id="R8e636bad7e424b3e"/><Relationship Type="http://schemas.openxmlformats.org/officeDocument/2006/relationships/slide" Target="/ppt/slides/slide7.xml" Id="Rfae1ea82667b4ca7"/><Relationship Type="http://schemas.openxmlformats.org/officeDocument/2006/relationships/slide" Target="/ppt/slides/slide8.xml" Id="Rf1fefc051ee6452c"/><Relationship Type="http://schemas.openxmlformats.org/officeDocument/2006/relationships/slide" Target="/ppt/slides/slide9.xml" Id="R86d95abac859403b"/><Relationship Type="http://schemas.openxmlformats.org/officeDocument/2006/relationships/slide" Target="/ppt/slides/slide10.xml" Id="R8a03e61abca7493f"/><Relationship Type="http://schemas.openxmlformats.org/officeDocument/2006/relationships/slide" Target="/ppt/slides/slide11.xml" Id="R7dbf756e56b24455"/><Relationship Type="http://schemas.openxmlformats.org/officeDocument/2006/relationships/slide" Target="/ppt/slides/slide12.xml" Id="R5fade5a31eae46fa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aa2561ded4cc4b36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dbce0842090a472f"/><Relationship Type="http://schemas.openxmlformats.org/officeDocument/2006/relationships/notesMaster" Target="/ppt/notesMasters/notesMaster1.xml" Id="R7f2b3b0437c34d46"/></Relationships>
</file>

<file path=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/ppt/slides/slide2.xml" Id="Re6738fb4c6ff4561"/><Relationship Type="http://schemas.openxmlformats.org/officeDocument/2006/relationships/notesMaster" Target="/ppt/notesMasters/notesMaster1.xml" Id="Rb4aa0ab015694b42"/></Relationships>
</file>

<file path=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/ppt/slides/slide3.xml" Id="R52504d7f55ec4ec8"/><Relationship Type="http://schemas.openxmlformats.org/officeDocument/2006/relationships/notesMaster" Target="/ppt/notesMasters/notesMaster1.xml" Id="Rc468e0c8424f439c"/></Relationships>
</file>

<file path=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/ppt/slides/slide4.xml" Id="R5a8861c447254028"/><Relationship Type="http://schemas.openxmlformats.org/officeDocument/2006/relationships/notesMaster" Target="/ppt/notesMasters/notesMaster1.xml" Id="Re9a6ba48227b43cc"/></Relationships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a99d6ca758a04098"/><Relationship Type="http://schemas.openxmlformats.org/officeDocument/2006/relationships/notesMaster" Target="/ppt/notesMasters/notesMaster1.xml" Id="R234e15b932f04558"/></Relationships>
</file>

<file path=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/ppt/slides/slide6.xml" Id="R3b565b93b64b4395"/><Relationship Type="http://schemas.openxmlformats.org/officeDocument/2006/relationships/notesMaster" Target="/ppt/notesMasters/notesMaster1.xml" Id="R1ee3a043e13245db"/></Relationships>
</file>

<file path=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/ppt/slides/slide7.xml" Id="Raa3c1df8bd584882"/><Relationship Type="http://schemas.openxmlformats.org/officeDocument/2006/relationships/notesMaster" Target="/ppt/notesMasters/notesMaster1.xml" Id="R5a6b30ccde7845dc"/></Relationships>
</file>

<file path=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/ppt/slides/slide8.xml" Id="R034d5537b6ae4a9d"/><Relationship Type="http://schemas.openxmlformats.org/officeDocument/2006/relationships/notesMaster" Target="/ppt/notesMasters/notesMaster1.xml" Id="Rda6be8605b064957"/></Relationships>
</file>

<file path=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/ppt/slides/slide9.xml" Id="R860d080a85184a40"/><Relationship Type="http://schemas.openxmlformats.org/officeDocument/2006/relationships/notesMaster" Target="/ppt/notesMasters/notesMaster1.xml" Id="R8c9fa4ddeef44e59"/></Relationships>
</file>

<file path=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/ppt/slides/slide10.xml" Id="R645e3de479e343eb"/><Relationship Type="http://schemas.openxmlformats.org/officeDocument/2006/relationships/notesMaster" Target="/ppt/notesMasters/notesMaster1.xml" Id="R285ae738bd4a44e9"/></Relationships>
</file>

<file path=ppt/notesSlides/_rels/notesSlide11.xml.rels><?xml version='1.0' encoding='UTF-8' standalone='yes'?>
<Relationships xmlns="http://schemas.openxmlformats.org/package/2006/relationships"><Relationship Type="http://schemas.openxmlformats.org/officeDocument/2006/relationships/slide" Target="/ppt/slides/slide11.xml" Id="R5b305fc9609f4fac"/><Relationship Type="http://schemas.openxmlformats.org/officeDocument/2006/relationships/notesMaster" Target="/ppt/notesMasters/notesMaster1.xml" Id="R152cb8b9fc55404f"/></Relationships>
</file>

<file path=ppt/notesSlides/_rels/notesSlide12.xml.rels><?xml version='1.0' encoding='UTF-8' standalone='yes'?>
<Relationships xmlns="http://schemas.openxmlformats.org/package/2006/relationships"><Relationship Type="http://schemas.openxmlformats.org/officeDocument/2006/relationships/slide" Target="/ppt/slides/slide12.xml" Id="R9d8be3ad3a584a20"/><Relationship Type="http://schemas.openxmlformats.org/officeDocument/2006/relationships/notesMaster" Target="/ppt/notesMasters/notesMaster1.xml" Id="Rd4453afe4b6743c4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RSHE-BUILD-A2-W03 · Year A · Week beginning 16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Title and big question: 0 minutes.</a:t>
            </a:r>
          </a:p>
          <a:p xmlns:a="http://schemas.openxmlformats.org/drawingml/2006/main">
            <a:r>
              <a:t>Teacher: Read the big question and approved careers line as a statement, not an invitation to personal disclosure.</a:t>
            </a:r>
          </a:p>
          <a:p xmlns:a="http://schemas.openxmlformats.org/drawingml/2006/main">
            <a:r>
              <a:t>Routes: Supported: match one taught word using two choices, then choose a respectful action for two different privacy stories with reading or scribing support. Independent: identify the four taught words on the diagram and record two privacy decisions with reasons from the stories. Aspire: explain why seeking help does not break a privacy rule, and distinguish necessary care from a secret request; retain the core vocabulary response and two decisions.</a:t>
            </a:r>
          </a:p>
          <a:p xmlns:a="http://schemas.openxmlformats.org/drawingml/2006/main">
            <a:r>
              <a:t>Evidence: An individual vocabulary response and two privacy decisions, with support recorded.</a:t>
            </a:r>
          </a:p>
          <a:p xmlns:a="http://schemas.openxmlformats.org/drawingml/2006/main">
            <a:r>
              <a:t>Careers: This helps me respect privacy and dignity in shared spaces.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Simple labelled anatomical line drawings. Penis and scrotum are external; dotted testicles are inside the scrotum. A separate external vulva diagram is labelled. No real person, age or identity is depicted.</a:t>
            </a:r>
          </a:p>
          <a:p xmlns:a="http://schemas.openxmlformats.org/drawingml/2006/main">
            <a:r>
              <a:t>Fact sources: source_notes/body_words, source_notes/privacy_and_help;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RSHE-BUILD-A2-W03 · Year A · Week beginning 16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Arrival and regulation: 3 minutes.</a:t>
            </a:r>
          </a:p>
          <a:p xmlns:a="http://schemas.openxmlformats.org/drawingml/2006/main">
            <a:r>
              <a:t>Teacher: Read the fictional-case boundary. Offer a pass, quiet response and usual aid without asking why.</a:t>
            </a:r>
          </a:p>
          <a:p xmlns:a="http://schemas.openxmlformats.org/drawingml/2006/main">
            <a:r>
              <a:t>Routes: Supported: match one taught word using two choices, then choose a respectful action for two different privacy stories with reading or scribing support. Independent: identify the four taught words on the diagram and record two privacy decisions with reasons from the stories. Aspire: explain why seeking help does not break a privacy rule, and distinguish necessary care from a secret request; retain the core vocabulary response and two decisions.</a:t>
            </a:r>
          </a:p>
          <a:p xmlns:a="http://schemas.openxmlformats.org/drawingml/2006/main">
            <a:r>
              <a:t>Evidence: An individual vocabulary response and two privacy decisions, with support recorded.</a:t>
            </a:r>
          </a:p>
          <a:p xmlns:a="http://schemas.openxmlformats.org/drawingml/2006/main">
            <a:r>
              <a:t>Careers: This helps me respect privacy and dignity in shared spaces.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Simple labelled anatomical line drawings. Penis and scrotum are external; dotted testicles are inside the scrotum. A separate external vulva diagram is labelled. No real person, age or identity is depicted.</a:t>
            </a:r>
          </a:p>
          <a:p xmlns:a="http://schemas.openxmlformats.org/drawingml/2006/main">
            <a:r>
              <a:t>Fact sources: source_notes/body_words, source_notes/privacy_and_help;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RSHE-BUILD-A2-W03 · Year A · Week beginning 16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Starter: 3 minutes.</a:t>
            </a:r>
          </a:p>
          <a:p xmlns:a="http://schemas.openxmlformats.org/drawingml/2006/main">
            <a:r>
              <a:t>Teacher: Read the story before interpreting the image. Ask about the stated action or clue, never the learner’s own life.</a:t>
            </a:r>
          </a:p>
          <a:p xmlns:a="http://schemas.openxmlformats.org/drawingml/2006/main">
            <a:r>
              <a:t>Routes: Supported: match one taught word using two choices, then choose a respectful action for two different privacy stories with reading or scribing support. Independent: identify the four taught words on the diagram and record two privacy decisions with reasons from the stories. Aspire: explain why seeking help does not break a privacy rule, and distinguish necessary care from a secret request; retain the core vocabulary response and two decisions.</a:t>
            </a:r>
          </a:p>
          <a:p xmlns:a="http://schemas.openxmlformats.org/drawingml/2006/main">
            <a:r>
              <a:t>Evidence: An individual vocabulary response and two privacy decisions, with support recorded.</a:t>
            </a:r>
          </a:p>
          <a:p xmlns:a="http://schemas.openxmlformats.org/drawingml/2006/main">
            <a:r>
              <a:t>Careers: This helps me respect privacy and dignity in shared spaces.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Simple labelled anatomical line drawings. Penis and scrotum are external; dotted testicles are inside the scrotum. A separate external vulva diagram is labelled. No real person, age or identity is depicted.</a:t>
            </a:r>
          </a:p>
          <a:p xmlns:a="http://schemas.openxmlformats.org/drawingml/2006/main">
            <a:r>
              <a:t>Fact sources: source_notes/body_words, source_notes/privacy_and_help;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RSHE-BUILD-A2-W03 · Year A · Week beginning 16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Today: 0 minutes.</a:t>
            </a:r>
          </a:p>
          <a:p xmlns:a="http://schemas.openxmlformats.org/drawingml/2006/main">
            <a:r>
              <a:t>Teacher: Read the accessible objective and checks. Keep the exact approved objective in the Planner.</a:t>
            </a:r>
          </a:p>
          <a:p xmlns:a="http://schemas.openxmlformats.org/drawingml/2006/main">
            <a:r>
              <a:t>Routes: Supported: match one taught word using two choices, then choose a respectful action for two different privacy stories with reading or scribing support. Independent: identify the four taught words on the diagram and record two privacy decisions with reasons from the stories. Aspire: explain why seeking help does not break a privacy rule, and distinguish necessary care from a secret request; retain the core vocabulary response and two decisions.</a:t>
            </a:r>
          </a:p>
          <a:p xmlns:a="http://schemas.openxmlformats.org/drawingml/2006/main">
            <a:r>
              <a:t>Evidence: An individual vocabulary response and two privacy decisions, with support recorded.</a:t>
            </a:r>
          </a:p>
          <a:p xmlns:a="http://schemas.openxmlformats.org/drawingml/2006/main">
            <a:r>
              <a:t>Careers: This helps me respect privacy and dignity in shared spaces.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Simple labelled anatomical line drawings. Penis and scrotum are external; dotted testicles are inside the scrotum. A separate external vulva diagram is labelled. No real person, age or identity is depicted.</a:t>
            </a:r>
          </a:p>
          <a:p xmlns:a="http://schemas.openxmlformats.org/drawingml/2006/main">
            <a:r>
              <a:t>Fact sources: source_notes/body_words, source_notes/privacy_and_help;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RSHE-BUILD-A2-W03 · Year A · Week beginning 16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I Do: 5 minutes.</a:t>
            </a:r>
          </a:p>
          <a:p xmlns:a="http://schemas.openxmlformats.org/drawingml/2006/main">
            <a:r>
              <a:t>Teacher: Model only the fictional case using a separate set. The adult model is not learner evidence.</a:t>
            </a:r>
          </a:p>
          <a:p xmlns:a="http://schemas.openxmlformats.org/drawingml/2006/main">
            <a:r>
              <a:t>Routes: Supported: match one taught word using two choices, then choose a respectful action for two different privacy stories with reading or scribing support. Independent: identify the four taught words on the diagram and record two privacy decisions with reasons from the stories. Aspire: explain why seeking help does not break a privacy rule, and distinguish necessary care from a secret request; retain the core vocabulary response and two decisions.</a:t>
            </a:r>
          </a:p>
          <a:p xmlns:a="http://schemas.openxmlformats.org/drawingml/2006/main">
            <a:r>
              <a:t>Evidence: An individual vocabulary response and two privacy decisions, with support recorded.</a:t>
            </a:r>
          </a:p>
          <a:p xmlns:a="http://schemas.openxmlformats.org/drawingml/2006/main">
            <a:r>
              <a:t>Careers: This helps me respect privacy and dignity in shared spaces.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Simple labelled anatomical line drawings. Penis and scrotum are external; dotted testicles are inside the scrotum. A separate external vulva diagram is labelled. No real person, age or identity is depicted.</a:t>
            </a:r>
          </a:p>
          <a:p xmlns:a="http://schemas.openxmlformats.org/drawingml/2006/main">
            <a:r>
              <a:t>Fact sources: source_notes/body_words, source_notes/privacy_and_help;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RSHE-BUILD-A2-W03 · Year A · Week beginning 16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We Do: 5 minutes.</a:t>
            </a:r>
          </a:p>
          <a:p xmlns:a="http://schemas.openxmlformats.org/drawingml/2006/main">
            <a:r>
              <a:t>Teacher: A respects privacy in this fictional situation. B and C do not. Privacy protects dignity; it must never mean keeping a worry or harmful act secret. Reteach with the closed-door story and the help-seeking story. In urgent care or danger, staff follow the setting’s agreed procedure, explain what is happening and protect dignity as far as possible.</a:t>
            </a:r>
          </a:p>
          <a:p xmlns:a="http://schemas.openxmlformats.org/drawingml/2006/main">
            <a:r>
              <a:t>Routes: Supported: match one taught word using two choices, then choose a respectful action for two different privacy stories with reading or scribing support. Independent: identify the four taught words on the diagram and record two privacy decisions with reasons from the stories. Aspire: explain why seeking help does not break a privacy rule, and distinguish necessary care from a secret request; retain the core vocabulary response and two decisions.</a:t>
            </a:r>
          </a:p>
          <a:p xmlns:a="http://schemas.openxmlformats.org/drawingml/2006/main">
            <a:r>
              <a:t>Evidence: An individual vocabulary response and two privacy decisions, with support recorded.</a:t>
            </a:r>
          </a:p>
          <a:p xmlns:a="http://schemas.openxmlformats.org/drawingml/2006/main">
            <a:r>
              <a:t>Careers: This helps me respect privacy and dignity in shared spaces.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Simple labelled anatomical line drawings. Penis and scrotum are external; dotted testicles are inside the scrotum. A separate external vulva diagram is labelled. No real person, age or identity is depicted.</a:t>
            </a:r>
          </a:p>
          <a:p xmlns:a="http://schemas.openxmlformats.org/drawingml/2006/main">
            <a:r>
              <a:t>Fact sources: source_notes/body_words, source_notes/privacy_and_help;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RSHE-BUILD-A2-W03 · Year A · Week beginning 16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You Do practice: 12 minutes.</a:t>
            </a:r>
          </a:p>
          <a:p xmlns:a="http://schemas.openxmlformats.org/drawingml/2006/main">
            <a:r>
              <a:t>Teacher: Use four minutes to match or identify taught words on the supplied diagram. Use five minutes to sort fictional privacy situations and record decisions for two different cards, normally A and B. Use three minutes to consider C or D and name a help route. Preserve the first response, prompts and any change. A learner may pass; record the gap and offer a supported follow-up.</a:t>
            </a:r>
          </a:p>
          <a:p xmlns:a="http://schemas.openxmlformats.org/drawingml/2006/main">
            <a:r>
              <a:t>Routes: Supported: match one taught word using two choices, then choose a respectful action for two different privacy stories with reading or scribing support. Independent: identify the four taught words on the diagram and record two privacy decisions with reasons from the stories. Aspire: explain why seeking help does not break a privacy rule, and distinguish necessary care from a secret request; retain the core vocabulary response and two decisions.</a:t>
            </a:r>
          </a:p>
          <a:p xmlns:a="http://schemas.openxmlformats.org/drawingml/2006/main">
            <a:r>
              <a:t>Evidence: An individual vocabulary response and two privacy decisions, with support recorded.</a:t>
            </a:r>
          </a:p>
          <a:p xmlns:a="http://schemas.openxmlformats.org/drawingml/2006/main">
            <a:r>
              <a:t>Careers: This helps me respect privacy and dignity in shared spaces.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Simple labelled anatomical line drawings. Penis and scrotum are external; dotted testicles are inside the scrotum. A separate external vulva diagram is labelled. No real person, age or identity is depicted.</a:t>
            </a:r>
          </a:p>
          <a:p xmlns:a="http://schemas.openxmlformats.org/drawingml/2006/main">
            <a:r>
              <a:t>Fact sources: source_notes/body_words, source_notes/privacy_and_help;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RSHE-BUILD-A2-W03 · Year A · Week beginning 16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You Do evidence: 6 minutes.</a:t>
            </a:r>
          </a:p>
          <a:p xmlns:a="http://schemas.openxmlformats.org/drawingml/2006/main">
            <a:r>
              <a:t>Teacher: Record the actual case response, explanation and support. Do not infer understanding from a group answer.</a:t>
            </a:r>
          </a:p>
          <a:p xmlns:a="http://schemas.openxmlformats.org/drawingml/2006/main">
            <a:r>
              <a:t>Routes: Supported: match one taught word using two choices, then choose a respectful action for two different privacy stories with reading or scribing support. Independent: identify the four taught words on the diagram and record two privacy decisions with reasons from the stories. Aspire: explain why seeking help does not break a privacy rule, and distinguish necessary care from a secret request; retain the core vocabulary response and two decisions.</a:t>
            </a:r>
          </a:p>
          <a:p xmlns:a="http://schemas.openxmlformats.org/drawingml/2006/main">
            <a:r>
              <a:t>Evidence: An individual vocabulary response and two privacy decisions, with support recorded.</a:t>
            </a:r>
          </a:p>
          <a:p xmlns:a="http://schemas.openxmlformats.org/drawingml/2006/main">
            <a:r>
              <a:t>Careers: This helps me respect privacy and dignity in shared spaces.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Simple labelled anatomical line drawings. Penis and scrotum are external; dotted testicles are inside the scrotum. A separate external vulva diagram is labelled. No real person, age or identity is depicted.</a:t>
            </a:r>
          </a:p>
          <a:p xmlns:a="http://schemas.openxmlformats.org/drawingml/2006/main">
            <a:r>
              <a:t>Fact sources: source_notes/body_words, source_notes/privacy_and_help;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RSHE-BUILD-A2-W03 · Year A · Week beginning 16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Tidy and evidence check: 4 minutes.</a:t>
            </a:r>
          </a:p>
          <a:p xmlns:a="http://schemas.openxmlformats.org/drawingml/2006/main">
            <a:r>
              <a:t>Teacher: Check the case references and learner ID. Keep prompts and changed responses distinct.</a:t>
            </a:r>
          </a:p>
          <a:p xmlns:a="http://schemas.openxmlformats.org/drawingml/2006/main">
            <a:r>
              <a:t>Routes: Supported: match one taught word using two choices, then choose a respectful action for two different privacy stories with reading or scribing support. Independent: identify the four taught words on the diagram and record two privacy decisions with reasons from the stories. Aspire: explain why seeking help does not break a privacy rule, and distinguish necessary care from a secret request; retain the core vocabulary response and two decisions.</a:t>
            </a:r>
          </a:p>
          <a:p xmlns:a="http://schemas.openxmlformats.org/drawingml/2006/main">
            <a:r>
              <a:t>Evidence: An individual vocabulary response and two privacy decisions, with support recorded.</a:t>
            </a:r>
          </a:p>
          <a:p xmlns:a="http://schemas.openxmlformats.org/drawingml/2006/main">
            <a:r>
              <a:t>Careers: This helps me respect privacy and dignity in shared spaces.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Simple labelled anatomical line drawings. Penis and scrotum are external; dotted testicles are inside the scrotum. A separate external vulva diagram is labelled. No real person, age or identity is depicted.</a:t>
            </a:r>
          </a:p>
          <a:p xmlns:a="http://schemas.openxmlformats.org/drawingml/2006/main">
            <a:r>
              <a:t>Fact sources: source_notes/body_words, source_notes/privacy_and_help;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RSHE-BUILD-A2-W03 · Year A · Week beginning 16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Exit ticket: 2 minutes.</a:t>
            </a:r>
          </a:p>
          <a:p xmlns:a="http://schemas.openxmlformats.org/drawingml/2006/main">
            <a:r>
              <a:t>Teacher: Use the three questions about the fictional young person. Agree a next teaching step.</a:t>
            </a:r>
          </a:p>
          <a:p xmlns:a="http://schemas.openxmlformats.org/drawingml/2006/main">
            <a:r>
              <a:t>Routes: Supported: match one taught word using two choices, then choose a respectful action for two different privacy stories with reading or scribing support. Independent: identify the four taught words on the diagram and record two privacy decisions with reasons from the stories. Aspire: explain why seeking help does not break a privacy rule, and distinguish necessary care from a secret request; retain the core vocabulary response and two decisions.</a:t>
            </a:r>
          </a:p>
          <a:p xmlns:a="http://schemas.openxmlformats.org/drawingml/2006/main">
            <a:r>
              <a:t>Evidence: An individual vocabulary response and two privacy decisions, with support recorded.</a:t>
            </a:r>
          </a:p>
          <a:p xmlns:a="http://schemas.openxmlformats.org/drawingml/2006/main">
            <a:r>
              <a:t>Careers: This helps me respect privacy and dignity in shared spaces.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Simple labelled anatomical line drawings. Penis and scrotum are external; dotted testicles are inside the scrotum. A separate external vulva diagram is labelled. No real person, age or identity is depicted.</a:t>
            </a:r>
          </a:p>
          <a:p xmlns:a="http://schemas.openxmlformats.org/drawingml/2006/main">
            <a:r>
              <a:t>Fact sources: source_notes/body_words, source_notes/privacy_and_help;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RSHE-BUILD-A2-W03 · Year A · Week beginning 16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Vocabulary: 0 minutes.</a:t>
            </a:r>
          </a:p>
          <a:p xmlns:a="http://schemas.openxmlformats.org/drawingml/2006/main">
            <a:r>
              <a:t>Teacher: Explain each word through the supplied fictional story. No personal examples or body checks.</a:t>
            </a:r>
          </a:p>
          <a:p xmlns:a="http://schemas.openxmlformats.org/drawingml/2006/main">
            <a:r>
              <a:t>Routes: Supported: match one taught word using two choices, then choose a respectful action for two different privacy stories with reading or scribing support. Independent: identify the four taught words on the diagram and record two privacy decisions with reasons from the stories. Aspire: explain why seeking help does not break a privacy rule, and distinguish necessary care from a secret request; retain the core vocabulary response and two decisions.</a:t>
            </a:r>
          </a:p>
          <a:p xmlns:a="http://schemas.openxmlformats.org/drawingml/2006/main">
            <a:r>
              <a:t>Evidence: An individual vocabulary response and two privacy decisions, with support recorded.</a:t>
            </a:r>
          </a:p>
          <a:p xmlns:a="http://schemas.openxmlformats.org/drawingml/2006/main">
            <a:r>
              <a:t>Careers: This helps me respect privacy and dignity in shared spaces.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Simple labelled anatomical line drawings. Penis and scrotum are external; dotted testicles are inside the scrotum. A separate external vulva diagram is labelled. No real person, age or identity is depicted.</a:t>
            </a:r>
          </a:p>
          <a:p xmlns:a="http://schemas.openxmlformats.org/drawingml/2006/main">
            <a:r>
              <a:t>Fact sources: source_notes/body_words, source_notes/privacy_and_help;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RSHE-BUILD-A2-W03 · Year A · Week beginning 16 November 2026</a:t>
            </a:r>
          </a:p>
          <a:p xmlns:a="http://schemas.openxmlformats.org/drawingml/2006/main">
            <a:r>
              <a:t>Term theme: Identity &amp; Belonging</a:t>
            </a:r>
          </a:p>
          <a:p xmlns:a="http://schemas.openxmlformats.org/drawingml/2006/main">
            <a:r>
              <a:t>Thread tags: SMSC S/M/So (C: none); British Values IL/MR (D/RL/T: none).</a:t>
            </a:r>
          </a:p>
          <a:p xmlns:a="http://schemas.openxmlformats.org/drawingml/2006/main">
            <a:r>
              <a:t>Staff brief: 0 minutes.</a:t>
            </a:r>
          </a:p>
          <a:p xmlns:a="http://schemas.openxmlformats.org/drawingml/2006/main">
            <a:r>
              <a:t>Teacher: All teaching prompts concern fictional young people. Never ask about a learner’s own body, family or experiences. Use only the supplied diagrams and stories. No body checking, touching, removing clothes, photographs, real-life comparisons or personal role-play. An adult may read both parts of a fictional exchange; learners can choose or describe a response. Respect a pass, pause or quiet response without asking why. Follow the setting’s safeguarding procedure if a personal concern arises; do not turn a disclosure into lesson evidence. Use the agreed support and care arrangements.</a:t>
            </a:r>
          </a:p>
          <a:p xmlns:a="http://schemas.openxmlformats.org/drawingml/2006/main">
            <a:r>
              <a:t>Routes: Supported: match one taught word using two choices, then choose a respectful action for two different privacy stories with reading or scribing support. Independent: identify the four taught words on the diagram and record two privacy decisions with reasons from the stories. Aspire: explain why seeking help does not break a privacy rule, and distinguish necessary care from a secret request; retain the core vocabulary response and two decisions.</a:t>
            </a:r>
          </a:p>
          <a:p xmlns:a="http://schemas.openxmlformats.org/drawingml/2006/main">
            <a:r>
              <a:t>Evidence: An individual vocabulary response and two privacy decisions, with support recorded.</a:t>
            </a:r>
          </a:p>
          <a:p xmlns:a="http://schemas.openxmlformats.org/drawingml/2006/main">
            <a:r>
              <a:t>Careers: This helps me respect privacy and dignity in shared spaces.</a:t>
            </a:r>
          </a:p>
          <a:p xmlns:a="http://schemas.openxmlformats.org/drawingml/2006/main">
            <a:r>
              <a:t>Source: owner_orders/BUILD_RSHE_Autumn2_YearA_outline; revision approved-2026-10-26.</a:t>
            </a:r>
          </a:p>
          <a:p xmlns:a="http://schemas.openxmlformats.org/drawingml/2006/main">
            <a:r>
              <a:t>Visual: Simple labelled anatomical line drawings. Penis and scrotum are external; dotted testicles are inside the scrotum. A separate external vulva diagram is labelled. No real person, age or identity is depicted.</a:t>
            </a:r>
          </a:p>
          <a:p xmlns:a="http://schemas.openxmlformats.org/drawingml/2006/main">
            <a:r>
              <a:t>Fact sources: source_notes/body_words, source_notes/privacy_and_help; revision checked-2026-10-26.</a:t>
            </a:r>
          </a:p>
          <a:p xmlns:a="http://schemas.openxmlformats.org/drawingml/2006/main">
            <a:r>
              <a:t>Week 7 is the assessing lesson.</a:t>
            </a:r>
          </a:p>
          <a:p xmlns:a="http://schemas.openxmlformats.org/drawingml/2006/main">
            <a:r>
              <a:t>Sources and limits: FACTS_LEDGER.md</a:t>
            </a:r>
          </a:p>
          <a:p xmlns:a="http://schemas.openxmlformats.org/drawingml/2006/main">
            <a:r>
              <a:t>Lesson resource · CC BY-NC-SA 4.0: free for classroom use, share and adapt with credit, no resale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bd5fcbdb017a4ee2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c1b5d77c18504275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df40a66c6ad475a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f7d2e7b5957c401e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887d94af89bd47b5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4a92bd14b604e7d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97F803-DEEC-43CA-A5E2-5BC22B8B98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F6CE16B-3214-426C-9E08-EEDDFC8B69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A1369-C2BF-482F-AFB7-6600F6B209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B8F1F-0C21-4D89-9AA0-7FC120957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0A3C49-7B2D-4FF2-BFD5-2E8F3F3FD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19B6FF-36F5-4292-9FAB-D404CD0E3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0CC938-0B77-488A-B095-995EDA0A30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832CFE4-C8A9-4518-9235-758C4667C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56DCB1-8188-4B3A-9144-B492CA0B55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323B529-5BDC-4D03-A6E7-0375064ADE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08f73bffb6b647ad"/><Relationship Type="http://schemas.openxmlformats.org/officeDocument/2006/relationships/slideLayout" Target="/ppt/slideLayouts/slideLayout1.xml" Id="R7e5dd1f98536465a"/><Relationship Type="http://schemas.openxmlformats.org/officeDocument/2006/relationships/slideLayout" Target="/ppt/slideLayouts/slideLayout2.xml" Id="R153c1798f88b4264"/><Relationship Type="http://schemas.openxmlformats.org/officeDocument/2006/relationships/slideLayout" Target="/ppt/slideLayouts/slideLayout3.xml" Id="R6cb09bd5ba434b37"/><Relationship Type="http://schemas.openxmlformats.org/officeDocument/2006/relationships/slideLayout" Target="/ppt/slideLayouts/slideLayout4.xml" Id="Rdd4710a98b3645fa"/><Relationship Type="http://schemas.openxmlformats.org/officeDocument/2006/relationships/slideLayout" Target="/ppt/slideLayouts/slideLayout5.xml" Id="R4f91ab3363f647a9"/><Relationship Type="http://schemas.openxmlformats.org/officeDocument/2006/relationships/slideLayout" Target="/ppt/slideLayouts/slideLayout6.xml" Id="R5d3f5ae600ee4688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5dd1f98536465a"/>
    <p:sldLayoutId xmlns:r="http://schemas.openxmlformats.org/officeDocument/2006/relationships" id="2147483650" r:id="R153c1798f88b4264"/>
    <p:sldLayoutId xmlns:r="http://schemas.openxmlformats.org/officeDocument/2006/relationships" id="2147483651" r:id="R6cb09bd5ba434b37"/>
    <p:sldLayoutId xmlns:r="http://schemas.openxmlformats.org/officeDocument/2006/relationships" id="2147483652" r:id="Rdd4710a98b3645fa"/>
    <p:sldLayoutId xmlns:r="http://schemas.openxmlformats.org/officeDocument/2006/relationships" id="2147483653" r:id="R4f91ab3363f647a9"/>
    <p:sldLayoutId xmlns:r="http://schemas.openxmlformats.org/officeDocument/2006/relationships" id="2147483654" r:id="R5d3f5ae600ee46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312a459af6a4356"/><Relationship Type="http://schemas.openxmlformats.org/officeDocument/2006/relationships/notesSlide" Target="/ppt/notesSlides/notesSlide1.xml" Id="R24898edfdf354edc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d4d058965c049d8"/><Relationship Type="http://schemas.openxmlformats.org/officeDocument/2006/relationships/notesSlide" Target="/ppt/notesSlides/notesSlide2.xml" Id="Ra873c764ee124499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73ac45bce014c75"/><Relationship Type="http://schemas.openxmlformats.org/officeDocument/2006/relationships/image" Target="/ppt/media/image.png" Id="R6be0015c18dd4762"/><Relationship Type="http://schemas.openxmlformats.org/officeDocument/2006/relationships/notesSlide" Target="/ppt/notesSlides/notesSlide3.xml" Id="R1c8cd785a8554026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91dd8fe1e6a4855"/><Relationship Type="http://schemas.openxmlformats.org/officeDocument/2006/relationships/notesSlide" Target="/ppt/notesSlides/notesSlide4.xml" Id="R17ba3f036557485f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4439520455e45ae"/><Relationship Type="http://schemas.openxmlformats.org/officeDocument/2006/relationships/notesSlide" Target="/ppt/notesSlides/notesSlide5.xml" Id="Rc345d70d4076405c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fa9d81fb9324eaa"/><Relationship Type="http://schemas.openxmlformats.org/officeDocument/2006/relationships/notesSlide" Target="/ppt/notesSlides/notesSlide6.xml" Id="R5f7b0f821a044406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031e0fb8b234605"/><Relationship Type="http://schemas.openxmlformats.org/officeDocument/2006/relationships/notesSlide" Target="/ppt/notesSlides/notesSlide7.xml" Id="R64ace118edf84b33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cc0501589b64725"/><Relationship Type="http://schemas.openxmlformats.org/officeDocument/2006/relationships/notesSlide" Target="/ppt/notesSlides/notesSlide8.xml" Id="R68ce75089d6c482b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254aca9f42d4783"/><Relationship Type="http://schemas.openxmlformats.org/officeDocument/2006/relationships/notesSlide" Target="/ppt/notesSlides/notesSlide9.xml" Id="R0b6a3082170f4578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ffe5e5a39c841d2"/><Relationship Type="http://schemas.openxmlformats.org/officeDocument/2006/relationships/notesSlide" Target="/ppt/notesSlides/notesSlide10.xml" Id="Rce69c1ac4bff4181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1f8288d8ee3491b"/><Relationship Type="http://schemas.openxmlformats.org/officeDocument/2006/relationships/notesSlide" Target="/ppt/notesSlides/notesSlide11.xml" Id="Rca5f983cc13044cc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15675334f5541be"/><Relationship Type="http://schemas.openxmlformats.org/officeDocument/2006/relationships/notesSlide" Target="/ppt/notesSlides/notesSlide12.xml" Id="Rc3154c9cffb940de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ide-rule">
            <a:extLst xmlns:a="http://schemas.openxmlformats.org/drawingml/2006/main">
              <a:ext uri="{FF2B5EF4-FFF2-40B4-BE49-F238E27FC236}">
                <a16:creationId xmlns:a16="http://schemas.microsoft.com/office/drawing/2014/main" id="{21FA00E8-6C9D-4555-9239-D720E2F9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00A5EBA-9C7A-4929-AF50-65DE54E7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TITLE AND BIG QUESTION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5553090-10DF-4876-B620-4580F7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 / 12</a:t>
            </a:r>
          </a:p>
        </p:txBody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95CCE6A2-A359-43CF-A30F-F808B595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0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4200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My body and privacy</a:t>
            </a:r>
          </a:p>
        </p:txBody>
      </p:sp>
      <p:sp>
        <p:nvSpPr>
          <p:cNvPr id="5" name="lesson-subtitle">
            <a:extLst xmlns:a="http://schemas.openxmlformats.org/drawingml/2006/main">
              <a:ext uri="{FF2B5EF4-FFF2-40B4-BE49-F238E27FC236}">
                <a16:creationId xmlns:a16="http://schemas.microsoft.com/office/drawing/2014/main" id="{27188317-831F-4A26-ABD0-28EBF336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71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Year A · Week 3 · 16–20 November 2026 · 40 minutes</a:t>
            </a:r>
          </a:p>
        </p:txBody>
      </p:sp>
      <p:sp>
        <p:nvSpPr>
          <p:cNvPr id="8" name="printed-id">
            <a:extLst xmlns:a="http://schemas.openxmlformats.org/drawingml/2006/main">
              <a:ext uri="{FF2B5EF4-FFF2-40B4-BE49-F238E27FC236}">
                <a16:creationId xmlns:a16="http://schemas.microsoft.com/office/drawing/2014/main" id="{D1DE9CD0-0274-4F6F-865F-DD0F553D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RSHE-BUILD-A2-W03</a:t>
            </a:r>
          </a:p>
        </p:txBody>
      </p:sp>
      <p:sp>
        <p:nvSpPr>
          <p:cNvPr id="9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DB788D1-307B-450E-8E75-3DE957B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0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FFACCED-9803-4150-B478-B2D5E21D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2" name="body-0">
            <a:extLst xmlns:a="http://schemas.openxmlformats.org/drawingml/2006/main">
              <a:ext uri="{FF2B5EF4-FFF2-40B4-BE49-F238E27FC236}">
                <a16:creationId xmlns:a16="http://schemas.microsoft.com/office/drawing/2014/main" id="{4179850A-9B57-4A81-B9D3-E88349FC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teen must change. The door is shut. A peer waits. Is this fair?</a:t>
            </a:r>
          </a:p>
        </p:txBody>
      </p:sp>
      <p:sp>
        <p:nvSpPr>
          <p:cNvPr id="13" name="body-1">
            <a:extLst xmlns:a="http://schemas.openxmlformats.org/drawingml/2006/main">
              <a:ext uri="{FF2B5EF4-FFF2-40B4-BE49-F238E27FC236}">
                <a16:creationId xmlns:a16="http://schemas.microsoft.com/office/drawing/2014/main" id="{B3B79DBF-9AF8-427F-9EF2-D9D9BA7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481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helps me respect privacy and dignity in shared spaces.</a:t>
            </a:r>
          </a:p>
        </p:txBody>
      </p:sp>
      <p:sp>
        <p:nvSpPr>
          <p:cNvPr id="14" name="body-2">
            <a:extLst xmlns:a="http://schemas.openxmlformats.org/drawingml/2006/main">
              <a:ext uri="{FF2B5EF4-FFF2-40B4-BE49-F238E27FC236}">
                <a16:creationId xmlns:a16="http://schemas.microsoft.com/office/drawing/2014/main" id="{6137EF2D-887A-4596-9565-C0303116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48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Term theme: Identity &amp; Belonging</a:t>
            </a:r>
          </a:p>
        </p:txBody>
      </p:sp>
    </p:spTree>
    <p:extLst>
      <p:ext uri="{BB962C8B-B14F-4D97-AF65-F5344CB8AC3E}">
        <p14:creationId xmlns:p14="http://schemas.microsoft.com/office/powerpoint/2010/main" val="20889504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4FD94499-3EA1-421F-BBBF-AAAEC9FC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38B1A31-272E-4B53-A986-999EB0AE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ARRIVAL AND REGULATION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1FC1CA-AC2B-48A1-B1E2-5C96A8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2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F2732D-8D8A-4A14-B7EC-4427BF8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calm start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B5AC7B-925A-427E-B6D5-FF7155B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95424F63-FAC6-49BB-A26B-FF4C752F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RSHE-BUILD-A2-W03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2CC72B9C-1296-4C4A-886A-5E292D7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E89A079-9FE1-4E2E-A35B-157CE58B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5EC01B38-2E63-4243-9769-79C2B925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These stories are all made up.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F28DA917-CB7A-4C83-99B1-B17867E5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No one needs to share a real story.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7B45F856-07DA-4CDC-9EDC-8416662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ask for a pause.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B8616F4F-E875-4A93-9A52-ADD9BB19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use an aid.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CD67554F-3D83-433B-84B1-03812733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pass on a question.</a:t>
            </a:r>
          </a:p>
        </p:txBody>
      </p:sp>
      <p:sp>
        <p:nvSpPr>
          <p:cNvPr id="20" name="body-5">
            <a:extLst xmlns:a="http://schemas.openxmlformats.org/drawingml/2006/main">
              <a:ext uri="{FF2B5EF4-FFF2-40B4-BE49-F238E27FC236}">
                <a16:creationId xmlns:a16="http://schemas.microsoft.com/office/drawing/2014/main" id="{60C96764-4A82-4924-8CFD-49EE15FA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1918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Each person can have time.</a:t>
            </a:r>
          </a:p>
        </p:txBody>
      </p:sp>
    </p:spTree>
    <p:extLst>
      <p:ext uri="{BB962C8B-B14F-4D97-AF65-F5344CB8AC3E}">
        <p14:creationId xmlns:p14="http://schemas.microsoft.com/office/powerpoint/2010/main" val="1369188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2CA9BFC-91D6-4E1F-A868-FA6417B8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184B3EE-1B83-4D3F-A35F-80E82823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897C6A8C-70A1-47AD-A2FE-4C00764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3 / 12  ·  3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C5F347-218C-4DE9-8526-D8AC9747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Body words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64A5958-580E-4CAC-B2D5-2942577B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331A60C7-DF6A-4D09-8443-EAE2885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RSHE-BUILD-A2-W03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E9C4646B-A2DB-47CD-9B88-8366B530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34D29D3-4466-4904-88F0-BAEAD505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C5BC14-42F3-47AA-8A0D-E7F07DD171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e0015c18dd4762"/>
          <a:stretch xmlns:a="http://schemas.openxmlformats.org/drawingml/2006/main"/>
        </p:blipFill>
        <p:spPr>
          <a:xfrm xmlns:a="http://schemas.openxmlformats.org/drawingml/2006/main">
            <a:off x="962025" y="1638300"/>
            <a:ext cx="5638800" cy="4229100"/>
          </a:xfrm>
          <a:prstGeom xmlns:a="http://schemas.openxmlformats.org/drawingml/2006/main" prst="rect">
            <a:avLst/>
          </a:prstGeom>
        </p:spPr>
      </p:pic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57DE7B14-03C6-44A4-ADEF-A389F9D6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714500"/>
            <a:ext cx="4200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These are body diagrams, not real people.</a:t>
            </a:r>
          </a:p>
        </p:txBody>
      </p:sp>
      <p:sp>
        <p:nvSpPr>
          <p:cNvPr id="20" name="body-1">
            <a:extLst xmlns:a="http://schemas.openxmlformats.org/drawingml/2006/main">
              <a:ext uri="{FF2B5EF4-FFF2-40B4-BE49-F238E27FC236}">
                <a16:creationId xmlns:a16="http://schemas.microsoft.com/office/drawing/2014/main" id="{6C49FD1E-082C-46ED-BD65-5869357F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71750"/>
            <a:ext cx="4200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labels give names for body parts.</a:t>
            </a:r>
          </a:p>
        </p:txBody>
      </p:sp>
      <p:sp>
        <p:nvSpPr>
          <p:cNvPr id="21" name="body-2">
            <a:extLst xmlns:a="http://schemas.openxmlformats.org/drawingml/2006/main">
              <a:ext uri="{FF2B5EF4-FFF2-40B4-BE49-F238E27FC236}">
                <a16:creationId xmlns:a16="http://schemas.microsoft.com/office/drawing/2014/main" id="{7BE34822-C512-4BD5-AF44-30090BF3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29000"/>
            <a:ext cx="4200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can use the right word.</a:t>
            </a:r>
          </a:p>
        </p:txBody>
      </p:sp>
      <p:sp>
        <p:nvSpPr>
          <p:cNvPr id="22" name="body-3">
            <a:extLst xmlns:a="http://schemas.openxmlformats.org/drawingml/2006/main">
              <a:ext uri="{FF2B5EF4-FFF2-40B4-BE49-F238E27FC236}">
                <a16:creationId xmlns:a16="http://schemas.microsoft.com/office/drawing/2014/main" id="{C2000FD8-BBA3-4430-B7E7-17C5B6E4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86250"/>
            <a:ext cx="4200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can help them ask for help.</a:t>
            </a:r>
          </a:p>
        </p:txBody>
      </p:sp>
    </p:spTree>
    <p:extLst>
      <p:ext uri="{BB962C8B-B14F-4D97-AF65-F5344CB8AC3E}">
        <p14:creationId xmlns:p14="http://schemas.microsoft.com/office/powerpoint/2010/main" val="1885040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50AFFD45-DDE8-4E13-AB19-AB490C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F695C907-FAF0-40C0-94DA-EDA6AF2A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B24D514A-FB80-4477-B77A-6CBF40FE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662DEC-F343-4B80-A316-EA02E40A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F1810E-209D-49EB-A790-135B0933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66F008D0-268A-4ECE-A855-21B57ADC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RSHE-BUILD-A2-W03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88CFB30-7CBE-4014-B032-8DC2ACFD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EA904A03-002E-4189-A0F8-88FF05C4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5CA1100B-3C12-4D22-8B3A-5D390927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7448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taught body words. Choose an act that gives privacy.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44CA7D53-579D-445D-8E02-81F7AEA5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508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Match a taught word to the diagram.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1113C604-9484-434B-9EF8-CE13B7D2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514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Make two choices about the stories.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FC9F5832-1797-4743-9AE3-CA75FD49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521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Show how the person could get help.</a:t>
            </a:r>
          </a:p>
        </p:txBody>
      </p:sp>
    </p:spTree>
    <p:extLst>
      <p:ext uri="{BB962C8B-B14F-4D97-AF65-F5344CB8AC3E}">
        <p14:creationId xmlns:p14="http://schemas.microsoft.com/office/powerpoint/2010/main" val="92800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de-rule">
            <a:extLst xmlns:a="http://schemas.openxmlformats.org/drawingml/2006/main">
              <a:ext uri="{FF2B5EF4-FFF2-40B4-BE49-F238E27FC236}">
                <a16:creationId xmlns:a16="http://schemas.microsoft.com/office/drawing/2014/main" id="{097687FC-1C0B-47D1-B37A-D2F6A8D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EB332C-2485-4323-A5CE-50696929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F99A3BF5-5E64-4EB6-9FBC-4AA41BF5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5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83019A-C132-4E6A-B158-7B8FDB02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helpful response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D292F269-A0C9-4A49-A3BF-57410DAD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rinted-id">
            <a:extLst xmlns:a="http://schemas.openxmlformats.org/drawingml/2006/main">
              <a:ext uri="{FF2B5EF4-FFF2-40B4-BE49-F238E27FC236}">
                <a16:creationId xmlns:a16="http://schemas.microsoft.com/office/drawing/2014/main" id="{C5B7F60E-A73C-489D-BD0E-00616492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RSHE-BUILD-A2-W03</a:t>
            </a:r>
          </a:p>
        </p:txBody>
      </p:sp>
      <p:sp>
        <p:nvSpPr>
          <p:cNvPr id="2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84C3B745-B6CB-42D8-BB95-E58551E7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2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851A0815-45F4-4C47-AE5E-BEE6F0B0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24" name="body-0">
            <a:extLst xmlns:a="http://schemas.openxmlformats.org/drawingml/2006/main">
              <a:ext uri="{FF2B5EF4-FFF2-40B4-BE49-F238E27FC236}">
                <a16:creationId xmlns:a16="http://schemas.microsoft.com/office/drawing/2014/main" id="{F23E615D-633F-4AEC-85FC-97572F0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needs to change clothes.</a:t>
            </a:r>
          </a:p>
        </p:txBody>
      </p:sp>
      <p:sp>
        <p:nvSpPr>
          <p:cNvPr id="25" name="body-1">
            <a:extLst xmlns:a="http://schemas.openxmlformats.org/drawingml/2006/main">
              <a:ext uri="{FF2B5EF4-FFF2-40B4-BE49-F238E27FC236}">
                <a16:creationId xmlns:a16="http://schemas.microsoft.com/office/drawing/2014/main" id="{9FE963E1-470E-447B-8A4E-BE5AEE8E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Another person knocks at the door.</a:t>
            </a:r>
          </a:p>
        </p:txBody>
      </p:sp>
      <p:sp>
        <p:nvSpPr>
          <p:cNvPr id="26" name="body-2">
            <a:extLst xmlns:a="http://schemas.openxmlformats.org/drawingml/2006/main">
              <a:ext uri="{FF2B5EF4-FFF2-40B4-BE49-F238E27FC236}">
                <a16:creationId xmlns:a16="http://schemas.microsoft.com/office/drawing/2014/main" id="{B51B5736-01AE-4595-93E5-5529AD4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They wait outside for a reply.</a:t>
            </a:r>
          </a:p>
        </p:txBody>
      </p:sp>
      <p:sp>
        <p:nvSpPr>
          <p:cNvPr id="27" name="body-3">
            <a:extLst xmlns:a="http://schemas.openxmlformats.org/drawingml/2006/main">
              <a:ext uri="{FF2B5EF4-FFF2-40B4-BE49-F238E27FC236}">
                <a16:creationId xmlns:a16="http://schemas.microsoft.com/office/drawing/2014/main" id="{E04D50D9-8148-4E80-8B08-F30F8F1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This gives the young person privacy.</a:t>
            </a:r>
          </a:p>
        </p:txBody>
      </p:sp>
      <p:sp>
        <p:nvSpPr>
          <p:cNvPr id="28" name="body-4">
            <a:extLst xmlns:a="http://schemas.openxmlformats.org/drawingml/2006/main">
              <a:ext uri="{FF2B5EF4-FFF2-40B4-BE49-F238E27FC236}">
                <a16:creationId xmlns:a16="http://schemas.microsoft.com/office/drawing/2014/main" id="{20BB9364-E18A-45E5-BE54-5B9C6D4D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666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worry about a body part can be shared.</a:t>
            </a:r>
          </a:p>
        </p:txBody>
      </p:sp>
      <p:sp>
        <p:nvSpPr>
          <p:cNvPr id="29" name="body-5">
            <a:extLst xmlns:a="http://schemas.openxmlformats.org/drawingml/2006/main">
              <a:ext uri="{FF2B5EF4-FFF2-40B4-BE49-F238E27FC236}">
                <a16:creationId xmlns:a16="http://schemas.microsoft.com/office/drawing/2014/main" id="{11C7B658-634C-4EEA-9854-0DDACA4B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trusted adult can help with the worry.</a:t>
            </a:r>
          </a:p>
        </p:txBody>
      </p:sp>
      <p:sp>
        <p:nvSpPr>
          <p:cNvPr id="30" name="diagram-caption">
            <a:extLst xmlns:a="http://schemas.openxmlformats.org/drawingml/2006/main">
              <a:ext uri="{FF2B5EF4-FFF2-40B4-BE49-F238E27FC236}">
                <a16:creationId xmlns:a16="http://schemas.microsoft.com/office/drawing/2014/main" id="{FC71C855-EBF2-403A-A84C-6E763A68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6B68"/>
                </a:solidFill>
                <a:latin typeface="Arial"/>
                <a:ea typeface="Arial"/>
                <a:cs typeface="Arial"/>
              </a:rPr>
              <a:t>Private does not mean a worry must stay secret.</a:t>
            </a:r>
          </a:p>
        </p:txBody>
      </p:sp>
    </p:spTree>
    <p:extLst>
      <p:ext uri="{BB962C8B-B14F-4D97-AF65-F5344CB8AC3E}">
        <p14:creationId xmlns:p14="http://schemas.microsoft.com/office/powerpoint/2010/main" val="17334477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ide-rule">
            <a:extLst xmlns:a="http://schemas.openxmlformats.org/drawingml/2006/main">
              <a:ext uri="{FF2B5EF4-FFF2-40B4-BE49-F238E27FC236}">
                <a16:creationId xmlns:a16="http://schemas.microsoft.com/office/drawing/2014/main" id="{7C3C7B59-169A-4D85-8D42-4261DA4D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2A3137D-D971-4680-86CB-8E5867D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C6C2E05D-C255-4FC3-A178-7C3A3AD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6 / 12  ·  5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11F47D-1684-41AA-908F-4905BB64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A choice for the young person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1A3538F-988B-4A37-9593-681FEF7F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inted-id">
            <a:extLst xmlns:a="http://schemas.openxmlformats.org/drawingml/2006/main">
              <a:ext uri="{FF2B5EF4-FFF2-40B4-BE49-F238E27FC236}">
                <a16:creationId xmlns:a16="http://schemas.microsoft.com/office/drawing/2014/main" id="{E929F48F-CB8A-43F6-9EBB-1D3B7060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RSHE-BUILD-A2-W03</a:t>
            </a:r>
          </a:p>
        </p:txBody>
      </p:sp>
      <p:sp>
        <p:nvSpPr>
          <p:cNvPr id="11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F8FC46E8-C419-4543-AFE8-4A3AE19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2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C1BD0028-6BB2-4DF9-979D-E866AEED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4" name="body-0">
            <a:extLst xmlns:a="http://schemas.openxmlformats.org/drawingml/2006/main">
              <a:ext uri="{FF2B5EF4-FFF2-40B4-BE49-F238E27FC236}">
                <a16:creationId xmlns:a16="http://schemas.microsoft.com/office/drawing/2014/main" id="{6ECDBC84-CBD5-41C6-A1E7-78CBB780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young person is changing clothes. What shows respect?</a:t>
            </a:r>
          </a:p>
        </p:txBody>
      </p:sp>
      <p:sp>
        <p:nvSpPr>
          <p:cNvPr id="15" name="body-1">
            <a:extLst xmlns:a="http://schemas.openxmlformats.org/drawingml/2006/main">
              <a:ext uri="{FF2B5EF4-FFF2-40B4-BE49-F238E27FC236}">
                <a16:creationId xmlns:a16="http://schemas.microsoft.com/office/drawing/2014/main" id="{6A50435D-4FA5-4A21-A00A-9024D5A6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  Knock and wait outside.</a:t>
            </a:r>
          </a:p>
        </p:txBody>
      </p:sp>
      <p:sp>
        <p:nvSpPr>
          <p:cNvPr id="16" name="body-2">
            <a:extLst xmlns:a="http://schemas.openxmlformats.org/drawingml/2006/main">
              <a:ext uri="{FF2B5EF4-FFF2-40B4-BE49-F238E27FC236}">
                <a16:creationId xmlns:a16="http://schemas.microsoft.com/office/drawing/2014/main" id="{2D40E9ED-0AAC-4ABF-91A4-B29F929B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B  Open the door without asking.</a:t>
            </a:r>
          </a:p>
        </p:txBody>
      </p:sp>
      <p:sp>
        <p:nvSpPr>
          <p:cNvPr id="17" name="body-3">
            <a:extLst xmlns:a="http://schemas.openxmlformats.org/drawingml/2006/main">
              <a:ext uri="{FF2B5EF4-FFF2-40B4-BE49-F238E27FC236}">
                <a16:creationId xmlns:a16="http://schemas.microsoft.com/office/drawing/2014/main" id="{15760A3D-C8CB-444C-97BB-DD974FB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C  Ask to see a private body part.</a:t>
            </a:r>
          </a:p>
        </p:txBody>
      </p:sp>
    </p:spTree>
    <p:extLst>
      <p:ext uri="{BB962C8B-B14F-4D97-AF65-F5344CB8AC3E}">
        <p14:creationId xmlns:p14="http://schemas.microsoft.com/office/powerpoint/2010/main" val="19771722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D8E5E2AB-ADA1-4838-ACF0-FFEF5BB5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C18FBDEC-1AF3-4715-AA09-479266E2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PRACTICE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E419A0B8-80B8-4D04-AA00-03054673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7 / 12  ·  12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103CDA-DC45-49C7-8199-AFE03A2C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story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E716716-2304-4E68-B71C-7212C01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78B1FBD6-B0E3-4DBA-AE92-B3E0AB19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RSHE-BUILD-A2-W03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464D54B0-7F69-47C0-8884-FB04772F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1042A2BA-D71F-4608-81F1-56527613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D56143C9-633B-49FB-8C6A-CF18E2F3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Every case is about a made-up young person.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B6D490E7-1C72-4E1B-9DFF-6A51D7CD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Supported: match a word. Make two choices.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08901007-A68D-49A8-B527-C521B40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Independent: match four words. Give reasons.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3EA2B60A-E54D-4F8D-BC00-957C59C2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Aspire: explain how a person can get help.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4583C6A7-E83D-4290-B65B-7B823E6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Privacy does not stop a person asking for help.</a:t>
            </a:r>
          </a:p>
        </p:txBody>
      </p:sp>
    </p:spTree>
    <p:extLst>
      <p:ext uri="{BB962C8B-B14F-4D97-AF65-F5344CB8AC3E}">
        <p14:creationId xmlns:p14="http://schemas.microsoft.com/office/powerpoint/2010/main" val="1624949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66C44A98-3D93-4F51-B71E-69741D9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BB347D01-AF7A-441C-95AA-D9DDC8E7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YOU DO EVIDENCE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0E908289-E77F-4BCE-B478-BFBAF859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8 / 12  ·  6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4AEF26-FD38-4E07-B155-D8216D2D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story record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5EC05C6-1DDD-4ED7-9416-85B2792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86E837DB-874D-4D98-95F1-0A5EB40A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RSHE-BUILD-A2-W03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BB784062-68CA-4716-9541-FCC2624A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6B640B8-BB08-416A-913B-30884D34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39255F30-454A-4B62-B463-8ED37A47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word match or point to the diagram.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B400D461-D55C-4F45-8F48-1294C14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choices for two different stories.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8D8AABD9-7E6F-4862-B495-E49E9D68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reason for each choice.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BE650D55-78CE-4B6C-B594-BF1451C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adult notes the help and any change.</a:t>
            </a:r>
          </a:p>
        </p:txBody>
      </p:sp>
    </p:spTree>
    <p:extLst>
      <p:ext uri="{BB962C8B-B14F-4D97-AF65-F5344CB8AC3E}">
        <p14:creationId xmlns:p14="http://schemas.microsoft.com/office/powerpoint/2010/main" val="672675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ide-rule">
            <a:extLst xmlns:a="http://schemas.openxmlformats.org/drawingml/2006/main">
              <a:ext uri="{FF2B5EF4-FFF2-40B4-BE49-F238E27FC236}">
                <a16:creationId xmlns:a16="http://schemas.microsoft.com/office/drawing/2014/main" id="{6D99B899-E3BF-49C2-AF68-6D6CF11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539133E1-A8EA-4557-ABD0-F0F049DC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TIDY AND EVIDENCE CHECK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D74A83CD-4D73-4E4A-B78C-D8D074F8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9 / 12  ·  4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FC91DF-147B-4BBB-8617-27DEAED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Tidy and check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5D051C0A-7299-461B-B2A0-C9E66A73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rinted-id">
            <a:extLst xmlns:a="http://schemas.openxmlformats.org/drawingml/2006/main">
              <a:ext uri="{FF2B5EF4-FFF2-40B4-BE49-F238E27FC236}">
                <a16:creationId xmlns:a16="http://schemas.microsoft.com/office/drawing/2014/main" id="{FCC4FAC5-3A9D-4290-89BD-E0E63D68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RSHE-BUILD-A2-W03</a:t>
            </a:r>
          </a:p>
        </p:txBody>
      </p:sp>
      <p:sp>
        <p:nvSpPr>
          <p:cNvPr id="15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D9053BBE-8E7B-41BA-A413-FA20D299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6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0FA6775F-4A85-43BE-A6BA-4F00B61D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8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087B79DB-B13D-4C00-8AD4-C621817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body-0">
            <a:extLst xmlns:a="http://schemas.openxmlformats.org/drawingml/2006/main">
              <a:ext uri="{FF2B5EF4-FFF2-40B4-BE49-F238E27FC236}">
                <a16:creationId xmlns:a16="http://schemas.microsoft.com/office/drawing/2014/main" id="{EFF555BC-8EEA-48FD-8C9B-0D6668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the work about the made-up person.</a:t>
            </a:r>
          </a:p>
        </p:txBody>
      </p:sp>
      <p:sp>
        <p:nvSpPr>
          <p:cNvPr id="20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413AB4A-46AA-4E82-B169-6983E9E0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7C8BF745-D880-47F7-B45F-9EF87BF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9646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each story and its response together.</a:t>
            </a:r>
          </a:p>
        </p:txBody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8ACC7B68-7ACB-459D-9247-0B3147F1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body-2">
            <a:extLst xmlns:a="http://schemas.openxmlformats.org/drawingml/2006/main">
              <a:ext uri="{FF2B5EF4-FFF2-40B4-BE49-F238E27FC236}">
                <a16:creationId xmlns:a16="http://schemas.microsoft.com/office/drawing/2014/main" id="{31AFDBC3-92F9-4C91-941F-C1B5054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16530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The adult notes the help and any change.</a:t>
            </a:r>
          </a:p>
        </p:txBody>
      </p:sp>
      <p:sp>
        <p:nvSpPr>
          <p:cNvPr id="24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21BDBCB0-4ED5-4F35-ADB5-9F2511A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6595"/>
            <a:ext cx="438150" cy="3486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176A6A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6A6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body-3">
            <a:extLst xmlns:a="http://schemas.openxmlformats.org/drawingml/2006/main">
              <a:ext uri="{FF2B5EF4-FFF2-40B4-BE49-F238E27FC236}">
                <a16:creationId xmlns:a16="http://schemas.microsoft.com/office/drawing/2014/main" id="{11DBDF86-9217-4206-908E-A4E9A9C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36595"/>
            <a:ext cx="103822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next step could help the person?</a:t>
            </a:r>
          </a:p>
        </p:txBody>
      </p:sp>
    </p:spTree>
    <p:extLst>
      <p:ext uri="{BB962C8B-B14F-4D97-AF65-F5344CB8AC3E}">
        <p14:creationId xmlns:p14="http://schemas.microsoft.com/office/powerpoint/2010/main" val="65731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ide-rule">
            <a:extLst xmlns:a="http://schemas.openxmlformats.org/drawingml/2006/main">
              <a:ext uri="{FF2B5EF4-FFF2-40B4-BE49-F238E27FC236}">
                <a16:creationId xmlns:a16="http://schemas.microsoft.com/office/drawing/2014/main" id="{59C9C49A-1ECE-4C68-AA48-8F45006D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E9D7B1B8-710A-4637-AD51-BB394286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6109A82-556F-4CF9-B5DC-048C49CC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10 / 12  ·  2 min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E39EA1-F3DB-4E05-BB09-794112D7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Exit task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0A4497D4-A50A-4696-9DCC-0A2E8DE9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inted-id">
            <a:extLst xmlns:a="http://schemas.openxmlformats.org/drawingml/2006/main">
              <a:ext uri="{FF2B5EF4-FFF2-40B4-BE49-F238E27FC236}">
                <a16:creationId xmlns:a16="http://schemas.microsoft.com/office/drawing/2014/main" id="{932148A5-B336-4611-A94A-0D8133B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RSHE-BUILD-A2-W03</a:t>
            </a:r>
          </a:p>
        </p:txBody>
      </p:sp>
      <p:sp>
        <p:nvSpPr>
          <p:cNvPr id="10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5BDFC492-DAA3-45FD-974E-5934DD86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1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684DD80D-ABF7-4E04-914D-90124C59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3" name="body-0">
            <a:extLst xmlns:a="http://schemas.openxmlformats.org/drawingml/2006/main">
              <a:ext uri="{FF2B5EF4-FFF2-40B4-BE49-F238E27FC236}">
                <a16:creationId xmlns:a16="http://schemas.microsoft.com/office/drawing/2014/main" id="{65D257E5-CECE-41DE-9AB8-111EC1B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taught word fits the diagram?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6F4C84B4-AD02-4D06-85D4-17AEF73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6465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Which act gives the young person privacy?</a:t>
            </a:r>
          </a:p>
        </p:txBody>
      </p:sp>
      <p:sp>
        <p:nvSpPr>
          <p:cNvPr id="15" name="body-2">
            <a:extLst xmlns:a="http://schemas.openxmlformats.org/drawingml/2006/main">
              <a:ext uri="{FF2B5EF4-FFF2-40B4-BE49-F238E27FC236}">
                <a16:creationId xmlns:a16="http://schemas.microsoft.com/office/drawing/2014/main" id="{B480E7FE-B5BC-4A66-80F3-704BD1D4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6530"/>
            <a:ext cx="1097280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250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Who could help with a worry?</a:t>
            </a:r>
          </a:p>
        </p:txBody>
      </p:sp>
    </p:spTree>
    <p:extLst>
      <p:ext uri="{BB962C8B-B14F-4D97-AF65-F5344CB8AC3E}">
        <p14:creationId xmlns:p14="http://schemas.microsoft.com/office/powerpoint/2010/main" val="21604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ide-rule">
            <a:extLst xmlns:a="http://schemas.openxmlformats.org/drawingml/2006/main">
              <a:ext uri="{FF2B5EF4-FFF2-40B4-BE49-F238E27FC236}">
                <a16:creationId xmlns:a16="http://schemas.microsoft.com/office/drawing/2014/main" id="{D7E27DC8-5780-4C6F-967F-69F5095E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0CD50A6-479A-42E3-9889-EC0655F0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71513864-1F44-47A2-8AB0-36023EBE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AC37AA-F3B2-4D83-838F-55D3F178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Words that help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A88D4494-77DD-42F8-A953-8F665FD2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inted-id">
            <a:extLst xmlns:a="http://schemas.openxmlformats.org/drawingml/2006/main">
              <a:ext uri="{FF2B5EF4-FFF2-40B4-BE49-F238E27FC236}">
                <a16:creationId xmlns:a16="http://schemas.microsoft.com/office/drawing/2014/main" id="{A55B9542-E345-4C7A-A0EC-BB2D0E57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RSHE-BUILD-A2-W03</a:t>
            </a:r>
          </a:p>
        </p:txBody>
      </p:sp>
      <p:sp>
        <p:nvSpPr>
          <p:cNvPr id="13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79C90A18-ACEE-4E26-A658-19337AA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4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B8C65DA7-B3D3-4863-BFEB-F8AC4C66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6" name="body-0">
            <a:extLst xmlns:a="http://schemas.openxmlformats.org/drawingml/2006/main">
              <a:ext uri="{FF2B5EF4-FFF2-40B4-BE49-F238E27FC236}">
                <a16:creationId xmlns:a16="http://schemas.microsoft.com/office/drawing/2014/main" id="{AD5ECC91-FF83-473B-A80F-A2DCEA5E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Penis: A body part at the front, above the scrotum.</a:t>
            </a:r>
          </a:p>
        </p:txBody>
      </p:sp>
      <p:sp>
        <p:nvSpPr>
          <p:cNvPr id="17" name="body-1">
            <a:extLst xmlns:a="http://schemas.openxmlformats.org/drawingml/2006/main">
              <a:ext uri="{FF2B5EF4-FFF2-40B4-BE49-F238E27FC236}">
                <a16:creationId xmlns:a16="http://schemas.microsoft.com/office/drawing/2014/main" id="{88C68CAC-CA38-4207-B855-B297B6EF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Scrotum: The skin sac that holds the testicles.</a:t>
            </a:r>
          </a:p>
        </p:txBody>
      </p:sp>
      <p:sp>
        <p:nvSpPr>
          <p:cNvPr id="18" name="body-2">
            <a:extLst xmlns:a="http://schemas.openxmlformats.org/drawingml/2006/main">
              <a:ext uri="{FF2B5EF4-FFF2-40B4-BE49-F238E27FC236}">
                <a16:creationId xmlns:a16="http://schemas.microsoft.com/office/drawing/2014/main" id="{98BB6F30-A928-488D-96C8-5767784E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Testicles: Body parts held inside the scrotum.</a:t>
            </a:r>
          </a:p>
        </p:txBody>
      </p:sp>
      <p:sp>
        <p:nvSpPr>
          <p:cNvPr id="19" name="body-3">
            <a:extLst xmlns:a="http://schemas.openxmlformats.org/drawingml/2006/main">
              <a:ext uri="{FF2B5EF4-FFF2-40B4-BE49-F238E27FC236}">
                <a16:creationId xmlns:a16="http://schemas.microsoft.com/office/drawing/2014/main" id="{C20DEC5F-CD4B-4158-AF0D-E60254B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Vulva: The genital parts on the outside of the body.</a:t>
            </a:r>
          </a:p>
        </p:txBody>
      </p:sp>
      <p:sp>
        <p:nvSpPr>
          <p:cNvPr id="20" name="body-0">
            <a:extLst xmlns:a="http://schemas.openxmlformats.org/drawingml/2006/main">
              <a:ext uri="{FF2B5EF4-FFF2-40B4-BE49-F238E27FC236}">
                <a16:creationId xmlns:a16="http://schemas.microsoft.com/office/drawing/2014/main" id="{E1D697A6-2187-411F-9F04-95AEDEFD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Privacy: Space to do a task in private.</a:t>
            </a:r>
          </a:p>
        </p:txBody>
      </p:sp>
      <p:sp>
        <p:nvSpPr>
          <p:cNvPr id="21" name="body-1">
            <a:extLst xmlns:a="http://schemas.openxmlformats.org/drawingml/2006/main">
              <a:ext uri="{FF2B5EF4-FFF2-40B4-BE49-F238E27FC236}">
                <a16:creationId xmlns:a16="http://schemas.microsoft.com/office/drawing/2014/main" id="{CBDB7742-827E-4DF1-ADBF-52ACD82E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6225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Respect: Treat a person and their choices with care.</a:t>
            </a:r>
          </a:p>
        </p:txBody>
      </p:sp>
      <p:sp>
        <p:nvSpPr>
          <p:cNvPr id="22" name="body-2">
            <a:extLst xmlns:a="http://schemas.openxmlformats.org/drawingml/2006/main">
              <a:ext uri="{FF2B5EF4-FFF2-40B4-BE49-F238E27FC236}">
                <a16:creationId xmlns:a16="http://schemas.microsoft.com/office/drawing/2014/main" id="{6E4AC5B5-5DB5-4AFD-A540-86B79451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10000"/>
            <a:ext cx="5219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Help: Support with a worry or a need.</a:t>
            </a:r>
          </a:p>
        </p:txBody>
      </p:sp>
    </p:spTree>
    <p:extLst>
      <p:ext uri="{BB962C8B-B14F-4D97-AF65-F5344CB8AC3E}">
        <p14:creationId xmlns:p14="http://schemas.microsoft.com/office/powerpoint/2010/main" val="1724659072"/>
      </p:ext>
    </p:extLst>
  </p:cSld>
</p:sld>
</file>

<file path=ppt/slides/slide12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ide-rule">
            <a:extLst xmlns:a="http://schemas.openxmlformats.org/drawingml/2006/main">
              <a:ext uri="{FF2B5EF4-FFF2-40B4-BE49-F238E27FC236}">
                <a16:creationId xmlns:a16="http://schemas.microsoft.com/office/drawing/2014/main" id="{506853DF-EDE9-47DE-B379-5CA30FE0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9C5D01BA-4C5C-4CC7-8930-4470E83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75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3" name="slide-number-time">
            <a:extLst xmlns:a="http://schemas.openxmlformats.org/drawingml/2006/main">
              <a:ext uri="{FF2B5EF4-FFF2-40B4-BE49-F238E27FC236}">
                <a16:creationId xmlns:a16="http://schemas.microsoft.com/office/drawing/2014/main" id="{6935380F-44D1-4452-83AA-C691894F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"/>
            <a:ext cx="2533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75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09DD9B-423A-4951-96E4-2F49524E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84A"/>
                </a:solidFill>
                <a:latin typeface="Arial"/>
                <a:ea typeface="Arial"/>
                <a:cs typeface="Arial"/>
              </a:rPr>
              <a:t>Staff brief</a:t>
            </a:r>
          </a:p>
        </p:txBody>
      </p:sp>
      <p:sp>
        <p:nvSpPr>
          <p:cNvPr id="5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CD306737-F981-46D9-9315-54D5AE4B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inted-id">
            <a:extLst xmlns:a="http://schemas.openxmlformats.org/drawingml/2006/main">
              <a:ext uri="{FF2B5EF4-FFF2-40B4-BE49-F238E27FC236}">
                <a16:creationId xmlns:a16="http://schemas.microsoft.com/office/drawing/2014/main" id="{515AEF30-6294-44DB-81F6-F3CB66FD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200" b="1">
                <a:solidFill>
                  <a:srgbClr val="146B6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68"/>
                </a:solidFill>
                <a:latin typeface="Arial"/>
                <a:ea typeface="Arial"/>
                <a:cs typeface="Arial"/>
              </a:rPr>
              <a:t>RSHE-BUILD-A2-W03</a:t>
            </a:r>
          </a:p>
        </p:txBody>
      </p:sp>
      <p:sp>
        <p:nvSpPr>
          <p:cNvPr id="12" name="edition-label">
            <a:extLst xmlns:a="http://schemas.openxmlformats.org/drawingml/2006/main">
              <a:ext uri="{FF2B5EF4-FFF2-40B4-BE49-F238E27FC236}">
                <a16:creationId xmlns:a16="http://schemas.microsoft.com/office/drawing/2014/main" id="{9F510AFB-D341-4DF2-B29D-CEE16739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1531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Public edition</a:t>
            </a:r>
          </a:p>
        </p:txBody>
      </p:sp>
      <p:sp>
        <p:nvSpPr>
          <p:cNvPr id="13" name="licence-credit">
            <a:extLst xmlns:a="http://schemas.openxmlformats.org/drawingml/2006/main">
              <a:ext uri="{FF2B5EF4-FFF2-40B4-BE49-F238E27FC236}">
                <a16:creationId xmlns:a16="http://schemas.microsoft.com/office/drawing/2014/main" id="{594BF42D-B6E5-41F7-A227-2AD8399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863" b="0">
                <a:solidFill>
                  <a:srgbClr val="586C77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C77"/>
                </a:solidFill>
                <a:latin typeface="Arial"/>
                <a:ea typeface="Arial"/>
                <a:cs typeface="Arial"/>
              </a:rPr>
              <a:t>Lesson resource · CC BY-NC-SA 4.0: free for classroom use, share and adapt with credit, no resale</a:t>
            </a:r>
          </a:p>
        </p:txBody>
      </p:sp>
      <p:sp>
        <p:nvSpPr>
          <p:cNvPr id="15" name="body-0">
            <a:extLst xmlns:a="http://schemas.openxmlformats.org/drawingml/2006/main">
              <a:ext uri="{FF2B5EF4-FFF2-40B4-BE49-F238E27FC236}">
                <a16:creationId xmlns:a16="http://schemas.microsoft.com/office/drawing/2014/main" id="{61E01433-5B72-41AB-B4BB-59FA79C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Read the planner and support route.</a:t>
            </a:r>
          </a:p>
        </p:txBody>
      </p:sp>
      <p:sp>
        <p:nvSpPr>
          <p:cNvPr id="16" name="body-1">
            <a:extLst xmlns:a="http://schemas.openxmlformats.org/drawingml/2006/main">
              <a:ext uri="{FF2B5EF4-FFF2-40B4-BE49-F238E27FC236}">
                <a16:creationId xmlns:a16="http://schemas.microsoft.com/office/drawing/2014/main" id="{365D8A69-7368-41E6-901B-C63D11968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350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Use only fictional young people and settings.</a:t>
            </a:r>
          </a:p>
        </p:txBody>
      </p:sp>
      <p:sp>
        <p:nvSpPr>
          <p:cNvPr id="17" name="body-2">
            <a:extLst xmlns:a="http://schemas.openxmlformats.org/drawingml/2006/main">
              <a:ext uri="{FF2B5EF4-FFF2-40B4-BE49-F238E27FC236}">
                <a16:creationId xmlns:a16="http://schemas.microsoft.com/office/drawing/2014/main" id="{FE40F02C-1AC4-41E6-88B9-54CB5E2D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0607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Scribe exact words; record help.</a:t>
            </a:r>
          </a:p>
        </p:txBody>
      </p:sp>
      <p:sp>
        <p:nvSpPr>
          <p:cNvPr id="18" name="body-3">
            <a:extLst xmlns:a="http://schemas.openxmlformats.org/drawingml/2006/main">
              <a:ext uri="{FF2B5EF4-FFF2-40B4-BE49-F238E27FC236}">
                <a16:creationId xmlns:a16="http://schemas.microsoft.com/office/drawing/2014/main" id="{09F7BA08-B0D3-407F-B420-DAE0E9FF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7711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Keep each learner’s own evidence.</a:t>
            </a:r>
          </a:p>
        </p:txBody>
      </p:sp>
      <p:sp>
        <p:nvSpPr>
          <p:cNvPr id="19" name="body-4">
            <a:extLst xmlns:a="http://schemas.openxmlformats.org/drawingml/2006/main">
              <a:ext uri="{FF2B5EF4-FFF2-40B4-BE49-F238E27FC236}">
                <a16:creationId xmlns:a16="http://schemas.microsoft.com/office/drawing/2014/main" id="{80AE7E45-3807-4F32-B830-F0825E0A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4814"/>
            <a:ext cx="10972800" cy="3613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384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84A"/>
                </a:solidFill>
                <a:latin typeface="Arial"/>
                <a:ea typeface="Arial"/>
                <a:cs typeface="Arial"/>
              </a:rPr>
              <a:t>Week 7 is the assessing lesson.</a:t>
            </a:r>
          </a:p>
        </p:txBody>
      </p:sp>
    </p:spTree>
    <p:extLst>
      <p:ext uri="{BB962C8B-B14F-4D97-AF65-F5344CB8AC3E}">
        <p14:creationId xmlns:p14="http://schemas.microsoft.com/office/powerpoint/2010/main" val="1752919071"/>
      </p:ext>
    </p:extLst>
  </p:cSld>
</p:sld>
</file>

<file path=ppt/theme/theme1.xml><?xml version="1.0" encoding="utf-8"?>
<a:theme xmlns:a="http://schemas.openxmlformats.org/drawingml/2006/main" name="Lesson theme">
  <a:themeElements>
    <a:clrScheme name="Lesson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Lesson them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Lesson resource</dc:creator>
  <lastModifiedBy/>
  <dc:title>My body and privacy</dc:title>
  <dcterms:created xsi:type="dcterms:W3CDTF">2026-10-26T13:16:44.6560000Z</dcterms:created>
  <dcterms:modified xsi:type="dcterms:W3CDTF">2026-10-26T13:16:44.6570000Z</dcterms:modified>
</coreProperties>
</file>